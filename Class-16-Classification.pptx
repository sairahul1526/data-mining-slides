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40"/>
  </p:notesMasterIdLst>
  <p:sldIdLst>
    <p:sldId id="256" r:id="rId2"/>
    <p:sldId id="435" r:id="rId3"/>
    <p:sldId id="446" r:id="rId4"/>
    <p:sldId id="439" r:id="rId5"/>
    <p:sldId id="441" r:id="rId6"/>
    <p:sldId id="479" r:id="rId7"/>
    <p:sldId id="442" r:id="rId8"/>
    <p:sldId id="445" r:id="rId9"/>
    <p:sldId id="447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57" r:id="rId20"/>
    <p:sldId id="460" r:id="rId21"/>
    <p:sldId id="462" r:id="rId22"/>
    <p:sldId id="461" r:id="rId23"/>
    <p:sldId id="463" r:id="rId24"/>
    <p:sldId id="464" r:id="rId25"/>
    <p:sldId id="465" r:id="rId26"/>
    <p:sldId id="466" r:id="rId27"/>
    <p:sldId id="467" r:id="rId28"/>
    <p:sldId id="468" r:id="rId29"/>
    <p:sldId id="469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478" r:id="rId39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CBCB5-AD2F-4B40-865E-77C0A819D52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84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8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K-NN Classifier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Methods for comparing classifiers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Rule Based Classifier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Classifiers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Basic idea:</a:t>
            </a:r>
          </a:p>
          <a:p>
            <a:pPr lvl="1" eaLnBrk="1" hangingPunct="1">
              <a:defRPr/>
            </a:pPr>
            <a:r>
              <a:rPr lang="en-US" smtClean="0"/>
              <a:t>If it walks like a duck, quacks like a duck, then it’s probably a duck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2819400"/>
            <a:ext cx="8229600" cy="3429000"/>
            <a:chOff x="192" y="1776"/>
            <a:chExt cx="5184" cy="2160"/>
          </a:xfrm>
        </p:grpSpPr>
        <p:pic>
          <p:nvPicPr>
            <p:cNvPr id="7186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4" y="2267"/>
              <a:ext cx="522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7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8" y="2687"/>
              <a:ext cx="712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8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" y="2099"/>
              <a:ext cx="439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9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1" y="2981"/>
              <a:ext cx="36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90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91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9" y="2519"/>
              <a:ext cx="712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2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7193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Training Records</a:t>
              </a:r>
            </a:p>
          </p:txBody>
        </p:sp>
        <p:sp>
          <p:nvSpPr>
            <p:cNvPr id="7194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Test Record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7179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Compute Distance</a:t>
              </a:r>
            </a:p>
          </p:txBody>
        </p:sp>
        <p:grpSp>
          <p:nvGrpSpPr>
            <p:cNvPr id="7180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7181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2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3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4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5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7175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Choose k of the “nearest” records</a:t>
              </a:r>
            </a:p>
          </p:txBody>
        </p:sp>
        <p:grpSp>
          <p:nvGrpSpPr>
            <p:cNvPr id="7176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7177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8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046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81201"/>
            <a:ext cx="7886700" cy="31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55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Classification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763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Compute distance between two points:</a:t>
            </a:r>
          </a:p>
          <a:p>
            <a:pPr lvl="1" eaLnBrk="1" hangingPunct="1">
              <a:defRPr/>
            </a:pPr>
            <a:r>
              <a:rPr lang="en-US" dirty="0" smtClean="0"/>
              <a:t>Euclidean distance </a:t>
            </a:r>
          </a:p>
          <a:p>
            <a:pPr lvl="1" eaLnBrk="1" hangingPunct="1">
              <a:defRPr/>
            </a:pPr>
            <a:endParaRPr lang="en-US" dirty="0" smtClean="0"/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/>
              <a:t>Determine the class from nearest neighbor list</a:t>
            </a:r>
          </a:p>
          <a:p>
            <a:pPr lvl="1" eaLnBrk="1" hangingPunct="1">
              <a:defRPr/>
            </a:pPr>
            <a:r>
              <a:rPr lang="en-US" dirty="0" smtClean="0"/>
              <a:t>take the majority vote of class labels among the k-nearest neighbors</a:t>
            </a:r>
          </a:p>
          <a:p>
            <a:pPr lvl="1" eaLnBrk="1" hangingPunct="1">
              <a:defRPr/>
            </a:pPr>
            <a:r>
              <a:rPr lang="en-US" dirty="0" smtClean="0"/>
              <a:t>Weigh the vote according to distance</a:t>
            </a:r>
          </a:p>
          <a:p>
            <a:pPr lvl="2" eaLnBrk="1" hangingPunct="1">
              <a:defRPr/>
            </a:pPr>
            <a:r>
              <a:rPr lang="en-US" dirty="0" smtClean="0"/>
              <a:t> </a:t>
            </a:r>
            <a:r>
              <a:rPr lang="en-US" sz="2000" dirty="0" smtClean="0"/>
              <a:t>weight factor, w = 1/d</a:t>
            </a:r>
            <a:r>
              <a:rPr lang="en-US" sz="2000" baseline="30000" dirty="0" smtClean="0"/>
              <a:t>2</a:t>
            </a:r>
            <a:endParaRPr lang="en-US" baseline="30000" dirty="0" smtClean="0"/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/>
          </p:nvPr>
        </p:nvGraphicFramePr>
        <p:xfrm>
          <a:off x="1905000" y="2362200"/>
          <a:ext cx="4876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9" name="Equation" r:id="rId3" imgW="2705100" imgH="457200" progId="Equation.3">
                  <p:embed/>
                </p:oleObj>
              </mc:Choice>
              <mc:Fallback>
                <p:oleObj name="Equation" r:id="rId3" imgW="2705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362200"/>
                        <a:ext cx="48768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67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Distance-Weighted Nearest Neighbor Algorithm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Assign weights to the neighbors based on their ‘distance’ from the query point</a:t>
            </a:r>
          </a:p>
          <a:p>
            <a:pPr lvl="1"/>
            <a:r>
              <a:rPr lang="en-US" altLang="en-US" dirty="0"/>
              <a:t>Weight ‘may’ be inverse square of the distances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en-US" dirty="0"/>
              <a:t>All training points may influence a particular </a:t>
            </a:r>
            <a:r>
              <a:rPr lang="en-US" altLang="en-US" dirty="0" smtClean="0"/>
              <a:t>instance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512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200400"/>
            <a:ext cx="7886700" cy="2743200"/>
          </a:xfrm>
        </p:spPr>
        <p:txBody>
          <a:bodyPr/>
          <a:lstStyle/>
          <a:p>
            <a:pPr marL="457200" indent="-457200">
              <a:buAutoNum type="alphaLcParenBoth"/>
            </a:pPr>
            <a:r>
              <a:rPr lang="en-US" dirty="0" smtClean="0"/>
              <a:t>Classify </a:t>
            </a:r>
            <a:r>
              <a:rPr lang="en-US" dirty="0"/>
              <a:t>the data point </a:t>
            </a:r>
            <a:r>
              <a:rPr lang="en-US" i="1" dirty="0"/>
              <a:t>x </a:t>
            </a:r>
            <a:r>
              <a:rPr lang="en-US" dirty="0"/>
              <a:t>= 5</a:t>
            </a:r>
            <a:r>
              <a:rPr lang="en-US" i="1" dirty="0"/>
              <a:t>.</a:t>
            </a:r>
            <a:r>
              <a:rPr lang="en-US" dirty="0"/>
              <a:t>0 according to its 1-, 3-, 5-, and </a:t>
            </a:r>
            <a:r>
              <a:rPr lang="en-US" dirty="0" smtClean="0"/>
              <a:t>9-nearest neighbors </a:t>
            </a:r>
            <a:r>
              <a:rPr lang="en-US" dirty="0"/>
              <a:t>(using majority vote</a:t>
            </a:r>
            <a:r>
              <a:rPr lang="en-US" dirty="0" smtClean="0"/>
              <a:t>).</a:t>
            </a:r>
          </a:p>
          <a:p>
            <a:pPr marL="457200" indent="-457200">
              <a:buAutoNum type="alphaLcParenBoth"/>
            </a:pPr>
            <a:r>
              <a:rPr lang="en-US" dirty="0"/>
              <a:t>Repeat the previous analysis using the distance-weighted voting approach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76400"/>
            <a:ext cx="5650937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5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Nearest Neighbor Classification…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058150" cy="457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Scaling issues</a:t>
            </a:r>
          </a:p>
          <a:p>
            <a:pPr lvl="1" eaLnBrk="1" hangingPunct="1">
              <a:defRPr/>
            </a:pPr>
            <a:r>
              <a:rPr lang="en-US" sz="2400" dirty="0" smtClean="0"/>
              <a:t>Attributes may have to be scaled to prevent distance measures from being dominated by one of the attributes</a:t>
            </a:r>
          </a:p>
          <a:p>
            <a:pPr lvl="1" eaLnBrk="1" hangingPunct="1">
              <a:defRPr/>
            </a:pPr>
            <a:r>
              <a:rPr lang="en-US" sz="2400" dirty="0" smtClean="0"/>
              <a:t>Example:</a:t>
            </a:r>
          </a:p>
          <a:p>
            <a:pPr lvl="2" eaLnBrk="1" hangingPunct="1">
              <a:defRPr/>
            </a:pPr>
            <a:r>
              <a:rPr lang="en-US" sz="2000" dirty="0" smtClean="0"/>
              <a:t> height of a person may vary from 1.5m to 1.8m</a:t>
            </a:r>
          </a:p>
          <a:p>
            <a:pPr lvl="2" eaLnBrk="1" hangingPunct="1">
              <a:defRPr/>
            </a:pPr>
            <a:r>
              <a:rPr lang="en-US" sz="2000" dirty="0" smtClean="0"/>
              <a:t> weight of a person may vary from 90lb to 300lb</a:t>
            </a:r>
          </a:p>
          <a:p>
            <a:pPr lvl="2" eaLnBrk="1" hangingPunct="1">
              <a:defRPr/>
            </a:pPr>
            <a:r>
              <a:rPr lang="en-US" sz="2000" dirty="0" smtClean="0"/>
              <a:t> income of a person may vary from $10K to $1M</a:t>
            </a:r>
          </a:p>
        </p:txBody>
      </p:sp>
    </p:spTree>
    <p:extLst>
      <p:ext uri="{BB962C8B-B14F-4D97-AF65-F5344CB8AC3E}">
        <p14:creationId xmlns:p14="http://schemas.microsoft.com/office/powerpoint/2010/main" val="190257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Nearest neighbor Classification…</a:t>
            </a:r>
          </a:p>
        </p:txBody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k-NN classifiers are </a:t>
            </a:r>
            <a:r>
              <a:rPr lang="en-US" dirty="0">
                <a:solidFill>
                  <a:srgbClr val="FF0000"/>
                </a:solidFill>
              </a:rPr>
              <a:t>lazy learners </a:t>
            </a:r>
          </a:p>
          <a:p>
            <a:pPr lvl="1"/>
            <a:r>
              <a:rPr lang="en-US" dirty="0"/>
              <a:t>It does not build models explicitly</a:t>
            </a:r>
          </a:p>
          <a:p>
            <a:pPr lvl="1"/>
            <a:r>
              <a:rPr lang="en-US" dirty="0"/>
              <a:t>Unlike </a:t>
            </a:r>
            <a:r>
              <a:rPr lang="en-US" dirty="0">
                <a:solidFill>
                  <a:srgbClr val="0070C0"/>
                </a:solidFill>
              </a:rPr>
              <a:t>eager learners </a:t>
            </a:r>
            <a:r>
              <a:rPr lang="en-US" dirty="0"/>
              <a:t>such as decision tree induction and rule-based systems</a:t>
            </a:r>
          </a:p>
          <a:p>
            <a:r>
              <a:rPr lang="en-US" dirty="0"/>
              <a:t>Classifying unknown records are relatively </a:t>
            </a:r>
            <a:r>
              <a:rPr lang="en-US" dirty="0" smtClean="0"/>
              <a:t>expensive</a:t>
            </a:r>
          </a:p>
          <a:p>
            <a:pPr lvl="1"/>
            <a:r>
              <a:rPr lang="en-US" dirty="0" smtClean="0"/>
              <a:t>Naïve algorithm: O(n)</a:t>
            </a:r>
          </a:p>
          <a:p>
            <a:pPr lvl="1"/>
            <a:r>
              <a:rPr lang="en-US" dirty="0" smtClean="0"/>
              <a:t>Need for structures to retrieve nearest neighbors fast.</a:t>
            </a:r>
          </a:p>
          <a:p>
            <a:pPr lvl="2"/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Nearest Neighbor Search </a:t>
            </a:r>
            <a:r>
              <a:rPr lang="en-US" dirty="0" smtClean="0"/>
              <a:t>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1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Model Evaluation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Metrics for Performance Evaluation</a:t>
            </a:r>
          </a:p>
          <a:p>
            <a:pPr lvl="1" eaLnBrk="1" hangingPunct="1">
              <a:defRPr/>
            </a:pPr>
            <a:r>
              <a:rPr lang="en-US" dirty="0" smtClean="0"/>
              <a:t>How to evaluate the performance of a model?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Methods for Performance Evaluation</a:t>
            </a:r>
          </a:p>
          <a:p>
            <a:pPr lvl="1" eaLnBrk="1" hangingPunct="1">
              <a:defRPr/>
            </a:pPr>
            <a:r>
              <a:rPr lang="en-US" dirty="0" smtClean="0"/>
              <a:t>How to obtain reliable estimates?</a:t>
            </a:r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</a:rPr>
              <a:t>Methods for Model Comparison</a:t>
            </a:r>
          </a:p>
          <a:p>
            <a:pPr lvl="1" eaLnBrk="1" hangingPunct="1">
              <a:defRPr/>
            </a:pPr>
            <a:r>
              <a:rPr lang="en-US" dirty="0" smtClean="0"/>
              <a:t>How to compare the relative performance among competing models?</a:t>
            </a:r>
          </a:p>
        </p:txBody>
      </p:sp>
    </p:spTree>
    <p:extLst>
      <p:ext uri="{BB962C8B-B14F-4D97-AF65-F5344CB8AC3E}">
        <p14:creationId xmlns:p14="http://schemas.microsoft.com/office/powerpoint/2010/main" val="149885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Test of Significance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820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Given two models:</a:t>
            </a:r>
          </a:p>
          <a:p>
            <a:pPr lvl="1" eaLnBrk="1" hangingPunct="1">
              <a:defRPr/>
            </a:pPr>
            <a:r>
              <a:rPr lang="en-US" sz="2400" dirty="0" smtClean="0"/>
              <a:t>Model M1: accuracy = 85%, tested on 30 instances</a:t>
            </a:r>
          </a:p>
          <a:p>
            <a:pPr lvl="1" eaLnBrk="1" hangingPunct="1">
              <a:defRPr/>
            </a:pPr>
            <a:r>
              <a:rPr lang="en-US" sz="2400" dirty="0" smtClean="0"/>
              <a:t>Model M2: accuracy = 75%, tested on 5000 instances</a:t>
            </a:r>
          </a:p>
          <a:p>
            <a:pPr lvl="4"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dirty="0" smtClean="0"/>
              <a:t>Can we say M1 is better than M2?</a:t>
            </a:r>
          </a:p>
          <a:p>
            <a:pPr lvl="1" eaLnBrk="1" hangingPunct="1">
              <a:defRPr/>
            </a:pPr>
            <a:r>
              <a:rPr lang="en-US" sz="2400" dirty="0" smtClean="0"/>
              <a:t>How much confidence can we place on accuracy of M1 and M2?</a:t>
            </a:r>
          </a:p>
          <a:p>
            <a:pPr lvl="1" eaLnBrk="1" hangingPunct="1">
              <a:defRPr/>
            </a:pPr>
            <a:r>
              <a:rPr lang="en-US" sz="2400" dirty="0" smtClean="0"/>
              <a:t>Can the difference in performance measure be explained as a result of random fluctuations in the test set?</a:t>
            </a:r>
          </a:p>
        </p:txBody>
      </p:sp>
    </p:spTree>
    <p:extLst>
      <p:ext uri="{BB962C8B-B14F-4D97-AF65-F5344CB8AC3E}">
        <p14:creationId xmlns:p14="http://schemas.microsoft.com/office/powerpoint/2010/main" val="2500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Confidence Interval for Accuracy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89916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Prediction can be regarded as a Bernoulli trial</a:t>
            </a:r>
          </a:p>
          <a:p>
            <a:pPr lvl="1" eaLnBrk="1" hangingPunct="1">
              <a:defRPr/>
            </a:pPr>
            <a:r>
              <a:rPr lang="en-US" sz="2000" dirty="0" smtClean="0"/>
              <a:t>A Bernoulli trial has 2 possible outcomes</a:t>
            </a:r>
          </a:p>
          <a:p>
            <a:pPr lvl="1" eaLnBrk="1" hangingPunct="1">
              <a:defRPr/>
            </a:pPr>
            <a:r>
              <a:rPr lang="en-US" sz="2000" dirty="0" smtClean="0"/>
              <a:t>Possible outcomes for prediction: correct or wrong</a:t>
            </a:r>
          </a:p>
          <a:p>
            <a:pPr lvl="1" eaLnBrk="1" hangingPunct="1">
              <a:defRPr/>
            </a:pPr>
            <a:r>
              <a:rPr lang="en-US" sz="2000" dirty="0" smtClean="0"/>
              <a:t>Collection of Bernoulli trials has a Binomial distribution:</a:t>
            </a:r>
          </a:p>
          <a:p>
            <a:pPr lvl="2" eaLnBrk="1" hangingPunct="1">
              <a:defRPr/>
            </a:pPr>
            <a:r>
              <a:rPr lang="en-US" sz="2000" dirty="0" smtClean="0"/>
              <a:t> x </a:t>
            </a:r>
            <a:r>
              <a:rPr lang="en-US" sz="2000" dirty="0" smtClean="0">
                <a:sym typeface="Symbol" pitchFamily="18" charset="2"/>
              </a:rPr>
              <a:t> Bin(N, p)      x: number of correct predictions</a:t>
            </a:r>
          </a:p>
          <a:p>
            <a:pPr lvl="2" eaLnBrk="1" hangingPunct="1">
              <a:defRPr/>
            </a:pPr>
            <a:r>
              <a:rPr lang="en-US" sz="2000" dirty="0" smtClean="0">
                <a:sym typeface="Symbol" pitchFamily="18" charset="2"/>
              </a:rPr>
              <a:t> </a:t>
            </a:r>
            <a:r>
              <a:rPr lang="en-US" sz="2000" dirty="0" err="1" smtClean="0">
                <a:sym typeface="Symbol" pitchFamily="18" charset="2"/>
              </a:rPr>
              <a:t>e.g</a:t>
            </a:r>
            <a:r>
              <a:rPr lang="en-US" sz="2000" dirty="0" smtClean="0">
                <a:sym typeface="Symbol" pitchFamily="18" charset="2"/>
              </a:rPr>
              <a:t>:   Toss a fair coin 50 times, how many heads would turn up?</a:t>
            </a:r>
            <a:br>
              <a:rPr lang="en-US" sz="2000" dirty="0" smtClean="0">
                <a:sym typeface="Symbol" pitchFamily="18" charset="2"/>
              </a:rPr>
            </a:br>
            <a:r>
              <a:rPr lang="en-US" sz="2000" dirty="0" smtClean="0">
                <a:sym typeface="Symbol" pitchFamily="18" charset="2"/>
              </a:rPr>
              <a:t>  	   </a:t>
            </a:r>
            <a:r>
              <a:rPr lang="en-US" sz="2000" dirty="0" smtClean="0"/>
              <a:t>Expected number of heads = </a:t>
            </a:r>
            <a:r>
              <a:rPr lang="en-US" sz="2000" dirty="0" err="1" smtClean="0"/>
              <a:t>N</a:t>
            </a:r>
            <a:r>
              <a:rPr lang="en-US" sz="2000" dirty="0" err="1" smtClean="0">
                <a:sym typeface="Symbol" pitchFamily="18" charset="2"/>
              </a:rPr>
              <a:t></a:t>
            </a:r>
            <a:r>
              <a:rPr lang="en-US" sz="2000" dirty="0" err="1" smtClean="0"/>
              <a:t>p</a:t>
            </a:r>
            <a:r>
              <a:rPr lang="en-US" sz="2000" dirty="0" smtClean="0"/>
              <a:t> = 50 </a:t>
            </a:r>
            <a:r>
              <a:rPr lang="en-US" sz="2000" dirty="0" smtClean="0">
                <a:sym typeface="Symbol" pitchFamily="18" charset="2"/>
              </a:rPr>
              <a:t> 0.5 = 25</a:t>
            </a:r>
            <a:endParaRPr lang="en-US" sz="2000" dirty="0" smtClean="0"/>
          </a:p>
          <a:p>
            <a:pPr lvl="3"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Given x (# of correct predictions) or equivalently, </a:t>
            </a:r>
            <a:r>
              <a:rPr lang="en-US" dirty="0" err="1" smtClean="0"/>
              <a:t>acc</a:t>
            </a:r>
            <a:r>
              <a:rPr lang="en-US" dirty="0" smtClean="0"/>
              <a:t>=x/N, and N (# of test instances),</a:t>
            </a:r>
            <a:br>
              <a:rPr lang="en-US" dirty="0" smtClean="0"/>
            </a:br>
            <a:r>
              <a:rPr lang="en-US" dirty="0" smtClean="0"/>
              <a:t>Can we predict p (true accuracy of model)?</a:t>
            </a:r>
          </a:p>
        </p:txBody>
      </p:sp>
    </p:spTree>
    <p:extLst>
      <p:ext uri="{BB962C8B-B14F-4D97-AF65-F5344CB8AC3E}">
        <p14:creationId xmlns:p14="http://schemas.microsoft.com/office/powerpoint/2010/main" val="311935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Confidence Interval for Accuracy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143000"/>
            <a:ext cx="83185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For large test sets (N &gt; 30), </a:t>
            </a:r>
          </a:p>
          <a:p>
            <a:pPr lvl="1" eaLnBrk="1" hangingPunct="1">
              <a:defRPr/>
            </a:pPr>
            <a:r>
              <a:rPr lang="en-US" sz="2400" dirty="0" err="1" smtClean="0"/>
              <a:t>acc</a:t>
            </a:r>
            <a:r>
              <a:rPr lang="en-US" sz="2400" dirty="0" smtClean="0"/>
              <a:t> has a normal distribution </a:t>
            </a:r>
            <a:br>
              <a:rPr lang="en-US" sz="2400" dirty="0" smtClean="0"/>
            </a:br>
            <a:r>
              <a:rPr lang="en-US" sz="2400" dirty="0" smtClean="0"/>
              <a:t>with mean p and variance </a:t>
            </a:r>
            <a:br>
              <a:rPr lang="en-US" sz="2400" dirty="0" smtClean="0"/>
            </a:br>
            <a:r>
              <a:rPr lang="en-US" sz="2400" dirty="0" smtClean="0"/>
              <a:t>p(1-p)/N</a:t>
            </a:r>
            <a:endParaRPr lang="en-US" sz="2400" dirty="0" smtClean="0">
              <a:sym typeface="Symbol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sym typeface="Symbol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sym typeface="Symbol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sym typeface="Symbol" pitchFamily="18" charset="2"/>
            </a:endParaRPr>
          </a:p>
          <a:p>
            <a:pPr lvl="1" eaLnBrk="1" hangingPunct="1">
              <a:defRPr/>
            </a:pPr>
            <a:endParaRPr lang="en-US" dirty="0" smtClean="0">
              <a:sym typeface="Symbol" pitchFamily="18" charset="2"/>
            </a:endParaRPr>
          </a:p>
          <a:p>
            <a:pPr lvl="1" eaLnBrk="1" hangingPunct="1">
              <a:defRPr/>
            </a:pPr>
            <a:endParaRPr lang="en-US" dirty="0">
              <a:sym typeface="Symbol" pitchFamily="18" charset="2"/>
            </a:endParaRPr>
          </a:p>
          <a:p>
            <a:pPr lvl="1" eaLnBrk="1" hangingPunct="1">
              <a:defRPr/>
            </a:pPr>
            <a:r>
              <a:rPr lang="en-US" dirty="0" smtClean="0">
                <a:sym typeface="Symbol" pitchFamily="18" charset="2"/>
              </a:rPr>
              <a:t>Confidence Interval for p:</a:t>
            </a:r>
            <a:endParaRPr lang="en-US" dirty="0" smtClean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sym typeface="Symbol" pitchFamily="18" charset="2"/>
            </a:endParaRPr>
          </a:p>
        </p:txBody>
      </p:sp>
      <p:pic>
        <p:nvPicPr>
          <p:cNvPr id="105476" name="Picture 5" descr="norm_con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8" t="6569" b="12234"/>
          <a:stretch>
            <a:fillRect/>
          </a:stretch>
        </p:blipFill>
        <p:spPr bwMode="auto">
          <a:xfrm>
            <a:off x="5105400" y="1600200"/>
            <a:ext cx="38862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7" name="Line 6"/>
          <p:cNvSpPr>
            <a:spLocks noChangeShapeType="1"/>
          </p:cNvSpPr>
          <p:nvPr/>
        </p:nvSpPr>
        <p:spPr bwMode="auto">
          <a:xfrm flipH="1">
            <a:off x="7162800" y="1447800"/>
            <a:ext cx="762000" cy="1066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8" name="Text Box 7"/>
          <p:cNvSpPr txBox="1">
            <a:spLocks noChangeArrowheads="1"/>
          </p:cNvSpPr>
          <p:nvPr/>
        </p:nvSpPr>
        <p:spPr bwMode="auto">
          <a:xfrm>
            <a:off x="6858000" y="1066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Area = 1 - </a:t>
            </a:r>
            <a:r>
              <a:rPr lang="en-US" altLang="en-US" sz="2000" b="1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endParaRPr lang="en-US" altLang="en-US" sz="2000" b="1">
              <a:latin typeface="Arial" panose="020B0604020202020204" pitchFamily="34" charset="0"/>
            </a:endParaRPr>
          </a:p>
        </p:txBody>
      </p:sp>
      <p:sp>
        <p:nvSpPr>
          <p:cNvPr id="105479" name="Line 8"/>
          <p:cNvSpPr>
            <a:spLocks noChangeShapeType="1"/>
          </p:cNvSpPr>
          <p:nvPr/>
        </p:nvSpPr>
        <p:spPr bwMode="auto">
          <a:xfrm flipV="1">
            <a:off x="6172200" y="3505200"/>
            <a:ext cx="228600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0" name="Text Box 9"/>
          <p:cNvSpPr txBox="1">
            <a:spLocks noChangeArrowheads="1"/>
          </p:cNvSpPr>
          <p:nvPr/>
        </p:nvSpPr>
        <p:spPr bwMode="auto">
          <a:xfrm>
            <a:off x="5791200" y="3962400"/>
            <a:ext cx="7620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Z</a:t>
            </a:r>
            <a:r>
              <a:rPr lang="en-US" altLang="en-US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/2</a:t>
            </a:r>
            <a:endParaRPr lang="en-US" altLang="en-US" sz="2400" b="1">
              <a:latin typeface="Arial" panose="020B0604020202020204" pitchFamily="34" charset="0"/>
            </a:endParaRPr>
          </a:p>
        </p:txBody>
      </p:sp>
      <p:sp>
        <p:nvSpPr>
          <p:cNvPr id="105481" name="Text Box 10"/>
          <p:cNvSpPr txBox="1">
            <a:spLocks noChangeArrowheads="1"/>
          </p:cNvSpPr>
          <p:nvPr/>
        </p:nvSpPr>
        <p:spPr bwMode="auto">
          <a:xfrm>
            <a:off x="7848600" y="3962400"/>
            <a:ext cx="10668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Z</a:t>
            </a:r>
            <a:r>
              <a:rPr lang="en-US" altLang="en-US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1-  /2</a:t>
            </a:r>
          </a:p>
        </p:txBody>
      </p:sp>
      <p:sp>
        <p:nvSpPr>
          <p:cNvPr id="105482" name="Line 11"/>
          <p:cNvSpPr>
            <a:spLocks noChangeShapeType="1"/>
          </p:cNvSpPr>
          <p:nvPr/>
        </p:nvSpPr>
        <p:spPr bwMode="auto">
          <a:xfrm flipH="1" flipV="1">
            <a:off x="7772400" y="3505200"/>
            <a:ext cx="152400" cy="685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5483" name="Object 12"/>
          <p:cNvGraphicFramePr>
            <a:graphicFrameLocks noChangeAspect="1"/>
          </p:cNvGraphicFramePr>
          <p:nvPr/>
        </p:nvGraphicFramePr>
        <p:xfrm>
          <a:off x="457200" y="5281613"/>
          <a:ext cx="8358188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4" name="Equation" r:id="rId4" imgW="6718300" imgH="838200" progId="Equation.3">
                  <p:embed/>
                </p:oleObj>
              </mc:Choice>
              <mc:Fallback>
                <p:oleObj name="Equation" r:id="rId4" imgW="67183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81613"/>
                        <a:ext cx="8358188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484" name="Group 50"/>
          <p:cNvGrpSpPr>
            <a:grpSpLocks/>
          </p:cNvGrpSpPr>
          <p:nvPr/>
        </p:nvGrpSpPr>
        <p:grpSpPr bwMode="auto">
          <a:xfrm>
            <a:off x="381000" y="2971800"/>
            <a:ext cx="4186238" cy="1458913"/>
            <a:chOff x="336" y="1893"/>
            <a:chExt cx="2637" cy="919"/>
          </a:xfrm>
        </p:grpSpPr>
        <p:sp>
          <p:nvSpPr>
            <p:cNvPr id="105485" name="AutoShape 13"/>
            <p:cNvSpPr>
              <a:spLocks noChangeAspect="1" noChangeArrowheads="1" noTextEdit="1"/>
            </p:cNvSpPr>
            <p:nvPr/>
          </p:nvSpPr>
          <p:spPr bwMode="auto">
            <a:xfrm>
              <a:off x="384" y="1920"/>
              <a:ext cx="2589" cy="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86" name="Line 15"/>
            <p:cNvSpPr>
              <a:spLocks noChangeShapeType="1"/>
            </p:cNvSpPr>
            <p:nvPr/>
          </p:nvSpPr>
          <p:spPr bwMode="auto">
            <a:xfrm flipV="1">
              <a:off x="1148" y="2375"/>
              <a:ext cx="31" cy="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87" name="Line 16"/>
            <p:cNvSpPr>
              <a:spLocks noChangeShapeType="1"/>
            </p:cNvSpPr>
            <p:nvPr/>
          </p:nvSpPr>
          <p:spPr bwMode="auto">
            <a:xfrm>
              <a:off x="1179" y="2378"/>
              <a:ext cx="44" cy="8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88" name="Line 17"/>
            <p:cNvSpPr>
              <a:spLocks noChangeShapeType="1"/>
            </p:cNvSpPr>
            <p:nvPr/>
          </p:nvSpPr>
          <p:spPr bwMode="auto">
            <a:xfrm flipV="1">
              <a:off x="1225" y="2226"/>
              <a:ext cx="52" cy="24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89" name="Line 18"/>
            <p:cNvSpPr>
              <a:spLocks noChangeShapeType="1"/>
            </p:cNvSpPr>
            <p:nvPr/>
          </p:nvSpPr>
          <p:spPr bwMode="auto">
            <a:xfrm>
              <a:off x="1277" y="2226"/>
              <a:ext cx="1015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90" name="Line 19"/>
            <p:cNvSpPr>
              <a:spLocks noChangeShapeType="1"/>
            </p:cNvSpPr>
            <p:nvPr/>
          </p:nvSpPr>
          <p:spPr bwMode="auto">
            <a:xfrm>
              <a:off x="1137" y="2192"/>
              <a:ext cx="1164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91" name="Rectangle 20"/>
            <p:cNvSpPr>
              <a:spLocks noChangeArrowheads="1"/>
            </p:cNvSpPr>
            <p:nvPr/>
          </p:nvSpPr>
          <p:spPr bwMode="auto">
            <a:xfrm>
              <a:off x="1374" y="2528"/>
              <a:ext cx="13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en-US" altLang="en-US" sz="1800"/>
            </a:p>
          </p:txBody>
        </p:sp>
        <p:sp>
          <p:nvSpPr>
            <p:cNvPr id="105492" name="Rectangle 21"/>
            <p:cNvSpPr>
              <a:spLocks noChangeArrowheads="1"/>
            </p:cNvSpPr>
            <p:nvPr/>
          </p:nvSpPr>
          <p:spPr bwMode="auto">
            <a:xfrm>
              <a:off x="2727" y="2228"/>
              <a:ext cx="45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 i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en-US" altLang="en-US" sz="1800"/>
            </a:p>
          </p:txBody>
        </p:sp>
        <p:sp>
          <p:nvSpPr>
            <p:cNvPr id="105493" name="Rectangle 22"/>
            <p:cNvSpPr>
              <a:spLocks noChangeArrowheads="1"/>
            </p:cNvSpPr>
            <p:nvPr/>
          </p:nvSpPr>
          <p:spPr bwMode="auto">
            <a:xfrm>
              <a:off x="758" y="2228"/>
              <a:ext cx="45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 i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en-US" altLang="en-US" sz="1800"/>
            </a:p>
          </p:txBody>
        </p:sp>
        <p:sp>
          <p:nvSpPr>
            <p:cNvPr id="105494" name="Rectangle 23"/>
            <p:cNvSpPr>
              <a:spLocks noChangeArrowheads="1"/>
            </p:cNvSpPr>
            <p:nvPr/>
          </p:nvSpPr>
          <p:spPr bwMode="auto">
            <a:xfrm>
              <a:off x="1237" y="2528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5495" name="Rectangle 24"/>
            <p:cNvSpPr>
              <a:spLocks noChangeArrowheads="1"/>
            </p:cNvSpPr>
            <p:nvPr/>
          </p:nvSpPr>
          <p:spPr bwMode="auto">
            <a:xfrm>
              <a:off x="965" y="2528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05496" name="Rectangle 25"/>
            <p:cNvSpPr>
              <a:spLocks noChangeArrowheads="1"/>
            </p:cNvSpPr>
            <p:nvPr/>
          </p:nvSpPr>
          <p:spPr bwMode="auto">
            <a:xfrm>
              <a:off x="2355" y="2027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Symbol" panose="05050102010706020507" pitchFamily="18" charset="2"/>
                </a:rPr>
                <a:t>&lt;</a:t>
              </a:r>
              <a:endParaRPr lang="en-US" altLang="en-US" sz="1800"/>
            </a:p>
          </p:txBody>
        </p:sp>
        <p:sp>
          <p:nvSpPr>
            <p:cNvPr id="105497" name="Rectangle 26"/>
            <p:cNvSpPr>
              <a:spLocks noChangeArrowheads="1"/>
            </p:cNvSpPr>
            <p:nvPr/>
          </p:nvSpPr>
          <p:spPr bwMode="auto">
            <a:xfrm>
              <a:off x="1615" y="2194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5498" name="Rectangle 27"/>
            <p:cNvSpPr>
              <a:spLocks noChangeArrowheads="1"/>
            </p:cNvSpPr>
            <p:nvPr/>
          </p:nvSpPr>
          <p:spPr bwMode="auto">
            <a:xfrm>
              <a:off x="1743" y="1893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5499" name="Rectangle 28"/>
            <p:cNvSpPr>
              <a:spLocks noChangeArrowheads="1"/>
            </p:cNvSpPr>
            <p:nvPr/>
          </p:nvSpPr>
          <p:spPr bwMode="auto">
            <a:xfrm>
              <a:off x="963" y="2027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Symbol" panose="05050102010706020507" pitchFamily="18" charset="2"/>
                </a:rPr>
                <a:t>&lt;</a:t>
              </a:r>
              <a:endParaRPr lang="en-US" altLang="en-US" sz="1800"/>
            </a:p>
          </p:txBody>
        </p:sp>
        <p:sp>
          <p:nvSpPr>
            <p:cNvPr id="105500" name="Rectangle 29"/>
            <p:cNvSpPr>
              <a:spLocks noChangeArrowheads="1"/>
            </p:cNvSpPr>
            <p:nvPr/>
          </p:nvSpPr>
          <p:spPr bwMode="auto">
            <a:xfrm>
              <a:off x="2691" y="2228"/>
              <a:ext cx="4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5501" name="Rectangle 30"/>
            <p:cNvSpPr>
              <a:spLocks noChangeArrowheads="1"/>
            </p:cNvSpPr>
            <p:nvPr/>
          </p:nvSpPr>
          <p:spPr bwMode="auto">
            <a:xfrm>
              <a:off x="1111" y="2553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5502" name="Rectangle 31"/>
            <p:cNvSpPr>
              <a:spLocks noChangeArrowheads="1"/>
            </p:cNvSpPr>
            <p:nvPr/>
          </p:nvSpPr>
          <p:spPr bwMode="auto">
            <a:xfrm>
              <a:off x="2889" y="2052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05503" name="Rectangle 32"/>
            <p:cNvSpPr>
              <a:spLocks noChangeArrowheads="1"/>
            </p:cNvSpPr>
            <p:nvPr/>
          </p:nvSpPr>
          <p:spPr bwMode="auto">
            <a:xfrm>
              <a:off x="2017" y="2219"/>
              <a:ext cx="60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endParaRPr lang="en-US" altLang="en-US" sz="1800"/>
            </a:p>
          </p:txBody>
        </p:sp>
        <p:sp>
          <p:nvSpPr>
            <p:cNvPr id="105504" name="Rectangle 33"/>
            <p:cNvSpPr>
              <a:spLocks noChangeArrowheads="1"/>
            </p:cNvSpPr>
            <p:nvPr/>
          </p:nvSpPr>
          <p:spPr bwMode="auto">
            <a:xfrm>
              <a:off x="1915" y="2219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05505" name="Rectangle 34"/>
            <p:cNvSpPr>
              <a:spLocks noChangeArrowheads="1"/>
            </p:cNvSpPr>
            <p:nvPr/>
          </p:nvSpPr>
          <p:spPr bwMode="auto">
            <a:xfrm>
              <a:off x="1489" y="2219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5506" name="Rectangle 35"/>
            <p:cNvSpPr>
              <a:spLocks noChangeArrowheads="1"/>
            </p:cNvSpPr>
            <p:nvPr/>
          </p:nvSpPr>
          <p:spPr bwMode="auto">
            <a:xfrm>
              <a:off x="1434" y="2219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05507" name="Rectangle 36"/>
            <p:cNvSpPr>
              <a:spLocks noChangeArrowheads="1"/>
            </p:cNvSpPr>
            <p:nvPr/>
          </p:nvSpPr>
          <p:spPr bwMode="auto">
            <a:xfrm>
              <a:off x="480" y="2064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05508" name="Rectangle 37"/>
            <p:cNvSpPr>
              <a:spLocks noChangeArrowheads="1"/>
            </p:cNvSpPr>
            <p:nvPr/>
          </p:nvSpPr>
          <p:spPr bwMode="auto">
            <a:xfrm>
              <a:off x="2825" y="2236"/>
              <a:ext cx="36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5509" name="Rectangle 38"/>
            <p:cNvSpPr>
              <a:spLocks noChangeArrowheads="1"/>
            </p:cNvSpPr>
            <p:nvPr/>
          </p:nvSpPr>
          <p:spPr bwMode="auto">
            <a:xfrm>
              <a:off x="2792" y="2236"/>
              <a:ext cx="2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endParaRPr lang="en-US" altLang="en-US" sz="1800"/>
            </a:p>
          </p:txBody>
        </p:sp>
        <p:sp>
          <p:nvSpPr>
            <p:cNvPr id="105510" name="Rectangle 39"/>
            <p:cNvSpPr>
              <a:spLocks noChangeArrowheads="1"/>
            </p:cNvSpPr>
            <p:nvPr/>
          </p:nvSpPr>
          <p:spPr bwMode="auto">
            <a:xfrm>
              <a:off x="2658" y="2236"/>
              <a:ext cx="36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5511" name="Rectangle 40"/>
            <p:cNvSpPr>
              <a:spLocks noChangeArrowheads="1"/>
            </p:cNvSpPr>
            <p:nvPr/>
          </p:nvSpPr>
          <p:spPr bwMode="auto">
            <a:xfrm>
              <a:off x="855" y="2236"/>
              <a:ext cx="36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5512" name="Rectangle 41"/>
            <p:cNvSpPr>
              <a:spLocks noChangeArrowheads="1"/>
            </p:cNvSpPr>
            <p:nvPr/>
          </p:nvSpPr>
          <p:spPr bwMode="auto">
            <a:xfrm>
              <a:off x="822" y="2236"/>
              <a:ext cx="2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9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endParaRPr lang="en-US" altLang="en-US" sz="1800"/>
            </a:p>
          </p:txBody>
        </p:sp>
        <p:sp>
          <p:nvSpPr>
            <p:cNvPr id="105513" name="Rectangle 42"/>
            <p:cNvSpPr>
              <a:spLocks noChangeArrowheads="1"/>
            </p:cNvSpPr>
            <p:nvPr/>
          </p:nvSpPr>
          <p:spPr bwMode="auto">
            <a:xfrm>
              <a:off x="2529" y="2052"/>
              <a:ext cx="120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en-US" sz="1800"/>
            </a:p>
          </p:txBody>
        </p:sp>
        <p:sp>
          <p:nvSpPr>
            <p:cNvPr id="105514" name="Rectangle 43"/>
            <p:cNvSpPr>
              <a:spLocks noChangeArrowheads="1"/>
            </p:cNvSpPr>
            <p:nvPr/>
          </p:nvSpPr>
          <p:spPr bwMode="auto">
            <a:xfrm>
              <a:off x="2122" y="2219"/>
              <a:ext cx="14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sz="1800"/>
            </a:p>
          </p:txBody>
        </p:sp>
        <p:sp>
          <p:nvSpPr>
            <p:cNvPr id="105515" name="Rectangle 44"/>
            <p:cNvSpPr>
              <a:spLocks noChangeArrowheads="1"/>
            </p:cNvSpPr>
            <p:nvPr/>
          </p:nvSpPr>
          <p:spPr bwMode="auto">
            <a:xfrm>
              <a:off x="1799" y="2219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05516" name="Rectangle 45"/>
            <p:cNvSpPr>
              <a:spLocks noChangeArrowheads="1"/>
            </p:cNvSpPr>
            <p:nvPr/>
          </p:nvSpPr>
          <p:spPr bwMode="auto">
            <a:xfrm>
              <a:off x="1318" y="2219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05517" name="Rectangle 46"/>
            <p:cNvSpPr>
              <a:spLocks noChangeArrowheads="1"/>
            </p:cNvSpPr>
            <p:nvPr/>
          </p:nvSpPr>
          <p:spPr bwMode="auto">
            <a:xfrm>
              <a:off x="1927" y="1918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05518" name="Rectangle 47"/>
            <p:cNvSpPr>
              <a:spLocks noChangeArrowheads="1"/>
            </p:cNvSpPr>
            <p:nvPr/>
          </p:nvSpPr>
          <p:spPr bwMode="auto">
            <a:xfrm>
              <a:off x="1402" y="1918"/>
              <a:ext cx="300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acc</a:t>
              </a:r>
              <a:endParaRPr lang="en-US" altLang="en-US" sz="1800"/>
            </a:p>
          </p:txBody>
        </p:sp>
        <p:sp>
          <p:nvSpPr>
            <p:cNvPr id="105519" name="Rectangle 48"/>
            <p:cNvSpPr>
              <a:spLocks noChangeArrowheads="1"/>
            </p:cNvSpPr>
            <p:nvPr/>
          </p:nvSpPr>
          <p:spPr bwMode="auto">
            <a:xfrm>
              <a:off x="528" y="2064"/>
              <a:ext cx="19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-Z</a:t>
              </a:r>
              <a:endParaRPr lang="en-US" altLang="en-US" sz="1800"/>
            </a:p>
          </p:txBody>
        </p:sp>
        <p:sp>
          <p:nvSpPr>
            <p:cNvPr id="105520" name="Rectangle 49"/>
            <p:cNvSpPr>
              <a:spLocks noChangeArrowheads="1"/>
            </p:cNvSpPr>
            <p:nvPr/>
          </p:nvSpPr>
          <p:spPr bwMode="auto">
            <a:xfrm>
              <a:off x="336" y="2064"/>
              <a:ext cx="13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8086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Confidence Interval for Accuracy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Consider a model that produces an accuracy of 80% when evaluated on 100 test instances:</a:t>
            </a:r>
          </a:p>
          <a:p>
            <a:pPr lvl="1" eaLnBrk="1" hangingPunct="1">
              <a:defRPr/>
            </a:pPr>
            <a:r>
              <a:rPr lang="en-US" sz="2400" smtClean="0"/>
              <a:t>N=100, acc = 0.8</a:t>
            </a:r>
          </a:p>
          <a:p>
            <a:pPr lvl="1" eaLnBrk="1" hangingPunct="1">
              <a:defRPr/>
            </a:pPr>
            <a:r>
              <a:rPr lang="en-US" sz="2400" smtClean="0"/>
              <a:t>Let 1-</a:t>
            </a:r>
            <a:r>
              <a:rPr lang="en-US" sz="2400" smtClean="0">
                <a:sym typeface="Symbol" pitchFamily="18" charset="2"/>
              </a:rPr>
              <a:t> = 0.95 (95% confidence)</a:t>
            </a:r>
          </a:p>
          <a:p>
            <a:pPr lvl="1" eaLnBrk="1" hangingPunct="1">
              <a:defRPr/>
            </a:pPr>
            <a:r>
              <a:rPr lang="en-US" sz="2400" smtClean="0">
                <a:sym typeface="Symbol" pitchFamily="18" charset="2"/>
              </a:rPr>
              <a:t>From probability table, Z</a:t>
            </a:r>
            <a:r>
              <a:rPr lang="en-US" sz="2400" baseline="-25000" smtClean="0">
                <a:sym typeface="Symbol" pitchFamily="18" charset="2"/>
              </a:rPr>
              <a:t>/2</a:t>
            </a:r>
            <a:r>
              <a:rPr lang="en-US" sz="2400" smtClean="0">
                <a:sym typeface="Symbol" pitchFamily="18" charset="2"/>
              </a:rPr>
              <a:t>=1.96</a:t>
            </a:r>
            <a:r>
              <a:rPr lang="en-US" smtClean="0">
                <a:sym typeface="Symbol" pitchFamily="18" charset="2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smtClean="0"/>
          </a:p>
        </p:txBody>
      </p:sp>
      <p:graphicFrame>
        <p:nvGraphicFramePr>
          <p:cNvPr id="278586" name="Group 58"/>
          <p:cNvGraphicFramePr>
            <a:graphicFrameLocks noGrp="1"/>
          </p:cNvGraphicFramePr>
          <p:nvPr/>
        </p:nvGraphicFramePr>
        <p:xfrm>
          <a:off x="6934200" y="2546350"/>
          <a:ext cx="1905000" cy="2667000"/>
        </p:xfrm>
        <a:graphic>
          <a:graphicData uri="http://schemas.openxmlformats.org/drawingml/2006/table">
            <a:tbl>
              <a:tblPr/>
              <a:tblGrid>
                <a:gridCol w="952500"/>
                <a:gridCol w="9525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1-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  <a:sym typeface="Symbol" pitchFamily="18" charset="2"/>
                        </a:rPr>
                        <a:t>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0.98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0.95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1.96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0.90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1.65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6520" name="Line 24"/>
          <p:cNvSpPr>
            <a:spLocks noChangeShapeType="1"/>
          </p:cNvSpPr>
          <p:nvPr/>
        </p:nvSpPr>
        <p:spPr bwMode="auto">
          <a:xfrm>
            <a:off x="5791200" y="3276600"/>
            <a:ext cx="1143000" cy="990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8587" name="Group 59"/>
          <p:cNvGraphicFramePr>
            <a:graphicFrameLocks noGrp="1"/>
          </p:cNvGraphicFramePr>
          <p:nvPr/>
        </p:nvGraphicFramePr>
        <p:xfrm>
          <a:off x="0" y="4543425"/>
          <a:ext cx="6705600" cy="2019300"/>
        </p:xfrm>
        <a:graphic>
          <a:graphicData uri="http://schemas.openxmlformats.org/drawingml/2006/table">
            <a:tbl>
              <a:tblPr/>
              <a:tblGrid>
                <a:gridCol w="1411288"/>
                <a:gridCol w="1058862"/>
                <a:gridCol w="1058863"/>
                <a:gridCol w="1058862"/>
                <a:gridCol w="1058863"/>
                <a:gridCol w="1058862"/>
              </a:tblGrid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p(lower)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0.670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0.711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0.763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0.774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0.789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itchFamily="34" charset="0"/>
                        </a:rPr>
                        <a:t>p(upper)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0.888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0.866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0.833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0.824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0.811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90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Comparing Performance of 2 Models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Given two models, say M1 and M2, which is better?</a:t>
            </a:r>
          </a:p>
          <a:p>
            <a:pPr lvl="1" eaLnBrk="1" hangingPunct="1">
              <a:defRPr/>
            </a:pPr>
            <a:r>
              <a:rPr lang="en-US" sz="2400" dirty="0" smtClean="0"/>
              <a:t>M1 is tested on D1 (size=n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), found error rate = e</a:t>
            </a:r>
            <a:r>
              <a:rPr lang="en-US" sz="2400" baseline="-25000" dirty="0" smtClean="0"/>
              <a:t>1</a:t>
            </a:r>
          </a:p>
          <a:p>
            <a:pPr lvl="1" eaLnBrk="1" hangingPunct="1">
              <a:defRPr/>
            </a:pPr>
            <a:r>
              <a:rPr lang="en-US" sz="2400" dirty="0" smtClean="0"/>
              <a:t>M2 is tested on D2 (size=n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), found error rate = e</a:t>
            </a:r>
            <a:r>
              <a:rPr lang="en-US" sz="2400" baseline="-25000" dirty="0" smtClean="0"/>
              <a:t>2</a:t>
            </a:r>
          </a:p>
          <a:p>
            <a:pPr lvl="1" eaLnBrk="1" hangingPunct="1">
              <a:defRPr/>
            </a:pPr>
            <a:r>
              <a:rPr lang="en-US" sz="2400" dirty="0" smtClean="0"/>
              <a:t>Assume D1 and D2 are independent</a:t>
            </a:r>
          </a:p>
          <a:p>
            <a:pPr lvl="1" eaLnBrk="1" hangingPunct="1">
              <a:defRPr/>
            </a:pPr>
            <a:r>
              <a:rPr lang="en-US" sz="2400" dirty="0" smtClean="0"/>
              <a:t>If n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n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are sufficiently large, then</a:t>
            </a:r>
          </a:p>
          <a:p>
            <a:pPr lvl="1" eaLnBrk="1" hangingPunct="1">
              <a:defRPr/>
            </a:pPr>
            <a:endParaRPr lang="en-US" dirty="0" smtClean="0"/>
          </a:p>
          <a:p>
            <a:pPr lvl="1" eaLnBrk="1" hangingPunct="1">
              <a:defRPr/>
            </a:pPr>
            <a:endParaRPr lang="en-US" dirty="0" smtClean="0"/>
          </a:p>
          <a:p>
            <a:pPr lvl="1" eaLnBrk="1" hangingPunct="1">
              <a:defRPr/>
            </a:pPr>
            <a:endParaRPr lang="en-US" dirty="0" smtClean="0"/>
          </a:p>
          <a:p>
            <a:pPr lvl="1" eaLnBrk="1" hangingPunct="1">
              <a:defRPr/>
            </a:pPr>
            <a:r>
              <a:rPr lang="en-US" sz="2400" dirty="0" smtClean="0"/>
              <a:t>Approximate</a:t>
            </a:r>
            <a:r>
              <a:rPr lang="en-US" dirty="0" smtClean="0"/>
              <a:t>:</a:t>
            </a:r>
          </a:p>
        </p:txBody>
      </p:sp>
      <p:graphicFrame>
        <p:nvGraphicFramePr>
          <p:cNvPr id="107524" name="Object 4"/>
          <p:cNvGraphicFramePr>
            <a:graphicFrameLocks noChangeAspect="1"/>
          </p:cNvGraphicFramePr>
          <p:nvPr>
            <p:extLst/>
          </p:nvPr>
        </p:nvGraphicFramePr>
        <p:xfrm>
          <a:off x="3253581" y="3976315"/>
          <a:ext cx="22098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2" name="Equation" r:id="rId3" imgW="914400" imgH="457200" progId="Equation.3">
                  <p:embed/>
                </p:oleObj>
              </mc:Choice>
              <mc:Fallback>
                <p:oleObj name="Equation" r:id="rId3" imgW="914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581" y="3976315"/>
                        <a:ext cx="2209800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>
            <p:extLst/>
          </p:nvPr>
        </p:nvGraphicFramePr>
        <p:xfrm>
          <a:off x="3429000" y="5463436"/>
          <a:ext cx="1706563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" name="Equation" r:id="rId5" imgW="1612900" imgH="800100" progId="Equation.3">
                  <p:embed/>
                </p:oleObj>
              </mc:Choice>
              <mc:Fallback>
                <p:oleObj name="Equation" r:id="rId5" imgW="16129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63436"/>
                        <a:ext cx="1706563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414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Comparing Performance of 2 Models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To test if performance difference is statistically significant:  d = e</a:t>
            </a:r>
            <a:r>
              <a:rPr lang="en-US" baseline="-25000" smtClean="0"/>
              <a:t>1</a:t>
            </a:r>
            <a:r>
              <a:rPr lang="en-US" smtClean="0"/>
              <a:t> – e</a:t>
            </a:r>
            <a:r>
              <a:rPr lang="en-US" baseline="-25000" smtClean="0"/>
              <a:t>2</a:t>
            </a:r>
          </a:p>
          <a:p>
            <a:pPr lvl="1" eaLnBrk="1" hangingPunct="1">
              <a:defRPr/>
            </a:pPr>
            <a:r>
              <a:rPr lang="en-US" sz="2400" smtClean="0"/>
              <a:t>d ~ </a:t>
            </a:r>
            <a:r>
              <a:rPr lang="en-US" sz="2400" i="1" smtClean="0"/>
              <a:t>N</a:t>
            </a:r>
            <a:r>
              <a:rPr lang="en-US" sz="2400" smtClean="0"/>
              <a:t>(d</a:t>
            </a:r>
            <a:r>
              <a:rPr lang="en-US" sz="2400" baseline="-25000" smtClean="0"/>
              <a:t>t</a:t>
            </a:r>
            <a:r>
              <a:rPr lang="en-US" sz="2400" smtClean="0"/>
              <a:t>,</a:t>
            </a:r>
            <a:r>
              <a:rPr lang="en-US" sz="2400" smtClean="0">
                <a:sym typeface="Symbol" pitchFamily="18" charset="2"/>
              </a:rPr>
              <a:t></a:t>
            </a:r>
            <a:r>
              <a:rPr lang="en-US" sz="2400" baseline="-25000" smtClean="0"/>
              <a:t>t</a:t>
            </a:r>
            <a:r>
              <a:rPr lang="en-US" sz="2400" smtClean="0"/>
              <a:t>)   where d</a:t>
            </a:r>
            <a:r>
              <a:rPr lang="en-US" sz="2400" baseline="-25000" smtClean="0"/>
              <a:t>t</a:t>
            </a:r>
            <a:r>
              <a:rPr lang="en-US" sz="2400" smtClean="0"/>
              <a:t> is the true difference</a:t>
            </a:r>
          </a:p>
          <a:p>
            <a:pPr lvl="1" eaLnBrk="1" hangingPunct="1">
              <a:defRPr/>
            </a:pPr>
            <a:r>
              <a:rPr lang="en-US" sz="2400" smtClean="0"/>
              <a:t>Since D1 and D2 are independent, their variance adds up:   </a:t>
            </a:r>
          </a:p>
          <a:p>
            <a:pPr lvl="1" eaLnBrk="1" hangingPunct="1">
              <a:defRPr/>
            </a:pPr>
            <a:endParaRPr lang="en-US" sz="2400" smtClean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sz="2400" smtClean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sz="2400" smtClean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sz="2400" smtClean="0"/>
          </a:p>
          <a:p>
            <a:pPr lvl="1" eaLnBrk="1" hangingPunct="1">
              <a:defRPr/>
            </a:pPr>
            <a:endParaRPr lang="en-US" sz="2400" smtClean="0"/>
          </a:p>
          <a:p>
            <a:pPr lvl="1" eaLnBrk="1" hangingPunct="1">
              <a:defRPr/>
            </a:pPr>
            <a:r>
              <a:rPr lang="en-US" sz="2400" smtClean="0"/>
              <a:t>At (1-</a:t>
            </a:r>
            <a:r>
              <a:rPr lang="en-US" sz="2400" smtClean="0">
                <a:sym typeface="Symbol" pitchFamily="18" charset="2"/>
              </a:rPr>
              <a:t>) confidence level, </a:t>
            </a:r>
          </a:p>
        </p:txBody>
      </p:sp>
      <p:graphicFrame>
        <p:nvGraphicFramePr>
          <p:cNvPr id="108548" name="Object 5"/>
          <p:cNvGraphicFramePr>
            <a:graphicFrameLocks noChangeAspect="1"/>
          </p:cNvGraphicFramePr>
          <p:nvPr/>
        </p:nvGraphicFramePr>
        <p:xfrm>
          <a:off x="4908550" y="5545138"/>
          <a:ext cx="27559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2" name="Equation" r:id="rId3" imgW="1676400" imgH="381000" progId="Equation.3">
                  <p:embed/>
                </p:oleObj>
              </mc:Choice>
              <mc:Fallback>
                <p:oleObj name="Equation" r:id="rId3" imgW="16764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5545138"/>
                        <a:ext cx="27559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549" name="Group 53"/>
          <p:cNvGrpSpPr>
            <a:grpSpLocks/>
          </p:cNvGrpSpPr>
          <p:nvPr/>
        </p:nvGrpSpPr>
        <p:grpSpPr bwMode="auto">
          <a:xfrm>
            <a:off x="2357438" y="3532188"/>
            <a:ext cx="4189412" cy="1741487"/>
            <a:chOff x="1485" y="2225"/>
            <a:chExt cx="2639" cy="1097"/>
          </a:xfrm>
        </p:grpSpPr>
        <p:sp>
          <p:nvSpPr>
            <p:cNvPr id="108550" name="AutoShape 6"/>
            <p:cNvSpPr>
              <a:spLocks noChangeAspect="1" noChangeArrowheads="1" noTextEdit="1"/>
            </p:cNvSpPr>
            <p:nvPr/>
          </p:nvSpPr>
          <p:spPr bwMode="auto">
            <a:xfrm>
              <a:off x="1488" y="2256"/>
              <a:ext cx="2636" cy="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1" name="Line 8"/>
            <p:cNvSpPr>
              <a:spLocks noChangeShapeType="1"/>
            </p:cNvSpPr>
            <p:nvPr/>
          </p:nvSpPr>
          <p:spPr bwMode="auto">
            <a:xfrm>
              <a:off x="2022" y="2954"/>
              <a:ext cx="870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2" name="Line 9"/>
            <p:cNvSpPr>
              <a:spLocks noChangeShapeType="1"/>
            </p:cNvSpPr>
            <p:nvPr/>
          </p:nvSpPr>
          <p:spPr bwMode="auto">
            <a:xfrm>
              <a:off x="3132" y="2954"/>
              <a:ext cx="964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3" name="Rectangle 10"/>
            <p:cNvSpPr>
              <a:spLocks noChangeArrowheads="1"/>
            </p:cNvSpPr>
            <p:nvPr/>
          </p:nvSpPr>
          <p:spPr bwMode="auto">
            <a:xfrm>
              <a:off x="3600" y="312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 baseline="-25000"/>
            </a:p>
          </p:txBody>
        </p:sp>
        <p:sp>
          <p:nvSpPr>
            <p:cNvPr id="108554" name="Rectangle 11"/>
            <p:cNvSpPr>
              <a:spLocks noChangeArrowheads="1"/>
            </p:cNvSpPr>
            <p:nvPr/>
          </p:nvSpPr>
          <p:spPr bwMode="auto">
            <a:xfrm>
              <a:off x="4010" y="2638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08555" name="Rectangle 12"/>
            <p:cNvSpPr>
              <a:spLocks noChangeArrowheads="1"/>
            </p:cNvSpPr>
            <p:nvPr/>
          </p:nvSpPr>
          <p:spPr bwMode="auto">
            <a:xfrm>
              <a:off x="3888" y="273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 baseline="-25000"/>
            </a:p>
          </p:txBody>
        </p:sp>
        <p:sp>
          <p:nvSpPr>
            <p:cNvPr id="108556" name="Rectangle 13"/>
            <p:cNvSpPr>
              <a:spLocks noChangeArrowheads="1"/>
            </p:cNvSpPr>
            <p:nvPr/>
          </p:nvSpPr>
          <p:spPr bwMode="auto">
            <a:xfrm>
              <a:off x="3443" y="2638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8557" name="Rectangle 14"/>
            <p:cNvSpPr>
              <a:spLocks noChangeArrowheads="1"/>
            </p:cNvSpPr>
            <p:nvPr/>
          </p:nvSpPr>
          <p:spPr bwMode="auto">
            <a:xfrm>
              <a:off x="3379" y="2638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08558" name="Rectangle 15"/>
            <p:cNvSpPr>
              <a:spLocks noChangeArrowheads="1"/>
            </p:cNvSpPr>
            <p:nvPr/>
          </p:nvSpPr>
          <p:spPr bwMode="auto">
            <a:xfrm>
              <a:off x="3264" y="273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 baseline="-25000"/>
            </a:p>
          </p:txBody>
        </p:sp>
        <p:sp>
          <p:nvSpPr>
            <p:cNvPr id="108559" name="Rectangle 16"/>
            <p:cNvSpPr>
              <a:spLocks noChangeArrowheads="1"/>
            </p:cNvSpPr>
            <p:nvPr/>
          </p:nvSpPr>
          <p:spPr bwMode="auto">
            <a:xfrm>
              <a:off x="2448" y="312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 baseline="-25000"/>
            </a:p>
          </p:txBody>
        </p:sp>
        <p:sp>
          <p:nvSpPr>
            <p:cNvPr id="108560" name="Rectangle 17"/>
            <p:cNvSpPr>
              <a:spLocks noChangeArrowheads="1"/>
            </p:cNvSpPr>
            <p:nvPr/>
          </p:nvSpPr>
          <p:spPr bwMode="auto">
            <a:xfrm>
              <a:off x="2806" y="2638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08561" name="Rectangle 18"/>
            <p:cNvSpPr>
              <a:spLocks noChangeArrowheads="1"/>
            </p:cNvSpPr>
            <p:nvPr/>
          </p:nvSpPr>
          <p:spPr bwMode="auto">
            <a:xfrm>
              <a:off x="2688" y="273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 baseline="-25000"/>
            </a:p>
          </p:txBody>
        </p:sp>
        <p:sp>
          <p:nvSpPr>
            <p:cNvPr id="108562" name="Rectangle 19"/>
            <p:cNvSpPr>
              <a:spLocks noChangeArrowheads="1"/>
            </p:cNvSpPr>
            <p:nvPr/>
          </p:nvSpPr>
          <p:spPr bwMode="auto">
            <a:xfrm>
              <a:off x="2286" y="2638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8563" name="Rectangle 20"/>
            <p:cNvSpPr>
              <a:spLocks noChangeArrowheads="1"/>
            </p:cNvSpPr>
            <p:nvPr/>
          </p:nvSpPr>
          <p:spPr bwMode="auto">
            <a:xfrm>
              <a:off x="2222" y="2638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08564" name="Rectangle 21"/>
            <p:cNvSpPr>
              <a:spLocks noChangeArrowheads="1"/>
            </p:cNvSpPr>
            <p:nvPr/>
          </p:nvSpPr>
          <p:spPr bwMode="auto">
            <a:xfrm>
              <a:off x="2112" y="273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 baseline="-25000"/>
            </a:p>
          </p:txBody>
        </p:sp>
        <p:sp>
          <p:nvSpPr>
            <p:cNvPr id="108565" name="Rectangle 22"/>
            <p:cNvSpPr>
              <a:spLocks noChangeArrowheads="1"/>
            </p:cNvSpPr>
            <p:nvPr/>
          </p:nvSpPr>
          <p:spPr bwMode="auto">
            <a:xfrm>
              <a:off x="3569" y="2258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ˆ</a:t>
              </a:r>
              <a:endParaRPr lang="en-US" altLang="en-US" sz="1800"/>
            </a:p>
          </p:txBody>
        </p:sp>
        <p:sp>
          <p:nvSpPr>
            <p:cNvPr id="108566" name="Rectangle 23"/>
            <p:cNvSpPr>
              <a:spLocks noChangeArrowheads="1"/>
            </p:cNvSpPr>
            <p:nvPr/>
          </p:nvSpPr>
          <p:spPr bwMode="auto">
            <a:xfrm>
              <a:off x="3084" y="2258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ˆ</a:t>
              </a:r>
              <a:endParaRPr lang="en-US" altLang="en-US" sz="1800"/>
            </a:p>
          </p:txBody>
        </p:sp>
        <p:sp>
          <p:nvSpPr>
            <p:cNvPr id="108567" name="Rectangle 24"/>
            <p:cNvSpPr>
              <a:spLocks noChangeArrowheads="1"/>
            </p:cNvSpPr>
            <p:nvPr/>
          </p:nvSpPr>
          <p:spPr bwMode="auto">
            <a:xfrm>
              <a:off x="3695" y="229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8568" name="Rectangle 25"/>
            <p:cNvSpPr>
              <a:spLocks noChangeArrowheads="1"/>
            </p:cNvSpPr>
            <p:nvPr/>
          </p:nvSpPr>
          <p:spPr bwMode="auto">
            <a:xfrm>
              <a:off x="3676" y="2466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8569" name="Rectangle 26"/>
            <p:cNvSpPr>
              <a:spLocks noChangeArrowheads="1"/>
            </p:cNvSpPr>
            <p:nvPr/>
          </p:nvSpPr>
          <p:spPr bwMode="auto">
            <a:xfrm>
              <a:off x="3209" y="229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8570" name="Rectangle 27"/>
            <p:cNvSpPr>
              <a:spLocks noChangeArrowheads="1"/>
            </p:cNvSpPr>
            <p:nvPr/>
          </p:nvSpPr>
          <p:spPr bwMode="auto">
            <a:xfrm>
              <a:off x="3181" y="2466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8571" name="Rectangle 28"/>
            <p:cNvSpPr>
              <a:spLocks noChangeArrowheads="1"/>
            </p:cNvSpPr>
            <p:nvPr/>
          </p:nvSpPr>
          <p:spPr bwMode="auto">
            <a:xfrm>
              <a:off x="2692" y="229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8572" name="Rectangle 29"/>
            <p:cNvSpPr>
              <a:spLocks noChangeArrowheads="1"/>
            </p:cNvSpPr>
            <p:nvPr/>
          </p:nvSpPr>
          <p:spPr bwMode="auto">
            <a:xfrm>
              <a:off x="2673" y="2466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8573" name="Rectangle 30"/>
            <p:cNvSpPr>
              <a:spLocks noChangeArrowheads="1"/>
            </p:cNvSpPr>
            <p:nvPr/>
          </p:nvSpPr>
          <p:spPr bwMode="auto">
            <a:xfrm>
              <a:off x="2206" y="229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8574" name="Rectangle 31"/>
            <p:cNvSpPr>
              <a:spLocks noChangeArrowheads="1"/>
            </p:cNvSpPr>
            <p:nvPr/>
          </p:nvSpPr>
          <p:spPr bwMode="auto">
            <a:xfrm>
              <a:off x="2178" y="2466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8575" name="Rectangle 32"/>
            <p:cNvSpPr>
              <a:spLocks noChangeArrowheads="1"/>
            </p:cNvSpPr>
            <p:nvPr/>
          </p:nvSpPr>
          <p:spPr bwMode="auto">
            <a:xfrm>
              <a:off x="1693" y="229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/>
            </a:p>
          </p:txBody>
        </p:sp>
        <p:sp>
          <p:nvSpPr>
            <p:cNvPr id="108576" name="Rectangle 33"/>
            <p:cNvSpPr>
              <a:spLocks noChangeArrowheads="1"/>
            </p:cNvSpPr>
            <p:nvPr/>
          </p:nvSpPr>
          <p:spPr bwMode="auto">
            <a:xfrm>
              <a:off x="3488" y="2986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sz="1800"/>
            </a:p>
          </p:txBody>
        </p:sp>
        <p:sp>
          <p:nvSpPr>
            <p:cNvPr id="108577" name="Rectangle 34"/>
            <p:cNvSpPr>
              <a:spLocks noChangeArrowheads="1"/>
            </p:cNvSpPr>
            <p:nvPr/>
          </p:nvSpPr>
          <p:spPr bwMode="auto">
            <a:xfrm>
              <a:off x="3766" y="2638"/>
              <a:ext cx="11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sz="1800"/>
            </a:p>
          </p:txBody>
        </p:sp>
        <p:sp>
          <p:nvSpPr>
            <p:cNvPr id="108578" name="Rectangle 35"/>
            <p:cNvSpPr>
              <a:spLocks noChangeArrowheads="1"/>
            </p:cNvSpPr>
            <p:nvPr/>
          </p:nvSpPr>
          <p:spPr bwMode="auto">
            <a:xfrm>
              <a:off x="3135" y="2638"/>
              <a:ext cx="11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sz="1800"/>
            </a:p>
          </p:txBody>
        </p:sp>
        <p:sp>
          <p:nvSpPr>
            <p:cNvPr id="108579" name="Rectangle 36"/>
            <p:cNvSpPr>
              <a:spLocks noChangeArrowheads="1"/>
            </p:cNvSpPr>
            <p:nvPr/>
          </p:nvSpPr>
          <p:spPr bwMode="auto">
            <a:xfrm>
              <a:off x="2354" y="2986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sz="1800"/>
            </a:p>
          </p:txBody>
        </p:sp>
        <p:sp>
          <p:nvSpPr>
            <p:cNvPr id="108580" name="Rectangle 37"/>
            <p:cNvSpPr>
              <a:spLocks noChangeArrowheads="1"/>
            </p:cNvSpPr>
            <p:nvPr/>
          </p:nvSpPr>
          <p:spPr bwMode="auto">
            <a:xfrm>
              <a:off x="2609" y="2638"/>
              <a:ext cx="11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sz="1800"/>
            </a:p>
          </p:txBody>
        </p:sp>
        <p:sp>
          <p:nvSpPr>
            <p:cNvPr id="108581" name="Rectangle 38"/>
            <p:cNvSpPr>
              <a:spLocks noChangeArrowheads="1"/>
            </p:cNvSpPr>
            <p:nvPr/>
          </p:nvSpPr>
          <p:spPr bwMode="auto">
            <a:xfrm>
              <a:off x="2025" y="2638"/>
              <a:ext cx="11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sz="1800"/>
            </a:p>
          </p:txBody>
        </p:sp>
        <p:sp>
          <p:nvSpPr>
            <p:cNvPr id="108582" name="Rectangle 39"/>
            <p:cNvSpPr>
              <a:spLocks noChangeArrowheads="1"/>
            </p:cNvSpPr>
            <p:nvPr/>
          </p:nvSpPr>
          <p:spPr bwMode="auto">
            <a:xfrm>
              <a:off x="1671" y="2466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1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sz="1800"/>
            </a:p>
          </p:txBody>
        </p:sp>
        <p:sp>
          <p:nvSpPr>
            <p:cNvPr id="108583" name="Rectangle 40"/>
            <p:cNvSpPr>
              <a:spLocks noChangeArrowheads="1"/>
            </p:cNvSpPr>
            <p:nvPr/>
          </p:nvSpPr>
          <p:spPr bwMode="auto">
            <a:xfrm>
              <a:off x="3588" y="2609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8584" name="Rectangle 41"/>
            <p:cNvSpPr>
              <a:spLocks noChangeArrowheads="1"/>
            </p:cNvSpPr>
            <p:nvPr/>
          </p:nvSpPr>
          <p:spPr bwMode="auto">
            <a:xfrm>
              <a:off x="2943" y="2764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1800"/>
            </a:p>
          </p:txBody>
        </p:sp>
        <p:sp>
          <p:nvSpPr>
            <p:cNvPr id="108585" name="Rectangle 42"/>
            <p:cNvSpPr>
              <a:spLocks noChangeArrowheads="1"/>
            </p:cNvSpPr>
            <p:nvPr/>
          </p:nvSpPr>
          <p:spPr bwMode="auto">
            <a:xfrm>
              <a:off x="2432" y="2609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8586" name="Rectangle 43"/>
            <p:cNvSpPr>
              <a:spLocks noChangeArrowheads="1"/>
            </p:cNvSpPr>
            <p:nvPr/>
          </p:nvSpPr>
          <p:spPr bwMode="auto">
            <a:xfrm>
              <a:off x="1821" y="2764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08587" name="Rectangle 44"/>
            <p:cNvSpPr>
              <a:spLocks noChangeArrowheads="1"/>
            </p:cNvSpPr>
            <p:nvPr/>
          </p:nvSpPr>
          <p:spPr bwMode="auto">
            <a:xfrm>
              <a:off x="3322" y="2225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1800"/>
            </a:p>
          </p:txBody>
        </p:sp>
        <p:sp>
          <p:nvSpPr>
            <p:cNvPr id="108588" name="Rectangle 45"/>
            <p:cNvSpPr>
              <a:spLocks noChangeArrowheads="1"/>
            </p:cNvSpPr>
            <p:nvPr/>
          </p:nvSpPr>
          <p:spPr bwMode="auto">
            <a:xfrm>
              <a:off x="2820" y="2225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@</a:t>
              </a:r>
              <a:endParaRPr lang="en-US" altLang="en-US" sz="1800"/>
            </a:p>
          </p:txBody>
        </p:sp>
        <p:sp>
          <p:nvSpPr>
            <p:cNvPr id="108589" name="Rectangle 46"/>
            <p:cNvSpPr>
              <a:spLocks noChangeArrowheads="1"/>
            </p:cNvSpPr>
            <p:nvPr/>
          </p:nvSpPr>
          <p:spPr bwMode="auto">
            <a:xfrm>
              <a:off x="2319" y="2225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1800"/>
            </a:p>
          </p:txBody>
        </p:sp>
        <p:sp>
          <p:nvSpPr>
            <p:cNvPr id="108590" name="Rectangle 47"/>
            <p:cNvSpPr>
              <a:spLocks noChangeArrowheads="1"/>
            </p:cNvSpPr>
            <p:nvPr/>
          </p:nvSpPr>
          <p:spPr bwMode="auto">
            <a:xfrm>
              <a:off x="1821" y="2225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08591" name="Rectangle 48"/>
            <p:cNvSpPr>
              <a:spLocks noChangeArrowheads="1"/>
            </p:cNvSpPr>
            <p:nvPr/>
          </p:nvSpPr>
          <p:spPr bwMode="auto">
            <a:xfrm>
              <a:off x="3487" y="2225"/>
              <a:ext cx="15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 sz="1800"/>
            </a:p>
          </p:txBody>
        </p:sp>
        <p:sp>
          <p:nvSpPr>
            <p:cNvPr id="108592" name="Rectangle 49"/>
            <p:cNvSpPr>
              <a:spLocks noChangeArrowheads="1"/>
            </p:cNvSpPr>
            <p:nvPr/>
          </p:nvSpPr>
          <p:spPr bwMode="auto">
            <a:xfrm>
              <a:off x="3002" y="2225"/>
              <a:ext cx="15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 sz="1800"/>
            </a:p>
          </p:txBody>
        </p:sp>
        <p:sp>
          <p:nvSpPr>
            <p:cNvPr id="108593" name="Rectangle 50"/>
            <p:cNvSpPr>
              <a:spLocks noChangeArrowheads="1"/>
            </p:cNvSpPr>
            <p:nvPr/>
          </p:nvSpPr>
          <p:spPr bwMode="auto">
            <a:xfrm>
              <a:off x="2484" y="2225"/>
              <a:ext cx="15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 sz="1800"/>
            </a:p>
          </p:txBody>
        </p:sp>
        <p:sp>
          <p:nvSpPr>
            <p:cNvPr id="108594" name="Rectangle 51"/>
            <p:cNvSpPr>
              <a:spLocks noChangeArrowheads="1"/>
            </p:cNvSpPr>
            <p:nvPr/>
          </p:nvSpPr>
          <p:spPr bwMode="auto">
            <a:xfrm>
              <a:off x="1999" y="2225"/>
              <a:ext cx="15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 sz="1800"/>
            </a:p>
          </p:txBody>
        </p:sp>
        <p:sp>
          <p:nvSpPr>
            <p:cNvPr id="108595" name="Rectangle 52"/>
            <p:cNvSpPr>
              <a:spLocks noChangeArrowheads="1"/>
            </p:cNvSpPr>
            <p:nvPr/>
          </p:nvSpPr>
          <p:spPr bwMode="auto">
            <a:xfrm>
              <a:off x="1485" y="2225"/>
              <a:ext cx="15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9541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An Illustrative Example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Given: M1: n</a:t>
            </a:r>
            <a:r>
              <a:rPr lang="en-US" baseline="-25000" dirty="0" smtClean="0"/>
              <a:t>1</a:t>
            </a:r>
            <a:r>
              <a:rPr lang="en-US" dirty="0" smtClean="0"/>
              <a:t> = 30, e</a:t>
            </a:r>
            <a:r>
              <a:rPr lang="en-US" baseline="-25000" dirty="0" smtClean="0"/>
              <a:t>1</a:t>
            </a:r>
            <a:r>
              <a:rPr lang="en-US" dirty="0" smtClean="0"/>
              <a:t> = 0.15</a:t>
            </a:r>
            <a:br>
              <a:rPr lang="en-US" dirty="0" smtClean="0"/>
            </a:br>
            <a:r>
              <a:rPr lang="en-US" dirty="0" smtClean="0"/>
              <a:t>	     M2: n</a:t>
            </a:r>
            <a:r>
              <a:rPr lang="en-US" baseline="-25000" dirty="0" smtClean="0"/>
              <a:t>2</a:t>
            </a:r>
            <a:r>
              <a:rPr lang="en-US" dirty="0" smtClean="0"/>
              <a:t> = 5000, e</a:t>
            </a:r>
            <a:r>
              <a:rPr lang="en-US" baseline="-25000" dirty="0" smtClean="0"/>
              <a:t>2</a:t>
            </a:r>
            <a:r>
              <a:rPr lang="en-US" dirty="0" smtClean="0"/>
              <a:t> = 0.25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d = |e</a:t>
            </a:r>
            <a:r>
              <a:rPr lang="en-US" baseline="-25000" dirty="0" smtClean="0"/>
              <a:t>2</a:t>
            </a:r>
            <a:r>
              <a:rPr lang="en-US" dirty="0" smtClean="0"/>
              <a:t> – e</a:t>
            </a:r>
            <a:r>
              <a:rPr lang="en-US" baseline="-25000" dirty="0" smtClean="0"/>
              <a:t>1</a:t>
            </a:r>
            <a:r>
              <a:rPr lang="en-US" dirty="0" smtClean="0"/>
              <a:t>| = 0.1   (2-sided test)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dirty="0" smtClean="0"/>
              <a:t>At 95% confidence level, </a:t>
            </a:r>
            <a:r>
              <a:rPr lang="en-US" dirty="0" smtClean="0">
                <a:sym typeface="Symbol" pitchFamily="18" charset="2"/>
              </a:rPr>
              <a:t>Z</a:t>
            </a:r>
            <a:r>
              <a:rPr lang="en-US" baseline="-25000" dirty="0" smtClean="0">
                <a:sym typeface="Symbol" pitchFamily="18" charset="2"/>
              </a:rPr>
              <a:t>/2</a:t>
            </a:r>
            <a:r>
              <a:rPr lang="en-US" dirty="0" smtClean="0">
                <a:sym typeface="Symbol" pitchFamily="18" charset="2"/>
              </a:rPr>
              <a:t>=1.96</a:t>
            </a:r>
            <a:br>
              <a:rPr lang="en-US" dirty="0" smtClean="0">
                <a:sym typeface="Symbol" pitchFamily="18" charset="2"/>
              </a:rPr>
            </a:br>
            <a:r>
              <a:rPr lang="en-US" dirty="0" smtClean="0">
                <a:sym typeface="Symbol" pitchFamily="18" charset="2"/>
              </a:rPr>
              <a:t/>
            </a:r>
            <a:br>
              <a:rPr lang="en-US" dirty="0" smtClean="0">
                <a:sym typeface="Symbol" pitchFamily="18" charset="2"/>
              </a:rPr>
            </a:br>
            <a:r>
              <a:rPr lang="en-US" dirty="0" smtClean="0">
                <a:sym typeface="Symbol" pitchFamily="18" charset="2"/>
              </a:rPr>
              <a:t/>
            </a:r>
            <a:br>
              <a:rPr lang="en-US" dirty="0" smtClean="0">
                <a:sym typeface="Symbol" pitchFamily="18" charset="2"/>
              </a:rPr>
            </a:br>
            <a:endParaRPr lang="en-US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dirty="0" smtClean="0">
                <a:sym typeface="Symbol" pitchFamily="18" charset="2"/>
              </a:rPr>
              <a:t>=&gt; Interval contains 0 =&gt; difference may not be statistically significant at a 95% confidence level</a:t>
            </a:r>
          </a:p>
        </p:txBody>
      </p:sp>
      <p:graphicFrame>
        <p:nvGraphicFramePr>
          <p:cNvPr id="109572" name="Object 5"/>
          <p:cNvGraphicFramePr>
            <a:graphicFrameLocks noChangeAspect="1"/>
          </p:cNvGraphicFramePr>
          <p:nvPr>
            <p:extLst/>
          </p:nvPr>
        </p:nvGraphicFramePr>
        <p:xfrm>
          <a:off x="719137" y="4307681"/>
          <a:ext cx="65389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6" name="Equation" r:id="rId3" imgW="5245100" imgH="406400" progId="Equation.3">
                  <p:embed/>
                </p:oleObj>
              </mc:Choice>
              <mc:Fallback>
                <p:oleObj name="Equation" r:id="rId3" imgW="5245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" y="4307681"/>
                        <a:ext cx="653891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573" name="Group 41"/>
          <p:cNvGrpSpPr>
            <a:grpSpLocks/>
          </p:cNvGrpSpPr>
          <p:nvPr/>
        </p:nvGrpSpPr>
        <p:grpSpPr bwMode="auto">
          <a:xfrm>
            <a:off x="1447800" y="2576513"/>
            <a:ext cx="6669088" cy="1027112"/>
            <a:chOff x="622" y="1987"/>
            <a:chExt cx="4201" cy="647"/>
          </a:xfrm>
        </p:grpSpPr>
        <p:sp>
          <p:nvSpPr>
            <p:cNvPr id="109574" name="AutoShape 6"/>
            <p:cNvSpPr>
              <a:spLocks noChangeAspect="1" noChangeArrowheads="1" noTextEdit="1"/>
            </p:cNvSpPr>
            <p:nvPr/>
          </p:nvSpPr>
          <p:spPr bwMode="auto">
            <a:xfrm>
              <a:off x="624" y="2016"/>
              <a:ext cx="4199" cy="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5" name="Line 8"/>
            <p:cNvSpPr>
              <a:spLocks noChangeShapeType="1"/>
            </p:cNvSpPr>
            <p:nvPr/>
          </p:nvSpPr>
          <p:spPr bwMode="auto">
            <a:xfrm>
              <a:off x="1122" y="2315"/>
              <a:ext cx="1281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6" name="Line 9"/>
            <p:cNvSpPr>
              <a:spLocks noChangeShapeType="1"/>
            </p:cNvSpPr>
            <p:nvPr/>
          </p:nvSpPr>
          <p:spPr bwMode="auto">
            <a:xfrm>
              <a:off x="2632" y="2315"/>
              <a:ext cx="1281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7" name="Rectangle 10"/>
            <p:cNvSpPr>
              <a:spLocks noChangeArrowheads="1"/>
            </p:cNvSpPr>
            <p:nvPr/>
          </p:nvSpPr>
          <p:spPr bwMode="auto">
            <a:xfrm>
              <a:off x="4339" y="216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0043</a:t>
              </a:r>
              <a:endParaRPr lang="en-US" altLang="en-US" sz="1800"/>
            </a:p>
          </p:txBody>
        </p:sp>
        <p:sp>
          <p:nvSpPr>
            <p:cNvPr id="109578" name="Rectangle 11"/>
            <p:cNvSpPr>
              <a:spLocks noChangeArrowheads="1"/>
            </p:cNvSpPr>
            <p:nvPr/>
          </p:nvSpPr>
          <p:spPr bwMode="auto">
            <a:xfrm>
              <a:off x="4279" y="2162"/>
              <a:ext cx="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1800"/>
            </a:p>
          </p:txBody>
        </p:sp>
        <p:sp>
          <p:nvSpPr>
            <p:cNvPr id="109579" name="Rectangle 12"/>
            <p:cNvSpPr>
              <a:spLocks noChangeArrowheads="1"/>
            </p:cNvSpPr>
            <p:nvPr/>
          </p:nvSpPr>
          <p:spPr bwMode="auto">
            <a:xfrm>
              <a:off x="4160" y="2162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109580" name="Rectangle 13"/>
            <p:cNvSpPr>
              <a:spLocks noChangeArrowheads="1"/>
            </p:cNvSpPr>
            <p:nvPr/>
          </p:nvSpPr>
          <p:spPr bwMode="auto">
            <a:xfrm>
              <a:off x="3033" y="234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5000</a:t>
              </a:r>
              <a:endParaRPr lang="en-US" altLang="en-US" sz="1800"/>
            </a:p>
          </p:txBody>
        </p:sp>
        <p:sp>
          <p:nvSpPr>
            <p:cNvPr id="109581" name="Rectangle 14"/>
            <p:cNvSpPr>
              <a:spLocks noChangeArrowheads="1"/>
            </p:cNvSpPr>
            <p:nvPr/>
          </p:nvSpPr>
          <p:spPr bwMode="auto">
            <a:xfrm>
              <a:off x="3832" y="2015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09582" name="Rectangle 15"/>
            <p:cNvSpPr>
              <a:spLocks noChangeArrowheads="1"/>
            </p:cNvSpPr>
            <p:nvPr/>
          </p:nvSpPr>
          <p:spPr bwMode="auto">
            <a:xfrm>
              <a:off x="3596" y="2015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25</a:t>
              </a:r>
              <a:endParaRPr lang="en-US" altLang="en-US" sz="1800"/>
            </a:p>
          </p:txBody>
        </p:sp>
        <p:sp>
          <p:nvSpPr>
            <p:cNvPr id="109583" name="Rectangle 16"/>
            <p:cNvSpPr>
              <a:spLocks noChangeArrowheads="1"/>
            </p:cNvSpPr>
            <p:nvPr/>
          </p:nvSpPr>
          <p:spPr bwMode="auto">
            <a:xfrm>
              <a:off x="3536" y="2015"/>
              <a:ext cx="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1800"/>
            </a:p>
          </p:txBody>
        </p:sp>
        <p:sp>
          <p:nvSpPr>
            <p:cNvPr id="109584" name="Rectangle 17"/>
            <p:cNvSpPr>
              <a:spLocks noChangeArrowheads="1"/>
            </p:cNvSpPr>
            <p:nvPr/>
          </p:nvSpPr>
          <p:spPr bwMode="auto">
            <a:xfrm>
              <a:off x="3416" y="2015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109585" name="Rectangle 18"/>
            <p:cNvSpPr>
              <a:spLocks noChangeArrowheads="1"/>
            </p:cNvSpPr>
            <p:nvPr/>
          </p:nvSpPr>
          <p:spPr bwMode="auto">
            <a:xfrm>
              <a:off x="3110" y="2015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9586" name="Rectangle 19"/>
            <p:cNvSpPr>
              <a:spLocks noChangeArrowheads="1"/>
            </p:cNvSpPr>
            <p:nvPr/>
          </p:nvSpPr>
          <p:spPr bwMode="auto">
            <a:xfrm>
              <a:off x="3050" y="2015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09587" name="Rectangle 20"/>
            <p:cNvSpPr>
              <a:spLocks noChangeArrowheads="1"/>
            </p:cNvSpPr>
            <p:nvPr/>
          </p:nvSpPr>
          <p:spPr bwMode="auto">
            <a:xfrm>
              <a:off x="2814" y="2015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25</a:t>
              </a:r>
              <a:endParaRPr lang="en-US" altLang="en-US" sz="1800"/>
            </a:p>
          </p:txBody>
        </p:sp>
        <p:sp>
          <p:nvSpPr>
            <p:cNvPr id="109588" name="Rectangle 21"/>
            <p:cNvSpPr>
              <a:spLocks noChangeArrowheads="1"/>
            </p:cNvSpPr>
            <p:nvPr/>
          </p:nvSpPr>
          <p:spPr bwMode="auto">
            <a:xfrm>
              <a:off x="2754" y="2015"/>
              <a:ext cx="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1800"/>
            </a:p>
          </p:txBody>
        </p:sp>
        <p:sp>
          <p:nvSpPr>
            <p:cNvPr id="109589" name="Rectangle 22"/>
            <p:cNvSpPr>
              <a:spLocks noChangeArrowheads="1"/>
            </p:cNvSpPr>
            <p:nvPr/>
          </p:nvSpPr>
          <p:spPr bwMode="auto">
            <a:xfrm>
              <a:off x="2634" y="2015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109590" name="Rectangle 23"/>
            <p:cNvSpPr>
              <a:spLocks noChangeArrowheads="1"/>
            </p:cNvSpPr>
            <p:nvPr/>
          </p:nvSpPr>
          <p:spPr bwMode="auto">
            <a:xfrm>
              <a:off x="1643" y="234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30</a:t>
              </a:r>
              <a:endParaRPr lang="en-US" altLang="en-US" sz="1800"/>
            </a:p>
          </p:txBody>
        </p:sp>
        <p:sp>
          <p:nvSpPr>
            <p:cNvPr id="109591" name="Rectangle 24"/>
            <p:cNvSpPr>
              <a:spLocks noChangeArrowheads="1"/>
            </p:cNvSpPr>
            <p:nvPr/>
          </p:nvSpPr>
          <p:spPr bwMode="auto">
            <a:xfrm>
              <a:off x="2322" y="2015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09592" name="Rectangle 25"/>
            <p:cNvSpPr>
              <a:spLocks noChangeArrowheads="1"/>
            </p:cNvSpPr>
            <p:nvPr/>
          </p:nvSpPr>
          <p:spPr bwMode="auto">
            <a:xfrm>
              <a:off x="2086" y="2015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15</a:t>
              </a:r>
              <a:endParaRPr lang="en-US" altLang="en-US" sz="1800"/>
            </a:p>
          </p:txBody>
        </p:sp>
        <p:sp>
          <p:nvSpPr>
            <p:cNvPr id="109593" name="Rectangle 26"/>
            <p:cNvSpPr>
              <a:spLocks noChangeArrowheads="1"/>
            </p:cNvSpPr>
            <p:nvPr/>
          </p:nvSpPr>
          <p:spPr bwMode="auto">
            <a:xfrm>
              <a:off x="2027" y="2015"/>
              <a:ext cx="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1800"/>
            </a:p>
          </p:txBody>
        </p:sp>
        <p:sp>
          <p:nvSpPr>
            <p:cNvPr id="109594" name="Rectangle 27"/>
            <p:cNvSpPr>
              <a:spLocks noChangeArrowheads="1"/>
            </p:cNvSpPr>
            <p:nvPr/>
          </p:nvSpPr>
          <p:spPr bwMode="auto">
            <a:xfrm>
              <a:off x="1907" y="2015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109595" name="Rectangle 28"/>
            <p:cNvSpPr>
              <a:spLocks noChangeArrowheads="1"/>
            </p:cNvSpPr>
            <p:nvPr/>
          </p:nvSpPr>
          <p:spPr bwMode="auto">
            <a:xfrm>
              <a:off x="1600" y="2015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/>
            </a:p>
          </p:txBody>
        </p:sp>
        <p:sp>
          <p:nvSpPr>
            <p:cNvPr id="109596" name="Rectangle 29"/>
            <p:cNvSpPr>
              <a:spLocks noChangeArrowheads="1"/>
            </p:cNvSpPr>
            <p:nvPr/>
          </p:nvSpPr>
          <p:spPr bwMode="auto">
            <a:xfrm>
              <a:off x="1540" y="2015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09597" name="Rectangle 30"/>
            <p:cNvSpPr>
              <a:spLocks noChangeArrowheads="1"/>
            </p:cNvSpPr>
            <p:nvPr/>
          </p:nvSpPr>
          <p:spPr bwMode="auto">
            <a:xfrm>
              <a:off x="1304" y="2015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15</a:t>
              </a:r>
              <a:endParaRPr lang="en-US" altLang="en-US" sz="1800"/>
            </a:p>
          </p:txBody>
        </p:sp>
        <p:sp>
          <p:nvSpPr>
            <p:cNvPr id="109598" name="Rectangle 31"/>
            <p:cNvSpPr>
              <a:spLocks noChangeArrowheads="1"/>
            </p:cNvSpPr>
            <p:nvPr/>
          </p:nvSpPr>
          <p:spPr bwMode="auto">
            <a:xfrm>
              <a:off x="1244" y="2015"/>
              <a:ext cx="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1800"/>
            </a:p>
          </p:txBody>
        </p:sp>
        <p:sp>
          <p:nvSpPr>
            <p:cNvPr id="109599" name="Rectangle 32"/>
            <p:cNvSpPr>
              <a:spLocks noChangeArrowheads="1"/>
            </p:cNvSpPr>
            <p:nvPr/>
          </p:nvSpPr>
          <p:spPr bwMode="auto">
            <a:xfrm>
              <a:off x="1125" y="2015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800"/>
            </a:p>
          </p:txBody>
        </p:sp>
        <p:sp>
          <p:nvSpPr>
            <p:cNvPr id="109600" name="Rectangle 33"/>
            <p:cNvSpPr>
              <a:spLocks noChangeArrowheads="1"/>
            </p:cNvSpPr>
            <p:nvPr/>
          </p:nvSpPr>
          <p:spPr bwMode="auto">
            <a:xfrm>
              <a:off x="699" y="2166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Times New Roman" panose="02020603050405020304" pitchFamily="18" charset="0"/>
                </a:rPr>
                <a:t>ˆ</a:t>
              </a:r>
              <a:endParaRPr lang="en-US" altLang="en-US" sz="1800"/>
            </a:p>
          </p:txBody>
        </p:sp>
        <p:sp>
          <p:nvSpPr>
            <p:cNvPr id="109601" name="Rectangle 34"/>
            <p:cNvSpPr>
              <a:spLocks noChangeArrowheads="1"/>
            </p:cNvSpPr>
            <p:nvPr/>
          </p:nvSpPr>
          <p:spPr bwMode="auto">
            <a:xfrm>
              <a:off x="3976" y="2134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09602" name="Rectangle 35"/>
            <p:cNvSpPr>
              <a:spLocks noChangeArrowheads="1"/>
            </p:cNvSpPr>
            <p:nvPr/>
          </p:nvSpPr>
          <p:spPr bwMode="auto">
            <a:xfrm>
              <a:off x="3248" y="1987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9603" name="Rectangle 36"/>
            <p:cNvSpPr>
              <a:spLocks noChangeArrowheads="1"/>
            </p:cNvSpPr>
            <p:nvPr/>
          </p:nvSpPr>
          <p:spPr bwMode="auto">
            <a:xfrm>
              <a:off x="2452" y="2134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1800"/>
            </a:p>
          </p:txBody>
        </p:sp>
        <p:sp>
          <p:nvSpPr>
            <p:cNvPr id="109604" name="Rectangle 37"/>
            <p:cNvSpPr>
              <a:spLocks noChangeArrowheads="1"/>
            </p:cNvSpPr>
            <p:nvPr/>
          </p:nvSpPr>
          <p:spPr bwMode="auto">
            <a:xfrm>
              <a:off x="1739" y="1987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09605" name="Rectangle 38"/>
            <p:cNvSpPr>
              <a:spLocks noChangeArrowheads="1"/>
            </p:cNvSpPr>
            <p:nvPr/>
          </p:nvSpPr>
          <p:spPr bwMode="auto">
            <a:xfrm>
              <a:off x="931" y="2134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dirty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800" dirty="0"/>
            </a:p>
          </p:txBody>
        </p:sp>
        <p:sp>
          <p:nvSpPr>
            <p:cNvPr id="109606" name="Rectangle 39"/>
            <p:cNvSpPr>
              <a:spLocks noChangeArrowheads="1"/>
            </p:cNvSpPr>
            <p:nvPr/>
          </p:nvSpPr>
          <p:spPr bwMode="auto">
            <a:xfrm>
              <a:off x="800" y="236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en-US" sz="1800"/>
            </a:p>
          </p:txBody>
        </p:sp>
        <p:sp>
          <p:nvSpPr>
            <p:cNvPr id="109607" name="Rectangle 40"/>
            <p:cNvSpPr>
              <a:spLocks noChangeArrowheads="1"/>
            </p:cNvSpPr>
            <p:nvPr/>
          </p:nvSpPr>
          <p:spPr bwMode="auto">
            <a:xfrm>
              <a:off x="622" y="2134"/>
              <a:ext cx="2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000" i="1" dirty="0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r>
                <a:rPr lang="en-US" altLang="en-US" sz="3000" i="1" baseline="30000" dirty="0">
                  <a:solidFill>
                    <a:srgbClr val="000000"/>
                  </a:solidFill>
                  <a:latin typeface="Symbol" panose="05050102010706020507" pitchFamily="18" charset="2"/>
                </a:rPr>
                <a:t>2</a:t>
              </a:r>
              <a:endParaRPr lang="en-US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688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34400" cy="914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Comparing Performance of 2 Algorithms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Each learning algorithm may produce k models:</a:t>
            </a:r>
          </a:p>
          <a:p>
            <a:pPr lvl="1" eaLnBrk="1" hangingPunct="1">
              <a:defRPr/>
            </a:pPr>
            <a:r>
              <a:rPr lang="en-US" sz="2400" dirty="0" smtClean="0"/>
              <a:t>L1 may produce M11 , M12, …, M1k</a:t>
            </a:r>
          </a:p>
          <a:p>
            <a:pPr lvl="1" eaLnBrk="1" hangingPunct="1">
              <a:defRPr/>
            </a:pPr>
            <a:r>
              <a:rPr lang="en-US" sz="2400" dirty="0" smtClean="0"/>
              <a:t>L2 may produce M21 , M22, …, M2k</a:t>
            </a:r>
          </a:p>
          <a:p>
            <a:pPr eaLnBrk="1" hangingPunct="1">
              <a:defRPr/>
            </a:pPr>
            <a:r>
              <a:rPr lang="en-US" dirty="0" smtClean="0"/>
              <a:t>If models are generated on the same test sets D1,D2, …, </a:t>
            </a:r>
            <a:r>
              <a:rPr lang="en-US" dirty="0" err="1" smtClean="0"/>
              <a:t>Dk</a:t>
            </a:r>
            <a:r>
              <a:rPr lang="en-US" dirty="0" smtClean="0"/>
              <a:t> (e.g., via cross-validation)</a:t>
            </a:r>
          </a:p>
          <a:p>
            <a:pPr lvl="1" eaLnBrk="1" hangingPunct="1">
              <a:defRPr/>
            </a:pPr>
            <a:r>
              <a:rPr lang="en-US" sz="2400" dirty="0" smtClean="0"/>
              <a:t>For each set: compute </a:t>
            </a:r>
            <a:r>
              <a:rPr lang="en-US" sz="2400" dirty="0" err="1" smtClean="0"/>
              <a:t>d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 = e</a:t>
            </a:r>
            <a:r>
              <a:rPr lang="en-US" sz="2400" baseline="-25000" dirty="0" smtClean="0"/>
              <a:t>1j</a:t>
            </a:r>
            <a:r>
              <a:rPr lang="en-US" sz="2400" dirty="0" smtClean="0"/>
              <a:t> – e</a:t>
            </a:r>
            <a:r>
              <a:rPr lang="en-US" sz="2400" baseline="-25000" dirty="0" smtClean="0"/>
              <a:t>2j</a:t>
            </a:r>
          </a:p>
          <a:p>
            <a:pPr lvl="1" eaLnBrk="1" hangingPunct="1">
              <a:defRPr/>
            </a:pPr>
            <a:r>
              <a:rPr lang="en-US" sz="2400" dirty="0" err="1" smtClean="0"/>
              <a:t>d</a:t>
            </a:r>
            <a:r>
              <a:rPr lang="en-US" sz="2400" baseline="-25000" dirty="0" err="1" smtClean="0"/>
              <a:t>j</a:t>
            </a:r>
            <a:r>
              <a:rPr lang="en-US" sz="2400" dirty="0" smtClean="0"/>
              <a:t> has mean </a:t>
            </a:r>
            <a:r>
              <a:rPr lang="en-US" sz="2400" dirty="0" err="1" smtClean="0"/>
              <a:t>d</a:t>
            </a:r>
            <a:r>
              <a:rPr lang="en-US" sz="2400" baseline="-25000" dirty="0" err="1" smtClean="0"/>
              <a:t>t</a:t>
            </a:r>
            <a:r>
              <a:rPr lang="en-US" sz="2400" dirty="0" smtClean="0"/>
              <a:t> and variance </a:t>
            </a:r>
            <a:r>
              <a:rPr lang="en-US" sz="2400" dirty="0" smtClean="0">
                <a:sym typeface="Symbol" pitchFamily="18" charset="2"/>
              </a:rPr>
              <a:t></a:t>
            </a:r>
            <a:r>
              <a:rPr lang="en-US" sz="2400" baseline="-25000" dirty="0" smtClean="0"/>
              <a:t>t</a:t>
            </a:r>
            <a:endParaRPr lang="en-US" sz="2400" dirty="0" smtClean="0"/>
          </a:p>
          <a:p>
            <a:pPr lvl="1" eaLnBrk="1" hangingPunct="1">
              <a:defRPr/>
            </a:pPr>
            <a:r>
              <a:rPr lang="en-US" sz="2400" dirty="0" smtClean="0"/>
              <a:t>Estimate: </a:t>
            </a:r>
          </a:p>
        </p:txBody>
      </p:sp>
      <p:graphicFrame>
        <p:nvGraphicFramePr>
          <p:cNvPr id="110596" name="Object 4"/>
          <p:cNvGraphicFramePr>
            <a:graphicFrameLocks noChangeAspect="1"/>
          </p:cNvGraphicFramePr>
          <p:nvPr/>
        </p:nvGraphicFramePr>
        <p:xfrm>
          <a:off x="5715000" y="4572000"/>
          <a:ext cx="25177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0" name="Equation" r:id="rId3" imgW="1917700" imgH="1371600" progId="Equation.3">
                  <p:embed/>
                </p:oleObj>
              </mc:Choice>
              <mc:Fallback>
                <p:oleObj name="Equation" r:id="rId3" imgW="19177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572000"/>
                        <a:ext cx="25177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97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Rule-Based Classifier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Classify records by using a collection of “if…then…” rules</a:t>
            </a:r>
          </a:p>
          <a:p>
            <a:pPr lvl="4" eaLnBrk="1" hangingPunct="1">
              <a:defRPr/>
            </a:pPr>
            <a:endParaRPr lang="en-US" sz="1000" dirty="0" smtClean="0"/>
          </a:p>
          <a:p>
            <a:pPr eaLnBrk="1" hangingPunct="1">
              <a:defRPr/>
            </a:pPr>
            <a:r>
              <a:rPr lang="en-US" dirty="0" smtClean="0"/>
              <a:t>Rule:    (</a:t>
            </a:r>
            <a:r>
              <a:rPr lang="en-US" i="1" dirty="0" smtClean="0"/>
              <a:t>Condition</a:t>
            </a:r>
            <a:r>
              <a:rPr lang="en-US" dirty="0" smtClean="0"/>
              <a:t>) </a:t>
            </a:r>
            <a:r>
              <a:rPr lang="en-US" dirty="0" smtClean="0">
                <a:sym typeface="Symbol" pitchFamily="18" charset="2"/>
              </a:rPr>
              <a:t> </a:t>
            </a:r>
            <a:r>
              <a:rPr lang="en-US" i="1" dirty="0" smtClean="0">
                <a:sym typeface="Symbol" pitchFamily="18" charset="2"/>
              </a:rPr>
              <a:t>y</a:t>
            </a:r>
          </a:p>
          <a:p>
            <a:pPr lvl="1" eaLnBrk="1" hangingPunct="1">
              <a:defRPr/>
            </a:pPr>
            <a:r>
              <a:rPr lang="en-US" sz="2400" dirty="0" smtClean="0"/>
              <a:t>where </a:t>
            </a:r>
          </a:p>
          <a:p>
            <a:pPr lvl="2" eaLnBrk="1" hangingPunct="1">
              <a:defRPr/>
            </a:pPr>
            <a:r>
              <a:rPr lang="en-US" sz="2000" i="1" dirty="0" smtClean="0"/>
              <a:t> Condition</a:t>
            </a:r>
            <a:r>
              <a:rPr lang="en-US" sz="2000" dirty="0" smtClean="0"/>
              <a:t> is a conjunctions of attributes </a:t>
            </a:r>
          </a:p>
          <a:p>
            <a:pPr lvl="2" eaLnBrk="1" hangingPunct="1">
              <a:defRPr/>
            </a:pPr>
            <a:r>
              <a:rPr lang="en-US" sz="2000" i="1" dirty="0" smtClean="0"/>
              <a:t> y</a:t>
            </a:r>
            <a:r>
              <a:rPr lang="en-US" sz="2000" dirty="0" smtClean="0"/>
              <a:t> is the class label</a:t>
            </a:r>
          </a:p>
          <a:p>
            <a:pPr lvl="1" eaLnBrk="1" hangingPunct="1">
              <a:defRPr/>
            </a:pPr>
            <a:r>
              <a:rPr lang="en-US" sz="2400" i="1" dirty="0" smtClean="0"/>
              <a:t>LHS</a:t>
            </a:r>
            <a:r>
              <a:rPr lang="en-US" sz="2400" dirty="0" smtClean="0"/>
              <a:t>: rule antecedent or condition</a:t>
            </a:r>
          </a:p>
          <a:p>
            <a:pPr lvl="1" eaLnBrk="1" hangingPunct="1">
              <a:defRPr/>
            </a:pPr>
            <a:r>
              <a:rPr lang="en-US" sz="2400" i="1" dirty="0" smtClean="0"/>
              <a:t>RHS</a:t>
            </a:r>
            <a:r>
              <a:rPr lang="en-US" sz="2400" dirty="0" smtClean="0"/>
              <a:t>: rule consequent</a:t>
            </a:r>
          </a:p>
          <a:p>
            <a:pPr lvl="1" eaLnBrk="1" hangingPunct="1">
              <a:defRPr/>
            </a:pPr>
            <a:r>
              <a:rPr lang="en-US" sz="2400" dirty="0" smtClean="0"/>
              <a:t>Examples of classification rules:</a:t>
            </a:r>
          </a:p>
          <a:p>
            <a:pPr lvl="2" eaLnBrk="1" hangingPunct="1">
              <a:defRPr/>
            </a:pPr>
            <a:r>
              <a:rPr lang="en-US" sz="2000" dirty="0" smtClean="0"/>
              <a:t> (Blood Type=Warm) </a:t>
            </a:r>
            <a:r>
              <a:rPr lang="en-US" sz="2000" dirty="0" smtClean="0">
                <a:sym typeface="Symbol" pitchFamily="18" charset="2"/>
              </a:rPr>
              <a:t> </a:t>
            </a:r>
            <a:r>
              <a:rPr lang="en-US" sz="2000" dirty="0" smtClean="0"/>
              <a:t>(Lay Eggs=Yes) </a:t>
            </a:r>
            <a:r>
              <a:rPr lang="en-US" sz="2000" dirty="0" smtClean="0">
                <a:sym typeface="Symbol" pitchFamily="18" charset="2"/>
              </a:rPr>
              <a:t> Birds</a:t>
            </a:r>
          </a:p>
          <a:p>
            <a:pPr lvl="2" eaLnBrk="1" hangingPunct="1">
              <a:defRPr/>
            </a:pPr>
            <a:r>
              <a:rPr lang="en-US" sz="2000" dirty="0" smtClean="0">
                <a:sym typeface="Symbol" pitchFamily="18" charset="2"/>
              </a:rPr>
              <a:t> (Taxable Income &lt; 50K)  (Refund=Yes)  Evade=No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2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Rule-based Classifier (Example)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4572000"/>
            <a:ext cx="85344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smtClean="0"/>
              <a:t>R1: (Give Birth = no) </a:t>
            </a:r>
            <a:r>
              <a:rPr lang="en-US" sz="2400" smtClean="0">
                <a:sym typeface="Symbol" pitchFamily="18" charset="2"/>
              </a:rPr>
              <a:t> (Can Fly = yes)  Birds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smtClean="0"/>
              <a:t>R2: (Give Birth = no) </a:t>
            </a:r>
            <a:r>
              <a:rPr lang="en-US" sz="2400" smtClean="0">
                <a:sym typeface="Symbol" pitchFamily="18" charset="2"/>
              </a:rPr>
              <a:t> (Live in Water = yes)  Fishes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smtClean="0"/>
              <a:t>R3: (Give Birth = yes) </a:t>
            </a:r>
            <a:r>
              <a:rPr lang="en-US" sz="2400" smtClean="0">
                <a:sym typeface="Symbol" pitchFamily="18" charset="2"/>
              </a:rPr>
              <a:t> (Blood Type = warm)  Mammals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smtClean="0"/>
              <a:t>R4: (Give Birth = no) </a:t>
            </a:r>
            <a:r>
              <a:rPr lang="en-US" sz="2400" smtClean="0">
                <a:sym typeface="Symbol" pitchFamily="18" charset="2"/>
              </a:rPr>
              <a:t> (Can Fly = no)  Reptiles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smtClean="0"/>
              <a:t>R5: (Live in Water</a:t>
            </a:r>
            <a:r>
              <a:rPr lang="en-US" sz="2400" smtClean="0">
                <a:sym typeface="Symbol" pitchFamily="18" charset="2"/>
              </a:rPr>
              <a:t> = sometimes)  Amphibians</a:t>
            </a:r>
            <a:endParaRPr lang="en-US" sz="2000" smtClean="0">
              <a:sym typeface="Symbol" pitchFamily="18" charset="2"/>
            </a:endParaRPr>
          </a:p>
        </p:txBody>
      </p:sp>
      <p:pic>
        <p:nvPicPr>
          <p:cNvPr id="5120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1023938"/>
            <a:ext cx="5635625" cy="3471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96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Application of Rule-Based Classifier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 rule </a:t>
            </a:r>
            <a:r>
              <a:rPr lang="en-US" i="1" smtClean="0"/>
              <a:t>r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covers</a:t>
            </a:r>
            <a:r>
              <a:rPr lang="en-US" smtClean="0"/>
              <a:t> an instance </a:t>
            </a:r>
            <a:r>
              <a:rPr lang="en-US" b="1" smtClean="0"/>
              <a:t>x </a:t>
            </a:r>
            <a:r>
              <a:rPr lang="en-US" smtClean="0"/>
              <a:t>if the attributes of the instance satisfy the condition of the rule</a:t>
            </a:r>
          </a:p>
        </p:txBody>
      </p:sp>
      <p:sp>
        <p:nvSpPr>
          <p:cNvPr id="346116" name="Rectangle 4"/>
          <p:cNvSpPr>
            <a:spLocks noChangeArrowheads="1"/>
          </p:cNvSpPr>
          <p:nvPr/>
        </p:nvSpPr>
        <p:spPr bwMode="auto">
          <a:xfrm>
            <a:off x="685800" y="2438400"/>
            <a:ext cx="7543800" cy="1828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R1: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yes)  Birds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R2: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(Live in Water = yes)  Fishes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R3: (Give Birth = yes)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(Blood Type = warm)  Mammals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R4: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no)  Reptiles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R5: (Live in Water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= sometimes)  Amphibians </a:t>
            </a:r>
          </a:p>
        </p:txBody>
      </p:sp>
      <p:sp>
        <p:nvSpPr>
          <p:cNvPr id="346117" name="Rectangle 5"/>
          <p:cNvSpPr>
            <a:spLocks noChangeArrowheads="1"/>
          </p:cNvSpPr>
          <p:nvPr/>
        </p:nvSpPr>
        <p:spPr bwMode="auto">
          <a:xfrm>
            <a:off x="838200" y="5791200"/>
            <a:ext cx="73914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rule R1 covers a hawk =&gt; Bird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rule R3 covers the grizzly bear =&gt; Mammal</a:t>
            </a: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  <p:pic>
        <p:nvPicPr>
          <p:cNvPr id="52230" name="Picture 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627789"/>
            <a:ext cx="8458200" cy="733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52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210675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How does Rule-based Classifier Work?</a:t>
            </a:r>
          </a:p>
        </p:txBody>
      </p:sp>
      <p:sp>
        <p:nvSpPr>
          <p:cNvPr id="348163" name="Rectangle 3"/>
          <p:cNvSpPr>
            <a:spLocks noChangeArrowheads="1"/>
          </p:cNvSpPr>
          <p:nvPr/>
        </p:nvSpPr>
        <p:spPr bwMode="auto">
          <a:xfrm>
            <a:off x="838200" y="1143000"/>
            <a:ext cx="7543800" cy="1828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R1: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yes)  Birds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R2: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(Live in Water = yes)  Fishes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R3: (Give Birth = yes)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(Blood Type = warm)  Mammals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R4: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no)  Reptiles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R5: (Live in Water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= sometimes)  Amphibians </a:t>
            </a:r>
          </a:p>
        </p:txBody>
      </p:sp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685800" y="4724400"/>
            <a:ext cx="74676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 lemur triggers rule R3, so it is classified as a mammal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 turtle triggers both R4 and R5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 dogfish shark triggers none of the rules</a:t>
            </a:r>
            <a:endParaRPr lang="en-US" sz="2000"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  <p:pic>
        <p:nvPicPr>
          <p:cNvPr id="5427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352800"/>
            <a:ext cx="8296275" cy="965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17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Rule Coverage and Accuracy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116388" cy="4530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Coverage of a rule:</a:t>
            </a:r>
          </a:p>
          <a:p>
            <a:pPr lvl="1" eaLnBrk="1" hangingPunct="1">
              <a:defRPr/>
            </a:pPr>
            <a:r>
              <a:rPr lang="en-US" sz="2400" dirty="0" smtClean="0"/>
              <a:t>Fraction of records that satisfy the antecedent of a rule</a:t>
            </a:r>
          </a:p>
          <a:p>
            <a:pPr eaLnBrk="1" hangingPunct="1">
              <a:defRPr/>
            </a:pPr>
            <a:r>
              <a:rPr lang="en-US" sz="2800" dirty="0" smtClean="0"/>
              <a:t>Accuracy of a rule:</a:t>
            </a:r>
          </a:p>
          <a:p>
            <a:pPr lvl="1" eaLnBrk="1" hangingPunct="1">
              <a:defRPr/>
            </a:pPr>
            <a:r>
              <a:rPr lang="en-US" sz="2400" dirty="0" smtClean="0"/>
              <a:t>Fraction of records that satisfy both the antecedent and consequent of a rule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5029200" y="1177925"/>
          <a:ext cx="3890963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4" name="Document" r:id="rId3" imgW="5415994" imgH="5778378" progId="Word.Document.8">
                  <p:embed/>
                </p:oleObj>
              </mc:Choice>
              <mc:Fallback>
                <p:oleObj name="Document" r:id="rId3" imgW="5415994" imgH="5778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177925"/>
                        <a:ext cx="3890963" cy="415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4419600" y="5334000"/>
            <a:ext cx="4572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  <a:sym typeface="Symbol" panose="05050102010706020507" pitchFamily="18" charset="2"/>
              </a:rPr>
              <a:t>(Status=Single)  No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  <a:sym typeface="Symbol" panose="05050102010706020507" pitchFamily="18" charset="2"/>
              </a:rPr>
              <a:t>    Coverage = 40%,  Accuracy = 50%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50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638"/>
            <a:ext cx="78867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Characteristics of Rule-Based Classifier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1"/>
            <a:ext cx="8134350" cy="495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Mutually exclusive rules</a:t>
            </a:r>
          </a:p>
          <a:p>
            <a:pPr lvl="1" eaLnBrk="1" hangingPunct="1">
              <a:defRPr/>
            </a:pPr>
            <a:r>
              <a:rPr lang="en-US" sz="2400" dirty="0" smtClean="0"/>
              <a:t>Classifier contains mutually exclusive rules if the rules are independent of each other</a:t>
            </a:r>
          </a:p>
          <a:p>
            <a:pPr lvl="1" eaLnBrk="1" hangingPunct="1">
              <a:defRPr/>
            </a:pPr>
            <a:r>
              <a:rPr lang="en-US" sz="2400" dirty="0" smtClean="0"/>
              <a:t>Every record is covered by at most one rule</a:t>
            </a:r>
          </a:p>
          <a:p>
            <a:pPr lvl="1" eaLnBrk="1" hangingPunct="1">
              <a:defRPr/>
            </a:pPr>
            <a:endParaRPr lang="en-US" sz="2400" dirty="0" smtClean="0"/>
          </a:p>
          <a:p>
            <a:pPr eaLnBrk="1" hangingPunct="1">
              <a:defRPr/>
            </a:pPr>
            <a:r>
              <a:rPr lang="en-US" sz="2800" dirty="0" smtClean="0"/>
              <a:t>Exhaustive rules</a:t>
            </a:r>
          </a:p>
          <a:p>
            <a:pPr lvl="1" eaLnBrk="1" hangingPunct="1">
              <a:defRPr/>
            </a:pPr>
            <a:r>
              <a:rPr lang="en-US" sz="2400" dirty="0" smtClean="0"/>
              <a:t>Classifier has exhaustive coverage if it accounts for every possible combination of attribute values</a:t>
            </a:r>
          </a:p>
          <a:p>
            <a:pPr lvl="1" eaLnBrk="1" hangingPunct="1">
              <a:defRPr/>
            </a:pPr>
            <a:r>
              <a:rPr lang="en-US" sz="2400" dirty="0" smtClean="0"/>
              <a:t>Each record is covered by at least one rule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70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From Decision Trees To Rules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76200" y="1905000"/>
          <a:ext cx="4060825" cy="325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2" name="VISIO" r:id="rId3" imgW="4062984" imgH="3247644" progId="Visio.Drawing.6">
                  <p:embed/>
                </p:oleObj>
              </mc:Choice>
              <mc:Fallback>
                <p:oleObj name="VISIO" r:id="rId3" imgW="4062984" imgH="32476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05000"/>
                        <a:ext cx="4060825" cy="325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5029200" y="1295400"/>
          <a:ext cx="3944938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3" name="VISIO" r:id="rId5" imgW="5090160" imgH="3710940" progId="Visio.Drawing.6">
                  <p:embed/>
                </p:oleObj>
              </mc:Choice>
              <mc:Fallback>
                <p:oleObj name="VISIO" r:id="rId5" imgW="5090160" imgH="37109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295400"/>
                        <a:ext cx="3944938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Line 5"/>
          <p:cNvSpPr>
            <a:spLocks noChangeShapeType="1"/>
          </p:cNvSpPr>
          <p:nvPr/>
        </p:nvSpPr>
        <p:spPr bwMode="auto">
          <a:xfrm>
            <a:off x="4191000" y="2667000"/>
            <a:ext cx="609600" cy="0"/>
          </a:xfrm>
          <a:prstGeom prst="line">
            <a:avLst/>
          </a:prstGeom>
          <a:noFill/>
          <a:ln w="317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3810000" y="4876800"/>
            <a:ext cx="51816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Rules are mutually exclusive and exhaustive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Rule set contains as much information as the tree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006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Rules Can Be Simplified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457200" y="1447800"/>
          <a:ext cx="4060825" cy="325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6" name="VISIO" r:id="rId3" imgW="4062984" imgH="3247644" progId="Visio.Drawing.6">
                  <p:embed/>
                </p:oleObj>
              </mc:Choice>
              <mc:Fallback>
                <p:oleObj name="VISIO" r:id="rId3" imgW="4062984" imgH="324764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47800"/>
                        <a:ext cx="4060825" cy="325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4800600" y="1143000"/>
          <a:ext cx="3894138" cy="417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7" name="Document" r:id="rId5" imgW="5405628" imgH="5780532" progId="Word.Document.8">
                  <p:embed/>
                </p:oleObj>
              </mc:Choice>
              <mc:Fallback>
                <p:oleObj name="Document" r:id="rId5" imgW="5405628" imgH="57805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143000"/>
                        <a:ext cx="3894138" cy="417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533400" y="5486400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Initial Rule:           (Refund=No) 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US" altLang="en-US" sz="2000" b="1">
                <a:latin typeface="Arial" panose="020B0604020202020204" pitchFamily="34" charset="0"/>
                <a:sym typeface="Symbol" panose="05050102010706020507" pitchFamily="18" charset="2"/>
              </a:rPr>
              <a:t>(Status=Married)  No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  <a:sym typeface="Symbol" panose="05050102010706020507" pitchFamily="18" charset="2"/>
              </a:rPr>
              <a:t>Simplified Rule:   (Status=Married)  No</a:t>
            </a:r>
          </a:p>
        </p:txBody>
      </p:sp>
      <p:sp>
        <p:nvSpPr>
          <p:cNvPr id="57350" name="Oval 6"/>
          <p:cNvSpPr>
            <a:spLocks noChangeArrowheads="1"/>
          </p:cNvSpPr>
          <p:nvPr/>
        </p:nvSpPr>
        <p:spPr bwMode="auto">
          <a:xfrm>
            <a:off x="3200400" y="3048000"/>
            <a:ext cx="990600" cy="838200"/>
          </a:xfrm>
          <a:prstGeom prst="ellipse">
            <a:avLst/>
          </a:prstGeom>
          <a:noFill/>
          <a:ln w="31750">
            <a:solidFill>
              <a:srgbClr val="0C6D9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20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Effect of Rule Simplification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51837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Rules are no longer mutually exclusive</a:t>
            </a:r>
          </a:p>
          <a:p>
            <a:pPr lvl="1" eaLnBrk="1" hangingPunct="1">
              <a:defRPr/>
            </a:pPr>
            <a:r>
              <a:rPr lang="en-US" smtClean="0"/>
              <a:t>A record may trigger more than one rule </a:t>
            </a:r>
          </a:p>
          <a:p>
            <a:pPr lvl="1" eaLnBrk="1" hangingPunct="1">
              <a:defRPr/>
            </a:pPr>
            <a:r>
              <a:rPr lang="en-US" smtClean="0"/>
              <a:t>Solution?</a:t>
            </a:r>
          </a:p>
          <a:p>
            <a:pPr lvl="2" eaLnBrk="1" hangingPunct="1">
              <a:defRPr/>
            </a:pPr>
            <a:r>
              <a:rPr lang="en-US" smtClean="0"/>
              <a:t> Ordered rule set</a:t>
            </a:r>
          </a:p>
          <a:p>
            <a:pPr lvl="2" eaLnBrk="1" hangingPunct="1">
              <a:defRPr/>
            </a:pPr>
            <a:r>
              <a:rPr lang="en-US" smtClean="0"/>
              <a:t> Unordered rule set – use voting schemes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Rules are no longer exhaustive</a:t>
            </a:r>
          </a:p>
          <a:p>
            <a:pPr lvl="1" eaLnBrk="1" hangingPunct="1">
              <a:defRPr/>
            </a:pPr>
            <a:r>
              <a:rPr lang="en-US" smtClean="0"/>
              <a:t>A record may not trigger any rules</a:t>
            </a:r>
          </a:p>
          <a:p>
            <a:pPr lvl="1" eaLnBrk="1" hangingPunct="1">
              <a:defRPr/>
            </a:pPr>
            <a:r>
              <a:rPr lang="en-US" smtClean="0"/>
              <a:t>Solution?</a:t>
            </a:r>
          </a:p>
          <a:p>
            <a:pPr lvl="2" eaLnBrk="1" hangingPunct="1">
              <a:defRPr/>
            </a:pPr>
            <a:r>
              <a:rPr lang="en-US" smtClean="0"/>
              <a:t> Use a default 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439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9" grpId="0" build="p" bldLvl="3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Ordered Rule Set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Rules are rank ordered according to their priority</a:t>
            </a:r>
          </a:p>
          <a:p>
            <a:pPr lvl="1" eaLnBrk="1" hangingPunct="1">
              <a:defRPr/>
            </a:pPr>
            <a:r>
              <a:rPr lang="en-US" sz="2000" smtClean="0"/>
              <a:t>An ordered rule set is known as a decision list</a:t>
            </a:r>
          </a:p>
          <a:p>
            <a:pPr eaLnBrk="1" hangingPunct="1">
              <a:defRPr/>
            </a:pPr>
            <a:r>
              <a:rPr lang="en-US" smtClean="0"/>
              <a:t>When a test record is presented to the classifier </a:t>
            </a:r>
          </a:p>
          <a:p>
            <a:pPr lvl="1" eaLnBrk="1" hangingPunct="1">
              <a:defRPr/>
            </a:pPr>
            <a:r>
              <a:rPr lang="en-US" sz="2000" smtClean="0"/>
              <a:t>It is assigned to the class label of the highest ranked rule it has triggered</a:t>
            </a:r>
          </a:p>
          <a:p>
            <a:pPr lvl="1" eaLnBrk="1" hangingPunct="1">
              <a:defRPr/>
            </a:pPr>
            <a:r>
              <a:rPr lang="en-US" sz="2000" smtClean="0"/>
              <a:t>If none of the rules fired, it is assigned to the default class</a:t>
            </a:r>
          </a:p>
        </p:txBody>
      </p:sp>
      <p:sp>
        <p:nvSpPr>
          <p:cNvPr id="353284" name="Rectangle 4"/>
          <p:cNvSpPr>
            <a:spLocks noChangeArrowheads="1"/>
          </p:cNvSpPr>
          <p:nvPr/>
        </p:nvSpPr>
        <p:spPr bwMode="auto">
          <a:xfrm>
            <a:off x="1371600" y="4038600"/>
            <a:ext cx="7162800" cy="1828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R1: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yes)  Birds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R2: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(Live in Water = yes)  Fishes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R3: (Give Birth = yes)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(Blood Type = warm)  Mammals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R4: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no)  Reptiles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R5: (Live in Water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= sometimes)  Amphibians </a:t>
            </a:r>
          </a:p>
        </p:txBody>
      </p:sp>
      <p:pic>
        <p:nvPicPr>
          <p:cNvPr id="59397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6096000"/>
            <a:ext cx="7915275" cy="403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98" name="Line 6"/>
          <p:cNvSpPr>
            <a:spLocks noChangeShapeType="1"/>
          </p:cNvSpPr>
          <p:nvPr/>
        </p:nvSpPr>
        <p:spPr bwMode="auto">
          <a:xfrm flipH="1">
            <a:off x="838200" y="5334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Line 7"/>
          <p:cNvSpPr>
            <a:spLocks noChangeShapeType="1"/>
          </p:cNvSpPr>
          <p:nvPr/>
        </p:nvSpPr>
        <p:spPr bwMode="auto">
          <a:xfrm>
            <a:off x="838200" y="53340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H="1">
            <a:off x="1066800" y="5715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1066800" y="5715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624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638"/>
            <a:ext cx="7886700" cy="487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Rule Ordering Schemes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210550" cy="518160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Rule-based ordering</a:t>
            </a:r>
          </a:p>
          <a:p>
            <a:pPr lvl="1" eaLnBrk="1" hangingPunct="1">
              <a:defRPr/>
            </a:pPr>
            <a:r>
              <a:rPr lang="en-US" sz="2000" dirty="0" smtClean="0"/>
              <a:t>Individual rules are ranked based on their quality</a:t>
            </a:r>
          </a:p>
          <a:p>
            <a:pPr eaLnBrk="1" hangingPunct="1">
              <a:defRPr/>
            </a:pPr>
            <a:r>
              <a:rPr lang="en-US" dirty="0" smtClean="0"/>
              <a:t>Class-based ordering</a:t>
            </a:r>
          </a:p>
          <a:p>
            <a:pPr lvl="1" eaLnBrk="1" hangingPunct="1">
              <a:defRPr/>
            </a:pPr>
            <a:r>
              <a:rPr lang="en-US" sz="2000" dirty="0" smtClean="0"/>
              <a:t>Rules that belong to the same class appear together</a:t>
            </a:r>
            <a:endParaRPr lang="en-US" dirty="0" smtClean="0"/>
          </a:p>
        </p:txBody>
      </p:sp>
      <p:graphicFrame>
        <p:nvGraphicFramePr>
          <p:cNvPr id="60420" name="Object 4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393477" y="2743200"/>
          <a:ext cx="8112369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6" name="Visio" r:id="rId3" imgW="9753041" imgH="3576795" progId="Visio.Drawing.6">
                  <p:embed/>
                </p:oleObj>
              </mc:Choice>
              <mc:Fallback>
                <p:oleObj name="Visio" r:id="rId3" imgW="9753041" imgH="357679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77" y="2743200"/>
                        <a:ext cx="8112369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02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Building Classification Rules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1"/>
            <a:ext cx="7981950" cy="457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/>
              <a:t>Direct Method: </a:t>
            </a:r>
          </a:p>
          <a:p>
            <a:pPr lvl="2" eaLnBrk="1" hangingPunct="1">
              <a:defRPr/>
            </a:pPr>
            <a:r>
              <a:rPr lang="en-US" sz="2400" dirty="0" smtClean="0"/>
              <a:t> Extract rules directly from data</a:t>
            </a:r>
          </a:p>
          <a:p>
            <a:pPr lvl="2" eaLnBrk="1" hangingPunct="1">
              <a:defRPr/>
            </a:pPr>
            <a:r>
              <a:rPr lang="en-US" sz="2400" dirty="0" smtClean="0"/>
              <a:t> e.g.: RIPPER, CN2, </a:t>
            </a:r>
            <a:r>
              <a:rPr lang="en-US" sz="2400" dirty="0" err="1" smtClean="0"/>
              <a:t>Holte’s</a:t>
            </a:r>
            <a:r>
              <a:rPr lang="en-US" sz="2400" dirty="0" smtClean="0"/>
              <a:t> 1R</a:t>
            </a:r>
          </a:p>
          <a:p>
            <a:pPr lvl="1"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3200" dirty="0" smtClean="0"/>
              <a:t>Indirect Method:</a:t>
            </a:r>
          </a:p>
          <a:p>
            <a:pPr lvl="2" eaLnBrk="1" hangingPunct="1">
              <a:defRPr/>
            </a:pPr>
            <a:r>
              <a:rPr lang="en-US" sz="2400" dirty="0" smtClean="0"/>
              <a:t> Extract rules from other classification models (e.g. </a:t>
            </a:r>
            <a:br>
              <a:rPr lang="en-US" sz="2400" dirty="0" smtClean="0"/>
            </a:br>
            <a:r>
              <a:rPr lang="en-US" sz="2400" dirty="0" smtClean="0"/>
              <a:t>   decision trees, neural networks, </a:t>
            </a:r>
            <a:r>
              <a:rPr lang="en-US" sz="2400" dirty="0" err="1" smtClean="0"/>
              <a:t>etc</a:t>
            </a:r>
            <a:r>
              <a:rPr lang="en-US" sz="2400" dirty="0" smtClean="0"/>
              <a:t>).</a:t>
            </a:r>
          </a:p>
          <a:p>
            <a:pPr lvl="2" eaLnBrk="1" hangingPunct="1">
              <a:defRPr/>
            </a:pPr>
            <a:r>
              <a:rPr lang="en-US" sz="2400" dirty="0" smtClean="0"/>
              <a:t> </a:t>
            </a:r>
            <a:r>
              <a:rPr lang="en-US" sz="2400" dirty="0" err="1" smtClean="0"/>
              <a:t>e.g</a:t>
            </a:r>
            <a:r>
              <a:rPr lang="en-US" sz="2400" dirty="0" smtClean="0"/>
              <a:t>: C4.5rules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915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Direct Method: Sequential Covering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Start from an empty rule</a:t>
            </a:r>
          </a:p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Grow a rule using the Learn-One-Rule function</a:t>
            </a:r>
          </a:p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Remove training records covered by the rule</a:t>
            </a:r>
          </a:p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Repeat Step (2) and (3) until stopping criterion is met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21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Example of Sequential Covering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609600" y="1684338"/>
          <a:ext cx="3235325" cy="364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4" name="Visio" r:id="rId3" imgW="3195422" imgH="3527050" progId="Visio.Drawing.6">
                  <p:embed/>
                </p:oleObj>
              </mc:Choice>
              <mc:Fallback>
                <p:oleObj name="Visio" r:id="rId3" imgW="3195422" imgH="352705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84338"/>
                        <a:ext cx="3235325" cy="364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0" name="Object 4"/>
          <p:cNvGraphicFramePr>
            <a:graphicFrameLocks noChangeAspect="1"/>
          </p:cNvGraphicFramePr>
          <p:nvPr/>
        </p:nvGraphicFramePr>
        <p:xfrm>
          <a:off x="5070475" y="1676400"/>
          <a:ext cx="3235325" cy="364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5" name="VISIO" r:id="rId5" imgW="3236976" imgH="3643884" progId="Visio.Drawing.6">
                  <p:embed/>
                </p:oleObj>
              </mc:Choice>
              <mc:Fallback>
                <p:oleObj name="VISIO" r:id="rId5" imgW="3236976" imgH="364388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1676400"/>
                        <a:ext cx="3235325" cy="364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63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Example of Sequential Covering…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609600" y="1676400"/>
          <a:ext cx="3259138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8" name="VISIO" r:id="rId3" imgW="3261360" imgH="3578352" progId="Visio.Drawing.6">
                  <p:embed/>
                </p:oleObj>
              </mc:Choice>
              <mc:Fallback>
                <p:oleObj name="VISIO" r:id="rId3" imgW="3261360" imgH="357835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76400"/>
                        <a:ext cx="3259138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4" name="Object 4"/>
          <p:cNvGraphicFramePr>
            <a:graphicFrameLocks noChangeAspect="1"/>
          </p:cNvGraphicFramePr>
          <p:nvPr/>
        </p:nvGraphicFramePr>
        <p:xfrm>
          <a:off x="5029200" y="1676400"/>
          <a:ext cx="3284538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9" name="VISIO" r:id="rId5" imgW="3285744" imgH="3578352" progId="Visio.Drawing.6">
                  <p:embed/>
                </p:oleObj>
              </mc:Choice>
              <mc:Fallback>
                <p:oleObj name="VISIO" r:id="rId5" imgW="3285744" imgH="357835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676400"/>
                        <a:ext cx="3284538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62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6" y="533400"/>
            <a:ext cx="8509607" cy="5715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82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2" y="609600"/>
            <a:ext cx="8526574" cy="55626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549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82" y="457200"/>
            <a:ext cx="8363235" cy="594359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42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58" y="533400"/>
            <a:ext cx="8194030" cy="5715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86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Stop Building a Rule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28650" y="1447800"/>
            <a:ext cx="74485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NewRomanPSMT"/>
              </a:rPr>
              <a:t>When the rule is perfect, i.e. accuracy =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NewRomanPSMT"/>
              </a:rPr>
              <a:t>When </a:t>
            </a:r>
            <a:r>
              <a:rPr lang="en-US" sz="2800" dirty="0">
                <a:solidFill>
                  <a:srgbClr val="000000"/>
                </a:solidFill>
                <a:latin typeface="TimesNewRomanPSMT"/>
              </a:rPr>
              <a:t>increase in accuracy gets below a </a:t>
            </a:r>
            <a:r>
              <a:rPr lang="en-US" sz="2800" dirty="0" smtClean="0">
                <a:solidFill>
                  <a:srgbClr val="000000"/>
                </a:solidFill>
                <a:latin typeface="TimesNewRomanPSMT"/>
              </a:rPr>
              <a:t>given threshold</a:t>
            </a:r>
            <a:endParaRPr lang="en-US" sz="2800" dirty="0">
              <a:solidFill>
                <a:srgbClr val="000000"/>
              </a:solidFill>
              <a:latin typeface="TimesNewRomanPS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NewRomanPSMT"/>
              </a:rPr>
              <a:t>When </a:t>
            </a:r>
            <a:r>
              <a:rPr lang="en-US" sz="2800" dirty="0">
                <a:solidFill>
                  <a:srgbClr val="000000"/>
                </a:solidFill>
                <a:latin typeface="TimesNewRomanPSMT"/>
              </a:rPr>
              <a:t>the training set cannot be split any further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64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5138" y="3048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Aspects of Sequential Covering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5138" y="1295400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Rule Growing</a:t>
            </a:r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Instance Elimination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Rule Evaluation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Stopping Criterion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Rule Pruning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93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6326</TotalTime>
  <Words>1763</Words>
  <Application>Microsoft Office PowerPoint</Application>
  <PresentationFormat>On-screen Show (4:3)</PresentationFormat>
  <Paragraphs>387</Paragraphs>
  <Slides>38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Arial</vt:lpstr>
      <vt:lpstr>Calibri</vt:lpstr>
      <vt:lpstr>Monotype Sorts</vt:lpstr>
      <vt:lpstr>Symbol</vt:lpstr>
      <vt:lpstr>Tahoma</vt:lpstr>
      <vt:lpstr>Times New Roman</vt:lpstr>
      <vt:lpstr>TimesNewRomanPSMT</vt:lpstr>
      <vt:lpstr>Wingdings</vt:lpstr>
      <vt:lpstr>Blank</vt:lpstr>
      <vt:lpstr>Equation</vt:lpstr>
      <vt:lpstr>Document</vt:lpstr>
      <vt:lpstr>VISIO</vt:lpstr>
      <vt:lpstr>Visio</vt:lpstr>
      <vt:lpstr>Classification</vt:lpstr>
      <vt:lpstr>Nearest Neighbor Classifiers</vt:lpstr>
      <vt:lpstr>PowerPoint Presentation</vt:lpstr>
      <vt:lpstr>Nearest Neighbor Classification</vt:lpstr>
      <vt:lpstr>Distance-Weighted Nearest Neighbor Algorithm</vt:lpstr>
      <vt:lpstr>PowerPoint Presentation</vt:lpstr>
      <vt:lpstr>Nearest Neighbor Classification…</vt:lpstr>
      <vt:lpstr>Nearest neighbor Classification…</vt:lpstr>
      <vt:lpstr>Model Evaluation</vt:lpstr>
      <vt:lpstr>Test of Significance</vt:lpstr>
      <vt:lpstr>Confidence Interval for Accuracy</vt:lpstr>
      <vt:lpstr>Confidence Interval for Accuracy</vt:lpstr>
      <vt:lpstr>Confidence Interval for Accuracy</vt:lpstr>
      <vt:lpstr>Comparing Performance of 2 Models</vt:lpstr>
      <vt:lpstr>Comparing Performance of 2 Models</vt:lpstr>
      <vt:lpstr>An Illustrative Example</vt:lpstr>
      <vt:lpstr>Comparing Performance of 2 Algorithms</vt:lpstr>
      <vt:lpstr>Rule-Based Classifier</vt:lpstr>
      <vt:lpstr>Rule-based Classifier (Example)</vt:lpstr>
      <vt:lpstr>Application of Rule-Based Classifier</vt:lpstr>
      <vt:lpstr>How does Rule-based Classifier Work?</vt:lpstr>
      <vt:lpstr>Rule Coverage and Accuracy</vt:lpstr>
      <vt:lpstr>Characteristics of Rule-Based Classifier</vt:lpstr>
      <vt:lpstr>From Decision Trees To Rules</vt:lpstr>
      <vt:lpstr>Rules Can Be Simplified</vt:lpstr>
      <vt:lpstr>Effect of Rule Simplification</vt:lpstr>
      <vt:lpstr>Ordered Rule Set</vt:lpstr>
      <vt:lpstr>Rule Ordering Schemes</vt:lpstr>
      <vt:lpstr>Building Classification Rules</vt:lpstr>
      <vt:lpstr>Direct Method: Sequential Covering</vt:lpstr>
      <vt:lpstr>Example of Sequential Covering</vt:lpstr>
      <vt:lpstr>Example of Sequential Covering…</vt:lpstr>
      <vt:lpstr>PowerPoint Presentation</vt:lpstr>
      <vt:lpstr>PowerPoint Presentation</vt:lpstr>
      <vt:lpstr>PowerPoint Presentation</vt:lpstr>
      <vt:lpstr>PowerPoint Presentation</vt:lpstr>
      <vt:lpstr>When to Stop Building a Rule</vt:lpstr>
      <vt:lpstr>Aspects of Sequential Covering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255</cp:revision>
  <cp:lastPrinted>1601-01-01T00:00:00Z</cp:lastPrinted>
  <dcterms:created xsi:type="dcterms:W3CDTF">1601-01-01T00:00:00Z</dcterms:created>
  <dcterms:modified xsi:type="dcterms:W3CDTF">2018-02-16T10:20:44Z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