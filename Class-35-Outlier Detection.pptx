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505" r:id="rId2"/>
    <p:sldId id="533" r:id="rId3"/>
    <p:sldId id="510" r:id="rId4"/>
    <p:sldId id="570" r:id="rId5"/>
    <p:sldId id="545" r:id="rId6"/>
    <p:sldId id="544" r:id="rId7"/>
    <p:sldId id="499" r:id="rId8"/>
    <p:sldId id="500" r:id="rId9"/>
    <p:sldId id="534" r:id="rId10"/>
    <p:sldId id="501" r:id="rId11"/>
    <p:sldId id="535" r:id="rId12"/>
    <p:sldId id="502" r:id="rId13"/>
    <p:sldId id="511" r:id="rId14"/>
    <p:sldId id="546" r:id="rId15"/>
    <p:sldId id="547" r:id="rId16"/>
    <p:sldId id="548" r:id="rId17"/>
    <p:sldId id="515" r:id="rId18"/>
    <p:sldId id="549" r:id="rId19"/>
    <p:sldId id="536" r:id="rId20"/>
    <p:sldId id="537" r:id="rId21"/>
    <p:sldId id="540" r:id="rId22"/>
    <p:sldId id="520" r:id="rId23"/>
    <p:sldId id="538" r:id="rId24"/>
    <p:sldId id="504" r:id="rId25"/>
    <p:sldId id="539" r:id="rId26"/>
    <p:sldId id="541" r:id="rId27"/>
    <p:sldId id="542" r:id="rId28"/>
    <p:sldId id="543" r:id="rId29"/>
    <p:sldId id="517" r:id="rId30"/>
    <p:sldId id="518" r:id="rId31"/>
    <p:sldId id="519" r:id="rId32"/>
    <p:sldId id="521" r:id="rId33"/>
    <p:sldId id="522" r:id="rId34"/>
    <p:sldId id="523" r:id="rId35"/>
    <p:sldId id="524" r:id="rId36"/>
    <p:sldId id="525" r:id="rId37"/>
    <p:sldId id="550" r:id="rId38"/>
    <p:sldId id="551" r:id="rId39"/>
    <p:sldId id="552" r:id="rId40"/>
    <p:sldId id="553" r:id="rId41"/>
    <p:sldId id="554" r:id="rId42"/>
    <p:sldId id="555" r:id="rId43"/>
    <p:sldId id="556" r:id="rId44"/>
    <p:sldId id="557" r:id="rId45"/>
    <p:sldId id="558" r:id="rId46"/>
    <p:sldId id="559" r:id="rId47"/>
    <p:sldId id="560" r:id="rId48"/>
    <p:sldId id="561" r:id="rId49"/>
    <p:sldId id="562" r:id="rId50"/>
    <p:sldId id="563" r:id="rId51"/>
    <p:sldId id="564" r:id="rId52"/>
    <p:sldId id="565" r:id="rId53"/>
    <p:sldId id="566" r:id="rId54"/>
    <p:sldId id="567" r:id="rId55"/>
    <p:sldId id="568" r:id="rId56"/>
    <p:sldId id="569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6B36DB-C3DA-49BB-AA53-5DF52F722C4A}" type="datetimeFigureOut">
              <a:rPr lang="en-US" smtClean="0"/>
              <a:t>20-Apr-18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4CDF2-A126-45BB-BED0-2A856D792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BD9878-6A14-48F0-A2D5-4C53EF1D7491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81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05489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89667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55997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56769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70807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4113" y="693738"/>
            <a:ext cx="4552950" cy="341471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277897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20-Apr-18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20-Apr-18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20-Apr-18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20-Apr-18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20-Apr-18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20-Apr-18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20-Apr-18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20-Apr-18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20-Apr-18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20-Apr-18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20-Apr-18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1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7B745-B939-4367-9798-1F14DB30F90E}" type="datetimeFigureOut">
              <a:rPr lang="en-US" smtClean="0"/>
              <a:t>20-Apr-18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31.png"/><Relationship Id="rId4" Type="http://schemas.openxmlformats.org/officeDocument/2006/relationships/oleObject" Target="../embeddings/oleObject5.bin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3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ANOMALY DETECTION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6172200"/>
            <a:ext cx="510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Most of the material in this presentation taken from Text Book slides (Tan et. al.)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07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Statistical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382000" cy="5257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Probabilistic definition of an outlier: </a:t>
            </a:r>
            <a:r>
              <a:rPr lang="en-US" dirty="0"/>
              <a:t>An outlier is an object </a:t>
            </a:r>
            <a:r>
              <a:rPr lang="en-US" dirty="0" smtClean="0"/>
              <a:t>that has </a:t>
            </a:r>
            <a:r>
              <a:rPr lang="en-US" dirty="0"/>
              <a:t>a low probability with respect to a probability </a:t>
            </a:r>
            <a:r>
              <a:rPr lang="en-US" dirty="0" smtClean="0"/>
              <a:t>distribution model </a:t>
            </a:r>
            <a:r>
              <a:rPr lang="en-US" dirty="0"/>
              <a:t>of the data.</a:t>
            </a:r>
          </a:p>
          <a:p>
            <a:r>
              <a:rPr lang="en-US" dirty="0" smtClean="0"/>
              <a:t>Usually </a:t>
            </a:r>
            <a:r>
              <a:rPr lang="en-US" dirty="0"/>
              <a:t>assume a parametric model describing the </a:t>
            </a:r>
            <a:r>
              <a:rPr lang="en-US" dirty="0" smtClean="0"/>
              <a:t>distribution of </a:t>
            </a:r>
            <a:r>
              <a:rPr lang="en-US" dirty="0"/>
              <a:t>the data (e.g., normal distribution)</a:t>
            </a:r>
          </a:p>
          <a:p>
            <a:r>
              <a:rPr lang="en-US" dirty="0" smtClean="0"/>
              <a:t>Apply </a:t>
            </a:r>
            <a:r>
              <a:rPr lang="en-US" dirty="0"/>
              <a:t>a statistical test that depends on</a:t>
            </a:r>
          </a:p>
          <a:p>
            <a:pPr lvl="1"/>
            <a:r>
              <a:rPr lang="en-US" dirty="0" smtClean="0"/>
              <a:t>Data </a:t>
            </a:r>
            <a:r>
              <a:rPr lang="en-US" dirty="0"/>
              <a:t>distribution</a:t>
            </a:r>
          </a:p>
          <a:p>
            <a:pPr lvl="1"/>
            <a:r>
              <a:rPr lang="en-US" dirty="0" smtClean="0"/>
              <a:t>Parameters </a:t>
            </a:r>
            <a:r>
              <a:rPr lang="en-US" dirty="0"/>
              <a:t>of distribution (e.g., mean, variance)</a:t>
            </a:r>
          </a:p>
          <a:p>
            <a:pPr lvl="1"/>
            <a:r>
              <a:rPr lang="en-US" dirty="0" smtClean="0"/>
              <a:t>Number </a:t>
            </a:r>
            <a:r>
              <a:rPr lang="en-US" dirty="0"/>
              <a:t>of expected outliers (confidence limit)</a:t>
            </a:r>
          </a:p>
          <a:p>
            <a:r>
              <a:rPr lang="en-US" dirty="0" smtClean="0"/>
              <a:t>Issues</a:t>
            </a:r>
            <a:endParaRPr lang="en-US" dirty="0"/>
          </a:p>
          <a:p>
            <a:pPr lvl="1"/>
            <a:r>
              <a:rPr lang="en-US" dirty="0" smtClean="0"/>
              <a:t>Identifying </a:t>
            </a:r>
            <a:r>
              <a:rPr lang="en-US" dirty="0"/>
              <a:t>the distribution of a data set</a:t>
            </a:r>
          </a:p>
          <a:p>
            <a:pPr lvl="2"/>
            <a:r>
              <a:rPr lang="en-US" dirty="0" smtClean="0"/>
              <a:t>Heavy </a:t>
            </a:r>
            <a:r>
              <a:rPr lang="en-US" dirty="0"/>
              <a:t>tailed distribution</a:t>
            </a:r>
          </a:p>
          <a:p>
            <a:pPr lvl="1"/>
            <a:r>
              <a:rPr lang="en-US" dirty="0" smtClean="0"/>
              <a:t>Number </a:t>
            </a:r>
            <a:r>
              <a:rPr lang="en-US" dirty="0"/>
              <a:t>of attributes</a:t>
            </a:r>
          </a:p>
          <a:p>
            <a:pPr lvl="1"/>
            <a:r>
              <a:rPr lang="en-US" dirty="0" smtClean="0"/>
              <a:t>Is </a:t>
            </a:r>
            <a:r>
              <a:rPr lang="en-US" dirty="0"/>
              <a:t>the data a mixture of distributions?</a:t>
            </a:r>
          </a:p>
        </p:txBody>
      </p:sp>
    </p:spTree>
    <p:extLst>
      <p:ext uri="{BB962C8B-B14F-4D97-AF65-F5344CB8AC3E}">
        <p14:creationId xmlns:p14="http://schemas.microsoft.com/office/powerpoint/2010/main" val="715198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D41782EA-56D8-44A1-BCE4-970E0CC52853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4648200" cy="114300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Outlier Discovery: Statistical Approaches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590800"/>
            <a:ext cx="8077200" cy="3810000"/>
          </a:xfrm>
        </p:spPr>
        <p:txBody>
          <a:bodyPr>
            <a:normAutofit lnSpcReduction="10000"/>
          </a:bodyPr>
          <a:lstStyle/>
          <a:p>
            <a:pPr>
              <a:buFont typeface="Monotype Sorts" pitchFamily="2" charset="2"/>
              <a:buChar char="f"/>
            </a:pPr>
            <a:r>
              <a:rPr lang="en-US" sz="2400" smtClean="0">
                <a:solidFill>
                  <a:srgbClr val="170981"/>
                </a:solidFill>
              </a:rPr>
              <a:t>Assume a model underlying distribution that generates data set (e.g. normal distribution) </a:t>
            </a:r>
          </a:p>
          <a:p>
            <a:r>
              <a:rPr lang="en-US" sz="2400" smtClean="0"/>
              <a:t>Use discordancy tests depending on </a:t>
            </a:r>
          </a:p>
          <a:p>
            <a:pPr lvl="1"/>
            <a:r>
              <a:rPr lang="en-US" sz="2400" smtClean="0"/>
              <a:t>data distribution</a:t>
            </a:r>
          </a:p>
          <a:p>
            <a:pPr lvl="1"/>
            <a:r>
              <a:rPr lang="en-US" sz="2400" smtClean="0"/>
              <a:t>distribution parameter (e.g., mean, variance)</a:t>
            </a:r>
          </a:p>
          <a:p>
            <a:pPr lvl="1"/>
            <a:r>
              <a:rPr lang="en-US" sz="2400" smtClean="0"/>
              <a:t>number of expected outliers</a:t>
            </a:r>
          </a:p>
          <a:p>
            <a:r>
              <a:rPr lang="en-US" sz="2400" smtClean="0"/>
              <a:t>Drawbacks</a:t>
            </a:r>
          </a:p>
          <a:p>
            <a:pPr lvl="1"/>
            <a:r>
              <a:rPr lang="en-US" sz="2400" smtClean="0"/>
              <a:t>most tests are for single attribute</a:t>
            </a:r>
          </a:p>
          <a:p>
            <a:pPr lvl="1"/>
            <a:r>
              <a:rPr lang="en-US" sz="2400" smtClean="0"/>
              <a:t>In many cases, data distribution may not be known</a:t>
            </a:r>
          </a:p>
        </p:txBody>
      </p:sp>
      <p:pic>
        <p:nvPicPr>
          <p:cNvPr id="26629" name="Picture 4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0"/>
            <a:ext cx="45720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5981740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4882"/>
            <a:ext cx="6324600" cy="41674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971" y="4191000"/>
            <a:ext cx="6689401" cy="243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933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3" y="755650"/>
            <a:ext cx="8231187" cy="534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5891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8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685800"/>
            <a:ext cx="7939087" cy="548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4510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865187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Grubbs’ Test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915400" cy="5638800"/>
          </a:xfrm>
        </p:spPr>
        <p:txBody>
          <a:bodyPr/>
          <a:lstStyle/>
          <a:p>
            <a:pPr eaLnBrk="1" hangingPunct="1"/>
            <a:r>
              <a:rPr lang="en-US" altLang="en-US" smtClean="0">
                <a:effectLst/>
              </a:rPr>
              <a:t>Detect outliers in univariate data</a:t>
            </a:r>
          </a:p>
          <a:p>
            <a:pPr eaLnBrk="1" hangingPunct="1"/>
            <a:r>
              <a:rPr lang="en-US" altLang="en-US" smtClean="0">
                <a:effectLst/>
              </a:rPr>
              <a:t>Assume data comes from normal distribution</a:t>
            </a:r>
          </a:p>
          <a:p>
            <a:pPr eaLnBrk="1" hangingPunct="1"/>
            <a:r>
              <a:rPr lang="en-US" altLang="en-US" smtClean="0">
                <a:effectLst/>
              </a:rPr>
              <a:t>Detects one outlier at a time, remove the outlier, and repeat</a:t>
            </a:r>
          </a:p>
          <a:p>
            <a:pPr lvl="1" eaLnBrk="1" hangingPunct="1"/>
            <a:r>
              <a:rPr lang="en-US" altLang="en-US" smtClean="0">
                <a:effectLst/>
              </a:rPr>
              <a:t>H</a:t>
            </a:r>
            <a:r>
              <a:rPr lang="en-US" altLang="en-US" baseline="-25000" smtClean="0">
                <a:effectLst/>
              </a:rPr>
              <a:t>0</a:t>
            </a:r>
            <a:r>
              <a:rPr lang="en-US" altLang="en-US" smtClean="0">
                <a:effectLst/>
              </a:rPr>
              <a:t>: There is no outlier in data</a:t>
            </a:r>
          </a:p>
          <a:p>
            <a:pPr lvl="1" eaLnBrk="1" hangingPunct="1"/>
            <a:r>
              <a:rPr lang="en-US" altLang="en-US" smtClean="0">
                <a:effectLst/>
              </a:rPr>
              <a:t>H</a:t>
            </a:r>
            <a:r>
              <a:rPr lang="en-US" altLang="en-US" baseline="-25000" smtClean="0">
                <a:effectLst/>
              </a:rPr>
              <a:t>A</a:t>
            </a:r>
            <a:r>
              <a:rPr lang="en-US" altLang="en-US" smtClean="0">
                <a:effectLst/>
              </a:rPr>
              <a:t>: There is at least one outlier</a:t>
            </a:r>
          </a:p>
          <a:p>
            <a:pPr eaLnBrk="1" hangingPunct="1"/>
            <a:r>
              <a:rPr lang="en-US" altLang="en-US" smtClean="0">
                <a:effectLst/>
              </a:rPr>
              <a:t>Grubbs’ test statistic: </a:t>
            </a:r>
          </a:p>
          <a:p>
            <a:pPr eaLnBrk="1" hangingPunct="1"/>
            <a:endParaRPr lang="en-US" altLang="en-US" smtClean="0">
              <a:effectLst/>
            </a:endParaRPr>
          </a:p>
          <a:p>
            <a:pPr eaLnBrk="1" hangingPunct="1"/>
            <a:r>
              <a:rPr lang="en-US" altLang="en-US" smtClean="0">
                <a:effectLst/>
              </a:rPr>
              <a:t>Reject H</a:t>
            </a:r>
            <a:r>
              <a:rPr lang="en-US" altLang="en-US" baseline="-25000" smtClean="0">
                <a:effectLst/>
              </a:rPr>
              <a:t>0</a:t>
            </a:r>
            <a:r>
              <a:rPr lang="en-US" altLang="en-US" smtClean="0">
                <a:effectLst/>
              </a:rPr>
              <a:t> if:</a:t>
            </a:r>
          </a:p>
        </p:txBody>
      </p:sp>
      <p:graphicFrame>
        <p:nvGraphicFramePr>
          <p:cNvPr id="54276" name="Object 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334000" y="4343400"/>
          <a:ext cx="228600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82" name="Equation" r:id="rId3" imgW="1054100" imgH="469900" progId="Equation.3">
                  <p:embed/>
                </p:oleObj>
              </mc:Choice>
              <mc:Fallback>
                <p:oleObj name="Equation" r:id="rId3" imgW="10541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343400"/>
                        <a:ext cx="2286000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7" name="Object 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048000" y="5410200"/>
          <a:ext cx="3886200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83" name="Equation" r:id="rId5" imgW="1828800" imgH="571500" progId="Equation.3">
                  <p:embed/>
                </p:oleObj>
              </mc:Choice>
              <mc:Fallback>
                <p:oleObj name="Equation" r:id="rId5" imgW="18288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410200"/>
                        <a:ext cx="3886200" cy="1214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0106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8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7813"/>
            <a:ext cx="9144000" cy="865187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Statistical-based–Likelihood Approach</a:t>
            </a:r>
          </a:p>
        </p:txBody>
      </p:sp>
      <p:sp>
        <p:nvSpPr>
          <p:cNvPr id="1827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Assume the data set D contains samples from a mixture of two probability distributions:</a:t>
            </a:r>
            <a:r>
              <a:rPr lang="en-US" dirty="0" smtClean="0"/>
              <a:t> </a:t>
            </a:r>
          </a:p>
          <a:p>
            <a:pPr lvl="1" eaLnBrk="1" hangingPunct="1">
              <a:defRPr/>
            </a:pPr>
            <a:r>
              <a:rPr lang="en-US" sz="2400" dirty="0" smtClean="0"/>
              <a:t>M (majority distribution) </a:t>
            </a:r>
          </a:p>
          <a:p>
            <a:pPr lvl="1" eaLnBrk="1" hangingPunct="1">
              <a:defRPr/>
            </a:pPr>
            <a:r>
              <a:rPr lang="en-US" sz="2400" dirty="0" smtClean="0"/>
              <a:t>A (anomalous distribution)</a:t>
            </a:r>
          </a:p>
          <a:p>
            <a:pPr eaLnBrk="1" hangingPunct="1">
              <a:defRPr/>
            </a:pPr>
            <a:r>
              <a:rPr lang="en-US" sz="2800" dirty="0" smtClean="0"/>
              <a:t>General Approach:</a:t>
            </a:r>
          </a:p>
          <a:p>
            <a:pPr lvl="1" eaLnBrk="1" hangingPunct="1">
              <a:defRPr/>
            </a:pPr>
            <a:r>
              <a:rPr lang="en-US" sz="2400" dirty="0" smtClean="0"/>
              <a:t>Initially, assume all the data points belong to M</a:t>
            </a:r>
          </a:p>
          <a:p>
            <a:pPr lvl="1" eaLnBrk="1" hangingPunct="1">
              <a:defRPr/>
            </a:pPr>
            <a:r>
              <a:rPr lang="en-US" sz="2400" dirty="0" smtClean="0"/>
              <a:t>Let L</a:t>
            </a:r>
            <a:r>
              <a:rPr lang="en-US" sz="2400" baseline="-25000" dirty="0" smtClean="0"/>
              <a:t>t</a:t>
            </a:r>
            <a:r>
              <a:rPr lang="en-US" sz="2400" dirty="0" smtClean="0"/>
              <a:t>(D) be the log likelihood of D at time t</a:t>
            </a:r>
          </a:p>
          <a:p>
            <a:pPr lvl="1" eaLnBrk="1" hangingPunct="1">
              <a:defRPr/>
            </a:pPr>
            <a:r>
              <a:rPr lang="en-US" sz="2400" dirty="0" smtClean="0"/>
              <a:t>For each point </a:t>
            </a:r>
            <a:r>
              <a:rPr lang="en-US" sz="2400" dirty="0" err="1" smtClean="0"/>
              <a:t>x</a:t>
            </a:r>
            <a:r>
              <a:rPr lang="en-US" sz="2400" baseline="-25000" dirty="0" err="1" smtClean="0"/>
              <a:t>t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 pitchFamily="18" charset="2"/>
              </a:rPr>
              <a:t>that belongs to M, move it to A</a:t>
            </a:r>
            <a:endParaRPr lang="en-US" sz="2400" dirty="0" smtClean="0"/>
          </a:p>
          <a:p>
            <a:pPr lvl="2" eaLnBrk="1" hangingPunct="1">
              <a:defRPr/>
            </a:pPr>
            <a:r>
              <a:rPr lang="en-US" dirty="0" smtClean="0"/>
              <a:t> </a:t>
            </a:r>
            <a:r>
              <a:rPr lang="en-US" sz="2000" dirty="0" smtClean="0"/>
              <a:t>Let L</a:t>
            </a:r>
            <a:r>
              <a:rPr lang="en-US" sz="2000" baseline="-25000" dirty="0" smtClean="0"/>
              <a:t>t+1</a:t>
            </a:r>
            <a:r>
              <a:rPr lang="en-US" sz="2000" dirty="0" smtClean="0"/>
              <a:t> (D) be the new log likelihood.</a:t>
            </a:r>
          </a:p>
          <a:p>
            <a:pPr lvl="2" eaLnBrk="1" hangingPunct="1">
              <a:defRPr/>
            </a:pPr>
            <a:r>
              <a:rPr lang="en-US" sz="2000" dirty="0" smtClean="0"/>
              <a:t> Compute the difference, </a:t>
            </a:r>
            <a:r>
              <a:rPr lang="en-US" sz="2000" dirty="0" smtClean="0">
                <a:sym typeface="Symbol" pitchFamily="18" charset="2"/>
              </a:rPr>
              <a:t> = </a:t>
            </a:r>
            <a:r>
              <a:rPr lang="en-US" sz="2000" dirty="0" smtClean="0"/>
              <a:t>L</a:t>
            </a:r>
            <a:r>
              <a:rPr lang="en-US" sz="2000" baseline="-25000" dirty="0" smtClean="0"/>
              <a:t>t</a:t>
            </a:r>
            <a:r>
              <a:rPr lang="en-US" sz="2000" dirty="0" smtClean="0"/>
              <a:t>(D) – L</a:t>
            </a:r>
            <a:r>
              <a:rPr lang="en-US" sz="2000" baseline="-25000" dirty="0" smtClean="0"/>
              <a:t>t+1</a:t>
            </a:r>
            <a:r>
              <a:rPr lang="en-US" sz="2000" dirty="0" smtClean="0"/>
              <a:t> (D)</a:t>
            </a:r>
          </a:p>
          <a:p>
            <a:pPr lvl="2" eaLnBrk="1" hangingPunct="1">
              <a:defRPr/>
            </a:pPr>
            <a:r>
              <a:rPr lang="en-US" sz="2000" dirty="0" smtClean="0"/>
              <a:t> If </a:t>
            </a:r>
            <a:r>
              <a:rPr lang="en-US" sz="2000" dirty="0" smtClean="0">
                <a:sym typeface="Symbol" pitchFamily="18" charset="2"/>
              </a:rPr>
              <a:t></a:t>
            </a:r>
            <a:r>
              <a:rPr lang="en-US" sz="2000" dirty="0" smtClean="0"/>
              <a:t> &gt; c  (some threshold), then </a:t>
            </a:r>
            <a:r>
              <a:rPr lang="en-US" sz="2000" dirty="0" err="1" smtClean="0"/>
              <a:t>x</a:t>
            </a:r>
            <a:r>
              <a:rPr lang="en-US" sz="2000" baseline="-25000" dirty="0" err="1" smtClean="0"/>
              <a:t>t</a:t>
            </a:r>
            <a:r>
              <a:rPr lang="en-US" sz="2000" dirty="0" smtClean="0"/>
              <a:t> is declared as an anomaly and moved permanently from M to A</a:t>
            </a:r>
          </a:p>
        </p:txBody>
      </p:sp>
    </p:spTree>
    <p:extLst>
      <p:ext uri="{BB962C8B-B14F-4D97-AF65-F5344CB8AC3E}">
        <p14:creationId xmlns:p14="http://schemas.microsoft.com/office/powerpoint/2010/main" val="1215347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Statistical‐based – Likelihood</a:t>
            </a:r>
            <a:br>
              <a:rPr lang="en-US" b="1" dirty="0"/>
            </a:br>
            <a:r>
              <a:rPr lang="en-US" b="1" dirty="0"/>
              <a:t>Approach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1600200"/>
            <a:ext cx="8493026" cy="494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199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8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Strengths/Weaknesses of Statistical</a:t>
            </a:r>
            <a:br>
              <a:rPr lang="en-US" b="1" dirty="0"/>
            </a:br>
            <a:r>
              <a:rPr lang="en-US" b="1" dirty="0"/>
              <a:t>Approaches</a:t>
            </a:r>
            <a:endParaRPr lang="en-US" dirty="0" smtClean="0"/>
          </a:p>
        </p:txBody>
      </p:sp>
      <p:sp>
        <p:nvSpPr>
          <p:cNvPr id="592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Firm mathematical foundation</a:t>
            </a:r>
          </a:p>
          <a:p>
            <a:r>
              <a:rPr lang="en-US" dirty="0" smtClean="0"/>
              <a:t>Can </a:t>
            </a:r>
            <a:r>
              <a:rPr lang="en-US" dirty="0"/>
              <a:t>be very efficient</a:t>
            </a:r>
          </a:p>
          <a:p>
            <a:r>
              <a:rPr lang="en-US" dirty="0" smtClean="0"/>
              <a:t>Good </a:t>
            </a:r>
            <a:r>
              <a:rPr lang="en-US" dirty="0"/>
              <a:t>results if distribution is known</a:t>
            </a:r>
          </a:p>
          <a:p>
            <a:r>
              <a:rPr lang="en-US" dirty="0" smtClean="0"/>
              <a:t>In </a:t>
            </a:r>
            <a:r>
              <a:rPr lang="en-US" dirty="0"/>
              <a:t>many cases, data distribution may not be known</a:t>
            </a:r>
          </a:p>
          <a:p>
            <a:r>
              <a:rPr lang="en-US" dirty="0" smtClean="0"/>
              <a:t>For </a:t>
            </a:r>
            <a:r>
              <a:rPr lang="en-US" dirty="0"/>
              <a:t>high dimensional data, it may be difficult to </a:t>
            </a:r>
            <a:r>
              <a:rPr lang="en-US" dirty="0" smtClean="0"/>
              <a:t>estimate the </a:t>
            </a:r>
            <a:r>
              <a:rPr lang="en-US" dirty="0"/>
              <a:t>true distribution</a:t>
            </a:r>
          </a:p>
          <a:p>
            <a:r>
              <a:rPr lang="en-US" dirty="0" smtClean="0"/>
              <a:t>Anomalies </a:t>
            </a:r>
            <a:r>
              <a:rPr lang="en-US" dirty="0"/>
              <a:t>can distort the parameters of the distribution</a:t>
            </a: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Most of the tests are for a single attribute</a:t>
            </a:r>
          </a:p>
          <a:p>
            <a:pPr lvl="3" eaLnBrk="1" hangingPunct="1"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6990490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Distance‐Based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Several different techniques</a:t>
            </a:r>
          </a:p>
          <a:p>
            <a:r>
              <a:rPr lang="en-US" dirty="0" smtClean="0"/>
              <a:t>An </a:t>
            </a:r>
            <a:r>
              <a:rPr lang="en-US" dirty="0"/>
              <a:t>object is an outlier if a specified fraction of </a:t>
            </a:r>
            <a:r>
              <a:rPr lang="en-US" dirty="0" smtClean="0"/>
              <a:t>the objects </a:t>
            </a:r>
            <a:r>
              <a:rPr lang="en-US" dirty="0"/>
              <a:t>is more than a specified distance away (</a:t>
            </a:r>
            <a:r>
              <a:rPr lang="en-US" dirty="0" smtClean="0"/>
              <a:t>Knorr, Ng </a:t>
            </a:r>
            <a:r>
              <a:rPr lang="en-US" dirty="0"/>
              <a:t>1998)</a:t>
            </a:r>
          </a:p>
          <a:p>
            <a:pPr lvl="1"/>
            <a:r>
              <a:rPr lang="en-US" dirty="0" smtClean="0"/>
              <a:t>Some </a:t>
            </a:r>
            <a:r>
              <a:rPr lang="en-US" dirty="0"/>
              <a:t>statistical definitions are special cases of this</a:t>
            </a:r>
          </a:p>
          <a:p>
            <a:r>
              <a:rPr lang="en-US" dirty="0" smtClean="0"/>
              <a:t>The </a:t>
            </a:r>
            <a:r>
              <a:rPr lang="en-US" dirty="0"/>
              <a:t>outlier score of an object is the distance to its </a:t>
            </a:r>
            <a:r>
              <a:rPr lang="en-US" dirty="0" smtClean="0"/>
              <a:t>kth nearest </a:t>
            </a:r>
            <a:r>
              <a:rPr lang="en-US" dirty="0"/>
              <a:t>neighbor</a:t>
            </a:r>
          </a:p>
        </p:txBody>
      </p:sp>
    </p:spTree>
    <p:extLst>
      <p:ext uri="{BB962C8B-B14F-4D97-AF65-F5344CB8AC3E}">
        <p14:creationId xmlns:p14="http://schemas.microsoft.com/office/powerpoint/2010/main" val="215700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Distance-based Approaches</a:t>
            </a:r>
          </a:p>
        </p:txBody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Data is represented as a vector of features</a:t>
            </a:r>
          </a:p>
          <a:p>
            <a:pPr lvl="4"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Three major approaches</a:t>
            </a:r>
          </a:p>
          <a:p>
            <a:pPr lvl="1" eaLnBrk="1" hangingPunct="1">
              <a:defRPr/>
            </a:pPr>
            <a:r>
              <a:rPr lang="en-US" smtClean="0"/>
              <a:t>Nearest-neighbor based</a:t>
            </a:r>
          </a:p>
          <a:p>
            <a:pPr lvl="1" eaLnBrk="1" hangingPunct="1">
              <a:defRPr/>
            </a:pPr>
            <a:r>
              <a:rPr lang="en-US" smtClean="0"/>
              <a:t>Density based</a:t>
            </a:r>
          </a:p>
          <a:p>
            <a:pPr lvl="1" eaLnBrk="1" hangingPunct="1">
              <a:defRPr/>
            </a:pPr>
            <a:r>
              <a:rPr lang="en-US" smtClean="0"/>
              <a:t>Clustering based</a:t>
            </a:r>
          </a:p>
          <a:p>
            <a:pPr lvl="4" eaLnBrk="1" hangingPunct="1">
              <a:buFont typeface="Wingdings" panose="05000000000000000000" pitchFamily="2" charset="2"/>
              <a:buNone/>
              <a:defRPr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82113237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smtClean="0"/>
              <a:t>Nearest-Neighbor Based Approach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153400" cy="4495800"/>
          </a:xfrm>
        </p:spPr>
        <p:txBody>
          <a:bodyPr>
            <a:normAutofit fontScale="92500" lnSpcReduction="20000"/>
          </a:bodyPr>
          <a:lstStyle/>
          <a:p>
            <a:pPr marL="342900" indent="-342900"/>
            <a:r>
              <a:rPr lang="en-US" dirty="0" smtClean="0"/>
              <a:t>Approach:</a:t>
            </a:r>
          </a:p>
          <a:p>
            <a:pPr marL="742950" lvl="1" indent="-285750"/>
            <a:r>
              <a:rPr lang="en-US" dirty="0" smtClean="0"/>
              <a:t>Compute the distance between every pair of data points</a:t>
            </a:r>
          </a:p>
          <a:p>
            <a:pPr lvl="4"/>
            <a:r>
              <a:rPr lang="en-US" dirty="0" smtClean="0"/>
              <a:t>Outlier score of an object is given by the distance to its k-nearest neighbor</a:t>
            </a:r>
          </a:p>
          <a:p>
            <a:pPr marL="742950" lvl="1" indent="-285750"/>
            <a:r>
              <a:rPr lang="en-US" dirty="0" smtClean="0"/>
              <a:t>There are various ways to define outliers:</a:t>
            </a:r>
          </a:p>
          <a:p>
            <a:pPr marL="1143000" lvl="2"/>
            <a:r>
              <a:rPr lang="en-US" dirty="0" smtClean="0"/>
              <a:t>Data points for which there are fewer than </a:t>
            </a:r>
            <a:r>
              <a:rPr lang="en-US" i="1" dirty="0" smtClean="0"/>
              <a:t>p</a:t>
            </a:r>
            <a:r>
              <a:rPr lang="en-US" dirty="0" smtClean="0"/>
              <a:t> neighboring points within a distance </a:t>
            </a:r>
            <a:r>
              <a:rPr lang="en-US" i="1" dirty="0" smtClean="0"/>
              <a:t>D</a:t>
            </a:r>
          </a:p>
          <a:p>
            <a:pPr lvl="4"/>
            <a:endParaRPr lang="en-US" dirty="0" smtClean="0"/>
          </a:p>
          <a:p>
            <a:pPr marL="1143000" lvl="2"/>
            <a:r>
              <a:rPr lang="en-US" u="sng" dirty="0" smtClean="0"/>
              <a:t>The top n data points whose distance to the </a:t>
            </a:r>
            <a:r>
              <a:rPr lang="en-US" u="sng" dirty="0" err="1" smtClean="0"/>
              <a:t>kth</a:t>
            </a:r>
            <a:r>
              <a:rPr lang="en-US" u="sng" dirty="0" smtClean="0"/>
              <a:t> nearest neighbor is greatest</a:t>
            </a:r>
          </a:p>
          <a:p>
            <a:pPr lvl="4"/>
            <a:endParaRPr lang="en-US" dirty="0" smtClean="0"/>
          </a:p>
          <a:p>
            <a:pPr marL="1143000" lvl="2"/>
            <a:r>
              <a:rPr lang="en-US" dirty="0" smtClean="0"/>
              <a:t>The top n data points whose average distance to the k nearest neighbors is greatest </a:t>
            </a:r>
          </a:p>
          <a:p>
            <a:pPr marL="1143000" lvl="2">
              <a:buFont typeface="Wingdings" pitchFamily="2" charset="2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8125077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smtClean="0"/>
              <a:t>Nearest-Neighbor Based Approach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1676400"/>
            <a:ext cx="4194175" cy="46720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09600" y="19050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K=5</a:t>
            </a:r>
          </a:p>
        </p:txBody>
      </p:sp>
    </p:spTree>
    <p:extLst>
      <p:ext uri="{BB962C8B-B14F-4D97-AF65-F5344CB8AC3E}">
        <p14:creationId xmlns:p14="http://schemas.microsoft.com/office/powerpoint/2010/main" val="3977443280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smtClean="0"/>
              <a:t>Nearest-Neighbor Based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05000"/>
            <a:ext cx="1295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Approach highly sensitive to choice of K</a:t>
            </a:r>
          </a:p>
          <a:p>
            <a:r>
              <a:rPr lang="en-US" dirty="0" smtClean="0"/>
              <a:t>K=1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5600" y="1676400"/>
            <a:ext cx="4152900" cy="46831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88931319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smtClean="0"/>
              <a:t>Nearest-Neighbor Based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05001"/>
            <a:ext cx="1295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Approach highly sensitive to choice of K</a:t>
            </a:r>
          </a:p>
          <a:p>
            <a:r>
              <a:rPr lang="en-US" dirty="0" smtClean="0"/>
              <a:t>K=5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1752600"/>
            <a:ext cx="4402137" cy="48402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609600" y="3505200"/>
            <a:ext cx="1295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All points in smaller cluster have high Outlier Score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457200" y="5334000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How to reduce sensitivity on K?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6211669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Complexity?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827024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smtClean="0"/>
              <a:t>Nearest-Neighbor Based Approach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153400" cy="4495800"/>
          </a:xfrm>
        </p:spPr>
        <p:txBody>
          <a:bodyPr>
            <a:normAutofit/>
          </a:bodyPr>
          <a:lstStyle/>
          <a:p>
            <a:pPr marL="342900" indent="-342900"/>
            <a:r>
              <a:rPr lang="en-US" dirty="0" smtClean="0"/>
              <a:t>Strengths &amp; Weaknesses</a:t>
            </a:r>
          </a:p>
          <a:p>
            <a:pPr lvl="1" indent="-342900">
              <a:buNone/>
            </a:pPr>
            <a:r>
              <a:rPr lang="en-US" dirty="0" smtClean="0"/>
              <a:t>+ simple </a:t>
            </a:r>
          </a:p>
          <a:p>
            <a:pPr lvl="1" indent="-342900">
              <a:buFontTx/>
              <a:buChar char="-"/>
            </a:pPr>
            <a:r>
              <a:rPr lang="en-US" dirty="0" smtClean="0"/>
              <a:t>Complexity O(m</a:t>
            </a:r>
            <a:r>
              <a:rPr lang="en-US" baseline="30000" dirty="0" smtClean="0"/>
              <a:t>2</a:t>
            </a:r>
            <a:r>
              <a:rPr lang="en-US" dirty="0" smtClean="0"/>
              <a:t>)</a:t>
            </a:r>
          </a:p>
          <a:p>
            <a:pPr lvl="1" indent="-342900">
              <a:buFontTx/>
              <a:buChar char="-"/>
            </a:pPr>
            <a:r>
              <a:rPr lang="en-US" dirty="0" smtClean="0"/>
              <a:t>Sensitive to choice of parameters</a:t>
            </a:r>
          </a:p>
          <a:p>
            <a:pPr lvl="1" indent="-342900">
              <a:buFontTx/>
              <a:buChar char="-"/>
            </a:pPr>
            <a:r>
              <a:rPr lang="en-US" dirty="0" smtClean="0"/>
              <a:t>Wide density variations not handles properly (global thresholds are used)</a:t>
            </a:r>
          </a:p>
          <a:p>
            <a:pPr lvl="1"/>
            <a:r>
              <a:rPr lang="en-US" dirty="0"/>
              <a:t>Distance becomes less meaningful in </a:t>
            </a:r>
            <a:r>
              <a:rPr lang="en-US" dirty="0" smtClean="0"/>
              <a:t>high dimensional space</a:t>
            </a:r>
          </a:p>
          <a:p>
            <a:pPr marL="1143000" lvl="2">
              <a:buFont typeface="Wingdings" pitchFamily="2" charset="2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60042558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smtClean="0"/>
              <a:t>Nearest-Neighbor Based Approach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1676400"/>
            <a:ext cx="4110037" cy="4714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03607274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Density‐Based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Density‐based Outlier: </a:t>
            </a:r>
            <a:r>
              <a:rPr lang="en-US" dirty="0"/>
              <a:t>The outlier score of an </a:t>
            </a:r>
            <a:r>
              <a:rPr lang="en-US" dirty="0" smtClean="0"/>
              <a:t>object is </a:t>
            </a:r>
            <a:r>
              <a:rPr lang="en-US" dirty="0"/>
              <a:t>the inverse of the density around the object.</a:t>
            </a:r>
          </a:p>
          <a:p>
            <a:pPr lvl="1"/>
            <a:r>
              <a:rPr lang="en-US" dirty="0" smtClean="0"/>
              <a:t>Can </a:t>
            </a:r>
            <a:r>
              <a:rPr lang="en-US" dirty="0"/>
              <a:t>be defined in terms of the k nearest neighbors</a:t>
            </a:r>
          </a:p>
          <a:p>
            <a:pPr lvl="1"/>
            <a:r>
              <a:rPr lang="en-US" dirty="0" smtClean="0"/>
              <a:t>One </a:t>
            </a:r>
            <a:r>
              <a:rPr lang="en-US" dirty="0"/>
              <a:t>definition: Inverse of distance to kth neighbor</a:t>
            </a:r>
          </a:p>
          <a:p>
            <a:pPr lvl="1"/>
            <a:r>
              <a:rPr lang="en-US" dirty="0" smtClean="0"/>
              <a:t>Another </a:t>
            </a:r>
            <a:r>
              <a:rPr lang="en-US" dirty="0"/>
              <a:t>definition: Inverse of the average distance to k neighbors</a:t>
            </a:r>
          </a:p>
          <a:p>
            <a:pPr lvl="1"/>
            <a:r>
              <a:rPr lang="en-US" dirty="0" smtClean="0"/>
              <a:t>DBSCAN </a:t>
            </a:r>
            <a:r>
              <a:rPr lang="en-US" dirty="0"/>
              <a:t>definition</a:t>
            </a:r>
          </a:p>
          <a:p>
            <a:r>
              <a:rPr lang="en-US" dirty="0" smtClean="0"/>
              <a:t>If </a:t>
            </a:r>
            <a:r>
              <a:rPr lang="en-US" dirty="0"/>
              <a:t>there are regions of different density, this </a:t>
            </a:r>
            <a:r>
              <a:rPr lang="en-US" dirty="0" smtClean="0"/>
              <a:t>approach can </a:t>
            </a:r>
            <a:r>
              <a:rPr lang="en-US" dirty="0"/>
              <a:t>have problems</a:t>
            </a:r>
          </a:p>
        </p:txBody>
      </p:sp>
    </p:spTree>
    <p:extLst>
      <p:ext uri="{BB962C8B-B14F-4D97-AF65-F5344CB8AC3E}">
        <p14:creationId xmlns:p14="http://schemas.microsoft.com/office/powerpoint/2010/main" val="2508340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Relative Density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318" y="1143000"/>
            <a:ext cx="8229600" cy="4525963"/>
          </a:xfrm>
        </p:spPr>
        <p:txBody>
          <a:bodyPr/>
          <a:lstStyle/>
          <a:p>
            <a:r>
              <a:rPr lang="en-US" dirty="0"/>
              <a:t>Consider the density of a point relative to that of its </a:t>
            </a:r>
            <a:r>
              <a:rPr lang="en-US" dirty="0" smtClean="0"/>
              <a:t>k nearest </a:t>
            </a:r>
            <a:r>
              <a:rPr lang="en-US" dirty="0"/>
              <a:t>neighbors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19" y="2286000"/>
            <a:ext cx="8943881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69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5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744538"/>
            <a:ext cx="7939087" cy="536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8939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Density-based: LOF approach</a:t>
            </a:r>
          </a:p>
        </p:txBody>
      </p:sp>
      <p:sp>
        <p:nvSpPr>
          <p:cNvPr id="1815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763000" cy="2133600"/>
          </a:xfrm>
        </p:spPr>
        <p:txBody>
          <a:bodyPr/>
          <a:lstStyle/>
          <a:p>
            <a:pPr marL="342900" indent="-342900"/>
            <a:r>
              <a:rPr lang="en-US" sz="2400" dirty="0"/>
              <a:t>For each point, compute the density of its local neighborhood</a:t>
            </a:r>
          </a:p>
          <a:p>
            <a:pPr marL="342900" indent="-342900"/>
            <a:r>
              <a:rPr lang="en-US" sz="2400" dirty="0"/>
              <a:t>Compute local outlier factor (LOF) of a sample </a:t>
            </a:r>
            <a:r>
              <a:rPr lang="en-US" sz="2400" i="1" dirty="0"/>
              <a:t>p</a:t>
            </a:r>
            <a:r>
              <a:rPr lang="en-US" sz="2400" dirty="0"/>
              <a:t> as the average of the ratios of the density of sample </a:t>
            </a:r>
            <a:r>
              <a:rPr lang="en-US" sz="2400" i="1" dirty="0"/>
              <a:t>p</a:t>
            </a:r>
            <a:r>
              <a:rPr lang="en-US" sz="2400" dirty="0"/>
              <a:t> and the density of its nearest neighbors</a:t>
            </a:r>
          </a:p>
          <a:p>
            <a:pPr marL="342900" indent="-342900"/>
            <a:r>
              <a:rPr lang="en-US" sz="2400" dirty="0"/>
              <a:t>Outliers are points with largest LOF value</a:t>
            </a: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533400" y="3505200"/>
            <a:ext cx="3505200" cy="3001962"/>
            <a:chOff x="1626" y="1932"/>
            <a:chExt cx="3476" cy="2930"/>
          </a:xfrm>
        </p:grpSpPr>
        <p:pic>
          <p:nvPicPr>
            <p:cNvPr id="1815557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626" y="1932"/>
              <a:ext cx="3476" cy="29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15558" name="Text Box 6"/>
            <p:cNvSpPr txBox="1">
              <a:spLocks noChangeAspect="1" noChangeArrowheads="1"/>
            </p:cNvSpPr>
            <p:nvPr/>
          </p:nvSpPr>
          <p:spPr bwMode="auto">
            <a:xfrm>
              <a:off x="2460" y="3978"/>
              <a:ext cx="300" cy="48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i="1">
                  <a:solidFill>
                    <a:schemeClr val="hlink"/>
                  </a:solidFill>
                  <a:latin typeface="Times New Roman" pitchFamily="18" charset="0"/>
                </a:rPr>
                <a:t>  p</a:t>
              </a:r>
              <a:r>
                <a:rPr lang="en-US" i="1" baseline="-25000">
                  <a:solidFill>
                    <a:schemeClr val="hlink"/>
                  </a:solidFill>
                  <a:latin typeface="Times New Roman" pitchFamily="18" charset="0"/>
                </a:rPr>
                <a:t>2</a:t>
              </a:r>
              <a:endParaRPr lang="en-US" i="1">
                <a:solidFill>
                  <a:schemeClr val="hlink"/>
                </a:solidFill>
                <a:latin typeface="Times New Roman" pitchFamily="18" charset="0"/>
              </a:endParaRPr>
            </a:p>
            <a:p>
              <a:r>
                <a:rPr lang="en-US" sz="1000">
                  <a:solidFill>
                    <a:schemeClr val="hlink"/>
                  </a:solidFill>
                  <a:latin typeface="Times New Roman" pitchFamily="18" charset="0"/>
                  <a:sym typeface="Symbol" pitchFamily="18" charset="2"/>
                </a:rPr>
                <a:t></a:t>
              </a:r>
              <a:endParaRPr lang="en-US" sz="1600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  <p:sp>
          <p:nvSpPr>
            <p:cNvPr id="1815559" name="Text Box 7"/>
            <p:cNvSpPr txBox="1">
              <a:spLocks noChangeAspect="1" noChangeArrowheads="1"/>
            </p:cNvSpPr>
            <p:nvPr/>
          </p:nvSpPr>
          <p:spPr bwMode="auto">
            <a:xfrm>
              <a:off x="3582" y="4194"/>
              <a:ext cx="438" cy="5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i="1">
                  <a:solidFill>
                    <a:schemeClr val="hlink"/>
                  </a:solidFill>
                  <a:latin typeface="Times New Roman" pitchFamily="18" charset="0"/>
                </a:rPr>
                <a:t>  p</a:t>
              </a:r>
              <a:r>
                <a:rPr lang="en-US" i="1" baseline="-25000">
                  <a:solidFill>
                    <a:schemeClr val="hlink"/>
                  </a:solidFill>
                  <a:latin typeface="Times New Roman" pitchFamily="18" charset="0"/>
                </a:rPr>
                <a:t>1</a:t>
              </a:r>
              <a:endParaRPr lang="en-US" i="1">
                <a:solidFill>
                  <a:schemeClr val="hlink"/>
                </a:solidFill>
                <a:latin typeface="Times New Roman" pitchFamily="18" charset="0"/>
              </a:endParaRPr>
            </a:p>
            <a:p>
              <a:r>
                <a:rPr lang="en-US" sz="1000">
                  <a:solidFill>
                    <a:schemeClr val="hlink"/>
                  </a:solidFill>
                  <a:latin typeface="Times New Roman" pitchFamily="18" charset="0"/>
                  <a:sym typeface="Symbol" pitchFamily="18" charset="2"/>
                </a:rPr>
                <a:t></a:t>
              </a:r>
              <a:endParaRPr lang="en-US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</p:grpSp>
      <p:sp>
        <p:nvSpPr>
          <p:cNvPr id="1815560" name="Text Box 8"/>
          <p:cNvSpPr txBox="1">
            <a:spLocks noChangeArrowheads="1"/>
          </p:cNvSpPr>
          <p:nvPr/>
        </p:nvSpPr>
        <p:spPr bwMode="auto">
          <a:xfrm>
            <a:off x="5181600" y="4114800"/>
            <a:ext cx="3352800" cy="13112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b="0">
                <a:latin typeface="Tahoma" pitchFamily="34" charset="0"/>
              </a:rPr>
              <a:t>In the NN approach, p</a:t>
            </a:r>
            <a:r>
              <a:rPr lang="en-US" sz="2000" b="0" baseline="-25000">
                <a:latin typeface="Tahoma" pitchFamily="34" charset="0"/>
              </a:rPr>
              <a:t>2</a:t>
            </a:r>
            <a:r>
              <a:rPr lang="en-US" sz="2000" b="0">
                <a:latin typeface="Tahoma" pitchFamily="34" charset="0"/>
              </a:rPr>
              <a:t> is not considered as outlier, while LOF approach find both p</a:t>
            </a:r>
            <a:r>
              <a:rPr lang="en-US" sz="2000" b="0" baseline="-25000">
                <a:latin typeface="Tahoma" pitchFamily="34" charset="0"/>
              </a:rPr>
              <a:t>1</a:t>
            </a:r>
            <a:r>
              <a:rPr lang="en-US" sz="2000" b="0">
                <a:latin typeface="Tahoma" pitchFamily="34" charset="0"/>
              </a:rPr>
              <a:t> and p</a:t>
            </a:r>
            <a:r>
              <a:rPr lang="en-US" sz="2000" b="0" baseline="-25000">
                <a:latin typeface="Tahoma" pitchFamily="34" charset="0"/>
              </a:rPr>
              <a:t>2 </a:t>
            </a:r>
            <a:r>
              <a:rPr lang="en-US" sz="2000" b="0">
                <a:latin typeface="Tahoma" pitchFamily="34" charset="0"/>
              </a:rPr>
              <a:t>as outliers</a:t>
            </a:r>
          </a:p>
        </p:txBody>
      </p:sp>
    </p:spTree>
    <p:extLst>
      <p:ext uri="{BB962C8B-B14F-4D97-AF65-F5344CB8AC3E}">
        <p14:creationId xmlns:p14="http://schemas.microsoft.com/office/powerpoint/2010/main" val="20281479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Strengths/Weaknesses of Density‐Based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</a:t>
            </a:r>
          </a:p>
          <a:p>
            <a:r>
              <a:rPr lang="pt-BR" dirty="0" smtClean="0"/>
              <a:t>Expensive </a:t>
            </a:r>
            <a:r>
              <a:rPr lang="pt-BR" dirty="0"/>
              <a:t>– O(n2)</a:t>
            </a:r>
          </a:p>
          <a:p>
            <a:r>
              <a:rPr lang="en-US" dirty="0" smtClean="0"/>
              <a:t>Sensitive </a:t>
            </a:r>
            <a:r>
              <a:rPr lang="en-US" dirty="0"/>
              <a:t>to parameters</a:t>
            </a:r>
          </a:p>
          <a:p>
            <a:r>
              <a:rPr lang="en-US" dirty="0" smtClean="0"/>
              <a:t>Density </a:t>
            </a:r>
            <a:r>
              <a:rPr lang="en-US" dirty="0"/>
              <a:t>becomes less meaningful in </a:t>
            </a:r>
            <a:r>
              <a:rPr lang="en-US" dirty="0" smtClean="0"/>
              <a:t>high dimensional space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218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mtClean="0">
                <a:ea typeface="SimSun" pitchFamily="2" charset="-122"/>
              </a:rPr>
              <a:t>Clustering-Based</a:t>
            </a:r>
          </a:p>
        </p:txBody>
      </p:sp>
      <p:sp>
        <p:nvSpPr>
          <p:cNvPr id="598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5257800" cy="453072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zh-CN" smtClean="0">
                <a:ea typeface="SimSun" pitchFamily="2" charset="-122"/>
              </a:rPr>
              <a:t>Basic idea:</a:t>
            </a:r>
          </a:p>
          <a:p>
            <a:pPr lvl="1" eaLnBrk="1" hangingPunct="1">
              <a:defRPr/>
            </a:pPr>
            <a:r>
              <a:rPr lang="en-US" altLang="zh-CN" smtClean="0">
                <a:ea typeface="SimSun" pitchFamily="2" charset="-122"/>
              </a:rPr>
              <a:t>Cluster the data into groups of different density</a:t>
            </a:r>
          </a:p>
          <a:p>
            <a:pPr lvl="1" eaLnBrk="1" hangingPunct="1">
              <a:defRPr/>
            </a:pPr>
            <a:r>
              <a:rPr lang="en-US" altLang="zh-CN" smtClean="0">
                <a:ea typeface="SimSun" pitchFamily="2" charset="-122"/>
              </a:rPr>
              <a:t>Choose points in small cluster as </a:t>
            </a:r>
            <a:r>
              <a:rPr lang="en-US" altLang="zh-CN" smtClean="0">
                <a:ea typeface="SimSun" pitchFamily="2" charset="-122"/>
                <a:sym typeface="Wingdings" pitchFamily="2" charset="2"/>
              </a:rPr>
              <a:t>candidate outliers</a:t>
            </a:r>
            <a:endParaRPr lang="en-US" altLang="zh-CN" smtClean="0">
              <a:ea typeface="SimSun" pitchFamily="2" charset="-122"/>
            </a:endParaRPr>
          </a:p>
          <a:p>
            <a:pPr lvl="1" eaLnBrk="1" hangingPunct="1">
              <a:defRPr/>
            </a:pPr>
            <a:r>
              <a:rPr lang="en-US" altLang="zh-CN" smtClean="0">
                <a:ea typeface="SimSun" pitchFamily="2" charset="-122"/>
              </a:rPr>
              <a:t>Compute the distance between candidate points and non-candidate clusters. </a:t>
            </a:r>
          </a:p>
          <a:p>
            <a:pPr lvl="2" eaLnBrk="1" hangingPunct="1">
              <a:defRPr/>
            </a:pPr>
            <a:r>
              <a:rPr lang="en-US" altLang="zh-CN" smtClean="0">
                <a:ea typeface="SimSun" pitchFamily="2" charset="-122"/>
              </a:rPr>
              <a:t>If candidate points are far from all other non-candidate points, they are outliers</a:t>
            </a:r>
          </a:p>
        </p:txBody>
      </p:sp>
      <p:grpSp>
        <p:nvGrpSpPr>
          <p:cNvPr id="59396" name="Group 4"/>
          <p:cNvGrpSpPr>
            <a:grpSpLocks/>
          </p:cNvGrpSpPr>
          <p:nvPr/>
        </p:nvGrpSpPr>
        <p:grpSpPr bwMode="auto">
          <a:xfrm>
            <a:off x="5410200" y="1905000"/>
            <a:ext cx="3733800" cy="3074988"/>
            <a:chOff x="3264" y="1231"/>
            <a:chExt cx="2352" cy="1937"/>
          </a:xfrm>
        </p:grpSpPr>
        <p:pic>
          <p:nvPicPr>
            <p:cNvPr id="59397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4" y="1231"/>
              <a:ext cx="2352" cy="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398" name="Oval 6"/>
            <p:cNvSpPr>
              <a:spLocks noChangeArrowheads="1"/>
            </p:cNvSpPr>
            <p:nvPr/>
          </p:nvSpPr>
          <p:spPr bwMode="auto">
            <a:xfrm>
              <a:off x="3552" y="2011"/>
              <a:ext cx="112" cy="102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59399" name="Oval 7"/>
            <p:cNvSpPr>
              <a:spLocks noChangeArrowheads="1"/>
            </p:cNvSpPr>
            <p:nvPr/>
          </p:nvSpPr>
          <p:spPr bwMode="auto">
            <a:xfrm>
              <a:off x="4752" y="1957"/>
              <a:ext cx="112" cy="102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59400" name="Oval 8"/>
            <p:cNvSpPr>
              <a:spLocks noChangeArrowheads="1"/>
            </p:cNvSpPr>
            <p:nvPr/>
          </p:nvSpPr>
          <p:spPr bwMode="auto">
            <a:xfrm>
              <a:off x="5424" y="2683"/>
              <a:ext cx="112" cy="102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59401" name="Oval 9"/>
            <p:cNvSpPr>
              <a:spLocks noChangeArrowheads="1"/>
            </p:cNvSpPr>
            <p:nvPr/>
          </p:nvSpPr>
          <p:spPr bwMode="auto">
            <a:xfrm>
              <a:off x="4016" y="2779"/>
              <a:ext cx="112" cy="102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59402" name="Oval 10"/>
            <p:cNvSpPr>
              <a:spLocks noChangeArrowheads="1"/>
            </p:cNvSpPr>
            <p:nvPr/>
          </p:nvSpPr>
          <p:spPr bwMode="auto">
            <a:xfrm>
              <a:off x="3392" y="1771"/>
              <a:ext cx="112" cy="102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59403" name="Line 11"/>
            <p:cNvSpPr>
              <a:spLocks noChangeShapeType="1"/>
            </p:cNvSpPr>
            <p:nvPr/>
          </p:nvSpPr>
          <p:spPr bwMode="auto">
            <a:xfrm flipH="1">
              <a:off x="4224" y="2011"/>
              <a:ext cx="576" cy="96"/>
            </a:xfrm>
            <a:prstGeom prst="line">
              <a:avLst/>
            </a:prstGeom>
            <a:noFill/>
            <a:ln w="15875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4" name="Line 12"/>
            <p:cNvSpPr>
              <a:spLocks noChangeShapeType="1"/>
            </p:cNvSpPr>
            <p:nvPr/>
          </p:nvSpPr>
          <p:spPr bwMode="auto">
            <a:xfrm>
              <a:off x="4800" y="2011"/>
              <a:ext cx="48" cy="768"/>
            </a:xfrm>
            <a:prstGeom prst="line">
              <a:avLst/>
            </a:prstGeom>
            <a:noFill/>
            <a:ln w="15875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5" name="Line 13"/>
            <p:cNvSpPr>
              <a:spLocks noChangeShapeType="1"/>
            </p:cNvSpPr>
            <p:nvPr/>
          </p:nvSpPr>
          <p:spPr bwMode="auto">
            <a:xfrm flipV="1">
              <a:off x="4800" y="1627"/>
              <a:ext cx="384" cy="384"/>
            </a:xfrm>
            <a:prstGeom prst="line">
              <a:avLst/>
            </a:prstGeom>
            <a:noFill/>
            <a:ln w="15875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6" name="Line 14"/>
            <p:cNvSpPr>
              <a:spLocks noChangeShapeType="1"/>
            </p:cNvSpPr>
            <p:nvPr/>
          </p:nvSpPr>
          <p:spPr bwMode="auto">
            <a:xfrm>
              <a:off x="4800" y="2011"/>
              <a:ext cx="672" cy="720"/>
            </a:xfrm>
            <a:prstGeom prst="line">
              <a:avLst/>
            </a:prstGeom>
            <a:noFill/>
            <a:ln w="15875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07" name="Line 15"/>
            <p:cNvSpPr>
              <a:spLocks noChangeShapeType="1"/>
            </p:cNvSpPr>
            <p:nvPr/>
          </p:nvSpPr>
          <p:spPr bwMode="auto">
            <a:xfrm flipH="1">
              <a:off x="3744" y="2011"/>
              <a:ext cx="1056" cy="336"/>
            </a:xfrm>
            <a:prstGeom prst="line">
              <a:avLst/>
            </a:prstGeom>
            <a:noFill/>
            <a:ln w="15875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444254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Clustering‐Based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Clustering‐based Outlier: </a:t>
            </a:r>
            <a:r>
              <a:rPr lang="en-US" dirty="0" smtClean="0"/>
              <a:t>An object </a:t>
            </a:r>
            <a:r>
              <a:rPr lang="en-US" dirty="0"/>
              <a:t>is a cluster‐based outlier </a:t>
            </a:r>
            <a:r>
              <a:rPr lang="en-US" dirty="0" smtClean="0"/>
              <a:t>if it </a:t>
            </a:r>
            <a:r>
              <a:rPr lang="en-US" dirty="0"/>
              <a:t>does not strongly belong to </a:t>
            </a:r>
            <a:r>
              <a:rPr lang="en-US" dirty="0" smtClean="0"/>
              <a:t>any cluster</a:t>
            </a:r>
            <a:endParaRPr lang="en-US" dirty="0"/>
          </a:p>
          <a:p>
            <a:pPr lvl="1"/>
            <a:r>
              <a:rPr lang="en-US" dirty="0" smtClean="0"/>
              <a:t>For </a:t>
            </a:r>
            <a:r>
              <a:rPr lang="en-US" dirty="0"/>
              <a:t>prototype‐based clusters, </a:t>
            </a:r>
            <a:r>
              <a:rPr lang="en-US" dirty="0" smtClean="0"/>
              <a:t>an object </a:t>
            </a:r>
            <a:r>
              <a:rPr lang="en-US" dirty="0"/>
              <a:t>is an outlier if it is not </a:t>
            </a:r>
            <a:r>
              <a:rPr lang="en-US" dirty="0" smtClean="0"/>
              <a:t>close enough </a:t>
            </a:r>
            <a:r>
              <a:rPr lang="en-US" dirty="0"/>
              <a:t>to a cluster center</a:t>
            </a:r>
          </a:p>
          <a:p>
            <a:pPr lvl="1"/>
            <a:r>
              <a:rPr lang="en-US" dirty="0" smtClean="0"/>
              <a:t>For </a:t>
            </a:r>
            <a:r>
              <a:rPr lang="en-US" dirty="0"/>
              <a:t>density‐based clusters, an </a:t>
            </a:r>
            <a:r>
              <a:rPr lang="en-US" dirty="0" smtClean="0"/>
              <a:t>object is </a:t>
            </a:r>
            <a:r>
              <a:rPr lang="en-US" dirty="0"/>
              <a:t>an outlier if its density is too low</a:t>
            </a:r>
          </a:p>
          <a:p>
            <a:pPr lvl="1"/>
            <a:r>
              <a:rPr lang="en-US" dirty="0" smtClean="0"/>
              <a:t>For </a:t>
            </a:r>
            <a:r>
              <a:rPr lang="en-US" dirty="0"/>
              <a:t>graph‐based clusters, an object </a:t>
            </a:r>
            <a:r>
              <a:rPr lang="en-US" dirty="0" smtClean="0"/>
              <a:t>is an </a:t>
            </a:r>
            <a:r>
              <a:rPr lang="en-US" dirty="0"/>
              <a:t>outlier if it is not well connected</a:t>
            </a:r>
          </a:p>
          <a:p>
            <a:r>
              <a:rPr lang="en-US" dirty="0" smtClean="0"/>
              <a:t>Other </a:t>
            </a:r>
            <a:r>
              <a:rPr lang="en-US" dirty="0"/>
              <a:t>issues include the impact </a:t>
            </a:r>
            <a:r>
              <a:rPr lang="en-US" dirty="0" smtClean="0"/>
              <a:t>of outliers </a:t>
            </a:r>
            <a:r>
              <a:rPr lang="en-US" dirty="0"/>
              <a:t>on the clusters and </a:t>
            </a:r>
            <a:r>
              <a:rPr lang="en-US" dirty="0" smtClean="0"/>
              <a:t>the number </a:t>
            </a:r>
            <a:r>
              <a:rPr lang="en-US" dirty="0"/>
              <a:t>of clusters</a:t>
            </a:r>
          </a:p>
        </p:txBody>
      </p:sp>
    </p:spTree>
    <p:extLst>
      <p:ext uri="{BB962C8B-B14F-4D97-AF65-F5344CB8AC3E}">
        <p14:creationId xmlns:p14="http://schemas.microsoft.com/office/powerpoint/2010/main" val="41631355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6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88" y="744538"/>
            <a:ext cx="7107237" cy="536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28785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7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581025"/>
            <a:ext cx="7065963" cy="569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15484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Strengths/Weaknesses of Cluster‐Based Approaches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</a:t>
            </a:r>
          </a:p>
          <a:p>
            <a:r>
              <a:rPr lang="en-US" dirty="0" smtClean="0"/>
              <a:t>Many </a:t>
            </a:r>
            <a:r>
              <a:rPr lang="en-US" dirty="0"/>
              <a:t>clustering techniques can be used</a:t>
            </a:r>
          </a:p>
          <a:p>
            <a:r>
              <a:rPr lang="en-US" dirty="0" smtClean="0"/>
              <a:t>Can </a:t>
            </a:r>
            <a:r>
              <a:rPr lang="en-US" dirty="0"/>
              <a:t>be difficult to decide on a clustering technique</a:t>
            </a:r>
          </a:p>
          <a:p>
            <a:r>
              <a:rPr lang="en-US" dirty="0" smtClean="0"/>
              <a:t>Can </a:t>
            </a:r>
            <a:r>
              <a:rPr lang="en-US" dirty="0"/>
              <a:t>be difficult to decide on number of clusters</a:t>
            </a:r>
          </a:p>
          <a:p>
            <a:r>
              <a:rPr lang="en-US" dirty="0" smtClean="0"/>
              <a:t>Outliers </a:t>
            </a:r>
            <a:r>
              <a:rPr lang="en-US" dirty="0"/>
              <a:t>can distort the clusters</a:t>
            </a:r>
          </a:p>
        </p:txBody>
      </p:sp>
    </p:spTree>
    <p:extLst>
      <p:ext uri="{BB962C8B-B14F-4D97-AF65-F5344CB8AC3E}">
        <p14:creationId xmlns:p14="http://schemas.microsoft.com/office/powerpoint/2010/main" val="457031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0"/>
            <a:ext cx="87630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Outliers in Lower Dimensional Projection</a:t>
            </a:r>
          </a:p>
        </p:txBody>
      </p:sp>
      <p:sp>
        <p:nvSpPr>
          <p:cNvPr id="1818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dirty="0"/>
              <a:t>In high-dimensional space, data is sparse and notion of proximity becomes meaningless</a:t>
            </a:r>
          </a:p>
          <a:p>
            <a:pPr marL="742950" lvl="1" indent="-285750"/>
            <a:r>
              <a:rPr lang="en-US" dirty="0"/>
              <a:t>Every point is an almost equally good outlier from the perspective of proximity-based definitions</a:t>
            </a:r>
          </a:p>
          <a:p>
            <a:pPr marL="742950" lvl="1" indent="-285750"/>
            <a:endParaRPr lang="en-US" dirty="0"/>
          </a:p>
          <a:p>
            <a:pPr marL="342900" indent="-342900"/>
            <a:r>
              <a:rPr lang="en-US" dirty="0"/>
              <a:t>Lower-dimensional projection methods</a:t>
            </a:r>
          </a:p>
          <a:p>
            <a:pPr marL="742950" lvl="1" indent="-285750"/>
            <a:r>
              <a:rPr lang="en-US" dirty="0"/>
              <a:t>A point is an outlier if in some lower dimensional projection, it is present in a local region of abnormally low density</a:t>
            </a:r>
          </a:p>
        </p:txBody>
      </p:sp>
    </p:spTree>
    <p:extLst>
      <p:ext uri="{BB962C8B-B14F-4D97-AF65-F5344CB8AC3E}">
        <p14:creationId xmlns:p14="http://schemas.microsoft.com/office/powerpoint/2010/main" val="38311699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0"/>
            <a:ext cx="87630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Outliers in Lower Dimensional Projection</a:t>
            </a:r>
          </a:p>
        </p:txBody>
      </p:sp>
      <p:sp>
        <p:nvSpPr>
          <p:cNvPr id="1830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/>
              <a:t>Divide each attribute into </a:t>
            </a:r>
            <a:r>
              <a:rPr lang="en-US">
                <a:sym typeface="Symbol" pitchFamily="18" charset="2"/>
              </a:rPr>
              <a:t> equal-depth intervals</a:t>
            </a:r>
          </a:p>
          <a:p>
            <a:pPr lvl="1">
              <a:lnSpc>
                <a:spcPct val="90000"/>
              </a:lnSpc>
            </a:pPr>
            <a:r>
              <a:rPr lang="en-US">
                <a:sym typeface="Symbol" pitchFamily="18" charset="2"/>
              </a:rPr>
              <a:t>Each interval contains a fraction f = 1/ of the records</a:t>
            </a:r>
          </a:p>
          <a:p>
            <a:pPr>
              <a:lnSpc>
                <a:spcPct val="90000"/>
              </a:lnSpc>
            </a:pPr>
            <a:r>
              <a:rPr lang="en-US">
                <a:sym typeface="Symbol" pitchFamily="18" charset="2"/>
              </a:rPr>
              <a:t>Consider a k-dimensional cube created by picking grid ranges from k different dimensions</a:t>
            </a:r>
          </a:p>
          <a:p>
            <a:pPr lvl="1">
              <a:lnSpc>
                <a:spcPct val="90000"/>
              </a:lnSpc>
            </a:pPr>
            <a:r>
              <a:rPr lang="en-US">
                <a:sym typeface="Symbol" pitchFamily="18" charset="2"/>
              </a:rPr>
              <a:t>If attributes are independent, we expect region to contain a fraction f</a:t>
            </a:r>
            <a:r>
              <a:rPr lang="en-US" baseline="30000">
                <a:sym typeface="Symbol" pitchFamily="18" charset="2"/>
              </a:rPr>
              <a:t>k</a:t>
            </a:r>
            <a:r>
              <a:rPr lang="en-US">
                <a:sym typeface="Symbol" pitchFamily="18" charset="2"/>
              </a:rPr>
              <a:t> of the records</a:t>
            </a:r>
          </a:p>
          <a:p>
            <a:pPr lvl="1">
              <a:lnSpc>
                <a:spcPct val="90000"/>
              </a:lnSpc>
            </a:pPr>
            <a:r>
              <a:rPr lang="en-US">
                <a:sym typeface="Symbol" pitchFamily="18" charset="2"/>
              </a:rPr>
              <a:t>If there are N points, we can measure sparsity of a cube D as:</a:t>
            </a:r>
          </a:p>
          <a:p>
            <a:pPr lvl="1">
              <a:lnSpc>
                <a:spcPct val="90000"/>
              </a:lnSpc>
            </a:pPr>
            <a:endParaRPr lang="en-US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endParaRPr lang="en-US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>
                <a:sym typeface="Symbol" pitchFamily="18" charset="2"/>
              </a:rPr>
              <a:t>Negative sparsity indicates cube contains smaller number of points than expected</a:t>
            </a:r>
          </a:p>
        </p:txBody>
      </p:sp>
      <p:pic>
        <p:nvPicPr>
          <p:cNvPr id="1830916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048000" y="4167188"/>
            <a:ext cx="3657600" cy="862012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2656381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2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846280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N=100, </a:t>
            </a:r>
            <a:r>
              <a:rPr lang="en-US">
                <a:sym typeface="Symbol" pitchFamily="18" charset="2"/>
              </a:rPr>
              <a:t> = 5, f = 1/5 = 0.2, N  f</a:t>
            </a:r>
            <a:r>
              <a:rPr lang="en-US" baseline="30000">
                <a:sym typeface="Symbol" pitchFamily="18" charset="2"/>
              </a:rPr>
              <a:t>2</a:t>
            </a:r>
            <a:r>
              <a:rPr lang="en-US">
                <a:sym typeface="Symbol" pitchFamily="18" charset="2"/>
              </a:rPr>
              <a:t> = 4</a:t>
            </a:r>
          </a:p>
        </p:txBody>
      </p:sp>
      <p:pic>
        <p:nvPicPr>
          <p:cNvPr id="1846286" name="Picture 1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/>
          <a:srcRect l="11197" t="4977" r="6688" b="7932"/>
          <a:stretch>
            <a:fillRect/>
          </a:stretch>
        </p:blipFill>
        <p:spPr>
          <a:xfrm>
            <a:off x="1600200" y="2209800"/>
            <a:ext cx="5562600" cy="4424363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226825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Base Rate Fallacy</a:t>
            </a:r>
          </a:p>
        </p:txBody>
      </p:sp>
      <p:sp>
        <p:nvSpPr>
          <p:cNvPr id="18339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95400"/>
            <a:ext cx="4083050" cy="5181600"/>
          </a:xfrm>
        </p:spPr>
        <p:txBody>
          <a:bodyPr/>
          <a:lstStyle/>
          <a:p>
            <a:r>
              <a:rPr lang="en-US" sz="2400" dirty="0" err="1"/>
              <a:t>Bayes</a:t>
            </a:r>
            <a:r>
              <a:rPr lang="en-US" sz="2400" dirty="0"/>
              <a:t> theorem: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More generally: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1833988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057400" y="3886200"/>
            <a:ext cx="6248400" cy="1468438"/>
          </a:xfrm>
          <a:noFill/>
          <a:ln/>
        </p:spPr>
      </p:pic>
      <p:pic>
        <p:nvPicPr>
          <p:cNvPr id="1833990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209800" y="1828800"/>
            <a:ext cx="3886200" cy="1198563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2900480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Base Rate Fallacy (Axelsson, 1999)</a:t>
            </a:r>
          </a:p>
        </p:txBody>
      </p:sp>
      <p:pic>
        <p:nvPicPr>
          <p:cNvPr id="183706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762000" y="1447800"/>
            <a:ext cx="7543800" cy="4389438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354606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Base Rate Fallacy</a:t>
            </a:r>
          </a:p>
        </p:txBody>
      </p:sp>
      <p:sp>
        <p:nvSpPr>
          <p:cNvPr id="184013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229600" cy="4525963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Even though the test is 99% certain, your chance of having the disease is 1/100, because the population of healthy people is much larger than sick people</a:t>
            </a:r>
          </a:p>
        </p:txBody>
      </p:sp>
      <p:pic>
        <p:nvPicPr>
          <p:cNvPr id="1840132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324600" cy="1017588"/>
          </a:xfrm>
          <a:noFill/>
          <a:ln/>
        </p:spPr>
      </p:pic>
      <p:pic>
        <p:nvPicPr>
          <p:cNvPr id="1840134" name="Picture 6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066800" y="3048000"/>
            <a:ext cx="7086600" cy="1601788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749555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4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533400"/>
          </a:xfrm>
        </p:spPr>
        <p:txBody>
          <a:bodyPr>
            <a:normAutofit fontScale="90000"/>
          </a:bodyPr>
          <a:lstStyle/>
          <a:p>
            <a:r>
              <a:rPr lang="en-US"/>
              <a:t>Base Rate Fallacy in Intrusion Detection</a:t>
            </a:r>
          </a:p>
        </p:txBody>
      </p:sp>
      <p:sp>
        <p:nvSpPr>
          <p:cNvPr id="185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     I: intrusive behavior, </a:t>
            </a:r>
            <a:br>
              <a:rPr lang="en-US"/>
            </a:br>
            <a:r>
              <a:rPr lang="en-US"/>
              <a:t>  </a:t>
            </a:r>
            <a:r>
              <a:rPr lang="en-US">
                <a:sym typeface="Symbol" pitchFamily="18" charset="2"/>
              </a:rPr>
              <a:t>I: non-intrusive behavior</a:t>
            </a:r>
            <a:br>
              <a:rPr lang="en-US">
                <a:sym typeface="Symbol" pitchFamily="18" charset="2"/>
              </a:rPr>
            </a:br>
            <a:r>
              <a:rPr lang="en-US">
                <a:sym typeface="Symbol" pitchFamily="18" charset="2"/>
              </a:rPr>
              <a:t>   A: alarm</a:t>
            </a:r>
            <a:br>
              <a:rPr lang="en-US">
                <a:sym typeface="Symbol" pitchFamily="18" charset="2"/>
              </a:rPr>
            </a:br>
            <a:r>
              <a:rPr lang="en-US">
                <a:sym typeface="Symbol" pitchFamily="18" charset="2"/>
              </a:rPr>
              <a:t> A: no alarm</a:t>
            </a:r>
          </a:p>
          <a:p>
            <a:pPr lvl="4"/>
            <a:endParaRPr lang="en-US">
              <a:sym typeface="Symbol" pitchFamily="18" charset="2"/>
            </a:endParaRPr>
          </a:p>
          <a:p>
            <a:r>
              <a:rPr lang="en-US">
                <a:sym typeface="Symbol" pitchFamily="18" charset="2"/>
              </a:rPr>
              <a:t>Detection rate (true positive rate): P(A|I)</a:t>
            </a:r>
          </a:p>
          <a:p>
            <a:r>
              <a:rPr lang="en-US">
                <a:sym typeface="Symbol" pitchFamily="18" charset="2"/>
              </a:rPr>
              <a:t>False alarm rate: P(A|I)</a:t>
            </a:r>
          </a:p>
          <a:p>
            <a:pPr lvl="4"/>
            <a:endParaRPr lang="en-US">
              <a:sym typeface="Symbol" pitchFamily="18" charset="2"/>
            </a:endParaRPr>
          </a:p>
          <a:p>
            <a:r>
              <a:rPr lang="en-US">
                <a:sym typeface="Symbol" pitchFamily="18" charset="2"/>
              </a:rPr>
              <a:t>Goal is to maximize both</a:t>
            </a:r>
          </a:p>
          <a:p>
            <a:pPr lvl="1"/>
            <a:r>
              <a:rPr lang="en-US">
                <a:sym typeface="Symbol" pitchFamily="18" charset="2"/>
              </a:rPr>
              <a:t>Bayesian detection rate, P(I|A) </a:t>
            </a:r>
          </a:p>
          <a:p>
            <a:pPr lvl="1"/>
            <a:r>
              <a:rPr lang="en-US">
                <a:sym typeface="Symbol" pitchFamily="18" charset="2"/>
              </a:rPr>
              <a:t>P(I|A) </a:t>
            </a:r>
          </a:p>
        </p:txBody>
      </p:sp>
    </p:spTree>
    <p:extLst>
      <p:ext uri="{BB962C8B-B14F-4D97-AF65-F5344CB8AC3E}">
        <p14:creationId xmlns:p14="http://schemas.microsoft.com/office/powerpoint/2010/main" val="256581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Detection Rate vs False Alarm Rate</a:t>
            </a:r>
          </a:p>
        </p:txBody>
      </p:sp>
      <p:sp>
        <p:nvSpPr>
          <p:cNvPr id="1855498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525963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Suppose:</a:t>
            </a:r>
          </a:p>
          <a:p>
            <a:endParaRPr lang="en-US" dirty="0"/>
          </a:p>
          <a:p>
            <a:r>
              <a:rPr lang="en-US" dirty="0"/>
              <a:t>Then: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False alarm rate becomes more dominant if P(I) is very low</a:t>
            </a:r>
          </a:p>
        </p:txBody>
      </p:sp>
      <p:pic>
        <p:nvPicPr>
          <p:cNvPr id="1855492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905000" y="1524000"/>
            <a:ext cx="5867400" cy="992188"/>
          </a:xfrm>
          <a:noFill/>
          <a:ln/>
        </p:spPr>
      </p:pic>
      <p:pic>
        <p:nvPicPr>
          <p:cNvPr id="1855494" name="Picture 6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3352800" y="2590800"/>
            <a:ext cx="3276600" cy="981075"/>
          </a:xfrm>
          <a:noFill/>
          <a:ln/>
        </p:spPr>
      </p:pic>
      <p:pic>
        <p:nvPicPr>
          <p:cNvPr id="1855496" name="Picture 8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2057400" y="3581400"/>
            <a:ext cx="5486400" cy="1050925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1177606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430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Hierarchical Clustering: Revisited</a:t>
            </a:r>
          </a:p>
        </p:txBody>
      </p:sp>
      <p:sp>
        <p:nvSpPr>
          <p:cNvPr id="1693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915400" cy="55626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Creates nested clusters</a:t>
            </a:r>
          </a:p>
          <a:p>
            <a:pPr lvl="4">
              <a:defRPr/>
            </a:pPr>
            <a:endParaRPr lang="en-US" altLang="en-US" sz="800" dirty="0"/>
          </a:p>
          <a:p>
            <a:pPr>
              <a:defRPr/>
            </a:pPr>
            <a:r>
              <a:rPr lang="en-US" altLang="en-US" dirty="0"/>
              <a:t>Agglomerative clustering algorithms vary in terms of how the proximity of two clusters are computed</a:t>
            </a:r>
          </a:p>
          <a:p>
            <a:pPr lvl="2">
              <a:defRPr/>
            </a:pPr>
            <a:r>
              <a:rPr lang="en-US" altLang="en-US" dirty="0"/>
              <a:t> MIN (single link): susceptible to noise/outliers</a:t>
            </a:r>
          </a:p>
          <a:p>
            <a:pPr lvl="2">
              <a:defRPr/>
            </a:pPr>
            <a:r>
              <a:rPr lang="en-US" altLang="en-US" dirty="0"/>
              <a:t> MAX/GROUP AVERAGE: </a:t>
            </a:r>
            <a:br>
              <a:rPr lang="en-US" altLang="en-US" dirty="0"/>
            </a:br>
            <a:r>
              <a:rPr lang="en-US" altLang="en-US" dirty="0"/>
              <a:t>   may not work well with non-globular clusters</a:t>
            </a:r>
          </a:p>
          <a:p>
            <a:pPr lvl="4">
              <a:defRPr/>
            </a:pPr>
            <a:endParaRPr lang="en-US" altLang="en-US" sz="800" dirty="0"/>
          </a:p>
          <a:p>
            <a:pPr lvl="1">
              <a:defRPr/>
            </a:pPr>
            <a:r>
              <a:rPr lang="en-US" altLang="en-US" dirty="0"/>
              <a:t>CURE algorithm tries to handle both problems</a:t>
            </a:r>
          </a:p>
          <a:p>
            <a:pPr lvl="4">
              <a:defRPr/>
            </a:pPr>
            <a:endParaRPr lang="en-US" altLang="en-US" sz="800" dirty="0"/>
          </a:p>
          <a:p>
            <a:pPr>
              <a:defRPr/>
            </a:pPr>
            <a:r>
              <a:rPr lang="en-US" altLang="en-US" dirty="0"/>
              <a:t>Often starts with a proximity matrix</a:t>
            </a:r>
          </a:p>
          <a:p>
            <a:pPr lvl="1">
              <a:defRPr/>
            </a:pPr>
            <a:r>
              <a:rPr lang="en-US" altLang="en-US" dirty="0"/>
              <a:t>A type of graph-based algorithm</a:t>
            </a:r>
          </a:p>
        </p:txBody>
      </p:sp>
    </p:spTree>
    <p:extLst>
      <p:ext uri="{BB962C8B-B14F-4D97-AF65-F5344CB8AC3E}">
        <p14:creationId xmlns:p14="http://schemas.microsoft.com/office/powerpoint/2010/main" val="26100718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601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318500" cy="5181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/>
              <a:t>Uses a number of points to represent a cluster</a:t>
            </a:r>
          </a:p>
          <a:p>
            <a:pPr>
              <a:defRPr/>
            </a:pPr>
            <a:endParaRPr lang="en-US" altLang="en-US" sz="2400" dirty="0"/>
          </a:p>
          <a:p>
            <a:pPr>
              <a:defRPr/>
            </a:pPr>
            <a:endParaRPr lang="en-US" altLang="en-US" sz="2400" dirty="0"/>
          </a:p>
          <a:p>
            <a:pPr>
              <a:defRPr/>
            </a:pPr>
            <a:endParaRPr lang="en-US" altLang="en-US" sz="2400" dirty="0"/>
          </a:p>
          <a:p>
            <a:pPr>
              <a:defRPr/>
            </a:pPr>
            <a:endParaRPr lang="en-US" altLang="en-US" sz="2400" dirty="0"/>
          </a:p>
          <a:p>
            <a:pPr>
              <a:defRPr/>
            </a:pPr>
            <a:endParaRPr lang="en-US" altLang="en-US" sz="2400" dirty="0"/>
          </a:p>
          <a:p>
            <a:pPr lvl="4">
              <a:defRPr/>
            </a:pPr>
            <a:endParaRPr lang="en-US" altLang="en-US" sz="800" dirty="0"/>
          </a:p>
          <a:p>
            <a:pPr>
              <a:defRPr/>
            </a:pPr>
            <a:r>
              <a:rPr lang="en-US" altLang="en-US" sz="2400" dirty="0"/>
              <a:t>Representative points are found by selecting a constant number of points from a cluster and then “shrinking” them toward the center of the cluster</a:t>
            </a:r>
          </a:p>
          <a:p>
            <a:pPr lvl="4">
              <a:defRPr/>
            </a:pPr>
            <a:endParaRPr lang="en-US" altLang="en-US" sz="800" dirty="0"/>
          </a:p>
          <a:p>
            <a:pPr>
              <a:defRPr/>
            </a:pPr>
            <a:r>
              <a:rPr lang="en-US" altLang="en-US" sz="2400" dirty="0"/>
              <a:t>Cluster similarity is the similarity of the closest pair of representative points from different clusters</a:t>
            </a:r>
          </a:p>
        </p:txBody>
      </p:sp>
      <p:sp>
        <p:nvSpPr>
          <p:cNvPr id="1646600" name="Rectangle 8"/>
          <p:cNvSpPr>
            <a:spLocks noGrp="1" noChangeArrowheads="1"/>
          </p:cNvSpPr>
          <p:nvPr>
            <p:ph type="title"/>
          </p:nvPr>
        </p:nvSpPr>
        <p:spPr>
          <a:xfrm>
            <a:off x="152400" y="277813"/>
            <a:ext cx="8763000" cy="787400"/>
          </a:xfrm>
        </p:spPr>
        <p:txBody>
          <a:bodyPr/>
          <a:lstStyle/>
          <a:p>
            <a:pPr>
              <a:defRPr/>
            </a:pPr>
            <a:r>
              <a:rPr lang="en-US" altLang="en-US" sz="4000" dirty="0"/>
              <a:t>CURE: Another Hierarchical Approach</a:t>
            </a:r>
          </a:p>
        </p:txBody>
      </p:sp>
      <p:sp>
        <p:nvSpPr>
          <p:cNvPr id="6148" name="Freeform 12" descr="5%"/>
          <p:cNvSpPr>
            <a:spLocks/>
          </p:cNvSpPr>
          <p:nvPr/>
        </p:nvSpPr>
        <p:spPr bwMode="auto">
          <a:xfrm rot="-5400000">
            <a:off x="1377157" y="2051843"/>
            <a:ext cx="1828800" cy="13827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9" name="Oval 13"/>
          <p:cNvSpPr>
            <a:spLocks noChangeArrowheads="1"/>
          </p:cNvSpPr>
          <p:nvPr/>
        </p:nvSpPr>
        <p:spPr bwMode="auto">
          <a:xfrm rot="-5400000">
            <a:off x="2209800" y="3352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150" name="Oval 14"/>
          <p:cNvSpPr>
            <a:spLocks noChangeArrowheads="1"/>
          </p:cNvSpPr>
          <p:nvPr/>
        </p:nvSpPr>
        <p:spPr bwMode="auto">
          <a:xfrm rot="-5400000">
            <a:off x="2286000" y="2133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151" name="Oval 15"/>
          <p:cNvSpPr>
            <a:spLocks noChangeArrowheads="1"/>
          </p:cNvSpPr>
          <p:nvPr/>
        </p:nvSpPr>
        <p:spPr bwMode="auto">
          <a:xfrm rot="-5400000">
            <a:off x="1752600" y="2667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152" name="Oval 16"/>
          <p:cNvSpPr>
            <a:spLocks noChangeArrowheads="1"/>
          </p:cNvSpPr>
          <p:nvPr/>
        </p:nvSpPr>
        <p:spPr bwMode="auto">
          <a:xfrm rot="-5400000">
            <a:off x="2817813" y="2513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153" name="Freeform 17" descr="5%"/>
          <p:cNvSpPr>
            <a:spLocks/>
          </p:cNvSpPr>
          <p:nvPr/>
        </p:nvSpPr>
        <p:spPr bwMode="auto">
          <a:xfrm rot="5400000" flipV="1">
            <a:off x="4876800" y="1905000"/>
            <a:ext cx="1828800" cy="16764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" name="Oval 18"/>
          <p:cNvSpPr>
            <a:spLocks noChangeArrowheads="1"/>
          </p:cNvSpPr>
          <p:nvPr/>
        </p:nvSpPr>
        <p:spPr bwMode="auto">
          <a:xfrm rot="5400000" flipV="1">
            <a:off x="6400800" y="2362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155" name="Oval 19"/>
          <p:cNvSpPr>
            <a:spLocks noChangeArrowheads="1"/>
          </p:cNvSpPr>
          <p:nvPr/>
        </p:nvSpPr>
        <p:spPr bwMode="auto">
          <a:xfrm rot="5400000" flipV="1">
            <a:off x="5181600" y="2286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156" name="Oval 20"/>
          <p:cNvSpPr>
            <a:spLocks noChangeArrowheads="1"/>
          </p:cNvSpPr>
          <p:nvPr/>
        </p:nvSpPr>
        <p:spPr bwMode="auto">
          <a:xfrm rot="5400000" flipV="1">
            <a:off x="5486400" y="3429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157" name="Oval 21"/>
          <p:cNvSpPr>
            <a:spLocks noChangeArrowheads="1"/>
          </p:cNvSpPr>
          <p:nvPr/>
        </p:nvSpPr>
        <p:spPr bwMode="auto">
          <a:xfrm rot="5400000" flipV="1">
            <a:off x="5791200" y="1981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158" name="Oval 22"/>
          <p:cNvSpPr>
            <a:spLocks noChangeArrowheads="1"/>
          </p:cNvSpPr>
          <p:nvPr/>
        </p:nvSpPr>
        <p:spPr bwMode="auto">
          <a:xfrm rot="5400000" flipV="1">
            <a:off x="6248400" y="3200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159" name="Oval 23"/>
          <p:cNvSpPr>
            <a:spLocks noChangeArrowheads="1"/>
          </p:cNvSpPr>
          <p:nvPr/>
        </p:nvSpPr>
        <p:spPr bwMode="auto">
          <a:xfrm rot="5400000" flipV="1">
            <a:off x="2819400" y="3124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160" name="Line 26"/>
          <p:cNvSpPr>
            <a:spLocks noChangeShapeType="1"/>
          </p:cNvSpPr>
          <p:nvPr/>
        </p:nvSpPr>
        <p:spPr bwMode="auto">
          <a:xfrm flipH="1">
            <a:off x="2286000" y="22860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1" name="Line 27"/>
          <p:cNvSpPr>
            <a:spLocks noChangeShapeType="1"/>
          </p:cNvSpPr>
          <p:nvPr/>
        </p:nvSpPr>
        <p:spPr bwMode="auto">
          <a:xfrm flipH="1">
            <a:off x="2438400" y="2590800"/>
            <a:ext cx="3048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2" name="Line 28"/>
          <p:cNvSpPr>
            <a:spLocks noChangeShapeType="1"/>
          </p:cNvSpPr>
          <p:nvPr/>
        </p:nvSpPr>
        <p:spPr bwMode="auto">
          <a:xfrm flipH="1" flipV="1">
            <a:off x="2514600" y="2971800"/>
            <a:ext cx="2286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3" name="Line 29"/>
          <p:cNvSpPr>
            <a:spLocks noChangeShapeType="1"/>
          </p:cNvSpPr>
          <p:nvPr/>
        </p:nvSpPr>
        <p:spPr bwMode="auto">
          <a:xfrm flipV="1">
            <a:off x="2286000" y="29718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" name="Line 30"/>
          <p:cNvSpPr>
            <a:spLocks noChangeShapeType="1"/>
          </p:cNvSpPr>
          <p:nvPr/>
        </p:nvSpPr>
        <p:spPr bwMode="auto">
          <a:xfrm>
            <a:off x="1828800" y="27432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5" name="Text Box 25"/>
          <p:cNvSpPr txBox="1">
            <a:spLocks noChangeArrowheads="1"/>
          </p:cNvSpPr>
          <p:nvPr/>
        </p:nvSpPr>
        <p:spPr bwMode="auto">
          <a:xfrm>
            <a:off x="2133600" y="25908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sym typeface="Symbol" panose="05050102010706020507" pitchFamily="18" charset="2"/>
              </a:rPr>
              <a:t></a:t>
            </a:r>
          </a:p>
        </p:txBody>
      </p:sp>
      <p:sp>
        <p:nvSpPr>
          <p:cNvPr id="6166" name="Text Box 31"/>
          <p:cNvSpPr txBox="1">
            <a:spLocks noChangeArrowheads="1"/>
          </p:cNvSpPr>
          <p:nvPr/>
        </p:nvSpPr>
        <p:spPr bwMode="auto">
          <a:xfrm>
            <a:off x="5638800" y="25908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sym typeface="Symbol" panose="05050102010706020507" pitchFamily="18" charset="2"/>
              </a:rPr>
              <a:t></a:t>
            </a:r>
          </a:p>
        </p:txBody>
      </p:sp>
      <p:sp>
        <p:nvSpPr>
          <p:cNvPr id="6167" name="Line 32"/>
          <p:cNvSpPr>
            <a:spLocks noChangeShapeType="1"/>
          </p:cNvSpPr>
          <p:nvPr/>
        </p:nvSpPr>
        <p:spPr bwMode="auto">
          <a:xfrm flipH="1">
            <a:off x="5791200" y="21336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8" name="Line 33"/>
          <p:cNvSpPr>
            <a:spLocks noChangeShapeType="1"/>
          </p:cNvSpPr>
          <p:nvPr/>
        </p:nvSpPr>
        <p:spPr bwMode="auto">
          <a:xfrm>
            <a:off x="5257800" y="2362200"/>
            <a:ext cx="2286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9" name="Line 34"/>
          <p:cNvSpPr>
            <a:spLocks noChangeShapeType="1"/>
          </p:cNvSpPr>
          <p:nvPr/>
        </p:nvSpPr>
        <p:spPr bwMode="auto">
          <a:xfrm flipH="1">
            <a:off x="6248400" y="2438400"/>
            <a:ext cx="152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0" name="Line 35"/>
          <p:cNvSpPr>
            <a:spLocks noChangeShapeType="1"/>
          </p:cNvSpPr>
          <p:nvPr/>
        </p:nvSpPr>
        <p:spPr bwMode="auto">
          <a:xfrm flipH="1" flipV="1">
            <a:off x="5943600" y="2971800"/>
            <a:ext cx="2286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1" name="Line 36"/>
          <p:cNvSpPr>
            <a:spLocks noChangeShapeType="1"/>
          </p:cNvSpPr>
          <p:nvPr/>
        </p:nvSpPr>
        <p:spPr bwMode="auto">
          <a:xfrm flipV="1">
            <a:off x="5562600" y="3124200"/>
            <a:ext cx="762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43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6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CURE</a:t>
            </a:r>
          </a:p>
        </p:txBody>
      </p:sp>
      <p:sp>
        <p:nvSpPr>
          <p:cNvPr id="169062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Shrinking representative points toward the center helps avoid problems with noise and outliers</a:t>
            </a:r>
          </a:p>
          <a:p>
            <a:pPr>
              <a:defRPr/>
            </a:pPr>
            <a:endParaRPr lang="en-US" altLang="en-US"/>
          </a:p>
          <a:p>
            <a:pPr>
              <a:defRPr/>
            </a:pPr>
            <a:r>
              <a:rPr lang="en-US" altLang="en-US"/>
              <a:t>CURE is better able to handle clusters of arbitrary shapes and sizes</a:t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2234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/>
              <a:t>Experimental Results: C</a:t>
            </a:r>
            <a:r>
              <a:rPr lang="en-US" altLang="en-US" sz="2800">
                <a:latin typeface="Arial Rounded MT Bold" panose="020F0704030504030204" pitchFamily="34" charset="0"/>
              </a:rPr>
              <a:t>URE</a:t>
            </a:r>
            <a:endParaRPr lang="en-US" altLang="en-US" sz="2800"/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914400" y="5611813"/>
            <a:ext cx="44910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Picture from </a:t>
            </a:r>
            <a:r>
              <a:rPr lang="en-US" altLang="en-US" sz="2000" i="1">
                <a:latin typeface="Times New Roman" panose="02020603050405020304" pitchFamily="18" charset="0"/>
              </a:rPr>
              <a:t>CURE</a:t>
            </a:r>
            <a:r>
              <a:rPr lang="en-US" altLang="en-US" sz="2000">
                <a:latin typeface="Times New Roman" panose="02020603050405020304" pitchFamily="18" charset="0"/>
              </a:rPr>
              <a:t>, Guha, Rastogi, Shim.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381000" y="1447800"/>
          <a:ext cx="8305800" cy="363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5" name="Bitmap Image" r:id="rId3" imgW="5683810" imgH="2293333" progId="Paint.Picture">
                  <p:embed/>
                </p:oleObj>
              </mc:Choice>
              <mc:Fallback>
                <p:oleObj name="Bitmap Image" r:id="rId3" imgW="5683810" imgH="2293333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1224" t="5058" r="7143" b="6429"/>
                      <a:stretch>
                        <a:fillRect/>
                      </a:stretch>
                    </p:blipFill>
                    <p:spPr bwMode="auto">
                      <a:xfrm>
                        <a:off x="381000" y="1447800"/>
                        <a:ext cx="8305800" cy="363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3876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8731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Experimental Results: </a:t>
            </a:r>
            <a:r>
              <a:rPr lang="en-US" altLang="en-US" dirty="0">
                <a:latin typeface="Arial Rounded MT Bold" panose="020F0704030504030204" pitchFamily="34" charset="0"/>
              </a:rPr>
              <a:t>CURE</a:t>
            </a:r>
            <a:endParaRPr lang="en-US" altLang="en-US" dirty="0"/>
          </a:p>
        </p:txBody>
      </p:sp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304800" y="1295400"/>
          <a:ext cx="8686800" cy="398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9" name="Bitmap Image" r:id="rId3" imgW="7460627" imgH="3147333" progId="Paint.Picture">
                  <p:embed/>
                </p:oleObj>
              </mc:Choice>
              <mc:Fallback>
                <p:oleObj name="Bitmap Image" r:id="rId3" imgW="7460627" imgH="3147333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734" r="6734"/>
                      <a:stretch>
                        <a:fillRect/>
                      </a:stretch>
                    </p:blipFill>
                    <p:spPr bwMode="auto">
                      <a:xfrm>
                        <a:off x="304800" y="1295400"/>
                        <a:ext cx="8686800" cy="3989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914400" y="5611813"/>
            <a:ext cx="44910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Picture from </a:t>
            </a:r>
            <a:r>
              <a:rPr lang="en-US" altLang="en-US" sz="2000" i="1">
                <a:latin typeface="Times New Roman" panose="02020603050405020304" pitchFamily="18" charset="0"/>
              </a:rPr>
              <a:t>CURE</a:t>
            </a:r>
            <a:r>
              <a:rPr lang="en-US" altLang="en-US" sz="2000">
                <a:latin typeface="Times New Roman" panose="02020603050405020304" pitchFamily="18" charset="0"/>
              </a:rPr>
              <a:t>, Guha, Rastogi, Shim.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6553200" y="2438400"/>
            <a:ext cx="9890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(centroid)</a:t>
            </a:r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6629400" y="3581400"/>
            <a:ext cx="11763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(single link)</a:t>
            </a:r>
          </a:p>
        </p:txBody>
      </p:sp>
    </p:spTree>
    <p:extLst>
      <p:ext uri="{BB962C8B-B14F-4D97-AF65-F5344CB8AC3E}">
        <p14:creationId xmlns:p14="http://schemas.microsoft.com/office/powerpoint/2010/main" val="21454775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676" name="Rectangle 1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610600" cy="11811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/>
              <a:t>CURE Cannot Handle Differing Densities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990600" y="5029200"/>
            <a:ext cx="2514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Original Points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3048000" y="2228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10245" name="Picture 5" descr="fish_cluste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81200"/>
            <a:ext cx="3048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5334000" y="4967288"/>
            <a:ext cx="1752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CURE</a:t>
            </a: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3113088" y="2438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3246438" y="25304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10251" name="Object 11"/>
          <p:cNvGraphicFramePr>
            <a:graphicFrameLocks noChangeAspect="1"/>
          </p:cNvGraphicFramePr>
          <p:nvPr/>
        </p:nvGraphicFramePr>
        <p:xfrm>
          <a:off x="4265613" y="1831975"/>
          <a:ext cx="4040187" cy="274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3" r:id="rId4" imgW="4686706" imgH="3177815" progId="MSPhotoEd.3">
                  <p:embed/>
                </p:oleObj>
              </mc:Choice>
              <mc:Fallback>
                <p:oleObj r:id="rId4" imgW="4686706" imgH="3177815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5613" y="1831975"/>
                        <a:ext cx="4040187" cy="274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14206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69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95263"/>
            <a:ext cx="8229600" cy="865187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Graph-Based Clustering</a:t>
            </a:r>
          </a:p>
        </p:txBody>
      </p:sp>
      <p:sp>
        <p:nvSpPr>
          <p:cNvPr id="165069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0500" y="1092200"/>
            <a:ext cx="8763000" cy="54864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Graph-Based clustering uses the proximity graph</a:t>
            </a:r>
          </a:p>
          <a:p>
            <a:pPr lvl="1">
              <a:defRPr/>
            </a:pPr>
            <a:r>
              <a:rPr lang="en-US" altLang="en-US" dirty="0"/>
              <a:t>Start with the proximity matrix</a:t>
            </a:r>
          </a:p>
          <a:p>
            <a:pPr lvl="1">
              <a:defRPr/>
            </a:pPr>
            <a:r>
              <a:rPr lang="en-US" altLang="en-US" dirty="0"/>
              <a:t>Consider each point as a node in a graph</a:t>
            </a:r>
          </a:p>
          <a:p>
            <a:pPr lvl="1">
              <a:defRPr/>
            </a:pPr>
            <a:r>
              <a:rPr lang="en-US" altLang="en-US" dirty="0"/>
              <a:t>Each edge between two nodes has a weight which is the proximity between the two points</a:t>
            </a:r>
          </a:p>
          <a:p>
            <a:pPr lvl="1">
              <a:defRPr/>
            </a:pPr>
            <a:r>
              <a:rPr lang="en-US" altLang="en-US" dirty="0"/>
              <a:t>Initially the proximity graph is fully connected </a:t>
            </a:r>
          </a:p>
          <a:p>
            <a:pPr lvl="1">
              <a:defRPr/>
            </a:pPr>
            <a:r>
              <a:rPr lang="en-US" altLang="en-US" dirty="0"/>
              <a:t>MIN (single-link) and MAX (complete-link) can be viewed as starting with this graph</a:t>
            </a:r>
          </a:p>
          <a:p>
            <a:pPr>
              <a:defRPr/>
            </a:pPr>
            <a:r>
              <a:rPr lang="en-US" altLang="en-US" dirty="0" smtClean="0"/>
              <a:t>In </a:t>
            </a:r>
            <a:r>
              <a:rPr lang="en-US" altLang="en-US" dirty="0"/>
              <a:t>the simplest case, clusters are connected components in the </a:t>
            </a:r>
            <a:r>
              <a:rPr lang="en-US" altLang="en-US" dirty="0" smtClean="0"/>
              <a:t>graph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292836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7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80400" cy="1066800"/>
          </a:xfrm>
        </p:spPr>
        <p:txBody>
          <a:bodyPr/>
          <a:lstStyle/>
          <a:p>
            <a:pPr>
              <a:defRPr/>
            </a:pPr>
            <a:r>
              <a:rPr lang="en-US" altLang="en-US" sz="3600" dirty="0"/>
              <a:t>Graph-Based Clustering: </a:t>
            </a:r>
            <a:r>
              <a:rPr lang="en-US" altLang="en-US" sz="3600" dirty="0" err="1"/>
              <a:t>Sparsification</a:t>
            </a:r>
            <a:endParaRPr lang="en-US" altLang="en-US" sz="3600" dirty="0"/>
          </a:p>
        </p:txBody>
      </p:sp>
      <p:sp>
        <p:nvSpPr>
          <p:cNvPr id="1651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1638" y="1676400"/>
            <a:ext cx="8259762" cy="42672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defRPr/>
            </a:pPr>
            <a:r>
              <a:rPr lang="en-US" altLang="en-US" dirty="0">
                <a:cs typeface="Times New Roman" panose="02020603050405020304" pitchFamily="18" charset="0"/>
              </a:rPr>
              <a:t>The amount of data that needs to be processed is drastically reduced </a:t>
            </a:r>
          </a:p>
          <a:p>
            <a:pPr marL="990600" lvl="1" indent="-533400">
              <a:lnSpc>
                <a:spcPct val="90000"/>
              </a:lnSpc>
              <a:defRPr/>
            </a:pPr>
            <a:r>
              <a:rPr lang="en-US" altLang="en-US" dirty="0" err="1">
                <a:cs typeface="Times New Roman" panose="02020603050405020304" pitchFamily="18" charset="0"/>
              </a:rPr>
              <a:t>Sparsification</a:t>
            </a:r>
            <a:r>
              <a:rPr lang="en-US" altLang="en-US" dirty="0">
                <a:cs typeface="Times New Roman" panose="02020603050405020304" pitchFamily="18" charset="0"/>
              </a:rPr>
              <a:t> can eliminate more than 99% of the entries in a proximity matrix </a:t>
            </a:r>
          </a:p>
          <a:p>
            <a:pPr marL="990600" lvl="1" indent="-533400">
              <a:lnSpc>
                <a:spcPct val="90000"/>
              </a:lnSpc>
              <a:defRPr/>
            </a:pPr>
            <a:r>
              <a:rPr lang="en-US" altLang="en-US" dirty="0">
                <a:cs typeface="Times New Roman" panose="02020603050405020304" pitchFamily="18" charset="0"/>
              </a:rPr>
              <a:t>The amount of time required to cluster the data is drastically </a:t>
            </a:r>
            <a:r>
              <a:rPr lang="en-US" altLang="en-US" dirty="0" smtClean="0">
                <a:cs typeface="Times New Roman" panose="02020603050405020304" pitchFamily="18" charset="0"/>
              </a:rPr>
              <a:t>reduce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marL="990600" lvl="1" indent="-533400">
              <a:lnSpc>
                <a:spcPct val="90000"/>
              </a:lnSpc>
              <a:defRPr/>
            </a:pPr>
            <a:r>
              <a:rPr lang="en-US" altLang="en-US" dirty="0">
                <a:cs typeface="Times New Roman" panose="02020603050405020304" pitchFamily="18" charset="0"/>
              </a:rPr>
              <a:t>The size of the problems that can be handled is increased</a:t>
            </a:r>
            <a:endParaRPr lang="en-US" altLang="en-US" dirty="0"/>
          </a:p>
          <a:p>
            <a:pPr marL="990600" lvl="1" indent="-533400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600" dirty="0"/>
              <a:t>  </a:t>
            </a:r>
          </a:p>
          <a:p>
            <a:pPr marL="990600" lvl="1" indent="-533400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950929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7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610600" cy="914400"/>
          </a:xfrm>
        </p:spPr>
        <p:txBody>
          <a:bodyPr/>
          <a:lstStyle/>
          <a:p>
            <a:pPr>
              <a:defRPr/>
            </a:pPr>
            <a:r>
              <a:rPr lang="en-US" altLang="en-US" sz="3600" dirty="0"/>
              <a:t>Graph-Based Clustering: </a:t>
            </a:r>
            <a:r>
              <a:rPr lang="en-US" altLang="en-US" sz="3600" dirty="0" err="1"/>
              <a:t>Sparsification</a:t>
            </a:r>
            <a:r>
              <a:rPr lang="en-US" altLang="en-US" sz="3600" dirty="0"/>
              <a:t> …</a:t>
            </a:r>
          </a:p>
        </p:txBody>
      </p:sp>
      <p:sp>
        <p:nvSpPr>
          <p:cNvPr id="1652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534400" cy="56388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defRPr/>
            </a:pPr>
            <a:r>
              <a:rPr lang="en-US" altLang="en-US" dirty="0">
                <a:cs typeface="Times New Roman" panose="02020603050405020304" pitchFamily="18" charset="0"/>
              </a:rPr>
              <a:t>Clustering may work better</a:t>
            </a:r>
          </a:p>
          <a:p>
            <a:pPr marL="990600" lvl="1" indent="-533400">
              <a:lnSpc>
                <a:spcPct val="90000"/>
              </a:lnSpc>
              <a:defRPr/>
            </a:pPr>
            <a:r>
              <a:rPr lang="en-US" altLang="en-US" sz="2400" dirty="0" err="1">
                <a:cs typeface="Times New Roman" panose="02020603050405020304" pitchFamily="18" charset="0"/>
              </a:rPr>
              <a:t>Sparsification</a:t>
            </a:r>
            <a:r>
              <a:rPr lang="en-US" altLang="en-US" sz="2400" dirty="0">
                <a:cs typeface="Times New Roman" panose="02020603050405020304" pitchFamily="18" charset="0"/>
              </a:rPr>
              <a:t> techniques keep the connections to the most similar (nearest) neighbors of a point while breaking the connections to less similar points. </a:t>
            </a:r>
          </a:p>
          <a:p>
            <a:pPr marL="990600" lvl="1" indent="-533400">
              <a:lnSpc>
                <a:spcPct val="90000"/>
              </a:lnSpc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The nearest neighbors of a point tend to belong to the same class as the point itself.</a:t>
            </a:r>
          </a:p>
          <a:p>
            <a:pPr marL="990600" lvl="1" indent="-533400">
              <a:lnSpc>
                <a:spcPct val="90000"/>
              </a:lnSpc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This reduces the impact of noise and outliers and sharpens the distinction between clusters.</a:t>
            </a:r>
            <a:r>
              <a:rPr lang="en-US" altLang="en-US" sz="3200" dirty="0"/>
              <a:t>  </a:t>
            </a:r>
          </a:p>
          <a:p>
            <a:pPr marL="2171700" lvl="4" indent="-342900">
              <a:lnSpc>
                <a:spcPct val="90000"/>
              </a:lnSpc>
              <a:defRPr/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defRPr/>
            </a:pPr>
            <a:r>
              <a:rPr lang="en-US" altLang="en-US" dirty="0" err="1">
                <a:cs typeface="Times New Roman" panose="02020603050405020304" pitchFamily="18" charset="0"/>
              </a:rPr>
              <a:t>Sparsification</a:t>
            </a:r>
            <a:r>
              <a:rPr lang="en-US" altLang="en-US" dirty="0">
                <a:cs typeface="Times New Roman" panose="02020603050405020304" pitchFamily="18" charset="0"/>
              </a:rPr>
              <a:t> facilitates the use of graph partitioning algorithms (or algorithms based on graph partitioning algorithms. </a:t>
            </a:r>
          </a:p>
          <a:p>
            <a:pPr marL="990600" lvl="1" indent="-533400">
              <a:lnSpc>
                <a:spcPct val="90000"/>
              </a:lnSpc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Chameleon  and </a:t>
            </a:r>
            <a:r>
              <a:rPr lang="en-US" altLang="en-US" sz="2400" dirty="0"/>
              <a:t>Hypergraph-based Clustering</a:t>
            </a:r>
          </a:p>
        </p:txBody>
      </p:sp>
    </p:spTree>
    <p:extLst>
      <p:ext uri="{BB962C8B-B14F-4D97-AF65-F5344CB8AC3E}">
        <p14:creationId xmlns:p14="http://schemas.microsoft.com/office/powerpoint/2010/main" val="33079294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7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1295400"/>
          </a:xfrm>
        </p:spPr>
        <p:txBody>
          <a:bodyPr/>
          <a:lstStyle/>
          <a:p>
            <a:pPr>
              <a:defRPr/>
            </a:pPr>
            <a:r>
              <a:rPr lang="en-US" altLang="en-US" sz="3600" dirty="0" err="1"/>
              <a:t>Sparsification</a:t>
            </a:r>
            <a:r>
              <a:rPr lang="en-US" altLang="en-US" sz="3600" dirty="0"/>
              <a:t> in the Clustering Process</a:t>
            </a:r>
          </a:p>
        </p:txBody>
      </p:sp>
      <p:sp>
        <p:nvSpPr>
          <p:cNvPr id="1653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816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defRPr/>
            </a:pPr>
            <a:endParaRPr lang="en-US" altLang="en-US" sz="2600"/>
          </a:p>
          <a:p>
            <a:pPr marL="533400" indent="-533400">
              <a:lnSpc>
                <a:spcPct val="90000"/>
              </a:lnSpc>
              <a:defRPr/>
            </a:pPr>
            <a:endParaRPr lang="en-US" altLang="en-US"/>
          </a:p>
          <a:p>
            <a:pPr marL="990600" lvl="1" indent="-533400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endParaRPr lang="en-US" altLang="en-US" sz="2200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1600200" y="2925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14341" name="Picture 5" descr="overa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1" r="5919"/>
          <a:stretch>
            <a:fillRect/>
          </a:stretch>
        </p:blipFill>
        <p:spPr bwMode="auto">
          <a:xfrm>
            <a:off x="152400" y="2362200"/>
            <a:ext cx="8686800" cy="157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20685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7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458200" cy="1139825"/>
          </a:xfrm>
        </p:spPr>
        <p:txBody>
          <a:bodyPr/>
          <a:lstStyle/>
          <a:p>
            <a:pPr>
              <a:defRPr/>
            </a:pPr>
            <a:r>
              <a:rPr lang="en-US" altLang="en-US" sz="3600" dirty="0"/>
              <a:t>Limitations of Current Merging Schemes</a:t>
            </a:r>
          </a:p>
        </p:txBody>
      </p:sp>
      <p:sp>
        <p:nvSpPr>
          <p:cNvPr id="1654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Existing merging schemes in hierarchical clustering algorithms are static in nature</a:t>
            </a:r>
          </a:p>
          <a:p>
            <a:pPr lvl="1">
              <a:defRPr/>
            </a:pPr>
            <a:r>
              <a:rPr lang="en-US" altLang="en-US"/>
              <a:t>MIN or CURE: </a:t>
            </a:r>
          </a:p>
          <a:p>
            <a:pPr lvl="2">
              <a:defRPr/>
            </a:pPr>
            <a:r>
              <a:rPr lang="en-US" altLang="en-US"/>
              <a:t> merge two clusters based on their </a:t>
            </a:r>
            <a:r>
              <a:rPr lang="en-US" altLang="en-US" i="1"/>
              <a:t>closeness</a:t>
            </a:r>
            <a:r>
              <a:rPr lang="en-US" altLang="en-US"/>
              <a:t> (or minimum distance)</a:t>
            </a:r>
          </a:p>
          <a:p>
            <a:pPr lvl="2">
              <a:defRPr/>
            </a:pPr>
            <a:endParaRPr lang="en-US" altLang="en-US"/>
          </a:p>
          <a:p>
            <a:pPr lvl="1">
              <a:defRPr/>
            </a:pPr>
            <a:r>
              <a:rPr lang="en-US" altLang="en-US"/>
              <a:t>GROUP-AVERAGE:</a:t>
            </a:r>
          </a:p>
          <a:p>
            <a:pPr lvl="2">
              <a:defRPr/>
            </a:pPr>
            <a:r>
              <a:rPr lang="en-US" altLang="en-US"/>
              <a:t> merge two clusters based on their average </a:t>
            </a:r>
            <a:r>
              <a:rPr lang="en-US" altLang="en-US" i="1"/>
              <a:t>connectivity</a:t>
            </a:r>
          </a:p>
        </p:txBody>
      </p:sp>
    </p:spTree>
    <p:extLst>
      <p:ext uri="{BB962C8B-B14F-4D97-AF65-F5344CB8AC3E}">
        <p14:creationId xmlns:p14="http://schemas.microsoft.com/office/powerpoint/2010/main" val="4186499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534400" cy="1139825"/>
          </a:xfrm>
        </p:spPr>
        <p:txBody>
          <a:bodyPr/>
          <a:lstStyle/>
          <a:p>
            <a:pPr>
              <a:defRPr/>
            </a:pPr>
            <a:r>
              <a:rPr lang="en-US" altLang="en-US" sz="3600" dirty="0"/>
              <a:t>Limitations of Current Merging Schemes</a:t>
            </a:r>
          </a:p>
        </p:txBody>
      </p:sp>
      <p:pic>
        <p:nvPicPr>
          <p:cNvPr id="1638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670050"/>
            <a:ext cx="9906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94726" name="Text Box 6"/>
          <p:cNvSpPr txBox="1">
            <a:spLocks noChangeArrowheads="1"/>
          </p:cNvSpPr>
          <p:nvPr/>
        </p:nvSpPr>
        <p:spPr bwMode="auto">
          <a:xfrm>
            <a:off x="2786063" y="1670050"/>
            <a:ext cx="483393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Closeness schemes will merge (a) and (b)</a:t>
            </a:r>
          </a:p>
        </p:txBody>
      </p:sp>
      <p:sp>
        <p:nvSpPr>
          <p:cNvPr id="16389" name="Text Box 7"/>
          <p:cNvSpPr txBox="1">
            <a:spLocks noChangeArrowheads="1"/>
          </p:cNvSpPr>
          <p:nvPr/>
        </p:nvSpPr>
        <p:spPr bwMode="auto">
          <a:xfrm>
            <a:off x="990600" y="1744663"/>
            <a:ext cx="6096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(a)</a:t>
            </a:r>
          </a:p>
        </p:txBody>
      </p:sp>
      <p:sp>
        <p:nvSpPr>
          <p:cNvPr id="16390" name="Text Box 8"/>
          <p:cNvSpPr txBox="1">
            <a:spLocks noChangeArrowheads="1"/>
          </p:cNvSpPr>
          <p:nvPr/>
        </p:nvSpPr>
        <p:spPr bwMode="auto">
          <a:xfrm>
            <a:off x="990600" y="2222500"/>
            <a:ext cx="6096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(b)</a:t>
            </a:r>
          </a:p>
        </p:txBody>
      </p:sp>
      <p:sp>
        <p:nvSpPr>
          <p:cNvPr id="16391" name="Text Box 9"/>
          <p:cNvSpPr txBox="1">
            <a:spLocks noChangeArrowheads="1"/>
          </p:cNvSpPr>
          <p:nvPr/>
        </p:nvSpPr>
        <p:spPr bwMode="auto">
          <a:xfrm>
            <a:off x="990600" y="3352800"/>
            <a:ext cx="6858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(c)</a:t>
            </a:r>
          </a:p>
        </p:txBody>
      </p:sp>
      <p:sp>
        <p:nvSpPr>
          <p:cNvPr id="16392" name="Text Box 10"/>
          <p:cNvSpPr txBox="1">
            <a:spLocks noChangeArrowheads="1"/>
          </p:cNvSpPr>
          <p:nvPr/>
        </p:nvSpPr>
        <p:spPr bwMode="auto">
          <a:xfrm>
            <a:off x="990600" y="4419600"/>
            <a:ext cx="6096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(d)</a:t>
            </a:r>
          </a:p>
        </p:txBody>
      </p:sp>
      <p:sp>
        <p:nvSpPr>
          <p:cNvPr id="1694731" name="Text Box 11"/>
          <p:cNvSpPr txBox="1">
            <a:spLocks noChangeArrowheads="1"/>
          </p:cNvSpPr>
          <p:nvPr/>
        </p:nvSpPr>
        <p:spPr bwMode="auto">
          <a:xfrm>
            <a:off x="2895600" y="2408238"/>
            <a:ext cx="57150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Average connectivity schemes will merge (c) and (d)</a:t>
            </a:r>
          </a:p>
        </p:txBody>
      </p:sp>
    </p:spTree>
    <p:extLst>
      <p:ext uri="{BB962C8B-B14F-4D97-AF65-F5344CB8AC3E}">
        <p14:creationId xmlns:p14="http://schemas.microsoft.com/office/powerpoint/2010/main" val="291055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4726" grpId="0"/>
      <p:bldP spid="169473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en-US" sz="2800"/>
              <a:t>Chameleon: Clustering Using Dynamic Modeling</a:t>
            </a:r>
          </a:p>
        </p:txBody>
      </p:sp>
      <p:sp>
        <p:nvSpPr>
          <p:cNvPr id="1655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7363" y="1143000"/>
            <a:ext cx="8178800" cy="4111625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altLang="en-US" sz="2400"/>
              <a:t>Adapt to the characteristics of the data set to find the natural clusters</a:t>
            </a:r>
          </a:p>
          <a:p>
            <a:pPr>
              <a:defRPr/>
            </a:pPr>
            <a:r>
              <a:rPr lang="en-US" altLang="en-US" sz="2400"/>
              <a:t>Use a dynamic model to measure the similarity between clusters</a:t>
            </a:r>
          </a:p>
          <a:p>
            <a:pPr lvl="1">
              <a:defRPr/>
            </a:pPr>
            <a:r>
              <a:rPr lang="en-US" altLang="en-US" sz="2000"/>
              <a:t>Main property is the relative closeness and relative inter-connectivity of the cluster</a:t>
            </a:r>
          </a:p>
          <a:p>
            <a:pPr lvl="1">
              <a:defRPr/>
            </a:pPr>
            <a:r>
              <a:rPr lang="en-US" altLang="en-US" sz="2000"/>
              <a:t>Two clusters are combined if the resulting cluster shares certain </a:t>
            </a:r>
            <a:r>
              <a:rPr lang="en-US" altLang="en-US" sz="2000" i="1">
                <a:solidFill>
                  <a:srgbClr val="FF0000"/>
                </a:solidFill>
              </a:rPr>
              <a:t>properties</a:t>
            </a:r>
            <a:r>
              <a:rPr lang="en-US" altLang="en-US" sz="2000"/>
              <a:t> with the constituent clusters</a:t>
            </a:r>
          </a:p>
          <a:p>
            <a:pPr lvl="1">
              <a:defRPr/>
            </a:pPr>
            <a:r>
              <a:rPr lang="en-US" altLang="en-US" sz="2000"/>
              <a:t>The merging scheme preserves </a:t>
            </a:r>
            <a:r>
              <a:rPr lang="en-US" altLang="en-US" sz="2000" i="1">
                <a:solidFill>
                  <a:srgbClr val="FF0000"/>
                </a:solidFill>
              </a:rPr>
              <a:t>self-similarity</a:t>
            </a:r>
            <a:endParaRPr lang="en-US" altLang="en-US"/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sz="1600"/>
          </a:p>
          <a:p>
            <a:pPr>
              <a:defRPr/>
            </a:pPr>
            <a:endParaRPr lang="en-US" altLang="en-US" sz="1600"/>
          </a:p>
          <a:p>
            <a:pPr>
              <a:defRPr/>
            </a:pPr>
            <a:r>
              <a:rPr lang="en-US" altLang="en-US" sz="2400"/>
              <a:t>One of the areas of application is </a:t>
            </a:r>
            <a:r>
              <a:rPr lang="en-US" altLang="en-US" sz="2400">
                <a:solidFill>
                  <a:srgbClr val="FF0000"/>
                </a:solidFill>
              </a:rPr>
              <a:t>spatial data</a:t>
            </a:r>
            <a:endParaRPr lang="en-US" altLang="en-US"/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2133600" y="4724400"/>
          <a:ext cx="35814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7" name="Bitmap Image" r:id="rId3" imgW="5570703" imgH="3795089" progId="Paint.Picture">
                  <p:embed/>
                </p:oleObj>
              </mc:Choice>
              <mc:Fallback>
                <p:oleObj name="Bitmap Image" r:id="rId3" imgW="5570703" imgH="3795089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30835" b="62024"/>
                      <a:stretch>
                        <a:fillRect/>
                      </a:stretch>
                    </p:blipFill>
                    <p:spPr bwMode="auto">
                      <a:xfrm>
                        <a:off x="2133600" y="4724400"/>
                        <a:ext cx="358140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80185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534400" cy="1139825"/>
          </a:xfrm>
        </p:spPr>
        <p:txBody>
          <a:bodyPr/>
          <a:lstStyle/>
          <a:p>
            <a:pPr>
              <a:defRPr/>
            </a:pPr>
            <a:r>
              <a:rPr lang="en-US" altLang="en-US" sz="3600" dirty="0"/>
              <a:t>Limitations of Current Merging Schemes</a:t>
            </a:r>
          </a:p>
        </p:txBody>
      </p:sp>
      <p:pic>
        <p:nvPicPr>
          <p:cNvPr id="16947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138" y="1447800"/>
            <a:ext cx="5072062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00200"/>
            <a:ext cx="9906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94726" name="Text Box 6"/>
          <p:cNvSpPr txBox="1">
            <a:spLocks noChangeArrowheads="1"/>
          </p:cNvSpPr>
          <p:nvPr/>
        </p:nvSpPr>
        <p:spPr bwMode="auto">
          <a:xfrm>
            <a:off x="152400" y="5370513"/>
            <a:ext cx="29718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Shows relative closeness</a:t>
            </a:r>
          </a:p>
        </p:txBody>
      </p:sp>
      <p:sp>
        <p:nvSpPr>
          <p:cNvPr id="18438" name="Text Box 7"/>
          <p:cNvSpPr txBox="1">
            <a:spLocks noChangeArrowheads="1"/>
          </p:cNvSpPr>
          <p:nvPr/>
        </p:nvSpPr>
        <p:spPr bwMode="auto">
          <a:xfrm>
            <a:off x="457200" y="1744663"/>
            <a:ext cx="6096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(a)</a:t>
            </a:r>
          </a:p>
        </p:txBody>
      </p:sp>
      <p:sp>
        <p:nvSpPr>
          <p:cNvPr id="18439" name="Text Box 8"/>
          <p:cNvSpPr txBox="1">
            <a:spLocks noChangeArrowheads="1"/>
          </p:cNvSpPr>
          <p:nvPr/>
        </p:nvSpPr>
        <p:spPr bwMode="auto">
          <a:xfrm>
            <a:off x="457200" y="2222500"/>
            <a:ext cx="6096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(b)</a:t>
            </a:r>
          </a:p>
        </p:txBody>
      </p:sp>
      <p:sp>
        <p:nvSpPr>
          <p:cNvPr id="18440" name="Text Box 9"/>
          <p:cNvSpPr txBox="1">
            <a:spLocks noChangeArrowheads="1"/>
          </p:cNvSpPr>
          <p:nvPr/>
        </p:nvSpPr>
        <p:spPr bwMode="auto">
          <a:xfrm>
            <a:off x="457200" y="3352800"/>
            <a:ext cx="6858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(c)</a:t>
            </a:r>
          </a:p>
        </p:txBody>
      </p:sp>
      <p:sp>
        <p:nvSpPr>
          <p:cNvPr id="18441" name="Text Box 10"/>
          <p:cNvSpPr txBox="1">
            <a:spLocks noChangeArrowheads="1"/>
          </p:cNvSpPr>
          <p:nvPr/>
        </p:nvSpPr>
        <p:spPr bwMode="auto">
          <a:xfrm>
            <a:off x="457200" y="4419600"/>
            <a:ext cx="6096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(d)</a:t>
            </a:r>
          </a:p>
        </p:txBody>
      </p:sp>
      <p:sp>
        <p:nvSpPr>
          <p:cNvPr id="1694731" name="Text Box 11"/>
          <p:cNvSpPr txBox="1">
            <a:spLocks noChangeArrowheads="1"/>
          </p:cNvSpPr>
          <p:nvPr/>
        </p:nvSpPr>
        <p:spPr bwMode="auto">
          <a:xfrm>
            <a:off x="4419600" y="5475288"/>
            <a:ext cx="36576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Shows inter connectedness</a:t>
            </a:r>
          </a:p>
        </p:txBody>
      </p:sp>
    </p:spTree>
    <p:extLst>
      <p:ext uri="{BB962C8B-B14F-4D97-AF65-F5344CB8AC3E}">
        <p14:creationId xmlns:p14="http://schemas.microsoft.com/office/powerpoint/2010/main" val="399183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4726" grpId="0"/>
      <p:bldP spid="169473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Characteristics of Spatial Data Sets</a:t>
            </a:r>
          </a:p>
        </p:txBody>
      </p:sp>
      <p:pic>
        <p:nvPicPr>
          <p:cNvPr id="19459" name="Picture 3" descr="t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905000"/>
            <a:ext cx="3124200" cy="1846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381000" y="1676400"/>
            <a:ext cx="50292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39725" indent="-225425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Clusters are defined as densely populated regions of the space</a:t>
            </a:r>
          </a:p>
          <a:p>
            <a:pPr lvl="1">
              <a:spcBef>
                <a:spcPct val="0"/>
              </a:spcBef>
              <a:buClrTx/>
              <a:buSzTx/>
              <a:buFontTx/>
              <a:buChar char="•"/>
            </a:pPr>
            <a:endParaRPr lang="en-US" altLang="en-US" sz="1000"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Clusters have arbitrary shapes, orientation, and non-uniform sizes</a:t>
            </a:r>
            <a:br>
              <a:rPr lang="en-US" altLang="en-US" sz="1800">
                <a:latin typeface="Arial" panose="020B0604020202020204" pitchFamily="34" charset="0"/>
              </a:rPr>
            </a:br>
            <a:endParaRPr lang="en-US" altLang="en-US" sz="1000"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Difference in densities across clusters and variation in density within clusters</a:t>
            </a:r>
            <a:br>
              <a:rPr lang="en-US" altLang="en-US" sz="1800">
                <a:latin typeface="Arial" panose="020B0604020202020204" pitchFamily="34" charset="0"/>
              </a:rPr>
            </a:br>
            <a:endParaRPr lang="en-US" altLang="en-US" sz="1000"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Existence of special artifacts (</a:t>
            </a:r>
            <a:r>
              <a:rPr lang="en-US" altLang="en-US" sz="1800" i="1">
                <a:latin typeface="Arial" panose="020B0604020202020204" pitchFamily="34" charset="0"/>
              </a:rPr>
              <a:t>streaks</a:t>
            </a:r>
            <a:r>
              <a:rPr lang="en-US" altLang="en-US" sz="1800">
                <a:latin typeface="Arial" panose="020B0604020202020204" pitchFamily="34" charset="0"/>
              </a:rPr>
              <a:t>) and noise</a:t>
            </a:r>
          </a:p>
        </p:txBody>
      </p:sp>
      <p:pic>
        <p:nvPicPr>
          <p:cNvPr id="19461" name="Picture 5" descr="t7_talk_origin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962400"/>
            <a:ext cx="3124200" cy="18526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762000" y="4648200"/>
            <a:ext cx="4546600" cy="915988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en-US" sz="1800">
                <a:solidFill>
                  <a:srgbClr val="CC3300"/>
                </a:solidFill>
                <a:latin typeface="Arial Rounded MT Bold" panose="020F0704030504030204" pitchFamily="34" charset="0"/>
              </a:rPr>
              <a:t>The clustering algorithm must address the above characteristics and also require minimal supervision</a:t>
            </a:r>
            <a:r>
              <a:rPr lang="en-US" altLang="en-US" sz="1800">
                <a:solidFill>
                  <a:srgbClr val="CC3300"/>
                </a:solidFill>
                <a:latin typeface="Arial" panose="020B0604020202020204" pitchFamily="34" charset="0"/>
              </a:rPr>
              <a:t>.</a:t>
            </a:r>
            <a:endParaRPr lang="en-US" altLang="en-US" sz="1400">
              <a:solidFill>
                <a:srgbClr val="CC33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1519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860" name="Rectangle 4"/>
          <p:cNvSpPr>
            <a:spLocks noGrp="1" noChangeArrowheads="1"/>
          </p:cNvSpPr>
          <p:nvPr>
            <p:ph type="title"/>
          </p:nvPr>
        </p:nvSpPr>
        <p:spPr>
          <a:xfrm>
            <a:off x="419100" y="152400"/>
            <a:ext cx="8229600" cy="865188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Chameleon:  Steps</a:t>
            </a:r>
          </a:p>
        </p:txBody>
      </p:sp>
      <p:sp>
        <p:nvSpPr>
          <p:cNvPr id="165786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067800" cy="45307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en-US" sz="2800" dirty="0">
                <a:solidFill>
                  <a:srgbClr val="FF0000"/>
                </a:solidFill>
              </a:rPr>
              <a:t>Preprocessing Step</a:t>
            </a:r>
            <a:r>
              <a:rPr lang="en-US" altLang="en-US" sz="2800" dirty="0"/>
              <a:t>: </a:t>
            </a:r>
            <a:br>
              <a:rPr lang="en-US" altLang="en-US" sz="2800" dirty="0"/>
            </a:br>
            <a:r>
              <a:rPr lang="en-US" altLang="en-US" sz="2800" dirty="0"/>
              <a:t>Represent the Data by a Graph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/>
              <a:t>Given a set of points, construct the k-nearest-neighbor (k-NN) graph to capture the relationship between a point and its k nearest neighbors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/>
              <a:t>Concept of neighborhood is captured dynamically (even if region is sparse)</a:t>
            </a:r>
          </a:p>
          <a:p>
            <a:pPr lvl="4">
              <a:lnSpc>
                <a:spcPct val="90000"/>
              </a:lnSpc>
              <a:defRPr/>
            </a:pPr>
            <a:endParaRPr lang="en-US" altLang="en-US" sz="1800" dirty="0"/>
          </a:p>
          <a:p>
            <a:pPr>
              <a:lnSpc>
                <a:spcPct val="90000"/>
              </a:lnSpc>
              <a:defRPr/>
            </a:pPr>
            <a:r>
              <a:rPr lang="en-US" altLang="en-US" sz="2800" dirty="0">
                <a:solidFill>
                  <a:srgbClr val="FF0000"/>
                </a:solidFill>
              </a:rPr>
              <a:t>Phase 1</a:t>
            </a:r>
            <a:r>
              <a:rPr lang="en-US" altLang="en-US" sz="2800" dirty="0"/>
              <a:t>: Use a multilevel graph partitioning algorithm on the graph to find a large number of clusters of well-connected vertices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/>
              <a:t>Each cluster should contain mostly points from one “true” cluster, i.e., is a sub-cluster of a “real” cluster</a:t>
            </a:r>
          </a:p>
        </p:txBody>
      </p:sp>
    </p:spTree>
    <p:extLst>
      <p:ext uri="{BB962C8B-B14F-4D97-AF65-F5344CB8AC3E}">
        <p14:creationId xmlns:p14="http://schemas.microsoft.com/office/powerpoint/2010/main" val="32007971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8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Chameleon:  Steps … </a:t>
            </a:r>
          </a:p>
        </p:txBody>
      </p:sp>
      <p:sp>
        <p:nvSpPr>
          <p:cNvPr id="165888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839200" cy="5562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FF0000"/>
                </a:solidFill>
              </a:rPr>
              <a:t>Phase 2</a:t>
            </a:r>
            <a:r>
              <a:rPr lang="en-US" altLang="en-US" dirty="0"/>
              <a:t>: Use Hierarchical Agglomerative Clustering to merge sub-clusters</a:t>
            </a:r>
          </a:p>
          <a:p>
            <a:pPr lvl="1">
              <a:defRPr/>
            </a:pPr>
            <a:r>
              <a:rPr lang="en-US" altLang="en-US" dirty="0"/>
              <a:t>Two clusters are combined if the </a:t>
            </a:r>
            <a:r>
              <a:rPr lang="en-US" altLang="en-US" i="1" dirty="0"/>
              <a:t>resulting cluster shares certain properties with the constituent </a:t>
            </a:r>
            <a:r>
              <a:rPr lang="en-US" altLang="en-US" i="1" dirty="0" smtClean="0"/>
              <a:t>clusters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Two key properties used to model cluster similarity:</a:t>
            </a:r>
          </a:p>
          <a:p>
            <a:pPr lvl="2">
              <a:defRPr/>
            </a:pPr>
            <a:r>
              <a:rPr lang="en-US" altLang="en-US" dirty="0">
                <a:solidFill>
                  <a:srgbClr val="1C5A61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Relative Interconnectivity</a:t>
            </a:r>
            <a:r>
              <a:rPr lang="en-US" altLang="en-US" dirty="0"/>
              <a:t>: Absolute interconnectivity of two clusters normalized by the internal connectivity of the clusters</a:t>
            </a:r>
          </a:p>
          <a:p>
            <a:pPr lvl="3">
              <a:defRPr/>
            </a:pPr>
            <a:endParaRPr lang="en-US" altLang="en-US" sz="800" dirty="0"/>
          </a:p>
          <a:p>
            <a:pPr lvl="2">
              <a:defRPr/>
            </a:pPr>
            <a:r>
              <a:rPr lang="en-US" altLang="en-US" dirty="0">
                <a:solidFill>
                  <a:srgbClr val="1C5A61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Relative Closeness</a:t>
            </a:r>
            <a:r>
              <a:rPr lang="en-US" altLang="en-US" dirty="0"/>
              <a:t>: Absolute closeness of two clusters normalized by the internal closeness of the clusters</a:t>
            </a:r>
          </a:p>
          <a:p>
            <a:pPr lvl="3"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412280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9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398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/>
              <a:t>Experimental Results: </a:t>
            </a:r>
            <a:r>
              <a:rPr lang="en-US" altLang="en-US" dirty="0">
                <a:latin typeface="Arial Rounded MT Bold" panose="020F0704030504030204" pitchFamily="34" charset="0"/>
              </a:rPr>
              <a:t>CHAMELEON</a:t>
            </a:r>
            <a:endParaRPr lang="en-US" altLang="en-US" dirty="0"/>
          </a:p>
        </p:txBody>
      </p:sp>
      <p:pic>
        <p:nvPicPr>
          <p:cNvPr id="22531" name="Picture 3" descr="ds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71600"/>
            <a:ext cx="7112000" cy="47545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54858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9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/>
              <a:t>Experimental Results</a:t>
            </a:r>
            <a:r>
              <a:rPr lang="en-US" altLang="en-US" dirty="0" smtClean="0"/>
              <a:t>:</a:t>
            </a:r>
            <a:endParaRPr lang="en-US" altLang="en-US" dirty="0"/>
          </a:p>
        </p:txBody>
      </p:sp>
      <p:pic>
        <p:nvPicPr>
          <p:cNvPr id="23555" name="Picture 3" descr="t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" y="990600"/>
            <a:ext cx="4343400" cy="274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6" name="Picture 3" descr="t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350" y="990600"/>
            <a:ext cx="4419600" cy="274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57" name="Rectangle 1"/>
          <p:cNvSpPr>
            <a:spLocks noChangeArrowheads="1"/>
          </p:cNvSpPr>
          <p:nvPr/>
        </p:nvSpPr>
        <p:spPr bwMode="auto">
          <a:xfrm>
            <a:off x="1382713" y="3733800"/>
            <a:ext cx="16938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CHAMELEON</a:t>
            </a:r>
            <a:endParaRPr lang="en-US" altLang="en-US" sz="1800"/>
          </a:p>
        </p:txBody>
      </p:sp>
      <p:sp>
        <p:nvSpPr>
          <p:cNvPr id="23558" name="Rectangle 2"/>
          <p:cNvSpPr>
            <a:spLocks noChangeArrowheads="1"/>
          </p:cNvSpPr>
          <p:nvPr/>
        </p:nvSpPr>
        <p:spPr bwMode="auto">
          <a:xfrm>
            <a:off x="5467350" y="3733800"/>
            <a:ext cx="2306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CURE (</a:t>
            </a:r>
            <a:r>
              <a:rPr lang="en-US" altLang="en-US" sz="1800" i="1">
                <a:latin typeface="Arial Rounded MT Bold" panose="020F0704030504030204" pitchFamily="34" charset="0"/>
              </a:rPr>
              <a:t>10 clusters</a:t>
            </a:r>
            <a:r>
              <a:rPr lang="en-US" altLang="en-US" sz="1800">
                <a:latin typeface="Arial Rounded MT Bold" panose="020F0704030504030204" pitchFamily="34" charset="0"/>
              </a:rPr>
              <a:t>)</a:t>
            </a:r>
            <a:endParaRPr lang="en-US" altLang="en-US" sz="1800"/>
          </a:p>
        </p:txBody>
      </p:sp>
      <p:pic>
        <p:nvPicPr>
          <p:cNvPr id="23559" name="Picture 3" descr="t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267200"/>
            <a:ext cx="4648200" cy="233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60" name="Rectangle 4"/>
          <p:cNvSpPr>
            <a:spLocks noChangeArrowheads="1"/>
          </p:cNvSpPr>
          <p:nvPr/>
        </p:nvSpPr>
        <p:spPr bwMode="auto">
          <a:xfrm>
            <a:off x="6384925" y="6208713"/>
            <a:ext cx="23050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CURE (</a:t>
            </a:r>
            <a:r>
              <a:rPr lang="en-US" altLang="en-US" sz="1800" i="1">
                <a:latin typeface="Arial Rounded MT Bold" panose="020F0704030504030204" pitchFamily="34" charset="0"/>
              </a:rPr>
              <a:t>15 clusters</a:t>
            </a:r>
            <a:r>
              <a:rPr lang="en-US" altLang="en-US" sz="1800">
                <a:latin typeface="Arial Rounded MT Bold" panose="020F0704030504030204" pitchFamily="34" charset="0"/>
              </a:rPr>
              <a:t>)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31805833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0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5334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/>
              <a:t>Experimental Results</a:t>
            </a:r>
            <a:r>
              <a:rPr lang="en-US" altLang="en-US" dirty="0" smtClean="0"/>
              <a:t>:</a:t>
            </a:r>
            <a:endParaRPr lang="en-US" altLang="en-US" dirty="0">
              <a:latin typeface="Arial Rounded MT Bold" panose="020F0704030504030204" pitchFamily="34" charset="0"/>
            </a:endParaRPr>
          </a:p>
        </p:txBody>
      </p:sp>
      <p:pic>
        <p:nvPicPr>
          <p:cNvPr id="24579" name="Picture 3" descr="t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19200"/>
            <a:ext cx="4343400" cy="2265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80" name="Rectangle 1"/>
          <p:cNvSpPr>
            <a:spLocks noChangeArrowheads="1"/>
          </p:cNvSpPr>
          <p:nvPr/>
        </p:nvSpPr>
        <p:spPr bwMode="auto">
          <a:xfrm>
            <a:off x="1295400" y="3598863"/>
            <a:ext cx="16954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CHAMELEON</a:t>
            </a:r>
            <a:endParaRPr lang="en-US" altLang="en-US" sz="1800"/>
          </a:p>
        </p:txBody>
      </p:sp>
      <p:pic>
        <p:nvPicPr>
          <p:cNvPr id="24581" name="Picture 3" descr="t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219200"/>
            <a:ext cx="4191000" cy="2265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82" name="Rectangle 2"/>
          <p:cNvSpPr>
            <a:spLocks noChangeArrowheads="1"/>
          </p:cNvSpPr>
          <p:nvPr/>
        </p:nvSpPr>
        <p:spPr bwMode="auto">
          <a:xfrm>
            <a:off x="5659438" y="3571875"/>
            <a:ext cx="2168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CURE (</a:t>
            </a:r>
            <a:r>
              <a:rPr lang="en-US" altLang="en-US" sz="1800" i="1">
                <a:latin typeface="Arial Rounded MT Bold" panose="020F0704030504030204" pitchFamily="34" charset="0"/>
              </a:rPr>
              <a:t>9 clusters</a:t>
            </a:r>
            <a:r>
              <a:rPr lang="en-US" altLang="en-US" sz="1800">
                <a:latin typeface="Arial Rounded MT Bold" panose="020F0704030504030204" pitchFamily="34" charset="0"/>
              </a:rPr>
              <a:t>)</a:t>
            </a:r>
            <a:endParaRPr lang="en-US" altLang="en-US" sz="1800"/>
          </a:p>
        </p:txBody>
      </p:sp>
      <p:pic>
        <p:nvPicPr>
          <p:cNvPr id="24583" name="Picture 3" descr="t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4343400"/>
            <a:ext cx="4267200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84" name="Rectangle 3"/>
          <p:cNvSpPr>
            <a:spLocks noChangeArrowheads="1"/>
          </p:cNvSpPr>
          <p:nvPr/>
        </p:nvSpPr>
        <p:spPr bwMode="auto">
          <a:xfrm>
            <a:off x="4525963" y="6057900"/>
            <a:ext cx="2305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CURE (</a:t>
            </a:r>
            <a:r>
              <a:rPr lang="en-US" altLang="en-US" sz="1800" i="1">
                <a:latin typeface="Arial Rounded MT Bold" panose="020F0704030504030204" pitchFamily="34" charset="0"/>
              </a:rPr>
              <a:t>15 clusters</a:t>
            </a:r>
            <a:r>
              <a:rPr lang="en-US" altLang="en-US" sz="1800">
                <a:latin typeface="Arial Rounded MT Bold" panose="020F0704030504030204" pitchFamily="34" charset="0"/>
              </a:rPr>
              <a:t>)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542339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2441</TotalTime>
  <Words>1930</Words>
  <Application>Microsoft Office PowerPoint</Application>
  <PresentationFormat>On-screen Show (4:3)</PresentationFormat>
  <Paragraphs>309</Paragraphs>
  <Slides>56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56</vt:i4>
      </vt:variant>
    </vt:vector>
  </HeadingPairs>
  <TitlesOfParts>
    <vt:vector size="69" baseType="lpstr">
      <vt:lpstr>SimSun</vt:lpstr>
      <vt:lpstr>Arial</vt:lpstr>
      <vt:lpstr>Arial Rounded MT Bold</vt:lpstr>
      <vt:lpstr>Calibri</vt:lpstr>
      <vt:lpstr>Monotype Sorts</vt:lpstr>
      <vt:lpstr>Symbol</vt:lpstr>
      <vt:lpstr>Tahoma</vt:lpstr>
      <vt:lpstr>Times New Roman</vt:lpstr>
      <vt:lpstr>Wingdings</vt:lpstr>
      <vt:lpstr>Office Theme</vt:lpstr>
      <vt:lpstr>Equation</vt:lpstr>
      <vt:lpstr>Bitmap Image</vt:lpstr>
      <vt:lpstr>MSPhotoEd.3</vt:lpstr>
      <vt:lpstr>ANOMALY DETECTION</vt:lpstr>
      <vt:lpstr>Statistical Approaches</vt:lpstr>
      <vt:lpstr>Outlier Discovery: Statistical Approaches</vt:lpstr>
      <vt:lpstr>PowerPoint Presentation</vt:lpstr>
      <vt:lpstr>PowerPoint Presentation</vt:lpstr>
      <vt:lpstr>PowerPoint Presentation</vt:lpstr>
      <vt:lpstr>Grubbs’ Test</vt:lpstr>
      <vt:lpstr>Statistical-based–Likelihood Approach</vt:lpstr>
      <vt:lpstr>Statistical‐based – Likelihood Approach</vt:lpstr>
      <vt:lpstr>Strengths/Weaknesses of Statistical Approaches</vt:lpstr>
      <vt:lpstr>Distance‐Based Approaches</vt:lpstr>
      <vt:lpstr>Distance-based Approaches</vt:lpstr>
      <vt:lpstr>Nearest-Neighbor Based Approach</vt:lpstr>
      <vt:lpstr>Nearest-Neighbor Based Approach</vt:lpstr>
      <vt:lpstr>Nearest-Neighbor Based Approach</vt:lpstr>
      <vt:lpstr>Nearest-Neighbor Based Approach</vt:lpstr>
      <vt:lpstr>Nearest-Neighbor Based Approach</vt:lpstr>
      <vt:lpstr>Nearest-Neighbor Based Approach</vt:lpstr>
      <vt:lpstr>Density‐Based Approaches</vt:lpstr>
      <vt:lpstr>Relative Density</vt:lpstr>
      <vt:lpstr>PowerPoint Presentation</vt:lpstr>
      <vt:lpstr>Density-based: LOF approach</vt:lpstr>
      <vt:lpstr>Strengths/Weaknesses of Density‐Based Approaches</vt:lpstr>
      <vt:lpstr>Clustering-Based</vt:lpstr>
      <vt:lpstr>Clustering‐Based Approaches</vt:lpstr>
      <vt:lpstr>PowerPoint Presentation</vt:lpstr>
      <vt:lpstr>PowerPoint Presentation</vt:lpstr>
      <vt:lpstr>Strengths/Weaknesses of Cluster‐Based Approaches</vt:lpstr>
      <vt:lpstr>Outliers in Lower Dimensional Projection</vt:lpstr>
      <vt:lpstr>Outliers in Lower Dimensional Projection</vt:lpstr>
      <vt:lpstr>Example</vt:lpstr>
      <vt:lpstr>Base Rate Fallacy</vt:lpstr>
      <vt:lpstr>Base Rate Fallacy (Axelsson, 1999)</vt:lpstr>
      <vt:lpstr>Base Rate Fallacy</vt:lpstr>
      <vt:lpstr>Base Rate Fallacy in Intrusion Detection</vt:lpstr>
      <vt:lpstr>Detection Rate vs False Alarm Rate</vt:lpstr>
      <vt:lpstr>Hierarchical Clustering: Revisited</vt:lpstr>
      <vt:lpstr>CURE: Another Hierarchical Approach</vt:lpstr>
      <vt:lpstr>CURE</vt:lpstr>
      <vt:lpstr>Experimental Results: CURE</vt:lpstr>
      <vt:lpstr>Experimental Results: CURE</vt:lpstr>
      <vt:lpstr>CURE Cannot Handle Differing Densities</vt:lpstr>
      <vt:lpstr>Graph-Based Clustering</vt:lpstr>
      <vt:lpstr>Graph-Based Clustering: Sparsification</vt:lpstr>
      <vt:lpstr>Graph-Based Clustering: Sparsification …</vt:lpstr>
      <vt:lpstr>Sparsification in the Clustering Process</vt:lpstr>
      <vt:lpstr>Limitations of Current Merging Schemes</vt:lpstr>
      <vt:lpstr>Limitations of Current Merging Schemes</vt:lpstr>
      <vt:lpstr>Chameleon: Clustering Using Dynamic Modeling</vt:lpstr>
      <vt:lpstr>Limitations of Current Merging Schemes</vt:lpstr>
      <vt:lpstr>Characteristics of Spatial Data Sets</vt:lpstr>
      <vt:lpstr>Chameleon:  Steps</vt:lpstr>
      <vt:lpstr>Chameleon:  Steps … </vt:lpstr>
      <vt:lpstr>Experimental Results: CHAMELEON</vt:lpstr>
      <vt:lpstr>Experimental Results:</vt:lpstr>
      <vt:lpstr>Experimental Results: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User</cp:lastModifiedBy>
  <cp:revision>73</cp:revision>
  <dcterms:created xsi:type="dcterms:W3CDTF">2016-03-31T23:17:38Z</dcterms:created>
  <dcterms:modified xsi:type="dcterms:W3CDTF">2018-04-20T10:23:19Z</dcterms:modified>
</cp:coreProperties>
</file>