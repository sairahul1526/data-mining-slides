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1" r:id="rId1"/>
  </p:sldMasterIdLst>
  <p:notesMasterIdLst>
    <p:notesMasterId r:id="rId28"/>
  </p:notesMasterIdLst>
  <p:handoutMasterIdLst>
    <p:handoutMasterId r:id="rId29"/>
  </p:handoutMasterIdLst>
  <p:sldIdLst>
    <p:sldId id="267" r:id="rId2"/>
    <p:sldId id="316" r:id="rId3"/>
    <p:sldId id="346" r:id="rId4"/>
    <p:sldId id="317" r:id="rId5"/>
    <p:sldId id="318" r:id="rId6"/>
    <p:sldId id="341" r:id="rId7"/>
    <p:sldId id="342" r:id="rId8"/>
    <p:sldId id="345" r:id="rId9"/>
    <p:sldId id="344" r:id="rId10"/>
    <p:sldId id="324" r:id="rId11"/>
    <p:sldId id="325" r:id="rId12"/>
    <p:sldId id="326" r:id="rId13"/>
    <p:sldId id="327" r:id="rId14"/>
    <p:sldId id="328" r:id="rId15"/>
    <p:sldId id="340" r:id="rId16"/>
    <p:sldId id="329" r:id="rId17"/>
    <p:sldId id="330" r:id="rId18"/>
    <p:sldId id="331" r:id="rId19"/>
    <p:sldId id="332" r:id="rId20"/>
    <p:sldId id="333" r:id="rId21"/>
    <p:sldId id="334" r:id="rId22"/>
    <p:sldId id="335" r:id="rId23"/>
    <p:sldId id="336" r:id="rId24"/>
    <p:sldId id="337" r:id="rId25"/>
    <p:sldId id="338" r:id="rId26"/>
    <p:sldId id="339" r:id="rId27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58" autoAdjust="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758F0-233C-4C35-880F-14CD2746C9BA}" type="datetimeFigureOut">
              <a:rPr lang="en-US" smtClean="0"/>
              <a:t>12-Mar-18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DF7EB-C4FE-4659-B9A8-34F69258D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213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0533EE9-463C-4516-8015-6E0019F800A4}" type="datetimeFigureOut">
              <a:rPr lang="en-US"/>
              <a:pPr>
                <a:defRPr/>
              </a:pPr>
              <a:t>12-Mar-18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B4CEB370-9894-4B78-965D-B1C2CC145C0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34623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51122" indent="-28889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55573" indent="-231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17802" indent="-231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80031" indent="-231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189CDBC-1BF3-443E-885B-E814875CA17E}" type="slidenum">
              <a:rPr lang="en-US" altLang="en-US">
                <a:latin typeface="Calibri" panose="020F0502020204030204" pitchFamily="34" charset="0"/>
              </a:rPr>
              <a:pPr eaLnBrk="1" hangingPunct="1"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163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704850"/>
            <a:ext cx="4627562" cy="3471863"/>
          </a:xfrm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95112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51122" indent="-288893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55573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17802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80031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3C1D9C8-9058-4EC8-B8BD-60A6328EA0C2}" type="datetime1">
              <a:rPr lang="en-US" altLang="en-US" sz="1200" b="0">
                <a:solidFill>
                  <a:schemeClr val="tx1"/>
                </a:solidFill>
              </a:rPr>
              <a:pPr eaLnBrk="1" hangingPunct="1"/>
              <a:t>12-Mar-18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481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51122" indent="-288893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55573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17802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80031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481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51122" indent="-288893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55573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17802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80031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11D52CB-E908-4B48-AC94-D3B3B3761776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4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481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35602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51122" indent="-288893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55573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17802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80031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0B2729E-F184-4D9F-BE53-6D1B603EE937}" type="datetime1">
              <a:rPr lang="en-US" altLang="en-US" sz="1200" b="0">
                <a:solidFill>
                  <a:schemeClr val="tx1"/>
                </a:solidFill>
              </a:rPr>
              <a:pPr eaLnBrk="1" hangingPunct="1"/>
              <a:t>12-Mar-18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471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51122" indent="-288893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55573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17802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80031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471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51122" indent="-288893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55573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17802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80031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4856B61-7A76-472F-8B05-A40BCB3E4D41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5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471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55864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704850"/>
            <a:ext cx="4627562" cy="3471863"/>
          </a:xfrm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48306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704850"/>
            <a:ext cx="4627562" cy="3471863"/>
          </a:xfrm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69631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704850"/>
            <a:ext cx="4627562" cy="3471863"/>
          </a:xfrm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087429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704850"/>
            <a:ext cx="4627562" cy="3471863"/>
          </a:xfrm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50050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704850"/>
            <a:ext cx="4627562" cy="3471863"/>
          </a:xfrm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15602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066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51122" indent="-288893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55573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17802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80031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F18AA8A-0988-4E76-9AE5-E4FD1A096980}" type="datetime1">
              <a:rPr lang="en-US" altLang="en-US" sz="1200" b="0">
                <a:solidFill>
                  <a:schemeClr val="tx1"/>
                </a:solidFill>
              </a:rPr>
              <a:pPr eaLnBrk="1" hangingPunct="1"/>
              <a:t>12-Mar-18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70661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51122" indent="-288893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55573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17802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80031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70662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51122" indent="-288893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55573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17802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80031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1D5CDF4-C968-427A-90A3-0FE987F20280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16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0147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704850"/>
            <a:ext cx="4627562" cy="3471863"/>
          </a:xfrm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502264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51122" indent="-288893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55573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17802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80031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5206F33-DD1F-4607-8D05-DF858029EE1C}" type="datetime1">
              <a:rPr lang="en-US" altLang="en-US" sz="1200" b="0">
                <a:solidFill>
                  <a:schemeClr val="tx1"/>
                </a:solidFill>
              </a:rPr>
              <a:pPr eaLnBrk="1" hangingPunct="1"/>
              <a:t>12-Mar-18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501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51122" indent="-288893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55573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17802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80031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501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51122" indent="-288893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55573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17802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80031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1F6DE41-CE86-4F49-8FDA-827FD066FD46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18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501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05687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704850"/>
            <a:ext cx="4627562" cy="3471863"/>
          </a:xfrm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1343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222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51122" indent="-288893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55573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17802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80031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5419D75-7A84-4360-AA27-E9EE3A8FEB1B}" type="datetime1">
              <a:rPr lang="en-US" altLang="en-US" sz="1200" b="0">
                <a:solidFill>
                  <a:schemeClr val="tx1"/>
                </a:solidFill>
              </a:rPr>
              <a:pPr eaLnBrk="1" hangingPunct="1"/>
              <a:t>12-Mar-18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52229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51122" indent="-288893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55573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17802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80031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52230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51122" indent="-288893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55573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17802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80031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8814248-00DA-4A09-9990-323213C91F8B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20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0173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704850"/>
            <a:ext cx="4627562" cy="3471863"/>
          </a:xfrm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351010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704850"/>
            <a:ext cx="4627562" cy="3471863"/>
          </a:xfrm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301458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704850"/>
            <a:ext cx="4627562" cy="3471863"/>
          </a:xfrm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156927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704850"/>
            <a:ext cx="4627562" cy="3471863"/>
          </a:xfrm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401436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704850"/>
            <a:ext cx="4627562" cy="3471863"/>
          </a:xfrm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963415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51122" indent="-288893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55573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17802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80031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36864E9-4A8F-4780-A41F-8A8BEC756A69}" type="datetime1">
              <a:rPr lang="en-US" altLang="en-US" sz="1200" b="0">
                <a:solidFill>
                  <a:schemeClr val="tx1"/>
                </a:solidFill>
              </a:rPr>
              <a:pPr eaLnBrk="1" hangingPunct="1"/>
              <a:t>12-Mar-18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583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51122" indent="-288893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55573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17802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80031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583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51122" indent="-288893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55573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17802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80031" indent="-231115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46A2E79-011B-46B7-8E8B-9248DED06324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26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583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60598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9338302-24C6-475B-9AB5-3CBA5FF8E4E4}" type="datetime1">
              <a:rPr lang="en-US" smtClean="0"/>
              <a:t>12-Mar-18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13B2E-15C4-481D-B976-1BC4761F388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711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EE9E84A-E7FE-493F-8895-3F1BF2FCEEA6}" type="datetime1">
              <a:rPr lang="en-US" smtClean="0"/>
              <a:t>12-Mar-18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01A0-5D62-4374-B797-9070FCA5045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027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1A8040-5438-41ED-959A-558440D22E5A}" type="datetime1">
              <a:rPr lang="en-US" smtClean="0"/>
              <a:t>12-Mar-18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57601-356E-4A0A-8250-F152894E549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7828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7B2CB35-E713-40BB-A951-F7FD68FF87B2}" type="datetime1">
              <a:rPr lang="en-US" smtClean="0"/>
              <a:t>12-Mar-18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57601-356E-4A0A-8250-F152894E549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2588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96EF80-20C4-40DB-8D6B-82F3FD2053D3}" type="datetime1">
              <a:rPr lang="en-US" smtClean="0"/>
              <a:t>12-Mar-18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57601-356E-4A0A-8250-F152894E549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3401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1971ED1-D706-43E3-A2C8-BA96626B9C62}" type="datetime1">
              <a:rPr lang="en-US" smtClean="0"/>
              <a:t>12-Mar-18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9445C-FA69-4076-8EC2-C433F2FBB87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4769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1CE98C-7DC9-4E5E-958C-B02D15F77D64}" type="datetime1">
              <a:rPr lang="en-US" smtClean="0"/>
              <a:t>12-Mar-18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E7F-0992-4460-B13A-D87DF63C0D0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3472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B3E552-15F7-4A77-91E7-59B3DBA7004C}" type="datetime1">
              <a:rPr lang="en-US" smtClean="0"/>
              <a:t>12-Mar-18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57601-356E-4A0A-8250-F152894E549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4727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3E41C45-4BC7-4D75-9396-7C39533B3235}" type="datetime1">
              <a:rPr lang="en-US" smtClean="0"/>
              <a:t>12-Mar-18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57601-356E-4A0A-8250-F152894E549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927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9E52BA-6B27-4104-A2CA-6243993A63FB}" type="datetime1">
              <a:rPr lang="en-US" smtClean="0"/>
              <a:t>12-Mar-18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57601-356E-4A0A-8250-F152894E549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9080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35C239-3CDF-437E-B0A0-68D2F34FBC92}" type="datetime1">
              <a:rPr lang="en-US" smtClean="0"/>
              <a:t>12-Mar-18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57601-356E-4A0A-8250-F152894E549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86474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11163" y="1143000"/>
            <a:ext cx="8318500" cy="5181600"/>
          </a:xfr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47866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1A54314-C237-4C0E-9A0B-95AFD139077A}" type="datetime1">
              <a:rPr lang="en-US" smtClean="0"/>
              <a:t>12-Mar-18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57601-356E-4A0A-8250-F152894E549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1868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Microsoft_Word_97_-_2003_Document1.doc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png"/><Relationship Id="rId5" Type="http://schemas.openxmlformats.org/officeDocument/2006/relationships/image" Target="../media/image10.wmf"/><Relationship Id="rId4" Type="http://schemas.openxmlformats.org/officeDocument/2006/relationships/oleObject" Target="../embeddings/oleObject4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5400" b="1" dirty="0" smtClean="0"/>
              <a:t>Classification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bg1"/>
                </a:solidFill>
              </a:rPr>
              <a:t>Model Evaluation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7543800" cy="495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 smtClean="0"/>
              <a:t>Metrics for Performance Evaluation</a:t>
            </a:r>
          </a:p>
          <a:p>
            <a:pPr lvl="1" eaLnBrk="1" hangingPunct="1"/>
            <a:r>
              <a:rPr lang="en-US" altLang="en-US" sz="2400" dirty="0" smtClean="0"/>
              <a:t>How to evaluate the performance of a model?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en-US" sz="2400" dirty="0" smtClean="0"/>
          </a:p>
          <a:p>
            <a:pPr lvl="1" eaLnBrk="1" hangingPunct="1"/>
            <a:endParaRPr lang="en-US" altLang="en-US" sz="2400" dirty="0" smtClean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765175" y="381000"/>
            <a:ext cx="81534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en-US" b="1" smtClean="0">
                <a:solidFill>
                  <a:schemeClr val="folHlink"/>
                </a:solidFill>
              </a:rPr>
              <a:t>Classification Performance</a:t>
            </a:r>
            <a:endParaRPr lang="en-US" altLang="en-US" b="1" dirty="0" smtClean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059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Rectangle 1026"/>
          <p:cNvSpPr>
            <a:spLocks noChangeArrowheads="1"/>
          </p:cNvSpPr>
          <p:nvPr/>
        </p:nvSpPr>
        <p:spPr bwMode="auto">
          <a:xfrm>
            <a:off x="304800" y="1148896"/>
            <a:ext cx="84582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Data sets with skewed class distributions are common in real life applications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Defective products in an assembly lines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Fraudulent credit card transactions are outnumbered by legitimate transactions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Malicious attacks on web sites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In both cases, there are disproportionate no. of instances that belong to different classes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Six-sigma principle: 4 defects in 1m products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1% fraudulent transactions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Imbalance causes a no. of problems to existing classification algorithms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Accuracy measures not appropriate!!</a:t>
            </a:r>
          </a:p>
        </p:txBody>
      </p:sp>
      <p:sp>
        <p:nvSpPr>
          <p:cNvPr id="5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1066800" y="381000"/>
            <a:ext cx="7529513" cy="7461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mtClean="0">
                <a:solidFill>
                  <a:schemeClr val="folHlink"/>
                </a:solidFill>
              </a:rPr>
              <a:t>	</a:t>
            </a:r>
            <a:r>
              <a:rPr lang="en-US" altLang="en-US" sz="4400" smtClean="0">
                <a:solidFill>
                  <a:schemeClr val="folHlink"/>
                </a:solidFill>
              </a:rPr>
              <a:t>Class Imbalance Problem</a:t>
            </a:r>
          </a:p>
        </p:txBody>
      </p:sp>
    </p:spTree>
    <p:extLst>
      <p:ext uri="{BB962C8B-B14F-4D97-AF65-F5344CB8AC3E}">
        <p14:creationId xmlns:p14="http://schemas.microsoft.com/office/powerpoint/2010/main" val="679656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b="1" dirty="0" smtClean="0">
                <a:solidFill>
                  <a:schemeClr val="folHlink"/>
                </a:solidFill>
              </a:rPr>
              <a:t>Classification Performance</a:t>
            </a:r>
          </a:p>
        </p:txBody>
      </p:sp>
      <p:pic>
        <p:nvPicPr>
          <p:cNvPr id="17411" name="Picture 3" descr="venncl"/>
          <p:cNvPicPr>
            <a:picLocks noChangeAspect="1" noChangeArrowheads="1"/>
          </p:cNvPicPr>
          <p:nvPr/>
        </p:nvPicPr>
        <p:blipFill>
          <a:blip r:embed="rId3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438400"/>
            <a:ext cx="310832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1460500" y="2132013"/>
            <a:ext cx="2097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rgbClr val="010000"/>
                </a:solidFill>
                <a:latin typeface="Arial" panose="020B0604020202020204" pitchFamily="34" charset="0"/>
              </a:rPr>
              <a:t>True Positive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5943600" y="2132013"/>
            <a:ext cx="2319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rgbClr val="010000"/>
                </a:solidFill>
                <a:latin typeface="Arial" panose="020B0604020202020204" pitchFamily="34" charset="0"/>
              </a:rPr>
              <a:t>False Negative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1435100" y="5408613"/>
            <a:ext cx="221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rgbClr val="010000"/>
                </a:solidFill>
                <a:latin typeface="Arial" panose="020B0604020202020204" pitchFamily="34" charset="0"/>
              </a:rPr>
              <a:t>False Positive</a:t>
            </a: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6090654" y="5408613"/>
            <a:ext cx="220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rgbClr val="010000"/>
                </a:solidFill>
                <a:latin typeface="Arial" panose="020B0604020202020204" pitchFamily="34" charset="0"/>
              </a:rPr>
              <a:t>True Negative</a:t>
            </a:r>
          </a:p>
        </p:txBody>
      </p:sp>
    </p:spTree>
    <p:extLst>
      <p:ext uri="{BB962C8B-B14F-4D97-AF65-F5344CB8AC3E}">
        <p14:creationId xmlns:p14="http://schemas.microsoft.com/office/powerpoint/2010/main" val="4039978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27"/>
          <p:cNvSpPr>
            <a:spLocks noChangeArrowheads="1"/>
          </p:cNvSpPr>
          <p:nvPr/>
        </p:nvSpPr>
        <p:spPr bwMode="auto">
          <a:xfrm>
            <a:off x="1371600" y="228600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b="0" dirty="0">
                <a:latin typeface="Arial" panose="020B0604020202020204" pitchFamily="34" charset="0"/>
              </a:rPr>
              <a:t>Measuring Performance</a:t>
            </a:r>
          </a:p>
        </p:txBody>
      </p:sp>
      <p:sp>
        <p:nvSpPr>
          <p:cNvPr id="1028" name="Rectangle 1028"/>
          <p:cNvSpPr>
            <a:spLocks noChangeArrowheads="1"/>
          </p:cNvSpPr>
          <p:nvPr/>
        </p:nvSpPr>
        <p:spPr bwMode="auto">
          <a:xfrm>
            <a:off x="381000" y="1295400"/>
            <a:ext cx="8534400" cy="445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marL="2857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kumimoji="1" lang="en-US" altLang="en-US" dirty="0">
              <a:latin typeface="Arial" panose="020B0604020202020204" pitchFamily="34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endParaRPr kumimoji="1" lang="en-US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>
            <p:extLst/>
          </p:nvPr>
        </p:nvGraphicFramePr>
        <p:xfrm>
          <a:off x="569913" y="835025"/>
          <a:ext cx="8112125" cy="579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Document" r:id="rId4" imgW="7027130" imgH="5905787" progId="Word.Document.8">
                  <p:embed/>
                </p:oleObj>
              </mc:Choice>
              <mc:Fallback>
                <p:oleObj name="Document" r:id="rId4" imgW="7027130" imgH="590578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3" y="835025"/>
                        <a:ext cx="8112125" cy="57943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7389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1026"/>
          <p:cNvSpPr>
            <a:spLocks noChangeArrowheads="1"/>
          </p:cNvSpPr>
          <p:nvPr/>
        </p:nvSpPr>
        <p:spPr bwMode="auto">
          <a:xfrm>
            <a:off x="457200" y="1447800"/>
            <a:ext cx="84582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Accuracy of a classifier on a given test set is the %age of test set tuples that are correctly classified by the classifier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endParaRPr kumimoji="1" lang="en-US" altLang="en-US" b="0" dirty="0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In pattern recognition literature, it is called ‘recognition rate’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endParaRPr kumimoji="1" lang="en-US" altLang="en-US" b="0" dirty="0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Reflects how well the classifier recognizes tuples of various classes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endParaRPr kumimoji="1" lang="en-US" altLang="en-US" b="0" dirty="0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Error rate or misclassification rate of a classifier M is 1 – </a:t>
            </a:r>
            <a:r>
              <a:rPr kumimoji="1" lang="en-US" altLang="en-US" b="0" dirty="0" err="1">
                <a:latin typeface="Arial" panose="020B0604020202020204" pitchFamily="34" charset="0"/>
              </a:rPr>
              <a:t>Acc</a:t>
            </a:r>
            <a:r>
              <a:rPr kumimoji="1" lang="en-US" altLang="en-US" b="0" dirty="0">
                <a:latin typeface="Arial" panose="020B0604020202020204" pitchFamily="34" charset="0"/>
              </a:rPr>
              <a:t>(M), where </a:t>
            </a:r>
            <a:r>
              <a:rPr kumimoji="1" lang="en-US" altLang="en-US" b="0" dirty="0" err="1">
                <a:latin typeface="Arial" panose="020B0604020202020204" pitchFamily="34" charset="0"/>
              </a:rPr>
              <a:t>Acc</a:t>
            </a:r>
            <a:r>
              <a:rPr kumimoji="1" lang="en-US" altLang="en-US" b="0" dirty="0">
                <a:latin typeface="Arial" panose="020B0604020202020204" pitchFamily="34" charset="0"/>
              </a:rPr>
              <a:t>(M) is the accuracy of M</a:t>
            </a:r>
          </a:p>
        </p:txBody>
      </p:sp>
      <p:sp>
        <p:nvSpPr>
          <p:cNvPr id="6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1104900" y="74613"/>
            <a:ext cx="7529513" cy="7461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 smtClean="0">
                <a:solidFill>
                  <a:schemeClr val="folHlink"/>
                </a:solidFill>
              </a:rPr>
              <a:t>	</a:t>
            </a:r>
            <a:r>
              <a:rPr lang="en-US" altLang="en-US" sz="4400" dirty="0" smtClean="0">
                <a:solidFill>
                  <a:schemeClr val="folHlink"/>
                </a:solidFill>
              </a:rPr>
              <a:t>Classifier Accuracy Measures</a:t>
            </a:r>
          </a:p>
        </p:txBody>
      </p:sp>
    </p:spTree>
    <p:extLst>
      <p:ext uri="{BB962C8B-B14F-4D97-AF65-F5344CB8AC3E}">
        <p14:creationId xmlns:p14="http://schemas.microsoft.com/office/powerpoint/2010/main" val="2538168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1026"/>
          <p:cNvSpPr>
            <a:spLocks noChangeArrowheads="1"/>
          </p:cNvSpPr>
          <p:nvPr/>
        </p:nvSpPr>
        <p:spPr bwMode="auto">
          <a:xfrm>
            <a:off x="457200" y="1447800"/>
            <a:ext cx="84582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Example: we trained a classifier to classify medical data tuples as either ‘cancer’ or ‘not_ cancer’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90% accuracy rate – sounds good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What if only 3-4% of </a:t>
            </a:r>
            <a:r>
              <a:rPr kumimoji="1" lang="en-US" altLang="en-US" b="0" dirty="0" smtClean="0">
                <a:latin typeface="Arial" panose="020B0604020202020204" pitchFamily="34" charset="0"/>
              </a:rPr>
              <a:t>training </a:t>
            </a:r>
            <a:r>
              <a:rPr kumimoji="1" lang="en-US" altLang="en-US" b="0" dirty="0">
                <a:latin typeface="Arial" panose="020B0604020202020204" pitchFamily="34" charset="0"/>
              </a:rPr>
              <a:t>set tuples are actually ‘cancer’?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Classifier could be correctly labeling only the </a:t>
            </a:r>
            <a:r>
              <a:rPr kumimoji="1" lang="en-US" altLang="en-US" b="0" dirty="0" err="1">
                <a:latin typeface="Arial" panose="020B0604020202020204" pitchFamily="34" charset="0"/>
              </a:rPr>
              <a:t>not_cancer</a:t>
            </a:r>
            <a:r>
              <a:rPr kumimoji="1" lang="en-US" altLang="en-US" b="0" dirty="0">
                <a:latin typeface="Arial" panose="020B0604020202020204" pitchFamily="34" charset="0"/>
              </a:rPr>
              <a:t> tuples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How well the classifier recognizes ‘cancer’ tuples (+ tuples) and how well it can recognize </a:t>
            </a:r>
            <a:r>
              <a:rPr kumimoji="1" lang="en-US" altLang="en-US" b="0" dirty="0" err="1">
                <a:latin typeface="Arial" panose="020B0604020202020204" pitchFamily="34" charset="0"/>
              </a:rPr>
              <a:t>not_cancer</a:t>
            </a:r>
            <a:r>
              <a:rPr kumimoji="1" lang="en-US" altLang="en-US" b="0" dirty="0">
                <a:latin typeface="Arial" panose="020B0604020202020204" pitchFamily="34" charset="0"/>
              </a:rPr>
              <a:t> tuples (- tuples)?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USE Sensitivity &amp; Specificity respectively </a:t>
            </a:r>
          </a:p>
        </p:txBody>
      </p:sp>
      <p:sp>
        <p:nvSpPr>
          <p:cNvPr id="6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914400" y="457200"/>
            <a:ext cx="7529513" cy="7461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mtClean="0">
                <a:solidFill>
                  <a:schemeClr val="folHlink"/>
                </a:solidFill>
              </a:rPr>
              <a:t>	</a:t>
            </a:r>
            <a:r>
              <a:rPr lang="en-US" altLang="en-US" sz="4400" smtClean="0">
                <a:solidFill>
                  <a:schemeClr val="folHlink"/>
                </a:solidFill>
              </a:rPr>
              <a:t>Alternative Measures</a:t>
            </a:r>
          </a:p>
        </p:txBody>
      </p:sp>
    </p:spTree>
    <p:extLst>
      <p:ext uri="{BB962C8B-B14F-4D97-AF65-F5344CB8AC3E}">
        <p14:creationId xmlns:p14="http://schemas.microsoft.com/office/powerpoint/2010/main" val="2423808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Rectangle 1026"/>
          <p:cNvSpPr>
            <a:spLocks noChangeArrowheads="1"/>
          </p:cNvSpPr>
          <p:nvPr/>
        </p:nvSpPr>
        <p:spPr bwMode="auto">
          <a:xfrm>
            <a:off x="381000" y="1295400"/>
            <a:ext cx="8763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2400" b="0" dirty="0">
                <a:latin typeface="Arial" panose="020B0604020202020204" pitchFamily="34" charset="0"/>
              </a:rPr>
              <a:t>Sensitivity (True + or recognition)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2400" b="0" dirty="0">
                <a:latin typeface="Arial" panose="020B0604020202020204" pitchFamily="34" charset="0"/>
              </a:rPr>
              <a:t>Specificity (False +)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2400" b="0" dirty="0">
                <a:latin typeface="Arial" panose="020B0604020202020204" pitchFamily="34" charset="0"/>
              </a:rPr>
              <a:t>In addition, we may use ‘precision’ to assess the %age of tuples labeled as ‘cancer’ that actually are cancer tuples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2400" b="0" dirty="0">
                <a:latin typeface="Arial" panose="020B0604020202020204" pitchFamily="34" charset="0"/>
              </a:rPr>
              <a:t>Sensitivity = #(True +)/+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2400" b="0" dirty="0">
                <a:latin typeface="Arial" panose="020B0604020202020204" pitchFamily="34" charset="0"/>
              </a:rPr>
              <a:t>Specificity = #(True -)/-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2400" b="0" dirty="0">
                <a:latin typeface="Arial" panose="020B0604020202020204" pitchFamily="34" charset="0"/>
              </a:rPr>
              <a:t>Precision = #(True +)/(#(True +) + #(False +))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kumimoji="1" lang="en-US" altLang="en-US" sz="2400" b="0" dirty="0">
                <a:latin typeface="Arial" panose="020B0604020202020204" pitchFamily="34" charset="0"/>
              </a:rPr>
              <a:t>	</a:t>
            </a:r>
            <a:r>
              <a:rPr kumimoji="1" lang="en-US" altLang="en-US" sz="2000" b="0" i="1" dirty="0">
                <a:cs typeface="Times New Roman" panose="02020603050405020304" pitchFamily="18" charset="0"/>
              </a:rPr>
              <a:t>where #(True +) is the no. of true positives (cancer tuples that were correctly classified)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kumimoji="1" lang="en-US" altLang="en-US" sz="2000" b="0" i="1" dirty="0">
                <a:cs typeface="Times New Roman" panose="02020603050405020304" pitchFamily="18" charset="0"/>
              </a:rPr>
              <a:t>	+ is the no. of ‘cancer’ tuples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kumimoji="1" lang="en-US" altLang="en-US" sz="2000" b="0" i="1" dirty="0">
                <a:cs typeface="Times New Roman" panose="02020603050405020304" pitchFamily="18" charset="0"/>
              </a:rPr>
              <a:t>	#(True -) is the no. of true negatives (</a:t>
            </a:r>
            <a:r>
              <a:rPr kumimoji="1" lang="en-US" altLang="en-US" sz="2000" b="0" i="1" dirty="0" err="1">
                <a:cs typeface="Times New Roman" panose="02020603050405020304" pitchFamily="18" charset="0"/>
              </a:rPr>
              <a:t>not_cancer</a:t>
            </a:r>
            <a:r>
              <a:rPr kumimoji="1" lang="en-US" altLang="en-US" sz="2000" b="0" i="1" dirty="0">
                <a:cs typeface="Times New Roman" panose="02020603050405020304" pitchFamily="18" charset="0"/>
              </a:rPr>
              <a:t> tuples that were correctly classified as such)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kumimoji="1" lang="en-US" altLang="en-US" sz="2000" b="0" i="1" dirty="0">
                <a:cs typeface="Times New Roman" panose="02020603050405020304" pitchFamily="18" charset="0"/>
              </a:rPr>
              <a:t>	- is the no. of ‘</a:t>
            </a:r>
            <a:r>
              <a:rPr kumimoji="1" lang="en-US" altLang="en-US" sz="2000" b="0" i="1" dirty="0" err="1">
                <a:cs typeface="Times New Roman" panose="02020603050405020304" pitchFamily="18" charset="0"/>
              </a:rPr>
              <a:t>not_cancer</a:t>
            </a:r>
            <a:r>
              <a:rPr kumimoji="1" lang="en-US" altLang="en-US" sz="2000" b="0" i="1" dirty="0">
                <a:cs typeface="Times New Roman" panose="02020603050405020304" pitchFamily="18" charset="0"/>
              </a:rPr>
              <a:t>’ tuples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kumimoji="1" lang="en-US" altLang="en-US" sz="2000" b="0" i="1" dirty="0">
                <a:cs typeface="Times New Roman" panose="02020603050405020304" pitchFamily="18" charset="0"/>
              </a:rPr>
              <a:t>	#(False +) is the no. of false positives (‘</a:t>
            </a:r>
            <a:r>
              <a:rPr kumimoji="1" lang="en-US" altLang="en-US" sz="2000" b="0" i="1" dirty="0" err="1">
                <a:cs typeface="Times New Roman" panose="02020603050405020304" pitchFamily="18" charset="0"/>
              </a:rPr>
              <a:t>not_cancer</a:t>
            </a:r>
            <a:r>
              <a:rPr kumimoji="1" lang="en-US" altLang="en-US" sz="2000" b="0" i="1" dirty="0">
                <a:cs typeface="Times New Roman" panose="02020603050405020304" pitchFamily="18" charset="0"/>
              </a:rPr>
              <a:t>’ incorrectly labelled as ‘cancer’)</a:t>
            </a:r>
            <a:endParaRPr kumimoji="1" lang="en-US" altLang="en-US" b="0" dirty="0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endParaRPr kumimoji="1" lang="en-US" altLang="en-US" b="0" dirty="0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endParaRPr kumimoji="1" lang="en-US" altLang="en-US" b="0" dirty="0">
              <a:latin typeface="Arial" panose="020B0604020202020204" pitchFamily="34" charset="0"/>
            </a:endParaRPr>
          </a:p>
        </p:txBody>
      </p:sp>
      <p:sp>
        <p:nvSpPr>
          <p:cNvPr id="5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914400" y="457200"/>
            <a:ext cx="7529513" cy="7461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 smtClean="0">
                <a:solidFill>
                  <a:schemeClr val="folHlink"/>
                </a:solidFill>
              </a:rPr>
              <a:t>	</a:t>
            </a:r>
            <a:r>
              <a:rPr lang="en-US" altLang="en-US" sz="4400" dirty="0" smtClean="0">
                <a:solidFill>
                  <a:schemeClr val="folHlink"/>
                </a:solidFill>
              </a:rPr>
              <a:t>Alternative Measures</a:t>
            </a:r>
          </a:p>
        </p:txBody>
      </p:sp>
    </p:spTree>
    <p:extLst>
      <p:ext uri="{BB962C8B-B14F-4D97-AF65-F5344CB8AC3E}">
        <p14:creationId xmlns:p14="http://schemas.microsoft.com/office/powerpoint/2010/main" val="3854804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Rectangle 1026"/>
          <p:cNvSpPr>
            <a:spLocks noChangeArrowheads="1"/>
          </p:cNvSpPr>
          <p:nvPr/>
        </p:nvSpPr>
        <p:spPr bwMode="auto">
          <a:xfrm>
            <a:off x="228600" y="1295400"/>
            <a:ext cx="87630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2400" b="0" dirty="0">
                <a:latin typeface="Arial" panose="020B0604020202020204" pitchFamily="34" charset="0"/>
              </a:rPr>
              <a:t>It can be shown that Accuracy </a:t>
            </a:r>
            <a:r>
              <a:rPr kumimoji="1" lang="en-US" altLang="en-US" sz="2400" b="0" dirty="0" smtClean="0">
                <a:latin typeface="Arial" panose="020B0604020202020204" pitchFamily="34" charset="0"/>
              </a:rPr>
              <a:t>as </a:t>
            </a:r>
            <a:r>
              <a:rPr kumimoji="1" lang="en-US" altLang="en-US" sz="2400" b="0" dirty="0">
                <a:latin typeface="Arial" panose="020B0604020202020204" pitchFamily="34" charset="0"/>
              </a:rPr>
              <a:t>a function of Sensitivity and Specificity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kumimoji="1" lang="en-US" altLang="en-US" sz="2400" b="0" i="1" dirty="0">
                <a:latin typeface="Arial" panose="020B0604020202020204" pitchFamily="34" charset="0"/>
                <a:cs typeface="Times New Roman" panose="02020603050405020304" pitchFamily="18" charset="0"/>
              </a:rPr>
              <a:t>	Accuracy = Sensitivity ((</a:t>
            </a:r>
            <a:r>
              <a:rPr kumimoji="1" lang="en-US" altLang="en-US" sz="2400" b="0" i="1" dirty="0" err="1">
                <a:latin typeface="Arial" panose="020B0604020202020204" pitchFamily="34" charset="0"/>
                <a:cs typeface="Times New Roman" panose="02020603050405020304" pitchFamily="18" charset="0"/>
              </a:rPr>
              <a:t>pos</a:t>
            </a:r>
            <a:r>
              <a:rPr kumimoji="1" lang="en-US" altLang="en-US" sz="2400" b="0" i="1" dirty="0">
                <a:latin typeface="Arial" panose="020B0604020202020204" pitchFamily="34" charset="0"/>
                <a:cs typeface="Times New Roman" panose="02020603050405020304" pitchFamily="18" charset="0"/>
              </a:rPr>
              <a:t>)/(</a:t>
            </a:r>
            <a:r>
              <a:rPr kumimoji="1" lang="en-US" altLang="en-US" sz="2400" b="0" i="1" dirty="0" err="1">
                <a:latin typeface="Arial" panose="020B0604020202020204" pitchFamily="34" charset="0"/>
                <a:cs typeface="Times New Roman" panose="02020603050405020304" pitchFamily="18" charset="0"/>
              </a:rPr>
              <a:t>pos+neg</a:t>
            </a:r>
            <a:r>
              <a:rPr kumimoji="1" lang="en-US" altLang="en-US" sz="2400" b="0" i="1" dirty="0">
                <a:latin typeface="Arial" panose="020B0604020202020204" pitchFamily="34" charset="0"/>
                <a:cs typeface="Times New Roman" panose="02020603050405020304" pitchFamily="18" charset="0"/>
              </a:rPr>
              <a:t>) 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kumimoji="1" lang="en-US" altLang="en-US" sz="2400" b="0" i="1" dirty="0">
                <a:latin typeface="Arial" panose="020B0604020202020204" pitchFamily="34" charset="0"/>
                <a:cs typeface="Times New Roman" panose="02020603050405020304" pitchFamily="18" charset="0"/>
              </a:rPr>
              <a:t>			   + </a:t>
            </a:r>
            <a:r>
              <a:rPr kumimoji="1" lang="en-US" altLang="en-US" sz="2400" b="0" i="1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Specificity </a:t>
            </a:r>
            <a:r>
              <a:rPr kumimoji="1" lang="en-US" altLang="en-US" sz="2400" b="0" i="1" dirty="0">
                <a:latin typeface="Arial" panose="020B0604020202020204" pitchFamily="34" charset="0"/>
                <a:cs typeface="Times New Roman" panose="02020603050405020304" pitchFamily="18" charset="0"/>
              </a:rPr>
              <a:t>((</a:t>
            </a:r>
            <a:r>
              <a:rPr kumimoji="1" lang="en-US" altLang="en-US" sz="2400" b="0" i="1" dirty="0" err="1">
                <a:latin typeface="Arial" panose="020B0604020202020204" pitchFamily="34" charset="0"/>
                <a:cs typeface="Times New Roman" panose="02020603050405020304" pitchFamily="18" charset="0"/>
              </a:rPr>
              <a:t>neg</a:t>
            </a:r>
            <a:r>
              <a:rPr kumimoji="1" lang="en-US" altLang="en-US" sz="2400" b="0" i="1" dirty="0">
                <a:latin typeface="Arial" panose="020B0604020202020204" pitchFamily="34" charset="0"/>
                <a:cs typeface="Times New Roman" panose="02020603050405020304" pitchFamily="18" charset="0"/>
              </a:rPr>
              <a:t>)/(</a:t>
            </a:r>
            <a:r>
              <a:rPr kumimoji="1" lang="en-US" altLang="en-US" sz="2400" b="0" i="1" dirty="0" err="1">
                <a:latin typeface="Arial" panose="020B0604020202020204" pitchFamily="34" charset="0"/>
                <a:cs typeface="Times New Roman" panose="02020603050405020304" pitchFamily="18" charset="0"/>
              </a:rPr>
              <a:t>pos+neg</a:t>
            </a:r>
            <a:r>
              <a:rPr kumimoji="1" lang="en-US" altLang="en-US" sz="2400" b="0" i="1" dirty="0">
                <a:latin typeface="Arial" panose="020B0604020202020204" pitchFamily="34" charset="0"/>
                <a:cs typeface="Times New Roman" panose="02020603050405020304" pitchFamily="18" charset="0"/>
              </a:rPr>
              <a:t>) )</a:t>
            </a:r>
            <a:endParaRPr kumimoji="1" lang="en-US" altLang="en-US" sz="2000" b="0" i="1" dirty="0"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endParaRPr kumimoji="1" lang="en-US" altLang="en-US" b="0" i="1" dirty="0"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Other cases where ‘accuracy’ not appropriate?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Assumption: each tuples belongs to only one class?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Rather than returning a class label, it is useful to return a probability class distribution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b="0" dirty="0">
                <a:latin typeface="Arial" panose="020B0604020202020204" pitchFamily="34" charset="0"/>
              </a:rPr>
              <a:t>A classification is considered correct if it assigns a tuple to first or the second most probable class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endParaRPr kumimoji="1" lang="en-US" altLang="en-US" b="0" dirty="0">
              <a:latin typeface="Arial" panose="020B0604020202020204" pitchFamily="34" charset="0"/>
            </a:endParaRPr>
          </a:p>
        </p:txBody>
      </p:sp>
      <p:sp>
        <p:nvSpPr>
          <p:cNvPr id="5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914400" y="457200"/>
            <a:ext cx="7529513" cy="7461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mtClean="0">
                <a:solidFill>
                  <a:schemeClr val="folHlink"/>
                </a:solidFill>
              </a:rPr>
              <a:t>	</a:t>
            </a:r>
            <a:r>
              <a:rPr lang="en-US" altLang="en-US" sz="4400" smtClean="0">
                <a:solidFill>
                  <a:schemeClr val="folHlink"/>
                </a:solidFill>
              </a:rPr>
              <a:t>Alternative Measures</a:t>
            </a:r>
          </a:p>
        </p:txBody>
      </p:sp>
    </p:spTree>
    <p:extLst>
      <p:ext uri="{BB962C8B-B14F-4D97-AF65-F5344CB8AC3E}">
        <p14:creationId xmlns:p14="http://schemas.microsoft.com/office/powerpoint/2010/main" val="4170217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smtClean="0">
                <a:solidFill>
                  <a:schemeClr val="tx1"/>
                </a:solidFill>
              </a:rPr>
              <a:t>Metrics for Performance Evaluation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295400"/>
            <a:ext cx="7543800" cy="495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 smtClean="0"/>
              <a:t>Focus on the predictive capability of a model</a:t>
            </a:r>
          </a:p>
          <a:p>
            <a:pPr lvl="1" eaLnBrk="1" hangingPunct="1"/>
            <a:r>
              <a:rPr lang="en-US" altLang="en-US" sz="2400" dirty="0" smtClean="0"/>
              <a:t>Rather than how fast it takes to classify or build models, scalability, etc.</a:t>
            </a:r>
          </a:p>
          <a:p>
            <a:pPr eaLnBrk="1" hangingPunct="1"/>
            <a:r>
              <a:rPr lang="en-US" altLang="en-US" sz="2800" dirty="0" smtClean="0"/>
              <a:t>Confusion Matrix:</a:t>
            </a:r>
          </a:p>
        </p:txBody>
      </p:sp>
      <p:graphicFrame>
        <p:nvGraphicFramePr>
          <p:cNvPr id="96358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881018"/>
              </p:ext>
            </p:extLst>
          </p:nvPr>
        </p:nvGraphicFramePr>
        <p:xfrm>
          <a:off x="348343" y="3553927"/>
          <a:ext cx="6096000" cy="27940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1524000"/>
                <a:gridCol w="1524000"/>
              </a:tblGrid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85800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/>
                      </a:r>
                      <a:b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3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74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795" name="Text Box 27"/>
          <p:cNvSpPr txBox="1">
            <a:spLocks noChangeArrowheads="1"/>
          </p:cNvSpPr>
          <p:nvPr/>
        </p:nvSpPr>
        <p:spPr bwMode="auto">
          <a:xfrm>
            <a:off x="6477000" y="3962400"/>
            <a:ext cx="26670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/>
              <a:t>a: TP (true positive)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/>
              <a:t>b: FN (false negative)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/>
              <a:t>c: FP (false positive)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/>
              <a:t>d: TN (true negative)</a:t>
            </a:r>
          </a:p>
        </p:txBody>
      </p:sp>
    </p:spTree>
    <p:extLst>
      <p:ext uri="{BB962C8B-B14F-4D97-AF65-F5344CB8AC3E}">
        <p14:creationId xmlns:p14="http://schemas.microsoft.com/office/powerpoint/2010/main" val="1561215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543800" cy="874713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smtClean="0">
                <a:solidFill>
                  <a:schemeClr val="tx1"/>
                </a:solidFill>
              </a:rPr>
              <a:t>Metrics for Performance Evaluation…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62000" y="1447800"/>
            <a:ext cx="7543800" cy="4953000"/>
          </a:xfrm>
        </p:spPr>
        <p:txBody>
          <a:bodyPr/>
          <a:lstStyle/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sz="2400" dirty="0" smtClean="0"/>
              <a:t>Most widely-used metric:</a:t>
            </a:r>
          </a:p>
          <a:p>
            <a:pPr eaLnBrk="1" hangingPunct="1"/>
            <a:endParaRPr lang="en-US" altLang="en-US" dirty="0" smtClean="0"/>
          </a:p>
        </p:txBody>
      </p:sp>
      <p:graphicFrame>
        <p:nvGraphicFramePr>
          <p:cNvPr id="964612" name="Group 4"/>
          <p:cNvGraphicFramePr>
            <a:graphicFrameLocks noGrp="1"/>
          </p:cNvGraphicFramePr>
          <p:nvPr/>
        </p:nvGraphicFramePr>
        <p:xfrm>
          <a:off x="1524000" y="1600200"/>
          <a:ext cx="6096000" cy="2822575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1524000"/>
                <a:gridCol w="1524000"/>
              </a:tblGrid>
              <a:tr h="66054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85954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/>
                      </a:r>
                      <a:b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11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b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(TP)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b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(FN)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748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b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(FP)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b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(TN)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609600" y="5105400"/>
          <a:ext cx="7583488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4" imgW="5663880" imgH="723600" progId="Equation.3">
                  <p:embed/>
                </p:oleObj>
              </mc:Choice>
              <mc:Fallback>
                <p:oleObj name="Equation" r:id="rId4" imgW="5663880" imgH="72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105400"/>
                        <a:ext cx="7583488" cy="969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08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tx1"/>
                </a:solidFill>
              </a:rPr>
              <a:t>Limitation of Accuracy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62000" y="1371600"/>
            <a:ext cx="7543800" cy="495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 smtClean="0"/>
              <a:t>Consider a 2-class problem</a:t>
            </a:r>
          </a:p>
          <a:p>
            <a:pPr lvl="1" eaLnBrk="1" hangingPunct="1"/>
            <a:r>
              <a:rPr lang="en-US" altLang="en-US" sz="2800" dirty="0" smtClean="0"/>
              <a:t>Number of Class 0 examples = 9990</a:t>
            </a:r>
          </a:p>
          <a:p>
            <a:pPr lvl="1" eaLnBrk="1" hangingPunct="1"/>
            <a:r>
              <a:rPr lang="en-US" altLang="en-US" sz="2800" dirty="0" smtClean="0"/>
              <a:t>Number of Class 1 examples = 10</a:t>
            </a:r>
          </a:p>
          <a:p>
            <a:pPr lvl="1" eaLnBrk="1" hangingPunct="1"/>
            <a:endParaRPr lang="en-US" altLang="en-US" sz="2800" dirty="0" smtClean="0"/>
          </a:p>
          <a:p>
            <a:pPr eaLnBrk="1" hangingPunct="1"/>
            <a:r>
              <a:rPr lang="en-US" altLang="en-US" sz="3200" dirty="0" smtClean="0"/>
              <a:t>If model predicts everything to be class 0, accuracy is 9990/10000 = 99.9 %</a:t>
            </a:r>
          </a:p>
          <a:p>
            <a:pPr lvl="1" eaLnBrk="1" hangingPunct="1"/>
            <a:r>
              <a:rPr lang="en-US" altLang="en-US" sz="2800" dirty="0" smtClean="0"/>
              <a:t>Accuracy is misleading because model does not detect any class 1 example</a:t>
            </a:r>
          </a:p>
          <a:p>
            <a:pPr eaLnBrk="1" hangingPunct="1"/>
            <a:endParaRPr lang="en-US" altLang="en-US" sz="3200" dirty="0" smtClean="0"/>
          </a:p>
          <a:p>
            <a:pPr eaLnBrk="1" hangingPunct="1"/>
            <a:endParaRPr lang="en-US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39375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tx1"/>
                </a:solidFill>
              </a:rPr>
              <a:t>Cost Matrix</a:t>
            </a:r>
          </a:p>
        </p:txBody>
      </p:sp>
      <p:graphicFrame>
        <p:nvGraphicFramePr>
          <p:cNvPr id="966659" name="Group 3"/>
          <p:cNvGraphicFramePr>
            <a:graphicFrameLocks noGrp="1"/>
          </p:cNvGraphicFramePr>
          <p:nvPr/>
        </p:nvGraphicFramePr>
        <p:xfrm>
          <a:off x="1447800" y="1625600"/>
          <a:ext cx="6096000" cy="27940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1524000"/>
                <a:gridCol w="1524000"/>
              </a:tblGrid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85800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/>
                      </a:r>
                      <a:b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C(i|j)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673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C(Yes|Yes)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C(No|Yes)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74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C(Yes|No)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C(No|No)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842" name="Rectangle 26"/>
          <p:cNvSpPr>
            <a:spLocks noChangeArrowheads="1"/>
          </p:cNvSpPr>
          <p:nvPr/>
        </p:nvSpPr>
        <p:spPr bwMode="auto">
          <a:xfrm>
            <a:off x="685800" y="5105400"/>
            <a:ext cx="7848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0"/>
              <a:t>C(i|j): Cost of misclassifying class j example as class i</a:t>
            </a:r>
          </a:p>
        </p:txBody>
      </p:sp>
    </p:spTree>
    <p:extLst>
      <p:ext uri="{BB962C8B-B14F-4D97-AF65-F5344CB8AC3E}">
        <p14:creationId xmlns:p14="http://schemas.microsoft.com/office/powerpoint/2010/main" val="78188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543800" cy="874713"/>
          </a:xfrm>
        </p:spPr>
        <p:txBody>
          <a:bodyPr/>
          <a:lstStyle/>
          <a:p>
            <a:pPr eaLnBrk="1" hangingPunct="1"/>
            <a:r>
              <a:rPr lang="en-US" altLang="en-US" sz="4000" b="1" smtClean="0">
                <a:solidFill>
                  <a:schemeClr val="tx1"/>
                </a:solidFill>
              </a:rPr>
              <a:t>Computing Cost of Classification</a:t>
            </a:r>
          </a:p>
        </p:txBody>
      </p:sp>
      <p:graphicFrame>
        <p:nvGraphicFramePr>
          <p:cNvPr id="967683" name="Group 1027"/>
          <p:cNvGraphicFramePr>
            <a:graphicFrameLocks noGrp="1"/>
          </p:cNvGraphicFramePr>
          <p:nvPr/>
        </p:nvGraphicFramePr>
        <p:xfrm>
          <a:off x="2895600" y="1524000"/>
          <a:ext cx="3581400" cy="1830789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762000"/>
                <a:gridCol w="838200"/>
              </a:tblGrid>
              <a:tr h="63985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Cost Matrix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96103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/>
                      </a:r>
                      <a:b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C(i|j)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961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3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67706" name="Group 1050"/>
          <p:cNvGraphicFramePr>
            <a:graphicFrameLocks noGrp="1"/>
          </p:cNvGraphicFramePr>
          <p:nvPr/>
        </p:nvGraphicFramePr>
        <p:xfrm>
          <a:off x="685800" y="3505200"/>
          <a:ext cx="3581400" cy="1830789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762000"/>
                <a:gridCol w="838200"/>
              </a:tblGrid>
              <a:tr h="63985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Model M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96103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/>
                      </a:r>
                      <a:b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961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3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67729" name="Group 1073"/>
          <p:cNvGraphicFramePr>
            <a:graphicFrameLocks noGrp="1"/>
          </p:cNvGraphicFramePr>
          <p:nvPr/>
        </p:nvGraphicFramePr>
        <p:xfrm>
          <a:off x="4953000" y="3505200"/>
          <a:ext cx="3581400" cy="1830789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762000"/>
                <a:gridCol w="838200"/>
              </a:tblGrid>
              <a:tr h="63985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Model M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96103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/>
                      </a:r>
                      <a:b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961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45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3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912" name="Rectangle 1096"/>
          <p:cNvSpPr>
            <a:spLocks noChangeArrowheads="1"/>
          </p:cNvSpPr>
          <p:nvPr/>
        </p:nvSpPr>
        <p:spPr bwMode="auto">
          <a:xfrm>
            <a:off x="533400" y="5334000"/>
            <a:ext cx="4191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/>
              <a:buNone/>
            </a:pPr>
            <a:r>
              <a:rPr lang="en-US" altLang="en-US" sz="2400" b="0"/>
              <a:t>Accuracy = 80%</a:t>
            </a:r>
          </a:p>
          <a:p>
            <a:pPr eaLnBrk="1" hangingPunct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/>
              <a:buNone/>
            </a:pPr>
            <a:r>
              <a:rPr lang="en-US" altLang="en-US" sz="2400" b="0"/>
              <a:t>Cost = 150x-1+60x1+40x100    =3910</a:t>
            </a:r>
          </a:p>
        </p:txBody>
      </p:sp>
      <p:sp>
        <p:nvSpPr>
          <p:cNvPr id="35913" name="Rectangle 1097"/>
          <p:cNvSpPr>
            <a:spLocks noChangeArrowheads="1"/>
          </p:cNvSpPr>
          <p:nvPr/>
        </p:nvSpPr>
        <p:spPr bwMode="auto">
          <a:xfrm>
            <a:off x="4876800" y="5334000"/>
            <a:ext cx="4267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/>
              <a:buNone/>
            </a:pPr>
            <a:r>
              <a:rPr lang="en-US" altLang="en-US" sz="2400" b="0"/>
              <a:t>Accuracy = 90%</a:t>
            </a:r>
          </a:p>
          <a:p>
            <a:pPr eaLnBrk="1" hangingPunct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/>
              <a:buNone/>
            </a:pPr>
            <a:r>
              <a:rPr lang="en-US" altLang="en-US" sz="2400" b="0"/>
              <a:t>Cost = 250x-1+5x1+45x100 =4255</a:t>
            </a:r>
          </a:p>
        </p:txBody>
      </p:sp>
    </p:spTree>
    <p:extLst>
      <p:ext uri="{BB962C8B-B14F-4D97-AF65-F5344CB8AC3E}">
        <p14:creationId xmlns:p14="http://schemas.microsoft.com/office/powerpoint/2010/main" val="5184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4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949325"/>
            <a:ext cx="8189913" cy="4957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9297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533400"/>
            <a:ext cx="6934200" cy="5334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smtClean="0">
                <a:solidFill>
                  <a:schemeClr val="tx1"/>
                </a:solidFill>
              </a:rPr>
              <a:t>Cost vs Accuracy</a:t>
            </a:r>
          </a:p>
        </p:txBody>
      </p:sp>
      <p:graphicFrame>
        <p:nvGraphicFramePr>
          <p:cNvPr id="968707" name="Group 3"/>
          <p:cNvGraphicFramePr>
            <a:graphicFrameLocks noGrp="1"/>
          </p:cNvGraphicFramePr>
          <p:nvPr>
            <p:ph type="tbl" idx="1"/>
          </p:nvPr>
        </p:nvGraphicFramePr>
        <p:xfrm>
          <a:off x="304800" y="1676400"/>
          <a:ext cx="4389437" cy="2243138"/>
        </p:xfrm>
        <a:graphic>
          <a:graphicData uri="http://schemas.openxmlformats.org/drawingml/2006/table">
            <a:tbl>
              <a:tblPr/>
              <a:tblGrid>
                <a:gridCol w="1096962"/>
                <a:gridCol w="1098550"/>
                <a:gridCol w="1096963"/>
                <a:gridCol w="1096962"/>
              </a:tblGrid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Count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65150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/>
                      </a:r>
                      <a:b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56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68730" name="Group 26"/>
          <p:cNvGraphicFramePr>
            <a:graphicFrameLocks noGrp="1"/>
          </p:cNvGraphicFramePr>
          <p:nvPr/>
        </p:nvGraphicFramePr>
        <p:xfrm>
          <a:off x="304800" y="4343400"/>
          <a:ext cx="4389438" cy="2243138"/>
        </p:xfrm>
        <a:graphic>
          <a:graphicData uri="http://schemas.openxmlformats.org/drawingml/2006/table">
            <a:tbl>
              <a:tblPr/>
              <a:tblGrid>
                <a:gridCol w="1096963"/>
                <a:gridCol w="1098550"/>
                <a:gridCol w="1096962"/>
                <a:gridCol w="1096963"/>
              </a:tblGrid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Cost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65150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/>
                      </a:r>
                      <a:b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56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5029200" y="1524000"/>
            <a:ext cx="3733800" cy="4964113"/>
            <a:chOff x="3216" y="720"/>
            <a:chExt cx="2352" cy="3127"/>
          </a:xfrm>
        </p:grpSpPr>
        <p:sp>
          <p:nvSpPr>
            <p:cNvPr id="36914" name="Text Box 50"/>
            <p:cNvSpPr txBox="1">
              <a:spLocks noChangeArrowheads="1"/>
            </p:cNvSpPr>
            <p:nvPr/>
          </p:nvSpPr>
          <p:spPr bwMode="auto">
            <a:xfrm>
              <a:off x="3264" y="1536"/>
              <a:ext cx="2256" cy="2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 b="0"/>
                <a:t>N = a + b + c + d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en-US" sz="1800" b="0"/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800" b="0"/>
                <a:t>Accuracy = (a + d)/N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en-US" sz="1800" b="0"/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800" b="0"/>
                <a:t>Cost = p (a + d) + q (b + c)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800" b="0"/>
                <a:t>        = p (a + d) + q (N – a – d)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800" b="0"/>
                <a:t>        = q N – (q – p)(a + d)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800" b="0"/>
                <a:t>        = N [q – (q-p) </a:t>
              </a:r>
              <a:r>
                <a:rPr lang="en-US" altLang="en-US" sz="1800" b="0">
                  <a:sym typeface="Symbol" panose="05050102010706020507" pitchFamily="18" charset="2"/>
                </a:rPr>
                <a:t> </a:t>
              </a:r>
              <a:r>
                <a:rPr lang="en-US" altLang="en-US" sz="1800" b="0"/>
                <a:t>Accuracy] 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en-US" sz="1800" b="0"/>
            </a:p>
          </p:txBody>
        </p:sp>
        <p:sp>
          <p:nvSpPr>
            <p:cNvPr id="36915" name="Rectangle 51"/>
            <p:cNvSpPr>
              <a:spLocks noChangeArrowheads="1"/>
            </p:cNvSpPr>
            <p:nvPr/>
          </p:nvSpPr>
          <p:spPr bwMode="auto">
            <a:xfrm>
              <a:off x="3216" y="720"/>
              <a:ext cx="2352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/>
                <a:t>Accuracy is proportional to cost if</a:t>
              </a:r>
              <a:br>
                <a:rPr lang="en-US" altLang="en-US" sz="1800" b="0"/>
              </a:br>
              <a:r>
                <a:rPr lang="en-US" altLang="en-US" sz="1800" b="0"/>
                <a:t>1. C(Yes|No)=C(No|Yes) = q </a:t>
              </a:r>
              <a:br>
                <a:rPr lang="en-US" altLang="en-US" sz="1800" b="0"/>
              </a:br>
              <a:r>
                <a:rPr lang="en-US" altLang="en-US" sz="1800" b="0"/>
                <a:t>2. C(Yes|Yes)=C(No|No) = 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097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bg1"/>
                </a:solidFill>
              </a:rPr>
              <a:t>Cost-Sensitive Measures</a:t>
            </a: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1981200" y="611981"/>
          <a:ext cx="4800600" cy="271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Equation" r:id="rId4" imgW="4241520" imgH="2400120" progId="Equation.3">
                  <p:embed/>
                </p:oleObj>
              </mc:Choice>
              <mc:Fallback>
                <p:oleObj name="Equation" r:id="rId4" imgW="4241520" imgH="240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611981"/>
                        <a:ext cx="4800600" cy="2716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Rectangle 4"/>
          <p:cNvSpPr>
            <a:spLocks noChangeArrowheads="1"/>
          </p:cNvSpPr>
          <p:nvPr/>
        </p:nvSpPr>
        <p:spPr bwMode="auto">
          <a:xfrm>
            <a:off x="152400" y="3962400"/>
            <a:ext cx="88392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/>
              <a:buChar char="l"/>
            </a:pPr>
            <a:r>
              <a:rPr lang="en-US" altLang="en-US" sz="2400" b="0"/>
              <a:t>Precision is biased towards C(Yes|Yes) &amp; C(Yes|No)</a:t>
            </a:r>
          </a:p>
          <a:p>
            <a:pPr eaLnBrk="1" hangingPunct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/>
              <a:buChar char="l"/>
            </a:pPr>
            <a:r>
              <a:rPr lang="en-US" altLang="en-US" sz="2400" b="0"/>
              <a:t>Recall is biased towards C(Yes|Yes) &amp; C(No|Yes)</a:t>
            </a:r>
          </a:p>
          <a:p>
            <a:pPr eaLnBrk="1" hangingPunct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/>
              <a:buChar char="l"/>
            </a:pPr>
            <a:r>
              <a:rPr lang="en-US" altLang="en-US" sz="2400" b="0"/>
              <a:t>F-measure is biased towards all except C(No|No)</a:t>
            </a:r>
          </a:p>
        </p:txBody>
      </p:sp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1371600" y="5410200"/>
          <a:ext cx="6019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Equation" r:id="rId6" imgW="5270400" imgH="799920" progId="Equation.3">
                  <p:embed/>
                </p:oleObj>
              </mc:Choice>
              <mc:Fallback>
                <p:oleObj name="Equation" r:id="rId6" imgW="5270400" imgH="799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410200"/>
                        <a:ext cx="6019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288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7"/>
          <p:cNvSpPr>
            <a:spLocks noChangeArrowheads="1"/>
          </p:cNvSpPr>
          <p:nvPr/>
        </p:nvSpPr>
        <p:spPr bwMode="auto">
          <a:xfrm>
            <a:off x="914400" y="0"/>
            <a:ext cx="82296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0" hangingPunct="0">
              <a:defRPr/>
            </a:pPr>
            <a:r>
              <a:rPr lang="en-US" sz="4400" dirty="0">
                <a:latin typeface="+mn-lt"/>
                <a:cs typeface="+mn-cs"/>
              </a:rPr>
              <a:t>Operating Characteristic Curve</a:t>
            </a:r>
            <a:endParaRPr kumimoji="1" lang="en-US" sz="4400" dirty="0">
              <a:latin typeface="+mn-lt"/>
              <a:cs typeface="+mn-cs"/>
            </a:endParaRPr>
          </a:p>
        </p:txBody>
      </p:sp>
      <p:sp>
        <p:nvSpPr>
          <p:cNvPr id="10243" name="Rectangle 1028"/>
          <p:cNvSpPr>
            <a:spLocks noChangeArrowheads="1"/>
          </p:cNvSpPr>
          <p:nvPr/>
        </p:nvSpPr>
        <p:spPr bwMode="auto">
          <a:xfrm>
            <a:off x="381000" y="1524000"/>
            <a:ext cx="8534400" cy="44545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t"/>
              <a:defRPr/>
            </a:pPr>
            <a:r>
              <a:rPr kumimoji="1" lang="en-US" sz="2400" dirty="0">
                <a:latin typeface="Arial" charset="0"/>
                <a:cs typeface="+mn-cs"/>
              </a:rPr>
              <a:t>OC Curve (operating characteristic curve) or ROC curve (receiver operating characteristic curve)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t"/>
              <a:defRPr/>
            </a:pPr>
            <a:r>
              <a:rPr lang="en-US" sz="2400" dirty="0">
                <a:latin typeface="+mj-lt"/>
                <a:cs typeface="+mn-cs"/>
              </a:rPr>
              <a:t>Developed in 1950s for signal detection theory to analyze noisy signals 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>
                <a:latin typeface="+mj-lt"/>
                <a:cs typeface="+mn-cs"/>
              </a:rPr>
              <a:t>Characterize the trade-off between positive hits and false alarms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t"/>
              <a:defRPr/>
            </a:pPr>
            <a:r>
              <a:rPr kumimoji="1" lang="en-US" sz="2400" dirty="0">
                <a:latin typeface="Arial" charset="0"/>
                <a:cs typeface="+mn-cs"/>
              </a:rPr>
              <a:t>Shows relationship between FPs and TPs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t"/>
              <a:defRPr/>
            </a:pPr>
            <a:r>
              <a:rPr kumimoji="1" lang="en-US" sz="2400" dirty="0">
                <a:latin typeface="Arial" charset="0"/>
                <a:cs typeface="+mn-cs"/>
              </a:rPr>
              <a:t>Originally used in communications area to examine false alarm rates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t"/>
              <a:defRPr/>
            </a:pPr>
            <a:r>
              <a:rPr kumimoji="1" lang="en-US" sz="2400" dirty="0">
                <a:latin typeface="Arial" charset="0"/>
                <a:cs typeface="+mn-cs"/>
              </a:rPr>
              <a:t>Used in IR to examine fallout (%age of retrieved that are not relevant) versus recall (%age of retrieved that are relevant)</a:t>
            </a:r>
            <a:endParaRPr kumimoji="1" lang="en-US" dirty="0">
              <a:latin typeface="Arial" charset="0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dirty="0"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2245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7620000" cy="5334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smtClean="0">
                <a:solidFill>
                  <a:schemeClr val="bg1"/>
                </a:solidFill>
              </a:rPr>
              <a:t>ROC (Receiver Operating Characteristic)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600200"/>
            <a:ext cx="75438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smtClean="0"/>
              <a:t>ROC curve plots TP (on the y-axis) against FP (on the x-axis)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smtClean="0"/>
              <a:t>Performance of each classifier represented as a point on the ROC curve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smtClean="0"/>
              <a:t>changing the threshold of algorithm, sample distribution or cost matrix changes the location of the point</a:t>
            </a:r>
          </a:p>
        </p:txBody>
      </p:sp>
      <p:sp>
        <p:nvSpPr>
          <p:cNvPr id="4" name="Rectangle 1027"/>
          <p:cNvSpPr>
            <a:spLocks noChangeArrowheads="1"/>
          </p:cNvSpPr>
          <p:nvPr/>
        </p:nvSpPr>
        <p:spPr bwMode="auto">
          <a:xfrm>
            <a:off x="721567" y="228600"/>
            <a:ext cx="82296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0" hangingPunct="0">
              <a:defRPr/>
            </a:pPr>
            <a:r>
              <a:rPr lang="en-US" sz="4400" dirty="0">
                <a:latin typeface="+mn-lt"/>
                <a:cs typeface="+mn-cs"/>
              </a:rPr>
              <a:t>Operating Characteristic Curve</a:t>
            </a:r>
            <a:endParaRPr kumimoji="1" lang="en-US" sz="4400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863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bg1"/>
                </a:solidFill>
              </a:rPr>
              <a:t>ROC Curve</a:t>
            </a: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6" r="5714"/>
          <a:stretch>
            <a:fillRect/>
          </a:stretch>
        </p:blipFill>
        <p:spPr bwMode="auto">
          <a:xfrm>
            <a:off x="228600" y="2362200"/>
            <a:ext cx="4022725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Oval 4"/>
          <p:cNvSpPr>
            <a:spLocks noChangeArrowheads="1"/>
          </p:cNvSpPr>
          <p:nvPr/>
        </p:nvSpPr>
        <p:spPr bwMode="auto">
          <a:xfrm>
            <a:off x="5273675" y="38862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09600" y="2209800"/>
            <a:ext cx="8229600" cy="4648200"/>
            <a:chOff x="288" y="1056"/>
            <a:chExt cx="5376" cy="2928"/>
          </a:xfrm>
        </p:grpSpPr>
        <p:pic>
          <p:nvPicPr>
            <p:cNvPr id="21511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9" r="6557"/>
            <a:stretch>
              <a:fillRect/>
            </a:stretch>
          </p:blipFill>
          <p:spPr bwMode="auto">
            <a:xfrm>
              <a:off x="2736" y="1056"/>
              <a:ext cx="2928" cy="2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12" name="Text Box 7"/>
            <p:cNvSpPr txBox="1">
              <a:spLocks noChangeArrowheads="1"/>
            </p:cNvSpPr>
            <p:nvPr/>
          </p:nvSpPr>
          <p:spPr bwMode="auto">
            <a:xfrm>
              <a:off x="288" y="3408"/>
              <a:ext cx="3360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/>
                <a:t>At threshold t: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2000"/>
                <a:t>TP=0.5, FN=0.5, FP=0.12, FN=0.88</a:t>
              </a:r>
            </a:p>
          </p:txBody>
        </p:sp>
        <p:sp>
          <p:nvSpPr>
            <p:cNvPr id="21513" name="Line 8"/>
            <p:cNvSpPr>
              <a:spLocks noChangeShapeType="1"/>
            </p:cNvSpPr>
            <p:nvPr/>
          </p:nvSpPr>
          <p:spPr bwMode="auto">
            <a:xfrm flipV="1">
              <a:off x="2160" y="2544"/>
              <a:ext cx="1104" cy="11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510" name="Text Box 9"/>
          <p:cNvSpPr txBox="1">
            <a:spLocks noChangeArrowheads="1"/>
          </p:cNvSpPr>
          <p:nvPr/>
        </p:nvSpPr>
        <p:spPr bwMode="auto">
          <a:xfrm>
            <a:off x="533400" y="838200"/>
            <a:ext cx="8458200" cy="93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0" dirty="0"/>
              <a:t>- 1-dimensional data set containing 2 classes (positive and negative)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200" b="0" dirty="0"/>
              <a:t>- any points located at x &gt; t is classified as positive</a:t>
            </a:r>
          </a:p>
        </p:txBody>
      </p:sp>
    </p:spTree>
    <p:extLst>
      <p:ext uri="{BB962C8B-B14F-4D97-AF65-F5344CB8AC3E}">
        <p14:creationId xmlns:p14="http://schemas.microsoft.com/office/powerpoint/2010/main" val="78759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bg1"/>
                </a:solidFill>
              </a:rPr>
              <a:t>ROC Curve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371600"/>
            <a:ext cx="4343400" cy="5181600"/>
          </a:xfrm>
        </p:spPr>
        <p:txBody>
          <a:bodyPr/>
          <a:lstStyle/>
          <a:p>
            <a:pPr eaLnBrk="1" hangingPunct="1">
              <a:buFont typeface="Monotype Sorts"/>
              <a:buNone/>
            </a:pPr>
            <a:r>
              <a:rPr lang="en-US" altLang="en-US" sz="2400" smtClean="0"/>
              <a:t>(TP,FP):</a:t>
            </a:r>
          </a:p>
          <a:p>
            <a:pPr eaLnBrk="1" hangingPunct="1"/>
            <a:r>
              <a:rPr lang="en-US" altLang="en-US" sz="2400" smtClean="0"/>
              <a:t>(0,0): declare everything</a:t>
            </a:r>
            <a:br>
              <a:rPr lang="en-US" altLang="en-US" sz="2400" smtClean="0"/>
            </a:br>
            <a:r>
              <a:rPr lang="en-US" altLang="en-US" sz="2400" smtClean="0"/>
              <a:t>          to be negative class</a:t>
            </a:r>
          </a:p>
          <a:p>
            <a:pPr eaLnBrk="1" hangingPunct="1"/>
            <a:r>
              <a:rPr lang="en-US" altLang="en-US" sz="2400" smtClean="0"/>
              <a:t>(1,1): declare everything</a:t>
            </a:r>
            <a:br>
              <a:rPr lang="en-US" altLang="en-US" sz="2400" smtClean="0"/>
            </a:br>
            <a:r>
              <a:rPr lang="en-US" altLang="en-US" sz="2400" smtClean="0"/>
              <a:t>         to be positive class</a:t>
            </a:r>
          </a:p>
          <a:p>
            <a:pPr eaLnBrk="1" hangingPunct="1"/>
            <a:r>
              <a:rPr lang="en-US" altLang="en-US" sz="2400" smtClean="0"/>
              <a:t>(1,0): ideal</a:t>
            </a:r>
          </a:p>
          <a:p>
            <a:pPr eaLnBrk="1" hangingPunct="1">
              <a:buFont typeface="Monotype Sorts"/>
              <a:buNone/>
            </a:pPr>
            <a:endParaRPr lang="en-US" altLang="en-US" sz="2400" smtClean="0"/>
          </a:p>
          <a:p>
            <a:pPr eaLnBrk="1" hangingPunct="1"/>
            <a:r>
              <a:rPr lang="en-US" altLang="en-US" sz="2400" smtClean="0"/>
              <a:t>Diagonal line:</a:t>
            </a:r>
          </a:p>
          <a:p>
            <a:pPr lvl="1" eaLnBrk="1" hangingPunct="1"/>
            <a:r>
              <a:rPr lang="en-US" altLang="en-US" sz="2400" smtClean="0"/>
              <a:t>Random guessing</a:t>
            </a:r>
          </a:p>
          <a:p>
            <a:pPr lvl="1" eaLnBrk="1" hangingPunct="1"/>
            <a:r>
              <a:rPr lang="en-US" altLang="en-US" sz="2400" smtClean="0"/>
              <a:t>Below diagonal line:</a:t>
            </a:r>
          </a:p>
          <a:p>
            <a:pPr lvl="2" eaLnBrk="1" hangingPunct="1"/>
            <a:r>
              <a:rPr lang="en-US" altLang="en-US" sz="2000" smtClean="0"/>
              <a:t> prediction is opposite of the true class</a:t>
            </a: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9" r="6557"/>
          <a:stretch>
            <a:fillRect/>
          </a:stretch>
        </p:blipFill>
        <p:spPr bwMode="auto">
          <a:xfrm>
            <a:off x="4114800" y="1371600"/>
            <a:ext cx="48006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2719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543800" cy="874713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smtClean="0">
                <a:solidFill>
                  <a:schemeClr val="bg1"/>
                </a:solidFill>
              </a:rPr>
              <a:t>Using ROC for Model Comparison</a:t>
            </a: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2" r="8220"/>
          <a:stretch>
            <a:fillRect/>
          </a:stretch>
        </p:blipFill>
        <p:spPr bwMode="auto">
          <a:xfrm>
            <a:off x="101600" y="1620838"/>
            <a:ext cx="5257800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5410200" y="1371600"/>
            <a:ext cx="3581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800100" indent="-3429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/>
              <a:buChar char="l"/>
            </a:pPr>
            <a:r>
              <a:rPr lang="en-US" altLang="en-US" sz="2400" b="0"/>
              <a:t>No model consistently outperform the other</a:t>
            </a:r>
          </a:p>
          <a:p>
            <a:pPr lvl="1" eaLnBrk="1" hangingPunct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/>
              <a:buChar char="l"/>
            </a:pPr>
            <a:r>
              <a:rPr lang="en-US" altLang="en-US" sz="2400" b="0"/>
              <a:t>M</a:t>
            </a:r>
            <a:r>
              <a:rPr lang="en-US" altLang="en-US" sz="2400" b="0" baseline="-25000"/>
              <a:t>1</a:t>
            </a:r>
            <a:r>
              <a:rPr lang="en-US" altLang="en-US" sz="2400" b="0"/>
              <a:t> is better for small FPR</a:t>
            </a:r>
          </a:p>
          <a:p>
            <a:pPr lvl="1" eaLnBrk="1" hangingPunct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/>
              <a:buChar char="l"/>
            </a:pPr>
            <a:r>
              <a:rPr lang="en-US" altLang="en-US" sz="2400" b="0"/>
              <a:t>M</a:t>
            </a:r>
            <a:r>
              <a:rPr lang="en-US" altLang="en-US" sz="2400" b="0" baseline="-25000"/>
              <a:t>2</a:t>
            </a:r>
            <a:r>
              <a:rPr lang="en-US" altLang="en-US" sz="2400" b="0"/>
              <a:t> is better for large FPR</a:t>
            </a:r>
          </a:p>
          <a:p>
            <a:pPr lvl="1" eaLnBrk="1" hangingPunct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/>
              <a:buNone/>
            </a:pPr>
            <a:endParaRPr lang="en-US" altLang="en-US" sz="1000" b="0"/>
          </a:p>
          <a:p>
            <a:pPr eaLnBrk="1" hangingPunct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/>
              <a:buChar char="l"/>
            </a:pPr>
            <a:r>
              <a:rPr lang="en-US" altLang="en-US" sz="2400" b="0"/>
              <a:t>Area Under the ROC curve</a:t>
            </a:r>
          </a:p>
          <a:p>
            <a:pPr lvl="1" eaLnBrk="1" hangingPunct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/>
              <a:buChar char="l"/>
            </a:pPr>
            <a:r>
              <a:rPr lang="en-US" altLang="en-US" sz="1800" b="0"/>
              <a:t>Ideal: </a:t>
            </a:r>
          </a:p>
          <a:p>
            <a:pPr lvl="2" eaLnBrk="1" hangingPunct="1">
              <a:spcBef>
                <a:spcPct val="10000"/>
              </a:spcBef>
              <a:spcAft>
                <a:spcPts val="4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altLang="en-US" sz="1800" b="0"/>
              <a:t> Area = 1</a:t>
            </a:r>
          </a:p>
          <a:p>
            <a:pPr lvl="1" eaLnBrk="1" hangingPunct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/>
              <a:buChar char="l"/>
            </a:pPr>
            <a:r>
              <a:rPr lang="en-US" altLang="en-US" sz="1800" b="0"/>
              <a:t>Random guess:</a:t>
            </a:r>
          </a:p>
          <a:p>
            <a:pPr lvl="2" eaLnBrk="1" hangingPunct="1">
              <a:spcBef>
                <a:spcPct val="10000"/>
              </a:spcBef>
              <a:spcAft>
                <a:spcPts val="4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altLang="en-US" sz="1800" b="0"/>
              <a:t> Area = 0.5</a:t>
            </a:r>
          </a:p>
        </p:txBody>
      </p:sp>
    </p:spTree>
    <p:extLst>
      <p:ext uri="{BB962C8B-B14F-4D97-AF65-F5344CB8AC3E}">
        <p14:creationId xmlns:p14="http://schemas.microsoft.com/office/powerpoint/2010/main" val="464998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543800" cy="874713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smtClean="0">
                <a:solidFill>
                  <a:schemeClr val="bg1"/>
                </a:solidFill>
              </a:rPr>
              <a:t>How to Construct an ROC curve?</a:t>
            </a:r>
          </a:p>
        </p:txBody>
      </p:sp>
      <p:graphicFrame>
        <p:nvGraphicFramePr>
          <p:cNvPr id="979971" name="Group 3"/>
          <p:cNvGraphicFramePr>
            <a:graphicFrameLocks noGrp="1"/>
          </p:cNvGraphicFramePr>
          <p:nvPr/>
        </p:nvGraphicFramePr>
        <p:xfrm>
          <a:off x="304800" y="1905000"/>
          <a:ext cx="3886200" cy="4064004"/>
        </p:xfrm>
        <a:graphic>
          <a:graphicData uri="http://schemas.openxmlformats.org/drawingml/2006/table">
            <a:tbl>
              <a:tblPr/>
              <a:tblGrid>
                <a:gridCol w="1295400"/>
                <a:gridCol w="1295400"/>
                <a:gridCol w="1295400"/>
              </a:tblGrid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Instance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P(+|A)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629" name="Text Box 53"/>
          <p:cNvSpPr txBox="1">
            <a:spLocks noChangeArrowheads="1"/>
          </p:cNvSpPr>
          <p:nvPr/>
        </p:nvSpPr>
        <p:spPr bwMode="auto">
          <a:xfrm>
            <a:off x="4572000" y="1219200"/>
            <a:ext cx="4343400" cy="502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b="0"/>
              <a:t> Use classifier that produces posterior probability for each test instance P(+|A)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b="0"/>
              <a:t> Sort the instances according to P(+|A) in decreasing order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b="0"/>
              <a:t> Apply threshold at each unique value of P(+|A)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b="0"/>
              <a:t> Count the number of TP, FP, </a:t>
            </a:r>
            <a:br>
              <a:rPr lang="en-US" altLang="en-US" sz="2400" b="0"/>
            </a:br>
            <a:r>
              <a:rPr lang="en-US" altLang="en-US" sz="2400" b="0"/>
              <a:t>  TN, FN at each threshold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b="0"/>
              <a:t> TP rate, TPR = TP/(TP+FN)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b="0"/>
              <a:t> FP rate, FPR = FP/(FP + TN)</a:t>
            </a:r>
          </a:p>
        </p:txBody>
      </p:sp>
    </p:spTree>
    <p:extLst>
      <p:ext uri="{BB962C8B-B14F-4D97-AF65-F5344CB8AC3E}">
        <p14:creationId xmlns:p14="http://schemas.microsoft.com/office/powerpoint/2010/main" val="1124000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2057400" y="1371600"/>
          <a:ext cx="6457950" cy="238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Document" r:id="rId4" imgW="10594440" imgH="3913200" progId="Word.Document.8">
                  <p:embed/>
                </p:oleObj>
              </mc:Choice>
              <mc:Fallback>
                <p:oleObj name="Document" r:id="rId4" imgW="10594440" imgH="39132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371600"/>
                        <a:ext cx="6457950" cy="2381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1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9" t="5128" r="3847" b="5128"/>
          <a:stretch>
            <a:fillRect/>
          </a:stretch>
        </p:blipFill>
        <p:spPr bwMode="auto">
          <a:xfrm>
            <a:off x="2743200" y="3906838"/>
            <a:ext cx="3962400" cy="295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Text Box 5"/>
          <p:cNvSpPr txBox="1">
            <a:spLocks noChangeArrowheads="1"/>
          </p:cNvSpPr>
          <p:nvPr/>
        </p:nvSpPr>
        <p:spPr bwMode="auto">
          <a:xfrm>
            <a:off x="1003300" y="1625600"/>
            <a:ext cx="2057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/>
              <a:t>Threshold &gt;= </a:t>
            </a:r>
          </a:p>
        </p:txBody>
      </p:sp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990600" y="4572000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/>
              <a:t>ROC Curve:</a:t>
            </a:r>
          </a:p>
        </p:txBody>
      </p:sp>
      <p:sp>
        <p:nvSpPr>
          <p:cNvPr id="2054" name="Line 7"/>
          <p:cNvSpPr>
            <a:spLocks noChangeShapeType="1"/>
          </p:cNvSpPr>
          <p:nvPr/>
        </p:nvSpPr>
        <p:spPr bwMode="auto">
          <a:xfrm>
            <a:off x="1905000" y="32766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" name="Line 8"/>
          <p:cNvSpPr>
            <a:spLocks noChangeShapeType="1"/>
          </p:cNvSpPr>
          <p:nvPr/>
        </p:nvSpPr>
        <p:spPr bwMode="auto">
          <a:xfrm>
            <a:off x="1905000" y="35052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228600"/>
            <a:ext cx="7543800" cy="874713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smtClean="0">
                <a:solidFill>
                  <a:schemeClr val="bg1"/>
                </a:solidFill>
              </a:rPr>
              <a:t>How to Construct an ROC curve?</a:t>
            </a:r>
          </a:p>
        </p:txBody>
      </p:sp>
    </p:spTree>
    <p:extLst>
      <p:ext uri="{BB962C8B-B14F-4D97-AF65-F5344CB8AC3E}">
        <p14:creationId xmlns:p14="http://schemas.microsoft.com/office/powerpoint/2010/main" val="4143365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chemeClr val="bg1"/>
                </a:solidFill>
              </a:rPr>
              <a:t>Test of Significance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143000"/>
            <a:ext cx="8382000" cy="5181600"/>
          </a:xfrm>
        </p:spPr>
        <p:txBody>
          <a:bodyPr/>
          <a:lstStyle/>
          <a:p>
            <a:pPr eaLnBrk="1" hangingPunct="1"/>
            <a:r>
              <a:rPr lang="en-US" altLang="en-US" smtClean="0"/>
              <a:t>Given two models:</a:t>
            </a:r>
          </a:p>
          <a:p>
            <a:pPr lvl="1" eaLnBrk="1" hangingPunct="1"/>
            <a:r>
              <a:rPr lang="en-US" altLang="en-US" sz="2400" smtClean="0"/>
              <a:t>Model M1: accuracy = 85%, tested on 30 instances</a:t>
            </a:r>
          </a:p>
          <a:p>
            <a:pPr lvl="1" eaLnBrk="1" hangingPunct="1"/>
            <a:r>
              <a:rPr lang="en-US" altLang="en-US" sz="2400" smtClean="0"/>
              <a:t>Model M2: accuracy = 75%, tested on 5000 instances</a:t>
            </a:r>
          </a:p>
          <a:p>
            <a:pPr lvl="4" eaLnBrk="1" hangingPunct="1"/>
            <a:endParaRPr lang="en-US" altLang="en-US" sz="2400" smtClean="0"/>
          </a:p>
          <a:p>
            <a:pPr eaLnBrk="1" hangingPunct="1"/>
            <a:r>
              <a:rPr lang="en-US" altLang="en-US" smtClean="0"/>
              <a:t>Can we say M1 is better than M2?</a:t>
            </a:r>
          </a:p>
          <a:p>
            <a:pPr lvl="1" eaLnBrk="1" hangingPunct="1"/>
            <a:r>
              <a:rPr lang="en-US" altLang="en-US" sz="2400" smtClean="0"/>
              <a:t>How much confidence can we place on accuracy of M1 and M2?</a:t>
            </a:r>
          </a:p>
          <a:p>
            <a:pPr lvl="1" eaLnBrk="1" hangingPunct="1"/>
            <a:r>
              <a:rPr lang="en-US" altLang="en-US" sz="2400" smtClean="0"/>
              <a:t>Can the difference in performance measure be explained as a result of random fluctuations in the test set?</a:t>
            </a:r>
          </a:p>
        </p:txBody>
      </p:sp>
    </p:spTree>
    <p:extLst>
      <p:ext uri="{BB962C8B-B14F-4D97-AF65-F5344CB8AC3E}">
        <p14:creationId xmlns:p14="http://schemas.microsoft.com/office/powerpoint/2010/main" val="5799088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8001000" cy="1219200"/>
          </a:xfrm>
        </p:spPr>
        <p:txBody>
          <a:bodyPr/>
          <a:lstStyle/>
          <a:p>
            <a:pPr eaLnBrk="1" hangingPunct="1"/>
            <a:r>
              <a:rPr lang="en-US" altLang="en-US" sz="4000" b="1" smtClean="0">
                <a:solidFill>
                  <a:schemeClr val="folHlink"/>
                </a:solidFill>
              </a:rPr>
              <a:t>Operating Characteristic Curve</a:t>
            </a:r>
          </a:p>
        </p:txBody>
      </p:sp>
      <p:pic>
        <p:nvPicPr>
          <p:cNvPr id="26627" name="Picture 3" descr="o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47800"/>
            <a:ext cx="8001000" cy="5216525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792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1906</TotalTime>
  <Words>1135</Words>
  <Application>Microsoft Office PowerPoint</Application>
  <PresentationFormat>On-screen Show (4:3)</PresentationFormat>
  <Paragraphs>303</Paragraphs>
  <Slides>26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</vt:lpstr>
      <vt:lpstr>Calibri</vt:lpstr>
      <vt:lpstr>Calibri Light</vt:lpstr>
      <vt:lpstr>Monotype Sorts</vt:lpstr>
      <vt:lpstr>Symbol</vt:lpstr>
      <vt:lpstr>Times New Roman</vt:lpstr>
      <vt:lpstr>Wingdings</vt:lpstr>
      <vt:lpstr>Office Theme</vt:lpstr>
      <vt:lpstr>Document</vt:lpstr>
      <vt:lpstr>Equation</vt:lpstr>
      <vt:lpstr>Classification</vt:lpstr>
      <vt:lpstr>Model Evaluation</vt:lpstr>
      <vt:lpstr>PowerPoint Presentation</vt:lpstr>
      <vt:lpstr>Classification Performance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Metrics for Performance Evaluation</vt:lpstr>
      <vt:lpstr>Metrics for Performance Evaluation…</vt:lpstr>
      <vt:lpstr>Limitation of Accuracy</vt:lpstr>
      <vt:lpstr>Cost Matrix</vt:lpstr>
      <vt:lpstr>Computing Cost of Classification</vt:lpstr>
      <vt:lpstr>PowerPoint Presentation</vt:lpstr>
      <vt:lpstr>Cost vs Accuracy</vt:lpstr>
      <vt:lpstr>Cost-Sensitive Measures</vt:lpstr>
      <vt:lpstr>PowerPoint Presentation</vt:lpstr>
      <vt:lpstr>ROC (Receiver Operating Characteristic)</vt:lpstr>
      <vt:lpstr>ROC Curve</vt:lpstr>
      <vt:lpstr>ROC Curve</vt:lpstr>
      <vt:lpstr>Using ROC for Model Comparison</vt:lpstr>
      <vt:lpstr>How to Construct an ROC curve?</vt:lpstr>
      <vt:lpstr>How to Construct an ROC curve?</vt:lpstr>
      <vt:lpstr>Test of Significance</vt:lpstr>
      <vt:lpstr>Operating Characteristic Curve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Ensemble Methods</dc:title>
  <dc:creator>yash Sharma</dc:creator>
  <cp:lastModifiedBy>User</cp:lastModifiedBy>
  <cp:revision>133</cp:revision>
  <cp:lastPrinted>2017-03-03T05:12:18Z</cp:lastPrinted>
  <dcterms:created xsi:type="dcterms:W3CDTF">2006-08-16T00:00:00Z</dcterms:created>
  <dcterms:modified xsi:type="dcterms:W3CDTF">2018-03-12T10:15:35Z</dcterms:modified>
</cp:coreProperties>
</file>