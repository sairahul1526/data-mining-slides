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288" r:id="rId2"/>
    <p:sldId id="456" r:id="rId3"/>
    <p:sldId id="376" r:id="rId4"/>
    <p:sldId id="377" r:id="rId5"/>
    <p:sldId id="461" r:id="rId6"/>
    <p:sldId id="447" r:id="rId7"/>
    <p:sldId id="457" r:id="rId8"/>
    <p:sldId id="450" r:id="rId9"/>
    <p:sldId id="481" r:id="rId10"/>
    <p:sldId id="497" r:id="rId11"/>
    <p:sldId id="498" r:id="rId12"/>
    <p:sldId id="499" r:id="rId13"/>
    <p:sldId id="500" r:id="rId14"/>
    <p:sldId id="501" r:id="rId15"/>
    <p:sldId id="502" r:id="rId16"/>
    <p:sldId id="503" r:id="rId17"/>
    <p:sldId id="384" r:id="rId18"/>
    <p:sldId id="385" r:id="rId19"/>
    <p:sldId id="466" r:id="rId20"/>
    <p:sldId id="386" r:id="rId21"/>
    <p:sldId id="462" r:id="rId22"/>
    <p:sldId id="463" r:id="rId23"/>
    <p:sldId id="464" r:id="rId24"/>
    <p:sldId id="465" r:id="rId25"/>
    <p:sldId id="482" r:id="rId26"/>
    <p:sldId id="483" r:id="rId27"/>
    <p:sldId id="484" r:id="rId28"/>
    <p:sldId id="485" r:id="rId29"/>
    <p:sldId id="486" r:id="rId30"/>
    <p:sldId id="487" r:id="rId31"/>
    <p:sldId id="488" r:id="rId32"/>
    <p:sldId id="496" r:id="rId33"/>
    <p:sldId id="489" r:id="rId34"/>
    <p:sldId id="490" r:id="rId35"/>
    <p:sldId id="491" r:id="rId36"/>
    <p:sldId id="492" r:id="rId37"/>
    <p:sldId id="493" r:id="rId38"/>
    <p:sldId id="494" r:id="rId39"/>
    <p:sldId id="387" r:id="rId40"/>
    <p:sldId id="388" r:id="rId41"/>
    <p:sldId id="389" r:id="rId42"/>
    <p:sldId id="390" r:id="rId43"/>
    <p:sldId id="391" r:id="rId44"/>
    <p:sldId id="392" r:id="rId45"/>
    <p:sldId id="393" r:id="rId46"/>
    <p:sldId id="394" r:id="rId47"/>
    <p:sldId id="395" r:id="rId48"/>
    <p:sldId id="396" r:id="rId49"/>
    <p:sldId id="397" r:id="rId50"/>
    <p:sldId id="451" r:id="rId51"/>
    <p:sldId id="452" r:id="rId52"/>
    <p:sldId id="453" r:id="rId53"/>
    <p:sldId id="454" r:id="rId54"/>
    <p:sldId id="455" r:id="rId55"/>
    <p:sldId id="398" r:id="rId56"/>
    <p:sldId id="399" r:id="rId57"/>
    <p:sldId id="400" r:id="rId58"/>
    <p:sldId id="401" r:id="rId59"/>
    <p:sldId id="402" r:id="rId60"/>
    <p:sldId id="403" r:id="rId61"/>
    <p:sldId id="404" r:id="rId62"/>
    <p:sldId id="405" r:id="rId63"/>
    <p:sldId id="406" r:id="rId64"/>
    <p:sldId id="407" r:id="rId65"/>
    <p:sldId id="408" r:id="rId66"/>
    <p:sldId id="409" r:id="rId67"/>
    <p:sldId id="410" r:id="rId68"/>
    <p:sldId id="411" r:id="rId69"/>
    <p:sldId id="412" r:id="rId70"/>
    <p:sldId id="413" r:id="rId71"/>
    <p:sldId id="414" r:id="rId72"/>
    <p:sldId id="415" r:id="rId73"/>
    <p:sldId id="416" r:id="rId74"/>
    <p:sldId id="417" r:id="rId75"/>
    <p:sldId id="418" r:id="rId76"/>
    <p:sldId id="419" r:id="rId77"/>
    <p:sldId id="420" r:id="rId78"/>
    <p:sldId id="421" r:id="rId79"/>
    <p:sldId id="422" r:id="rId80"/>
    <p:sldId id="423" r:id="rId81"/>
    <p:sldId id="424" r:id="rId82"/>
    <p:sldId id="425" r:id="rId83"/>
    <p:sldId id="426" r:id="rId84"/>
    <p:sldId id="427" r:id="rId85"/>
    <p:sldId id="430" r:id="rId86"/>
    <p:sldId id="431" r:id="rId87"/>
    <p:sldId id="432" r:id="rId88"/>
    <p:sldId id="433" r:id="rId89"/>
    <p:sldId id="434" r:id="rId90"/>
    <p:sldId id="435" r:id="rId91"/>
    <p:sldId id="436" r:id="rId92"/>
    <p:sldId id="437" r:id="rId93"/>
    <p:sldId id="438" r:id="rId94"/>
    <p:sldId id="439" r:id="rId95"/>
    <p:sldId id="440" r:id="rId96"/>
    <p:sldId id="441" r:id="rId97"/>
    <p:sldId id="442" r:id="rId98"/>
    <p:sldId id="443" r:id="rId99"/>
    <p:sldId id="444" r:id="rId100"/>
    <p:sldId id="445" r:id="rId101"/>
    <p:sldId id="446" r:id="rId10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png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42.wmf"/><Relationship Id="rId4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42.wmf"/><Relationship Id="rId4" Type="http://schemas.openxmlformats.org/officeDocument/2006/relationships/image" Target="../media/image54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4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42.wmf"/><Relationship Id="rId4" Type="http://schemas.openxmlformats.org/officeDocument/2006/relationships/image" Target="../media/image5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7.wmf"/><Relationship Id="rId1" Type="http://schemas.openxmlformats.org/officeDocument/2006/relationships/image" Target="../media/image42.wmf"/><Relationship Id="rId4" Type="http://schemas.openxmlformats.org/officeDocument/2006/relationships/image" Target="../media/image61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image" Target="../media/image7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B36DB-C3DA-49BB-AA53-5DF52F722C4A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CDF2-A126-45BB-BED0-2A856D79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368B7D-1210-4CBA-892A-A17BC7375230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155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679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9ED2FA0-20E3-4134-ACC7-9C21C34466B5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11-Apr-18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48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C9CCD516-B4FF-4178-A215-AD207AD958E3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00205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CDC2F0D-4ABE-4C03-B0CA-9B5543B11417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11-Apr-18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49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C83B4F5-9A53-4950-8B33-8EE0294202AD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13165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11A2C2AC-2BB4-47F0-9FFE-709222A83EE6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11-Apr-18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0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50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105797F-8B7F-4E10-9A99-A5F23682BF0D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0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08299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060444-F505-436D-91A1-073D64CE347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5373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BEDFA1-7AF0-4B54-B787-D56DB5C6BBFB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55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629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452DBD-C35D-49E8-A19B-2C57FF9274AB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2245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8987C29D-874C-40A7-B798-034C9D6FD92F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11-Apr-18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6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56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ACAE1E4B-A50C-4EAC-9AD3-64D24A441637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17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6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91286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AD612577-35B6-41F6-A9A7-2A017BD49DD1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11-Apr-18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76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577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276060DD-6E06-424C-B863-396D550598F2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18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77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69018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CB6059-A3F6-4868-92E2-121E343B2931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60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453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4DC764F-14D1-4CC2-B874-7F5B2CAC44CA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11-Apr-18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8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58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C05C3FFB-96B6-4462-B57D-A3C6369A32F5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20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8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49785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20F044-68F9-4E58-AE51-5486C3C8BFEC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161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0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en-US" sz="900"/>
          </a:p>
        </p:txBody>
      </p:sp>
    </p:spTree>
    <p:extLst>
      <p:ext uri="{BB962C8B-B14F-4D97-AF65-F5344CB8AC3E}">
        <p14:creationId xmlns:p14="http://schemas.microsoft.com/office/powerpoint/2010/main" val="2714554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17022D-D72D-4887-B236-72C8D877EE24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161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105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2D2F70-0E3F-48E3-A21E-4216B09BD845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161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901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B2A6BF-43FE-4312-BD38-685EC5079E8A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161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6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2234229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AFB6090-2B38-49A7-B055-10BE3BA94C99}" type="slidenum">
              <a:rPr lang="en-US" altLang="en-US" smtClean="0">
                <a:latin typeface="Arial" panose="020B0604020202020204" pitchFamily="34" charset="0"/>
              </a:rPr>
              <a:pPr/>
              <a:t>25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69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89F5E5-61A5-445E-8981-C85FA71185BE}" type="slidenum">
              <a:rPr lang="en-US" altLang="en-US" smtClean="0">
                <a:latin typeface="Arial" panose="020B0604020202020204" pitchFamily="34" charset="0"/>
              </a:rPr>
              <a:pPr/>
              <a:t>26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379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7C9024C-D4F9-484E-BA7E-FEB82120DA0A}" type="slidenum">
              <a:rPr lang="en-US" altLang="en-US" smtClean="0">
                <a:latin typeface="Arial" panose="020B0604020202020204" pitchFamily="34" charset="0"/>
              </a:rPr>
              <a:pPr/>
              <a:t>28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247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038FE82-2089-4F06-9081-13560AF495B3}" type="slidenum">
              <a:rPr lang="en-US" altLang="en-US" smtClean="0">
                <a:latin typeface="Arial" panose="020B0604020202020204" pitchFamily="34" charset="0"/>
              </a:rPr>
              <a:pPr/>
              <a:t>33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375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DCAE43E-F2D9-49BE-AFF7-8D98BBB7F8A0}" type="slidenum">
              <a:rPr lang="en-US" altLang="en-US" smtClean="0">
                <a:latin typeface="Arial" panose="020B0604020202020204" pitchFamily="34" charset="0"/>
              </a:rPr>
              <a:pPr/>
              <a:t>34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15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2282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893BB1D-E542-4353-83CB-2F5CFACE3B05}" type="slidenum">
              <a:rPr lang="en-US" altLang="en-US" smtClean="0">
                <a:latin typeface="Arial" panose="020B0604020202020204" pitchFamily="34" charset="0"/>
              </a:rPr>
              <a:pPr/>
              <a:t>35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17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8909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B01D689-8E30-4756-A4E5-B24E10837D5C}" type="slidenum">
              <a:rPr lang="en-US" altLang="en-US" smtClean="0">
                <a:latin typeface="Arial" panose="020B0604020202020204" pitchFamily="34" charset="0"/>
              </a:rPr>
              <a:pPr/>
              <a:t>36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21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21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9959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61AAAA6-5CF1-4D0B-AF46-978E0345BA0A}" type="slidenum">
              <a:rPr lang="en-US" altLang="en-US" smtClean="0">
                <a:latin typeface="Arial" panose="020B0604020202020204" pitchFamily="34" charset="0"/>
              </a:rPr>
              <a:pPr/>
              <a:t>38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19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4618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ACF6320-C6B5-4CE6-A6FD-3B9B6F00539C}" type="slidenum">
              <a:rPr lang="en-US" altLang="en-US" smtClean="0">
                <a:latin typeface="Arial" panose="020B0604020202020204" pitchFamily="34" charset="0"/>
              </a:rPr>
              <a:pPr/>
              <a:t>39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410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67C68D-0AEA-4B83-B5B1-B3688E28AC01}" type="slidenum">
              <a:rPr lang="en-US" altLang="en-US" smtClean="0">
                <a:latin typeface="Arial" panose="020B0604020202020204" pitchFamily="34" charset="0"/>
              </a:rPr>
              <a:pPr/>
              <a:t>40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6709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6AF6EE1-C310-40F4-8A30-99059157D091}" type="slidenum">
              <a:rPr lang="en-US" altLang="en-US" smtClean="0">
                <a:latin typeface="Arial" panose="020B0604020202020204" pitchFamily="34" charset="0"/>
              </a:rPr>
              <a:pPr/>
              <a:t>41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7770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AC3FB02-CBE4-4A8A-AE32-2272FCE077A9}" type="slidenum">
              <a:rPr lang="en-US" altLang="en-US" smtClean="0">
                <a:latin typeface="Arial" panose="020B0604020202020204" pitchFamily="34" charset="0"/>
              </a:rPr>
              <a:pPr/>
              <a:t>42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7996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1289AC8-0057-4C46-BD3C-A7A7ED0CAF35}" type="slidenum">
              <a:rPr lang="en-US" altLang="en-US" smtClean="0">
                <a:latin typeface="Arial" panose="020B0604020202020204" pitchFamily="34" charset="0"/>
              </a:rPr>
              <a:pPr/>
              <a:t>43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6023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05B96FE-A069-41BF-BFF5-20765B570707}" type="slidenum">
              <a:rPr lang="en-US" altLang="en-US" smtClean="0">
                <a:latin typeface="Arial" panose="020B0604020202020204" pitchFamily="34" charset="0"/>
              </a:rPr>
              <a:pPr/>
              <a:t>44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5910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E06E574-F06F-44F4-AA0F-2385161143F4}" type="slidenum">
              <a:rPr lang="en-US" altLang="en-US" smtClean="0">
                <a:latin typeface="Arial" panose="020B0604020202020204" pitchFamily="34" charset="0"/>
              </a:rPr>
              <a:pPr/>
              <a:t>45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996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5D78C7E-B8DB-4605-B638-B1D3FAFA8FA0}" type="slidenum">
              <a:rPr lang="en-US" altLang="en-US" smtClean="0">
                <a:latin typeface="Arial" panose="020B0604020202020204" pitchFamily="34" charset="0"/>
              </a:rPr>
              <a:pPr/>
              <a:t>46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1690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6CC2373-4668-4F06-AED5-4993CCEA41E7}" type="slidenum">
              <a:rPr lang="en-US" altLang="en-US" smtClean="0">
                <a:latin typeface="Arial" panose="020B0604020202020204" pitchFamily="34" charset="0"/>
              </a:rPr>
              <a:pPr/>
              <a:t>47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1892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9CD5776-4430-465B-80BD-1F6E01542A9C}" type="slidenum">
              <a:rPr lang="en-US" altLang="en-US" smtClean="0">
                <a:latin typeface="Arial" panose="020B0604020202020204" pitchFamily="34" charset="0"/>
              </a:rPr>
              <a:pPr/>
              <a:t>48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2192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DB05B5E-432A-4ED8-8347-B403D9814341}" type="slidenum">
              <a:rPr lang="en-US" altLang="en-US" smtClean="0">
                <a:latin typeface="Arial" panose="020B0604020202020204" pitchFamily="34" charset="0"/>
              </a:rPr>
              <a:pPr/>
              <a:t>49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1140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4B02073-A240-451B-845F-4E2E3A323ED3}" type="slidenum">
              <a:rPr lang="en-US" altLang="en-US" smtClean="0">
                <a:latin typeface="Arial" panose="020B0604020202020204" pitchFamily="34" charset="0"/>
              </a:rPr>
              <a:pPr/>
              <a:t>72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09613"/>
            <a:ext cx="4826000" cy="3619500"/>
          </a:xfrm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675" y="4565650"/>
            <a:ext cx="5411788" cy="4329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92" tIns="47447" rIns="94892" bIns="47447"/>
          <a:lstStyle/>
          <a:p>
            <a:r>
              <a:rPr lang="en-US" altLang="en-US" sz="1700" smtClean="0">
                <a:latin typeface="Arial" panose="020B0604020202020204" pitchFamily="34" charset="0"/>
              </a:rPr>
              <a:t>I will start by motivating the work 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next describe the Novel algorithm we developed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and then describe the experimental evaluation and present our results</a:t>
            </a:r>
          </a:p>
        </p:txBody>
      </p:sp>
    </p:spTree>
    <p:extLst>
      <p:ext uri="{BB962C8B-B14F-4D97-AF65-F5344CB8AC3E}">
        <p14:creationId xmlns:p14="http://schemas.microsoft.com/office/powerpoint/2010/main" val="29416245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682004A-3DEA-4086-966E-E69528F1C3EF}" type="slidenum">
              <a:rPr lang="en-US" altLang="en-US" smtClean="0">
                <a:latin typeface="Arial" panose="020B0604020202020204" pitchFamily="34" charset="0"/>
              </a:rPr>
              <a:pPr/>
              <a:t>76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09613"/>
            <a:ext cx="4826000" cy="3619500"/>
          </a:xfrm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675" y="4565650"/>
            <a:ext cx="5411788" cy="4329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92" tIns="47447" rIns="94892" bIns="47447"/>
          <a:lstStyle/>
          <a:p>
            <a:r>
              <a:rPr lang="en-US" altLang="en-US" sz="1700" smtClean="0">
                <a:latin typeface="Arial" panose="020B0604020202020204" pitchFamily="34" charset="0"/>
              </a:rPr>
              <a:t>I will start by motivating the work 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next describe the Novel algorithm we developed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and then describe the experimental evaluation and present our results</a:t>
            </a:r>
          </a:p>
        </p:txBody>
      </p:sp>
    </p:spTree>
    <p:extLst>
      <p:ext uri="{BB962C8B-B14F-4D97-AF65-F5344CB8AC3E}">
        <p14:creationId xmlns:p14="http://schemas.microsoft.com/office/powerpoint/2010/main" val="19859845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695228F-8F77-4D4C-954A-DA5D1A982B51}" type="slidenum">
              <a:rPr lang="en-US" altLang="en-US" smtClean="0">
                <a:latin typeface="Arial" panose="020B0604020202020204" pitchFamily="34" charset="0"/>
              </a:rPr>
              <a:pPr/>
              <a:t>80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09613"/>
            <a:ext cx="4826000" cy="3619500"/>
          </a:xfrm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675" y="4565650"/>
            <a:ext cx="5411788" cy="4329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92" tIns="47447" rIns="94892" bIns="47447"/>
          <a:lstStyle/>
          <a:p>
            <a:r>
              <a:rPr lang="en-US" altLang="en-US" sz="1700" smtClean="0">
                <a:latin typeface="Arial" panose="020B0604020202020204" pitchFamily="34" charset="0"/>
              </a:rPr>
              <a:t>I will start by motivating the work 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next describe the Novel algorithm we developed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and then describe the experimental evaluation and present our results</a:t>
            </a:r>
          </a:p>
        </p:txBody>
      </p:sp>
    </p:spTree>
    <p:extLst>
      <p:ext uri="{BB962C8B-B14F-4D97-AF65-F5344CB8AC3E}">
        <p14:creationId xmlns:p14="http://schemas.microsoft.com/office/powerpoint/2010/main" val="26455086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F0C4638-5511-4588-9322-D4210C89BC56}" type="slidenum">
              <a:rPr lang="en-US" altLang="en-US" smtClean="0">
                <a:latin typeface="Arial" panose="020B0604020202020204" pitchFamily="34" charset="0"/>
              </a:rPr>
              <a:pPr/>
              <a:t>85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266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72C47D1-5ECF-422F-B25F-FE01F85C1B19}" type="slidenum">
              <a:rPr lang="en-US" altLang="en-US" smtClean="0">
                <a:latin typeface="Arial" panose="020B0604020202020204" pitchFamily="34" charset="0"/>
              </a:rPr>
              <a:pPr/>
              <a:t>86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9132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594510E-B881-433B-85E7-1D850E5F70BA}" type="slidenum">
              <a:rPr lang="en-US" altLang="en-US" smtClean="0">
                <a:latin typeface="Arial" panose="020B0604020202020204" pitchFamily="34" charset="0"/>
              </a:rPr>
              <a:pPr/>
              <a:t>87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4900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5741847-486C-499F-97C8-0D7155D50BEA}" type="slidenum">
              <a:rPr lang="en-US" altLang="en-US" smtClean="0">
                <a:latin typeface="Arial" panose="020B0604020202020204" pitchFamily="34" charset="0"/>
              </a:rPr>
              <a:pPr/>
              <a:t>88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830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D631BF0-0060-42BD-8E36-2575A247A6EB}" type="slidenum">
              <a:rPr lang="en-US" altLang="en-US" smtClean="0">
                <a:latin typeface="Arial" panose="020B0604020202020204" pitchFamily="34" charset="0"/>
              </a:rPr>
              <a:pPr/>
              <a:t>89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9237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F82978F-2B78-47CC-818B-D2C0062BF46E}" type="slidenum">
              <a:rPr lang="en-US" altLang="en-US" smtClean="0">
                <a:latin typeface="Arial" panose="020B0604020202020204" pitchFamily="34" charset="0"/>
              </a:rPr>
              <a:pPr/>
              <a:t>90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4225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8A4A600-AF23-4F90-BC5A-95BD129AAE2A}" type="slidenum">
              <a:rPr lang="en-US" altLang="en-US" smtClean="0">
                <a:latin typeface="Arial" panose="020B0604020202020204" pitchFamily="34" charset="0"/>
              </a:rPr>
              <a:pPr/>
              <a:t>91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7052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8A45E09-BBDE-4F97-BEC4-ABC2E697EBF4}" type="slidenum">
              <a:rPr lang="en-US" altLang="en-US" smtClean="0">
                <a:latin typeface="Arial" panose="020B0604020202020204" pitchFamily="34" charset="0"/>
              </a:rPr>
              <a:pPr/>
              <a:t>92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9998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B156CC6-4D63-423D-98EB-7E61A947DC6B}" type="slidenum">
              <a:rPr lang="en-US" altLang="en-US" smtClean="0">
                <a:latin typeface="Arial" panose="020B0604020202020204" pitchFamily="34" charset="0"/>
              </a:rPr>
              <a:pPr/>
              <a:t>93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5958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B495C35-9A39-4D3F-BD70-05566DCEABA6}" type="slidenum">
              <a:rPr lang="en-US" altLang="en-US" smtClean="0">
                <a:latin typeface="Arial" panose="020B0604020202020204" pitchFamily="34" charset="0"/>
              </a:rPr>
              <a:pPr/>
              <a:t>94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1723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42E1C1D-A4E5-4A90-B0B8-150BAA58A60B}" type="slidenum">
              <a:rPr lang="en-US" altLang="en-US" smtClean="0">
                <a:latin typeface="Arial" panose="020B0604020202020204" pitchFamily="34" charset="0"/>
              </a:rPr>
              <a:pPr/>
              <a:t>95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8661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865B417-A3EC-4152-94C0-442E3E5F3425}" type="slidenum">
              <a:rPr lang="en-US" altLang="en-US" smtClean="0">
                <a:latin typeface="Arial" panose="020B0604020202020204" pitchFamily="34" charset="0"/>
              </a:rPr>
              <a:pPr/>
              <a:t>96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01390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B8FD29F-48BB-4C5C-8E87-523A8DF9DC49}" type="slidenum">
              <a:rPr lang="en-US" altLang="en-US" smtClean="0">
                <a:latin typeface="Arial" panose="020B0604020202020204" pitchFamily="34" charset="0"/>
              </a:rPr>
              <a:pPr/>
              <a:t>97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37023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86F0934-02F1-4D36-86D5-0ADDFBB0E72F}" type="slidenum">
              <a:rPr lang="en-US" altLang="en-US" smtClean="0">
                <a:latin typeface="Arial" panose="020B0604020202020204" pitchFamily="34" charset="0"/>
              </a:rPr>
              <a:pPr/>
              <a:t>98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1809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14005FF-9B6C-4E35-B87F-98AE26A924C7}" type="slidenum">
              <a:rPr lang="en-US" altLang="en-US" smtClean="0">
                <a:latin typeface="Arial" panose="020B0604020202020204" pitchFamily="34" charset="0"/>
              </a:rPr>
              <a:pPr/>
              <a:t>99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2897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7EFBAF1-075E-43A0-945F-25FEB3B78E90}" type="slidenum">
              <a:rPr lang="en-US" altLang="en-US" smtClean="0">
                <a:latin typeface="Arial" panose="020B0604020202020204" pitchFamily="34" charset="0"/>
              </a:rPr>
              <a:pPr/>
              <a:t>100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9537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076AE2E-B673-4EA2-BAC0-7FBBABA109DB}" type="slidenum">
              <a:rPr lang="en-US" altLang="en-US" smtClean="0">
                <a:latin typeface="Arial" panose="020B0604020202020204" pitchFamily="34" charset="0"/>
              </a:rPr>
              <a:pPr/>
              <a:t>101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518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1FAE64-A376-4B26-B54D-84172011A3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120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7B745-B939-4367-9798-1F14DB30F90E}" type="datetimeFigureOut">
              <a:rPr lang="en-US" smtClean="0"/>
              <a:t>11-Apr-18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9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23.xml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2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3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4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5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3.png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2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2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47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26.bin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30.bin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2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53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7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54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1.bin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2.w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9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8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61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52.bin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63.wmf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64.emf"/><Relationship Id="rId4" Type="http://schemas.openxmlformats.org/officeDocument/2006/relationships/oleObject" Target="../embeddings/oleObject54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70.emf"/><Relationship Id="rId4" Type="http://schemas.openxmlformats.org/officeDocument/2006/relationships/oleObject" Target="../embeddings/oleObject55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7" Type="http://schemas.openxmlformats.org/officeDocument/2006/relationships/image" Target="../media/image7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56.bin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Clustering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6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3D47-9F51-46D0-BC6B-8376DB91D928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1363972" name="Rectangle 4"/>
          <p:cNvSpPr>
            <a:spLocks noGrp="1" noChangeArrowheads="1"/>
          </p:cNvSpPr>
          <p:nvPr>
            <p:ph type="title"/>
          </p:nvPr>
        </p:nvSpPr>
        <p:spPr>
          <a:xfrm>
            <a:off x="352425" y="190500"/>
            <a:ext cx="8442325" cy="571500"/>
          </a:xfrm>
        </p:spPr>
        <p:txBody>
          <a:bodyPr>
            <a:normAutofit fontScale="90000"/>
          </a:bodyPr>
          <a:lstStyle/>
          <a:p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-Medoids Clustering Method</a:t>
            </a:r>
          </a:p>
        </p:txBody>
      </p:sp>
      <p:sp>
        <p:nvSpPr>
          <p:cNvPr id="13639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42325" cy="5334000"/>
          </a:xfrm>
        </p:spPr>
        <p:txBody>
          <a:bodyPr/>
          <a:lstStyle/>
          <a:p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-medoids: Find </a:t>
            </a:r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representative objects</a:t>
            </a:r>
            <a:r>
              <a:rPr lang="en-US" altLang="zh-CN">
                <a:ea typeface="宋体" panose="02010600030101010101" pitchFamily="2" charset="-122"/>
              </a:rPr>
              <a:t>, called </a:t>
            </a:r>
            <a:r>
              <a:rPr lang="en-US" altLang="zh-CN" i="1">
                <a:ea typeface="宋体" panose="02010600030101010101" pitchFamily="2" charset="-122"/>
              </a:rPr>
              <a:t>medoids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PAM (Partitioning Around Medoids, 1987)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CLARA (Kaufmann &amp; Rousseeuw, 1990)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CLARANS (Ng &amp; Han, 1994): Randomized sampling</a:t>
            </a:r>
          </a:p>
        </p:txBody>
      </p:sp>
      <p:grpSp>
        <p:nvGrpSpPr>
          <p:cNvPr id="1364056" name="Group 88"/>
          <p:cNvGrpSpPr>
            <a:grpSpLocks/>
          </p:cNvGrpSpPr>
          <p:nvPr/>
        </p:nvGrpSpPr>
        <p:grpSpPr bwMode="auto">
          <a:xfrm>
            <a:off x="4419600" y="3178175"/>
            <a:ext cx="4114800" cy="2651125"/>
            <a:chOff x="3456" y="2880"/>
            <a:chExt cx="1248" cy="1112"/>
          </a:xfrm>
        </p:grpSpPr>
        <p:sp>
          <p:nvSpPr>
            <p:cNvPr id="1364057" name="Rectangle 89"/>
            <p:cNvSpPr>
              <a:spLocks noChangeArrowheads="1"/>
            </p:cNvSpPr>
            <p:nvPr/>
          </p:nvSpPr>
          <p:spPr bwMode="auto">
            <a:xfrm>
              <a:off x="3456" y="2880"/>
              <a:ext cx="1248" cy="1112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058" name="Rectangle 90"/>
            <p:cNvSpPr>
              <a:spLocks noChangeArrowheads="1"/>
            </p:cNvSpPr>
            <p:nvPr/>
          </p:nvSpPr>
          <p:spPr bwMode="auto">
            <a:xfrm>
              <a:off x="3575" y="2959"/>
              <a:ext cx="1071" cy="8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59" name="Line 91"/>
            <p:cNvSpPr>
              <a:spLocks noChangeShapeType="1"/>
            </p:cNvSpPr>
            <p:nvPr/>
          </p:nvSpPr>
          <p:spPr bwMode="auto">
            <a:xfrm>
              <a:off x="3575" y="3767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60" name="Line 92"/>
            <p:cNvSpPr>
              <a:spLocks noChangeShapeType="1"/>
            </p:cNvSpPr>
            <p:nvPr/>
          </p:nvSpPr>
          <p:spPr bwMode="auto">
            <a:xfrm>
              <a:off x="3575" y="3677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61" name="Line 93"/>
            <p:cNvSpPr>
              <a:spLocks noChangeShapeType="1"/>
            </p:cNvSpPr>
            <p:nvPr/>
          </p:nvSpPr>
          <p:spPr bwMode="auto">
            <a:xfrm>
              <a:off x="3575" y="3588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62" name="Line 94"/>
            <p:cNvSpPr>
              <a:spLocks noChangeShapeType="1"/>
            </p:cNvSpPr>
            <p:nvPr/>
          </p:nvSpPr>
          <p:spPr bwMode="auto">
            <a:xfrm>
              <a:off x="3575" y="3498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63" name="Line 95"/>
            <p:cNvSpPr>
              <a:spLocks noChangeShapeType="1"/>
            </p:cNvSpPr>
            <p:nvPr/>
          </p:nvSpPr>
          <p:spPr bwMode="auto">
            <a:xfrm>
              <a:off x="3575" y="3407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64" name="Line 96"/>
            <p:cNvSpPr>
              <a:spLocks noChangeShapeType="1"/>
            </p:cNvSpPr>
            <p:nvPr/>
          </p:nvSpPr>
          <p:spPr bwMode="auto">
            <a:xfrm>
              <a:off x="3575" y="3318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65" name="Line 97"/>
            <p:cNvSpPr>
              <a:spLocks noChangeShapeType="1"/>
            </p:cNvSpPr>
            <p:nvPr/>
          </p:nvSpPr>
          <p:spPr bwMode="auto">
            <a:xfrm>
              <a:off x="3575" y="3228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66" name="Line 98"/>
            <p:cNvSpPr>
              <a:spLocks noChangeShapeType="1"/>
            </p:cNvSpPr>
            <p:nvPr/>
          </p:nvSpPr>
          <p:spPr bwMode="auto">
            <a:xfrm>
              <a:off x="3575" y="3139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67" name="Line 99"/>
            <p:cNvSpPr>
              <a:spLocks noChangeShapeType="1"/>
            </p:cNvSpPr>
            <p:nvPr/>
          </p:nvSpPr>
          <p:spPr bwMode="auto">
            <a:xfrm>
              <a:off x="3575" y="3048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68" name="Line 100"/>
            <p:cNvSpPr>
              <a:spLocks noChangeShapeType="1"/>
            </p:cNvSpPr>
            <p:nvPr/>
          </p:nvSpPr>
          <p:spPr bwMode="auto">
            <a:xfrm>
              <a:off x="3575" y="2959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69" name="Line 101"/>
            <p:cNvSpPr>
              <a:spLocks noChangeShapeType="1"/>
            </p:cNvSpPr>
            <p:nvPr/>
          </p:nvSpPr>
          <p:spPr bwMode="auto">
            <a:xfrm>
              <a:off x="3682" y="2959"/>
              <a:ext cx="1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70" name="Line 102"/>
            <p:cNvSpPr>
              <a:spLocks noChangeShapeType="1"/>
            </p:cNvSpPr>
            <p:nvPr/>
          </p:nvSpPr>
          <p:spPr bwMode="auto">
            <a:xfrm>
              <a:off x="3790" y="2959"/>
              <a:ext cx="1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71" name="Line 103"/>
            <p:cNvSpPr>
              <a:spLocks noChangeShapeType="1"/>
            </p:cNvSpPr>
            <p:nvPr/>
          </p:nvSpPr>
          <p:spPr bwMode="auto">
            <a:xfrm>
              <a:off x="3895" y="2959"/>
              <a:ext cx="1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72" name="Line 104"/>
            <p:cNvSpPr>
              <a:spLocks noChangeShapeType="1"/>
            </p:cNvSpPr>
            <p:nvPr/>
          </p:nvSpPr>
          <p:spPr bwMode="auto">
            <a:xfrm>
              <a:off x="4002" y="2959"/>
              <a:ext cx="1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73" name="Line 105"/>
            <p:cNvSpPr>
              <a:spLocks noChangeShapeType="1"/>
            </p:cNvSpPr>
            <p:nvPr/>
          </p:nvSpPr>
          <p:spPr bwMode="auto">
            <a:xfrm>
              <a:off x="4110" y="2959"/>
              <a:ext cx="1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74" name="Line 106"/>
            <p:cNvSpPr>
              <a:spLocks noChangeShapeType="1"/>
            </p:cNvSpPr>
            <p:nvPr/>
          </p:nvSpPr>
          <p:spPr bwMode="auto">
            <a:xfrm>
              <a:off x="4219" y="2959"/>
              <a:ext cx="0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75" name="Line 107"/>
            <p:cNvSpPr>
              <a:spLocks noChangeShapeType="1"/>
            </p:cNvSpPr>
            <p:nvPr/>
          </p:nvSpPr>
          <p:spPr bwMode="auto">
            <a:xfrm>
              <a:off x="4326" y="2959"/>
              <a:ext cx="1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76" name="Line 108"/>
            <p:cNvSpPr>
              <a:spLocks noChangeShapeType="1"/>
            </p:cNvSpPr>
            <p:nvPr/>
          </p:nvSpPr>
          <p:spPr bwMode="auto">
            <a:xfrm>
              <a:off x="4430" y="2959"/>
              <a:ext cx="1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77" name="Line 109"/>
            <p:cNvSpPr>
              <a:spLocks noChangeShapeType="1"/>
            </p:cNvSpPr>
            <p:nvPr/>
          </p:nvSpPr>
          <p:spPr bwMode="auto">
            <a:xfrm>
              <a:off x="4539" y="2959"/>
              <a:ext cx="1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78" name="Line 110"/>
            <p:cNvSpPr>
              <a:spLocks noChangeShapeType="1"/>
            </p:cNvSpPr>
            <p:nvPr/>
          </p:nvSpPr>
          <p:spPr bwMode="auto">
            <a:xfrm>
              <a:off x="4646" y="2959"/>
              <a:ext cx="1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79" name="Rectangle 111"/>
            <p:cNvSpPr>
              <a:spLocks noChangeArrowheads="1"/>
            </p:cNvSpPr>
            <p:nvPr/>
          </p:nvSpPr>
          <p:spPr bwMode="auto">
            <a:xfrm>
              <a:off x="3575" y="2959"/>
              <a:ext cx="1071" cy="898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80" name="Line 112"/>
            <p:cNvSpPr>
              <a:spLocks noChangeShapeType="1"/>
            </p:cNvSpPr>
            <p:nvPr/>
          </p:nvSpPr>
          <p:spPr bwMode="auto">
            <a:xfrm>
              <a:off x="3575" y="2959"/>
              <a:ext cx="1" cy="89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81" name="Line 113"/>
            <p:cNvSpPr>
              <a:spLocks noChangeShapeType="1"/>
            </p:cNvSpPr>
            <p:nvPr/>
          </p:nvSpPr>
          <p:spPr bwMode="auto">
            <a:xfrm>
              <a:off x="3564" y="3857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82" name="Line 114"/>
            <p:cNvSpPr>
              <a:spLocks noChangeShapeType="1"/>
            </p:cNvSpPr>
            <p:nvPr/>
          </p:nvSpPr>
          <p:spPr bwMode="auto">
            <a:xfrm>
              <a:off x="3564" y="3767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83" name="Line 115"/>
            <p:cNvSpPr>
              <a:spLocks noChangeShapeType="1"/>
            </p:cNvSpPr>
            <p:nvPr/>
          </p:nvSpPr>
          <p:spPr bwMode="auto">
            <a:xfrm>
              <a:off x="3564" y="3677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84" name="Line 116"/>
            <p:cNvSpPr>
              <a:spLocks noChangeShapeType="1"/>
            </p:cNvSpPr>
            <p:nvPr/>
          </p:nvSpPr>
          <p:spPr bwMode="auto">
            <a:xfrm>
              <a:off x="3564" y="3588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85" name="Line 117"/>
            <p:cNvSpPr>
              <a:spLocks noChangeShapeType="1"/>
            </p:cNvSpPr>
            <p:nvPr/>
          </p:nvSpPr>
          <p:spPr bwMode="auto">
            <a:xfrm>
              <a:off x="3564" y="3498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86" name="Line 118"/>
            <p:cNvSpPr>
              <a:spLocks noChangeShapeType="1"/>
            </p:cNvSpPr>
            <p:nvPr/>
          </p:nvSpPr>
          <p:spPr bwMode="auto">
            <a:xfrm>
              <a:off x="3564" y="3407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87" name="Line 119"/>
            <p:cNvSpPr>
              <a:spLocks noChangeShapeType="1"/>
            </p:cNvSpPr>
            <p:nvPr/>
          </p:nvSpPr>
          <p:spPr bwMode="auto">
            <a:xfrm>
              <a:off x="3564" y="3318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88" name="Line 120"/>
            <p:cNvSpPr>
              <a:spLocks noChangeShapeType="1"/>
            </p:cNvSpPr>
            <p:nvPr/>
          </p:nvSpPr>
          <p:spPr bwMode="auto">
            <a:xfrm>
              <a:off x="3564" y="3228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89" name="Line 121"/>
            <p:cNvSpPr>
              <a:spLocks noChangeShapeType="1"/>
            </p:cNvSpPr>
            <p:nvPr/>
          </p:nvSpPr>
          <p:spPr bwMode="auto">
            <a:xfrm>
              <a:off x="3564" y="3139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90" name="Line 122"/>
            <p:cNvSpPr>
              <a:spLocks noChangeShapeType="1"/>
            </p:cNvSpPr>
            <p:nvPr/>
          </p:nvSpPr>
          <p:spPr bwMode="auto">
            <a:xfrm>
              <a:off x="3564" y="3048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91" name="Line 123"/>
            <p:cNvSpPr>
              <a:spLocks noChangeShapeType="1"/>
            </p:cNvSpPr>
            <p:nvPr/>
          </p:nvSpPr>
          <p:spPr bwMode="auto">
            <a:xfrm>
              <a:off x="3564" y="2959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92" name="Line 124"/>
            <p:cNvSpPr>
              <a:spLocks noChangeShapeType="1"/>
            </p:cNvSpPr>
            <p:nvPr/>
          </p:nvSpPr>
          <p:spPr bwMode="auto">
            <a:xfrm>
              <a:off x="3575" y="3857"/>
              <a:ext cx="107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93" name="Line 125"/>
            <p:cNvSpPr>
              <a:spLocks noChangeShapeType="1"/>
            </p:cNvSpPr>
            <p:nvPr/>
          </p:nvSpPr>
          <p:spPr bwMode="auto">
            <a:xfrm flipV="1">
              <a:off x="3575" y="3857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94" name="Line 126"/>
            <p:cNvSpPr>
              <a:spLocks noChangeShapeType="1"/>
            </p:cNvSpPr>
            <p:nvPr/>
          </p:nvSpPr>
          <p:spPr bwMode="auto">
            <a:xfrm flipV="1">
              <a:off x="3682" y="3857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95" name="Line 127"/>
            <p:cNvSpPr>
              <a:spLocks noChangeShapeType="1"/>
            </p:cNvSpPr>
            <p:nvPr/>
          </p:nvSpPr>
          <p:spPr bwMode="auto">
            <a:xfrm flipV="1">
              <a:off x="3790" y="3857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96" name="Line 128"/>
            <p:cNvSpPr>
              <a:spLocks noChangeShapeType="1"/>
            </p:cNvSpPr>
            <p:nvPr/>
          </p:nvSpPr>
          <p:spPr bwMode="auto">
            <a:xfrm flipV="1">
              <a:off x="3895" y="3857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97" name="Line 129"/>
            <p:cNvSpPr>
              <a:spLocks noChangeShapeType="1"/>
            </p:cNvSpPr>
            <p:nvPr/>
          </p:nvSpPr>
          <p:spPr bwMode="auto">
            <a:xfrm flipV="1">
              <a:off x="4002" y="3857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98" name="Line 130"/>
            <p:cNvSpPr>
              <a:spLocks noChangeShapeType="1"/>
            </p:cNvSpPr>
            <p:nvPr/>
          </p:nvSpPr>
          <p:spPr bwMode="auto">
            <a:xfrm flipV="1">
              <a:off x="4110" y="3857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99" name="Line 131"/>
            <p:cNvSpPr>
              <a:spLocks noChangeShapeType="1"/>
            </p:cNvSpPr>
            <p:nvPr/>
          </p:nvSpPr>
          <p:spPr bwMode="auto">
            <a:xfrm flipV="1">
              <a:off x="4219" y="3857"/>
              <a:ext cx="0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00" name="Line 132"/>
            <p:cNvSpPr>
              <a:spLocks noChangeShapeType="1"/>
            </p:cNvSpPr>
            <p:nvPr/>
          </p:nvSpPr>
          <p:spPr bwMode="auto">
            <a:xfrm flipV="1">
              <a:off x="4326" y="3857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01" name="Line 133"/>
            <p:cNvSpPr>
              <a:spLocks noChangeShapeType="1"/>
            </p:cNvSpPr>
            <p:nvPr/>
          </p:nvSpPr>
          <p:spPr bwMode="auto">
            <a:xfrm flipV="1">
              <a:off x="4430" y="3857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02" name="Line 134"/>
            <p:cNvSpPr>
              <a:spLocks noChangeShapeType="1"/>
            </p:cNvSpPr>
            <p:nvPr/>
          </p:nvSpPr>
          <p:spPr bwMode="auto">
            <a:xfrm flipV="1">
              <a:off x="4539" y="3857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03" name="Line 135"/>
            <p:cNvSpPr>
              <a:spLocks noChangeShapeType="1"/>
            </p:cNvSpPr>
            <p:nvPr/>
          </p:nvSpPr>
          <p:spPr bwMode="auto">
            <a:xfrm flipV="1">
              <a:off x="4646" y="3857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04" name="Freeform 136"/>
            <p:cNvSpPr>
              <a:spLocks/>
            </p:cNvSpPr>
            <p:nvPr/>
          </p:nvSpPr>
          <p:spPr bwMode="auto">
            <a:xfrm>
              <a:off x="3870" y="3472"/>
              <a:ext cx="50" cy="51"/>
            </a:xfrm>
            <a:custGeom>
              <a:avLst/>
              <a:gdLst>
                <a:gd name="T0" fmla="*/ 28 w 56"/>
                <a:gd name="T1" fmla="*/ 0 h 56"/>
                <a:gd name="T2" fmla="*/ 56 w 56"/>
                <a:gd name="T3" fmla="*/ 28 h 56"/>
                <a:gd name="T4" fmla="*/ 28 w 56"/>
                <a:gd name="T5" fmla="*/ 56 h 56"/>
                <a:gd name="T6" fmla="*/ 0 w 56"/>
                <a:gd name="T7" fmla="*/ 28 h 56"/>
                <a:gd name="T8" fmla="*/ 28 w 56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lnTo>
                    <a:pt x="56" y="28"/>
                  </a:lnTo>
                  <a:lnTo>
                    <a:pt x="28" y="56"/>
                  </a:lnTo>
                  <a:lnTo>
                    <a:pt x="0" y="2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105" name="Freeform 137"/>
            <p:cNvSpPr>
              <a:spLocks/>
            </p:cNvSpPr>
            <p:nvPr/>
          </p:nvSpPr>
          <p:spPr bwMode="auto">
            <a:xfrm>
              <a:off x="3870" y="3291"/>
              <a:ext cx="50" cy="53"/>
            </a:xfrm>
            <a:custGeom>
              <a:avLst/>
              <a:gdLst>
                <a:gd name="T0" fmla="*/ 28 w 56"/>
                <a:gd name="T1" fmla="*/ 0 h 57"/>
                <a:gd name="T2" fmla="*/ 56 w 56"/>
                <a:gd name="T3" fmla="*/ 29 h 57"/>
                <a:gd name="T4" fmla="*/ 28 w 56"/>
                <a:gd name="T5" fmla="*/ 57 h 57"/>
                <a:gd name="T6" fmla="*/ 0 w 56"/>
                <a:gd name="T7" fmla="*/ 29 h 57"/>
                <a:gd name="T8" fmla="*/ 28 w 56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7">
                  <a:moveTo>
                    <a:pt x="28" y="0"/>
                  </a:moveTo>
                  <a:lnTo>
                    <a:pt x="56" y="29"/>
                  </a:lnTo>
                  <a:lnTo>
                    <a:pt x="28" y="57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106" name="Freeform 138"/>
            <p:cNvSpPr>
              <a:spLocks/>
            </p:cNvSpPr>
            <p:nvPr/>
          </p:nvSpPr>
          <p:spPr bwMode="auto">
            <a:xfrm>
              <a:off x="4301" y="3561"/>
              <a:ext cx="51" cy="53"/>
            </a:xfrm>
            <a:custGeom>
              <a:avLst/>
              <a:gdLst>
                <a:gd name="T0" fmla="*/ 28 w 57"/>
                <a:gd name="T1" fmla="*/ 0 h 57"/>
                <a:gd name="T2" fmla="*/ 57 w 57"/>
                <a:gd name="T3" fmla="*/ 29 h 57"/>
                <a:gd name="T4" fmla="*/ 28 w 57"/>
                <a:gd name="T5" fmla="*/ 57 h 57"/>
                <a:gd name="T6" fmla="*/ 0 w 57"/>
                <a:gd name="T7" fmla="*/ 29 h 57"/>
                <a:gd name="T8" fmla="*/ 28 w 57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7">
                  <a:moveTo>
                    <a:pt x="28" y="0"/>
                  </a:moveTo>
                  <a:lnTo>
                    <a:pt x="57" y="29"/>
                  </a:lnTo>
                  <a:lnTo>
                    <a:pt x="28" y="57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107" name="Freeform 139"/>
            <p:cNvSpPr>
              <a:spLocks/>
            </p:cNvSpPr>
            <p:nvPr/>
          </p:nvSpPr>
          <p:spPr bwMode="auto">
            <a:xfrm>
              <a:off x="3977" y="3202"/>
              <a:ext cx="51" cy="53"/>
            </a:xfrm>
            <a:custGeom>
              <a:avLst/>
              <a:gdLst>
                <a:gd name="T0" fmla="*/ 28 w 57"/>
                <a:gd name="T1" fmla="*/ 0 h 57"/>
                <a:gd name="T2" fmla="*/ 57 w 57"/>
                <a:gd name="T3" fmla="*/ 28 h 57"/>
                <a:gd name="T4" fmla="*/ 28 w 57"/>
                <a:gd name="T5" fmla="*/ 57 h 57"/>
                <a:gd name="T6" fmla="*/ 0 w 57"/>
                <a:gd name="T7" fmla="*/ 28 h 57"/>
                <a:gd name="T8" fmla="*/ 28 w 57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7">
                  <a:moveTo>
                    <a:pt x="28" y="0"/>
                  </a:moveTo>
                  <a:lnTo>
                    <a:pt x="57" y="28"/>
                  </a:lnTo>
                  <a:lnTo>
                    <a:pt x="28" y="57"/>
                  </a:lnTo>
                  <a:lnTo>
                    <a:pt x="0" y="2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108" name="Freeform 140"/>
            <p:cNvSpPr>
              <a:spLocks/>
            </p:cNvSpPr>
            <p:nvPr/>
          </p:nvSpPr>
          <p:spPr bwMode="auto">
            <a:xfrm>
              <a:off x="3870" y="3112"/>
              <a:ext cx="50" cy="52"/>
            </a:xfrm>
            <a:custGeom>
              <a:avLst/>
              <a:gdLst>
                <a:gd name="T0" fmla="*/ 28 w 56"/>
                <a:gd name="T1" fmla="*/ 0 h 57"/>
                <a:gd name="T2" fmla="*/ 56 w 56"/>
                <a:gd name="T3" fmla="*/ 29 h 57"/>
                <a:gd name="T4" fmla="*/ 28 w 56"/>
                <a:gd name="T5" fmla="*/ 57 h 57"/>
                <a:gd name="T6" fmla="*/ 0 w 56"/>
                <a:gd name="T7" fmla="*/ 29 h 57"/>
                <a:gd name="T8" fmla="*/ 28 w 56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7">
                  <a:moveTo>
                    <a:pt x="28" y="0"/>
                  </a:moveTo>
                  <a:lnTo>
                    <a:pt x="56" y="29"/>
                  </a:lnTo>
                  <a:lnTo>
                    <a:pt x="28" y="57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109" name="Freeform 141"/>
            <p:cNvSpPr>
              <a:spLocks/>
            </p:cNvSpPr>
            <p:nvPr/>
          </p:nvSpPr>
          <p:spPr bwMode="auto">
            <a:xfrm>
              <a:off x="4405" y="3382"/>
              <a:ext cx="50" cy="52"/>
            </a:xfrm>
            <a:custGeom>
              <a:avLst/>
              <a:gdLst>
                <a:gd name="T0" fmla="*/ 28 w 56"/>
                <a:gd name="T1" fmla="*/ 0 h 57"/>
                <a:gd name="T2" fmla="*/ 56 w 56"/>
                <a:gd name="T3" fmla="*/ 28 h 57"/>
                <a:gd name="T4" fmla="*/ 28 w 56"/>
                <a:gd name="T5" fmla="*/ 57 h 57"/>
                <a:gd name="T6" fmla="*/ 0 w 56"/>
                <a:gd name="T7" fmla="*/ 28 h 57"/>
                <a:gd name="T8" fmla="*/ 28 w 56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7">
                  <a:moveTo>
                    <a:pt x="28" y="0"/>
                  </a:moveTo>
                  <a:lnTo>
                    <a:pt x="56" y="28"/>
                  </a:lnTo>
                  <a:lnTo>
                    <a:pt x="28" y="57"/>
                  </a:lnTo>
                  <a:lnTo>
                    <a:pt x="0" y="2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110" name="Freeform 142"/>
            <p:cNvSpPr>
              <a:spLocks/>
            </p:cNvSpPr>
            <p:nvPr/>
          </p:nvSpPr>
          <p:spPr bwMode="auto">
            <a:xfrm>
              <a:off x="3977" y="3382"/>
              <a:ext cx="51" cy="52"/>
            </a:xfrm>
            <a:custGeom>
              <a:avLst/>
              <a:gdLst>
                <a:gd name="T0" fmla="*/ 28 w 57"/>
                <a:gd name="T1" fmla="*/ 0 h 57"/>
                <a:gd name="T2" fmla="*/ 57 w 57"/>
                <a:gd name="T3" fmla="*/ 28 h 57"/>
                <a:gd name="T4" fmla="*/ 28 w 57"/>
                <a:gd name="T5" fmla="*/ 57 h 57"/>
                <a:gd name="T6" fmla="*/ 0 w 57"/>
                <a:gd name="T7" fmla="*/ 28 h 57"/>
                <a:gd name="T8" fmla="*/ 28 w 57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7">
                  <a:moveTo>
                    <a:pt x="28" y="0"/>
                  </a:moveTo>
                  <a:lnTo>
                    <a:pt x="57" y="28"/>
                  </a:lnTo>
                  <a:lnTo>
                    <a:pt x="28" y="57"/>
                  </a:lnTo>
                  <a:lnTo>
                    <a:pt x="0" y="2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111" name="Freeform 143"/>
            <p:cNvSpPr>
              <a:spLocks/>
            </p:cNvSpPr>
            <p:nvPr/>
          </p:nvSpPr>
          <p:spPr bwMode="auto">
            <a:xfrm>
              <a:off x="4085" y="3741"/>
              <a:ext cx="50" cy="52"/>
            </a:xfrm>
            <a:custGeom>
              <a:avLst/>
              <a:gdLst>
                <a:gd name="T0" fmla="*/ 28 w 56"/>
                <a:gd name="T1" fmla="*/ 0 h 57"/>
                <a:gd name="T2" fmla="*/ 56 w 56"/>
                <a:gd name="T3" fmla="*/ 29 h 57"/>
                <a:gd name="T4" fmla="*/ 28 w 56"/>
                <a:gd name="T5" fmla="*/ 57 h 57"/>
                <a:gd name="T6" fmla="*/ 0 w 56"/>
                <a:gd name="T7" fmla="*/ 29 h 57"/>
                <a:gd name="T8" fmla="*/ 28 w 56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7">
                  <a:moveTo>
                    <a:pt x="28" y="0"/>
                  </a:moveTo>
                  <a:lnTo>
                    <a:pt x="56" y="29"/>
                  </a:lnTo>
                  <a:lnTo>
                    <a:pt x="28" y="57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112" name="Freeform 144"/>
            <p:cNvSpPr>
              <a:spLocks/>
            </p:cNvSpPr>
            <p:nvPr/>
          </p:nvSpPr>
          <p:spPr bwMode="auto">
            <a:xfrm>
              <a:off x="4301" y="3472"/>
              <a:ext cx="51" cy="51"/>
            </a:xfrm>
            <a:custGeom>
              <a:avLst/>
              <a:gdLst>
                <a:gd name="T0" fmla="*/ 28 w 57"/>
                <a:gd name="T1" fmla="*/ 0 h 56"/>
                <a:gd name="T2" fmla="*/ 57 w 57"/>
                <a:gd name="T3" fmla="*/ 28 h 56"/>
                <a:gd name="T4" fmla="*/ 28 w 57"/>
                <a:gd name="T5" fmla="*/ 56 h 56"/>
                <a:gd name="T6" fmla="*/ 0 w 57"/>
                <a:gd name="T7" fmla="*/ 28 h 56"/>
                <a:gd name="T8" fmla="*/ 28 w 57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28" y="0"/>
                  </a:moveTo>
                  <a:lnTo>
                    <a:pt x="57" y="28"/>
                  </a:lnTo>
                  <a:lnTo>
                    <a:pt x="28" y="56"/>
                  </a:lnTo>
                  <a:lnTo>
                    <a:pt x="0" y="2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113" name="Freeform 145"/>
            <p:cNvSpPr>
              <a:spLocks/>
            </p:cNvSpPr>
            <p:nvPr/>
          </p:nvSpPr>
          <p:spPr bwMode="auto">
            <a:xfrm>
              <a:off x="4085" y="3382"/>
              <a:ext cx="50" cy="52"/>
            </a:xfrm>
            <a:custGeom>
              <a:avLst/>
              <a:gdLst>
                <a:gd name="T0" fmla="*/ 28 w 56"/>
                <a:gd name="T1" fmla="*/ 0 h 57"/>
                <a:gd name="T2" fmla="*/ 56 w 56"/>
                <a:gd name="T3" fmla="*/ 28 h 57"/>
                <a:gd name="T4" fmla="*/ 28 w 56"/>
                <a:gd name="T5" fmla="*/ 57 h 57"/>
                <a:gd name="T6" fmla="*/ 0 w 56"/>
                <a:gd name="T7" fmla="*/ 28 h 57"/>
                <a:gd name="T8" fmla="*/ 28 w 56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7">
                  <a:moveTo>
                    <a:pt x="28" y="0"/>
                  </a:moveTo>
                  <a:lnTo>
                    <a:pt x="56" y="28"/>
                  </a:lnTo>
                  <a:lnTo>
                    <a:pt x="28" y="57"/>
                  </a:lnTo>
                  <a:lnTo>
                    <a:pt x="0" y="2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4114" name="Rectangle 146"/>
            <p:cNvSpPr>
              <a:spLocks noChangeArrowheads="1"/>
            </p:cNvSpPr>
            <p:nvPr/>
          </p:nvSpPr>
          <p:spPr bwMode="auto">
            <a:xfrm>
              <a:off x="3525" y="383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0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15" name="Rectangle 147"/>
            <p:cNvSpPr>
              <a:spLocks noChangeArrowheads="1"/>
            </p:cNvSpPr>
            <p:nvPr/>
          </p:nvSpPr>
          <p:spPr bwMode="auto">
            <a:xfrm>
              <a:off x="3525" y="3741"/>
              <a:ext cx="13" cy="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1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16" name="Rectangle 148"/>
            <p:cNvSpPr>
              <a:spLocks noChangeArrowheads="1"/>
            </p:cNvSpPr>
            <p:nvPr/>
          </p:nvSpPr>
          <p:spPr bwMode="auto">
            <a:xfrm>
              <a:off x="3525" y="3651"/>
              <a:ext cx="13" cy="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2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17" name="Rectangle 149"/>
            <p:cNvSpPr>
              <a:spLocks noChangeArrowheads="1"/>
            </p:cNvSpPr>
            <p:nvPr/>
          </p:nvSpPr>
          <p:spPr bwMode="auto">
            <a:xfrm>
              <a:off x="3525" y="356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3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18" name="Rectangle 150"/>
            <p:cNvSpPr>
              <a:spLocks noChangeArrowheads="1"/>
            </p:cNvSpPr>
            <p:nvPr/>
          </p:nvSpPr>
          <p:spPr bwMode="auto">
            <a:xfrm>
              <a:off x="3525" y="3472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4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19" name="Rectangle 151"/>
            <p:cNvSpPr>
              <a:spLocks noChangeArrowheads="1"/>
            </p:cNvSpPr>
            <p:nvPr/>
          </p:nvSpPr>
          <p:spPr bwMode="auto">
            <a:xfrm>
              <a:off x="3525" y="3382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5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20" name="Rectangle 152"/>
            <p:cNvSpPr>
              <a:spLocks noChangeArrowheads="1"/>
            </p:cNvSpPr>
            <p:nvPr/>
          </p:nvSpPr>
          <p:spPr bwMode="auto">
            <a:xfrm>
              <a:off x="3525" y="32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6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21" name="Rectangle 153"/>
            <p:cNvSpPr>
              <a:spLocks noChangeArrowheads="1"/>
            </p:cNvSpPr>
            <p:nvPr/>
          </p:nvSpPr>
          <p:spPr bwMode="auto">
            <a:xfrm>
              <a:off x="3525" y="3202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7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22" name="Rectangle 154"/>
            <p:cNvSpPr>
              <a:spLocks noChangeArrowheads="1"/>
            </p:cNvSpPr>
            <p:nvPr/>
          </p:nvSpPr>
          <p:spPr bwMode="auto">
            <a:xfrm>
              <a:off x="3525" y="3112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8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23" name="Rectangle 155"/>
            <p:cNvSpPr>
              <a:spLocks noChangeArrowheads="1"/>
            </p:cNvSpPr>
            <p:nvPr/>
          </p:nvSpPr>
          <p:spPr bwMode="auto">
            <a:xfrm>
              <a:off x="3525" y="3023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9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24" name="Rectangle 156"/>
            <p:cNvSpPr>
              <a:spLocks noChangeArrowheads="1"/>
            </p:cNvSpPr>
            <p:nvPr/>
          </p:nvSpPr>
          <p:spPr bwMode="auto">
            <a:xfrm>
              <a:off x="3502" y="2932"/>
              <a:ext cx="26" cy="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10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25" name="Rectangle 157"/>
            <p:cNvSpPr>
              <a:spLocks noChangeArrowheads="1"/>
            </p:cNvSpPr>
            <p:nvPr/>
          </p:nvSpPr>
          <p:spPr bwMode="auto">
            <a:xfrm>
              <a:off x="3564" y="38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0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26" name="Rectangle 158"/>
            <p:cNvSpPr>
              <a:spLocks noChangeArrowheads="1"/>
            </p:cNvSpPr>
            <p:nvPr/>
          </p:nvSpPr>
          <p:spPr bwMode="auto">
            <a:xfrm>
              <a:off x="3671" y="38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1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27" name="Rectangle 159"/>
            <p:cNvSpPr>
              <a:spLocks noChangeArrowheads="1"/>
            </p:cNvSpPr>
            <p:nvPr/>
          </p:nvSpPr>
          <p:spPr bwMode="auto">
            <a:xfrm>
              <a:off x="3780" y="38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2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28" name="Rectangle 160"/>
            <p:cNvSpPr>
              <a:spLocks noChangeArrowheads="1"/>
            </p:cNvSpPr>
            <p:nvPr/>
          </p:nvSpPr>
          <p:spPr bwMode="auto">
            <a:xfrm>
              <a:off x="3884" y="38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3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29" name="Rectangle 161"/>
            <p:cNvSpPr>
              <a:spLocks noChangeArrowheads="1"/>
            </p:cNvSpPr>
            <p:nvPr/>
          </p:nvSpPr>
          <p:spPr bwMode="auto">
            <a:xfrm>
              <a:off x="3991" y="38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4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30" name="Rectangle 162"/>
            <p:cNvSpPr>
              <a:spLocks noChangeArrowheads="1"/>
            </p:cNvSpPr>
            <p:nvPr/>
          </p:nvSpPr>
          <p:spPr bwMode="auto">
            <a:xfrm>
              <a:off x="4100" y="38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5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31" name="Rectangle 163"/>
            <p:cNvSpPr>
              <a:spLocks noChangeArrowheads="1"/>
            </p:cNvSpPr>
            <p:nvPr/>
          </p:nvSpPr>
          <p:spPr bwMode="auto">
            <a:xfrm>
              <a:off x="4208" y="38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6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32" name="Rectangle 164"/>
            <p:cNvSpPr>
              <a:spLocks noChangeArrowheads="1"/>
            </p:cNvSpPr>
            <p:nvPr/>
          </p:nvSpPr>
          <p:spPr bwMode="auto">
            <a:xfrm>
              <a:off x="4315" y="38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7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33" name="Rectangle 165"/>
            <p:cNvSpPr>
              <a:spLocks noChangeArrowheads="1"/>
            </p:cNvSpPr>
            <p:nvPr/>
          </p:nvSpPr>
          <p:spPr bwMode="auto">
            <a:xfrm>
              <a:off x="4420" y="38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8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34" name="Rectangle 166"/>
            <p:cNvSpPr>
              <a:spLocks noChangeArrowheads="1"/>
            </p:cNvSpPr>
            <p:nvPr/>
          </p:nvSpPr>
          <p:spPr bwMode="auto">
            <a:xfrm>
              <a:off x="4528" y="3891"/>
              <a:ext cx="13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9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35" name="Rectangle 167"/>
            <p:cNvSpPr>
              <a:spLocks noChangeArrowheads="1"/>
            </p:cNvSpPr>
            <p:nvPr/>
          </p:nvSpPr>
          <p:spPr bwMode="auto">
            <a:xfrm>
              <a:off x="4624" y="3891"/>
              <a:ext cx="26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600" b="0">
                  <a:solidFill>
                    <a:srgbClr val="000000"/>
                  </a:solidFill>
                  <a:latin typeface="Arial" panose="020B0604020202020204" pitchFamily="34" charset="0"/>
                  <a:ea typeface="굴림" pitchFamily="34" charset="-127"/>
                </a:rPr>
                <a:t>10</a:t>
              </a:r>
              <a:endParaRPr lang="ko-KR" altLang="en-US" sz="2400" b="0">
                <a:solidFill>
                  <a:schemeClr val="tx1"/>
                </a:solidFill>
                <a:latin typeface="Tahoma" panose="020B0604030504040204" pitchFamily="34" charset="0"/>
                <a:ea typeface="굴림" pitchFamily="34" charset="-127"/>
              </a:endParaRPr>
            </a:p>
          </p:txBody>
        </p:sp>
        <p:sp>
          <p:nvSpPr>
            <p:cNvPr id="1364136" name="Rectangle 168"/>
            <p:cNvSpPr>
              <a:spLocks noChangeArrowheads="1"/>
            </p:cNvSpPr>
            <p:nvPr/>
          </p:nvSpPr>
          <p:spPr bwMode="auto">
            <a:xfrm>
              <a:off x="3456" y="2880"/>
              <a:ext cx="1248" cy="1112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37" name="Freeform 169"/>
            <p:cNvSpPr>
              <a:spLocks/>
            </p:cNvSpPr>
            <p:nvPr/>
          </p:nvSpPr>
          <p:spPr bwMode="auto">
            <a:xfrm>
              <a:off x="3759" y="3059"/>
              <a:ext cx="436" cy="549"/>
            </a:xfrm>
            <a:custGeom>
              <a:avLst/>
              <a:gdLst>
                <a:gd name="T0" fmla="*/ 199 w 728"/>
                <a:gd name="T1" fmla="*/ 7 h 896"/>
                <a:gd name="T2" fmla="*/ 110 w 728"/>
                <a:gd name="T3" fmla="*/ 96 h 896"/>
                <a:gd name="T4" fmla="*/ 80 w 728"/>
                <a:gd name="T5" fmla="*/ 140 h 896"/>
                <a:gd name="T6" fmla="*/ 65 w 728"/>
                <a:gd name="T7" fmla="*/ 162 h 896"/>
                <a:gd name="T8" fmla="*/ 21 w 728"/>
                <a:gd name="T9" fmla="*/ 303 h 896"/>
                <a:gd name="T10" fmla="*/ 65 w 728"/>
                <a:gd name="T11" fmla="*/ 703 h 896"/>
                <a:gd name="T12" fmla="*/ 110 w 728"/>
                <a:gd name="T13" fmla="*/ 763 h 896"/>
                <a:gd name="T14" fmla="*/ 332 w 728"/>
                <a:gd name="T15" fmla="*/ 896 h 896"/>
                <a:gd name="T16" fmla="*/ 495 w 728"/>
                <a:gd name="T17" fmla="*/ 851 h 896"/>
                <a:gd name="T18" fmla="*/ 636 w 728"/>
                <a:gd name="T19" fmla="*/ 711 h 896"/>
                <a:gd name="T20" fmla="*/ 688 w 728"/>
                <a:gd name="T21" fmla="*/ 607 h 896"/>
                <a:gd name="T22" fmla="*/ 702 w 728"/>
                <a:gd name="T23" fmla="*/ 563 h 896"/>
                <a:gd name="T24" fmla="*/ 710 w 728"/>
                <a:gd name="T25" fmla="*/ 540 h 896"/>
                <a:gd name="T26" fmla="*/ 680 w 728"/>
                <a:gd name="T27" fmla="*/ 296 h 896"/>
                <a:gd name="T28" fmla="*/ 569 w 728"/>
                <a:gd name="T29" fmla="*/ 133 h 896"/>
                <a:gd name="T30" fmla="*/ 510 w 728"/>
                <a:gd name="T31" fmla="*/ 88 h 896"/>
                <a:gd name="T32" fmla="*/ 465 w 728"/>
                <a:gd name="T33" fmla="*/ 59 h 896"/>
                <a:gd name="T34" fmla="*/ 295 w 728"/>
                <a:gd name="T35" fmla="*/ 0 h 896"/>
                <a:gd name="T36" fmla="*/ 206 w 728"/>
                <a:gd name="T37" fmla="*/ 7 h 896"/>
                <a:gd name="T38" fmla="*/ 184 w 728"/>
                <a:gd name="T39" fmla="*/ 14 h 896"/>
                <a:gd name="T40" fmla="*/ 199 w 728"/>
                <a:gd name="T41" fmla="*/ 7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28" h="896">
                  <a:moveTo>
                    <a:pt x="199" y="7"/>
                  </a:moveTo>
                  <a:cubicBezTo>
                    <a:pt x="148" y="19"/>
                    <a:pt x="135" y="54"/>
                    <a:pt x="110" y="96"/>
                  </a:cubicBezTo>
                  <a:cubicBezTo>
                    <a:pt x="101" y="111"/>
                    <a:pt x="90" y="125"/>
                    <a:pt x="80" y="140"/>
                  </a:cubicBezTo>
                  <a:cubicBezTo>
                    <a:pt x="75" y="147"/>
                    <a:pt x="65" y="162"/>
                    <a:pt x="65" y="162"/>
                  </a:cubicBezTo>
                  <a:cubicBezTo>
                    <a:pt x="50" y="210"/>
                    <a:pt x="33" y="254"/>
                    <a:pt x="21" y="303"/>
                  </a:cubicBezTo>
                  <a:cubicBezTo>
                    <a:pt x="4" y="446"/>
                    <a:pt x="0" y="574"/>
                    <a:pt x="65" y="703"/>
                  </a:cubicBezTo>
                  <a:cubicBezTo>
                    <a:pt x="79" y="731"/>
                    <a:pt x="83" y="744"/>
                    <a:pt x="110" y="763"/>
                  </a:cubicBezTo>
                  <a:cubicBezTo>
                    <a:pt x="159" y="835"/>
                    <a:pt x="250" y="874"/>
                    <a:pt x="332" y="896"/>
                  </a:cubicBezTo>
                  <a:cubicBezTo>
                    <a:pt x="394" y="889"/>
                    <a:pt x="441" y="878"/>
                    <a:pt x="495" y="851"/>
                  </a:cubicBezTo>
                  <a:cubicBezTo>
                    <a:pt x="537" y="789"/>
                    <a:pt x="571" y="751"/>
                    <a:pt x="636" y="711"/>
                  </a:cubicBezTo>
                  <a:cubicBezTo>
                    <a:pt x="660" y="674"/>
                    <a:pt x="672" y="647"/>
                    <a:pt x="688" y="607"/>
                  </a:cubicBezTo>
                  <a:cubicBezTo>
                    <a:pt x="694" y="593"/>
                    <a:pt x="697" y="578"/>
                    <a:pt x="702" y="563"/>
                  </a:cubicBezTo>
                  <a:cubicBezTo>
                    <a:pt x="705" y="555"/>
                    <a:pt x="710" y="540"/>
                    <a:pt x="710" y="540"/>
                  </a:cubicBezTo>
                  <a:cubicBezTo>
                    <a:pt x="720" y="459"/>
                    <a:pt x="728" y="366"/>
                    <a:pt x="680" y="296"/>
                  </a:cubicBezTo>
                  <a:cubicBezTo>
                    <a:pt x="659" y="231"/>
                    <a:pt x="621" y="176"/>
                    <a:pt x="569" y="133"/>
                  </a:cubicBezTo>
                  <a:cubicBezTo>
                    <a:pt x="550" y="117"/>
                    <a:pt x="530" y="103"/>
                    <a:pt x="510" y="88"/>
                  </a:cubicBezTo>
                  <a:cubicBezTo>
                    <a:pt x="496" y="77"/>
                    <a:pt x="465" y="59"/>
                    <a:pt x="465" y="59"/>
                  </a:cubicBezTo>
                  <a:cubicBezTo>
                    <a:pt x="428" y="0"/>
                    <a:pt x="358" y="5"/>
                    <a:pt x="295" y="0"/>
                  </a:cubicBezTo>
                  <a:cubicBezTo>
                    <a:pt x="265" y="2"/>
                    <a:pt x="236" y="3"/>
                    <a:pt x="206" y="7"/>
                  </a:cubicBezTo>
                  <a:cubicBezTo>
                    <a:pt x="198" y="8"/>
                    <a:pt x="192" y="14"/>
                    <a:pt x="184" y="14"/>
                  </a:cubicBezTo>
                  <a:cubicBezTo>
                    <a:pt x="178" y="14"/>
                    <a:pt x="194" y="9"/>
                    <a:pt x="199" y="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64138" name="Freeform 170"/>
            <p:cNvSpPr>
              <a:spLocks/>
            </p:cNvSpPr>
            <p:nvPr/>
          </p:nvSpPr>
          <p:spPr bwMode="auto">
            <a:xfrm>
              <a:off x="4030" y="3281"/>
              <a:ext cx="481" cy="546"/>
            </a:xfrm>
            <a:custGeom>
              <a:avLst/>
              <a:gdLst>
                <a:gd name="T0" fmla="*/ 510 w 802"/>
                <a:gd name="T1" fmla="*/ 44 h 889"/>
                <a:gd name="T2" fmla="*/ 376 w 802"/>
                <a:gd name="T3" fmla="*/ 177 h 889"/>
                <a:gd name="T4" fmla="*/ 236 w 802"/>
                <a:gd name="T5" fmla="*/ 296 h 889"/>
                <a:gd name="T6" fmla="*/ 221 w 802"/>
                <a:gd name="T7" fmla="*/ 318 h 889"/>
                <a:gd name="T8" fmla="*/ 199 w 802"/>
                <a:gd name="T9" fmla="*/ 333 h 889"/>
                <a:gd name="T10" fmla="*/ 191 w 802"/>
                <a:gd name="T11" fmla="*/ 355 h 889"/>
                <a:gd name="T12" fmla="*/ 169 w 802"/>
                <a:gd name="T13" fmla="*/ 385 h 889"/>
                <a:gd name="T14" fmla="*/ 132 w 802"/>
                <a:gd name="T15" fmla="*/ 496 h 889"/>
                <a:gd name="T16" fmla="*/ 110 w 802"/>
                <a:gd name="T17" fmla="*/ 518 h 889"/>
                <a:gd name="T18" fmla="*/ 80 w 802"/>
                <a:gd name="T19" fmla="*/ 562 h 889"/>
                <a:gd name="T20" fmla="*/ 43 w 802"/>
                <a:gd name="T21" fmla="*/ 629 h 889"/>
                <a:gd name="T22" fmla="*/ 13 w 802"/>
                <a:gd name="T23" fmla="*/ 703 h 889"/>
                <a:gd name="T24" fmla="*/ 36 w 802"/>
                <a:gd name="T25" fmla="*/ 844 h 889"/>
                <a:gd name="T26" fmla="*/ 80 w 802"/>
                <a:gd name="T27" fmla="*/ 874 h 889"/>
                <a:gd name="T28" fmla="*/ 124 w 802"/>
                <a:gd name="T29" fmla="*/ 888 h 889"/>
                <a:gd name="T30" fmla="*/ 354 w 802"/>
                <a:gd name="T31" fmla="*/ 874 h 889"/>
                <a:gd name="T32" fmla="*/ 517 w 802"/>
                <a:gd name="T33" fmla="*/ 822 h 889"/>
                <a:gd name="T34" fmla="*/ 569 w 802"/>
                <a:gd name="T35" fmla="*/ 792 h 889"/>
                <a:gd name="T36" fmla="*/ 673 w 802"/>
                <a:gd name="T37" fmla="*/ 651 h 889"/>
                <a:gd name="T38" fmla="*/ 695 w 802"/>
                <a:gd name="T39" fmla="*/ 600 h 889"/>
                <a:gd name="T40" fmla="*/ 747 w 802"/>
                <a:gd name="T41" fmla="*/ 533 h 889"/>
                <a:gd name="T42" fmla="*/ 784 w 802"/>
                <a:gd name="T43" fmla="*/ 451 h 889"/>
                <a:gd name="T44" fmla="*/ 798 w 802"/>
                <a:gd name="T45" fmla="*/ 385 h 889"/>
                <a:gd name="T46" fmla="*/ 650 w 802"/>
                <a:gd name="T47" fmla="*/ 0 h 889"/>
                <a:gd name="T48" fmla="*/ 532 w 802"/>
                <a:gd name="T49" fmla="*/ 22 h 889"/>
                <a:gd name="T50" fmla="*/ 510 w 802"/>
                <a:gd name="T51" fmla="*/ 44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889">
                  <a:moveTo>
                    <a:pt x="510" y="44"/>
                  </a:moveTo>
                  <a:cubicBezTo>
                    <a:pt x="455" y="80"/>
                    <a:pt x="422" y="133"/>
                    <a:pt x="376" y="177"/>
                  </a:cubicBezTo>
                  <a:cubicBezTo>
                    <a:pt x="346" y="236"/>
                    <a:pt x="298" y="273"/>
                    <a:pt x="236" y="296"/>
                  </a:cubicBezTo>
                  <a:cubicBezTo>
                    <a:pt x="231" y="303"/>
                    <a:pt x="227" y="312"/>
                    <a:pt x="221" y="318"/>
                  </a:cubicBezTo>
                  <a:cubicBezTo>
                    <a:pt x="215" y="324"/>
                    <a:pt x="205" y="326"/>
                    <a:pt x="199" y="333"/>
                  </a:cubicBezTo>
                  <a:cubicBezTo>
                    <a:pt x="194" y="339"/>
                    <a:pt x="195" y="348"/>
                    <a:pt x="191" y="355"/>
                  </a:cubicBezTo>
                  <a:cubicBezTo>
                    <a:pt x="185" y="366"/>
                    <a:pt x="176" y="375"/>
                    <a:pt x="169" y="385"/>
                  </a:cubicBezTo>
                  <a:cubicBezTo>
                    <a:pt x="156" y="422"/>
                    <a:pt x="155" y="463"/>
                    <a:pt x="132" y="496"/>
                  </a:cubicBezTo>
                  <a:cubicBezTo>
                    <a:pt x="126" y="504"/>
                    <a:pt x="116" y="510"/>
                    <a:pt x="110" y="518"/>
                  </a:cubicBezTo>
                  <a:cubicBezTo>
                    <a:pt x="99" y="532"/>
                    <a:pt x="80" y="562"/>
                    <a:pt x="80" y="562"/>
                  </a:cubicBezTo>
                  <a:cubicBezTo>
                    <a:pt x="68" y="602"/>
                    <a:pt x="78" y="578"/>
                    <a:pt x="43" y="629"/>
                  </a:cubicBezTo>
                  <a:cubicBezTo>
                    <a:pt x="28" y="651"/>
                    <a:pt x="22" y="678"/>
                    <a:pt x="13" y="703"/>
                  </a:cubicBezTo>
                  <a:cubicBezTo>
                    <a:pt x="15" y="727"/>
                    <a:pt x="0" y="812"/>
                    <a:pt x="36" y="844"/>
                  </a:cubicBezTo>
                  <a:cubicBezTo>
                    <a:pt x="49" y="856"/>
                    <a:pt x="65" y="864"/>
                    <a:pt x="80" y="874"/>
                  </a:cubicBezTo>
                  <a:cubicBezTo>
                    <a:pt x="93" y="883"/>
                    <a:pt x="124" y="888"/>
                    <a:pt x="124" y="888"/>
                  </a:cubicBezTo>
                  <a:cubicBezTo>
                    <a:pt x="167" y="886"/>
                    <a:pt x="287" y="889"/>
                    <a:pt x="354" y="874"/>
                  </a:cubicBezTo>
                  <a:cubicBezTo>
                    <a:pt x="410" y="861"/>
                    <a:pt x="461" y="835"/>
                    <a:pt x="517" y="822"/>
                  </a:cubicBezTo>
                  <a:cubicBezTo>
                    <a:pt x="534" y="811"/>
                    <a:pt x="553" y="804"/>
                    <a:pt x="569" y="792"/>
                  </a:cubicBezTo>
                  <a:cubicBezTo>
                    <a:pt x="613" y="757"/>
                    <a:pt x="651" y="702"/>
                    <a:pt x="673" y="651"/>
                  </a:cubicBezTo>
                  <a:cubicBezTo>
                    <a:pt x="680" y="634"/>
                    <a:pt x="685" y="615"/>
                    <a:pt x="695" y="600"/>
                  </a:cubicBezTo>
                  <a:cubicBezTo>
                    <a:pt x="711" y="577"/>
                    <a:pt x="747" y="533"/>
                    <a:pt x="747" y="533"/>
                  </a:cubicBezTo>
                  <a:cubicBezTo>
                    <a:pt x="756" y="504"/>
                    <a:pt x="784" y="451"/>
                    <a:pt x="784" y="451"/>
                  </a:cubicBezTo>
                  <a:cubicBezTo>
                    <a:pt x="787" y="439"/>
                    <a:pt x="798" y="395"/>
                    <a:pt x="798" y="385"/>
                  </a:cubicBezTo>
                  <a:cubicBezTo>
                    <a:pt x="798" y="264"/>
                    <a:pt x="802" y="46"/>
                    <a:pt x="650" y="0"/>
                  </a:cubicBezTo>
                  <a:cubicBezTo>
                    <a:pt x="598" y="5"/>
                    <a:pt x="575" y="6"/>
                    <a:pt x="532" y="22"/>
                  </a:cubicBezTo>
                  <a:cubicBezTo>
                    <a:pt x="516" y="46"/>
                    <a:pt x="526" y="44"/>
                    <a:pt x="510" y="44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364141" name="Group 173"/>
          <p:cNvGrpSpPr>
            <a:grpSpLocks/>
          </p:cNvGrpSpPr>
          <p:nvPr/>
        </p:nvGrpSpPr>
        <p:grpSpPr bwMode="auto">
          <a:xfrm>
            <a:off x="304800" y="3124200"/>
            <a:ext cx="4038600" cy="2743200"/>
            <a:chOff x="3108" y="2256"/>
            <a:chExt cx="2148" cy="1872"/>
          </a:xfrm>
        </p:grpSpPr>
        <p:graphicFrame>
          <p:nvGraphicFramePr>
            <p:cNvPr id="1364142" name="Object 174"/>
            <p:cNvGraphicFramePr>
              <a:graphicFrameLocks noChangeAspect="1"/>
            </p:cNvGraphicFramePr>
            <p:nvPr/>
          </p:nvGraphicFramePr>
          <p:xfrm>
            <a:off x="3108" y="2256"/>
            <a:ext cx="2148" cy="1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25" name="Worksheet" r:id="rId4" imgW="3410102" imgH="2848051" progId="Excel.Sheet.8">
                    <p:embed/>
                  </p:oleObj>
                </mc:Choice>
                <mc:Fallback>
                  <p:oleObj name="Worksheet" r:id="rId4" imgW="3410102" imgH="2848051" progId="Excel.Shee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8" y="2256"/>
                          <a:ext cx="2148" cy="1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4143" name="Freeform 175"/>
            <p:cNvSpPr>
              <a:spLocks/>
            </p:cNvSpPr>
            <p:nvPr/>
          </p:nvSpPr>
          <p:spPr bwMode="auto">
            <a:xfrm>
              <a:off x="3638" y="2571"/>
              <a:ext cx="728" cy="896"/>
            </a:xfrm>
            <a:custGeom>
              <a:avLst/>
              <a:gdLst>
                <a:gd name="T0" fmla="*/ 199 w 728"/>
                <a:gd name="T1" fmla="*/ 7 h 896"/>
                <a:gd name="T2" fmla="*/ 110 w 728"/>
                <a:gd name="T3" fmla="*/ 96 h 896"/>
                <a:gd name="T4" fmla="*/ 80 w 728"/>
                <a:gd name="T5" fmla="*/ 140 h 896"/>
                <a:gd name="T6" fmla="*/ 65 w 728"/>
                <a:gd name="T7" fmla="*/ 162 h 896"/>
                <a:gd name="T8" fmla="*/ 21 w 728"/>
                <a:gd name="T9" fmla="*/ 303 h 896"/>
                <a:gd name="T10" fmla="*/ 65 w 728"/>
                <a:gd name="T11" fmla="*/ 703 h 896"/>
                <a:gd name="T12" fmla="*/ 110 w 728"/>
                <a:gd name="T13" fmla="*/ 763 h 896"/>
                <a:gd name="T14" fmla="*/ 332 w 728"/>
                <a:gd name="T15" fmla="*/ 896 h 896"/>
                <a:gd name="T16" fmla="*/ 495 w 728"/>
                <a:gd name="T17" fmla="*/ 851 h 896"/>
                <a:gd name="T18" fmla="*/ 636 w 728"/>
                <a:gd name="T19" fmla="*/ 711 h 896"/>
                <a:gd name="T20" fmla="*/ 688 w 728"/>
                <a:gd name="T21" fmla="*/ 607 h 896"/>
                <a:gd name="T22" fmla="*/ 702 w 728"/>
                <a:gd name="T23" fmla="*/ 563 h 896"/>
                <a:gd name="T24" fmla="*/ 710 w 728"/>
                <a:gd name="T25" fmla="*/ 540 h 896"/>
                <a:gd name="T26" fmla="*/ 680 w 728"/>
                <a:gd name="T27" fmla="*/ 296 h 896"/>
                <a:gd name="T28" fmla="*/ 569 w 728"/>
                <a:gd name="T29" fmla="*/ 133 h 896"/>
                <a:gd name="T30" fmla="*/ 510 w 728"/>
                <a:gd name="T31" fmla="*/ 88 h 896"/>
                <a:gd name="T32" fmla="*/ 465 w 728"/>
                <a:gd name="T33" fmla="*/ 59 h 896"/>
                <a:gd name="T34" fmla="*/ 295 w 728"/>
                <a:gd name="T35" fmla="*/ 0 h 896"/>
                <a:gd name="T36" fmla="*/ 206 w 728"/>
                <a:gd name="T37" fmla="*/ 7 h 896"/>
                <a:gd name="T38" fmla="*/ 184 w 728"/>
                <a:gd name="T39" fmla="*/ 14 h 896"/>
                <a:gd name="T40" fmla="*/ 199 w 728"/>
                <a:gd name="T41" fmla="*/ 7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28" h="896">
                  <a:moveTo>
                    <a:pt x="199" y="7"/>
                  </a:moveTo>
                  <a:cubicBezTo>
                    <a:pt x="148" y="19"/>
                    <a:pt x="135" y="54"/>
                    <a:pt x="110" y="96"/>
                  </a:cubicBezTo>
                  <a:cubicBezTo>
                    <a:pt x="101" y="111"/>
                    <a:pt x="90" y="125"/>
                    <a:pt x="80" y="140"/>
                  </a:cubicBezTo>
                  <a:cubicBezTo>
                    <a:pt x="75" y="147"/>
                    <a:pt x="65" y="162"/>
                    <a:pt x="65" y="162"/>
                  </a:cubicBezTo>
                  <a:cubicBezTo>
                    <a:pt x="50" y="210"/>
                    <a:pt x="33" y="254"/>
                    <a:pt x="21" y="303"/>
                  </a:cubicBezTo>
                  <a:cubicBezTo>
                    <a:pt x="4" y="446"/>
                    <a:pt x="0" y="574"/>
                    <a:pt x="65" y="703"/>
                  </a:cubicBezTo>
                  <a:cubicBezTo>
                    <a:pt x="79" y="731"/>
                    <a:pt x="83" y="744"/>
                    <a:pt x="110" y="763"/>
                  </a:cubicBezTo>
                  <a:cubicBezTo>
                    <a:pt x="159" y="835"/>
                    <a:pt x="250" y="874"/>
                    <a:pt x="332" y="896"/>
                  </a:cubicBezTo>
                  <a:cubicBezTo>
                    <a:pt x="394" y="889"/>
                    <a:pt x="441" y="878"/>
                    <a:pt x="495" y="851"/>
                  </a:cubicBezTo>
                  <a:cubicBezTo>
                    <a:pt x="537" y="789"/>
                    <a:pt x="571" y="751"/>
                    <a:pt x="636" y="711"/>
                  </a:cubicBezTo>
                  <a:cubicBezTo>
                    <a:pt x="660" y="674"/>
                    <a:pt x="672" y="647"/>
                    <a:pt x="688" y="607"/>
                  </a:cubicBezTo>
                  <a:cubicBezTo>
                    <a:pt x="694" y="593"/>
                    <a:pt x="697" y="578"/>
                    <a:pt x="702" y="563"/>
                  </a:cubicBezTo>
                  <a:cubicBezTo>
                    <a:pt x="705" y="555"/>
                    <a:pt x="710" y="540"/>
                    <a:pt x="710" y="540"/>
                  </a:cubicBezTo>
                  <a:cubicBezTo>
                    <a:pt x="720" y="459"/>
                    <a:pt x="728" y="366"/>
                    <a:pt x="680" y="296"/>
                  </a:cubicBezTo>
                  <a:cubicBezTo>
                    <a:pt x="659" y="231"/>
                    <a:pt x="621" y="176"/>
                    <a:pt x="569" y="133"/>
                  </a:cubicBezTo>
                  <a:cubicBezTo>
                    <a:pt x="550" y="117"/>
                    <a:pt x="530" y="103"/>
                    <a:pt x="510" y="88"/>
                  </a:cubicBezTo>
                  <a:cubicBezTo>
                    <a:pt x="496" y="77"/>
                    <a:pt x="465" y="59"/>
                    <a:pt x="465" y="59"/>
                  </a:cubicBezTo>
                  <a:cubicBezTo>
                    <a:pt x="428" y="0"/>
                    <a:pt x="358" y="5"/>
                    <a:pt x="295" y="0"/>
                  </a:cubicBezTo>
                  <a:cubicBezTo>
                    <a:pt x="265" y="2"/>
                    <a:pt x="236" y="3"/>
                    <a:pt x="206" y="7"/>
                  </a:cubicBezTo>
                  <a:cubicBezTo>
                    <a:pt x="198" y="8"/>
                    <a:pt x="192" y="14"/>
                    <a:pt x="184" y="14"/>
                  </a:cubicBezTo>
                  <a:cubicBezTo>
                    <a:pt x="178" y="14"/>
                    <a:pt x="194" y="9"/>
                    <a:pt x="199" y="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64144" name="Freeform 176"/>
            <p:cNvSpPr>
              <a:spLocks/>
            </p:cNvSpPr>
            <p:nvPr/>
          </p:nvSpPr>
          <p:spPr bwMode="auto">
            <a:xfrm>
              <a:off x="4090" y="2934"/>
              <a:ext cx="802" cy="889"/>
            </a:xfrm>
            <a:custGeom>
              <a:avLst/>
              <a:gdLst>
                <a:gd name="T0" fmla="*/ 510 w 802"/>
                <a:gd name="T1" fmla="*/ 44 h 889"/>
                <a:gd name="T2" fmla="*/ 376 w 802"/>
                <a:gd name="T3" fmla="*/ 177 h 889"/>
                <a:gd name="T4" fmla="*/ 236 w 802"/>
                <a:gd name="T5" fmla="*/ 296 h 889"/>
                <a:gd name="T6" fmla="*/ 221 w 802"/>
                <a:gd name="T7" fmla="*/ 318 h 889"/>
                <a:gd name="T8" fmla="*/ 199 w 802"/>
                <a:gd name="T9" fmla="*/ 333 h 889"/>
                <a:gd name="T10" fmla="*/ 191 w 802"/>
                <a:gd name="T11" fmla="*/ 355 h 889"/>
                <a:gd name="T12" fmla="*/ 169 w 802"/>
                <a:gd name="T13" fmla="*/ 385 h 889"/>
                <a:gd name="T14" fmla="*/ 132 w 802"/>
                <a:gd name="T15" fmla="*/ 496 h 889"/>
                <a:gd name="T16" fmla="*/ 110 w 802"/>
                <a:gd name="T17" fmla="*/ 518 h 889"/>
                <a:gd name="T18" fmla="*/ 80 w 802"/>
                <a:gd name="T19" fmla="*/ 562 h 889"/>
                <a:gd name="T20" fmla="*/ 43 w 802"/>
                <a:gd name="T21" fmla="*/ 629 h 889"/>
                <a:gd name="T22" fmla="*/ 13 w 802"/>
                <a:gd name="T23" fmla="*/ 703 h 889"/>
                <a:gd name="T24" fmla="*/ 36 w 802"/>
                <a:gd name="T25" fmla="*/ 844 h 889"/>
                <a:gd name="T26" fmla="*/ 80 w 802"/>
                <a:gd name="T27" fmla="*/ 874 h 889"/>
                <a:gd name="T28" fmla="*/ 124 w 802"/>
                <a:gd name="T29" fmla="*/ 888 h 889"/>
                <a:gd name="T30" fmla="*/ 354 w 802"/>
                <a:gd name="T31" fmla="*/ 874 h 889"/>
                <a:gd name="T32" fmla="*/ 517 w 802"/>
                <a:gd name="T33" fmla="*/ 822 h 889"/>
                <a:gd name="T34" fmla="*/ 569 w 802"/>
                <a:gd name="T35" fmla="*/ 792 h 889"/>
                <a:gd name="T36" fmla="*/ 673 w 802"/>
                <a:gd name="T37" fmla="*/ 651 h 889"/>
                <a:gd name="T38" fmla="*/ 695 w 802"/>
                <a:gd name="T39" fmla="*/ 600 h 889"/>
                <a:gd name="T40" fmla="*/ 747 w 802"/>
                <a:gd name="T41" fmla="*/ 533 h 889"/>
                <a:gd name="T42" fmla="*/ 784 w 802"/>
                <a:gd name="T43" fmla="*/ 451 h 889"/>
                <a:gd name="T44" fmla="*/ 798 w 802"/>
                <a:gd name="T45" fmla="*/ 385 h 889"/>
                <a:gd name="T46" fmla="*/ 650 w 802"/>
                <a:gd name="T47" fmla="*/ 0 h 889"/>
                <a:gd name="T48" fmla="*/ 532 w 802"/>
                <a:gd name="T49" fmla="*/ 22 h 889"/>
                <a:gd name="T50" fmla="*/ 510 w 802"/>
                <a:gd name="T51" fmla="*/ 44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889">
                  <a:moveTo>
                    <a:pt x="510" y="44"/>
                  </a:moveTo>
                  <a:cubicBezTo>
                    <a:pt x="455" y="80"/>
                    <a:pt x="422" y="133"/>
                    <a:pt x="376" y="177"/>
                  </a:cubicBezTo>
                  <a:cubicBezTo>
                    <a:pt x="346" y="236"/>
                    <a:pt x="298" y="273"/>
                    <a:pt x="236" y="296"/>
                  </a:cubicBezTo>
                  <a:cubicBezTo>
                    <a:pt x="231" y="303"/>
                    <a:pt x="227" y="312"/>
                    <a:pt x="221" y="318"/>
                  </a:cubicBezTo>
                  <a:cubicBezTo>
                    <a:pt x="215" y="324"/>
                    <a:pt x="205" y="326"/>
                    <a:pt x="199" y="333"/>
                  </a:cubicBezTo>
                  <a:cubicBezTo>
                    <a:pt x="194" y="339"/>
                    <a:pt x="195" y="348"/>
                    <a:pt x="191" y="355"/>
                  </a:cubicBezTo>
                  <a:cubicBezTo>
                    <a:pt x="185" y="366"/>
                    <a:pt x="176" y="375"/>
                    <a:pt x="169" y="385"/>
                  </a:cubicBezTo>
                  <a:cubicBezTo>
                    <a:pt x="156" y="422"/>
                    <a:pt x="155" y="463"/>
                    <a:pt x="132" y="496"/>
                  </a:cubicBezTo>
                  <a:cubicBezTo>
                    <a:pt x="126" y="504"/>
                    <a:pt x="116" y="510"/>
                    <a:pt x="110" y="518"/>
                  </a:cubicBezTo>
                  <a:cubicBezTo>
                    <a:pt x="99" y="532"/>
                    <a:pt x="80" y="562"/>
                    <a:pt x="80" y="562"/>
                  </a:cubicBezTo>
                  <a:cubicBezTo>
                    <a:pt x="68" y="602"/>
                    <a:pt x="78" y="578"/>
                    <a:pt x="43" y="629"/>
                  </a:cubicBezTo>
                  <a:cubicBezTo>
                    <a:pt x="28" y="651"/>
                    <a:pt x="22" y="678"/>
                    <a:pt x="13" y="703"/>
                  </a:cubicBezTo>
                  <a:cubicBezTo>
                    <a:pt x="15" y="727"/>
                    <a:pt x="0" y="812"/>
                    <a:pt x="36" y="844"/>
                  </a:cubicBezTo>
                  <a:cubicBezTo>
                    <a:pt x="49" y="856"/>
                    <a:pt x="65" y="864"/>
                    <a:pt x="80" y="874"/>
                  </a:cubicBezTo>
                  <a:cubicBezTo>
                    <a:pt x="93" y="883"/>
                    <a:pt x="124" y="888"/>
                    <a:pt x="124" y="888"/>
                  </a:cubicBezTo>
                  <a:cubicBezTo>
                    <a:pt x="167" y="886"/>
                    <a:pt x="287" y="889"/>
                    <a:pt x="354" y="874"/>
                  </a:cubicBezTo>
                  <a:cubicBezTo>
                    <a:pt x="410" y="861"/>
                    <a:pt x="461" y="835"/>
                    <a:pt x="517" y="822"/>
                  </a:cubicBezTo>
                  <a:cubicBezTo>
                    <a:pt x="534" y="811"/>
                    <a:pt x="553" y="804"/>
                    <a:pt x="569" y="792"/>
                  </a:cubicBezTo>
                  <a:cubicBezTo>
                    <a:pt x="613" y="757"/>
                    <a:pt x="651" y="702"/>
                    <a:pt x="673" y="651"/>
                  </a:cubicBezTo>
                  <a:cubicBezTo>
                    <a:pt x="680" y="634"/>
                    <a:pt x="685" y="615"/>
                    <a:pt x="695" y="600"/>
                  </a:cubicBezTo>
                  <a:cubicBezTo>
                    <a:pt x="711" y="577"/>
                    <a:pt x="747" y="533"/>
                    <a:pt x="747" y="533"/>
                  </a:cubicBezTo>
                  <a:cubicBezTo>
                    <a:pt x="756" y="504"/>
                    <a:pt x="784" y="451"/>
                    <a:pt x="784" y="451"/>
                  </a:cubicBezTo>
                  <a:cubicBezTo>
                    <a:pt x="787" y="439"/>
                    <a:pt x="798" y="395"/>
                    <a:pt x="798" y="385"/>
                  </a:cubicBezTo>
                  <a:cubicBezTo>
                    <a:pt x="798" y="264"/>
                    <a:pt x="802" y="46"/>
                    <a:pt x="650" y="0"/>
                  </a:cubicBezTo>
                  <a:cubicBezTo>
                    <a:pt x="598" y="5"/>
                    <a:pt x="575" y="6"/>
                    <a:pt x="532" y="22"/>
                  </a:cubicBezTo>
                  <a:cubicBezTo>
                    <a:pt x="516" y="46"/>
                    <a:pt x="526" y="44"/>
                    <a:pt x="510" y="44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364146" name="Text Box 178"/>
          <p:cNvSpPr txBox="1">
            <a:spLocks noChangeArrowheads="1"/>
          </p:cNvSpPr>
          <p:nvPr/>
        </p:nvSpPr>
        <p:spPr bwMode="gray">
          <a:xfrm>
            <a:off x="1066800" y="6019800"/>
            <a:ext cx="1676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FF66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600" i="1">
                <a:solidFill>
                  <a:srgbClr val="003366"/>
                </a:solidFill>
                <a:latin typeface="Garamond (W1)" pitchFamily="18" charset="0"/>
              </a:rPr>
              <a:t>k-means</a:t>
            </a:r>
          </a:p>
        </p:txBody>
      </p:sp>
      <p:sp>
        <p:nvSpPr>
          <p:cNvPr id="1364147" name="Text Box 179"/>
          <p:cNvSpPr txBox="1">
            <a:spLocks noChangeArrowheads="1"/>
          </p:cNvSpPr>
          <p:nvPr/>
        </p:nvSpPr>
        <p:spPr bwMode="gray">
          <a:xfrm>
            <a:off x="5410200" y="6019800"/>
            <a:ext cx="1676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FF66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600" i="1">
                <a:solidFill>
                  <a:srgbClr val="003366"/>
                </a:solidFill>
                <a:latin typeface="Garamond (W1)" pitchFamily="18" charset="0"/>
              </a:rPr>
              <a:t>k-medoids</a:t>
            </a:r>
          </a:p>
        </p:txBody>
      </p:sp>
      <p:sp>
        <p:nvSpPr>
          <p:cNvPr id="1364148" name="Line 180"/>
          <p:cNvSpPr>
            <a:spLocks noChangeShapeType="1"/>
          </p:cNvSpPr>
          <p:nvPr/>
        </p:nvSpPr>
        <p:spPr bwMode="gray">
          <a:xfrm flipV="1">
            <a:off x="1752600" y="4267200"/>
            <a:ext cx="152400" cy="1905000"/>
          </a:xfrm>
          <a:prstGeom prst="line">
            <a:avLst/>
          </a:prstGeom>
          <a:noFill/>
          <a:ln w="15875">
            <a:solidFill>
              <a:srgbClr val="FF6600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364149" name="Line 181"/>
          <p:cNvSpPr>
            <a:spLocks noChangeShapeType="1"/>
          </p:cNvSpPr>
          <p:nvPr/>
        </p:nvSpPr>
        <p:spPr bwMode="gray">
          <a:xfrm flipV="1">
            <a:off x="1752600" y="4724400"/>
            <a:ext cx="914400" cy="1447800"/>
          </a:xfrm>
          <a:prstGeom prst="line">
            <a:avLst/>
          </a:prstGeom>
          <a:noFill/>
          <a:ln w="15875">
            <a:solidFill>
              <a:srgbClr val="FF6600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364150" name="Line 182"/>
          <p:cNvSpPr>
            <a:spLocks noChangeShapeType="1"/>
          </p:cNvSpPr>
          <p:nvPr/>
        </p:nvSpPr>
        <p:spPr bwMode="gray">
          <a:xfrm flipH="1" flipV="1">
            <a:off x="5867400" y="4267200"/>
            <a:ext cx="381000" cy="1905000"/>
          </a:xfrm>
          <a:prstGeom prst="line">
            <a:avLst/>
          </a:prstGeom>
          <a:noFill/>
          <a:ln w="15875">
            <a:solidFill>
              <a:srgbClr val="FF6600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364151" name="Line 183"/>
          <p:cNvSpPr>
            <a:spLocks noChangeShapeType="1"/>
          </p:cNvSpPr>
          <p:nvPr/>
        </p:nvSpPr>
        <p:spPr bwMode="gray">
          <a:xfrm flipV="1">
            <a:off x="6248400" y="4648200"/>
            <a:ext cx="914400" cy="1524000"/>
          </a:xfrm>
          <a:prstGeom prst="line">
            <a:avLst/>
          </a:prstGeom>
          <a:noFill/>
          <a:ln w="15875">
            <a:solidFill>
              <a:srgbClr val="FF6600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9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7924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447800" y="457200"/>
            <a:ext cx="6248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sz="4000" b="0" dirty="0">
                <a:solidFill>
                  <a:schemeClr val="tx1"/>
                </a:solidFill>
                <a:latin typeface="+mj-lt"/>
              </a:rPr>
              <a:t>K-</a:t>
            </a:r>
            <a:r>
              <a:rPr lang="en-US" sz="4000" b="0" dirty="0" err="1">
                <a:solidFill>
                  <a:schemeClr val="tx1"/>
                </a:solidFill>
                <a:latin typeface="+mj-lt"/>
              </a:rPr>
              <a:t>medoids</a:t>
            </a:r>
            <a:endParaRPr lang="en-US" sz="4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5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41475"/>
            <a:ext cx="8001000" cy="445452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chemeClr val="tx2"/>
                </a:solidFill>
              </a:rPr>
              <a:t>Partitioning Around Medoids (PAM) (K-Medoids)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rgbClr val="000000"/>
                </a:solidFill>
              </a:rPr>
              <a:t>Handles outliers well.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rgbClr val="000000"/>
                </a:solidFill>
              </a:rPr>
              <a:t>Ordering of input does not impact results.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rgbClr val="000000"/>
                </a:solidFill>
              </a:rPr>
              <a:t>Does not scale well.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rgbClr val="000000"/>
                </a:solidFill>
              </a:rPr>
              <a:t>Each cluster represented by one item, called the </a:t>
            </a:r>
            <a:r>
              <a:rPr lang="en-US" altLang="en-US" b="1" smtClean="0">
                <a:solidFill>
                  <a:schemeClr val="tx2"/>
                </a:solidFill>
              </a:rPr>
              <a:t>medoid.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rgbClr val="000000"/>
                </a:solidFill>
              </a:rPr>
              <a:t>Initial set of k medoids randomly chosen</a:t>
            </a: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57200"/>
            <a:ext cx="7543800" cy="874713"/>
          </a:xfrm>
        </p:spPr>
        <p:txBody>
          <a:bodyPr/>
          <a:lstStyle/>
          <a:p>
            <a:pPr eaLnBrk="1" hangingPunct="1"/>
            <a:r>
              <a:rPr lang="en-US" altLang="en-US" smtClean="0"/>
              <a:t>PAM</a:t>
            </a:r>
          </a:p>
        </p:txBody>
      </p:sp>
    </p:spTree>
    <p:extLst>
      <p:ext uri="{BB962C8B-B14F-4D97-AF65-F5344CB8AC3E}">
        <p14:creationId xmlns:p14="http://schemas.microsoft.com/office/powerpoint/2010/main" val="349352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41475"/>
            <a:ext cx="8001000" cy="445452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First find a representative object (the medoid) for each cluster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Each remaining object is clustered with the medoid to which it is most “similar”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Iteratively replace one of the medoids by a non-medoid as long as the “quality” of the clustering is improved</a:t>
            </a: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543800" cy="874713"/>
          </a:xfrm>
        </p:spPr>
        <p:txBody>
          <a:bodyPr/>
          <a:lstStyle/>
          <a:p>
            <a:pPr eaLnBrk="1" hangingPunct="1"/>
            <a:r>
              <a:rPr lang="en-US" altLang="en-US" smtClean="0"/>
              <a:t>PAM: Basic Strategy</a:t>
            </a:r>
          </a:p>
        </p:txBody>
      </p:sp>
    </p:spTree>
    <p:extLst>
      <p:ext uri="{BB962C8B-B14F-4D97-AF65-F5344CB8AC3E}">
        <p14:creationId xmlns:p14="http://schemas.microsoft.com/office/powerpoint/2010/main" val="406172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763000" cy="609600"/>
          </a:xfrm>
        </p:spPr>
        <p:txBody>
          <a:bodyPr>
            <a:normAutofit fontScale="90000"/>
          </a:bodyPr>
          <a:lstStyle/>
          <a:p>
            <a:r>
              <a:rPr lang="en-US" altLang="ko-KR" sz="4000">
                <a:ea typeface="굴림" charset="-127"/>
              </a:rPr>
              <a:t>Typical k-medoids algorithm (PAM)</a:t>
            </a:r>
            <a:endParaRPr lang="en-US" altLang="ko-KR" sz="6000" b="1" i="1" baseline="-25000">
              <a:ea typeface="굴림" charset="-127"/>
              <a:sym typeface="Symbol" panose="05050102010706020507" pitchFamily="18" charset="2"/>
            </a:endParaRPr>
          </a:p>
        </p:txBody>
      </p:sp>
      <p:grpSp>
        <p:nvGrpSpPr>
          <p:cNvPr id="39939" name="Group 3"/>
          <p:cNvGrpSpPr>
            <a:grpSpLocks/>
          </p:cNvGrpSpPr>
          <p:nvPr/>
        </p:nvGrpSpPr>
        <p:grpSpPr bwMode="auto">
          <a:xfrm>
            <a:off x="6705600" y="1676400"/>
            <a:ext cx="2514600" cy="2362200"/>
            <a:chOff x="912" y="864"/>
            <a:chExt cx="1584" cy="1488"/>
          </a:xfrm>
        </p:grpSpPr>
        <p:graphicFrame>
          <p:nvGraphicFramePr>
            <p:cNvPr id="39940" name="Object 4"/>
            <p:cNvGraphicFramePr>
              <a:graphicFrameLocks noChangeAspect="1"/>
            </p:cNvGraphicFramePr>
            <p:nvPr/>
          </p:nvGraphicFramePr>
          <p:xfrm>
            <a:off x="912" y="864"/>
            <a:ext cx="1584" cy="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88" name="Worksheet" r:id="rId4" imgW="2200656" imgH="2076907" progId="Excel.Sheet.8">
                    <p:embed/>
                  </p:oleObj>
                </mc:Choice>
                <mc:Fallback>
                  <p:oleObj name="Worksheet" r:id="rId4" imgW="2200656" imgH="2076907" progId="Excel.Shee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864"/>
                          <a:ext cx="1584" cy="1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1" name="Line 5"/>
            <p:cNvSpPr>
              <a:spLocks noChangeShapeType="1"/>
            </p:cNvSpPr>
            <p:nvPr/>
          </p:nvSpPr>
          <p:spPr bwMode="auto">
            <a:xfrm>
              <a:off x="1982" y="1502"/>
              <a:ext cx="0" cy="1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942" name="Oval 6"/>
            <p:cNvSpPr>
              <a:spLocks noChangeArrowheads="1"/>
            </p:cNvSpPr>
            <p:nvPr/>
          </p:nvSpPr>
          <p:spPr bwMode="auto">
            <a:xfrm>
              <a:off x="1212" y="1034"/>
              <a:ext cx="513" cy="7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943" name="Oval 7"/>
            <p:cNvSpPr>
              <a:spLocks noChangeArrowheads="1"/>
            </p:cNvSpPr>
            <p:nvPr/>
          </p:nvSpPr>
          <p:spPr bwMode="auto">
            <a:xfrm>
              <a:off x="1725" y="1374"/>
              <a:ext cx="514" cy="6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119063" y="1719263"/>
            <a:ext cx="2395537" cy="22542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46" name="Rectangle 10"/>
          <p:cNvSpPr>
            <a:spLocks noChangeArrowheads="1"/>
          </p:cNvSpPr>
          <p:nvPr/>
        </p:nvSpPr>
        <p:spPr bwMode="auto">
          <a:xfrm>
            <a:off x="369888" y="1903413"/>
            <a:ext cx="2014537" cy="17891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>
            <a:off x="369888" y="3517900"/>
            <a:ext cx="201453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369888" y="3333750"/>
            <a:ext cx="201453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9" name="Line 13"/>
          <p:cNvSpPr>
            <a:spLocks noChangeShapeType="1"/>
          </p:cNvSpPr>
          <p:nvPr/>
        </p:nvSpPr>
        <p:spPr bwMode="auto">
          <a:xfrm>
            <a:off x="369888" y="3160713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0" name="Line 14"/>
          <p:cNvSpPr>
            <a:spLocks noChangeShapeType="1"/>
          </p:cNvSpPr>
          <p:nvPr/>
        </p:nvSpPr>
        <p:spPr bwMode="auto">
          <a:xfrm>
            <a:off x="369888" y="2976563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>
            <a:off x="369888" y="2803525"/>
            <a:ext cx="201453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2" name="Line 16"/>
          <p:cNvSpPr>
            <a:spLocks noChangeShapeType="1"/>
          </p:cNvSpPr>
          <p:nvPr/>
        </p:nvSpPr>
        <p:spPr bwMode="auto">
          <a:xfrm>
            <a:off x="369888" y="2619375"/>
            <a:ext cx="201453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3" name="Line 17"/>
          <p:cNvSpPr>
            <a:spLocks noChangeShapeType="1"/>
          </p:cNvSpPr>
          <p:nvPr/>
        </p:nvSpPr>
        <p:spPr bwMode="auto">
          <a:xfrm>
            <a:off x="369888" y="2446338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4" name="Line 18"/>
          <p:cNvSpPr>
            <a:spLocks noChangeShapeType="1"/>
          </p:cNvSpPr>
          <p:nvPr/>
        </p:nvSpPr>
        <p:spPr bwMode="auto">
          <a:xfrm>
            <a:off x="369888" y="2262188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5" name="Line 19"/>
          <p:cNvSpPr>
            <a:spLocks noChangeShapeType="1"/>
          </p:cNvSpPr>
          <p:nvPr/>
        </p:nvSpPr>
        <p:spPr bwMode="auto">
          <a:xfrm>
            <a:off x="369888" y="2087563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6" name="Line 20"/>
          <p:cNvSpPr>
            <a:spLocks noChangeShapeType="1"/>
          </p:cNvSpPr>
          <p:nvPr/>
        </p:nvSpPr>
        <p:spPr bwMode="auto">
          <a:xfrm>
            <a:off x="369888" y="1903413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7" name="Line 21"/>
          <p:cNvSpPr>
            <a:spLocks noChangeShapeType="1"/>
          </p:cNvSpPr>
          <p:nvPr/>
        </p:nvSpPr>
        <p:spPr bwMode="auto">
          <a:xfrm>
            <a:off x="576263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8" name="Line 22"/>
          <p:cNvSpPr>
            <a:spLocks noChangeShapeType="1"/>
          </p:cNvSpPr>
          <p:nvPr/>
        </p:nvSpPr>
        <p:spPr bwMode="auto">
          <a:xfrm>
            <a:off x="773113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9" name="Line 23"/>
          <p:cNvSpPr>
            <a:spLocks noChangeShapeType="1"/>
          </p:cNvSpPr>
          <p:nvPr/>
        </p:nvSpPr>
        <p:spPr bwMode="auto">
          <a:xfrm>
            <a:off x="979488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0" name="Line 24"/>
          <p:cNvSpPr>
            <a:spLocks noChangeShapeType="1"/>
          </p:cNvSpPr>
          <p:nvPr/>
        </p:nvSpPr>
        <p:spPr bwMode="auto">
          <a:xfrm>
            <a:off x="1176338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1" name="Line 25"/>
          <p:cNvSpPr>
            <a:spLocks noChangeShapeType="1"/>
          </p:cNvSpPr>
          <p:nvPr/>
        </p:nvSpPr>
        <p:spPr bwMode="auto">
          <a:xfrm>
            <a:off x="1382713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2" name="Line 26"/>
          <p:cNvSpPr>
            <a:spLocks noChangeShapeType="1"/>
          </p:cNvSpPr>
          <p:nvPr/>
        </p:nvSpPr>
        <p:spPr bwMode="auto">
          <a:xfrm>
            <a:off x="1577975" y="1903413"/>
            <a:ext cx="1588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3" name="Line 27"/>
          <p:cNvSpPr>
            <a:spLocks noChangeShapeType="1"/>
          </p:cNvSpPr>
          <p:nvPr/>
        </p:nvSpPr>
        <p:spPr bwMode="auto">
          <a:xfrm>
            <a:off x="1785938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4" name="Line 28"/>
          <p:cNvSpPr>
            <a:spLocks noChangeShapeType="1"/>
          </p:cNvSpPr>
          <p:nvPr/>
        </p:nvSpPr>
        <p:spPr bwMode="auto">
          <a:xfrm>
            <a:off x="1981200" y="1903413"/>
            <a:ext cx="1588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5" name="Line 29"/>
          <p:cNvSpPr>
            <a:spLocks noChangeShapeType="1"/>
          </p:cNvSpPr>
          <p:nvPr/>
        </p:nvSpPr>
        <p:spPr bwMode="auto">
          <a:xfrm>
            <a:off x="2187575" y="1903413"/>
            <a:ext cx="1588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6" name="Line 30"/>
          <p:cNvSpPr>
            <a:spLocks noChangeShapeType="1"/>
          </p:cNvSpPr>
          <p:nvPr/>
        </p:nvSpPr>
        <p:spPr bwMode="auto">
          <a:xfrm>
            <a:off x="2384425" y="1903413"/>
            <a:ext cx="1588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7" name="Rectangle 31"/>
          <p:cNvSpPr>
            <a:spLocks noChangeArrowheads="1"/>
          </p:cNvSpPr>
          <p:nvPr/>
        </p:nvSpPr>
        <p:spPr bwMode="auto">
          <a:xfrm>
            <a:off x="369888" y="1903413"/>
            <a:ext cx="2014537" cy="1789112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8" name="Line 32"/>
          <p:cNvSpPr>
            <a:spLocks noChangeShapeType="1"/>
          </p:cNvSpPr>
          <p:nvPr/>
        </p:nvSpPr>
        <p:spPr bwMode="auto">
          <a:xfrm>
            <a:off x="369888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9" name="Line 33"/>
          <p:cNvSpPr>
            <a:spLocks noChangeShapeType="1"/>
          </p:cNvSpPr>
          <p:nvPr/>
        </p:nvSpPr>
        <p:spPr bwMode="auto">
          <a:xfrm>
            <a:off x="347663" y="3692525"/>
            <a:ext cx="222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0" name="Line 34"/>
          <p:cNvSpPr>
            <a:spLocks noChangeShapeType="1"/>
          </p:cNvSpPr>
          <p:nvPr/>
        </p:nvSpPr>
        <p:spPr bwMode="auto">
          <a:xfrm>
            <a:off x="347663" y="3517900"/>
            <a:ext cx="222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1" name="Line 35"/>
          <p:cNvSpPr>
            <a:spLocks noChangeShapeType="1"/>
          </p:cNvSpPr>
          <p:nvPr/>
        </p:nvSpPr>
        <p:spPr bwMode="auto">
          <a:xfrm>
            <a:off x="347663" y="3333750"/>
            <a:ext cx="222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2" name="Line 36"/>
          <p:cNvSpPr>
            <a:spLocks noChangeShapeType="1"/>
          </p:cNvSpPr>
          <p:nvPr/>
        </p:nvSpPr>
        <p:spPr bwMode="auto">
          <a:xfrm>
            <a:off x="347663" y="3160713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3" name="Line 37"/>
          <p:cNvSpPr>
            <a:spLocks noChangeShapeType="1"/>
          </p:cNvSpPr>
          <p:nvPr/>
        </p:nvSpPr>
        <p:spPr bwMode="auto">
          <a:xfrm>
            <a:off x="347663" y="2976563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4" name="Line 38"/>
          <p:cNvSpPr>
            <a:spLocks noChangeShapeType="1"/>
          </p:cNvSpPr>
          <p:nvPr/>
        </p:nvSpPr>
        <p:spPr bwMode="auto">
          <a:xfrm>
            <a:off x="347663" y="2803525"/>
            <a:ext cx="222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5" name="Line 39"/>
          <p:cNvSpPr>
            <a:spLocks noChangeShapeType="1"/>
          </p:cNvSpPr>
          <p:nvPr/>
        </p:nvSpPr>
        <p:spPr bwMode="auto">
          <a:xfrm>
            <a:off x="347663" y="2619375"/>
            <a:ext cx="222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6" name="Line 40"/>
          <p:cNvSpPr>
            <a:spLocks noChangeShapeType="1"/>
          </p:cNvSpPr>
          <p:nvPr/>
        </p:nvSpPr>
        <p:spPr bwMode="auto">
          <a:xfrm>
            <a:off x="347663" y="2446338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7" name="Line 41"/>
          <p:cNvSpPr>
            <a:spLocks noChangeShapeType="1"/>
          </p:cNvSpPr>
          <p:nvPr/>
        </p:nvSpPr>
        <p:spPr bwMode="auto">
          <a:xfrm>
            <a:off x="347663" y="2262188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8" name="Line 42"/>
          <p:cNvSpPr>
            <a:spLocks noChangeShapeType="1"/>
          </p:cNvSpPr>
          <p:nvPr/>
        </p:nvSpPr>
        <p:spPr bwMode="auto">
          <a:xfrm>
            <a:off x="347663" y="2087563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9" name="Line 43"/>
          <p:cNvSpPr>
            <a:spLocks noChangeShapeType="1"/>
          </p:cNvSpPr>
          <p:nvPr/>
        </p:nvSpPr>
        <p:spPr bwMode="auto">
          <a:xfrm>
            <a:off x="347663" y="1903413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0" name="Line 44"/>
          <p:cNvSpPr>
            <a:spLocks noChangeShapeType="1"/>
          </p:cNvSpPr>
          <p:nvPr/>
        </p:nvSpPr>
        <p:spPr bwMode="auto">
          <a:xfrm>
            <a:off x="369888" y="3692525"/>
            <a:ext cx="201453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1" name="Line 45"/>
          <p:cNvSpPr>
            <a:spLocks noChangeShapeType="1"/>
          </p:cNvSpPr>
          <p:nvPr/>
        </p:nvSpPr>
        <p:spPr bwMode="auto">
          <a:xfrm flipV="1">
            <a:off x="369888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2" name="Line 46"/>
          <p:cNvSpPr>
            <a:spLocks noChangeShapeType="1"/>
          </p:cNvSpPr>
          <p:nvPr/>
        </p:nvSpPr>
        <p:spPr bwMode="auto">
          <a:xfrm flipV="1">
            <a:off x="576263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3" name="Line 47"/>
          <p:cNvSpPr>
            <a:spLocks noChangeShapeType="1"/>
          </p:cNvSpPr>
          <p:nvPr/>
        </p:nvSpPr>
        <p:spPr bwMode="auto">
          <a:xfrm flipV="1">
            <a:off x="773113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4" name="Line 48"/>
          <p:cNvSpPr>
            <a:spLocks noChangeShapeType="1"/>
          </p:cNvSpPr>
          <p:nvPr/>
        </p:nvSpPr>
        <p:spPr bwMode="auto">
          <a:xfrm flipV="1">
            <a:off x="979488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5" name="Line 49"/>
          <p:cNvSpPr>
            <a:spLocks noChangeShapeType="1"/>
          </p:cNvSpPr>
          <p:nvPr/>
        </p:nvSpPr>
        <p:spPr bwMode="auto">
          <a:xfrm flipV="1">
            <a:off x="1176338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 flipV="1">
            <a:off x="1382713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7" name="Line 51"/>
          <p:cNvSpPr>
            <a:spLocks noChangeShapeType="1"/>
          </p:cNvSpPr>
          <p:nvPr/>
        </p:nvSpPr>
        <p:spPr bwMode="auto">
          <a:xfrm flipV="1">
            <a:off x="1577975" y="36925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8" name="Line 52"/>
          <p:cNvSpPr>
            <a:spLocks noChangeShapeType="1"/>
          </p:cNvSpPr>
          <p:nvPr/>
        </p:nvSpPr>
        <p:spPr bwMode="auto">
          <a:xfrm flipV="1">
            <a:off x="1785938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9" name="Line 53"/>
          <p:cNvSpPr>
            <a:spLocks noChangeShapeType="1"/>
          </p:cNvSpPr>
          <p:nvPr/>
        </p:nvSpPr>
        <p:spPr bwMode="auto">
          <a:xfrm flipV="1">
            <a:off x="1981200" y="36925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0" name="Line 54"/>
          <p:cNvSpPr>
            <a:spLocks noChangeShapeType="1"/>
          </p:cNvSpPr>
          <p:nvPr/>
        </p:nvSpPr>
        <p:spPr bwMode="auto">
          <a:xfrm flipV="1">
            <a:off x="2187575" y="36925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1" name="Line 55"/>
          <p:cNvSpPr>
            <a:spLocks noChangeShapeType="1"/>
          </p:cNvSpPr>
          <p:nvPr/>
        </p:nvSpPr>
        <p:spPr bwMode="auto">
          <a:xfrm flipV="1">
            <a:off x="2384425" y="36925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2" name="Freeform 56"/>
          <p:cNvSpPr>
            <a:spLocks/>
          </p:cNvSpPr>
          <p:nvPr/>
        </p:nvSpPr>
        <p:spPr bwMode="auto">
          <a:xfrm>
            <a:off x="903288" y="2900363"/>
            <a:ext cx="152400" cy="152400"/>
          </a:xfrm>
          <a:custGeom>
            <a:avLst/>
            <a:gdLst>
              <a:gd name="T0" fmla="*/ 48 w 96"/>
              <a:gd name="T1" fmla="*/ 0 h 96"/>
              <a:gd name="T2" fmla="*/ 96 w 96"/>
              <a:gd name="T3" fmla="*/ 48 h 96"/>
              <a:gd name="T4" fmla="*/ 48 w 96"/>
              <a:gd name="T5" fmla="*/ 96 h 96"/>
              <a:gd name="T6" fmla="*/ 0 w 96"/>
              <a:gd name="T7" fmla="*/ 48 h 96"/>
              <a:gd name="T8" fmla="*/ 48 w 96"/>
              <a:gd name="T9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3" name="Freeform 57"/>
          <p:cNvSpPr>
            <a:spLocks/>
          </p:cNvSpPr>
          <p:nvPr/>
        </p:nvSpPr>
        <p:spPr bwMode="auto">
          <a:xfrm>
            <a:off x="696913" y="2543175"/>
            <a:ext cx="152400" cy="152400"/>
          </a:xfrm>
          <a:custGeom>
            <a:avLst/>
            <a:gdLst>
              <a:gd name="T0" fmla="*/ 48 w 96"/>
              <a:gd name="T1" fmla="*/ 0 h 96"/>
              <a:gd name="T2" fmla="*/ 96 w 96"/>
              <a:gd name="T3" fmla="*/ 48 h 96"/>
              <a:gd name="T4" fmla="*/ 48 w 96"/>
              <a:gd name="T5" fmla="*/ 96 h 96"/>
              <a:gd name="T6" fmla="*/ 0 w 96"/>
              <a:gd name="T7" fmla="*/ 48 h 96"/>
              <a:gd name="T8" fmla="*/ 48 w 96"/>
              <a:gd name="T9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4" name="Freeform 58"/>
          <p:cNvSpPr>
            <a:spLocks/>
          </p:cNvSpPr>
          <p:nvPr/>
        </p:nvSpPr>
        <p:spPr bwMode="auto">
          <a:xfrm>
            <a:off x="1709738" y="3084513"/>
            <a:ext cx="152400" cy="152400"/>
          </a:xfrm>
          <a:custGeom>
            <a:avLst/>
            <a:gdLst>
              <a:gd name="T0" fmla="*/ 48 w 96"/>
              <a:gd name="T1" fmla="*/ 0 h 96"/>
              <a:gd name="T2" fmla="*/ 96 w 96"/>
              <a:gd name="T3" fmla="*/ 48 h 96"/>
              <a:gd name="T4" fmla="*/ 48 w 96"/>
              <a:gd name="T5" fmla="*/ 96 h 96"/>
              <a:gd name="T6" fmla="*/ 0 w 96"/>
              <a:gd name="T7" fmla="*/ 48 h 96"/>
              <a:gd name="T8" fmla="*/ 48 w 96"/>
              <a:gd name="T9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5" name="Freeform 59"/>
          <p:cNvSpPr>
            <a:spLocks/>
          </p:cNvSpPr>
          <p:nvPr/>
        </p:nvSpPr>
        <p:spPr bwMode="auto">
          <a:xfrm>
            <a:off x="1100138" y="2370138"/>
            <a:ext cx="152400" cy="150812"/>
          </a:xfrm>
          <a:custGeom>
            <a:avLst/>
            <a:gdLst>
              <a:gd name="T0" fmla="*/ 48 w 96"/>
              <a:gd name="T1" fmla="*/ 0 h 95"/>
              <a:gd name="T2" fmla="*/ 96 w 96"/>
              <a:gd name="T3" fmla="*/ 48 h 95"/>
              <a:gd name="T4" fmla="*/ 48 w 96"/>
              <a:gd name="T5" fmla="*/ 95 h 95"/>
              <a:gd name="T6" fmla="*/ 0 w 96"/>
              <a:gd name="T7" fmla="*/ 48 h 95"/>
              <a:gd name="T8" fmla="*/ 48 w 96"/>
              <a:gd name="T9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5">
                <a:moveTo>
                  <a:pt x="48" y="0"/>
                </a:moveTo>
                <a:lnTo>
                  <a:pt x="96" y="48"/>
                </a:lnTo>
                <a:lnTo>
                  <a:pt x="48" y="95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6" name="Freeform 60"/>
          <p:cNvSpPr>
            <a:spLocks/>
          </p:cNvSpPr>
          <p:nvPr/>
        </p:nvSpPr>
        <p:spPr bwMode="auto">
          <a:xfrm>
            <a:off x="1905000" y="2727325"/>
            <a:ext cx="152400" cy="152400"/>
          </a:xfrm>
          <a:custGeom>
            <a:avLst/>
            <a:gdLst>
              <a:gd name="T0" fmla="*/ 48 w 96"/>
              <a:gd name="T1" fmla="*/ 0 h 96"/>
              <a:gd name="T2" fmla="*/ 96 w 96"/>
              <a:gd name="T3" fmla="*/ 48 h 96"/>
              <a:gd name="T4" fmla="*/ 48 w 96"/>
              <a:gd name="T5" fmla="*/ 96 h 96"/>
              <a:gd name="T6" fmla="*/ 0 w 96"/>
              <a:gd name="T7" fmla="*/ 48 h 96"/>
              <a:gd name="T8" fmla="*/ 48 w 96"/>
              <a:gd name="T9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7" name="Freeform 61"/>
          <p:cNvSpPr>
            <a:spLocks/>
          </p:cNvSpPr>
          <p:nvPr/>
        </p:nvSpPr>
        <p:spPr bwMode="auto">
          <a:xfrm>
            <a:off x="1501775" y="3259138"/>
            <a:ext cx="152400" cy="150812"/>
          </a:xfrm>
          <a:custGeom>
            <a:avLst/>
            <a:gdLst>
              <a:gd name="T0" fmla="*/ 48 w 96"/>
              <a:gd name="T1" fmla="*/ 0 h 95"/>
              <a:gd name="T2" fmla="*/ 96 w 96"/>
              <a:gd name="T3" fmla="*/ 47 h 95"/>
              <a:gd name="T4" fmla="*/ 48 w 96"/>
              <a:gd name="T5" fmla="*/ 95 h 95"/>
              <a:gd name="T6" fmla="*/ 0 w 96"/>
              <a:gd name="T7" fmla="*/ 47 h 95"/>
              <a:gd name="T8" fmla="*/ 48 w 96"/>
              <a:gd name="T9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5">
                <a:moveTo>
                  <a:pt x="48" y="0"/>
                </a:moveTo>
                <a:lnTo>
                  <a:pt x="96" y="47"/>
                </a:lnTo>
                <a:lnTo>
                  <a:pt x="48" y="95"/>
                </a:lnTo>
                <a:lnTo>
                  <a:pt x="0" y="47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8" name="Freeform 62"/>
          <p:cNvSpPr>
            <a:spLocks/>
          </p:cNvSpPr>
          <p:nvPr/>
        </p:nvSpPr>
        <p:spPr bwMode="auto">
          <a:xfrm>
            <a:off x="1709738" y="2900363"/>
            <a:ext cx="152400" cy="152400"/>
          </a:xfrm>
          <a:custGeom>
            <a:avLst/>
            <a:gdLst>
              <a:gd name="T0" fmla="*/ 48 w 96"/>
              <a:gd name="T1" fmla="*/ 0 h 96"/>
              <a:gd name="T2" fmla="*/ 96 w 96"/>
              <a:gd name="T3" fmla="*/ 48 h 96"/>
              <a:gd name="T4" fmla="*/ 48 w 96"/>
              <a:gd name="T5" fmla="*/ 96 h 96"/>
              <a:gd name="T6" fmla="*/ 0 w 96"/>
              <a:gd name="T7" fmla="*/ 48 h 96"/>
              <a:gd name="T8" fmla="*/ 48 w 96"/>
              <a:gd name="T9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9" name="Freeform 63"/>
          <p:cNvSpPr>
            <a:spLocks/>
          </p:cNvSpPr>
          <p:nvPr/>
        </p:nvSpPr>
        <p:spPr bwMode="auto">
          <a:xfrm>
            <a:off x="1709738" y="2543175"/>
            <a:ext cx="152400" cy="152400"/>
          </a:xfrm>
          <a:custGeom>
            <a:avLst/>
            <a:gdLst>
              <a:gd name="T0" fmla="*/ 48 w 96"/>
              <a:gd name="T1" fmla="*/ 0 h 96"/>
              <a:gd name="T2" fmla="*/ 96 w 96"/>
              <a:gd name="T3" fmla="*/ 48 h 96"/>
              <a:gd name="T4" fmla="*/ 48 w 96"/>
              <a:gd name="T5" fmla="*/ 96 h 96"/>
              <a:gd name="T6" fmla="*/ 0 w 96"/>
              <a:gd name="T7" fmla="*/ 48 h 96"/>
              <a:gd name="T8" fmla="*/ 48 w 96"/>
              <a:gd name="T9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000" name="Rectangle 64"/>
          <p:cNvSpPr>
            <a:spLocks noChangeArrowheads="1"/>
          </p:cNvSpPr>
          <p:nvPr/>
        </p:nvSpPr>
        <p:spPr bwMode="auto">
          <a:xfrm>
            <a:off x="282575" y="365918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0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01" name="Rectangle 65"/>
          <p:cNvSpPr>
            <a:spLocks noChangeArrowheads="1"/>
          </p:cNvSpPr>
          <p:nvPr/>
        </p:nvSpPr>
        <p:spPr bwMode="auto">
          <a:xfrm>
            <a:off x="282575" y="3486150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1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02" name="Rectangle 66"/>
          <p:cNvSpPr>
            <a:spLocks noChangeArrowheads="1"/>
          </p:cNvSpPr>
          <p:nvPr/>
        </p:nvSpPr>
        <p:spPr bwMode="auto">
          <a:xfrm>
            <a:off x="282575" y="3302000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2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03" name="Rectangle 67"/>
          <p:cNvSpPr>
            <a:spLocks noChangeArrowheads="1"/>
          </p:cNvSpPr>
          <p:nvPr/>
        </p:nvSpPr>
        <p:spPr bwMode="auto">
          <a:xfrm>
            <a:off x="282575" y="3128963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3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04" name="Rectangle 68"/>
          <p:cNvSpPr>
            <a:spLocks noChangeArrowheads="1"/>
          </p:cNvSpPr>
          <p:nvPr/>
        </p:nvSpPr>
        <p:spPr bwMode="auto">
          <a:xfrm>
            <a:off x="282575" y="2944813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4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05" name="Rectangle 69"/>
          <p:cNvSpPr>
            <a:spLocks noChangeArrowheads="1"/>
          </p:cNvSpPr>
          <p:nvPr/>
        </p:nvSpPr>
        <p:spPr bwMode="auto">
          <a:xfrm>
            <a:off x="282575" y="277018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5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06" name="Rectangle 70"/>
          <p:cNvSpPr>
            <a:spLocks noChangeArrowheads="1"/>
          </p:cNvSpPr>
          <p:nvPr/>
        </p:nvSpPr>
        <p:spPr bwMode="auto">
          <a:xfrm>
            <a:off x="282575" y="25860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6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07" name="Rectangle 71"/>
          <p:cNvSpPr>
            <a:spLocks noChangeArrowheads="1"/>
          </p:cNvSpPr>
          <p:nvPr/>
        </p:nvSpPr>
        <p:spPr bwMode="auto">
          <a:xfrm>
            <a:off x="282575" y="2413000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7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08" name="Rectangle 72"/>
          <p:cNvSpPr>
            <a:spLocks noChangeArrowheads="1"/>
          </p:cNvSpPr>
          <p:nvPr/>
        </p:nvSpPr>
        <p:spPr bwMode="auto">
          <a:xfrm>
            <a:off x="282575" y="2228850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8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09" name="Rectangle 73"/>
          <p:cNvSpPr>
            <a:spLocks noChangeArrowheads="1"/>
          </p:cNvSpPr>
          <p:nvPr/>
        </p:nvSpPr>
        <p:spPr bwMode="auto">
          <a:xfrm>
            <a:off x="282575" y="2055813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9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10" name="Rectangle 74"/>
          <p:cNvSpPr>
            <a:spLocks noChangeArrowheads="1"/>
          </p:cNvSpPr>
          <p:nvPr/>
        </p:nvSpPr>
        <p:spPr bwMode="auto">
          <a:xfrm>
            <a:off x="250825" y="1871663"/>
            <a:ext cx="33338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10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11" name="Rectangle 75"/>
          <p:cNvSpPr>
            <a:spLocks noChangeArrowheads="1"/>
          </p:cNvSpPr>
          <p:nvPr/>
        </p:nvSpPr>
        <p:spPr bwMode="auto">
          <a:xfrm>
            <a:off x="358775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0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12" name="Rectangle 76"/>
          <p:cNvSpPr>
            <a:spLocks noChangeArrowheads="1"/>
          </p:cNvSpPr>
          <p:nvPr/>
        </p:nvSpPr>
        <p:spPr bwMode="auto">
          <a:xfrm>
            <a:off x="566738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1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13" name="Rectangle 77"/>
          <p:cNvSpPr>
            <a:spLocks noChangeArrowheads="1"/>
          </p:cNvSpPr>
          <p:nvPr/>
        </p:nvSpPr>
        <p:spPr bwMode="auto">
          <a:xfrm>
            <a:off x="762000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2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14" name="Rectangle 78"/>
          <p:cNvSpPr>
            <a:spLocks noChangeArrowheads="1"/>
          </p:cNvSpPr>
          <p:nvPr/>
        </p:nvSpPr>
        <p:spPr bwMode="auto">
          <a:xfrm>
            <a:off x="968375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3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15" name="Rectangle 79"/>
          <p:cNvSpPr>
            <a:spLocks noChangeArrowheads="1"/>
          </p:cNvSpPr>
          <p:nvPr/>
        </p:nvSpPr>
        <p:spPr bwMode="auto">
          <a:xfrm>
            <a:off x="1165225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4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16" name="Rectangle 80"/>
          <p:cNvSpPr>
            <a:spLocks noChangeArrowheads="1"/>
          </p:cNvSpPr>
          <p:nvPr/>
        </p:nvSpPr>
        <p:spPr bwMode="auto">
          <a:xfrm>
            <a:off x="1371600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5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17" name="Rectangle 81"/>
          <p:cNvSpPr>
            <a:spLocks noChangeArrowheads="1"/>
          </p:cNvSpPr>
          <p:nvPr/>
        </p:nvSpPr>
        <p:spPr bwMode="auto">
          <a:xfrm>
            <a:off x="1566863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6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18" name="Rectangle 82"/>
          <p:cNvSpPr>
            <a:spLocks noChangeArrowheads="1"/>
          </p:cNvSpPr>
          <p:nvPr/>
        </p:nvSpPr>
        <p:spPr bwMode="auto">
          <a:xfrm>
            <a:off x="1774825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7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19" name="Rectangle 83"/>
          <p:cNvSpPr>
            <a:spLocks noChangeArrowheads="1"/>
          </p:cNvSpPr>
          <p:nvPr/>
        </p:nvSpPr>
        <p:spPr bwMode="auto">
          <a:xfrm>
            <a:off x="1970088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8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20" name="Rectangle 84"/>
          <p:cNvSpPr>
            <a:spLocks noChangeArrowheads="1"/>
          </p:cNvSpPr>
          <p:nvPr/>
        </p:nvSpPr>
        <p:spPr bwMode="auto">
          <a:xfrm>
            <a:off x="2176463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9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21" name="Rectangle 85"/>
          <p:cNvSpPr>
            <a:spLocks noChangeArrowheads="1"/>
          </p:cNvSpPr>
          <p:nvPr/>
        </p:nvSpPr>
        <p:spPr bwMode="auto">
          <a:xfrm>
            <a:off x="2351088" y="3767138"/>
            <a:ext cx="33337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charset="-127"/>
              </a:rPr>
              <a:t>10</a:t>
            </a:r>
            <a:endParaRPr lang="ko-KR" altLang="en-US" sz="240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22" name="Rectangle 86"/>
          <p:cNvSpPr>
            <a:spLocks noChangeArrowheads="1"/>
          </p:cNvSpPr>
          <p:nvPr/>
        </p:nvSpPr>
        <p:spPr bwMode="auto">
          <a:xfrm>
            <a:off x="119063" y="1719263"/>
            <a:ext cx="2395537" cy="22542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3" name="Freeform 87"/>
          <p:cNvSpPr>
            <a:spLocks/>
          </p:cNvSpPr>
          <p:nvPr/>
        </p:nvSpPr>
        <p:spPr bwMode="auto">
          <a:xfrm>
            <a:off x="914400" y="2211388"/>
            <a:ext cx="152400" cy="150812"/>
          </a:xfrm>
          <a:custGeom>
            <a:avLst/>
            <a:gdLst>
              <a:gd name="T0" fmla="*/ 48 w 96"/>
              <a:gd name="T1" fmla="*/ 0 h 95"/>
              <a:gd name="T2" fmla="*/ 96 w 96"/>
              <a:gd name="T3" fmla="*/ 48 h 95"/>
              <a:gd name="T4" fmla="*/ 48 w 96"/>
              <a:gd name="T5" fmla="*/ 95 h 95"/>
              <a:gd name="T6" fmla="*/ 0 w 96"/>
              <a:gd name="T7" fmla="*/ 48 h 95"/>
              <a:gd name="T8" fmla="*/ 48 w 96"/>
              <a:gd name="T9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5">
                <a:moveTo>
                  <a:pt x="48" y="0"/>
                </a:moveTo>
                <a:lnTo>
                  <a:pt x="96" y="48"/>
                </a:lnTo>
                <a:lnTo>
                  <a:pt x="48" y="95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024" name="Freeform 88"/>
          <p:cNvSpPr>
            <a:spLocks/>
          </p:cNvSpPr>
          <p:nvPr/>
        </p:nvSpPr>
        <p:spPr bwMode="auto">
          <a:xfrm>
            <a:off x="1524000" y="3048000"/>
            <a:ext cx="152400" cy="152400"/>
          </a:xfrm>
          <a:custGeom>
            <a:avLst/>
            <a:gdLst>
              <a:gd name="T0" fmla="*/ 48 w 96"/>
              <a:gd name="T1" fmla="*/ 0 h 96"/>
              <a:gd name="T2" fmla="*/ 96 w 96"/>
              <a:gd name="T3" fmla="*/ 48 h 96"/>
              <a:gd name="T4" fmla="*/ 48 w 96"/>
              <a:gd name="T5" fmla="*/ 96 h 96"/>
              <a:gd name="T6" fmla="*/ 0 w 96"/>
              <a:gd name="T7" fmla="*/ 48 h 96"/>
              <a:gd name="T8" fmla="*/ 48 w 96"/>
              <a:gd name="T9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025" name="Text Box 89"/>
          <p:cNvSpPr txBox="1">
            <a:spLocks noChangeArrowheads="1"/>
          </p:cNvSpPr>
          <p:nvPr/>
        </p:nvSpPr>
        <p:spPr bwMode="auto">
          <a:xfrm>
            <a:off x="136525" y="3886200"/>
            <a:ext cx="75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ko-KR" sz="2400">
                <a:latin typeface="Tahoma" panose="020B0604030504040204" pitchFamily="34" charset="0"/>
                <a:ea typeface="굴림" charset="-127"/>
              </a:rPr>
              <a:t>K=2</a:t>
            </a:r>
          </a:p>
        </p:txBody>
      </p:sp>
      <p:sp>
        <p:nvSpPr>
          <p:cNvPr id="40026" name="Line 90"/>
          <p:cNvSpPr>
            <a:spLocks noChangeShapeType="1"/>
          </p:cNvSpPr>
          <p:nvPr/>
        </p:nvSpPr>
        <p:spPr bwMode="auto">
          <a:xfrm>
            <a:off x="2590800" y="2057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027" name="Text Box 91"/>
          <p:cNvSpPr txBox="1">
            <a:spLocks noChangeArrowheads="1"/>
          </p:cNvSpPr>
          <p:nvPr/>
        </p:nvSpPr>
        <p:spPr bwMode="auto">
          <a:xfrm>
            <a:off x="2590800" y="2362200"/>
            <a:ext cx="914400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latin typeface="Tahoma" panose="020B0604030504040204" pitchFamily="34" charset="0"/>
                <a:ea typeface="굴림" charset="-127"/>
              </a:rPr>
              <a:t>Arbitrary choose k object as initial medoids</a:t>
            </a:r>
          </a:p>
        </p:txBody>
      </p:sp>
      <p:graphicFrame>
        <p:nvGraphicFramePr>
          <p:cNvPr id="40028" name="Object 92"/>
          <p:cNvGraphicFramePr>
            <a:graphicFrameLocks noChangeAspect="1"/>
          </p:cNvGraphicFramePr>
          <p:nvPr/>
        </p:nvGraphicFramePr>
        <p:xfrm>
          <a:off x="3429000" y="1676400"/>
          <a:ext cx="25146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9" name="Worksheet" r:id="rId6" imgW="2200656" imgH="2076907" progId="Excel.Sheet.8">
                  <p:embed/>
                </p:oleObj>
              </mc:Choice>
              <mc:Fallback>
                <p:oleObj name="Worksheet" r:id="rId6" imgW="2200656" imgH="207690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676400"/>
                        <a:ext cx="251460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29" name="Line 93"/>
          <p:cNvSpPr>
            <a:spLocks noChangeShapeType="1"/>
          </p:cNvSpPr>
          <p:nvPr/>
        </p:nvSpPr>
        <p:spPr bwMode="auto">
          <a:xfrm>
            <a:off x="5127625" y="2689225"/>
            <a:ext cx="0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030" name="Line 94"/>
          <p:cNvSpPr>
            <a:spLocks noChangeShapeType="1"/>
          </p:cNvSpPr>
          <p:nvPr/>
        </p:nvSpPr>
        <p:spPr bwMode="auto">
          <a:xfrm>
            <a:off x="5943600" y="2133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031" name="Text Box 95"/>
          <p:cNvSpPr txBox="1">
            <a:spLocks noChangeArrowheads="1"/>
          </p:cNvSpPr>
          <p:nvPr/>
        </p:nvSpPr>
        <p:spPr bwMode="auto">
          <a:xfrm>
            <a:off x="5791200" y="2362200"/>
            <a:ext cx="103028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dirty="0">
                <a:latin typeface="Tahoma" panose="020B0604030504040204" pitchFamily="34" charset="0"/>
                <a:ea typeface="굴림" charset="-127"/>
              </a:rPr>
              <a:t>Assign each remaining object to nearest </a:t>
            </a:r>
            <a:r>
              <a:rPr lang="en-US" altLang="ko-KR" sz="1400" dirty="0" err="1">
                <a:latin typeface="Tahoma" panose="020B0604030504040204" pitchFamily="34" charset="0"/>
                <a:ea typeface="굴림" charset="-127"/>
              </a:rPr>
              <a:t>medoids</a:t>
            </a:r>
            <a:endParaRPr lang="en-US" altLang="ko-KR" sz="1400" dirty="0">
              <a:latin typeface="Tahoma" panose="020B0604030504040204" pitchFamily="34" charset="0"/>
              <a:ea typeface="굴림" charset="-127"/>
            </a:endParaRPr>
          </a:p>
        </p:txBody>
      </p:sp>
      <p:sp>
        <p:nvSpPr>
          <p:cNvPr id="40032" name="Line 96"/>
          <p:cNvSpPr>
            <a:spLocks noChangeShapeType="1"/>
          </p:cNvSpPr>
          <p:nvPr/>
        </p:nvSpPr>
        <p:spPr bwMode="auto">
          <a:xfrm>
            <a:off x="67818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033" name="Text Box 97"/>
          <p:cNvSpPr txBox="1">
            <a:spLocks noChangeArrowheads="1"/>
          </p:cNvSpPr>
          <p:nvPr/>
        </p:nvSpPr>
        <p:spPr bwMode="auto">
          <a:xfrm>
            <a:off x="6934200" y="4038600"/>
            <a:ext cx="22098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latin typeface="Tahoma" panose="020B0604030504040204" pitchFamily="34" charset="0"/>
                <a:ea typeface="굴림" charset="-127"/>
              </a:rPr>
              <a:t>Randomly select a nonmedoid object,O</a:t>
            </a:r>
            <a:r>
              <a:rPr lang="en-US" altLang="ko-KR" sz="1400" baseline="-25000">
                <a:latin typeface="Tahoma" panose="020B0604030504040204" pitchFamily="34" charset="0"/>
                <a:ea typeface="굴림" charset="-127"/>
              </a:rPr>
              <a:t>ramdom</a:t>
            </a:r>
          </a:p>
        </p:txBody>
      </p:sp>
      <p:sp>
        <p:nvSpPr>
          <p:cNvPr id="40034" name="Line 98"/>
          <p:cNvSpPr>
            <a:spLocks noChangeShapeType="1"/>
          </p:cNvSpPr>
          <p:nvPr/>
        </p:nvSpPr>
        <p:spPr bwMode="auto">
          <a:xfrm flipH="1">
            <a:off x="6019800" y="4724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035" name="Text Box 99"/>
          <p:cNvSpPr txBox="1">
            <a:spLocks noChangeArrowheads="1"/>
          </p:cNvSpPr>
          <p:nvPr/>
        </p:nvSpPr>
        <p:spPr bwMode="auto">
          <a:xfrm>
            <a:off x="5715000" y="4876800"/>
            <a:ext cx="114300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latin typeface="Tahoma" panose="020B0604030504040204" pitchFamily="34" charset="0"/>
                <a:ea typeface="굴림" charset="-127"/>
              </a:rPr>
              <a:t>Compute total cost of swapping</a:t>
            </a:r>
          </a:p>
        </p:txBody>
      </p:sp>
      <p:grpSp>
        <p:nvGrpSpPr>
          <p:cNvPr id="40036" name="Group 100"/>
          <p:cNvGrpSpPr>
            <a:grpSpLocks/>
          </p:cNvGrpSpPr>
          <p:nvPr/>
        </p:nvGrpSpPr>
        <p:grpSpPr bwMode="auto">
          <a:xfrm>
            <a:off x="3544888" y="4611688"/>
            <a:ext cx="2176462" cy="2035175"/>
            <a:chOff x="2233" y="2905"/>
            <a:chExt cx="1371" cy="1282"/>
          </a:xfrm>
        </p:grpSpPr>
        <p:sp>
          <p:nvSpPr>
            <p:cNvPr id="40037" name="Rectangle 101"/>
            <p:cNvSpPr>
              <a:spLocks noChangeArrowheads="1"/>
            </p:cNvSpPr>
            <p:nvPr/>
          </p:nvSpPr>
          <p:spPr bwMode="auto">
            <a:xfrm>
              <a:off x="2233" y="2905"/>
              <a:ext cx="1371" cy="1282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8" name="Rectangle 102"/>
            <p:cNvSpPr>
              <a:spLocks noChangeArrowheads="1"/>
            </p:cNvSpPr>
            <p:nvPr/>
          </p:nvSpPr>
          <p:spPr bwMode="auto">
            <a:xfrm>
              <a:off x="2376" y="3009"/>
              <a:ext cx="1154" cy="10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9" name="Line 103"/>
            <p:cNvSpPr>
              <a:spLocks noChangeShapeType="1"/>
            </p:cNvSpPr>
            <p:nvPr/>
          </p:nvSpPr>
          <p:spPr bwMode="auto">
            <a:xfrm>
              <a:off x="2376" y="3928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0" name="Line 104"/>
            <p:cNvSpPr>
              <a:spLocks noChangeShapeType="1"/>
            </p:cNvSpPr>
            <p:nvPr/>
          </p:nvSpPr>
          <p:spPr bwMode="auto">
            <a:xfrm>
              <a:off x="2376" y="3823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1" name="Line 105"/>
            <p:cNvSpPr>
              <a:spLocks noChangeShapeType="1"/>
            </p:cNvSpPr>
            <p:nvPr/>
          </p:nvSpPr>
          <p:spPr bwMode="auto">
            <a:xfrm>
              <a:off x="2376" y="3725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2" name="Line 106"/>
            <p:cNvSpPr>
              <a:spLocks noChangeShapeType="1"/>
            </p:cNvSpPr>
            <p:nvPr/>
          </p:nvSpPr>
          <p:spPr bwMode="auto">
            <a:xfrm>
              <a:off x="2376" y="3620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3" name="Line 107"/>
            <p:cNvSpPr>
              <a:spLocks noChangeShapeType="1"/>
            </p:cNvSpPr>
            <p:nvPr/>
          </p:nvSpPr>
          <p:spPr bwMode="auto">
            <a:xfrm>
              <a:off x="2376" y="3521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4" name="Line 108"/>
            <p:cNvSpPr>
              <a:spLocks noChangeShapeType="1"/>
            </p:cNvSpPr>
            <p:nvPr/>
          </p:nvSpPr>
          <p:spPr bwMode="auto">
            <a:xfrm>
              <a:off x="2376" y="3416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5" name="Line 109"/>
            <p:cNvSpPr>
              <a:spLocks noChangeShapeType="1"/>
            </p:cNvSpPr>
            <p:nvPr/>
          </p:nvSpPr>
          <p:spPr bwMode="auto">
            <a:xfrm>
              <a:off x="2376" y="3318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6" name="Line 110"/>
            <p:cNvSpPr>
              <a:spLocks noChangeShapeType="1"/>
            </p:cNvSpPr>
            <p:nvPr/>
          </p:nvSpPr>
          <p:spPr bwMode="auto">
            <a:xfrm>
              <a:off x="2376" y="3213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7" name="Line 111"/>
            <p:cNvSpPr>
              <a:spLocks noChangeShapeType="1"/>
            </p:cNvSpPr>
            <p:nvPr/>
          </p:nvSpPr>
          <p:spPr bwMode="auto">
            <a:xfrm>
              <a:off x="2376" y="3114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8" name="Line 112"/>
            <p:cNvSpPr>
              <a:spLocks noChangeShapeType="1"/>
            </p:cNvSpPr>
            <p:nvPr/>
          </p:nvSpPr>
          <p:spPr bwMode="auto">
            <a:xfrm>
              <a:off x="2376" y="3009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9" name="Line 113"/>
            <p:cNvSpPr>
              <a:spLocks noChangeShapeType="1"/>
            </p:cNvSpPr>
            <p:nvPr/>
          </p:nvSpPr>
          <p:spPr bwMode="auto">
            <a:xfrm>
              <a:off x="2495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0" name="Line 114"/>
            <p:cNvSpPr>
              <a:spLocks noChangeShapeType="1"/>
            </p:cNvSpPr>
            <p:nvPr/>
          </p:nvSpPr>
          <p:spPr bwMode="auto">
            <a:xfrm>
              <a:off x="2607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1" name="Line 115"/>
            <p:cNvSpPr>
              <a:spLocks noChangeShapeType="1"/>
            </p:cNvSpPr>
            <p:nvPr/>
          </p:nvSpPr>
          <p:spPr bwMode="auto">
            <a:xfrm>
              <a:off x="2725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2" name="Line 116"/>
            <p:cNvSpPr>
              <a:spLocks noChangeShapeType="1"/>
            </p:cNvSpPr>
            <p:nvPr/>
          </p:nvSpPr>
          <p:spPr bwMode="auto">
            <a:xfrm>
              <a:off x="2838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3" name="Line 117"/>
            <p:cNvSpPr>
              <a:spLocks noChangeShapeType="1"/>
            </p:cNvSpPr>
            <p:nvPr/>
          </p:nvSpPr>
          <p:spPr bwMode="auto">
            <a:xfrm>
              <a:off x="2956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4" name="Line 118"/>
            <p:cNvSpPr>
              <a:spLocks noChangeShapeType="1"/>
            </p:cNvSpPr>
            <p:nvPr/>
          </p:nvSpPr>
          <p:spPr bwMode="auto">
            <a:xfrm>
              <a:off x="3068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5" name="Line 119"/>
            <p:cNvSpPr>
              <a:spLocks noChangeShapeType="1"/>
            </p:cNvSpPr>
            <p:nvPr/>
          </p:nvSpPr>
          <p:spPr bwMode="auto">
            <a:xfrm>
              <a:off x="3187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6" name="Line 120"/>
            <p:cNvSpPr>
              <a:spLocks noChangeShapeType="1"/>
            </p:cNvSpPr>
            <p:nvPr/>
          </p:nvSpPr>
          <p:spPr bwMode="auto">
            <a:xfrm>
              <a:off x="3299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7" name="Line 121"/>
            <p:cNvSpPr>
              <a:spLocks noChangeShapeType="1"/>
            </p:cNvSpPr>
            <p:nvPr/>
          </p:nvSpPr>
          <p:spPr bwMode="auto">
            <a:xfrm>
              <a:off x="3417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8" name="Line 122"/>
            <p:cNvSpPr>
              <a:spLocks noChangeShapeType="1"/>
            </p:cNvSpPr>
            <p:nvPr/>
          </p:nvSpPr>
          <p:spPr bwMode="auto">
            <a:xfrm>
              <a:off x="3530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9" name="Rectangle 123"/>
            <p:cNvSpPr>
              <a:spLocks noChangeArrowheads="1"/>
            </p:cNvSpPr>
            <p:nvPr/>
          </p:nvSpPr>
          <p:spPr bwMode="auto">
            <a:xfrm>
              <a:off x="2376" y="3009"/>
              <a:ext cx="1154" cy="10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0" name="Line 124"/>
            <p:cNvSpPr>
              <a:spLocks noChangeShapeType="1"/>
            </p:cNvSpPr>
            <p:nvPr/>
          </p:nvSpPr>
          <p:spPr bwMode="auto">
            <a:xfrm>
              <a:off x="2376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1" name="Line 125"/>
            <p:cNvSpPr>
              <a:spLocks noChangeShapeType="1"/>
            </p:cNvSpPr>
            <p:nvPr/>
          </p:nvSpPr>
          <p:spPr bwMode="auto">
            <a:xfrm>
              <a:off x="2364" y="4027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2" name="Line 126"/>
            <p:cNvSpPr>
              <a:spLocks noChangeShapeType="1"/>
            </p:cNvSpPr>
            <p:nvPr/>
          </p:nvSpPr>
          <p:spPr bwMode="auto">
            <a:xfrm>
              <a:off x="2364" y="392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3" name="Line 127"/>
            <p:cNvSpPr>
              <a:spLocks noChangeShapeType="1"/>
            </p:cNvSpPr>
            <p:nvPr/>
          </p:nvSpPr>
          <p:spPr bwMode="auto">
            <a:xfrm>
              <a:off x="2364" y="382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4" name="Line 128"/>
            <p:cNvSpPr>
              <a:spLocks noChangeShapeType="1"/>
            </p:cNvSpPr>
            <p:nvPr/>
          </p:nvSpPr>
          <p:spPr bwMode="auto">
            <a:xfrm>
              <a:off x="2364" y="372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5" name="Line 129"/>
            <p:cNvSpPr>
              <a:spLocks noChangeShapeType="1"/>
            </p:cNvSpPr>
            <p:nvPr/>
          </p:nvSpPr>
          <p:spPr bwMode="auto">
            <a:xfrm>
              <a:off x="2364" y="362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6" name="Line 130"/>
            <p:cNvSpPr>
              <a:spLocks noChangeShapeType="1"/>
            </p:cNvSpPr>
            <p:nvPr/>
          </p:nvSpPr>
          <p:spPr bwMode="auto">
            <a:xfrm>
              <a:off x="2364" y="3521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7" name="Line 131"/>
            <p:cNvSpPr>
              <a:spLocks noChangeShapeType="1"/>
            </p:cNvSpPr>
            <p:nvPr/>
          </p:nvSpPr>
          <p:spPr bwMode="auto">
            <a:xfrm>
              <a:off x="2364" y="341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8" name="Line 132"/>
            <p:cNvSpPr>
              <a:spLocks noChangeShapeType="1"/>
            </p:cNvSpPr>
            <p:nvPr/>
          </p:nvSpPr>
          <p:spPr bwMode="auto">
            <a:xfrm>
              <a:off x="2364" y="331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9" name="Line 133"/>
            <p:cNvSpPr>
              <a:spLocks noChangeShapeType="1"/>
            </p:cNvSpPr>
            <p:nvPr/>
          </p:nvSpPr>
          <p:spPr bwMode="auto">
            <a:xfrm>
              <a:off x="2364" y="321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0" name="Line 134"/>
            <p:cNvSpPr>
              <a:spLocks noChangeShapeType="1"/>
            </p:cNvSpPr>
            <p:nvPr/>
          </p:nvSpPr>
          <p:spPr bwMode="auto">
            <a:xfrm>
              <a:off x="2364" y="311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1" name="Line 135"/>
            <p:cNvSpPr>
              <a:spLocks noChangeShapeType="1"/>
            </p:cNvSpPr>
            <p:nvPr/>
          </p:nvSpPr>
          <p:spPr bwMode="auto">
            <a:xfrm>
              <a:off x="2364" y="3009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2" name="Line 136"/>
            <p:cNvSpPr>
              <a:spLocks noChangeShapeType="1"/>
            </p:cNvSpPr>
            <p:nvPr/>
          </p:nvSpPr>
          <p:spPr bwMode="auto">
            <a:xfrm>
              <a:off x="2376" y="4027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3" name="Line 137"/>
            <p:cNvSpPr>
              <a:spLocks noChangeShapeType="1"/>
            </p:cNvSpPr>
            <p:nvPr/>
          </p:nvSpPr>
          <p:spPr bwMode="auto">
            <a:xfrm flipV="1">
              <a:off x="2376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4" name="Line 138"/>
            <p:cNvSpPr>
              <a:spLocks noChangeShapeType="1"/>
            </p:cNvSpPr>
            <p:nvPr/>
          </p:nvSpPr>
          <p:spPr bwMode="auto">
            <a:xfrm flipV="1">
              <a:off x="2495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5" name="Line 139"/>
            <p:cNvSpPr>
              <a:spLocks noChangeShapeType="1"/>
            </p:cNvSpPr>
            <p:nvPr/>
          </p:nvSpPr>
          <p:spPr bwMode="auto">
            <a:xfrm flipV="1">
              <a:off x="2607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6" name="Line 140"/>
            <p:cNvSpPr>
              <a:spLocks noChangeShapeType="1"/>
            </p:cNvSpPr>
            <p:nvPr/>
          </p:nvSpPr>
          <p:spPr bwMode="auto">
            <a:xfrm flipV="1">
              <a:off x="2725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7" name="Line 141"/>
            <p:cNvSpPr>
              <a:spLocks noChangeShapeType="1"/>
            </p:cNvSpPr>
            <p:nvPr/>
          </p:nvSpPr>
          <p:spPr bwMode="auto">
            <a:xfrm flipV="1">
              <a:off x="2838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8" name="Line 142"/>
            <p:cNvSpPr>
              <a:spLocks noChangeShapeType="1"/>
            </p:cNvSpPr>
            <p:nvPr/>
          </p:nvSpPr>
          <p:spPr bwMode="auto">
            <a:xfrm flipV="1">
              <a:off x="2956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9" name="Line 143"/>
            <p:cNvSpPr>
              <a:spLocks noChangeShapeType="1"/>
            </p:cNvSpPr>
            <p:nvPr/>
          </p:nvSpPr>
          <p:spPr bwMode="auto">
            <a:xfrm flipV="1">
              <a:off x="3068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0" name="Line 144"/>
            <p:cNvSpPr>
              <a:spLocks noChangeShapeType="1"/>
            </p:cNvSpPr>
            <p:nvPr/>
          </p:nvSpPr>
          <p:spPr bwMode="auto">
            <a:xfrm flipV="1">
              <a:off x="3187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1" name="Line 145"/>
            <p:cNvSpPr>
              <a:spLocks noChangeShapeType="1"/>
            </p:cNvSpPr>
            <p:nvPr/>
          </p:nvSpPr>
          <p:spPr bwMode="auto">
            <a:xfrm flipV="1">
              <a:off x="3299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2" name="Line 146"/>
            <p:cNvSpPr>
              <a:spLocks noChangeShapeType="1"/>
            </p:cNvSpPr>
            <p:nvPr/>
          </p:nvSpPr>
          <p:spPr bwMode="auto">
            <a:xfrm flipV="1">
              <a:off x="3417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3" name="Line 147"/>
            <p:cNvSpPr>
              <a:spLocks noChangeShapeType="1"/>
            </p:cNvSpPr>
            <p:nvPr/>
          </p:nvSpPr>
          <p:spPr bwMode="auto">
            <a:xfrm flipV="1">
              <a:off x="3530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4" name="Freeform 148"/>
            <p:cNvSpPr>
              <a:spLocks/>
            </p:cNvSpPr>
            <p:nvPr/>
          </p:nvSpPr>
          <p:spPr bwMode="auto">
            <a:xfrm>
              <a:off x="2682" y="3577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85" name="Freeform 149"/>
            <p:cNvSpPr>
              <a:spLocks/>
            </p:cNvSpPr>
            <p:nvPr/>
          </p:nvSpPr>
          <p:spPr bwMode="auto">
            <a:xfrm>
              <a:off x="2563" y="3373"/>
              <a:ext cx="88" cy="87"/>
            </a:xfrm>
            <a:custGeom>
              <a:avLst/>
              <a:gdLst>
                <a:gd name="T0" fmla="*/ 44 w 88"/>
                <a:gd name="T1" fmla="*/ 0 h 87"/>
                <a:gd name="T2" fmla="*/ 88 w 88"/>
                <a:gd name="T3" fmla="*/ 43 h 87"/>
                <a:gd name="T4" fmla="*/ 44 w 88"/>
                <a:gd name="T5" fmla="*/ 87 h 87"/>
                <a:gd name="T6" fmla="*/ 0 w 88"/>
                <a:gd name="T7" fmla="*/ 43 h 87"/>
                <a:gd name="T8" fmla="*/ 44 w 88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7">
                  <a:moveTo>
                    <a:pt x="44" y="0"/>
                  </a:moveTo>
                  <a:lnTo>
                    <a:pt x="88" y="43"/>
                  </a:lnTo>
                  <a:lnTo>
                    <a:pt x="44" y="87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86" name="Freeform 150"/>
            <p:cNvSpPr>
              <a:spLocks/>
            </p:cNvSpPr>
            <p:nvPr/>
          </p:nvSpPr>
          <p:spPr bwMode="auto">
            <a:xfrm>
              <a:off x="3143" y="3681"/>
              <a:ext cx="87" cy="87"/>
            </a:xfrm>
            <a:custGeom>
              <a:avLst/>
              <a:gdLst>
                <a:gd name="T0" fmla="*/ 44 w 87"/>
                <a:gd name="T1" fmla="*/ 0 h 87"/>
                <a:gd name="T2" fmla="*/ 87 w 87"/>
                <a:gd name="T3" fmla="*/ 44 h 87"/>
                <a:gd name="T4" fmla="*/ 44 w 87"/>
                <a:gd name="T5" fmla="*/ 87 h 87"/>
                <a:gd name="T6" fmla="*/ 0 w 87"/>
                <a:gd name="T7" fmla="*/ 44 h 87"/>
                <a:gd name="T8" fmla="*/ 44 w 87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7">
                  <a:moveTo>
                    <a:pt x="44" y="0"/>
                  </a:moveTo>
                  <a:lnTo>
                    <a:pt x="87" y="44"/>
                  </a:lnTo>
                  <a:lnTo>
                    <a:pt x="44" y="87"/>
                  </a:lnTo>
                  <a:lnTo>
                    <a:pt x="0" y="44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87" name="Freeform 151"/>
            <p:cNvSpPr>
              <a:spLocks/>
            </p:cNvSpPr>
            <p:nvPr/>
          </p:nvSpPr>
          <p:spPr bwMode="auto">
            <a:xfrm>
              <a:off x="2794" y="3275"/>
              <a:ext cx="87" cy="86"/>
            </a:xfrm>
            <a:custGeom>
              <a:avLst/>
              <a:gdLst>
                <a:gd name="T0" fmla="*/ 44 w 87"/>
                <a:gd name="T1" fmla="*/ 0 h 86"/>
                <a:gd name="T2" fmla="*/ 87 w 87"/>
                <a:gd name="T3" fmla="*/ 43 h 86"/>
                <a:gd name="T4" fmla="*/ 44 w 87"/>
                <a:gd name="T5" fmla="*/ 86 h 86"/>
                <a:gd name="T6" fmla="*/ 0 w 87"/>
                <a:gd name="T7" fmla="*/ 43 h 86"/>
                <a:gd name="T8" fmla="*/ 44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4" y="0"/>
                  </a:moveTo>
                  <a:lnTo>
                    <a:pt x="87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88" name="Freeform 152"/>
            <p:cNvSpPr>
              <a:spLocks/>
            </p:cNvSpPr>
            <p:nvPr/>
          </p:nvSpPr>
          <p:spPr bwMode="auto">
            <a:xfrm>
              <a:off x="2682" y="3170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89" name="Freeform 153"/>
            <p:cNvSpPr>
              <a:spLocks/>
            </p:cNvSpPr>
            <p:nvPr/>
          </p:nvSpPr>
          <p:spPr bwMode="auto">
            <a:xfrm>
              <a:off x="3255" y="3478"/>
              <a:ext cx="88" cy="86"/>
            </a:xfrm>
            <a:custGeom>
              <a:avLst/>
              <a:gdLst>
                <a:gd name="T0" fmla="*/ 44 w 88"/>
                <a:gd name="T1" fmla="*/ 0 h 86"/>
                <a:gd name="T2" fmla="*/ 88 w 88"/>
                <a:gd name="T3" fmla="*/ 43 h 86"/>
                <a:gd name="T4" fmla="*/ 44 w 88"/>
                <a:gd name="T5" fmla="*/ 86 h 86"/>
                <a:gd name="T6" fmla="*/ 0 w 88"/>
                <a:gd name="T7" fmla="*/ 43 h 86"/>
                <a:gd name="T8" fmla="*/ 44 w 88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4" y="0"/>
                  </a:moveTo>
                  <a:lnTo>
                    <a:pt x="88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90" name="Freeform 154"/>
            <p:cNvSpPr>
              <a:spLocks/>
            </p:cNvSpPr>
            <p:nvPr/>
          </p:nvSpPr>
          <p:spPr bwMode="auto">
            <a:xfrm>
              <a:off x="3143" y="3577"/>
              <a:ext cx="87" cy="86"/>
            </a:xfrm>
            <a:custGeom>
              <a:avLst/>
              <a:gdLst>
                <a:gd name="T0" fmla="*/ 44 w 87"/>
                <a:gd name="T1" fmla="*/ 0 h 86"/>
                <a:gd name="T2" fmla="*/ 87 w 87"/>
                <a:gd name="T3" fmla="*/ 43 h 86"/>
                <a:gd name="T4" fmla="*/ 44 w 87"/>
                <a:gd name="T5" fmla="*/ 86 h 86"/>
                <a:gd name="T6" fmla="*/ 0 w 87"/>
                <a:gd name="T7" fmla="*/ 43 h 86"/>
                <a:gd name="T8" fmla="*/ 44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4" y="0"/>
                  </a:moveTo>
                  <a:lnTo>
                    <a:pt x="87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91" name="Freeform 155"/>
            <p:cNvSpPr>
              <a:spLocks/>
            </p:cNvSpPr>
            <p:nvPr/>
          </p:nvSpPr>
          <p:spPr bwMode="auto">
            <a:xfrm>
              <a:off x="3143" y="3373"/>
              <a:ext cx="87" cy="87"/>
            </a:xfrm>
            <a:custGeom>
              <a:avLst/>
              <a:gdLst>
                <a:gd name="T0" fmla="*/ 44 w 87"/>
                <a:gd name="T1" fmla="*/ 0 h 87"/>
                <a:gd name="T2" fmla="*/ 87 w 87"/>
                <a:gd name="T3" fmla="*/ 43 h 87"/>
                <a:gd name="T4" fmla="*/ 44 w 87"/>
                <a:gd name="T5" fmla="*/ 87 h 87"/>
                <a:gd name="T6" fmla="*/ 0 w 87"/>
                <a:gd name="T7" fmla="*/ 43 h 87"/>
                <a:gd name="T8" fmla="*/ 44 w 87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7">
                  <a:moveTo>
                    <a:pt x="44" y="0"/>
                  </a:moveTo>
                  <a:lnTo>
                    <a:pt x="87" y="43"/>
                  </a:lnTo>
                  <a:lnTo>
                    <a:pt x="44" y="87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92" name="Rectangle 156"/>
            <p:cNvSpPr>
              <a:spLocks noChangeArrowheads="1"/>
            </p:cNvSpPr>
            <p:nvPr/>
          </p:nvSpPr>
          <p:spPr bwMode="auto">
            <a:xfrm>
              <a:off x="2326" y="4008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0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093" name="Rectangle 157"/>
            <p:cNvSpPr>
              <a:spLocks noChangeArrowheads="1"/>
            </p:cNvSpPr>
            <p:nvPr/>
          </p:nvSpPr>
          <p:spPr bwMode="auto">
            <a:xfrm>
              <a:off x="2326" y="391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1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094" name="Rectangle 158"/>
            <p:cNvSpPr>
              <a:spLocks noChangeArrowheads="1"/>
            </p:cNvSpPr>
            <p:nvPr/>
          </p:nvSpPr>
          <p:spPr bwMode="auto">
            <a:xfrm>
              <a:off x="2326" y="3805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2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095" name="Rectangle 159"/>
            <p:cNvSpPr>
              <a:spLocks noChangeArrowheads="1"/>
            </p:cNvSpPr>
            <p:nvPr/>
          </p:nvSpPr>
          <p:spPr bwMode="auto">
            <a:xfrm>
              <a:off x="2326" y="3706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3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096" name="Rectangle 160"/>
            <p:cNvSpPr>
              <a:spLocks noChangeArrowheads="1"/>
            </p:cNvSpPr>
            <p:nvPr/>
          </p:nvSpPr>
          <p:spPr bwMode="auto">
            <a:xfrm>
              <a:off x="2326" y="3601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4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097" name="Rectangle 161"/>
            <p:cNvSpPr>
              <a:spLocks noChangeArrowheads="1"/>
            </p:cNvSpPr>
            <p:nvPr/>
          </p:nvSpPr>
          <p:spPr bwMode="auto">
            <a:xfrm>
              <a:off x="2326" y="3503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5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098" name="Rectangle 162"/>
            <p:cNvSpPr>
              <a:spLocks noChangeArrowheads="1"/>
            </p:cNvSpPr>
            <p:nvPr/>
          </p:nvSpPr>
          <p:spPr bwMode="auto">
            <a:xfrm>
              <a:off x="2326" y="3398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6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099" name="Rectangle 163"/>
            <p:cNvSpPr>
              <a:spLocks noChangeArrowheads="1"/>
            </p:cNvSpPr>
            <p:nvPr/>
          </p:nvSpPr>
          <p:spPr bwMode="auto">
            <a:xfrm>
              <a:off x="2326" y="3299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7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00" name="Rectangle 164"/>
            <p:cNvSpPr>
              <a:spLocks noChangeArrowheads="1"/>
            </p:cNvSpPr>
            <p:nvPr/>
          </p:nvSpPr>
          <p:spPr bwMode="auto">
            <a:xfrm>
              <a:off x="2326" y="3194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8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01" name="Rectangle 165"/>
            <p:cNvSpPr>
              <a:spLocks noChangeArrowheads="1"/>
            </p:cNvSpPr>
            <p:nvPr/>
          </p:nvSpPr>
          <p:spPr bwMode="auto">
            <a:xfrm>
              <a:off x="2326" y="3096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9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02" name="Rectangle 166"/>
            <p:cNvSpPr>
              <a:spLocks noChangeArrowheads="1"/>
            </p:cNvSpPr>
            <p:nvPr/>
          </p:nvSpPr>
          <p:spPr bwMode="auto">
            <a:xfrm>
              <a:off x="2308" y="2991"/>
              <a:ext cx="19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10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03" name="Rectangle 167"/>
            <p:cNvSpPr>
              <a:spLocks noChangeArrowheads="1"/>
            </p:cNvSpPr>
            <p:nvPr/>
          </p:nvSpPr>
          <p:spPr bwMode="auto">
            <a:xfrm>
              <a:off x="2370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0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04" name="Rectangle 168"/>
            <p:cNvSpPr>
              <a:spLocks noChangeArrowheads="1"/>
            </p:cNvSpPr>
            <p:nvPr/>
          </p:nvSpPr>
          <p:spPr bwMode="auto">
            <a:xfrm>
              <a:off x="2489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1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05" name="Rectangle 169"/>
            <p:cNvSpPr>
              <a:spLocks noChangeArrowheads="1"/>
            </p:cNvSpPr>
            <p:nvPr/>
          </p:nvSpPr>
          <p:spPr bwMode="auto">
            <a:xfrm>
              <a:off x="2601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2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06" name="Rectangle 170"/>
            <p:cNvSpPr>
              <a:spLocks noChangeArrowheads="1"/>
            </p:cNvSpPr>
            <p:nvPr/>
          </p:nvSpPr>
          <p:spPr bwMode="auto">
            <a:xfrm>
              <a:off x="2719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3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07" name="Rectangle 171"/>
            <p:cNvSpPr>
              <a:spLocks noChangeArrowheads="1"/>
            </p:cNvSpPr>
            <p:nvPr/>
          </p:nvSpPr>
          <p:spPr bwMode="auto">
            <a:xfrm>
              <a:off x="2831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4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08" name="Rectangle 172"/>
            <p:cNvSpPr>
              <a:spLocks noChangeArrowheads="1"/>
            </p:cNvSpPr>
            <p:nvPr/>
          </p:nvSpPr>
          <p:spPr bwMode="auto">
            <a:xfrm>
              <a:off x="2950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5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09" name="Rectangle 173"/>
            <p:cNvSpPr>
              <a:spLocks noChangeArrowheads="1"/>
            </p:cNvSpPr>
            <p:nvPr/>
          </p:nvSpPr>
          <p:spPr bwMode="auto">
            <a:xfrm>
              <a:off x="3062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6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10" name="Rectangle 174"/>
            <p:cNvSpPr>
              <a:spLocks noChangeArrowheads="1"/>
            </p:cNvSpPr>
            <p:nvPr/>
          </p:nvSpPr>
          <p:spPr bwMode="auto">
            <a:xfrm>
              <a:off x="3180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7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11" name="Rectangle 175"/>
            <p:cNvSpPr>
              <a:spLocks noChangeArrowheads="1"/>
            </p:cNvSpPr>
            <p:nvPr/>
          </p:nvSpPr>
          <p:spPr bwMode="auto">
            <a:xfrm>
              <a:off x="3293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8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12" name="Rectangle 176"/>
            <p:cNvSpPr>
              <a:spLocks noChangeArrowheads="1"/>
            </p:cNvSpPr>
            <p:nvPr/>
          </p:nvSpPr>
          <p:spPr bwMode="auto">
            <a:xfrm>
              <a:off x="3411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9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13" name="Rectangle 177"/>
            <p:cNvSpPr>
              <a:spLocks noChangeArrowheads="1"/>
            </p:cNvSpPr>
            <p:nvPr/>
          </p:nvSpPr>
          <p:spPr bwMode="auto">
            <a:xfrm>
              <a:off x="3511" y="4070"/>
              <a:ext cx="19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10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14" name="Rectangle 178"/>
            <p:cNvSpPr>
              <a:spLocks noChangeArrowheads="1"/>
            </p:cNvSpPr>
            <p:nvPr/>
          </p:nvSpPr>
          <p:spPr bwMode="auto">
            <a:xfrm>
              <a:off x="2233" y="2905"/>
              <a:ext cx="1371" cy="1282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5" name="Line 179"/>
            <p:cNvSpPr>
              <a:spLocks noChangeShapeType="1"/>
            </p:cNvSpPr>
            <p:nvPr/>
          </p:nvSpPr>
          <p:spPr bwMode="auto">
            <a:xfrm>
              <a:off x="3181" y="3456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116" name="Freeform 180"/>
            <p:cNvSpPr>
              <a:spLocks/>
            </p:cNvSpPr>
            <p:nvPr/>
          </p:nvSpPr>
          <p:spPr bwMode="auto">
            <a:xfrm>
              <a:off x="3033" y="3600"/>
              <a:ext cx="87" cy="86"/>
            </a:xfrm>
            <a:custGeom>
              <a:avLst/>
              <a:gdLst>
                <a:gd name="T0" fmla="*/ 44 w 87"/>
                <a:gd name="T1" fmla="*/ 0 h 86"/>
                <a:gd name="T2" fmla="*/ 87 w 87"/>
                <a:gd name="T3" fmla="*/ 43 h 86"/>
                <a:gd name="T4" fmla="*/ 44 w 87"/>
                <a:gd name="T5" fmla="*/ 86 h 86"/>
                <a:gd name="T6" fmla="*/ 0 w 87"/>
                <a:gd name="T7" fmla="*/ 43 h 86"/>
                <a:gd name="T8" fmla="*/ 44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4" y="0"/>
                  </a:moveTo>
                  <a:lnTo>
                    <a:pt x="87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17" name="Freeform 181"/>
            <p:cNvSpPr>
              <a:spLocks/>
            </p:cNvSpPr>
            <p:nvPr/>
          </p:nvSpPr>
          <p:spPr bwMode="auto">
            <a:xfrm>
              <a:off x="3024" y="3792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hlink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119" name="Line 183"/>
          <p:cNvSpPr>
            <a:spLocks noChangeShapeType="1"/>
          </p:cNvSpPr>
          <p:nvPr/>
        </p:nvSpPr>
        <p:spPr bwMode="auto">
          <a:xfrm flipV="1">
            <a:off x="5334000" y="4114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120" name="Text Box 184"/>
          <p:cNvSpPr txBox="1">
            <a:spLocks noChangeArrowheads="1"/>
          </p:cNvSpPr>
          <p:nvPr/>
        </p:nvSpPr>
        <p:spPr bwMode="auto">
          <a:xfrm>
            <a:off x="2362200" y="5029200"/>
            <a:ext cx="1219200" cy="104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latin typeface="Tahoma" panose="020B0604030504040204" pitchFamily="34" charset="0"/>
                <a:ea typeface="굴림" charset="-127"/>
              </a:rPr>
              <a:t>Swapping O and O</a:t>
            </a:r>
            <a:r>
              <a:rPr lang="en-US" altLang="ko-KR" sz="1400" baseline="-25000">
                <a:latin typeface="Tahoma" panose="020B0604030504040204" pitchFamily="34" charset="0"/>
                <a:ea typeface="굴림" charset="-127"/>
              </a:rPr>
              <a:t>ramdom </a:t>
            </a:r>
          </a:p>
          <a:p>
            <a:pPr>
              <a:spcBef>
                <a:spcPct val="50000"/>
              </a:spcBef>
            </a:pPr>
            <a:r>
              <a:rPr lang="en-US" altLang="ko-KR" sz="1400">
                <a:latin typeface="Tahoma" panose="020B0604030504040204" pitchFamily="34" charset="0"/>
                <a:ea typeface="굴림" charset="-127"/>
              </a:rPr>
              <a:t>If quality is improved.</a:t>
            </a:r>
          </a:p>
        </p:txBody>
      </p:sp>
      <p:sp>
        <p:nvSpPr>
          <p:cNvPr id="40121" name="Text Box 185"/>
          <p:cNvSpPr txBox="1">
            <a:spLocks noChangeArrowheads="1"/>
          </p:cNvSpPr>
          <p:nvPr/>
        </p:nvSpPr>
        <p:spPr bwMode="auto">
          <a:xfrm>
            <a:off x="228600" y="4724400"/>
            <a:ext cx="19812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000" b="1">
                <a:latin typeface="Tahoma" panose="020B0604030504040204" pitchFamily="34" charset="0"/>
                <a:ea typeface="굴림" charset="-127"/>
              </a:rPr>
              <a:t>Do loop</a:t>
            </a:r>
          </a:p>
          <a:p>
            <a:pPr>
              <a:spcBef>
                <a:spcPct val="50000"/>
              </a:spcBef>
            </a:pPr>
            <a:r>
              <a:rPr lang="en-US" altLang="ko-KR" sz="2000" b="1">
                <a:latin typeface="Tahoma" panose="020B0604030504040204" pitchFamily="34" charset="0"/>
                <a:ea typeface="굴림" charset="-127"/>
              </a:rPr>
              <a:t>Until no change</a:t>
            </a:r>
          </a:p>
        </p:txBody>
      </p:sp>
      <p:grpSp>
        <p:nvGrpSpPr>
          <p:cNvPr id="40122" name="Group 186"/>
          <p:cNvGrpSpPr>
            <a:grpSpLocks/>
          </p:cNvGrpSpPr>
          <p:nvPr/>
        </p:nvGrpSpPr>
        <p:grpSpPr bwMode="auto">
          <a:xfrm>
            <a:off x="6821488" y="4611688"/>
            <a:ext cx="2176462" cy="2035175"/>
            <a:chOff x="4297" y="2905"/>
            <a:chExt cx="1371" cy="1282"/>
          </a:xfrm>
        </p:grpSpPr>
        <p:sp>
          <p:nvSpPr>
            <p:cNvPr id="40123" name="Rectangle 187"/>
            <p:cNvSpPr>
              <a:spLocks noChangeArrowheads="1"/>
            </p:cNvSpPr>
            <p:nvPr/>
          </p:nvSpPr>
          <p:spPr bwMode="auto">
            <a:xfrm>
              <a:off x="4297" y="2905"/>
              <a:ext cx="1371" cy="1282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24" name="Rectangle 188"/>
            <p:cNvSpPr>
              <a:spLocks noChangeArrowheads="1"/>
            </p:cNvSpPr>
            <p:nvPr/>
          </p:nvSpPr>
          <p:spPr bwMode="auto">
            <a:xfrm>
              <a:off x="4440" y="3009"/>
              <a:ext cx="1154" cy="10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5" name="Line 189"/>
            <p:cNvSpPr>
              <a:spLocks noChangeShapeType="1"/>
            </p:cNvSpPr>
            <p:nvPr/>
          </p:nvSpPr>
          <p:spPr bwMode="auto">
            <a:xfrm>
              <a:off x="4440" y="3928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6" name="Line 190"/>
            <p:cNvSpPr>
              <a:spLocks noChangeShapeType="1"/>
            </p:cNvSpPr>
            <p:nvPr/>
          </p:nvSpPr>
          <p:spPr bwMode="auto">
            <a:xfrm>
              <a:off x="4440" y="3823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7" name="Line 191"/>
            <p:cNvSpPr>
              <a:spLocks noChangeShapeType="1"/>
            </p:cNvSpPr>
            <p:nvPr/>
          </p:nvSpPr>
          <p:spPr bwMode="auto">
            <a:xfrm>
              <a:off x="4440" y="3725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8" name="Line 192"/>
            <p:cNvSpPr>
              <a:spLocks noChangeShapeType="1"/>
            </p:cNvSpPr>
            <p:nvPr/>
          </p:nvSpPr>
          <p:spPr bwMode="auto">
            <a:xfrm>
              <a:off x="4440" y="3620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9" name="Line 193"/>
            <p:cNvSpPr>
              <a:spLocks noChangeShapeType="1"/>
            </p:cNvSpPr>
            <p:nvPr/>
          </p:nvSpPr>
          <p:spPr bwMode="auto">
            <a:xfrm>
              <a:off x="4440" y="3521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0" name="Line 194"/>
            <p:cNvSpPr>
              <a:spLocks noChangeShapeType="1"/>
            </p:cNvSpPr>
            <p:nvPr/>
          </p:nvSpPr>
          <p:spPr bwMode="auto">
            <a:xfrm>
              <a:off x="4440" y="3416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1" name="Line 195"/>
            <p:cNvSpPr>
              <a:spLocks noChangeShapeType="1"/>
            </p:cNvSpPr>
            <p:nvPr/>
          </p:nvSpPr>
          <p:spPr bwMode="auto">
            <a:xfrm>
              <a:off x="4440" y="3318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2" name="Line 196"/>
            <p:cNvSpPr>
              <a:spLocks noChangeShapeType="1"/>
            </p:cNvSpPr>
            <p:nvPr/>
          </p:nvSpPr>
          <p:spPr bwMode="auto">
            <a:xfrm>
              <a:off x="4440" y="3213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3" name="Line 197"/>
            <p:cNvSpPr>
              <a:spLocks noChangeShapeType="1"/>
            </p:cNvSpPr>
            <p:nvPr/>
          </p:nvSpPr>
          <p:spPr bwMode="auto">
            <a:xfrm>
              <a:off x="4440" y="3114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4" name="Line 198"/>
            <p:cNvSpPr>
              <a:spLocks noChangeShapeType="1"/>
            </p:cNvSpPr>
            <p:nvPr/>
          </p:nvSpPr>
          <p:spPr bwMode="auto">
            <a:xfrm>
              <a:off x="4440" y="3009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5" name="Line 199"/>
            <p:cNvSpPr>
              <a:spLocks noChangeShapeType="1"/>
            </p:cNvSpPr>
            <p:nvPr/>
          </p:nvSpPr>
          <p:spPr bwMode="auto">
            <a:xfrm>
              <a:off x="4559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6" name="Line 200"/>
            <p:cNvSpPr>
              <a:spLocks noChangeShapeType="1"/>
            </p:cNvSpPr>
            <p:nvPr/>
          </p:nvSpPr>
          <p:spPr bwMode="auto">
            <a:xfrm>
              <a:off x="4671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7" name="Line 201"/>
            <p:cNvSpPr>
              <a:spLocks noChangeShapeType="1"/>
            </p:cNvSpPr>
            <p:nvPr/>
          </p:nvSpPr>
          <p:spPr bwMode="auto">
            <a:xfrm>
              <a:off x="4789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8" name="Line 202"/>
            <p:cNvSpPr>
              <a:spLocks noChangeShapeType="1"/>
            </p:cNvSpPr>
            <p:nvPr/>
          </p:nvSpPr>
          <p:spPr bwMode="auto">
            <a:xfrm>
              <a:off x="4902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9" name="Line 203"/>
            <p:cNvSpPr>
              <a:spLocks noChangeShapeType="1"/>
            </p:cNvSpPr>
            <p:nvPr/>
          </p:nvSpPr>
          <p:spPr bwMode="auto">
            <a:xfrm>
              <a:off x="5020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0" name="Line 204"/>
            <p:cNvSpPr>
              <a:spLocks noChangeShapeType="1"/>
            </p:cNvSpPr>
            <p:nvPr/>
          </p:nvSpPr>
          <p:spPr bwMode="auto">
            <a:xfrm>
              <a:off x="5132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1" name="Line 205"/>
            <p:cNvSpPr>
              <a:spLocks noChangeShapeType="1"/>
            </p:cNvSpPr>
            <p:nvPr/>
          </p:nvSpPr>
          <p:spPr bwMode="auto">
            <a:xfrm>
              <a:off x="5251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2" name="Line 206"/>
            <p:cNvSpPr>
              <a:spLocks noChangeShapeType="1"/>
            </p:cNvSpPr>
            <p:nvPr/>
          </p:nvSpPr>
          <p:spPr bwMode="auto">
            <a:xfrm>
              <a:off x="5363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3" name="Line 207"/>
            <p:cNvSpPr>
              <a:spLocks noChangeShapeType="1"/>
            </p:cNvSpPr>
            <p:nvPr/>
          </p:nvSpPr>
          <p:spPr bwMode="auto">
            <a:xfrm>
              <a:off x="5481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4" name="Line 208"/>
            <p:cNvSpPr>
              <a:spLocks noChangeShapeType="1"/>
            </p:cNvSpPr>
            <p:nvPr/>
          </p:nvSpPr>
          <p:spPr bwMode="auto">
            <a:xfrm>
              <a:off x="5594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5" name="Rectangle 209"/>
            <p:cNvSpPr>
              <a:spLocks noChangeArrowheads="1"/>
            </p:cNvSpPr>
            <p:nvPr/>
          </p:nvSpPr>
          <p:spPr bwMode="auto">
            <a:xfrm>
              <a:off x="4440" y="3009"/>
              <a:ext cx="1154" cy="10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6" name="Line 210"/>
            <p:cNvSpPr>
              <a:spLocks noChangeShapeType="1"/>
            </p:cNvSpPr>
            <p:nvPr/>
          </p:nvSpPr>
          <p:spPr bwMode="auto">
            <a:xfrm>
              <a:off x="4440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7" name="Line 211"/>
            <p:cNvSpPr>
              <a:spLocks noChangeShapeType="1"/>
            </p:cNvSpPr>
            <p:nvPr/>
          </p:nvSpPr>
          <p:spPr bwMode="auto">
            <a:xfrm>
              <a:off x="4428" y="4027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8" name="Line 212"/>
            <p:cNvSpPr>
              <a:spLocks noChangeShapeType="1"/>
            </p:cNvSpPr>
            <p:nvPr/>
          </p:nvSpPr>
          <p:spPr bwMode="auto">
            <a:xfrm>
              <a:off x="4428" y="392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9" name="Line 213"/>
            <p:cNvSpPr>
              <a:spLocks noChangeShapeType="1"/>
            </p:cNvSpPr>
            <p:nvPr/>
          </p:nvSpPr>
          <p:spPr bwMode="auto">
            <a:xfrm>
              <a:off x="4428" y="382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0" name="Line 214"/>
            <p:cNvSpPr>
              <a:spLocks noChangeShapeType="1"/>
            </p:cNvSpPr>
            <p:nvPr/>
          </p:nvSpPr>
          <p:spPr bwMode="auto">
            <a:xfrm>
              <a:off x="4428" y="372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1" name="Line 215"/>
            <p:cNvSpPr>
              <a:spLocks noChangeShapeType="1"/>
            </p:cNvSpPr>
            <p:nvPr/>
          </p:nvSpPr>
          <p:spPr bwMode="auto">
            <a:xfrm>
              <a:off x="4428" y="362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2" name="Line 216"/>
            <p:cNvSpPr>
              <a:spLocks noChangeShapeType="1"/>
            </p:cNvSpPr>
            <p:nvPr/>
          </p:nvSpPr>
          <p:spPr bwMode="auto">
            <a:xfrm>
              <a:off x="4428" y="3521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3" name="Line 217"/>
            <p:cNvSpPr>
              <a:spLocks noChangeShapeType="1"/>
            </p:cNvSpPr>
            <p:nvPr/>
          </p:nvSpPr>
          <p:spPr bwMode="auto">
            <a:xfrm>
              <a:off x="4428" y="341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4" name="Line 218"/>
            <p:cNvSpPr>
              <a:spLocks noChangeShapeType="1"/>
            </p:cNvSpPr>
            <p:nvPr/>
          </p:nvSpPr>
          <p:spPr bwMode="auto">
            <a:xfrm>
              <a:off x="4428" y="331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5" name="Line 219"/>
            <p:cNvSpPr>
              <a:spLocks noChangeShapeType="1"/>
            </p:cNvSpPr>
            <p:nvPr/>
          </p:nvSpPr>
          <p:spPr bwMode="auto">
            <a:xfrm>
              <a:off x="4428" y="321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6" name="Line 220"/>
            <p:cNvSpPr>
              <a:spLocks noChangeShapeType="1"/>
            </p:cNvSpPr>
            <p:nvPr/>
          </p:nvSpPr>
          <p:spPr bwMode="auto">
            <a:xfrm>
              <a:off x="4428" y="311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7" name="Line 221"/>
            <p:cNvSpPr>
              <a:spLocks noChangeShapeType="1"/>
            </p:cNvSpPr>
            <p:nvPr/>
          </p:nvSpPr>
          <p:spPr bwMode="auto">
            <a:xfrm>
              <a:off x="4428" y="3009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8" name="Line 222"/>
            <p:cNvSpPr>
              <a:spLocks noChangeShapeType="1"/>
            </p:cNvSpPr>
            <p:nvPr/>
          </p:nvSpPr>
          <p:spPr bwMode="auto">
            <a:xfrm>
              <a:off x="4440" y="4027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9" name="Line 223"/>
            <p:cNvSpPr>
              <a:spLocks noChangeShapeType="1"/>
            </p:cNvSpPr>
            <p:nvPr/>
          </p:nvSpPr>
          <p:spPr bwMode="auto">
            <a:xfrm flipV="1">
              <a:off x="4440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0" name="Line 224"/>
            <p:cNvSpPr>
              <a:spLocks noChangeShapeType="1"/>
            </p:cNvSpPr>
            <p:nvPr/>
          </p:nvSpPr>
          <p:spPr bwMode="auto">
            <a:xfrm flipV="1">
              <a:off x="4559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1" name="Line 225"/>
            <p:cNvSpPr>
              <a:spLocks noChangeShapeType="1"/>
            </p:cNvSpPr>
            <p:nvPr/>
          </p:nvSpPr>
          <p:spPr bwMode="auto">
            <a:xfrm flipV="1">
              <a:off x="4671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2" name="Line 226"/>
            <p:cNvSpPr>
              <a:spLocks noChangeShapeType="1"/>
            </p:cNvSpPr>
            <p:nvPr/>
          </p:nvSpPr>
          <p:spPr bwMode="auto">
            <a:xfrm flipV="1">
              <a:off x="4789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3" name="Line 227"/>
            <p:cNvSpPr>
              <a:spLocks noChangeShapeType="1"/>
            </p:cNvSpPr>
            <p:nvPr/>
          </p:nvSpPr>
          <p:spPr bwMode="auto">
            <a:xfrm flipV="1">
              <a:off x="4902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4" name="Line 228"/>
            <p:cNvSpPr>
              <a:spLocks noChangeShapeType="1"/>
            </p:cNvSpPr>
            <p:nvPr/>
          </p:nvSpPr>
          <p:spPr bwMode="auto">
            <a:xfrm flipV="1">
              <a:off x="5020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5" name="Line 229"/>
            <p:cNvSpPr>
              <a:spLocks noChangeShapeType="1"/>
            </p:cNvSpPr>
            <p:nvPr/>
          </p:nvSpPr>
          <p:spPr bwMode="auto">
            <a:xfrm flipV="1">
              <a:off x="5132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6" name="Line 230"/>
            <p:cNvSpPr>
              <a:spLocks noChangeShapeType="1"/>
            </p:cNvSpPr>
            <p:nvPr/>
          </p:nvSpPr>
          <p:spPr bwMode="auto">
            <a:xfrm flipV="1">
              <a:off x="5251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7" name="Line 231"/>
            <p:cNvSpPr>
              <a:spLocks noChangeShapeType="1"/>
            </p:cNvSpPr>
            <p:nvPr/>
          </p:nvSpPr>
          <p:spPr bwMode="auto">
            <a:xfrm flipV="1">
              <a:off x="5363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8" name="Line 232"/>
            <p:cNvSpPr>
              <a:spLocks noChangeShapeType="1"/>
            </p:cNvSpPr>
            <p:nvPr/>
          </p:nvSpPr>
          <p:spPr bwMode="auto">
            <a:xfrm flipV="1">
              <a:off x="5481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9" name="Line 233"/>
            <p:cNvSpPr>
              <a:spLocks noChangeShapeType="1"/>
            </p:cNvSpPr>
            <p:nvPr/>
          </p:nvSpPr>
          <p:spPr bwMode="auto">
            <a:xfrm flipV="1">
              <a:off x="5594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0" name="Freeform 234"/>
            <p:cNvSpPr>
              <a:spLocks/>
            </p:cNvSpPr>
            <p:nvPr/>
          </p:nvSpPr>
          <p:spPr bwMode="auto">
            <a:xfrm>
              <a:off x="4746" y="3577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71" name="Freeform 235"/>
            <p:cNvSpPr>
              <a:spLocks/>
            </p:cNvSpPr>
            <p:nvPr/>
          </p:nvSpPr>
          <p:spPr bwMode="auto">
            <a:xfrm>
              <a:off x="4627" y="3373"/>
              <a:ext cx="88" cy="87"/>
            </a:xfrm>
            <a:custGeom>
              <a:avLst/>
              <a:gdLst>
                <a:gd name="T0" fmla="*/ 44 w 88"/>
                <a:gd name="T1" fmla="*/ 0 h 87"/>
                <a:gd name="T2" fmla="*/ 88 w 88"/>
                <a:gd name="T3" fmla="*/ 43 h 87"/>
                <a:gd name="T4" fmla="*/ 44 w 88"/>
                <a:gd name="T5" fmla="*/ 87 h 87"/>
                <a:gd name="T6" fmla="*/ 0 w 88"/>
                <a:gd name="T7" fmla="*/ 43 h 87"/>
                <a:gd name="T8" fmla="*/ 44 w 88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7">
                  <a:moveTo>
                    <a:pt x="44" y="0"/>
                  </a:moveTo>
                  <a:lnTo>
                    <a:pt x="88" y="43"/>
                  </a:lnTo>
                  <a:lnTo>
                    <a:pt x="44" y="87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72" name="Freeform 236"/>
            <p:cNvSpPr>
              <a:spLocks/>
            </p:cNvSpPr>
            <p:nvPr/>
          </p:nvSpPr>
          <p:spPr bwMode="auto">
            <a:xfrm>
              <a:off x="5207" y="3681"/>
              <a:ext cx="87" cy="87"/>
            </a:xfrm>
            <a:custGeom>
              <a:avLst/>
              <a:gdLst>
                <a:gd name="T0" fmla="*/ 44 w 87"/>
                <a:gd name="T1" fmla="*/ 0 h 87"/>
                <a:gd name="T2" fmla="*/ 87 w 87"/>
                <a:gd name="T3" fmla="*/ 44 h 87"/>
                <a:gd name="T4" fmla="*/ 44 w 87"/>
                <a:gd name="T5" fmla="*/ 87 h 87"/>
                <a:gd name="T6" fmla="*/ 0 w 87"/>
                <a:gd name="T7" fmla="*/ 44 h 87"/>
                <a:gd name="T8" fmla="*/ 44 w 87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7">
                  <a:moveTo>
                    <a:pt x="44" y="0"/>
                  </a:moveTo>
                  <a:lnTo>
                    <a:pt x="87" y="44"/>
                  </a:lnTo>
                  <a:lnTo>
                    <a:pt x="44" y="87"/>
                  </a:lnTo>
                  <a:lnTo>
                    <a:pt x="0" y="44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73" name="Freeform 237"/>
            <p:cNvSpPr>
              <a:spLocks/>
            </p:cNvSpPr>
            <p:nvPr/>
          </p:nvSpPr>
          <p:spPr bwMode="auto">
            <a:xfrm>
              <a:off x="4858" y="3275"/>
              <a:ext cx="87" cy="86"/>
            </a:xfrm>
            <a:custGeom>
              <a:avLst/>
              <a:gdLst>
                <a:gd name="T0" fmla="*/ 44 w 87"/>
                <a:gd name="T1" fmla="*/ 0 h 86"/>
                <a:gd name="T2" fmla="*/ 87 w 87"/>
                <a:gd name="T3" fmla="*/ 43 h 86"/>
                <a:gd name="T4" fmla="*/ 44 w 87"/>
                <a:gd name="T5" fmla="*/ 86 h 86"/>
                <a:gd name="T6" fmla="*/ 0 w 87"/>
                <a:gd name="T7" fmla="*/ 43 h 86"/>
                <a:gd name="T8" fmla="*/ 44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4" y="0"/>
                  </a:moveTo>
                  <a:lnTo>
                    <a:pt x="87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74" name="Freeform 238"/>
            <p:cNvSpPr>
              <a:spLocks/>
            </p:cNvSpPr>
            <p:nvPr/>
          </p:nvSpPr>
          <p:spPr bwMode="auto">
            <a:xfrm>
              <a:off x="4746" y="3170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75" name="Freeform 239"/>
            <p:cNvSpPr>
              <a:spLocks/>
            </p:cNvSpPr>
            <p:nvPr/>
          </p:nvSpPr>
          <p:spPr bwMode="auto">
            <a:xfrm>
              <a:off x="5319" y="3478"/>
              <a:ext cx="88" cy="86"/>
            </a:xfrm>
            <a:custGeom>
              <a:avLst/>
              <a:gdLst>
                <a:gd name="T0" fmla="*/ 44 w 88"/>
                <a:gd name="T1" fmla="*/ 0 h 86"/>
                <a:gd name="T2" fmla="*/ 88 w 88"/>
                <a:gd name="T3" fmla="*/ 43 h 86"/>
                <a:gd name="T4" fmla="*/ 44 w 88"/>
                <a:gd name="T5" fmla="*/ 86 h 86"/>
                <a:gd name="T6" fmla="*/ 0 w 88"/>
                <a:gd name="T7" fmla="*/ 43 h 86"/>
                <a:gd name="T8" fmla="*/ 44 w 88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4" y="0"/>
                  </a:moveTo>
                  <a:lnTo>
                    <a:pt x="88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76" name="Freeform 240"/>
            <p:cNvSpPr>
              <a:spLocks/>
            </p:cNvSpPr>
            <p:nvPr/>
          </p:nvSpPr>
          <p:spPr bwMode="auto">
            <a:xfrm>
              <a:off x="5089" y="3780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hlink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77" name="Freeform 241"/>
            <p:cNvSpPr>
              <a:spLocks/>
            </p:cNvSpPr>
            <p:nvPr/>
          </p:nvSpPr>
          <p:spPr bwMode="auto">
            <a:xfrm>
              <a:off x="5207" y="3577"/>
              <a:ext cx="87" cy="86"/>
            </a:xfrm>
            <a:custGeom>
              <a:avLst/>
              <a:gdLst>
                <a:gd name="T0" fmla="*/ 44 w 87"/>
                <a:gd name="T1" fmla="*/ 0 h 86"/>
                <a:gd name="T2" fmla="*/ 87 w 87"/>
                <a:gd name="T3" fmla="*/ 43 h 86"/>
                <a:gd name="T4" fmla="*/ 44 w 87"/>
                <a:gd name="T5" fmla="*/ 86 h 86"/>
                <a:gd name="T6" fmla="*/ 0 w 87"/>
                <a:gd name="T7" fmla="*/ 43 h 86"/>
                <a:gd name="T8" fmla="*/ 44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4" y="0"/>
                  </a:moveTo>
                  <a:lnTo>
                    <a:pt x="87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78" name="Freeform 242"/>
            <p:cNvSpPr>
              <a:spLocks/>
            </p:cNvSpPr>
            <p:nvPr/>
          </p:nvSpPr>
          <p:spPr bwMode="auto">
            <a:xfrm>
              <a:off x="5207" y="3373"/>
              <a:ext cx="87" cy="87"/>
            </a:xfrm>
            <a:custGeom>
              <a:avLst/>
              <a:gdLst>
                <a:gd name="T0" fmla="*/ 44 w 87"/>
                <a:gd name="T1" fmla="*/ 0 h 87"/>
                <a:gd name="T2" fmla="*/ 87 w 87"/>
                <a:gd name="T3" fmla="*/ 43 h 87"/>
                <a:gd name="T4" fmla="*/ 44 w 87"/>
                <a:gd name="T5" fmla="*/ 87 h 87"/>
                <a:gd name="T6" fmla="*/ 0 w 87"/>
                <a:gd name="T7" fmla="*/ 43 h 87"/>
                <a:gd name="T8" fmla="*/ 44 w 87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7">
                  <a:moveTo>
                    <a:pt x="44" y="0"/>
                  </a:moveTo>
                  <a:lnTo>
                    <a:pt x="87" y="43"/>
                  </a:lnTo>
                  <a:lnTo>
                    <a:pt x="44" y="87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79" name="Rectangle 243"/>
            <p:cNvSpPr>
              <a:spLocks noChangeArrowheads="1"/>
            </p:cNvSpPr>
            <p:nvPr/>
          </p:nvSpPr>
          <p:spPr bwMode="auto">
            <a:xfrm>
              <a:off x="4390" y="4008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0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80" name="Rectangle 244"/>
            <p:cNvSpPr>
              <a:spLocks noChangeArrowheads="1"/>
            </p:cNvSpPr>
            <p:nvPr/>
          </p:nvSpPr>
          <p:spPr bwMode="auto">
            <a:xfrm>
              <a:off x="4390" y="391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1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81" name="Rectangle 245"/>
            <p:cNvSpPr>
              <a:spLocks noChangeArrowheads="1"/>
            </p:cNvSpPr>
            <p:nvPr/>
          </p:nvSpPr>
          <p:spPr bwMode="auto">
            <a:xfrm>
              <a:off x="4390" y="3805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2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82" name="Rectangle 246"/>
            <p:cNvSpPr>
              <a:spLocks noChangeArrowheads="1"/>
            </p:cNvSpPr>
            <p:nvPr/>
          </p:nvSpPr>
          <p:spPr bwMode="auto">
            <a:xfrm>
              <a:off x="4390" y="3706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3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83" name="Rectangle 247"/>
            <p:cNvSpPr>
              <a:spLocks noChangeArrowheads="1"/>
            </p:cNvSpPr>
            <p:nvPr/>
          </p:nvSpPr>
          <p:spPr bwMode="auto">
            <a:xfrm>
              <a:off x="4390" y="3601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4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84" name="Rectangle 248"/>
            <p:cNvSpPr>
              <a:spLocks noChangeArrowheads="1"/>
            </p:cNvSpPr>
            <p:nvPr/>
          </p:nvSpPr>
          <p:spPr bwMode="auto">
            <a:xfrm>
              <a:off x="4390" y="3503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5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85" name="Rectangle 249"/>
            <p:cNvSpPr>
              <a:spLocks noChangeArrowheads="1"/>
            </p:cNvSpPr>
            <p:nvPr/>
          </p:nvSpPr>
          <p:spPr bwMode="auto">
            <a:xfrm>
              <a:off x="4390" y="3398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6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86" name="Rectangle 250"/>
            <p:cNvSpPr>
              <a:spLocks noChangeArrowheads="1"/>
            </p:cNvSpPr>
            <p:nvPr/>
          </p:nvSpPr>
          <p:spPr bwMode="auto">
            <a:xfrm>
              <a:off x="4390" y="3299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7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87" name="Rectangle 251"/>
            <p:cNvSpPr>
              <a:spLocks noChangeArrowheads="1"/>
            </p:cNvSpPr>
            <p:nvPr/>
          </p:nvSpPr>
          <p:spPr bwMode="auto">
            <a:xfrm>
              <a:off x="4390" y="3194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8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88" name="Rectangle 252"/>
            <p:cNvSpPr>
              <a:spLocks noChangeArrowheads="1"/>
            </p:cNvSpPr>
            <p:nvPr/>
          </p:nvSpPr>
          <p:spPr bwMode="auto">
            <a:xfrm>
              <a:off x="4390" y="3096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9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89" name="Rectangle 253"/>
            <p:cNvSpPr>
              <a:spLocks noChangeArrowheads="1"/>
            </p:cNvSpPr>
            <p:nvPr/>
          </p:nvSpPr>
          <p:spPr bwMode="auto">
            <a:xfrm>
              <a:off x="4372" y="2991"/>
              <a:ext cx="19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10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90" name="Rectangle 254"/>
            <p:cNvSpPr>
              <a:spLocks noChangeArrowheads="1"/>
            </p:cNvSpPr>
            <p:nvPr/>
          </p:nvSpPr>
          <p:spPr bwMode="auto">
            <a:xfrm>
              <a:off x="4434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0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91" name="Rectangle 255"/>
            <p:cNvSpPr>
              <a:spLocks noChangeArrowheads="1"/>
            </p:cNvSpPr>
            <p:nvPr/>
          </p:nvSpPr>
          <p:spPr bwMode="auto">
            <a:xfrm>
              <a:off x="4553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1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92" name="Rectangle 256"/>
            <p:cNvSpPr>
              <a:spLocks noChangeArrowheads="1"/>
            </p:cNvSpPr>
            <p:nvPr/>
          </p:nvSpPr>
          <p:spPr bwMode="auto">
            <a:xfrm>
              <a:off x="4665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2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93" name="Rectangle 257"/>
            <p:cNvSpPr>
              <a:spLocks noChangeArrowheads="1"/>
            </p:cNvSpPr>
            <p:nvPr/>
          </p:nvSpPr>
          <p:spPr bwMode="auto">
            <a:xfrm>
              <a:off x="4783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3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94" name="Rectangle 258"/>
            <p:cNvSpPr>
              <a:spLocks noChangeArrowheads="1"/>
            </p:cNvSpPr>
            <p:nvPr/>
          </p:nvSpPr>
          <p:spPr bwMode="auto">
            <a:xfrm>
              <a:off x="4895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4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95" name="Rectangle 259"/>
            <p:cNvSpPr>
              <a:spLocks noChangeArrowheads="1"/>
            </p:cNvSpPr>
            <p:nvPr/>
          </p:nvSpPr>
          <p:spPr bwMode="auto">
            <a:xfrm>
              <a:off x="5014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5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96" name="Rectangle 260"/>
            <p:cNvSpPr>
              <a:spLocks noChangeArrowheads="1"/>
            </p:cNvSpPr>
            <p:nvPr/>
          </p:nvSpPr>
          <p:spPr bwMode="auto">
            <a:xfrm>
              <a:off x="5126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6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97" name="Rectangle 261"/>
            <p:cNvSpPr>
              <a:spLocks noChangeArrowheads="1"/>
            </p:cNvSpPr>
            <p:nvPr/>
          </p:nvSpPr>
          <p:spPr bwMode="auto">
            <a:xfrm>
              <a:off x="5244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7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98" name="Rectangle 262"/>
            <p:cNvSpPr>
              <a:spLocks noChangeArrowheads="1"/>
            </p:cNvSpPr>
            <p:nvPr/>
          </p:nvSpPr>
          <p:spPr bwMode="auto">
            <a:xfrm>
              <a:off x="5357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8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199" name="Rectangle 263"/>
            <p:cNvSpPr>
              <a:spLocks noChangeArrowheads="1"/>
            </p:cNvSpPr>
            <p:nvPr/>
          </p:nvSpPr>
          <p:spPr bwMode="auto">
            <a:xfrm>
              <a:off x="5475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9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200" name="Rectangle 264"/>
            <p:cNvSpPr>
              <a:spLocks noChangeArrowheads="1"/>
            </p:cNvSpPr>
            <p:nvPr/>
          </p:nvSpPr>
          <p:spPr bwMode="auto">
            <a:xfrm>
              <a:off x="5575" y="4070"/>
              <a:ext cx="19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charset="-127"/>
                </a:rPr>
                <a:t>10</a:t>
              </a:r>
              <a:endParaRPr lang="ko-KR" altLang="en-US" sz="2400">
                <a:latin typeface="Tahoma" panose="020B0604030504040204" pitchFamily="34" charset="0"/>
                <a:ea typeface="굴림" charset="-127"/>
              </a:endParaRPr>
            </a:p>
          </p:txBody>
        </p:sp>
        <p:sp>
          <p:nvSpPr>
            <p:cNvPr id="40201" name="Rectangle 265"/>
            <p:cNvSpPr>
              <a:spLocks noChangeArrowheads="1"/>
            </p:cNvSpPr>
            <p:nvPr/>
          </p:nvSpPr>
          <p:spPr bwMode="auto">
            <a:xfrm>
              <a:off x="4297" y="2905"/>
              <a:ext cx="1371" cy="1282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2" name="Line 266"/>
            <p:cNvSpPr>
              <a:spLocks noChangeShapeType="1"/>
            </p:cNvSpPr>
            <p:nvPr/>
          </p:nvSpPr>
          <p:spPr bwMode="auto">
            <a:xfrm>
              <a:off x="5245" y="3456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203" name="Freeform 267"/>
            <p:cNvSpPr>
              <a:spLocks/>
            </p:cNvSpPr>
            <p:nvPr/>
          </p:nvSpPr>
          <p:spPr bwMode="auto">
            <a:xfrm>
              <a:off x="5088" y="3600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2722582"/>
      </p:ext>
    </p:extLst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FF20D-DCF1-4503-BB3A-4B998F66E3C5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36499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PAM (Partitioning Around </a:t>
            </a:r>
            <a:r>
              <a:rPr lang="en-US" altLang="zh-CN" sz="3600" dirty="0" err="1">
                <a:solidFill>
                  <a:srgbClr val="FF0000"/>
                </a:solidFill>
                <a:ea typeface="宋体" panose="02010600030101010101" pitchFamily="2" charset="-122"/>
              </a:rPr>
              <a:t>Medoids</a:t>
            </a:r>
            <a:r>
              <a:rPr lang="en-US" altLang="zh-CN" sz="3600" dirty="0" smtClean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US" altLang="zh-CN" sz="36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3649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52425" y="1219200"/>
            <a:ext cx="8442325" cy="53340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PAM (Kaufman and </a:t>
            </a:r>
            <a:r>
              <a:rPr lang="en-US" altLang="zh-CN" dirty="0" err="1">
                <a:ea typeface="宋体" panose="02010600030101010101" pitchFamily="2" charset="-122"/>
              </a:rPr>
              <a:t>Rousseeuw</a:t>
            </a:r>
            <a:r>
              <a:rPr lang="en-US" altLang="zh-CN" dirty="0">
                <a:ea typeface="宋体" panose="02010600030101010101" pitchFamily="2" charset="-122"/>
              </a:rPr>
              <a:t>, 1987)</a:t>
            </a:r>
          </a:p>
          <a:p>
            <a:r>
              <a:rPr lang="en-US" altLang="en-US" dirty="0"/>
              <a:t>Arbitrarily choose k objects as the initial </a:t>
            </a:r>
            <a:r>
              <a:rPr lang="en-US" altLang="en-US" dirty="0" err="1"/>
              <a:t>medoids</a:t>
            </a:r>
            <a:endParaRPr lang="en-US" altLang="en-US" dirty="0"/>
          </a:p>
          <a:p>
            <a:r>
              <a:rPr lang="en-US" altLang="en-US" dirty="0"/>
              <a:t>Until no change, do</a:t>
            </a:r>
          </a:p>
          <a:p>
            <a:pPr lvl="1"/>
            <a:r>
              <a:rPr lang="en-US" altLang="en-US" dirty="0"/>
              <a:t>(Re)assign each object to the cluster with the nearest </a:t>
            </a:r>
            <a:r>
              <a:rPr lang="en-US" altLang="en-US" dirty="0" err="1"/>
              <a:t>medoid</a:t>
            </a:r>
            <a:endParaRPr lang="en-US" altLang="en-US" dirty="0"/>
          </a:p>
          <a:p>
            <a:pPr lvl="1"/>
            <a:r>
              <a:rPr lang="en-US" altLang="en-US" dirty="0"/>
              <a:t>Improve the quality of the k-</a:t>
            </a:r>
            <a:r>
              <a:rPr lang="en-US" altLang="en-US" dirty="0" err="1"/>
              <a:t>medoids</a:t>
            </a:r>
            <a:endParaRPr lang="en-US" altLang="en-US" dirty="0"/>
          </a:p>
          <a:p>
            <a:pPr lvl="1">
              <a:buFont typeface="Monotype Sorts" pitchFamily="2" charset="2"/>
              <a:buNone/>
            </a:pPr>
            <a:r>
              <a:rPr lang="en-US" altLang="en-US" dirty="0"/>
              <a:t>    (Randomly select a </a:t>
            </a:r>
            <a:r>
              <a:rPr lang="en-US" altLang="en-US" dirty="0" err="1"/>
              <a:t>nonmedoid</a:t>
            </a:r>
            <a:r>
              <a:rPr lang="en-US" altLang="en-US" dirty="0"/>
              <a:t> object, </a:t>
            </a:r>
            <a:r>
              <a:rPr lang="en-US" altLang="en-US" dirty="0" err="1"/>
              <a:t>O</a:t>
            </a:r>
            <a:r>
              <a:rPr lang="en-US" altLang="en-US" baseline="-25000" dirty="0" err="1"/>
              <a:t>random</a:t>
            </a:r>
            <a:r>
              <a:rPr lang="en-US" altLang="en-US" dirty="0"/>
              <a:t>,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dirty="0"/>
              <a:t>    compute the total cost of swapping a </a:t>
            </a:r>
            <a:r>
              <a:rPr lang="en-US" altLang="en-US" dirty="0" err="1"/>
              <a:t>medoid</a:t>
            </a:r>
            <a:r>
              <a:rPr lang="en-US" altLang="en-US" dirty="0"/>
              <a:t> with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dirty="0"/>
              <a:t>    </a:t>
            </a:r>
            <a:r>
              <a:rPr lang="en-US" altLang="en-US" dirty="0" err="1"/>
              <a:t>O</a:t>
            </a:r>
            <a:r>
              <a:rPr lang="en-US" altLang="en-US" baseline="-25000" dirty="0" err="1"/>
              <a:t>random</a:t>
            </a:r>
            <a:r>
              <a:rPr lang="en-US" altLang="en-US" baseline="-25000" dirty="0"/>
              <a:t>)</a:t>
            </a:r>
            <a:endParaRPr lang="en-US" altLang="en-US" dirty="0"/>
          </a:p>
          <a:p>
            <a:r>
              <a:rPr lang="en-US" altLang="zh-CN" dirty="0">
                <a:ea typeface="宋体" panose="02010600030101010101" pitchFamily="2" charset="-122"/>
              </a:rPr>
              <a:t>Work for small data sets (100 objects in 5 clusters)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Not efficient for medium and large data sets</a:t>
            </a:r>
          </a:p>
        </p:txBody>
      </p:sp>
    </p:spTree>
    <p:extLst>
      <p:ext uri="{BB962C8B-B14F-4D97-AF65-F5344CB8AC3E}">
        <p14:creationId xmlns:p14="http://schemas.microsoft.com/office/powerpoint/2010/main" val="527976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7543800" cy="762000"/>
          </a:xfrm>
        </p:spPr>
        <p:txBody>
          <a:bodyPr/>
          <a:lstStyle/>
          <a:p>
            <a:r>
              <a:rPr lang="en-US" altLang="ko-KR" sz="3600">
                <a:ea typeface="굴림" charset="-127"/>
              </a:rPr>
              <a:t>What is the problem with PAM?</a:t>
            </a:r>
            <a:endParaRPr lang="en-US" altLang="en-US" sz="3600">
              <a:ea typeface="굴림" charset="-127"/>
            </a:endParaRPr>
          </a:p>
        </p:txBody>
      </p:sp>
      <p:sp>
        <p:nvSpPr>
          <p:cNvPr id="430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09600" y="838200"/>
            <a:ext cx="8154988" cy="4187825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ko-KR" sz="2400">
                <a:ea typeface="굴림" charset="-127"/>
              </a:rPr>
              <a:t>Pam is more robust than k-means in the presence of noise and outliers because a medoid is less influenced by outliers or other extreme values than a mean</a:t>
            </a:r>
          </a:p>
          <a:p>
            <a:pPr>
              <a:lnSpc>
                <a:spcPct val="120000"/>
              </a:lnSpc>
            </a:pPr>
            <a:r>
              <a:rPr lang="en-US" altLang="ko-KR" sz="2400">
                <a:ea typeface="굴림" charset="-127"/>
              </a:rPr>
              <a:t>Pam works efficiently for small data sets but does not </a:t>
            </a:r>
            <a:r>
              <a:rPr lang="en-US" altLang="ko-KR" sz="2400" b="1">
                <a:ea typeface="굴림" charset="-127"/>
              </a:rPr>
              <a:t>scale well</a:t>
            </a:r>
            <a:r>
              <a:rPr lang="en-US" altLang="ko-KR" sz="2400">
                <a:ea typeface="굴림" charset="-127"/>
              </a:rPr>
              <a:t> for large data sets.</a:t>
            </a:r>
          </a:p>
          <a:p>
            <a:pPr lvl="1">
              <a:lnSpc>
                <a:spcPct val="120000"/>
              </a:lnSpc>
            </a:pPr>
            <a:r>
              <a:rPr lang="en-US" altLang="ko-KR" sz="2000">
                <a:ea typeface="굴림" charset="-127"/>
              </a:rPr>
              <a:t>O(k(n-k)</a:t>
            </a:r>
            <a:r>
              <a:rPr lang="en-US" altLang="ko-KR" sz="2000" baseline="30000">
                <a:ea typeface="굴림" charset="-127"/>
              </a:rPr>
              <a:t>2</a:t>
            </a:r>
            <a:r>
              <a:rPr lang="en-US" altLang="ko-KR" sz="2000">
                <a:ea typeface="굴림" charset="-127"/>
              </a:rPr>
              <a:t> ) for each iteration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ko-KR" sz="2400">
                <a:ea typeface="굴림" charset="-127"/>
              </a:rPr>
              <a:t>			where n is # of data,k is # of clusters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en-US" altLang="ko-KR" sz="2400">
                <a:ea typeface="굴림" charset="-127"/>
                <a:sym typeface="Wingdings" panose="05000000000000000000" pitchFamily="2" charset="2"/>
              </a:rPr>
              <a:t>Sampling based method,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ko-KR" sz="2400">
                <a:ea typeface="굴림" charset="-127"/>
                <a:sym typeface="Wingdings" panose="05000000000000000000" pitchFamily="2" charset="2"/>
              </a:rPr>
              <a:t>	CLARA(Clustering LARge Applications</a:t>
            </a:r>
            <a:r>
              <a:rPr lang="en-US" altLang="ko-KR" sz="2800">
                <a:ea typeface="굴림" charset="-127"/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34151859"/>
      </p:ext>
    </p:extLst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3276600"/>
            <a:ext cx="8129870" cy="33670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55"/>
            <a:ext cx="6654376" cy="21357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104640"/>
            <a:ext cx="6426226" cy="87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02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bject 83"/>
          <p:cNvSpPr/>
          <p:nvPr/>
        </p:nvSpPr>
        <p:spPr>
          <a:xfrm>
            <a:off x="1846955" y="5416811"/>
            <a:ext cx="79673" cy="126066"/>
          </a:xfrm>
          <a:custGeom>
            <a:avLst/>
            <a:gdLst/>
            <a:ahLst/>
            <a:cxnLst/>
            <a:rect l="l" t="t" r="r" b="b"/>
            <a:pathLst>
              <a:path w="120395" h="190500">
                <a:moveTo>
                  <a:pt x="120395" y="95250"/>
                </a:moveTo>
                <a:lnTo>
                  <a:pt x="0" y="0"/>
                </a:lnTo>
                <a:lnTo>
                  <a:pt x="0" y="190500"/>
                </a:lnTo>
                <a:lnTo>
                  <a:pt x="120395" y="95250"/>
                </a:lnTo>
                <a:close/>
              </a:path>
            </a:pathLst>
          </a:custGeom>
          <a:solidFill>
            <a:srgbClr val="9FB7CC"/>
          </a:solidFill>
        </p:spPr>
        <p:txBody>
          <a:bodyPr wrap="square" lIns="0" tIns="0" rIns="0" bIns="0" rtlCol="0">
            <a:noAutofit/>
          </a:bodyPr>
          <a:lstStyle/>
          <a:p>
            <a:endParaRPr sz="926"/>
          </a:p>
        </p:txBody>
      </p:sp>
      <p:grpSp>
        <p:nvGrpSpPr>
          <p:cNvPr id="89" name="Group 88"/>
          <p:cNvGrpSpPr/>
          <p:nvPr/>
        </p:nvGrpSpPr>
        <p:grpSpPr>
          <a:xfrm>
            <a:off x="4147579" y="4209206"/>
            <a:ext cx="2247005" cy="987905"/>
            <a:chOff x="4006104" y="4469275"/>
            <a:chExt cx="2996007" cy="1317206"/>
          </a:xfrm>
        </p:grpSpPr>
        <p:sp>
          <p:nvSpPr>
            <p:cNvPr id="21" name="object 21"/>
            <p:cNvSpPr txBox="1"/>
            <p:nvPr/>
          </p:nvSpPr>
          <p:spPr>
            <a:xfrm>
              <a:off x="4006104" y="4469275"/>
              <a:ext cx="1289284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640064"/>
                  </a:solidFill>
                  <a:latin typeface="Century Gothic"/>
                  <a:cs typeface="Century Gothic"/>
                </a:rPr>
                <a:t>Goal: create</a:t>
              </a:r>
              <a:endParaRPr sz="1191">
                <a:latin typeface="Century Gothic"/>
                <a:cs typeface="Century Gothic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5298815" y="4469275"/>
              <a:ext cx="1188318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640064"/>
                  </a:solidFill>
                  <a:latin typeface="Century Gothic"/>
                  <a:cs typeface="Century Gothic"/>
                </a:rPr>
                <a:t>two clusters</a:t>
              </a:r>
              <a:endParaRPr sz="1191">
                <a:latin typeface="Century Gothic"/>
                <a:cs typeface="Century Gothic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006104" y="4954035"/>
              <a:ext cx="2996007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latin typeface="Century Gothic"/>
                  <a:cs typeface="Century Gothic"/>
                </a:rPr>
                <a:t>Choose ran</a:t>
              </a:r>
              <a:r>
                <a:rPr sz="1191" spc="6" dirty="0">
                  <a:latin typeface="Century Gothic"/>
                  <a:cs typeface="Century Gothic"/>
                </a:rPr>
                <a:t>d</a:t>
              </a:r>
              <a:r>
                <a:rPr sz="1191" dirty="0">
                  <a:latin typeface="Century Gothic"/>
                  <a:cs typeface="Century Gothic"/>
                </a:rPr>
                <a:t>mly </a:t>
              </a:r>
              <a:r>
                <a:rPr sz="1191" spc="6" dirty="0">
                  <a:latin typeface="Century Gothic"/>
                  <a:cs typeface="Century Gothic"/>
                </a:rPr>
                <a:t>t</a:t>
              </a:r>
              <a:r>
                <a:rPr sz="1191" spc="3" dirty="0">
                  <a:latin typeface="Century Gothic"/>
                  <a:cs typeface="Century Gothic"/>
                </a:rPr>
                <a:t>w</a:t>
              </a:r>
              <a:r>
                <a:rPr sz="1191" dirty="0">
                  <a:latin typeface="Century Gothic"/>
                  <a:cs typeface="Century Gothic"/>
                </a:rPr>
                <a:t>o me</a:t>
              </a:r>
              <a:r>
                <a:rPr sz="1191" spc="6" dirty="0">
                  <a:latin typeface="Century Gothic"/>
                  <a:cs typeface="Century Gothic"/>
                </a:rPr>
                <a:t>d</a:t>
              </a:r>
              <a:r>
                <a:rPr sz="1191" dirty="0">
                  <a:latin typeface="Century Gothic"/>
                  <a:cs typeface="Century Gothic"/>
                </a:rPr>
                <a:t>oids</a:t>
              </a: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406744" y="5518628"/>
              <a:ext cx="2522438" cy="267853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549"/>
                </a:lnSpc>
                <a:spcBef>
                  <a:spcPts val="77"/>
                </a:spcBef>
              </a:pPr>
              <a:r>
                <a:rPr sz="1786" baseline="9062" dirty="0">
                  <a:latin typeface="Century Gothic"/>
                  <a:cs typeface="Century Gothic"/>
                </a:rPr>
                <a:t>0</a:t>
              </a:r>
              <a:r>
                <a:rPr sz="1191" baseline="-9062" dirty="0">
                  <a:latin typeface="Century Gothic"/>
                  <a:cs typeface="Century Gothic"/>
                </a:rPr>
                <a:t>8 </a:t>
              </a:r>
              <a:r>
                <a:rPr sz="1786" baseline="9062" dirty="0">
                  <a:latin typeface="Century Gothic"/>
                  <a:cs typeface="Century Gothic"/>
                </a:rPr>
                <a:t>= (7,4)</a:t>
              </a:r>
              <a:r>
                <a:rPr lang="en-IN" sz="1786" baseline="9062" dirty="0">
                  <a:latin typeface="Century Gothic"/>
                  <a:cs typeface="Century Gothic"/>
                </a:rPr>
                <a:t> and</a:t>
              </a:r>
              <a:r>
                <a:rPr lang="en-IN" sz="1200" baseline="9062" dirty="0">
                  <a:latin typeface="Century Gothic"/>
                  <a:cs typeface="Century Gothic"/>
                </a:rPr>
                <a:t> </a:t>
              </a:r>
              <a:r>
                <a:rPr lang="en-IN" baseline="9062" dirty="0">
                  <a:latin typeface="Century Gothic"/>
                  <a:cs typeface="Century Gothic"/>
                </a:rPr>
                <a:t>0</a:t>
              </a:r>
              <a:r>
                <a:rPr lang="en-IN" sz="1200" baseline="-9062" dirty="0">
                  <a:latin typeface="Century Gothic"/>
                  <a:cs typeface="Century Gothic"/>
                </a:rPr>
                <a:t>2 </a:t>
              </a:r>
              <a:r>
                <a:rPr lang="en-IN" baseline="9062" dirty="0">
                  <a:latin typeface="Century Gothic"/>
                  <a:cs typeface="Century Gothic"/>
                </a:rPr>
                <a:t>= (3,4)</a:t>
              </a:r>
              <a:endParaRPr lang="en-IN" sz="1200" dirty="0">
                <a:latin typeface="Century Gothic"/>
                <a:cs typeface="Century Gothic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3996291" y="1804922"/>
            <a:ext cx="2865710" cy="2058060"/>
            <a:chOff x="3804386" y="1263562"/>
            <a:chExt cx="3820947" cy="2744080"/>
          </a:xfrm>
        </p:grpSpPr>
        <p:sp>
          <p:nvSpPr>
            <p:cNvPr id="44" name="object 44"/>
            <p:cNvSpPr/>
            <p:nvPr/>
          </p:nvSpPr>
          <p:spPr>
            <a:xfrm>
              <a:off x="5957048" y="2972472"/>
              <a:ext cx="126401" cy="125730"/>
            </a:xfrm>
            <a:custGeom>
              <a:avLst/>
              <a:gdLst/>
              <a:ahLst/>
              <a:cxnLst/>
              <a:rect l="l" t="t" r="r" b="b"/>
              <a:pathLst>
                <a:path w="143255" h="142494">
                  <a:moveTo>
                    <a:pt x="71627" y="0"/>
                  </a:moveTo>
                  <a:lnTo>
                    <a:pt x="57131" y="1461"/>
                  </a:lnTo>
                  <a:lnTo>
                    <a:pt x="43642" y="5652"/>
                  </a:lnTo>
                  <a:lnTo>
                    <a:pt x="31449" y="12285"/>
                  </a:lnTo>
                  <a:lnTo>
                    <a:pt x="20838" y="21071"/>
                  </a:lnTo>
                  <a:lnTo>
                    <a:pt x="12100" y="31722"/>
                  </a:lnTo>
                  <a:lnTo>
                    <a:pt x="5522" y="43950"/>
                  </a:lnTo>
                  <a:lnTo>
                    <a:pt x="1393" y="57466"/>
                  </a:lnTo>
                  <a:lnTo>
                    <a:pt x="0" y="71627"/>
                  </a:lnTo>
                  <a:lnTo>
                    <a:pt x="1476" y="85945"/>
                  </a:lnTo>
                  <a:lnTo>
                    <a:pt x="5710" y="99307"/>
                  </a:lnTo>
                  <a:lnTo>
                    <a:pt x="12409" y="111411"/>
                  </a:lnTo>
                  <a:lnTo>
                    <a:pt x="21280" y="121954"/>
                  </a:lnTo>
                  <a:lnTo>
                    <a:pt x="32029" y="130636"/>
                  </a:lnTo>
                  <a:lnTo>
                    <a:pt x="44364" y="137153"/>
                  </a:lnTo>
                  <a:lnTo>
                    <a:pt x="57992" y="141204"/>
                  </a:lnTo>
                  <a:lnTo>
                    <a:pt x="71627" y="142494"/>
                  </a:lnTo>
                  <a:lnTo>
                    <a:pt x="86198" y="141019"/>
                  </a:lnTo>
                  <a:lnTo>
                    <a:pt x="99750" y="136795"/>
                  </a:lnTo>
                  <a:lnTo>
                    <a:pt x="111989" y="130125"/>
                  </a:lnTo>
                  <a:lnTo>
                    <a:pt x="122623" y="121311"/>
                  </a:lnTo>
                  <a:lnTo>
                    <a:pt x="131359" y="110655"/>
                  </a:lnTo>
                  <a:lnTo>
                    <a:pt x="137904" y="98458"/>
                  </a:lnTo>
                  <a:lnTo>
                    <a:pt x="141965" y="85024"/>
                  </a:lnTo>
                  <a:lnTo>
                    <a:pt x="143255" y="71627"/>
                  </a:lnTo>
                  <a:lnTo>
                    <a:pt x="141794" y="57131"/>
                  </a:lnTo>
                  <a:lnTo>
                    <a:pt x="137603" y="43642"/>
                  </a:lnTo>
                  <a:lnTo>
                    <a:pt x="130970" y="31449"/>
                  </a:lnTo>
                  <a:lnTo>
                    <a:pt x="122184" y="20838"/>
                  </a:lnTo>
                  <a:lnTo>
                    <a:pt x="111533" y="12100"/>
                  </a:lnTo>
                  <a:lnTo>
                    <a:pt x="99305" y="5522"/>
                  </a:lnTo>
                  <a:lnTo>
                    <a:pt x="85789" y="1393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727B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45" name="object 45"/>
            <p:cNvSpPr/>
            <p:nvPr/>
          </p:nvSpPr>
          <p:spPr>
            <a:xfrm>
              <a:off x="4406602" y="2971128"/>
              <a:ext cx="126401" cy="125730"/>
            </a:xfrm>
            <a:custGeom>
              <a:avLst/>
              <a:gdLst/>
              <a:ahLst/>
              <a:cxnLst/>
              <a:rect l="l" t="t" r="r" b="b"/>
              <a:pathLst>
                <a:path w="143255" h="142494">
                  <a:moveTo>
                    <a:pt x="71627" y="0"/>
                  </a:moveTo>
                  <a:lnTo>
                    <a:pt x="57057" y="1474"/>
                  </a:lnTo>
                  <a:lnTo>
                    <a:pt x="43505" y="5698"/>
                  </a:lnTo>
                  <a:lnTo>
                    <a:pt x="31266" y="12368"/>
                  </a:lnTo>
                  <a:lnTo>
                    <a:pt x="20632" y="21182"/>
                  </a:lnTo>
                  <a:lnTo>
                    <a:pt x="11896" y="31838"/>
                  </a:lnTo>
                  <a:lnTo>
                    <a:pt x="5351" y="44035"/>
                  </a:lnTo>
                  <a:lnTo>
                    <a:pt x="1290" y="57469"/>
                  </a:lnTo>
                  <a:lnTo>
                    <a:pt x="0" y="70866"/>
                  </a:lnTo>
                  <a:lnTo>
                    <a:pt x="1461" y="85362"/>
                  </a:lnTo>
                  <a:lnTo>
                    <a:pt x="5652" y="98851"/>
                  </a:lnTo>
                  <a:lnTo>
                    <a:pt x="12285" y="111044"/>
                  </a:lnTo>
                  <a:lnTo>
                    <a:pt x="21071" y="121655"/>
                  </a:lnTo>
                  <a:lnTo>
                    <a:pt x="31722" y="130393"/>
                  </a:lnTo>
                  <a:lnTo>
                    <a:pt x="43950" y="136971"/>
                  </a:lnTo>
                  <a:lnTo>
                    <a:pt x="57466" y="141100"/>
                  </a:lnTo>
                  <a:lnTo>
                    <a:pt x="71627" y="142494"/>
                  </a:lnTo>
                  <a:lnTo>
                    <a:pt x="86124" y="141032"/>
                  </a:lnTo>
                  <a:lnTo>
                    <a:pt x="99613" y="136841"/>
                  </a:lnTo>
                  <a:lnTo>
                    <a:pt x="111806" y="130208"/>
                  </a:lnTo>
                  <a:lnTo>
                    <a:pt x="122417" y="121422"/>
                  </a:lnTo>
                  <a:lnTo>
                    <a:pt x="131155" y="110771"/>
                  </a:lnTo>
                  <a:lnTo>
                    <a:pt x="137733" y="98543"/>
                  </a:lnTo>
                  <a:lnTo>
                    <a:pt x="141862" y="85027"/>
                  </a:lnTo>
                  <a:lnTo>
                    <a:pt x="143255" y="70866"/>
                  </a:lnTo>
                  <a:lnTo>
                    <a:pt x="141779" y="56548"/>
                  </a:lnTo>
                  <a:lnTo>
                    <a:pt x="137545" y="43186"/>
                  </a:lnTo>
                  <a:lnTo>
                    <a:pt x="130846" y="31082"/>
                  </a:lnTo>
                  <a:lnTo>
                    <a:pt x="121975" y="20539"/>
                  </a:lnTo>
                  <a:lnTo>
                    <a:pt x="111226" y="11857"/>
                  </a:lnTo>
                  <a:lnTo>
                    <a:pt x="98891" y="5340"/>
                  </a:lnTo>
                  <a:lnTo>
                    <a:pt x="85263" y="128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727B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46" name="object 46"/>
            <p:cNvSpPr/>
            <p:nvPr/>
          </p:nvSpPr>
          <p:spPr>
            <a:xfrm>
              <a:off x="6466018" y="3301254"/>
              <a:ext cx="125730" cy="126401"/>
            </a:xfrm>
            <a:custGeom>
              <a:avLst/>
              <a:gdLst/>
              <a:ahLst/>
              <a:cxnLst/>
              <a:rect l="l" t="t" r="r" b="b"/>
              <a:pathLst>
                <a:path w="142494" h="143255">
                  <a:moveTo>
                    <a:pt x="70866" y="0"/>
                  </a:moveTo>
                  <a:lnTo>
                    <a:pt x="56548" y="1476"/>
                  </a:lnTo>
                  <a:lnTo>
                    <a:pt x="43186" y="5710"/>
                  </a:lnTo>
                  <a:lnTo>
                    <a:pt x="31082" y="12409"/>
                  </a:lnTo>
                  <a:lnTo>
                    <a:pt x="20539" y="21280"/>
                  </a:lnTo>
                  <a:lnTo>
                    <a:pt x="11857" y="32029"/>
                  </a:lnTo>
                  <a:lnTo>
                    <a:pt x="5340" y="44364"/>
                  </a:lnTo>
                  <a:lnTo>
                    <a:pt x="1289" y="57992"/>
                  </a:lnTo>
                  <a:lnTo>
                    <a:pt x="0" y="71627"/>
                  </a:lnTo>
                  <a:lnTo>
                    <a:pt x="1474" y="86198"/>
                  </a:lnTo>
                  <a:lnTo>
                    <a:pt x="5698" y="99750"/>
                  </a:lnTo>
                  <a:lnTo>
                    <a:pt x="12368" y="111989"/>
                  </a:lnTo>
                  <a:lnTo>
                    <a:pt x="21182" y="122623"/>
                  </a:lnTo>
                  <a:lnTo>
                    <a:pt x="31838" y="131359"/>
                  </a:lnTo>
                  <a:lnTo>
                    <a:pt x="44035" y="137904"/>
                  </a:lnTo>
                  <a:lnTo>
                    <a:pt x="57469" y="141965"/>
                  </a:lnTo>
                  <a:lnTo>
                    <a:pt x="70866" y="143255"/>
                  </a:lnTo>
                  <a:lnTo>
                    <a:pt x="85362" y="141794"/>
                  </a:lnTo>
                  <a:lnTo>
                    <a:pt x="98851" y="137603"/>
                  </a:lnTo>
                  <a:lnTo>
                    <a:pt x="111044" y="130970"/>
                  </a:lnTo>
                  <a:lnTo>
                    <a:pt x="121655" y="122184"/>
                  </a:lnTo>
                  <a:lnTo>
                    <a:pt x="130393" y="111533"/>
                  </a:lnTo>
                  <a:lnTo>
                    <a:pt x="136971" y="99305"/>
                  </a:lnTo>
                  <a:lnTo>
                    <a:pt x="141100" y="85789"/>
                  </a:lnTo>
                  <a:lnTo>
                    <a:pt x="142494" y="71627"/>
                  </a:lnTo>
                  <a:lnTo>
                    <a:pt x="141032" y="57131"/>
                  </a:lnTo>
                  <a:lnTo>
                    <a:pt x="136841" y="43642"/>
                  </a:lnTo>
                  <a:lnTo>
                    <a:pt x="130208" y="31449"/>
                  </a:lnTo>
                  <a:lnTo>
                    <a:pt x="121422" y="20838"/>
                  </a:lnTo>
                  <a:lnTo>
                    <a:pt x="110771" y="12100"/>
                  </a:lnTo>
                  <a:lnTo>
                    <a:pt x="98543" y="5522"/>
                  </a:lnTo>
                  <a:lnTo>
                    <a:pt x="85027" y="1393"/>
                  </a:lnTo>
                  <a:lnTo>
                    <a:pt x="70866" y="0"/>
                  </a:lnTo>
                  <a:close/>
                </a:path>
              </a:pathLst>
            </a:custGeom>
            <a:solidFill>
              <a:srgbClr val="727B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47" name="object 47"/>
            <p:cNvSpPr/>
            <p:nvPr/>
          </p:nvSpPr>
          <p:spPr>
            <a:xfrm>
              <a:off x="5982596" y="3607173"/>
              <a:ext cx="125730" cy="125730"/>
            </a:xfrm>
            <a:custGeom>
              <a:avLst/>
              <a:gdLst/>
              <a:ahLst/>
              <a:cxnLst/>
              <a:rect l="l" t="t" r="r" b="b"/>
              <a:pathLst>
                <a:path w="142494" h="142494">
                  <a:moveTo>
                    <a:pt x="71627" y="0"/>
                  </a:moveTo>
                  <a:lnTo>
                    <a:pt x="57057" y="1474"/>
                  </a:lnTo>
                  <a:lnTo>
                    <a:pt x="43505" y="5698"/>
                  </a:lnTo>
                  <a:lnTo>
                    <a:pt x="31266" y="12368"/>
                  </a:lnTo>
                  <a:lnTo>
                    <a:pt x="20632" y="21182"/>
                  </a:lnTo>
                  <a:lnTo>
                    <a:pt x="11896" y="31838"/>
                  </a:lnTo>
                  <a:lnTo>
                    <a:pt x="5351" y="44035"/>
                  </a:lnTo>
                  <a:lnTo>
                    <a:pt x="1290" y="57469"/>
                  </a:lnTo>
                  <a:lnTo>
                    <a:pt x="0" y="70866"/>
                  </a:lnTo>
                  <a:lnTo>
                    <a:pt x="1461" y="85362"/>
                  </a:lnTo>
                  <a:lnTo>
                    <a:pt x="5652" y="98851"/>
                  </a:lnTo>
                  <a:lnTo>
                    <a:pt x="12285" y="111044"/>
                  </a:lnTo>
                  <a:lnTo>
                    <a:pt x="21071" y="121655"/>
                  </a:lnTo>
                  <a:lnTo>
                    <a:pt x="31722" y="130393"/>
                  </a:lnTo>
                  <a:lnTo>
                    <a:pt x="43950" y="136971"/>
                  </a:lnTo>
                  <a:lnTo>
                    <a:pt x="57466" y="141100"/>
                  </a:lnTo>
                  <a:lnTo>
                    <a:pt x="71627" y="142494"/>
                  </a:lnTo>
                  <a:lnTo>
                    <a:pt x="85945" y="141017"/>
                  </a:lnTo>
                  <a:lnTo>
                    <a:pt x="99307" y="136783"/>
                  </a:lnTo>
                  <a:lnTo>
                    <a:pt x="111411" y="130084"/>
                  </a:lnTo>
                  <a:lnTo>
                    <a:pt x="121954" y="121213"/>
                  </a:lnTo>
                  <a:lnTo>
                    <a:pt x="130636" y="110464"/>
                  </a:lnTo>
                  <a:lnTo>
                    <a:pt x="137153" y="98129"/>
                  </a:lnTo>
                  <a:lnTo>
                    <a:pt x="141204" y="84501"/>
                  </a:lnTo>
                  <a:lnTo>
                    <a:pt x="142494" y="70866"/>
                  </a:lnTo>
                  <a:lnTo>
                    <a:pt x="141003" y="56473"/>
                  </a:lnTo>
                  <a:lnTo>
                    <a:pt x="136736" y="43048"/>
                  </a:lnTo>
                  <a:lnTo>
                    <a:pt x="129999" y="30899"/>
                  </a:lnTo>
                  <a:lnTo>
                    <a:pt x="121100" y="20331"/>
                  </a:lnTo>
                  <a:lnTo>
                    <a:pt x="110345" y="11652"/>
                  </a:lnTo>
                  <a:lnTo>
                    <a:pt x="98042" y="5168"/>
                  </a:lnTo>
                  <a:lnTo>
                    <a:pt x="84497" y="11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727B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48" name="object 48"/>
            <p:cNvSpPr/>
            <p:nvPr/>
          </p:nvSpPr>
          <p:spPr>
            <a:xfrm>
              <a:off x="3987726" y="2284655"/>
              <a:ext cx="126401" cy="125730"/>
            </a:xfrm>
            <a:custGeom>
              <a:avLst/>
              <a:gdLst/>
              <a:ahLst/>
              <a:cxnLst/>
              <a:rect l="l" t="t" r="r" b="b"/>
              <a:pathLst>
                <a:path w="143255" h="142494">
                  <a:moveTo>
                    <a:pt x="71627" y="0"/>
                  </a:moveTo>
                  <a:lnTo>
                    <a:pt x="57131" y="1461"/>
                  </a:lnTo>
                  <a:lnTo>
                    <a:pt x="43642" y="5652"/>
                  </a:lnTo>
                  <a:lnTo>
                    <a:pt x="31449" y="12285"/>
                  </a:lnTo>
                  <a:lnTo>
                    <a:pt x="20838" y="21071"/>
                  </a:lnTo>
                  <a:lnTo>
                    <a:pt x="12100" y="31722"/>
                  </a:lnTo>
                  <a:lnTo>
                    <a:pt x="5522" y="43950"/>
                  </a:lnTo>
                  <a:lnTo>
                    <a:pt x="1393" y="57466"/>
                  </a:lnTo>
                  <a:lnTo>
                    <a:pt x="0" y="71627"/>
                  </a:lnTo>
                  <a:lnTo>
                    <a:pt x="1476" y="85945"/>
                  </a:lnTo>
                  <a:lnTo>
                    <a:pt x="5710" y="99307"/>
                  </a:lnTo>
                  <a:lnTo>
                    <a:pt x="12409" y="111411"/>
                  </a:lnTo>
                  <a:lnTo>
                    <a:pt x="21280" y="121954"/>
                  </a:lnTo>
                  <a:lnTo>
                    <a:pt x="32029" y="130636"/>
                  </a:lnTo>
                  <a:lnTo>
                    <a:pt x="44364" y="137153"/>
                  </a:lnTo>
                  <a:lnTo>
                    <a:pt x="57992" y="141204"/>
                  </a:lnTo>
                  <a:lnTo>
                    <a:pt x="71627" y="142494"/>
                  </a:lnTo>
                  <a:lnTo>
                    <a:pt x="86198" y="141019"/>
                  </a:lnTo>
                  <a:lnTo>
                    <a:pt x="99750" y="136795"/>
                  </a:lnTo>
                  <a:lnTo>
                    <a:pt x="111989" y="130125"/>
                  </a:lnTo>
                  <a:lnTo>
                    <a:pt x="122623" y="121311"/>
                  </a:lnTo>
                  <a:lnTo>
                    <a:pt x="131359" y="110655"/>
                  </a:lnTo>
                  <a:lnTo>
                    <a:pt x="137904" y="98458"/>
                  </a:lnTo>
                  <a:lnTo>
                    <a:pt x="141965" y="85024"/>
                  </a:lnTo>
                  <a:lnTo>
                    <a:pt x="143255" y="71627"/>
                  </a:lnTo>
                  <a:lnTo>
                    <a:pt x="141794" y="57131"/>
                  </a:lnTo>
                  <a:lnTo>
                    <a:pt x="137603" y="43642"/>
                  </a:lnTo>
                  <a:lnTo>
                    <a:pt x="130970" y="31449"/>
                  </a:lnTo>
                  <a:lnTo>
                    <a:pt x="122184" y="20838"/>
                  </a:lnTo>
                  <a:lnTo>
                    <a:pt x="111533" y="12100"/>
                  </a:lnTo>
                  <a:lnTo>
                    <a:pt x="99305" y="5522"/>
                  </a:lnTo>
                  <a:lnTo>
                    <a:pt x="85789" y="1393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727B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49" name="object 49"/>
            <p:cNvSpPr/>
            <p:nvPr/>
          </p:nvSpPr>
          <p:spPr>
            <a:xfrm>
              <a:off x="4940449" y="1943099"/>
              <a:ext cx="125730" cy="125730"/>
            </a:xfrm>
            <a:custGeom>
              <a:avLst/>
              <a:gdLst/>
              <a:ahLst/>
              <a:cxnLst/>
              <a:rect l="l" t="t" r="r" b="b"/>
              <a:pathLst>
                <a:path w="142494" h="142494">
                  <a:moveTo>
                    <a:pt x="71627" y="0"/>
                  </a:moveTo>
                  <a:lnTo>
                    <a:pt x="57057" y="1474"/>
                  </a:lnTo>
                  <a:lnTo>
                    <a:pt x="43505" y="5698"/>
                  </a:lnTo>
                  <a:lnTo>
                    <a:pt x="31266" y="12368"/>
                  </a:lnTo>
                  <a:lnTo>
                    <a:pt x="20632" y="21182"/>
                  </a:lnTo>
                  <a:lnTo>
                    <a:pt x="11896" y="31838"/>
                  </a:lnTo>
                  <a:lnTo>
                    <a:pt x="5351" y="44035"/>
                  </a:lnTo>
                  <a:lnTo>
                    <a:pt x="1290" y="57469"/>
                  </a:lnTo>
                  <a:lnTo>
                    <a:pt x="0" y="70866"/>
                  </a:lnTo>
                  <a:lnTo>
                    <a:pt x="1461" y="85362"/>
                  </a:lnTo>
                  <a:lnTo>
                    <a:pt x="5652" y="98851"/>
                  </a:lnTo>
                  <a:lnTo>
                    <a:pt x="12285" y="111044"/>
                  </a:lnTo>
                  <a:lnTo>
                    <a:pt x="21071" y="121655"/>
                  </a:lnTo>
                  <a:lnTo>
                    <a:pt x="31722" y="130393"/>
                  </a:lnTo>
                  <a:lnTo>
                    <a:pt x="43950" y="136971"/>
                  </a:lnTo>
                  <a:lnTo>
                    <a:pt x="57466" y="141100"/>
                  </a:lnTo>
                  <a:lnTo>
                    <a:pt x="71627" y="142494"/>
                  </a:lnTo>
                  <a:lnTo>
                    <a:pt x="85945" y="141017"/>
                  </a:lnTo>
                  <a:lnTo>
                    <a:pt x="99307" y="136783"/>
                  </a:lnTo>
                  <a:lnTo>
                    <a:pt x="111411" y="130084"/>
                  </a:lnTo>
                  <a:lnTo>
                    <a:pt x="121954" y="121213"/>
                  </a:lnTo>
                  <a:lnTo>
                    <a:pt x="130636" y="110464"/>
                  </a:lnTo>
                  <a:lnTo>
                    <a:pt x="137153" y="98129"/>
                  </a:lnTo>
                  <a:lnTo>
                    <a:pt x="141204" y="84501"/>
                  </a:lnTo>
                  <a:lnTo>
                    <a:pt x="142494" y="70866"/>
                  </a:lnTo>
                  <a:lnTo>
                    <a:pt x="141003" y="56473"/>
                  </a:lnTo>
                  <a:lnTo>
                    <a:pt x="136736" y="43048"/>
                  </a:lnTo>
                  <a:lnTo>
                    <a:pt x="129999" y="30899"/>
                  </a:lnTo>
                  <a:lnTo>
                    <a:pt x="121100" y="20331"/>
                  </a:lnTo>
                  <a:lnTo>
                    <a:pt x="110345" y="11652"/>
                  </a:lnTo>
                  <a:lnTo>
                    <a:pt x="98042" y="5168"/>
                  </a:lnTo>
                  <a:lnTo>
                    <a:pt x="84497" y="11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727B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50" name="object 50"/>
            <p:cNvSpPr/>
            <p:nvPr/>
          </p:nvSpPr>
          <p:spPr>
            <a:xfrm>
              <a:off x="4395172" y="1612302"/>
              <a:ext cx="126401" cy="125730"/>
            </a:xfrm>
            <a:custGeom>
              <a:avLst/>
              <a:gdLst/>
              <a:ahLst/>
              <a:cxnLst/>
              <a:rect l="l" t="t" r="r" b="b"/>
              <a:pathLst>
                <a:path w="143255" h="142494">
                  <a:moveTo>
                    <a:pt x="71627" y="0"/>
                  </a:moveTo>
                  <a:lnTo>
                    <a:pt x="57131" y="1461"/>
                  </a:lnTo>
                  <a:lnTo>
                    <a:pt x="43642" y="5652"/>
                  </a:lnTo>
                  <a:lnTo>
                    <a:pt x="31449" y="12285"/>
                  </a:lnTo>
                  <a:lnTo>
                    <a:pt x="20838" y="21071"/>
                  </a:lnTo>
                  <a:lnTo>
                    <a:pt x="12100" y="31722"/>
                  </a:lnTo>
                  <a:lnTo>
                    <a:pt x="5522" y="43950"/>
                  </a:lnTo>
                  <a:lnTo>
                    <a:pt x="1393" y="57466"/>
                  </a:lnTo>
                  <a:lnTo>
                    <a:pt x="0" y="71627"/>
                  </a:lnTo>
                  <a:lnTo>
                    <a:pt x="1476" y="85945"/>
                  </a:lnTo>
                  <a:lnTo>
                    <a:pt x="5710" y="99307"/>
                  </a:lnTo>
                  <a:lnTo>
                    <a:pt x="12409" y="111411"/>
                  </a:lnTo>
                  <a:lnTo>
                    <a:pt x="21280" y="121954"/>
                  </a:lnTo>
                  <a:lnTo>
                    <a:pt x="32029" y="130636"/>
                  </a:lnTo>
                  <a:lnTo>
                    <a:pt x="44364" y="137153"/>
                  </a:lnTo>
                  <a:lnTo>
                    <a:pt x="57992" y="141204"/>
                  </a:lnTo>
                  <a:lnTo>
                    <a:pt x="71627" y="142494"/>
                  </a:lnTo>
                  <a:lnTo>
                    <a:pt x="86198" y="141019"/>
                  </a:lnTo>
                  <a:lnTo>
                    <a:pt x="99750" y="136795"/>
                  </a:lnTo>
                  <a:lnTo>
                    <a:pt x="111989" y="130125"/>
                  </a:lnTo>
                  <a:lnTo>
                    <a:pt x="122623" y="121311"/>
                  </a:lnTo>
                  <a:lnTo>
                    <a:pt x="131359" y="110655"/>
                  </a:lnTo>
                  <a:lnTo>
                    <a:pt x="137904" y="98458"/>
                  </a:lnTo>
                  <a:lnTo>
                    <a:pt x="141965" y="85024"/>
                  </a:lnTo>
                  <a:lnTo>
                    <a:pt x="143255" y="71627"/>
                  </a:lnTo>
                  <a:lnTo>
                    <a:pt x="141794" y="57131"/>
                  </a:lnTo>
                  <a:lnTo>
                    <a:pt x="137603" y="43642"/>
                  </a:lnTo>
                  <a:lnTo>
                    <a:pt x="130970" y="31449"/>
                  </a:lnTo>
                  <a:lnTo>
                    <a:pt x="122184" y="20838"/>
                  </a:lnTo>
                  <a:lnTo>
                    <a:pt x="111533" y="12100"/>
                  </a:lnTo>
                  <a:lnTo>
                    <a:pt x="99305" y="5522"/>
                  </a:lnTo>
                  <a:lnTo>
                    <a:pt x="85789" y="1393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727B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51" name="object 51"/>
            <p:cNvSpPr/>
            <p:nvPr/>
          </p:nvSpPr>
          <p:spPr>
            <a:xfrm>
              <a:off x="4000500" y="1395132"/>
              <a:ext cx="3558092" cy="2287345"/>
            </a:xfrm>
            <a:custGeom>
              <a:avLst/>
              <a:gdLst/>
              <a:ahLst/>
              <a:cxnLst/>
              <a:rect l="l" t="t" r="r" b="b"/>
              <a:pathLst>
                <a:path w="4032504" h="2592324">
                  <a:moveTo>
                    <a:pt x="0" y="0"/>
                  </a:moveTo>
                  <a:lnTo>
                    <a:pt x="0" y="2592324"/>
                  </a:lnTo>
                  <a:lnTo>
                    <a:pt x="4032504" y="2592324"/>
                  </a:lnTo>
                  <a:lnTo>
                    <a:pt x="4032504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4951" y="3377229"/>
              <a:ext cx="63200" cy="0"/>
            </a:xfrm>
            <a:custGeom>
              <a:avLst/>
              <a:gdLst/>
              <a:ahLst/>
              <a:cxnLst/>
              <a:rect l="l" t="t" r="r" b="b"/>
              <a:pathLst>
                <a:path w="71627">
                  <a:moveTo>
                    <a:pt x="0" y="0"/>
                  </a:moveTo>
                  <a:lnTo>
                    <a:pt x="71627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4951" y="3377229"/>
              <a:ext cx="63200" cy="0"/>
            </a:xfrm>
            <a:custGeom>
              <a:avLst/>
              <a:gdLst/>
              <a:ahLst/>
              <a:cxnLst/>
              <a:rect l="l" t="t" r="r" b="b"/>
              <a:pathLst>
                <a:path w="71627">
                  <a:moveTo>
                    <a:pt x="71627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54" name="object 54"/>
            <p:cNvSpPr/>
            <p:nvPr/>
          </p:nvSpPr>
          <p:spPr>
            <a:xfrm>
              <a:off x="3976968" y="3033656"/>
              <a:ext cx="62529" cy="0"/>
            </a:xfrm>
            <a:custGeom>
              <a:avLst/>
              <a:gdLst/>
              <a:ahLst/>
              <a:cxnLst/>
              <a:rect l="l" t="t" r="r" b="b"/>
              <a:pathLst>
                <a:path w="70866">
                  <a:moveTo>
                    <a:pt x="0" y="0"/>
                  </a:moveTo>
                  <a:lnTo>
                    <a:pt x="7086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55" name="object 55"/>
            <p:cNvSpPr/>
            <p:nvPr/>
          </p:nvSpPr>
          <p:spPr>
            <a:xfrm>
              <a:off x="3976968" y="3033656"/>
              <a:ext cx="62529" cy="0"/>
            </a:xfrm>
            <a:custGeom>
              <a:avLst/>
              <a:gdLst/>
              <a:ahLst/>
              <a:cxnLst/>
              <a:rect l="l" t="t" r="r" b="b"/>
              <a:pathLst>
                <a:path w="70866">
                  <a:moveTo>
                    <a:pt x="7086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56" name="object 56"/>
            <p:cNvSpPr/>
            <p:nvPr/>
          </p:nvSpPr>
          <p:spPr>
            <a:xfrm>
              <a:off x="3976968" y="2690756"/>
              <a:ext cx="62529" cy="0"/>
            </a:xfrm>
            <a:custGeom>
              <a:avLst/>
              <a:gdLst/>
              <a:ahLst/>
              <a:cxnLst/>
              <a:rect l="l" t="t" r="r" b="b"/>
              <a:pathLst>
                <a:path w="70866">
                  <a:moveTo>
                    <a:pt x="0" y="0"/>
                  </a:moveTo>
                  <a:lnTo>
                    <a:pt x="7086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57" name="object 57"/>
            <p:cNvSpPr/>
            <p:nvPr/>
          </p:nvSpPr>
          <p:spPr>
            <a:xfrm>
              <a:off x="3976968" y="2690756"/>
              <a:ext cx="62529" cy="0"/>
            </a:xfrm>
            <a:custGeom>
              <a:avLst/>
              <a:gdLst/>
              <a:ahLst/>
              <a:cxnLst/>
              <a:rect l="l" t="t" r="r" b="b"/>
              <a:pathLst>
                <a:path w="70866">
                  <a:moveTo>
                    <a:pt x="7086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58" name="object 58"/>
            <p:cNvSpPr/>
            <p:nvPr/>
          </p:nvSpPr>
          <p:spPr>
            <a:xfrm>
              <a:off x="3974951" y="2349201"/>
              <a:ext cx="63200" cy="0"/>
            </a:xfrm>
            <a:custGeom>
              <a:avLst/>
              <a:gdLst/>
              <a:ahLst/>
              <a:cxnLst/>
              <a:rect l="l" t="t" r="r" b="b"/>
              <a:pathLst>
                <a:path w="71627">
                  <a:moveTo>
                    <a:pt x="0" y="0"/>
                  </a:moveTo>
                  <a:lnTo>
                    <a:pt x="71627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59" name="object 59"/>
            <p:cNvSpPr/>
            <p:nvPr/>
          </p:nvSpPr>
          <p:spPr>
            <a:xfrm>
              <a:off x="3974951" y="2349201"/>
              <a:ext cx="63200" cy="0"/>
            </a:xfrm>
            <a:custGeom>
              <a:avLst/>
              <a:gdLst/>
              <a:ahLst/>
              <a:cxnLst/>
              <a:rect l="l" t="t" r="r" b="b"/>
              <a:pathLst>
                <a:path w="71627">
                  <a:moveTo>
                    <a:pt x="71627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60" name="object 60"/>
            <p:cNvSpPr/>
            <p:nvPr/>
          </p:nvSpPr>
          <p:spPr>
            <a:xfrm>
              <a:off x="3976968" y="2018404"/>
              <a:ext cx="62529" cy="0"/>
            </a:xfrm>
            <a:custGeom>
              <a:avLst/>
              <a:gdLst/>
              <a:ahLst/>
              <a:cxnLst/>
              <a:rect l="l" t="t" r="r" b="b"/>
              <a:pathLst>
                <a:path w="70866">
                  <a:moveTo>
                    <a:pt x="0" y="0"/>
                  </a:moveTo>
                  <a:lnTo>
                    <a:pt x="7086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61" name="object 61"/>
            <p:cNvSpPr/>
            <p:nvPr/>
          </p:nvSpPr>
          <p:spPr>
            <a:xfrm>
              <a:off x="3976968" y="2018404"/>
              <a:ext cx="62529" cy="0"/>
            </a:xfrm>
            <a:custGeom>
              <a:avLst/>
              <a:gdLst/>
              <a:ahLst/>
              <a:cxnLst/>
              <a:rect l="l" t="t" r="r" b="b"/>
              <a:pathLst>
                <a:path w="70866">
                  <a:moveTo>
                    <a:pt x="7086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62" name="object 62"/>
            <p:cNvSpPr/>
            <p:nvPr/>
          </p:nvSpPr>
          <p:spPr>
            <a:xfrm>
              <a:off x="3974951" y="1675503"/>
              <a:ext cx="63200" cy="0"/>
            </a:xfrm>
            <a:custGeom>
              <a:avLst/>
              <a:gdLst/>
              <a:ahLst/>
              <a:cxnLst/>
              <a:rect l="l" t="t" r="r" b="b"/>
              <a:pathLst>
                <a:path w="71627">
                  <a:moveTo>
                    <a:pt x="0" y="0"/>
                  </a:moveTo>
                  <a:lnTo>
                    <a:pt x="71627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63" name="object 63"/>
            <p:cNvSpPr/>
            <p:nvPr/>
          </p:nvSpPr>
          <p:spPr>
            <a:xfrm>
              <a:off x="3974951" y="1675503"/>
              <a:ext cx="63200" cy="0"/>
            </a:xfrm>
            <a:custGeom>
              <a:avLst/>
              <a:gdLst/>
              <a:ahLst/>
              <a:cxnLst/>
              <a:rect l="l" t="t" r="r" b="b"/>
              <a:pathLst>
                <a:path w="71627">
                  <a:moveTo>
                    <a:pt x="71627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64" name="object 64"/>
            <p:cNvSpPr/>
            <p:nvPr/>
          </p:nvSpPr>
          <p:spPr>
            <a:xfrm>
              <a:off x="4499386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0"/>
                  </a:moveTo>
                  <a:lnTo>
                    <a:pt x="0" y="14477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65" name="object 65"/>
            <p:cNvSpPr/>
            <p:nvPr/>
          </p:nvSpPr>
          <p:spPr>
            <a:xfrm>
              <a:off x="4499386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14477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66" name="object 66"/>
            <p:cNvSpPr/>
            <p:nvPr/>
          </p:nvSpPr>
          <p:spPr>
            <a:xfrm>
              <a:off x="5015753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0"/>
                  </a:moveTo>
                  <a:lnTo>
                    <a:pt x="0" y="14477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67" name="object 67"/>
            <p:cNvSpPr/>
            <p:nvPr/>
          </p:nvSpPr>
          <p:spPr>
            <a:xfrm>
              <a:off x="5015753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14477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68" name="object 68"/>
            <p:cNvSpPr/>
            <p:nvPr/>
          </p:nvSpPr>
          <p:spPr>
            <a:xfrm>
              <a:off x="5515984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0"/>
                  </a:moveTo>
                  <a:lnTo>
                    <a:pt x="0" y="14477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69" name="object 69"/>
            <p:cNvSpPr/>
            <p:nvPr/>
          </p:nvSpPr>
          <p:spPr>
            <a:xfrm>
              <a:off x="5515984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14477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70" name="object 70"/>
            <p:cNvSpPr/>
            <p:nvPr/>
          </p:nvSpPr>
          <p:spPr>
            <a:xfrm>
              <a:off x="6033023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0"/>
                  </a:moveTo>
                  <a:lnTo>
                    <a:pt x="0" y="14477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71" name="object 71"/>
            <p:cNvSpPr/>
            <p:nvPr/>
          </p:nvSpPr>
          <p:spPr>
            <a:xfrm>
              <a:off x="6033023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14477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72" name="object 72"/>
            <p:cNvSpPr/>
            <p:nvPr/>
          </p:nvSpPr>
          <p:spPr>
            <a:xfrm>
              <a:off x="6528547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0"/>
                  </a:moveTo>
                  <a:lnTo>
                    <a:pt x="0" y="14477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73" name="object 73"/>
            <p:cNvSpPr/>
            <p:nvPr/>
          </p:nvSpPr>
          <p:spPr>
            <a:xfrm>
              <a:off x="6528547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14477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74" name="object 74"/>
            <p:cNvSpPr/>
            <p:nvPr/>
          </p:nvSpPr>
          <p:spPr>
            <a:xfrm>
              <a:off x="7026088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0"/>
                  </a:moveTo>
                  <a:lnTo>
                    <a:pt x="0" y="14477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75" name="object 75"/>
            <p:cNvSpPr/>
            <p:nvPr/>
          </p:nvSpPr>
          <p:spPr>
            <a:xfrm>
              <a:off x="7026088" y="3619276"/>
              <a:ext cx="0" cy="127746"/>
            </a:xfrm>
            <a:custGeom>
              <a:avLst/>
              <a:gdLst/>
              <a:ahLst/>
              <a:cxnLst/>
              <a:rect l="l" t="t" r="r" b="b"/>
              <a:pathLst>
                <a:path h="144779">
                  <a:moveTo>
                    <a:pt x="0" y="14477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76" name="object 76"/>
            <p:cNvSpPr/>
            <p:nvPr/>
          </p:nvSpPr>
          <p:spPr>
            <a:xfrm>
              <a:off x="6453244" y="2969783"/>
              <a:ext cx="125730" cy="125730"/>
            </a:xfrm>
            <a:custGeom>
              <a:avLst/>
              <a:gdLst/>
              <a:ahLst/>
              <a:cxnLst/>
              <a:rect l="l" t="t" r="r" b="b"/>
              <a:pathLst>
                <a:path w="142494" h="142494">
                  <a:moveTo>
                    <a:pt x="71627" y="0"/>
                  </a:moveTo>
                  <a:lnTo>
                    <a:pt x="57057" y="1474"/>
                  </a:lnTo>
                  <a:lnTo>
                    <a:pt x="43505" y="5698"/>
                  </a:lnTo>
                  <a:lnTo>
                    <a:pt x="31266" y="12368"/>
                  </a:lnTo>
                  <a:lnTo>
                    <a:pt x="20632" y="21182"/>
                  </a:lnTo>
                  <a:lnTo>
                    <a:pt x="11896" y="31838"/>
                  </a:lnTo>
                  <a:lnTo>
                    <a:pt x="5351" y="44035"/>
                  </a:lnTo>
                  <a:lnTo>
                    <a:pt x="1290" y="57469"/>
                  </a:lnTo>
                  <a:lnTo>
                    <a:pt x="0" y="70866"/>
                  </a:lnTo>
                  <a:lnTo>
                    <a:pt x="1461" y="85362"/>
                  </a:lnTo>
                  <a:lnTo>
                    <a:pt x="5652" y="98851"/>
                  </a:lnTo>
                  <a:lnTo>
                    <a:pt x="12285" y="111044"/>
                  </a:lnTo>
                  <a:lnTo>
                    <a:pt x="21071" y="121655"/>
                  </a:lnTo>
                  <a:lnTo>
                    <a:pt x="31722" y="130393"/>
                  </a:lnTo>
                  <a:lnTo>
                    <a:pt x="43950" y="136971"/>
                  </a:lnTo>
                  <a:lnTo>
                    <a:pt x="57466" y="141100"/>
                  </a:lnTo>
                  <a:lnTo>
                    <a:pt x="71627" y="142494"/>
                  </a:lnTo>
                  <a:lnTo>
                    <a:pt x="85945" y="141017"/>
                  </a:lnTo>
                  <a:lnTo>
                    <a:pt x="99307" y="136783"/>
                  </a:lnTo>
                  <a:lnTo>
                    <a:pt x="111411" y="130084"/>
                  </a:lnTo>
                  <a:lnTo>
                    <a:pt x="121954" y="121213"/>
                  </a:lnTo>
                  <a:lnTo>
                    <a:pt x="130636" y="110464"/>
                  </a:lnTo>
                  <a:lnTo>
                    <a:pt x="137153" y="98129"/>
                  </a:lnTo>
                  <a:lnTo>
                    <a:pt x="141204" y="84501"/>
                  </a:lnTo>
                  <a:lnTo>
                    <a:pt x="142494" y="70866"/>
                  </a:lnTo>
                  <a:lnTo>
                    <a:pt x="141003" y="56473"/>
                  </a:lnTo>
                  <a:lnTo>
                    <a:pt x="136736" y="43048"/>
                  </a:lnTo>
                  <a:lnTo>
                    <a:pt x="129999" y="30899"/>
                  </a:lnTo>
                  <a:lnTo>
                    <a:pt x="121100" y="20331"/>
                  </a:lnTo>
                  <a:lnTo>
                    <a:pt x="110345" y="11652"/>
                  </a:lnTo>
                  <a:lnTo>
                    <a:pt x="98042" y="5168"/>
                  </a:lnTo>
                  <a:lnTo>
                    <a:pt x="84497" y="11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727B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77" name="object 77"/>
            <p:cNvSpPr/>
            <p:nvPr/>
          </p:nvSpPr>
          <p:spPr>
            <a:xfrm>
              <a:off x="6961543" y="2589904"/>
              <a:ext cx="126401" cy="126401"/>
            </a:xfrm>
            <a:custGeom>
              <a:avLst/>
              <a:gdLst/>
              <a:ahLst/>
              <a:cxnLst/>
              <a:rect l="l" t="t" r="r" b="b"/>
              <a:pathLst>
                <a:path w="143255" h="143255">
                  <a:moveTo>
                    <a:pt x="71627" y="0"/>
                  </a:moveTo>
                  <a:lnTo>
                    <a:pt x="57131" y="1461"/>
                  </a:lnTo>
                  <a:lnTo>
                    <a:pt x="43642" y="5652"/>
                  </a:lnTo>
                  <a:lnTo>
                    <a:pt x="31449" y="12285"/>
                  </a:lnTo>
                  <a:lnTo>
                    <a:pt x="20838" y="21071"/>
                  </a:lnTo>
                  <a:lnTo>
                    <a:pt x="12100" y="31722"/>
                  </a:lnTo>
                  <a:lnTo>
                    <a:pt x="5522" y="43950"/>
                  </a:lnTo>
                  <a:lnTo>
                    <a:pt x="1393" y="57466"/>
                  </a:lnTo>
                  <a:lnTo>
                    <a:pt x="0" y="71627"/>
                  </a:lnTo>
                  <a:lnTo>
                    <a:pt x="1461" y="86124"/>
                  </a:lnTo>
                  <a:lnTo>
                    <a:pt x="5652" y="99613"/>
                  </a:lnTo>
                  <a:lnTo>
                    <a:pt x="12285" y="111806"/>
                  </a:lnTo>
                  <a:lnTo>
                    <a:pt x="21071" y="122417"/>
                  </a:lnTo>
                  <a:lnTo>
                    <a:pt x="31722" y="131155"/>
                  </a:lnTo>
                  <a:lnTo>
                    <a:pt x="43950" y="137733"/>
                  </a:lnTo>
                  <a:lnTo>
                    <a:pt x="57466" y="141862"/>
                  </a:lnTo>
                  <a:lnTo>
                    <a:pt x="71627" y="143255"/>
                  </a:lnTo>
                  <a:lnTo>
                    <a:pt x="86124" y="141794"/>
                  </a:lnTo>
                  <a:lnTo>
                    <a:pt x="99613" y="137603"/>
                  </a:lnTo>
                  <a:lnTo>
                    <a:pt x="111806" y="130970"/>
                  </a:lnTo>
                  <a:lnTo>
                    <a:pt x="122417" y="122184"/>
                  </a:lnTo>
                  <a:lnTo>
                    <a:pt x="131155" y="111533"/>
                  </a:lnTo>
                  <a:lnTo>
                    <a:pt x="137733" y="99305"/>
                  </a:lnTo>
                  <a:lnTo>
                    <a:pt x="141862" y="85789"/>
                  </a:lnTo>
                  <a:lnTo>
                    <a:pt x="143255" y="71627"/>
                  </a:lnTo>
                  <a:lnTo>
                    <a:pt x="141794" y="57131"/>
                  </a:lnTo>
                  <a:lnTo>
                    <a:pt x="137603" y="43642"/>
                  </a:lnTo>
                  <a:lnTo>
                    <a:pt x="130970" y="31449"/>
                  </a:lnTo>
                  <a:lnTo>
                    <a:pt x="122184" y="20838"/>
                  </a:lnTo>
                  <a:lnTo>
                    <a:pt x="111533" y="12100"/>
                  </a:lnTo>
                  <a:lnTo>
                    <a:pt x="99305" y="5522"/>
                  </a:lnTo>
                  <a:lnTo>
                    <a:pt x="85789" y="1393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727B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78" name="object 78"/>
            <p:cNvSpPr/>
            <p:nvPr/>
          </p:nvSpPr>
          <p:spPr>
            <a:xfrm>
              <a:off x="6466018" y="2259107"/>
              <a:ext cx="125730" cy="126401"/>
            </a:xfrm>
            <a:custGeom>
              <a:avLst/>
              <a:gdLst/>
              <a:ahLst/>
              <a:cxnLst/>
              <a:rect l="l" t="t" r="r" b="b"/>
              <a:pathLst>
                <a:path w="142494" h="143255">
                  <a:moveTo>
                    <a:pt x="70866" y="0"/>
                  </a:moveTo>
                  <a:lnTo>
                    <a:pt x="56548" y="1476"/>
                  </a:lnTo>
                  <a:lnTo>
                    <a:pt x="43186" y="5710"/>
                  </a:lnTo>
                  <a:lnTo>
                    <a:pt x="31082" y="12409"/>
                  </a:lnTo>
                  <a:lnTo>
                    <a:pt x="20539" y="21280"/>
                  </a:lnTo>
                  <a:lnTo>
                    <a:pt x="11857" y="32029"/>
                  </a:lnTo>
                  <a:lnTo>
                    <a:pt x="5340" y="44364"/>
                  </a:lnTo>
                  <a:lnTo>
                    <a:pt x="1289" y="57992"/>
                  </a:lnTo>
                  <a:lnTo>
                    <a:pt x="0" y="71627"/>
                  </a:lnTo>
                  <a:lnTo>
                    <a:pt x="1474" y="86198"/>
                  </a:lnTo>
                  <a:lnTo>
                    <a:pt x="5698" y="99750"/>
                  </a:lnTo>
                  <a:lnTo>
                    <a:pt x="12368" y="111989"/>
                  </a:lnTo>
                  <a:lnTo>
                    <a:pt x="21182" y="122623"/>
                  </a:lnTo>
                  <a:lnTo>
                    <a:pt x="31838" y="131359"/>
                  </a:lnTo>
                  <a:lnTo>
                    <a:pt x="44035" y="137904"/>
                  </a:lnTo>
                  <a:lnTo>
                    <a:pt x="57469" y="141965"/>
                  </a:lnTo>
                  <a:lnTo>
                    <a:pt x="70866" y="143255"/>
                  </a:lnTo>
                  <a:lnTo>
                    <a:pt x="85362" y="141794"/>
                  </a:lnTo>
                  <a:lnTo>
                    <a:pt x="98851" y="137603"/>
                  </a:lnTo>
                  <a:lnTo>
                    <a:pt x="111044" y="130970"/>
                  </a:lnTo>
                  <a:lnTo>
                    <a:pt x="121655" y="122184"/>
                  </a:lnTo>
                  <a:lnTo>
                    <a:pt x="130393" y="111533"/>
                  </a:lnTo>
                  <a:lnTo>
                    <a:pt x="136971" y="99305"/>
                  </a:lnTo>
                  <a:lnTo>
                    <a:pt x="141100" y="85789"/>
                  </a:lnTo>
                  <a:lnTo>
                    <a:pt x="142494" y="71627"/>
                  </a:lnTo>
                  <a:lnTo>
                    <a:pt x="141032" y="57131"/>
                  </a:lnTo>
                  <a:lnTo>
                    <a:pt x="136841" y="43642"/>
                  </a:lnTo>
                  <a:lnTo>
                    <a:pt x="130208" y="31449"/>
                  </a:lnTo>
                  <a:lnTo>
                    <a:pt x="121422" y="20838"/>
                  </a:lnTo>
                  <a:lnTo>
                    <a:pt x="110771" y="12100"/>
                  </a:lnTo>
                  <a:lnTo>
                    <a:pt x="98543" y="5522"/>
                  </a:lnTo>
                  <a:lnTo>
                    <a:pt x="85027" y="1393"/>
                  </a:lnTo>
                  <a:lnTo>
                    <a:pt x="70866" y="0"/>
                  </a:lnTo>
                  <a:close/>
                </a:path>
              </a:pathLst>
            </a:custGeom>
            <a:solidFill>
              <a:srgbClr val="727BA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79" name="object 79"/>
            <p:cNvSpPr/>
            <p:nvPr/>
          </p:nvSpPr>
          <p:spPr>
            <a:xfrm>
              <a:off x="6453244" y="2971128"/>
              <a:ext cx="125730" cy="125730"/>
            </a:xfrm>
            <a:custGeom>
              <a:avLst/>
              <a:gdLst/>
              <a:ahLst/>
              <a:cxnLst/>
              <a:rect l="l" t="t" r="r" b="b"/>
              <a:pathLst>
                <a:path w="142494" h="142494">
                  <a:moveTo>
                    <a:pt x="71627" y="0"/>
                  </a:moveTo>
                  <a:lnTo>
                    <a:pt x="57057" y="1474"/>
                  </a:lnTo>
                  <a:lnTo>
                    <a:pt x="43505" y="5698"/>
                  </a:lnTo>
                  <a:lnTo>
                    <a:pt x="31266" y="12368"/>
                  </a:lnTo>
                  <a:lnTo>
                    <a:pt x="20632" y="21182"/>
                  </a:lnTo>
                  <a:lnTo>
                    <a:pt x="11896" y="31838"/>
                  </a:lnTo>
                  <a:lnTo>
                    <a:pt x="5351" y="44035"/>
                  </a:lnTo>
                  <a:lnTo>
                    <a:pt x="1290" y="57469"/>
                  </a:lnTo>
                  <a:lnTo>
                    <a:pt x="0" y="70866"/>
                  </a:lnTo>
                  <a:lnTo>
                    <a:pt x="1461" y="85362"/>
                  </a:lnTo>
                  <a:lnTo>
                    <a:pt x="5652" y="98851"/>
                  </a:lnTo>
                  <a:lnTo>
                    <a:pt x="12285" y="111044"/>
                  </a:lnTo>
                  <a:lnTo>
                    <a:pt x="21071" y="121655"/>
                  </a:lnTo>
                  <a:lnTo>
                    <a:pt x="31722" y="130393"/>
                  </a:lnTo>
                  <a:lnTo>
                    <a:pt x="43950" y="136971"/>
                  </a:lnTo>
                  <a:lnTo>
                    <a:pt x="57466" y="141100"/>
                  </a:lnTo>
                  <a:lnTo>
                    <a:pt x="71627" y="142494"/>
                  </a:lnTo>
                  <a:lnTo>
                    <a:pt x="85945" y="141017"/>
                  </a:lnTo>
                  <a:lnTo>
                    <a:pt x="99307" y="136783"/>
                  </a:lnTo>
                  <a:lnTo>
                    <a:pt x="111411" y="130084"/>
                  </a:lnTo>
                  <a:lnTo>
                    <a:pt x="121954" y="121213"/>
                  </a:lnTo>
                  <a:lnTo>
                    <a:pt x="130636" y="110464"/>
                  </a:lnTo>
                  <a:lnTo>
                    <a:pt x="137153" y="98129"/>
                  </a:lnTo>
                  <a:lnTo>
                    <a:pt x="141204" y="84501"/>
                  </a:lnTo>
                  <a:lnTo>
                    <a:pt x="142494" y="70866"/>
                  </a:lnTo>
                  <a:lnTo>
                    <a:pt x="141003" y="56473"/>
                  </a:lnTo>
                  <a:lnTo>
                    <a:pt x="136736" y="43048"/>
                  </a:lnTo>
                  <a:lnTo>
                    <a:pt x="129999" y="30899"/>
                  </a:lnTo>
                  <a:lnTo>
                    <a:pt x="121100" y="20331"/>
                  </a:lnTo>
                  <a:lnTo>
                    <a:pt x="110345" y="11652"/>
                  </a:lnTo>
                  <a:lnTo>
                    <a:pt x="98042" y="5168"/>
                  </a:lnTo>
                  <a:lnTo>
                    <a:pt x="84497" y="11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80" name="object 80"/>
            <p:cNvSpPr/>
            <p:nvPr/>
          </p:nvSpPr>
          <p:spPr>
            <a:xfrm>
              <a:off x="4406602" y="2971128"/>
              <a:ext cx="126401" cy="125730"/>
            </a:xfrm>
            <a:custGeom>
              <a:avLst/>
              <a:gdLst/>
              <a:ahLst/>
              <a:cxnLst/>
              <a:rect l="l" t="t" r="r" b="b"/>
              <a:pathLst>
                <a:path w="143255" h="142494">
                  <a:moveTo>
                    <a:pt x="71627" y="0"/>
                  </a:moveTo>
                  <a:lnTo>
                    <a:pt x="57057" y="1474"/>
                  </a:lnTo>
                  <a:lnTo>
                    <a:pt x="43505" y="5698"/>
                  </a:lnTo>
                  <a:lnTo>
                    <a:pt x="31266" y="12368"/>
                  </a:lnTo>
                  <a:lnTo>
                    <a:pt x="20632" y="21182"/>
                  </a:lnTo>
                  <a:lnTo>
                    <a:pt x="11896" y="31838"/>
                  </a:lnTo>
                  <a:lnTo>
                    <a:pt x="5351" y="44035"/>
                  </a:lnTo>
                  <a:lnTo>
                    <a:pt x="1290" y="57469"/>
                  </a:lnTo>
                  <a:lnTo>
                    <a:pt x="0" y="70866"/>
                  </a:lnTo>
                  <a:lnTo>
                    <a:pt x="1461" y="85362"/>
                  </a:lnTo>
                  <a:lnTo>
                    <a:pt x="5652" y="98851"/>
                  </a:lnTo>
                  <a:lnTo>
                    <a:pt x="12285" y="111044"/>
                  </a:lnTo>
                  <a:lnTo>
                    <a:pt x="21071" y="121655"/>
                  </a:lnTo>
                  <a:lnTo>
                    <a:pt x="31722" y="130393"/>
                  </a:lnTo>
                  <a:lnTo>
                    <a:pt x="43950" y="136971"/>
                  </a:lnTo>
                  <a:lnTo>
                    <a:pt x="57466" y="141100"/>
                  </a:lnTo>
                  <a:lnTo>
                    <a:pt x="71627" y="142494"/>
                  </a:lnTo>
                  <a:lnTo>
                    <a:pt x="86124" y="141032"/>
                  </a:lnTo>
                  <a:lnTo>
                    <a:pt x="99613" y="136841"/>
                  </a:lnTo>
                  <a:lnTo>
                    <a:pt x="111806" y="130208"/>
                  </a:lnTo>
                  <a:lnTo>
                    <a:pt x="122417" y="121422"/>
                  </a:lnTo>
                  <a:lnTo>
                    <a:pt x="131155" y="110771"/>
                  </a:lnTo>
                  <a:lnTo>
                    <a:pt x="137733" y="98543"/>
                  </a:lnTo>
                  <a:lnTo>
                    <a:pt x="141862" y="85027"/>
                  </a:lnTo>
                  <a:lnTo>
                    <a:pt x="143255" y="70866"/>
                  </a:lnTo>
                  <a:lnTo>
                    <a:pt x="141779" y="56548"/>
                  </a:lnTo>
                  <a:lnTo>
                    <a:pt x="137545" y="43186"/>
                  </a:lnTo>
                  <a:lnTo>
                    <a:pt x="130846" y="31082"/>
                  </a:lnTo>
                  <a:lnTo>
                    <a:pt x="121975" y="20539"/>
                  </a:lnTo>
                  <a:lnTo>
                    <a:pt x="111226" y="11857"/>
                  </a:lnTo>
                  <a:lnTo>
                    <a:pt x="98891" y="5340"/>
                  </a:lnTo>
                  <a:lnTo>
                    <a:pt x="85263" y="128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926"/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3804386" y="1263562"/>
              <a:ext cx="175444" cy="185321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 marR="20197">
                <a:lnSpc>
                  <a:spcPts val="1168"/>
                </a:lnSpc>
                <a:spcBef>
                  <a:spcPts val="59"/>
                </a:spcBef>
              </a:pPr>
              <a:r>
                <a:rPr sz="1059" dirty="0">
                  <a:latin typeface="Century Gothic"/>
                  <a:cs typeface="Century Gothic"/>
                </a:rPr>
                <a:t>9</a:t>
              </a:r>
              <a:endParaRPr sz="1059">
                <a:latin typeface="Century Gothic"/>
                <a:cs typeface="Century Gothic"/>
              </a:endParaRPr>
            </a:p>
            <a:p>
              <a:pPr marL="16982" marR="10597">
                <a:lnSpc>
                  <a:spcPct val="102172"/>
                </a:lnSpc>
                <a:spcBef>
                  <a:spcPts val="521"/>
                </a:spcBef>
              </a:pPr>
              <a:r>
                <a:rPr sz="1059" dirty="0">
                  <a:latin typeface="Century Gothic"/>
                  <a:cs typeface="Century Gothic"/>
                </a:rPr>
                <a:t>8</a:t>
              </a:r>
              <a:endParaRPr sz="1059">
                <a:latin typeface="Century Gothic"/>
                <a:cs typeface="Century Gothic"/>
              </a:endParaRPr>
            </a:p>
            <a:p>
              <a:pPr marL="27578">
                <a:lnSpc>
                  <a:spcPct val="102172"/>
                </a:lnSpc>
                <a:spcBef>
                  <a:spcPts val="580"/>
                </a:spcBef>
              </a:pPr>
              <a:r>
                <a:rPr sz="1059" dirty="0">
                  <a:latin typeface="Century Gothic"/>
                  <a:cs typeface="Century Gothic"/>
                </a:rPr>
                <a:t>7</a:t>
              </a:r>
              <a:endParaRPr sz="1059">
                <a:latin typeface="Century Gothic"/>
                <a:cs typeface="Century Gothic"/>
              </a:endParaRPr>
            </a:p>
            <a:p>
              <a:pPr marL="26071" marR="1508">
                <a:lnSpc>
                  <a:spcPct val="102172"/>
                </a:lnSpc>
                <a:spcBef>
                  <a:spcPts val="580"/>
                </a:spcBef>
              </a:pPr>
              <a:r>
                <a:rPr sz="1059" dirty="0">
                  <a:latin typeface="Century Gothic"/>
                  <a:cs typeface="Century Gothic"/>
                </a:rPr>
                <a:t>6</a:t>
              </a:r>
              <a:endParaRPr sz="1059">
                <a:latin typeface="Century Gothic"/>
                <a:cs typeface="Century Gothic"/>
              </a:endParaRPr>
            </a:p>
            <a:p>
              <a:pPr marL="26071" marR="1508">
                <a:lnSpc>
                  <a:spcPct val="102172"/>
                </a:lnSpc>
                <a:spcBef>
                  <a:spcPts val="719"/>
                </a:spcBef>
              </a:pPr>
              <a:r>
                <a:rPr sz="1059" dirty="0">
                  <a:latin typeface="Century Gothic"/>
                  <a:cs typeface="Century Gothic"/>
                </a:rPr>
                <a:t>5</a:t>
              </a:r>
              <a:endParaRPr sz="1059">
                <a:latin typeface="Century Gothic"/>
                <a:cs typeface="Century Gothic"/>
              </a:endParaRPr>
            </a:p>
            <a:p>
              <a:pPr marL="27578">
                <a:lnSpc>
                  <a:spcPct val="102172"/>
                </a:lnSpc>
                <a:spcBef>
                  <a:spcPts val="802"/>
                </a:spcBef>
              </a:pPr>
              <a:r>
                <a:rPr sz="1059" dirty="0">
                  <a:latin typeface="Century Gothic"/>
                  <a:cs typeface="Century Gothic"/>
                </a:rPr>
                <a:t>4</a:t>
              </a:r>
              <a:endParaRPr sz="1059">
                <a:latin typeface="Century Gothic"/>
                <a:cs typeface="Century Gothic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4493559" y="1736200"/>
              <a:ext cx="94023" cy="1232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685"/>
                </a:lnSpc>
                <a:spcBef>
                  <a:spcPts val="34"/>
                </a:spcBef>
              </a:pPr>
              <a:r>
                <a:rPr sz="596" dirty="0">
                  <a:solidFill>
                    <a:srgbClr val="640064"/>
                  </a:solidFill>
                  <a:latin typeface="Century Gothic"/>
                  <a:cs typeface="Century Gothic"/>
                </a:rPr>
                <a:t>3</a:t>
              </a:r>
              <a:endParaRPr sz="596">
                <a:latin typeface="Century Gothic"/>
                <a:cs typeface="Century Gothic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5036823" y="2079100"/>
              <a:ext cx="94023" cy="1232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685"/>
                </a:lnSpc>
                <a:spcBef>
                  <a:spcPts val="34"/>
                </a:spcBef>
              </a:pPr>
              <a:r>
                <a:rPr sz="596" dirty="0">
                  <a:solidFill>
                    <a:srgbClr val="640064"/>
                  </a:solidFill>
                  <a:latin typeface="Century Gothic"/>
                  <a:cs typeface="Century Gothic"/>
                </a:rPr>
                <a:t>4</a:t>
              </a:r>
              <a:endParaRPr sz="596">
                <a:latin typeface="Century Gothic"/>
                <a:cs typeface="Century Gothic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6628280" y="2332577"/>
              <a:ext cx="150486" cy="1232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685"/>
                </a:lnSpc>
                <a:spcBef>
                  <a:spcPts val="34"/>
                </a:spcBef>
              </a:pPr>
              <a:r>
                <a:rPr sz="596" dirty="0">
                  <a:solidFill>
                    <a:srgbClr val="640064"/>
                  </a:solidFill>
                  <a:latin typeface="Century Gothic"/>
                  <a:cs typeface="Century Gothic"/>
                </a:rPr>
                <a:t>10</a:t>
              </a:r>
              <a:endParaRPr sz="596">
                <a:latin typeface="Century Gothic"/>
                <a:cs typeface="Century Gothic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4090147" y="2413931"/>
              <a:ext cx="94023" cy="1232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685"/>
                </a:lnSpc>
                <a:spcBef>
                  <a:spcPts val="34"/>
                </a:spcBef>
              </a:pPr>
              <a:r>
                <a:rPr sz="596" dirty="0">
                  <a:solidFill>
                    <a:srgbClr val="640064"/>
                  </a:solidFill>
                  <a:latin typeface="Century Gothic"/>
                  <a:cs typeface="Century Gothic"/>
                </a:rPr>
                <a:t>1</a:t>
              </a:r>
              <a:endParaRPr sz="596">
                <a:latin typeface="Century Gothic"/>
                <a:cs typeface="Century Gothic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7124476" y="2663374"/>
              <a:ext cx="94023" cy="1232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685"/>
                </a:lnSpc>
                <a:spcBef>
                  <a:spcPts val="34"/>
                </a:spcBef>
              </a:pPr>
              <a:r>
                <a:rPr sz="596" dirty="0">
                  <a:solidFill>
                    <a:srgbClr val="640064"/>
                  </a:solidFill>
                  <a:latin typeface="Century Gothic"/>
                  <a:cs typeface="Century Gothic"/>
                </a:rPr>
                <a:t>9</a:t>
              </a:r>
              <a:endParaRPr sz="596">
                <a:latin typeface="Century Gothic"/>
                <a:cs typeface="Century Gothic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090404" y="3043930"/>
              <a:ext cx="94023" cy="1232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685"/>
                </a:lnSpc>
                <a:spcBef>
                  <a:spcPts val="34"/>
                </a:spcBef>
              </a:pPr>
              <a:r>
                <a:rPr sz="596" dirty="0">
                  <a:solidFill>
                    <a:srgbClr val="640064"/>
                  </a:solidFill>
                  <a:latin typeface="Century Gothic"/>
                  <a:cs typeface="Century Gothic"/>
                </a:rPr>
                <a:t>6</a:t>
              </a:r>
              <a:endParaRPr sz="596">
                <a:latin typeface="Century Gothic"/>
                <a:cs typeface="Century Gothic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6615505" y="3042581"/>
              <a:ext cx="94023" cy="1232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685"/>
                </a:lnSpc>
                <a:spcBef>
                  <a:spcPts val="34"/>
                </a:spcBef>
              </a:pPr>
              <a:r>
                <a:rPr sz="596" dirty="0">
                  <a:solidFill>
                    <a:srgbClr val="640064"/>
                  </a:solidFill>
                  <a:latin typeface="Century Gothic"/>
                  <a:cs typeface="Century Gothic"/>
                </a:rPr>
                <a:t>8</a:t>
              </a:r>
              <a:endParaRPr sz="596">
                <a:latin typeface="Century Gothic"/>
                <a:cs typeface="Century Gothic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4539951" y="3056697"/>
              <a:ext cx="94023" cy="1232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685"/>
                </a:lnSpc>
                <a:spcBef>
                  <a:spcPts val="34"/>
                </a:spcBef>
              </a:pPr>
              <a:r>
                <a:rPr sz="596" dirty="0">
                  <a:solidFill>
                    <a:srgbClr val="640064"/>
                  </a:solidFill>
                  <a:latin typeface="Century Gothic"/>
                  <a:cs typeface="Century Gothic"/>
                </a:rPr>
                <a:t>2</a:t>
              </a:r>
              <a:endParaRPr sz="596">
                <a:latin typeface="Century Gothic"/>
                <a:cs typeface="Century Gothic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3840704" y="3297413"/>
              <a:ext cx="149880" cy="20193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168"/>
                </a:lnSpc>
                <a:spcBef>
                  <a:spcPts val="59"/>
                </a:spcBef>
              </a:pPr>
              <a:r>
                <a:rPr sz="1059" dirty="0">
                  <a:latin typeface="Century Gothic"/>
                  <a:cs typeface="Century Gothic"/>
                </a:rPr>
                <a:t>3</a:t>
              </a:r>
              <a:endParaRPr sz="1059">
                <a:latin typeface="Century Gothic"/>
                <a:cs typeface="Century Gothic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3885752" y="3638968"/>
              <a:ext cx="149880" cy="20193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168"/>
                </a:lnSpc>
                <a:spcBef>
                  <a:spcPts val="59"/>
                </a:spcBef>
              </a:pPr>
              <a:r>
                <a:rPr sz="1059" dirty="0">
                  <a:latin typeface="Century Gothic"/>
                  <a:cs typeface="Century Gothic"/>
                </a:rPr>
                <a:t>2</a:t>
              </a:r>
              <a:endParaRPr sz="1059">
                <a:latin typeface="Century Gothic"/>
                <a:cs typeface="Century Gothic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7008168" y="3774795"/>
              <a:ext cx="149880" cy="20193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168"/>
                </a:lnSpc>
                <a:spcBef>
                  <a:spcPts val="59"/>
                </a:spcBef>
              </a:pPr>
              <a:r>
                <a:rPr sz="1059" dirty="0">
                  <a:latin typeface="Century Gothic"/>
                  <a:cs typeface="Century Gothic"/>
                </a:rPr>
                <a:t>8</a:t>
              </a:r>
              <a:endParaRPr sz="1059">
                <a:latin typeface="Century Gothic"/>
                <a:cs typeface="Century Gothic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7475453" y="3780844"/>
              <a:ext cx="149880" cy="20193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168"/>
                </a:lnSpc>
                <a:spcBef>
                  <a:spcPts val="59"/>
                </a:spcBef>
              </a:pPr>
              <a:r>
                <a:rPr sz="1059" dirty="0">
                  <a:latin typeface="Century Gothic"/>
                  <a:cs typeface="Century Gothic"/>
                </a:rPr>
                <a:t>9</a:t>
              </a:r>
              <a:endParaRPr sz="1059">
                <a:latin typeface="Century Gothic"/>
                <a:cs typeface="Century Gothic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5458391" y="3792930"/>
              <a:ext cx="149880" cy="20193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168"/>
                </a:lnSpc>
                <a:spcBef>
                  <a:spcPts val="59"/>
                </a:spcBef>
              </a:pPr>
              <a:r>
                <a:rPr sz="1059" dirty="0">
                  <a:latin typeface="Century Gothic"/>
                  <a:cs typeface="Century Gothic"/>
                </a:rPr>
                <a:t>5</a:t>
              </a:r>
              <a:endParaRPr sz="1059">
                <a:latin typeface="Century Gothic"/>
                <a:cs typeface="Century Gothic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5967356" y="3787558"/>
              <a:ext cx="149880" cy="20193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168"/>
                </a:lnSpc>
                <a:spcBef>
                  <a:spcPts val="59"/>
                </a:spcBef>
              </a:pPr>
              <a:r>
                <a:rPr sz="1059" dirty="0">
                  <a:latin typeface="Century Gothic"/>
                  <a:cs typeface="Century Gothic"/>
                </a:rPr>
                <a:t>6</a:t>
              </a:r>
              <a:endParaRPr sz="1059">
                <a:latin typeface="Century Gothic"/>
                <a:cs typeface="Century Gothic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6475661" y="3792943"/>
              <a:ext cx="149880" cy="20193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168"/>
                </a:lnSpc>
                <a:spcBef>
                  <a:spcPts val="59"/>
                </a:spcBef>
              </a:pPr>
              <a:r>
                <a:rPr sz="1059" dirty="0">
                  <a:latin typeface="Century Gothic"/>
                  <a:cs typeface="Century Gothic"/>
                </a:rPr>
                <a:t>7</a:t>
              </a:r>
              <a:endParaRPr sz="1059">
                <a:latin typeface="Century Gothic"/>
                <a:cs typeface="Century Gothic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441788" y="3805712"/>
              <a:ext cx="149880" cy="20193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168"/>
                </a:lnSpc>
                <a:spcBef>
                  <a:spcPts val="59"/>
                </a:spcBef>
              </a:pPr>
              <a:r>
                <a:rPr sz="1059" dirty="0">
                  <a:latin typeface="Century Gothic"/>
                  <a:cs typeface="Century Gothic"/>
                </a:rPr>
                <a:t>3</a:t>
              </a:r>
              <a:endParaRPr sz="1059">
                <a:latin typeface="Century Gothic"/>
                <a:cs typeface="Century Gothic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4950086" y="3805712"/>
              <a:ext cx="149880" cy="20193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168"/>
                </a:lnSpc>
                <a:spcBef>
                  <a:spcPts val="59"/>
                </a:spcBef>
              </a:pPr>
              <a:r>
                <a:rPr sz="1059" dirty="0">
                  <a:latin typeface="Century Gothic"/>
                  <a:cs typeface="Century Gothic"/>
                </a:rPr>
                <a:t>4</a:t>
              </a:r>
              <a:endParaRPr sz="1059">
                <a:latin typeface="Century Gothic"/>
                <a:cs typeface="Century Gothic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4000500" y="1395133"/>
              <a:ext cx="3558092" cy="28037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662"/>
                </a:lnSpc>
              </a:pPr>
              <a:endParaRPr sz="662"/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000500" y="1675503"/>
              <a:ext cx="0" cy="3429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662"/>
                </a:lnSpc>
              </a:pPr>
              <a:endParaRPr sz="662"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000500" y="2018404"/>
              <a:ext cx="0" cy="33079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662"/>
                </a:lnSpc>
              </a:pPr>
              <a:endParaRPr sz="662"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000500" y="2349201"/>
              <a:ext cx="0" cy="34155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662"/>
                </a:lnSpc>
              </a:pPr>
              <a:endParaRPr sz="662"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000500" y="2690756"/>
              <a:ext cx="0" cy="3429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662"/>
                </a:lnSpc>
              </a:pPr>
              <a:endParaRPr sz="662"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000500" y="3033657"/>
              <a:ext cx="0" cy="343571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662"/>
                </a:lnSpc>
              </a:pPr>
              <a:endParaRPr sz="662"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4000500" y="3377229"/>
              <a:ext cx="3558092" cy="3052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R="646999" algn="r">
                <a:lnSpc>
                  <a:spcPts val="672"/>
                </a:lnSpc>
                <a:spcBef>
                  <a:spcPts val="33"/>
                </a:spcBef>
              </a:pPr>
              <a:r>
                <a:rPr sz="596" dirty="0">
                  <a:solidFill>
                    <a:srgbClr val="640064"/>
                  </a:solidFill>
                  <a:latin typeface="Century Gothic"/>
                  <a:cs typeface="Century Gothic"/>
                </a:rPr>
                <a:t>7</a:t>
              </a:r>
              <a:endParaRPr sz="596">
                <a:latin typeface="Century Gothic"/>
                <a:cs typeface="Century Gothic"/>
              </a:endParaRPr>
            </a:p>
            <a:p>
              <a:pPr marL="1437782" marR="1160408" algn="ctr">
                <a:lnSpc>
                  <a:spcPct val="102172"/>
                </a:lnSpc>
              </a:pPr>
              <a:r>
                <a:rPr sz="596" dirty="0">
                  <a:solidFill>
                    <a:srgbClr val="640064"/>
                  </a:solidFill>
                  <a:latin typeface="Century Gothic"/>
                  <a:cs typeface="Century Gothic"/>
                </a:rPr>
                <a:t>5</a:t>
              </a:r>
              <a:endParaRPr sz="596">
                <a:latin typeface="Century Gothic"/>
                <a:cs typeface="Century Gothic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000500" y="3682478"/>
              <a:ext cx="498885" cy="6454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364"/>
                </a:lnSpc>
                <a:spcBef>
                  <a:spcPts val="17"/>
                </a:spcBef>
              </a:pPr>
              <a:endParaRPr sz="364"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499386" y="3682478"/>
              <a:ext cx="516367" cy="6454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364"/>
                </a:lnSpc>
                <a:spcBef>
                  <a:spcPts val="17"/>
                </a:spcBef>
              </a:pPr>
              <a:endParaRPr sz="364"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5015753" y="3682478"/>
              <a:ext cx="500230" cy="6454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364"/>
                </a:lnSpc>
                <a:spcBef>
                  <a:spcPts val="17"/>
                </a:spcBef>
              </a:pPr>
              <a:endParaRPr sz="364"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5515984" y="3682478"/>
              <a:ext cx="517039" cy="6454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364"/>
                </a:lnSpc>
                <a:spcBef>
                  <a:spcPts val="17"/>
                </a:spcBef>
              </a:pPr>
              <a:endParaRPr sz="364"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6033023" y="3682478"/>
              <a:ext cx="495524" cy="6454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364"/>
                </a:lnSpc>
                <a:spcBef>
                  <a:spcPts val="17"/>
                </a:spcBef>
              </a:pPr>
              <a:endParaRPr sz="364"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6528548" y="3682478"/>
              <a:ext cx="497540" cy="6454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364"/>
                </a:lnSpc>
                <a:spcBef>
                  <a:spcPts val="17"/>
                </a:spcBef>
              </a:pPr>
              <a:endParaRPr sz="364"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7026089" y="3682478"/>
              <a:ext cx="532503" cy="6454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6810">
                <a:lnSpc>
                  <a:spcPts val="364"/>
                </a:lnSpc>
                <a:spcBef>
                  <a:spcPts val="17"/>
                </a:spcBef>
              </a:pPr>
              <a:endParaRPr sz="364"/>
            </a:p>
          </p:txBody>
        </p:sp>
      </p:grpSp>
      <p:sp>
        <p:nvSpPr>
          <p:cNvPr id="85" name="Title 84"/>
          <p:cNvSpPr>
            <a:spLocks noGrp="1"/>
          </p:cNvSpPr>
          <p:nvPr>
            <p:ph type="title"/>
          </p:nvPr>
        </p:nvSpPr>
        <p:spPr>
          <a:xfrm>
            <a:off x="1399766" y="1045031"/>
            <a:ext cx="6210300" cy="400050"/>
          </a:xfrm>
        </p:spPr>
        <p:txBody>
          <a:bodyPr>
            <a:normAutofit fontScale="90000"/>
          </a:bodyPr>
          <a:lstStyle/>
          <a:p>
            <a:r>
              <a:rPr lang="en-US" altLang="ko-KR" sz="2100" dirty="0">
                <a:solidFill>
                  <a:srgbClr val="002060"/>
                </a:solidFill>
                <a:ea typeface="Gulim" pitchFamily="34" charset="-127"/>
              </a:rPr>
              <a:t>PAM or </a:t>
            </a:r>
            <a:r>
              <a:rPr lang="en-IN" sz="2100" spc="3" dirty="0">
                <a:solidFill>
                  <a:srgbClr val="002060"/>
                </a:solidFill>
                <a:cs typeface="Century Gothic"/>
              </a:rPr>
              <a:t>K-</a:t>
            </a:r>
            <a:r>
              <a:rPr lang="en-IN" sz="2100" spc="3" dirty="0" err="1">
                <a:solidFill>
                  <a:srgbClr val="002060"/>
                </a:solidFill>
                <a:cs typeface="Century Gothic"/>
              </a:rPr>
              <a:t>Medoid</a:t>
            </a:r>
            <a:r>
              <a:rPr lang="en-IN" sz="2100" dirty="0" err="1">
                <a:solidFill>
                  <a:srgbClr val="002060"/>
                </a:solidFill>
                <a:cs typeface="Century Gothic"/>
              </a:rPr>
              <a:t>s</a:t>
            </a:r>
            <a:r>
              <a:rPr lang="en-IN" sz="2100" dirty="0">
                <a:solidFill>
                  <a:srgbClr val="002060"/>
                </a:solidFill>
                <a:cs typeface="Century Gothic"/>
              </a:rPr>
              <a:t>:</a:t>
            </a:r>
            <a:r>
              <a:rPr lang="en-IN" sz="2100" spc="6" dirty="0">
                <a:solidFill>
                  <a:srgbClr val="002060"/>
                </a:solidFill>
                <a:cs typeface="Century Gothic"/>
              </a:rPr>
              <a:t>  </a:t>
            </a:r>
            <a:r>
              <a:rPr lang="en-IN" sz="2100" spc="3" dirty="0">
                <a:solidFill>
                  <a:srgbClr val="002060"/>
                </a:solidFill>
                <a:cs typeface="Century Gothic"/>
              </a:rPr>
              <a:t>Example</a:t>
            </a:r>
            <a:endParaRPr lang="en-IN" sz="2100" dirty="0">
              <a:solidFill>
                <a:srgbClr val="002060"/>
              </a:solidFill>
            </a:endParaRPr>
          </a:p>
        </p:txBody>
      </p:sp>
      <p:grpSp>
        <p:nvGrpSpPr>
          <p:cNvPr id="93" name="Group 92"/>
          <p:cNvGrpSpPr/>
          <p:nvPr/>
        </p:nvGrpSpPr>
        <p:grpSpPr>
          <a:xfrm>
            <a:off x="1842584" y="1853786"/>
            <a:ext cx="1075646" cy="3255804"/>
            <a:chOff x="932777" y="1328714"/>
            <a:chExt cx="1434195" cy="4341072"/>
          </a:xfrm>
        </p:grpSpPr>
        <p:sp>
          <p:nvSpPr>
            <p:cNvPr id="94" name="object 44"/>
            <p:cNvSpPr txBox="1"/>
            <p:nvPr/>
          </p:nvSpPr>
          <p:spPr>
            <a:xfrm>
              <a:off x="1007410" y="1328714"/>
              <a:ext cx="1337651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640064"/>
                  </a:solidFill>
                  <a:latin typeface="Century Gothic"/>
                  <a:cs typeface="Century Gothic"/>
                </a:rPr>
                <a:t>Data Objects</a:t>
              </a:r>
              <a:endParaRPr sz="1191">
                <a:latin typeface="Century Gothic"/>
                <a:cs typeface="Century Gothic"/>
              </a:endParaRPr>
            </a:p>
          </p:txBody>
        </p:sp>
        <p:sp>
          <p:nvSpPr>
            <p:cNvPr id="95" name="object 41"/>
            <p:cNvSpPr txBox="1"/>
            <p:nvPr/>
          </p:nvSpPr>
          <p:spPr>
            <a:xfrm>
              <a:off x="1642783" y="1906266"/>
              <a:ext cx="283478" cy="36201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542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1157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96" name="object 40"/>
            <p:cNvSpPr txBox="1"/>
            <p:nvPr/>
          </p:nvSpPr>
          <p:spPr>
            <a:xfrm>
              <a:off x="2083146" y="1906273"/>
              <a:ext cx="283826" cy="362018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20">
                <a:lnSpc>
                  <a:spcPts val="1549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2</a:t>
              </a:r>
              <a:endParaRPr sz="794">
                <a:latin typeface="Century Gothic"/>
                <a:cs typeface="Century Gothic"/>
              </a:endParaRPr>
            </a:p>
            <a:p>
              <a:pPr marL="8425" marR="27611">
                <a:lnSpc>
                  <a:spcPct val="95825"/>
                </a:lnSpc>
                <a:spcBef>
                  <a:spcPts val="1151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5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97" name="object 38"/>
            <p:cNvSpPr txBox="1"/>
            <p:nvPr/>
          </p:nvSpPr>
          <p:spPr>
            <a:xfrm>
              <a:off x="932777" y="2369634"/>
              <a:ext cx="365031" cy="330015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 marR="27536">
                <a:lnSpc>
                  <a:spcPts val="1532"/>
                </a:lnSpc>
                <a:spcBef>
                  <a:spcPts val="76"/>
                </a:spcBef>
                <a:spcAft>
                  <a:spcPts val="225"/>
                </a:spcAft>
              </a:pPr>
              <a:r>
                <a:rPr sz="1786" baseline="9662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 dirty="0">
                <a:latin typeface="Arial"/>
                <a:cs typeface="Arial"/>
              </a:endParaRPr>
            </a:p>
            <a:p>
              <a:pPr marL="8410" marR="27536">
                <a:lnSpc>
                  <a:spcPts val="1370"/>
                </a:lnSpc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2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3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4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5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8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6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7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8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9</a:t>
              </a:r>
              <a:endParaRPr sz="794" dirty="0">
                <a:latin typeface="Arial"/>
                <a:cs typeface="Arial"/>
              </a:endParaRPr>
            </a:p>
            <a:p>
              <a:pPr marL="8405">
                <a:lnSpc>
                  <a:spcPts val="1370"/>
                </a:lnSpc>
                <a:spcBef>
                  <a:spcPts val="600"/>
                </a:spcBef>
                <a:spcAft>
                  <a:spcPts val="225"/>
                </a:spcAft>
              </a:pPr>
              <a:r>
                <a:rPr sz="1786" baseline="16104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794" dirty="0">
                  <a:solidFill>
                    <a:srgbClr val="006FBF"/>
                  </a:solidFill>
                  <a:latin typeface="Arial"/>
                  <a:cs typeface="Arial"/>
                </a:rPr>
                <a:t>10</a:t>
              </a:r>
              <a:endParaRPr sz="794" dirty="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533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85"/>
          <p:cNvSpPr/>
          <p:nvPr/>
        </p:nvSpPr>
        <p:spPr>
          <a:xfrm>
            <a:off x="1846955" y="5416811"/>
            <a:ext cx="79673" cy="126066"/>
          </a:xfrm>
          <a:custGeom>
            <a:avLst/>
            <a:gdLst/>
            <a:ahLst/>
            <a:cxnLst/>
            <a:rect l="l" t="t" r="r" b="b"/>
            <a:pathLst>
              <a:path w="120395" h="190500">
                <a:moveTo>
                  <a:pt x="120395" y="95250"/>
                </a:moveTo>
                <a:lnTo>
                  <a:pt x="0" y="0"/>
                </a:lnTo>
                <a:lnTo>
                  <a:pt x="0" y="190500"/>
                </a:lnTo>
                <a:lnTo>
                  <a:pt x="120395" y="95250"/>
                </a:lnTo>
                <a:close/>
              </a:path>
            </a:pathLst>
          </a:custGeom>
          <a:solidFill>
            <a:srgbClr val="9FB7CC"/>
          </a:solidFill>
        </p:spPr>
        <p:txBody>
          <a:bodyPr wrap="square" lIns="0" tIns="0" rIns="0" bIns="0" rtlCol="0">
            <a:noAutofit/>
          </a:bodyPr>
          <a:lstStyle/>
          <a:p>
            <a:endParaRPr sz="926"/>
          </a:p>
        </p:txBody>
      </p:sp>
      <p:grpSp>
        <p:nvGrpSpPr>
          <p:cNvPr id="88" name="Group 87"/>
          <p:cNvGrpSpPr/>
          <p:nvPr/>
        </p:nvGrpSpPr>
        <p:grpSpPr>
          <a:xfrm>
            <a:off x="1842584" y="1853786"/>
            <a:ext cx="1075646" cy="3255804"/>
            <a:chOff x="932777" y="1328714"/>
            <a:chExt cx="1434195" cy="4341072"/>
          </a:xfrm>
        </p:grpSpPr>
        <p:sp>
          <p:nvSpPr>
            <p:cNvPr id="44" name="object 44"/>
            <p:cNvSpPr txBox="1"/>
            <p:nvPr/>
          </p:nvSpPr>
          <p:spPr>
            <a:xfrm>
              <a:off x="1007410" y="1328714"/>
              <a:ext cx="1337651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640064"/>
                  </a:solidFill>
                  <a:latin typeface="Century Gothic"/>
                  <a:cs typeface="Century Gothic"/>
                </a:rPr>
                <a:t>Data Objects</a:t>
              </a:r>
              <a:endParaRPr sz="1191">
                <a:latin typeface="Century Gothic"/>
                <a:cs typeface="Century Gothic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1642783" y="1906266"/>
              <a:ext cx="283478" cy="36201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542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1157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2083146" y="1906273"/>
              <a:ext cx="283826" cy="362018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20">
                <a:lnSpc>
                  <a:spcPts val="1549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2</a:t>
              </a:r>
              <a:endParaRPr sz="794">
                <a:latin typeface="Century Gothic"/>
                <a:cs typeface="Century Gothic"/>
              </a:endParaRPr>
            </a:p>
            <a:p>
              <a:pPr marL="8425" marR="27611">
                <a:lnSpc>
                  <a:spcPct val="95825"/>
                </a:lnSpc>
                <a:spcBef>
                  <a:spcPts val="1151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5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932777" y="2369634"/>
              <a:ext cx="365031" cy="330015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 marR="27536">
                <a:lnSpc>
                  <a:spcPts val="1532"/>
                </a:lnSpc>
                <a:spcBef>
                  <a:spcPts val="76"/>
                </a:spcBef>
                <a:spcAft>
                  <a:spcPts val="225"/>
                </a:spcAft>
              </a:pPr>
              <a:r>
                <a:rPr sz="1786" baseline="9662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 dirty="0">
                <a:latin typeface="Arial"/>
                <a:cs typeface="Arial"/>
              </a:endParaRPr>
            </a:p>
            <a:p>
              <a:pPr marL="8410" marR="27536">
                <a:lnSpc>
                  <a:spcPts val="1370"/>
                </a:lnSpc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2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3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4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5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8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6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7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8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9</a:t>
              </a:r>
              <a:endParaRPr sz="794" dirty="0">
                <a:latin typeface="Arial"/>
                <a:cs typeface="Arial"/>
              </a:endParaRPr>
            </a:p>
            <a:p>
              <a:pPr marL="8405">
                <a:lnSpc>
                  <a:spcPts val="1370"/>
                </a:lnSpc>
                <a:spcBef>
                  <a:spcPts val="600"/>
                </a:spcBef>
                <a:spcAft>
                  <a:spcPts val="225"/>
                </a:spcAft>
              </a:pPr>
              <a:r>
                <a:rPr sz="1786" baseline="16104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794" dirty="0">
                  <a:solidFill>
                    <a:srgbClr val="006FBF"/>
                  </a:solidFill>
                  <a:latin typeface="Arial"/>
                  <a:cs typeface="Arial"/>
                </a:rPr>
                <a:t>10</a:t>
              </a:r>
              <a:endParaRPr sz="794" dirty="0">
                <a:latin typeface="Arial"/>
                <a:cs typeface="Arial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3267429" y="4126125"/>
            <a:ext cx="4619271" cy="1142826"/>
            <a:chOff x="2672827" y="4473309"/>
            <a:chExt cx="5630699" cy="1523768"/>
          </a:xfrm>
        </p:grpSpPr>
        <p:sp>
          <p:nvSpPr>
            <p:cNvPr id="22" name="object 22"/>
            <p:cNvSpPr txBox="1"/>
            <p:nvPr/>
          </p:nvSpPr>
          <p:spPr>
            <a:xfrm>
              <a:off x="2672827" y="4473309"/>
              <a:ext cx="1416641" cy="22525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006FBF"/>
                  </a:solidFill>
                  <a:latin typeface="Times New Roman"/>
                  <a:cs typeface="Times New Roman"/>
                </a:rPr>
                <a:t> </a:t>
              </a:r>
              <a:r>
                <a:rPr sz="1191" dirty="0">
                  <a:latin typeface="Century Gothic"/>
                  <a:cs typeface="Century Gothic"/>
                </a:rPr>
                <a:t>Assign each</a:t>
              </a: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3909044" y="4473309"/>
              <a:ext cx="1329290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latin typeface="Century Gothic"/>
                  <a:cs typeface="Century Gothic"/>
                </a:rPr>
                <a:t>object to the</a:t>
              </a: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5099006" y="4473309"/>
              <a:ext cx="2878220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latin typeface="Century Gothic"/>
                  <a:cs typeface="Century Gothic"/>
                </a:rPr>
                <a:t>closest representative object</a:t>
              </a: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2672827" y="4958070"/>
              <a:ext cx="5630699" cy="91532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006FBF"/>
                  </a:solidFill>
                  <a:latin typeface="Times New Roman"/>
                  <a:cs typeface="Times New Roman"/>
                </a:rPr>
                <a:t> </a:t>
              </a:r>
              <a:r>
                <a:rPr sz="1191" dirty="0">
                  <a:latin typeface="Century Gothic"/>
                  <a:cs typeface="Century Gothic"/>
                </a:rPr>
                <a:t>Using L1 Metric (Manhattan), we form the following</a:t>
              </a:r>
              <a:r>
                <a:rPr lang="en-IN" sz="1191" dirty="0">
                  <a:latin typeface="Century Gothic"/>
                  <a:cs typeface="Century Gothic"/>
                </a:rPr>
                <a:t> </a:t>
              </a:r>
              <a:r>
                <a:rPr sz="1786" baseline="-1510" dirty="0">
                  <a:latin typeface="Century Gothic"/>
                  <a:cs typeface="Century Gothic"/>
                </a:rPr>
                <a:t>clusters</a:t>
              </a:r>
              <a:endParaRPr sz="1191" dirty="0">
                <a:latin typeface="Century Gothic"/>
                <a:cs typeface="Century Gothic"/>
              </a:endParaRPr>
            </a:p>
            <a:p>
              <a:pPr marL="483952" marR="22821">
                <a:lnSpc>
                  <a:spcPts val="1365"/>
                </a:lnSpc>
                <a:spcBef>
                  <a:spcPts val="858"/>
                </a:spcBef>
              </a:pPr>
              <a:r>
                <a:rPr sz="1191" dirty="0">
                  <a:solidFill>
                    <a:schemeClr val="accent5">
                      <a:lumMod val="75000"/>
                    </a:schemeClr>
                  </a:solidFill>
                  <a:latin typeface="Century Gothic"/>
                  <a:cs typeface="Century Gothic"/>
                </a:rPr>
                <a:t>Cluster1</a:t>
              </a:r>
              <a:r>
                <a:rPr sz="1191" dirty="0">
                  <a:solidFill>
                    <a:srgbClr val="CC3300"/>
                  </a:solidFill>
                  <a:latin typeface="Century Gothic"/>
                  <a:cs typeface="Century Gothic"/>
                </a:rPr>
                <a:t> </a:t>
              </a:r>
              <a:r>
                <a:rPr sz="1191" dirty="0">
                  <a:latin typeface="Century Gothic"/>
                  <a:cs typeface="Century Gothic"/>
                </a:rPr>
                <a:t>=</a:t>
              </a:r>
              <a:r>
                <a:rPr sz="1191" spc="3" dirty="0">
                  <a:latin typeface="Century Gothic"/>
                  <a:cs typeface="Century Gothic"/>
                </a:rPr>
                <a:t> </a:t>
              </a:r>
              <a:r>
                <a:rPr sz="1191" dirty="0">
                  <a:latin typeface="Century Gothic"/>
                  <a:cs typeface="Century Gothic"/>
                </a:rPr>
                <a:t>{0</a:t>
              </a:r>
              <a:r>
                <a:rPr sz="1191" baseline="-22655" dirty="0">
                  <a:latin typeface="Century Gothic"/>
                  <a:cs typeface="Century Gothic"/>
                </a:rPr>
                <a:t>1</a:t>
              </a:r>
              <a:r>
                <a:rPr sz="1191" dirty="0">
                  <a:latin typeface="Century Gothic"/>
                  <a:cs typeface="Century Gothic"/>
                </a:rPr>
                <a:t>,</a:t>
              </a:r>
              <a:r>
                <a:rPr sz="1191" spc="-47" dirty="0">
                  <a:latin typeface="Century Gothic"/>
                  <a:cs typeface="Century Gothic"/>
                </a:rPr>
                <a:t> </a:t>
              </a:r>
              <a:r>
                <a:rPr sz="1191" dirty="0">
                  <a:latin typeface="Century Gothic"/>
                  <a:cs typeface="Century Gothic"/>
                </a:rPr>
                <a:t>0</a:t>
              </a:r>
              <a:r>
                <a:rPr sz="1191" baseline="-22655" dirty="0">
                  <a:latin typeface="Century Gothic"/>
                  <a:cs typeface="Century Gothic"/>
                </a:rPr>
                <a:t>2</a:t>
              </a:r>
              <a:r>
                <a:rPr sz="1191" dirty="0">
                  <a:latin typeface="Century Gothic"/>
                  <a:cs typeface="Century Gothic"/>
                </a:rPr>
                <a:t>, 0</a:t>
              </a:r>
              <a:r>
                <a:rPr sz="1191" baseline="-22655" dirty="0">
                  <a:latin typeface="Century Gothic"/>
                  <a:cs typeface="Century Gothic"/>
                </a:rPr>
                <a:t>3</a:t>
              </a:r>
              <a:r>
                <a:rPr sz="1191" dirty="0">
                  <a:latin typeface="Century Gothic"/>
                  <a:cs typeface="Century Gothic"/>
                </a:rPr>
                <a:t>, 0</a:t>
              </a:r>
              <a:r>
                <a:rPr sz="1191" baseline="-22655" dirty="0">
                  <a:latin typeface="Century Gothic"/>
                  <a:cs typeface="Century Gothic"/>
                </a:rPr>
                <a:t>4</a:t>
              </a:r>
              <a:r>
                <a:rPr sz="1191" dirty="0">
                  <a:latin typeface="Century Gothic"/>
                  <a:cs typeface="Century Gothic"/>
                </a:rPr>
                <a:t>}</a:t>
              </a: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3262612" y="5729223"/>
              <a:ext cx="3348601" cy="267854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549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chemeClr val="accent2">
                      <a:lumMod val="75000"/>
                    </a:schemeClr>
                  </a:solidFill>
                  <a:latin typeface="Century Gothic"/>
                  <a:cs typeface="Century Gothic"/>
                </a:rPr>
                <a:t>Cluster2</a:t>
              </a: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 </a:t>
              </a:r>
              <a:r>
                <a:rPr sz="1786" baseline="9062" dirty="0">
                  <a:latin typeface="Century Gothic"/>
                  <a:cs typeface="Century Gothic"/>
                </a:rPr>
                <a:t>=</a:t>
              </a:r>
              <a:r>
                <a:rPr sz="1786" spc="3" baseline="9062" dirty="0">
                  <a:latin typeface="Century Gothic"/>
                  <a:cs typeface="Century Gothic"/>
                </a:rPr>
                <a:t> </a:t>
              </a:r>
              <a:r>
                <a:rPr sz="1786" baseline="9062" dirty="0">
                  <a:latin typeface="Century Gothic"/>
                  <a:cs typeface="Century Gothic"/>
                </a:rPr>
                <a:t>{0</a:t>
              </a:r>
              <a:r>
                <a:rPr sz="1191" baseline="-9062" dirty="0">
                  <a:latin typeface="Century Gothic"/>
                  <a:cs typeface="Century Gothic"/>
                </a:rPr>
                <a:t>5</a:t>
              </a:r>
              <a:r>
                <a:rPr sz="1786" baseline="9062" dirty="0">
                  <a:latin typeface="Century Gothic"/>
                  <a:cs typeface="Century Gothic"/>
                </a:rPr>
                <a:t>,</a:t>
              </a:r>
              <a:r>
                <a:rPr sz="1786" spc="-47" baseline="9062" dirty="0">
                  <a:latin typeface="Century Gothic"/>
                  <a:cs typeface="Century Gothic"/>
                </a:rPr>
                <a:t> </a:t>
              </a:r>
              <a:r>
                <a:rPr sz="1786" baseline="9062" dirty="0">
                  <a:latin typeface="Century Gothic"/>
                  <a:cs typeface="Century Gothic"/>
                </a:rPr>
                <a:t>0</a:t>
              </a:r>
              <a:r>
                <a:rPr sz="1191" baseline="-9062" dirty="0">
                  <a:latin typeface="Century Gothic"/>
                  <a:cs typeface="Century Gothic"/>
                </a:rPr>
                <a:t>6</a:t>
              </a:r>
              <a:r>
                <a:rPr sz="1786" baseline="9062" dirty="0">
                  <a:latin typeface="Century Gothic"/>
                  <a:cs typeface="Century Gothic"/>
                </a:rPr>
                <a:t>, 0</a:t>
              </a:r>
              <a:r>
                <a:rPr sz="1191" baseline="-9062" dirty="0">
                  <a:latin typeface="Century Gothic"/>
                  <a:cs typeface="Century Gothic"/>
                </a:rPr>
                <a:t>7</a:t>
              </a:r>
              <a:r>
                <a:rPr sz="1786" baseline="9062" dirty="0">
                  <a:latin typeface="Century Gothic"/>
                  <a:cs typeface="Century Gothic"/>
                </a:rPr>
                <a:t>, 0</a:t>
              </a:r>
              <a:r>
                <a:rPr sz="1191" baseline="-9062" dirty="0">
                  <a:latin typeface="Century Gothic"/>
                  <a:cs typeface="Century Gothic"/>
                </a:rPr>
                <a:t>8</a:t>
              </a:r>
              <a:r>
                <a:rPr sz="1786" baseline="9062" dirty="0">
                  <a:latin typeface="Century Gothic"/>
                  <a:cs typeface="Century Gothic"/>
                </a:rPr>
                <a:t>, 0</a:t>
              </a:r>
              <a:r>
                <a:rPr sz="1191" baseline="-9062" dirty="0">
                  <a:latin typeface="Century Gothic"/>
                  <a:cs typeface="Century Gothic"/>
                </a:rPr>
                <a:t>9</a:t>
              </a:r>
              <a:r>
                <a:rPr sz="1786" baseline="9062" dirty="0">
                  <a:latin typeface="Century Gothic"/>
                  <a:cs typeface="Century Gothic"/>
                </a:rPr>
                <a:t>, </a:t>
              </a:r>
              <a:r>
                <a:rPr sz="1786" spc="-3" baseline="9062" dirty="0">
                  <a:latin typeface="Century Gothic"/>
                  <a:cs typeface="Century Gothic"/>
                </a:rPr>
                <a:t>0</a:t>
              </a:r>
              <a:r>
                <a:rPr sz="1191" baseline="-9062" dirty="0">
                  <a:latin typeface="Century Gothic"/>
                  <a:cs typeface="Century Gothic"/>
                </a:rPr>
                <a:t>1</a:t>
              </a:r>
              <a:r>
                <a:rPr sz="1191" spc="-3" baseline="-9062" dirty="0">
                  <a:latin typeface="Century Gothic"/>
                  <a:cs typeface="Century Gothic"/>
                </a:rPr>
                <a:t>0</a:t>
              </a:r>
              <a:r>
                <a:rPr sz="1786" baseline="9062" dirty="0">
                  <a:latin typeface="Century Gothic"/>
                  <a:cs typeface="Century Gothic"/>
                </a:rPr>
                <a:t>}</a:t>
              </a:r>
              <a:endParaRPr sz="1191" dirty="0">
                <a:latin typeface="Century Gothic"/>
                <a:cs typeface="Century Gothic"/>
              </a:endParaRPr>
            </a:p>
          </p:txBody>
        </p:sp>
      </p:grpSp>
      <p:sp>
        <p:nvSpPr>
          <p:cNvPr id="87" name="Title 84"/>
          <p:cNvSpPr txBox="1">
            <a:spLocks/>
          </p:cNvSpPr>
          <p:nvPr/>
        </p:nvSpPr>
        <p:spPr>
          <a:xfrm>
            <a:off x="1399766" y="1045031"/>
            <a:ext cx="6210300" cy="400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altLang="ko-KR" sz="2100" kern="0" dirty="0">
                <a:solidFill>
                  <a:srgbClr val="002060"/>
                </a:solidFill>
                <a:ea typeface="Gulim" pitchFamily="34" charset="-127"/>
              </a:rPr>
              <a:t>PAM or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K-</a:t>
            </a:r>
            <a:r>
              <a:rPr lang="en-IN" sz="2100" kern="0" spc="3" dirty="0" err="1">
                <a:solidFill>
                  <a:srgbClr val="002060"/>
                </a:solidFill>
                <a:cs typeface="Century Gothic"/>
              </a:rPr>
              <a:t>Medoid</a:t>
            </a:r>
            <a:r>
              <a:rPr lang="en-IN" sz="2100" kern="0" dirty="0" err="1">
                <a:solidFill>
                  <a:srgbClr val="002060"/>
                </a:solidFill>
                <a:cs typeface="Century Gothic"/>
              </a:rPr>
              <a:t>s</a:t>
            </a:r>
            <a:r>
              <a:rPr lang="en-IN" sz="2100" kern="0" dirty="0">
                <a:solidFill>
                  <a:srgbClr val="002060"/>
                </a:solidFill>
                <a:cs typeface="Century Gothic"/>
              </a:rPr>
              <a:t>:</a:t>
            </a:r>
            <a:r>
              <a:rPr lang="en-IN" sz="2100" kern="0" spc="6" dirty="0">
                <a:solidFill>
                  <a:srgbClr val="002060"/>
                </a:solidFill>
                <a:cs typeface="Century Gothic"/>
              </a:rPr>
              <a:t> 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Example</a:t>
            </a:r>
            <a:endParaRPr lang="en-IN" sz="2100" kern="0" dirty="0">
              <a:solidFill>
                <a:srgbClr val="002060"/>
              </a:solidFill>
            </a:endParaRPr>
          </a:p>
        </p:txBody>
      </p:sp>
      <p:grpSp>
        <p:nvGrpSpPr>
          <p:cNvPr id="93" name="Group 92"/>
          <p:cNvGrpSpPr/>
          <p:nvPr/>
        </p:nvGrpSpPr>
        <p:grpSpPr>
          <a:xfrm>
            <a:off x="3996291" y="1804921"/>
            <a:ext cx="2865710" cy="2081279"/>
            <a:chOff x="3804386" y="1263562"/>
            <a:chExt cx="3820947" cy="2775038"/>
          </a:xfrm>
        </p:grpSpPr>
        <p:grpSp>
          <p:nvGrpSpPr>
            <p:cNvPr id="89" name="Group 88"/>
            <p:cNvGrpSpPr/>
            <p:nvPr/>
          </p:nvGrpSpPr>
          <p:grpSpPr>
            <a:xfrm>
              <a:off x="3804386" y="1263562"/>
              <a:ext cx="3820947" cy="2744080"/>
              <a:chOff x="3804386" y="1263562"/>
              <a:chExt cx="3820947" cy="2744080"/>
            </a:xfrm>
          </p:grpSpPr>
          <p:sp>
            <p:nvSpPr>
              <p:cNvPr id="46" name="object 46"/>
              <p:cNvSpPr/>
              <p:nvPr/>
            </p:nvSpPr>
            <p:spPr>
              <a:xfrm>
                <a:off x="5957048" y="297247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6466018" y="3301254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5982596" y="360717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3987726" y="2284655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4940449" y="1943099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4395172" y="161230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4000500" y="1395132"/>
                <a:ext cx="3558092" cy="2287345"/>
              </a:xfrm>
              <a:custGeom>
                <a:avLst/>
                <a:gdLst/>
                <a:ahLst/>
                <a:cxnLst/>
                <a:rect l="l" t="t" r="r" b="b"/>
                <a:pathLst>
                  <a:path w="4032504" h="2592324">
                    <a:moveTo>
                      <a:pt x="0" y="0"/>
                    </a:moveTo>
                    <a:lnTo>
                      <a:pt x="0" y="2592324"/>
                    </a:lnTo>
                    <a:lnTo>
                      <a:pt x="4032504" y="2592324"/>
                    </a:lnTo>
                    <a:lnTo>
                      <a:pt x="40325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56" name="object 56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57" name="object 57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59" name="object 59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65" name="object 65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66" name="object 66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68" name="object 68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69" name="object 69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70" name="object 70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71" name="object 71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72" name="object 72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73" name="object 73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74" name="object 74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75" name="object 75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76" name="object 76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77" name="object 77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78" name="object 78"/>
              <p:cNvSpPr/>
              <p:nvPr/>
            </p:nvSpPr>
            <p:spPr>
              <a:xfrm>
                <a:off x="6453244" y="296978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79" name="object 79"/>
              <p:cNvSpPr/>
              <p:nvPr/>
            </p:nvSpPr>
            <p:spPr>
              <a:xfrm>
                <a:off x="6961543" y="2589904"/>
                <a:ext cx="126401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3255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61" y="86124"/>
                    </a:lnTo>
                    <a:lnTo>
                      <a:pt x="5652" y="99613"/>
                    </a:lnTo>
                    <a:lnTo>
                      <a:pt x="12285" y="111806"/>
                    </a:lnTo>
                    <a:lnTo>
                      <a:pt x="21071" y="122417"/>
                    </a:lnTo>
                    <a:lnTo>
                      <a:pt x="31722" y="131155"/>
                    </a:lnTo>
                    <a:lnTo>
                      <a:pt x="43950" y="137733"/>
                    </a:lnTo>
                    <a:lnTo>
                      <a:pt x="57466" y="141862"/>
                    </a:lnTo>
                    <a:lnTo>
                      <a:pt x="71627" y="143255"/>
                    </a:lnTo>
                    <a:lnTo>
                      <a:pt x="86124" y="141794"/>
                    </a:lnTo>
                    <a:lnTo>
                      <a:pt x="99613" y="137603"/>
                    </a:lnTo>
                    <a:lnTo>
                      <a:pt x="111806" y="130970"/>
                    </a:lnTo>
                    <a:lnTo>
                      <a:pt x="122417" y="122184"/>
                    </a:lnTo>
                    <a:lnTo>
                      <a:pt x="131155" y="111533"/>
                    </a:lnTo>
                    <a:lnTo>
                      <a:pt x="137733" y="99305"/>
                    </a:lnTo>
                    <a:lnTo>
                      <a:pt x="141862" y="85789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80" name="object 80"/>
              <p:cNvSpPr/>
              <p:nvPr/>
            </p:nvSpPr>
            <p:spPr>
              <a:xfrm>
                <a:off x="6466018" y="2259107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81" name="object 81"/>
              <p:cNvSpPr/>
              <p:nvPr/>
            </p:nvSpPr>
            <p:spPr>
              <a:xfrm>
                <a:off x="6453244" y="2971128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82" name="object 82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45" name="object 45"/>
              <p:cNvSpPr txBox="1"/>
              <p:nvPr/>
            </p:nvSpPr>
            <p:spPr>
              <a:xfrm>
                <a:off x="3804386" y="1263562"/>
                <a:ext cx="175444" cy="185321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 marR="20197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16982" marR="10597">
                  <a:lnSpc>
                    <a:spcPct val="102172"/>
                  </a:lnSpc>
                  <a:spcBef>
                    <a:spcPts val="521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757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6071" marR="150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6071" marR="1508">
                  <a:lnSpc>
                    <a:spcPct val="102172"/>
                  </a:lnSpc>
                  <a:spcBef>
                    <a:spcPts val="71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7578">
                  <a:lnSpc>
                    <a:spcPct val="102172"/>
                  </a:lnSpc>
                  <a:spcBef>
                    <a:spcPts val="802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43" name="object 43"/>
              <p:cNvSpPr txBox="1"/>
              <p:nvPr/>
            </p:nvSpPr>
            <p:spPr>
              <a:xfrm>
                <a:off x="6667276" y="1708639"/>
                <a:ext cx="71983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solidFill>
                      <a:schemeClr val="accent2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cluster2</a:t>
                </a:r>
              </a:p>
            </p:txBody>
          </p:sp>
          <p:sp>
            <p:nvSpPr>
              <p:cNvPr id="42" name="object 42"/>
              <p:cNvSpPr txBox="1"/>
              <p:nvPr/>
            </p:nvSpPr>
            <p:spPr>
              <a:xfrm>
                <a:off x="4493559" y="17362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3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39" name="object 39"/>
              <p:cNvSpPr txBox="1"/>
              <p:nvPr/>
            </p:nvSpPr>
            <p:spPr>
              <a:xfrm>
                <a:off x="5036823" y="20791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4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37" name="object 37"/>
              <p:cNvSpPr txBox="1"/>
              <p:nvPr/>
            </p:nvSpPr>
            <p:spPr>
              <a:xfrm>
                <a:off x="6628280" y="2332577"/>
                <a:ext cx="150486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10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36" name="object 36"/>
              <p:cNvSpPr txBox="1"/>
              <p:nvPr/>
            </p:nvSpPr>
            <p:spPr>
              <a:xfrm>
                <a:off x="4090147" y="241393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35" name="object 35"/>
              <p:cNvSpPr txBox="1"/>
              <p:nvPr/>
            </p:nvSpPr>
            <p:spPr>
              <a:xfrm>
                <a:off x="7124476" y="2663374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9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34" name="object 34"/>
              <p:cNvSpPr txBox="1"/>
              <p:nvPr/>
            </p:nvSpPr>
            <p:spPr>
              <a:xfrm>
                <a:off x="6090404" y="304393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6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33" name="object 33"/>
              <p:cNvSpPr txBox="1"/>
              <p:nvPr/>
            </p:nvSpPr>
            <p:spPr>
              <a:xfrm>
                <a:off x="6615505" y="304258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8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32" name="object 32"/>
              <p:cNvSpPr txBox="1"/>
              <p:nvPr/>
            </p:nvSpPr>
            <p:spPr>
              <a:xfrm>
                <a:off x="4539951" y="3056697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2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31" name="object 31"/>
              <p:cNvSpPr txBox="1"/>
              <p:nvPr/>
            </p:nvSpPr>
            <p:spPr>
              <a:xfrm>
                <a:off x="3840704" y="329741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30" name="object 30"/>
              <p:cNvSpPr txBox="1"/>
              <p:nvPr/>
            </p:nvSpPr>
            <p:spPr>
              <a:xfrm>
                <a:off x="3885752" y="363896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2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29" name="object 29"/>
              <p:cNvSpPr txBox="1"/>
              <p:nvPr/>
            </p:nvSpPr>
            <p:spPr>
              <a:xfrm>
                <a:off x="7008168" y="3774795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28" name="object 28"/>
              <p:cNvSpPr txBox="1"/>
              <p:nvPr/>
            </p:nvSpPr>
            <p:spPr>
              <a:xfrm>
                <a:off x="7475453" y="3780844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27" name="object 27"/>
              <p:cNvSpPr txBox="1"/>
              <p:nvPr/>
            </p:nvSpPr>
            <p:spPr>
              <a:xfrm>
                <a:off x="5458391" y="3792930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26" name="object 26"/>
              <p:cNvSpPr txBox="1"/>
              <p:nvPr/>
            </p:nvSpPr>
            <p:spPr>
              <a:xfrm>
                <a:off x="5967356" y="378755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25" name="object 25"/>
              <p:cNvSpPr txBox="1"/>
              <p:nvPr/>
            </p:nvSpPr>
            <p:spPr>
              <a:xfrm>
                <a:off x="6475661" y="379294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24" name="object 24"/>
              <p:cNvSpPr txBox="1"/>
              <p:nvPr/>
            </p:nvSpPr>
            <p:spPr>
              <a:xfrm>
                <a:off x="4441788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23" name="object 23"/>
              <p:cNvSpPr txBox="1"/>
              <p:nvPr/>
            </p:nvSpPr>
            <p:spPr>
              <a:xfrm>
                <a:off x="4950086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6" name="object 16"/>
              <p:cNvSpPr txBox="1"/>
              <p:nvPr/>
            </p:nvSpPr>
            <p:spPr>
              <a:xfrm>
                <a:off x="4000500" y="1395133"/>
                <a:ext cx="3558092" cy="28037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596"/>
                  </a:lnSpc>
                  <a:spcBef>
                    <a:spcPts val="3"/>
                  </a:spcBef>
                </a:pPr>
                <a:endParaRPr sz="596" dirty="0"/>
              </a:p>
              <a:p>
                <a:pPr marL="770054">
                  <a:lnSpc>
                    <a:spcPts val="1055"/>
                  </a:lnSpc>
                  <a:spcBef>
                    <a:spcPts val="53"/>
                  </a:spcBef>
                </a:pPr>
                <a:r>
                  <a:rPr sz="1589" baseline="-11894" dirty="0">
                    <a:solidFill>
                      <a:schemeClr val="accent5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cluster1</a:t>
                </a:r>
                <a:endParaRPr sz="1059" dirty="0">
                  <a:solidFill>
                    <a:schemeClr val="accent5">
                      <a:lumMod val="75000"/>
                    </a:schemeClr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15" name="object 15"/>
              <p:cNvSpPr txBox="1"/>
              <p:nvPr/>
            </p:nvSpPr>
            <p:spPr>
              <a:xfrm>
                <a:off x="4000500" y="1675503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4" name="object 14"/>
              <p:cNvSpPr txBox="1"/>
              <p:nvPr/>
            </p:nvSpPr>
            <p:spPr>
              <a:xfrm>
                <a:off x="4000500" y="2018404"/>
                <a:ext cx="0" cy="330797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3" name="object 13"/>
              <p:cNvSpPr txBox="1"/>
              <p:nvPr/>
            </p:nvSpPr>
            <p:spPr>
              <a:xfrm>
                <a:off x="4000500" y="2349201"/>
                <a:ext cx="0" cy="34155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2" name="object 12"/>
              <p:cNvSpPr txBox="1"/>
              <p:nvPr/>
            </p:nvSpPr>
            <p:spPr>
              <a:xfrm>
                <a:off x="4000500" y="2690756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1" name="object 11"/>
              <p:cNvSpPr txBox="1"/>
              <p:nvPr/>
            </p:nvSpPr>
            <p:spPr>
              <a:xfrm>
                <a:off x="4000500" y="3033657"/>
                <a:ext cx="0" cy="34357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0" name="object 10"/>
              <p:cNvSpPr txBox="1"/>
              <p:nvPr/>
            </p:nvSpPr>
            <p:spPr>
              <a:xfrm>
                <a:off x="4000500" y="3377229"/>
                <a:ext cx="3558092" cy="30524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R="646999" algn="r">
                  <a:lnSpc>
                    <a:spcPts val="672"/>
                  </a:lnSpc>
                  <a:spcBef>
                    <a:spcPts val="33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7</a:t>
                </a:r>
                <a:endParaRPr sz="596">
                  <a:latin typeface="Century Gothic"/>
                  <a:cs typeface="Century Gothic"/>
                </a:endParaRPr>
              </a:p>
              <a:p>
                <a:pPr marL="1437782" marR="1160408" algn="ctr">
                  <a:lnSpc>
                    <a:spcPct val="102172"/>
                  </a:lnSpc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5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9" name="object 9"/>
              <p:cNvSpPr txBox="1"/>
              <p:nvPr/>
            </p:nvSpPr>
            <p:spPr>
              <a:xfrm>
                <a:off x="4000500" y="3682478"/>
                <a:ext cx="498885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8" name="object 8"/>
              <p:cNvSpPr txBox="1"/>
              <p:nvPr/>
            </p:nvSpPr>
            <p:spPr>
              <a:xfrm>
                <a:off x="4499386" y="3682478"/>
                <a:ext cx="516367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5015753" y="3682478"/>
                <a:ext cx="50023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6" name="object 6"/>
              <p:cNvSpPr txBox="1"/>
              <p:nvPr/>
            </p:nvSpPr>
            <p:spPr>
              <a:xfrm>
                <a:off x="5515984" y="3682478"/>
                <a:ext cx="517039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5" name="object 5"/>
              <p:cNvSpPr txBox="1"/>
              <p:nvPr/>
            </p:nvSpPr>
            <p:spPr>
              <a:xfrm>
                <a:off x="6033023" y="3682478"/>
                <a:ext cx="495524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4" name="object 4"/>
              <p:cNvSpPr txBox="1"/>
              <p:nvPr/>
            </p:nvSpPr>
            <p:spPr>
              <a:xfrm>
                <a:off x="6528548" y="3682478"/>
                <a:ext cx="49754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3" name="object 3"/>
              <p:cNvSpPr txBox="1"/>
              <p:nvPr/>
            </p:nvSpPr>
            <p:spPr>
              <a:xfrm>
                <a:off x="7026089" y="3682478"/>
                <a:ext cx="532503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</p:grpSp>
        <p:sp>
          <p:nvSpPr>
            <p:cNvPr id="91" name="Oval 90"/>
            <p:cNvSpPr/>
            <p:nvPr/>
          </p:nvSpPr>
          <p:spPr bwMode="auto">
            <a:xfrm>
              <a:off x="3937363" y="1447801"/>
              <a:ext cx="1320437" cy="1755738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noFill/>
                <a:latin typeface="Arial" charset="0"/>
              </a:endParaRPr>
            </a:p>
          </p:txBody>
        </p:sp>
        <p:sp>
          <p:nvSpPr>
            <p:cNvPr id="92" name="Oval 91"/>
            <p:cNvSpPr/>
            <p:nvPr/>
          </p:nvSpPr>
          <p:spPr bwMode="auto">
            <a:xfrm>
              <a:off x="5715000" y="2057167"/>
              <a:ext cx="1527717" cy="1981433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solidFill>
                  <a:schemeClr val="tx1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025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object 90"/>
          <p:cNvSpPr/>
          <p:nvPr/>
        </p:nvSpPr>
        <p:spPr>
          <a:xfrm>
            <a:off x="1846955" y="5416811"/>
            <a:ext cx="79673" cy="126066"/>
          </a:xfrm>
          <a:custGeom>
            <a:avLst/>
            <a:gdLst/>
            <a:ahLst/>
            <a:cxnLst/>
            <a:rect l="l" t="t" r="r" b="b"/>
            <a:pathLst>
              <a:path w="120395" h="190500">
                <a:moveTo>
                  <a:pt x="120395" y="95250"/>
                </a:moveTo>
                <a:lnTo>
                  <a:pt x="0" y="0"/>
                </a:lnTo>
                <a:lnTo>
                  <a:pt x="0" y="190500"/>
                </a:lnTo>
                <a:lnTo>
                  <a:pt x="120395" y="95250"/>
                </a:lnTo>
                <a:close/>
              </a:path>
            </a:pathLst>
          </a:custGeom>
          <a:solidFill>
            <a:srgbClr val="9FB7CC"/>
          </a:solidFill>
        </p:spPr>
        <p:txBody>
          <a:bodyPr wrap="square" lIns="0" tIns="0" rIns="0" bIns="0" rtlCol="0">
            <a:noAutofit/>
          </a:bodyPr>
          <a:lstStyle/>
          <a:p>
            <a:endParaRPr sz="926"/>
          </a:p>
        </p:txBody>
      </p:sp>
      <p:sp>
        <p:nvSpPr>
          <p:cNvPr id="27" name="object 27"/>
          <p:cNvSpPr txBox="1"/>
          <p:nvPr/>
        </p:nvSpPr>
        <p:spPr>
          <a:xfrm>
            <a:off x="3552411" y="4101007"/>
            <a:ext cx="3714380" cy="5046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405">
              <a:spcBef>
                <a:spcPts val="65"/>
              </a:spcBef>
            </a:pPr>
            <a:r>
              <a:rPr sz="1191" dirty="0">
                <a:latin typeface="Century Gothic"/>
                <a:cs typeface="Century Gothic"/>
              </a:rPr>
              <a:t>Compute the absolute error criterion </a:t>
            </a:r>
            <a:r>
              <a:rPr sz="1191" dirty="0">
                <a:solidFill>
                  <a:srgbClr val="640064"/>
                </a:solidFill>
                <a:latin typeface="Century Gothic"/>
                <a:cs typeface="Century Gothic"/>
              </a:rPr>
              <a:t>[for</a:t>
            </a:r>
            <a:r>
              <a:rPr lang="en-IN" sz="1191" dirty="0">
                <a:solidFill>
                  <a:srgbClr val="640064"/>
                </a:solidFill>
                <a:latin typeface="Century Gothic"/>
                <a:cs typeface="Century Gothic"/>
              </a:rPr>
              <a:t> the set of </a:t>
            </a:r>
            <a:r>
              <a:rPr sz="1786" baseline="-1510" dirty="0">
                <a:solidFill>
                  <a:srgbClr val="640064"/>
                </a:solidFill>
                <a:latin typeface="Century Gothic"/>
                <a:cs typeface="Century Gothic"/>
              </a:rPr>
              <a:t>Medoids (O2,O8)]</a:t>
            </a:r>
            <a:endParaRPr sz="1191" dirty="0">
              <a:latin typeface="Century Gothic"/>
              <a:cs typeface="Century Gothic"/>
            </a:endParaRPr>
          </a:p>
        </p:txBody>
      </p:sp>
      <p:grpSp>
        <p:nvGrpSpPr>
          <p:cNvPr id="92" name="Group 91"/>
          <p:cNvGrpSpPr/>
          <p:nvPr/>
        </p:nvGrpSpPr>
        <p:grpSpPr>
          <a:xfrm>
            <a:off x="1842584" y="1853786"/>
            <a:ext cx="1075646" cy="3255804"/>
            <a:chOff x="932777" y="1328714"/>
            <a:chExt cx="1434195" cy="4341072"/>
          </a:xfrm>
        </p:grpSpPr>
        <p:sp>
          <p:nvSpPr>
            <p:cNvPr id="93" name="object 44"/>
            <p:cNvSpPr txBox="1"/>
            <p:nvPr/>
          </p:nvSpPr>
          <p:spPr>
            <a:xfrm>
              <a:off x="1007410" y="1328714"/>
              <a:ext cx="1337651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640064"/>
                  </a:solidFill>
                  <a:latin typeface="Century Gothic"/>
                  <a:cs typeface="Century Gothic"/>
                </a:rPr>
                <a:t>Data Objects</a:t>
              </a:r>
              <a:endParaRPr sz="1191">
                <a:latin typeface="Century Gothic"/>
                <a:cs typeface="Century Gothic"/>
              </a:endParaRPr>
            </a:p>
          </p:txBody>
        </p:sp>
        <p:sp>
          <p:nvSpPr>
            <p:cNvPr id="94" name="object 41"/>
            <p:cNvSpPr txBox="1"/>
            <p:nvPr/>
          </p:nvSpPr>
          <p:spPr>
            <a:xfrm>
              <a:off x="1642783" y="1906266"/>
              <a:ext cx="283478" cy="36201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542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1157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95" name="object 40"/>
            <p:cNvSpPr txBox="1"/>
            <p:nvPr/>
          </p:nvSpPr>
          <p:spPr>
            <a:xfrm>
              <a:off x="2083146" y="1906273"/>
              <a:ext cx="283826" cy="362018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20">
                <a:lnSpc>
                  <a:spcPts val="1549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2</a:t>
              </a:r>
              <a:endParaRPr sz="794">
                <a:latin typeface="Century Gothic"/>
                <a:cs typeface="Century Gothic"/>
              </a:endParaRPr>
            </a:p>
            <a:p>
              <a:pPr marL="8425" marR="27611">
                <a:lnSpc>
                  <a:spcPct val="95825"/>
                </a:lnSpc>
                <a:spcBef>
                  <a:spcPts val="1151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5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96" name="object 38"/>
            <p:cNvSpPr txBox="1"/>
            <p:nvPr/>
          </p:nvSpPr>
          <p:spPr>
            <a:xfrm>
              <a:off x="932777" y="2369634"/>
              <a:ext cx="365031" cy="330015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 marR="27536">
                <a:lnSpc>
                  <a:spcPts val="1532"/>
                </a:lnSpc>
                <a:spcBef>
                  <a:spcPts val="76"/>
                </a:spcBef>
                <a:spcAft>
                  <a:spcPts val="225"/>
                </a:spcAft>
              </a:pPr>
              <a:r>
                <a:rPr sz="1786" baseline="9662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 dirty="0">
                <a:latin typeface="Arial"/>
                <a:cs typeface="Arial"/>
              </a:endParaRPr>
            </a:p>
            <a:p>
              <a:pPr marL="8410" marR="27536">
                <a:lnSpc>
                  <a:spcPts val="1370"/>
                </a:lnSpc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2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3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4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5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8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6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7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8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9</a:t>
              </a:r>
              <a:endParaRPr sz="794" dirty="0">
                <a:latin typeface="Arial"/>
                <a:cs typeface="Arial"/>
              </a:endParaRPr>
            </a:p>
            <a:p>
              <a:pPr marL="8405">
                <a:lnSpc>
                  <a:spcPts val="1370"/>
                </a:lnSpc>
                <a:spcBef>
                  <a:spcPts val="600"/>
                </a:spcBef>
                <a:spcAft>
                  <a:spcPts val="225"/>
                </a:spcAft>
              </a:pPr>
              <a:r>
                <a:rPr sz="1786" baseline="16104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794" dirty="0">
                  <a:solidFill>
                    <a:srgbClr val="006FBF"/>
                  </a:solidFill>
                  <a:latin typeface="Arial"/>
                  <a:cs typeface="Arial"/>
                </a:rPr>
                <a:t>10</a:t>
              </a:r>
              <a:endParaRPr sz="794" dirty="0">
                <a:latin typeface="Arial"/>
                <a:cs typeface="Arial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996291" y="1804921"/>
            <a:ext cx="2865710" cy="2081279"/>
            <a:chOff x="3804386" y="1263562"/>
            <a:chExt cx="3820947" cy="2775038"/>
          </a:xfrm>
        </p:grpSpPr>
        <p:grpSp>
          <p:nvGrpSpPr>
            <p:cNvPr id="98" name="Group 97"/>
            <p:cNvGrpSpPr/>
            <p:nvPr/>
          </p:nvGrpSpPr>
          <p:grpSpPr>
            <a:xfrm>
              <a:off x="3804386" y="1263562"/>
              <a:ext cx="3820947" cy="2744080"/>
              <a:chOff x="3804386" y="1263562"/>
              <a:chExt cx="3820947" cy="2744080"/>
            </a:xfrm>
          </p:grpSpPr>
          <p:sp>
            <p:nvSpPr>
              <p:cNvPr id="101" name="object 46"/>
              <p:cNvSpPr/>
              <p:nvPr/>
            </p:nvSpPr>
            <p:spPr>
              <a:xfrm>
                <a:off x="5957048" y="297247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2" name="object 47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3" name="object 48"/>
              <p:cNvSpPr/>
              <p:nvPr/>
            </p:nvSpPr>
            <p:spPr>
              <a:xfrm>
                <a:off x="6466018" y="3301254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4" name="object 49"/>
              <p:cNvSpPr/>
              <p:nvPr/>
            </p:nvSpPr>
            <p:spPr>
              <a:xfrm>
                <a:off x="5982596" y="360717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5" name="object 50"/>
              <p:cNvSpPr/>
              <p:nvPr/>
            </p:nvSpPr>
            <p:spPr>
              <a:xfrm>
                <a:off x="3987726" y="2284655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6" name="object 51"/>
              <p:cNvSpPr/>
              <p:nvPr/>
            </p:nvSpPr>
            <p:spPr>
              <a:xfrm>
                <a:off x="4940449" y="1943099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7" name="object 52"/>
              <p:cNvSpPr/>
              <p:nvPr/>
            </p:nvSpPr>
            <p:spPr>
              <a:xfrm>
                <a:off x="4395172" y="161230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8" name="object 53"/>
              <p:cNvSpPr/>
              <p:nvPr/>
            </p:nvSpPr>
            <p:spPr>
              <a:xfrm>
                <a:off x="4000500" y="1395132"/>
                <a:ext cx="3558092" cy="2287345"/>
              </a:xfrm>
              <a:custGeom>
                <a:avLst/>
                <a:gdLst/>
                <a:ahLst/>
                <a:cxnLst/>
                <a:rect l="l" t="t" r="r" b="b"/>
                <a:pathLst>
                  <a:path w="4032504" h="2592324">
                    <a:moveTo>
                      <a:pt x="0" y="0"/>
                    </a:moveTo>
                    <a:lnTo>
                      <a:pt x="0" y="2592324"/>
                    </a:lnTo>
                    <a:lnTo>
                      <a:pt x="4032504" y="2592324"/>
                    </a:lnTo>
                    <a:lnTo>
                      <a:pt x="40325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9" name="object 54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0" name="object 55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1" name="object 56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2" name="object 57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3" name="object 58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4" name="object 59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5" name="object 60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6" name="object 61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7" name="object 62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8" name="object 63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9" name="object 64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0" name="object 65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1" name="object 66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2" name="object 67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3" name="object 68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4" name="object 69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5" name="object 70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6" name="object 71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7" name="object 72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8" name="object 73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9" name="object 74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0" name="object 75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1" name="object 76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2" name="object 77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3" name="object 78"/>
              <p:cNvSpPr/>
              <p:nvPr/>
            </p:nvSpPr>
            <p:spPr>
              <a:xfrm>
                <a:off x="6453244" y="296978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4" name="object 79"/>
              <p:cNvSpPr/>
              <p:nvPr/>
            </p:nvSpPr>
            <p:spPr>
              <a:xfrm>
                <a:off x="6961543" y="2589904"/>
                <a:ext cx="126401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3255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61" y="86124"/>
                    </a:lnTo>
                    <a:lnTo>
                      <a:pt x="5652" y="99613"/>
                    </a:lnTo>
                    <a:lnTo>
                      <a:pt x="12285" y="111806"/>
                    </a:lnTo>
                    <a:lnTo>
                      <a:pt x="21071" y="122417"/>
                    </a:lnTo>
                    <a:lnTo>
                      <a:pt x="31722" y="131155"/>
                    </a:lnTo>
                    <a:lnTo>
                      <a:pt x="43950" y="137733"/>
                    </a:lnTo>
                    <a:lnTo>
                      <a:pt x="57466" y="141862"/>
                    </a:lnTo>
                    <a:lnTo>
                      <a:pt x="71627" y="143255"/>
                    </a:lnTo>
                    <a:lnTo>
                      <a:pt x="86124" y="141794"/>
                    </a:lnTo>
                    <a:lnTo>
                      <a:pt x="99613" y="137603"/>
                    </a:lnTo>
                    <a:lnTo>
                      <a:pt x="111806" y="130970"/>
                    </a:lnTo>
                    <a:lnTo>
                      <a:pt x="122417" y="122184"/>
                    </a:lnTo>
                    <a:lnTo>
                      <a:pt x="131155" y="111533"/>
                    </a:lnTo>
                    <a:lnTo>
                      <a:pt x="137733" y="99305"/>
                    </a:lnTo>
                    <a:lnTo>
                      <a:pt x="141862" y="85789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5" name="object 80"/>
              <p:cNvSpPr/>
              <p:nvPr/>
            </p:nvSpPr>
            <p:spPr>
              <a:xfrm>
                <a:off x="6466018" y="2259107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6" name="object 81"/>
              <p:cNvSpPr/>
              <p:nvPr/>
            </p:nvSpPr>
            <p:spPr>
              <a:xfrm>
                <a:off x="6453244" y="2971128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7" name="object 82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8" name="object 45"/>
              <p:cNvSpPr txBox="1"/>
              <p:nvPr/>
            </p:nvSpPr>
            <p:spPr>
              <a:xfrm>
                <a:off x="3804386" y="1263562"/>
                <a:ext cx="175444" cy="185321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 marR="20197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16982" marR="10597">
                  <a:lnSpc>
                    <a:spcPct val="102172"/>
                  </a:lnSpc>
                  <a:spcBef>
                    <a:spcPts val="521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757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6071" marR="150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6071" marR="1508">
                  <a:lnSpc>
                    <a:spcPct val="102172"/>
                  </a:lnSpc>
                  <a:spcBef>
                    <a:spcPts val="71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7578">
                  <a:lnSpc>
                    <a:spcPct val="102172"/>
                  </a:lnSpc>
                  <a:spcBef>
                    <a:spcPts val="802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39" name="object 43"/>
              <p:cNvSpPr txBox="1"/>
              <p:nvPr/>
            </p:nvSpPr>
            <p:spPr>
              <a:xfrm>
                <a:off x="6667276" y="1708639"/>
                <a:ext cx="71983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solidFill>
                      <a:schemeClr val="accent2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cluster2</a:t>
                </a:r>
              </a:p>
            </p:txBody>
          </p:sp>
          <p:sp>
            <p:nvSpPr>
              <p:cNvPr id="140" name="object 42"/>
              <p:cNvSpPr txBox="1"/>
              <p:nvPr/>
            </p:nvSpPr>
            <p:spPr>
              <a:xfrm>
                <a:off x="4493559" y="17362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3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1" name="object 39"/>
              <p:cNvSpPr txBox="1"/>
              <p:nvPr/>
            </p:nvSpPr>
            <p:spPr>
              <a:xfrm>
                <a:off x="5036823" y="20791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4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2" name="object 37"/>
              <p:cNvSpPr txBox="1"/>
              <p:nvPr/>
            </p:nvSpPr>
            <p:spPr>
              <a:xfrm>
                <a:off x="6628280" y="2332577"/>
                <a:ext cx="150486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10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3" name="object 36"/>
              <p:cNvSpPr txBox="1"/>
              <p:nvPr/>
            </p:nvSpPr>
            <p:spPr>
              <a:xfrm>
                <a:off x="4090147" y="241393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4" name="object 35"/>
              <p:cNvSpPr txBox="1"/>
              <p:nvPr/>
            </p:nvSpPr>
            <p:spPr>
              <a:xfrm>
                <a:off x="7124476" y="2663374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9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5" name="object 34"/>
              <p:cNvSpPr txBox="1"/>
              <p:nvPr/>
            </p:nvSpPr>
            <p:spPr>
              <a:xfrm>
                <a:off x="6090404" y="304393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6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6" name="object 33"/>
              <p:cNvSpPr txBox="1"/>
              <p:nvPr/>
            </p:nvSpPr>
            <p:spPr>
              <a:xfrm>
                <a:off x="6615505" y="304258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8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7" name="object 32"/>
              <p:cNvSpPr txBox="1"/>
              <p:nvPr/>
            </p:nvSpPr>
            <p:spPr>
              <a:xfrm>
                <a:off x="4539951" y="3056697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2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8" name="object 31"/>
              <p:cNvSpPr txBox="1"/>
              <p:nvPr/>
            </p:nvSpPr>
            <p:spPr>
              <a:xfrm>
                <a:off x="3840704" y="329741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9" name="object 30"/>
              <p:cNvSpPr txBox="1"/>
              <p:nvPr/>
            </p:nvSpPr>
            <p:spPr>
              <a:xfrm>
                <a:off x="3885752" y="363896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2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0" name="object 29"/>
              <p:cNvSpPr txBox="1"/>
              <p:nvPr/>
            </p:nvSpPr>
            <p:spPr>
              <a:xfrm>
                <a:off x="7008168" y="3774795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1" name="object 28"/>
              <p:cNvSpPr txBox="1"/>
              <p:nvPr/>
            </p:nvSpPr>
            <p:spPr>
              <a:xfrm>
                <a:off x="7475453" y="3780844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2" name="object 27"/>
              <p:cNvSpPr txBox="1"/>
              <p:nvPr/>
            </p:nvSpPr>
            <p:spPr>
              <a:xfrm>
                <a:off x="5458391" y="3792930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3" name="object 26"/>
              <p:cNvSpPr txBox="1"/>
              <p:nvPr/>
            </p:nvSpPr>
            <p:spPr>
              <a:xfrm>
                <a:off x="5967356" y="378755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4" name="object 25"/>
              <p:cNvSpPr txBox="1"/>
              <p:nvPr/>
            </p:nvSpPr>
            <p:spPr>
              <a:xfrm>
                <a:off x="6475661" y="379294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5" name="object 24"/>
              <p:cNvSpPr txBox="1"/>
              <p:nvPr/>
            </p:nvSpPr>
            <p:spPr>
              <a:xfrm>
                <a:off x="4441788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6" name="object 23"/>
              <p:cNvSpPr txBox="1"/>
              <p:nvPr/>
            </p:nvSpPr>
            <p:spPr>
              <a:xfrm>
                <a:off x="4950086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7" name="object 16"/>
              <p:cNvSpPr txBox="1"/>
              <p:nvPr/>
            </p:nvSpPr>
            <p:spPr>
              <a:xfrm>
                <a:off x="4000500" y="1395133"/>
                <a:ext cx="3558092" cy="28037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596"/>
                  </a:lnSpc>
                  <a:spcBef>
                    <a:spcPts val="3"/>
                  </a:spcBef>
                </a:pPr>
                <a:endParaRPr sz="596" dirty="0"/>
              </a:p>
              <a:p>
                <a:pPr marL="770054">
                  <a:lnSpc>
                    <a:spcPts val="1055"/>
                  </a:lnSpc>
                  <a:spcBef>
                    <a:spcPts val="53"/>
                  </a:spcBef>
                </a:pPr>
                <a:r>
                  <a:rPr sz="1589" baseline="-11894" dirty="0">
                    <a:solidFill>
                      <a:schemeClr val="accent5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cluster1</a:t>
                </a:r>
                <a:endParaRPr sz="1059" dirty="0">
                  <a:solidFill>
                    <a:schemeClr val="accent5">
                      <a:lumMod val="75000"/>
                    </a:schemeClr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158" name="object 15"/>
              <p:cNvSpPr txBox="1"/>
              <p:nvPr/>
            </p:nvSpPr>
            <p:spPr>
              <a:xfrm>
                <a:off x="4000500" y="1675503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9" name="object 14"/>
              <p:cNvSpPr txBox="1"/>
              <p:nvPr/>
            </p:nvSpPr>
            <p:spPr>
              <a:xfrm>
                <a:off x="4000500" y="2018404"/>
                <a:ext cx="0" cy="330797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60" name="object 13"/>
              <p:cNvSpPr txBox="1"/>
              <p:nvPr/>
            </p:nvSpPr>
            <p:spPr>
              <a:xfrm>
                <a:off x="4000500" y="2349201"/>
                <a:ext cx="0" cy="34155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61" name="object 12"/>
              <p:cNvSpPr txBox="1"/>
              <p:nvPr/>
            </p:nvSpPr>
            <p:spPr>
              <a:xfrm>
                <a:off x="4000500" y="2690756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62" name="object 11"/>
              <p:cNvSpPr txBox="1"/>
              <p:nvPr/>
            </p:nvSpPr>
            <p:spPr>
              <a:xfrm>
                <a:off x="4000500" y="3033657"/>
                <a:ext cx="0" cy="34357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63" name="object 10"/>
              <p:cNvSpPr txBox="1"/>
              <p:nvPr/>
            </p:nvSpPr>
            <p:spPr>
              <a:xfrm>
                <a:off x="4000500" y="3377229"/>
                <a:ext cx="3558092" cy="30524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R="646999" algn="r">
                  <a:lnSpc>
                    <a:spcPts val="672"/>
                  </a:lnSpc>
                  <a:spcBef>
                    <a:spcPts val="33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7</a:t>
                </a:r>
                <a:endParaRPr sz="596">
                  <a:latin typeface="Century Gothic"/>
                  <a:cs typeface="Century Gothic"/>
                </a:endParaRPr>
              </a:p>
              <a:p>
                <a:pPr marL="1437782" marR="1160408" algn="ctr">
                  <a:lnSpc>
                    <a:spcPct val="102172"/>
                  </a:lnSpc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5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64" name="object 9"/>
              <p:cNvSpPr txBox="1"/>
              <p:nvPr/>
            </p:nvSpPr>
            <p:spPr>
              <a:xfrm>
                <a:off x="4000500" y="3682478"/>
                <a:ext cx="498885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5" name="object 8"/>
              <p:cNvSpPr txBox="1"/>
              <p:nvPr/>
            </p:nvSpPr>
            <p:spPr>
              <a:xfrm>
                <a:off x="4499386" y="3682478"/>
                <a:ext cx="516367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6" name="object 7"/>
              <p:cNvSpPr txBox="1"/>
              <p:nvPr/>
            </p:nvSpPr>
            <p:spPr>
              <a:xfrm>
                <a:off x="5015753" y="3682478"/>
                <a:ext cx="50023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7" name="object 6"/>
              <p:cNvSpPr txBox="1"/>
              <p:nvPr/>
            </p:nvSpPr>
            <p:spPr>
              <a:xfrm>
                <a:off x="5515984" y="3682478"/>
                <a:ext cx="517039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8" name="object 5"/>
              <p:cNvSpPr txBox="1"/>
              <p:nvPr/>
            </p:nvSpPr>
            <p:spPr>
              <a:xfrm>
                <a:off x="6033023" y="3682478"/>
                <a:ext cx="495524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9" name="object 4"/>
              <p:cNvSpPr txBox="1"/>
              <p:nvPr/>
            </p:nvSpPr>
            <p:spPr>
              <a:xfrm>
                <a:off x="6528548" y="3682478"/>
                <a:ext cx="49754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70" name="object 3"/>
              <p:cNvSpPr txBox="1"/>
              <p:nvPr/>
            </p:nvSpPr>
            <p:spPr>
              <a:xfrm>
                <a:off x="7026089" y="3682478"/>
                <a:ext cx="532503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</p:grpSp>
        <p:sp>
          <p:nvSpPr>
            <p:cNvPr id="99" name="Oval 98"/>
            <p:cNvSpPr/>
            <p:nvPr/>
          </p:nvSpPr>
          <p:spPr bwMode="auto">
            <a:xfrm>
              <a:off x="3937363" y="1447801"/>
              <a:ext cx="1320437" cy="1755738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noFill/>
                <a:latin typeface="Arial" charset="0"/>
              </a:endParaRPr>
            </a:p>
          </p:txBody>
        </p:sp>
        <p:sp>
          <p:nvSpPr>
            <p:cNvPr id="100" name="Oval 99"/>
            <p:cNvSpPr/>
            <p:nvPr/>
          </p:nvSpPr>
          <p:spPr bwMode="auto">
            <a:xfrm>
              <a:off x="5715000" y="2057167"/>
              <a:ext cx="1527717" cy="1981433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solidFill>
                  <a:schemeClr val="tx1"/>
                </a:solidFill>
                <a:latin typeface="Arial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/>
              <p:cNvSpPr txBox="1"/>
              <p:nvPr/>
            </p:nvSpPr>
            <p:spPr>
              <a:xfrm>
                <a:off x="3041696" y="4714204"/>
                <a:ext cx="4292588" cy="5493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b="1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IN" sz="12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IN" sz="12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IN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IN" sz="12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IN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I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I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200" i="1">
                                          <a:latin typeface="Cambria Math" panose="02040503050406030204" pitchFamily="18" charset="0"/>
                                        </a:rPr>
                                        <m:t>𝑶</m:t>
                                      </m:r>
                                    </m:e>
                                    <m:sub>
                                      <m:r>
                                        <a:rPr lang="en-IN" sz="12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IN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200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𝑶</m:t>
                                          </m:r>
                                        </m:e>
                                        <m:sub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IN" sz="1200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𝑶</m:t>
                                          </m:r>
                                        </m:e>
                                        <m:sub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IN" sz="1200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200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𝑶</m:t>
                                          </m:r>
                                        </m:e>
                                        <m:sub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IN" sz="1200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𝑶</m:t>
                                          </m:r>
                                        </m:e>
                                        <m:sub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IN" sz="1200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200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𝑶</m:t>
                                          </m:r>
                                        </m:e>
                                        <m:sub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IN" sz="1200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𝑶</m:t>
                                          </m:r>
                                        </m:e>
                                        <m:sub>
                                          <m:r>
                                            <a:rPr lang="en-IN" sz="12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IN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171" name="TextBox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595" y="5142606"/>
                <a:ext cx="5723450" cy="73238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Rectangle 171"/>
              <p:cNvSpPr/>
              <p:nvPr/>
            </p:nvSpPr>
            <p:spPr>
              <a:xfrm>
                <a:off x="3545786" y="5403935"/>
                <a:ext cx="440055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sz="1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  <m:r>
                                <a:rPr lang="en-IN" sz="1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sz="1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sub>
                              </m:sSub>
                              <m:r>
                                <a:rPr lang="en-IN" sz="1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sz="1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sub>
                              </m:sSub>
                              <m:r>
                                <a:rPr lang="en-IN" sz="1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sz="1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𝟗</m:t>
                                  </m:r>
                                </m:sub>
                              </m:sSub>
                              <m:r>
                                <a:rPr lang="en-IN" sz="1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sz="1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𝟏𝟎</m:t>
                                  </m:r>
                                </m:sub>
                              </m:sSub>
                              <m:r>
                                <a:rPr lang="en-IN" sz="1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IN" sz="1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172" name="Rectangle 1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715" y="6062246"/>
                <a:ext cx="5867400" cy="33855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Title 84"/>
          <p:cNvSpPr txBox="1">
            <a:spLocks/>
          </p:cNvSpPr>
          <p:nvPr/>
        </p:nvSpPr>
        <p:spPr>
          <a:xfrm>
            <a:off x="1399766" y="1045031"/>
            <a:ext cx="6210300" cy="400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altLang="ko-KR" sz="2100" kern="0" dirty="0">
                <a:solidFill>
                  <a:srgbClr val="002060"/>
                </a:solidFill>
                <a:ea typeface="Gulim" pitchFamily="34" charset="-127"/>
              </a:rPr>
              <a:t>PAM or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K-</a:t>
            </a:r>
            <a:r>
              <a:rPr lang="en-IN" sz="2100" kern="0" spc="3" dirty="0" err="1">
                <a:solidFill>
                  <a:srgbClr val="002060"/>
                </a:solidFill>
                <a:cs typeface="Century Gothic"/>
              </a:rPr>
              <a:t>Medoid</a:t>
            </a:r>
            <a:r>
              <a:rPr lang="en-IN" sz="2100" kern="0" dirty="0" err="1">
                <a:solidFill>
                  <a:srgbClr val="002060"/>
                </a:solidFill>
                <a:cs typeface="Century Gothic"/>
              </a:rPr>
              <a:t>s</a:t>
            </a:r>
            <a:r>
              <a:rPr lang="en-IN" sz="2100" kern="0" dirty="0">
                <a:solidFill>
                  <a:srgbClr val="002060"/>
                </a:solidFill>
                <a:cs typeface="Century Gothic"/>
              </a:rPr>
              <a:t>:</a:t>
            </a:r>
            <a:r>
              <a:rPr lang="en-IN" sz="2100" kern="0" spc="6" dirty="0">
                <a:solidFill>
                  <a:srgbClr val="002060"/>
                </a:solidFill>
                <a:cs typeface="Century Gothic"/>
              </a:rPr>
              <a:t> 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Example</a:t>
            </a:r>
            <a:endParaRPr lang="en-IN" sz="2100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43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object 87"/>
          <p:cNvSpPr/>
          <p:nvPr/>
        </p:nvSpPr>
        <p:spPr>
          <a:xfrm>
            <a:off x="1846955" y="5416811"/>
            <a:ext cx="79673" cy="126066"/>
          </a:xfrm>
          <a:custGeom>
            <a:avLst/>
            <a:gdLst/>
            <a:ahLst/>
            <a:cxnLst/>
            <a:rect l="l" t="t" r="r" b="b"/>
            <a:pathLst>
              <a:path w="120395" h="190500">
                <a:moveTo>
                  <a:pt x="120395" y="95250"/>
                </a:moveTo>
                <a:lnTo>
                  <a:pt x="0" y="0"/>
                </a:lnTo>
                <a:lnTo>
                  <a:pt x="0" y="190500"/>
                </a:lnTo>
                <a:lnTo>
                  <a:pt x="120395" y="95250"/>
                </a:lnTo>
                <a:close/>
              </a:path>
            </a:pathLst>
          </a:custGeom>
          <a:solidFill>
            <a:srgbClr val="9FB7CC"/>
          </a:solidFill>
        </p:spPr>
        <p:txBody>
          <a:bodyPr wrap="square" lIns="0" tIns="0" rIns="0" bIns="0" rtlCol="0">
            <a:noAutofit/>
          </a:bodyPr>
          <a:lstStyle/>
          <a:p>
            <a:endParaRPr sz="926"/>
          </a:p>
        </p:txBody>
      </p:sp>
      <p:sp>
        <p:nvSpPr>
          <p:cNvPr id="24" name="object 24"/>
          <p:cNvSpPr txBox="1"/>
          <p:nvPr/>
        </p:nvSpPr>
        <p:spPr>
          <a:xfrm>
            <a:off x="3431858" y="4244046"/>
            <a:ext cx="4396179" cy="351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405">
              <a:lnSpc>
                <a:spcPts val="1307"/>
              </a:lnSpc>
              <a:spcBef>
                <a:spcPts val="65"/>
              </a:spcBef>
            </a:pPr>
            <a:r>
              <a:rPr sz="1191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1191" dirty="0">
                <a:latin typeface="Century Gothic"/>
                <a:cs typeface="Century Gothic"/>
              </a:rPr>
              <a:t>The</a:t>
            </a:r>
            <a:r>
              <a:rPr sz="1191" spc="3" dirty="0">
                <a:latin typeface="Century Gothic"/>
                <a:cs typeface="Century Gothic"/>
              </a:rPr>
              <a:t> </a:t>
            </a:r>
            <a:r>
              <a:rPr sz="1191" dirty="0">
                <a:latin typeface="Century Gothic"/>
                <a:cs typeface="Century Gothic"/>
              </a:rPr>
              <a:t>absolute</a:t>
            </a:r>
            <a:r>
              <a:rPr lang="en-IN" sz="1191" dirty="0">
                <a:latin typeface="Century Gothic"/>
                <a:cs typeface="Century Gothic"/>
              </a:rPr>
              <a:t> error criterion [for the set of </a:t>
            </a:r>
            <a:r>
              <a:rPr lang="en-IN" sz="1191" dirty="0" err="1">
                <a:latin typeface="Century Gothic"/>
                <a:cs typeface="Century Gothic"/>
              </a:rPr>
              <a:t>Medoids</a:t>
            </a:r>
            <a:r>
              <a:rPr lang="en-IN" sz="1191" dirty="0">
                <a:latin typeface="Century Gothic"/>
                <a:cs typeface="Century Gothic"/>
              </a:rPr>
              <a:t> (O</a:t>
            </a:r>
            <a:r>
              <a:rPr lang="en-IN" sz="1191" baseline="-25000" dirty="0">
                <a:latin typeface="Century Gothic"/>
                <a:cs typeface="Century Gothic"/>
              </a:rPr>
              <a:t>2</a:t>
            </a:r>
            <a:r>
              <a:rPr lang="en-IN" sz="1191" dirty="0">
                <a:latin typeface="Century Gothic"/>
                <a:cs typeface="Century Gothic"/>
              </a:rPr>
              <a:t>,O</a:t>
            </a:r>
            <a:r>
              <a:rPr lang="en-IN" sz="1191" baseline="-25000" dirty="0">
                <a:latin typeface="Century Gothic"/>
                <a:cs typeface="Century Gothic"/>
              </a:rPr>
              <a:t>8</a:t>
            </a:r>
            <a:r>
              <a:rPr lang="en-IN" sz="1191" dirty="0">
                <a:latin typeface="Century Gothic"/>
                <a:cs typeface="Century Gothic"/>
              </a:rPr>
              <a:t>)]</a:t>
            </a:r>
            <a:endParaRPr sz="1191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96301" y="4787528"/>
            <a:ext cx="3355154" cy="2671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405">
              <a:lnSpc>
                <a:spcPts val="2075"/>
              </a:lnSpc>
              <a:spcBef>
                <a:spcPts val="103"/>
              </a:spcBef>
            </a:pPr>
            <a:r>
              <a:rPr sz="1952" i="1" dirty="0">
                <a:latin typeface="Times New Roman"/>
                <a:cs typeface="Times New Roman"/>
              </a:rPr>
              <a:t>E</a:t>
            </a:r>
            <a:r>
              <a:rPr lang="en-IN" sz="1952" i="1" dirty="0">
                <a:latin typeface="Times New Roman"/>
                <a:cs typeface="Times New Roman"/>
              </a:rPr>
              <a:t> </a:t>
            </a:r>
            <a:r>
              <a:rPr lang="en-IN" sz="1952" dirty="0">
                <a:latin typeface="Times New Roman"/>
                <a:cs typeface="Times New Roman"/>
              </a:rPr>
              <a:t>= (3+4+4)+(3+1+1+2+2) = 20</a:t>
            </a:r>
            <a:endParaRPr sz="1952" dirty="0">
              <a:latin typeface="Times New Roman"/>
              <a:cs typeface="Times New Roman"/>
            </a:endParaRPr>
          </a:p>
        </p:txBody>
      </p:sp>
      <p:grpSp>
        <p:nvGrpSpPr>
          <p:cNvPr id="89" name="Group 88"/>
          <p:cNvGrpSpPr/>
          <p:nvPr/>
        </p:nvGrpSpPr>
        <p:grpSpPr>
          <a:xfrm>
            <a:off x="1842584" y="1853786"/>
            <a:ext cx="1075646" cy="3255804"/>
            <a:chOff x="932777" y="1328714"/>
            <a:chExt cx="1434195" cy="4341072"/>
          </a:xfrm>
        </p:grpSpPr>
        <p:sp>
          <p:nvSpPr>
            <p:cNvPr id="90" name="object 44"/>
            <p:cNvSpPr txBox="1"/>
            <p:nvPr/>
          </p:nvSpPr>
          <p:spPr>
            <a:xfrm>
              <a:off x="1007410" y="1328714"/>
              <a:ext cx="1337651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640064"/>
                  </a:solidFill>
                  <a:latin typeface="Century Gothic"/>
                  <a:cs typeface="Century Gothic"/>
                </a:rPr>
                <a:t>Data Objects</a:t>
              </a:r>
              <a:endParaRPr sz="1191">
                <a:latin typeface="Century Gothic"/>
                <a:cs typeface="Century Gothic"/>
              </a:endParaRPr>
            </a:p>
          </p:txBody>
        </p:sp>
        <p:sp>
          <p:nvSpPr>
            <p:cNvPr id="91" name="object 41"/>
            <p:cNvSpPr txBox="1"/>
            <p:nvPr/>
          </p:nvSpPr>
          <p:spPr>
            <a:xfrm>
              <a:off x="1642783" y="1906266"/>
              <a:ext cx="283478" cy="36201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542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1157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92" name="object 40"/>
            <p:cNvSpPr txBox="1"/>
            <p:nvPr/>
          </p:nvSpPr>
          <p:spPr>
            <a:xfrm>
              <a:off x="2083146" y="1906273"/>
              <a:ext cx="283826" cy="362018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20">
                <a:lnSpc>
                  <a:spcPts val="1549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2</a:t>
              </a:r>
              <a:endParaRPr sz="794">
                <a:latin typeface="Century Gothic"/>
                <a:cs typeface="Century Gothic"/>
              </a:endParaRPr>
            </a:p>
            <a:p>
              <a:pPr marL="8425" marR="27611">
                <a:lnSpc>
                  <a:spcPct val="95825"/>
                </a:lnSpc>
                <a:spcBef>
                  <a:spcPts val="1151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5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93" name="object 38"/>
            <p:cNvSpPr txBox="1"/>
            <p:nvPr/>
          </p:nvSpPr>
          <p:spPr>
            <a:xfrm>
              <a:off x="932777" y="2369634"/>
              <a:ext cx="365031" cy="330015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 marR="27536">
                <a:lnSpc>
                  <a:spcPts val="1532"/>
                </a:lnSpc>
                <a:spcBef>
                  <a:spcPts val="76"/>
                </a:spcBef>
                <a:spcAft>
                  <a:spcPts val="225"/>
                </a:spcAft>
              </a:pPr>
              <a:r>
                <a:rPr sz="1786" baseline="9662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 dirty="0">
                <a:latin typeface="Arial"/>
                <a:cs typeface="Arial"/>
              </a:endParaRPr>
            </a:p>
            <a:p>
              <a:pPr marL="8410" marR="27536">
                <a:lnSpc>
                  <a:spcPts val="1370"/>
                </a:lnSpc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2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3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4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5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8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6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7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8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9</a:t>
              </a:r>
              <a:endParaRPr sz="794" dirty="0">
                <a:latin typeface="Arial"/>
                <a:cs typeface="Arial"/>
              </a:endParaRPr>
            </a:p>
            <a:p>
              <a:pPr marL="8405">
                <a:lnSpc>
                  <a:spcPts val="1370"/>
                </a:lnSpc>
                <a:spcBef>
                  <a:spcPts val="600"/>
                </a:spcBef>
                <a:spcAft>
                  <a:spcPts val="225"/>
                </a:spcAft>
              </a:pPr>
              <a:r>
                <a:rPr sz="1786" baseline="16104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794" dirty="0">
                  <a:solidFill>
                    <a:srgbClr val="006FBF"/>
                  </a:solidFill>
                  <a:latin typeface="Arial"/>
                  <a:cs typeface="Arial"/>
                </a:rPr>
                <a:t>10</a:t>
              </a:r>
              <a:endParaRPr sz="794" dirty="0">
                <a:latin typeface="Arial"/>
                <a:cs typeface="Arial"/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3996291" y="1804921"/>
            <a:ext cx="2865710" cy="2081279"/>
            <a:chOff x="3804386" y="1263562"/>
            <a:chExt cx="3820947" cy="2775038"/>
          </a:xfrm>
        </p:grpSpPr>
        <p:grpSp>
          <p:nvGrpSpPr>
            <p:cNvPr id="95" name="Group 94"/>
            <p:cNvGrpSpPr/>
            <p:nvPr/>
          </p:nvGrpSpPr>
          <p:grpSpPr>
            <a:xfrm>
              <a:off x="3804386" y="1263562"/>
              <a:ext cx="3820947" cy="2744080"/>
              <a:chOff x="3804386" y="1263562"/>
              <a:chExt cx="3820947" cy="2744080"/>
            </a:xfrm>
          </p:grpSpPr>
          <p:sp>
            <p:nvSpPr>
              <p:cNvPr id="98" name="object 46"/>
              <p:cNvSpPr/>
              <p:nvPr/>
            </p:nvSpPr>
            <p:spPr>
              <a:xfrm>
                <a:off x="5957048" y="297247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99" name="object 47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0" name="object 48"/>
              <p:cNvSpPr/>
              <p:nvPr/>
            </p:nvSpPr>
            <p:spPr>
              <a:xfrm>
                <a:off x="6466018" y="3301254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1" name="object 49"/>
              <p:cNvSpPr/>
              <p:nvPr/>
            </p:nvSpPr>
            <p:spPr>
              <a:xfrm>
                <a:off x="5982596" y="360717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2" name="object 50"/>
              <p:cNvSpPr/>
              <p:nvPr/>
            </p:nvSpPr>
            <p:spPr>
              <a:xfrm>
                <a:off x="3987726" y="2284655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3" name="object 51"/>
              <p:cNvSpPr/>
              <p:nvPr/>
            </p:nvSpPr>
            <p:spPr>
              <a:xfrm>
                <a:off x="4940449" y="1943099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4" name="object 52"/>
              <p:cNvSpPr/>
              <p:nvPr/>
            </p:nvSpPr>
            <p:spPr>
              <a:xfrm>
                <a:off x="4395172" y="161230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5" name="object 53"/>
              <p:cNvSpPr/>
              <p:nvPr/>
            </p:nvSpPr>
            <p:spPr>
              <a:xfrm>
                <a:off x="4000500" y="1395132"/>
                <a:ext cx="3558092" cy="2287345"/>
              </a:xfrm>
              <a:custGeom>
                <a:avLst/>
                <a:gdLst/>
                <a:ahLst/>
                <a:cxnLst/>
                <a:rect l="l" t="t" r="r" b="b"/>
                <a:pathLst>
                  <a:path w="4032504" h="2592324">
                    <a:moveTo>
                      <a:pt x="0" y="0"/>
                    </a:moveTo>
                    <a:lnTo>
                      <a:pt x="0" y="2592324"/>
                    </a:lnTo>
                    <a:lnTo>
                      <a:pt x="4032504" y="2592324"/>
                    </a:lnTo>
                    <a:lnTo>
                      <a:pt x="40325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6" name="object 54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7" name="object 55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8" name="object 56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9" name="object 57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0" name="object 58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1" name="object 59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2" name="object 60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3" name="object 61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4" name="object 62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5" name="object 63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6" name="object 64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7" name="object 65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8" name="object 66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9" name="object 67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0" name="object 68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1" name="object 69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2" name="object 70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3" name="object 71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4" name="object 72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5" name="object 73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6" name="object 74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7" name="object 75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8" name="object 76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9" name="object 77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0" name="object 78"/>
              <p:cNvSpPr/>
              <p:nvPr/>
            </p:nvSpPr>
            <p:spPr>
              <a:xfrm>
                <a:off x="6453244" y="296978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1" name="object 79"/>
              <p:cNvSpPr/>
              <p:nvPr/>
            </p:nvSpPr>
            <p:spPr>
              <a:xfrm>
                <a:off x="6961543" y="2589904"/>
                <a:ext cx="126401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3255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61" y="86124"/>
                    </a:lnTo>
                    <a:lnTo>
                      <a:pt x="5652" y="99613"/>
                    </a:lnTo>
                    <a:lnTo>
                      <a:pt x="12285" y="111806"/>
                    </a:lnTo>
                    <a:lnTo>
                      <a:pt x="21071" y="122417"/>
                    </a:lnTo>
                    <a:lnTo>
                      <a:pt x="31722" y="131155"/>
                    </a:lnTo>
                    <a:lnTo>
                      <a:pt x="43950" y="137733"/>
                    </a:lnTo>
                    <a:lnTo>
                      <a:pt x="57466" y="141862"/>
                    </a:lnTo>
                    <a:lnTo>
                      <a:pt x="71627" y="143255"/>
                    </a:lnTo>
                    <a:lnTo>
                      <a:pt x="86124" y="141794"/>
                    </a:lnTo>
                    <a:lnTo>
                      <a:pt x="99613" y="137603"/>
                    </a:lnTo>
                    <a:lnTo>
                      <a:pt x="111806" y="130970"/>
                    </a:lnTo>
                    <a:lnTo>
                      <a:pt x="122417" y="122184"/>
                    </a:lnTo>
                    <a:lnTo>
                      <a:pt x="131155" y="111533"/>
                    </a:lnTo>
                    <a:lnTo>
                      <a:pt x="137733" y="99305"/>
                    </a:lnTo>
                    <a:lnTo>
                      <a:pt x="141862" y="85789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2" name="object 80"/>
              <p:cNvSpPr/>
              <p:nvPr/>
            </p:nvSpPr>
            <p:spPr>
              <a:xfrm>
                <a:off x="6466018" y="2259107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3" name="object 81"/>
              <p:cNvSpPr/>
              <p:nvPr/>
            </p:nvSpPr>
            <p:spPr>
              <a:xfrm>
                <a:off x="6453244" y="2971128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4" name="object 82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5" name="object 45"/>
              <p:cNvSpPr txBox="1"/>
              <p:nvPr/>
            </p:nvSpPr>
            <p:spPr>
              <a:xfrm>
                <a:off x="3804386" y="1263562"/>
                <a:ext cx="175444" cy="185321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 marR="20197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16982" marR="10597">
                  <a:lnSpc>
                    <a:spcPct val="102172"/>
                  </a:lnSpc>
                  <a:spcBef>
                    <a:spcPts val="521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757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6071" marR="150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6071" marR="1508">
                  <a:lnSpc>
                    <a:spcPct val="102172"/>
                  </a:lnSpc>
                  <a:spcBef>
                    <a:spcPts val="71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7578">
                  <a:lnSpc>
                    <a:spcPct val="102172"/>
                  </a:lnSpc>
                  <a:spcBef>
                    <a:spcPts val="802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36" name="object 43"/>
              <p:cNvSpPr txBox="1"/>
              <p:nvPr/>
            </p:nvSpPr>
            <p:spPr>
              <a:xfrm>
                <a:off x="6667276" y="1708639"/>
                <a:ext cx="71983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solidFill>
                      <a:schemeClr val="accent2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cluster2</a:t>
                </a:r>
              </a:p>
            </p:txBody>
          </p:sp>
          <p:sp>
            <p:nvSpPr>
              <p:cNvPr id="137" name="object 42"/>
              <p:cNvSpPr txBox="1"/>
              <p:nvPr/>
            </p:nvSpPr>
            <p:spPr>
              <a:xfrm>
                <a:off x="4493559" y="17362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3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38" name="object 39"/>
              <p:cNvSpPr txBox="1"/>
              <p:nvPr/>
            </p:nvSpPr>
            <p:spPr>
              <a:xfrm>
                <a:off x="5036823" y="20791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4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39" name="object 37"/>
              <p:cNvSpPr txBox="1"/>
              <p:nvPr/>
            </p:nvSpPr>
            <p:spPr>
              <a:xfrm>
                <a:off x="6628280" y="2332577"/>
                <a:ext cx="150486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10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0" name="object 36"/>
              <p:cNvSpPr txBox="1"/>
              <p:nvPr/>
            </p:nvSpPr>
            <p:spPr>
              <a:xfrm>
                <a:off x="4090147" y="241393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1" name="object 35"/>
              <p:cNvSpPr txBox="1"/>
              <p:nvPr/>
            </p:nvSpPr>
            <p:spPr>
              <a:xfrm>
                <a:off x="7124476" y="2663374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9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2" name="object 34"/>
              <p:cNvSpPr txBox="1"/>
              <p:nvPr/>
            </p:nvSpPr>
            <p:spPr>
              <a:xfrm>
                <a:off x="6090404" y="304393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6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3" name="object 33"/>
              <p:cNvSpPr txBox="1"/>
              <p:nvPr/>
            </p:nvSpPr>
            <p:spPr>
              <a:xfrm>
                <a:off x="6615505" y="304258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8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4" name="object 32"/>
              <p:cNvSpPr txBox="1"/>
              <p:nvPr/>
            </p:nvSpPr>
            <p:spPr>
              <a:xfrm>
                <a:off x="4539951" y="3056697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2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5" name="object 31"/>
              <p:cNvSpPr txBox="1"/>
              <p:nvPr/>
            </p:nvSpPr>
            <p:spPr>
              <a:xfrm>
                <a:off x="3840704" y="329741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6" name="object 30"/>
              <p:cNvSpPr txBox="1"/>
              <p:nvPr/>
            </p:nvSpPr>
            <p:spPr>
              <a:xfrm>
                <a:off x="3885752" y="363896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2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7" name="object 29"/>
              <p:cNvSpPr txBox="1"/>
              <p:nvPr/>
            </p:nvSpPr>
            <p:spPr>
              <a:xfrm>
                <a:off x="7008168" y="3774795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8" name="object 28"/>
              <p:cNvSpPr txBox="1"/>
              <p:nvPr/>
            </p:nvSpPr>
            <p:spPr>
              <a:xfrm>
                <a:off x="7475453" y="3780844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9" name="object 27"/>
              <p:cNvSpPr txBox="1"/>
              <p:nvPr/>
            </p:nvSpPr>
            <p:spPr>
              <a:xfrm>
                <a:off x="5458391" y="3792930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0" name="object 26"/>
              <p:cNvSpPr txBox="1"/>
              <p:nvPr/>
            </p:nvSpPr>
            <p:spPr>
              <a:xfrm>
                <a:off x="5967356" y="378755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1" name="object 25"/>
              <p:cNvSpPr txBox="1"/>
              <p:nvPr/>
            </p:nvSpPr>
            <p:spPr>
              <a:xfrm>
                <a:off x="6475661" y="379294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2" name="object 24"/>
              <p:cNvSpPr txBox="1"/>
              <p:nvPr/>
            </p:nvSpPr>
            <p:spPr>
              <a:xfrm>
                <a:off x="4441788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3" name="object 23"/>
              <p:cNvSpPr txBox="1"/>
              <p:nvPr/>
            </p:nvSpPr>
            <p:spPr>
              <a:xfrm>
                <a:off x="4950086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4" name="object 16"/>
              <p:cNvSpPr txBox="1"/>
              <p:nvPr/>
            </p:nvSpPr>
            <p:spPr>
              <a:xfrm>
                <a:off x="4000500" y="1395133"/>
                <a:ext cx="3558092" cy="28037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596"/>
                  </a:lnSpc>
                  <a:spcBef>
                    <a:spcPts val="3"/>
                  </a:spcBef>
                </a:pPr>
                <a:endParaRPr sz="596" dirty="0"/>
              </a:p>
              <a:p>
                <a:pPr marL="770054">
                  <a:lnSpc>
                    <a:spcPts val="1055"/>
                  </a:lnSpc>
                  <a:spcBef>
                    <a:spcPts val="53"/>
                  </a:spcBef>
                </a:pPr>
                <a:r>
                  <a:rPr sz="1589" baseline="-11894" dirty="0">
                    <a:solidFill>
                      <a:schemeClr val="accent5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cluster1</a:t>
                </a:r>
                <a:endParaRPr sz="1059" dirty="0">
                  <a:solidFill>
                    <a:schemeClr val="accent5">
                      <a:lumMod val="75000"/>
                    </a:schemeClr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155" name="object 15"/>
              <p:cNvSpPr txBox="1"/>
              <p:nvPr/>
            </p:nvSpPr>
            <p:spPr>
              <a:xfrm>
                <a:off x="4000500" y="1675503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6" name="object 14"/>
              <p:cNvSpPr txBox="1"/>
              <p:nvPr/>
            </p:nvSpPr>
            <p:spPr>
              <a:xfrm>
                <a:off x="4000500" y="2018404"/>
                <a:ext cx="0" cy="330797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7" name="object 13"/>
              <p:cNvSpPr txBox="1"/>
              <p:nvPr/>
            </p:nvSpPr>
            <p:spPr>
              <a:xfrm>
                <a:off x="4000500" y="2349201"/>
                <a:ext cx="0" cy="34155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8" name="object 12"/>
              <p:cNvSpPr txBox="1"/>
              <p:nvPr/>
            </p:nvSpPr>
            <p:spPr>
              <a:xfrm>
                <a:off x="4000500" y="2690756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9" name="object 11"/>
              <p:cNvSpPr txBox="1"/>
              <p:nvPr/>
            </p:nvSpPr>
            <p:spPr>
              <a:xfrm>
                <a:off x="4000500" y="3033657"/>
                <a:ext cx="0" cy="34357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60" name="object 10"/>
              <p:cNvSpPr txBox="1"/>
              <p:nvPr/>
            </p:nvSpPr>
            <p:spPr>
              <a:xfrm>
                <a:off x="4000500" y="3377229"/>
                <a:ext cx="3558092" cy="30524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R="646999" algn="r">
                  <a:lnSpc>
                    <a:spcPts val="672"/>
                  </a:lnSpc>
                  <a:spcBef>
                    <a:spcPts val="33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7</a:t>
                </a:r>
                <a:endParaRPr sz="596">
                  <a:latin typeface="Century Gothic"/>
                  <a:cs typeface="Century Gothic"/>
                </a:endParaRPr>
              </a:p>
              <a:p>
                <a:pPr marL="1437782" marR="1160408" algn="ctr">
                  <a:lnSpc>
                    <a:spcPct val="102172"/>
                  </a:lnSpc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5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61" name="object 9"/>
              <p:cNvSpPr txBox="1"/>
              <p:nvPr/>
            </p:nvSpPr>
            <p:spPr>
              <a:xfrm>
                <a:off x="4000500" y="3682478"/>
                <a:ext cx="498885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2" name="object 8"/>
              <p:cNvSpPr txBox="1"/>
              <p:nvPr/>
            </p:nvSpPr>
            <p:spPr>
              <a:xfrm>
                <a:off x="4499386" y="3682478"/>
                <a:ext cx="516367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3" name="object 7"/>
              <p:cNvSpPr txBox="1"/>
              <p:nvPr/>
            </p:nvSpPr>
            <p:spPr>
              <a:xfrm>
                <a:off x="5015753" y="3682478"/>
                <a:ext cx="50023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4" name="object 6"/>
              <p:cNvSpPr txBox="1"/>
              <p:nvPr/>
            </p:nvSpPr>
            <p:spPr>
              <a:xfrm>
                <a:off x="5515984" y="3682478"/>
                <a:ext cx="517039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5" name="object 5"/>
              <p:cNvSpPr txBox="1"/>
              <p:nvPr/>
            </p:nvSpPr>
            <p:spPr>
              <a:xfrm>
                <a:off x="6033023" y="3682478"/>
                <a:ext cx="495524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6" name="object 4"/>
              <p:cNvSpPr txBox="1"/>
              <p:nvPr/>
            </p:nvSpPr>
            <p:spPr>
              <a:xfrm>
                <a:off x="6528548" y="3682478"/>
                <a:ext cx="49754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7" name="object 3"/>
              <p:cNvSpPr txBox="1"/>
              <p:nvPr/>
            </p:nvSpPr>
            <p:spPr>
              <a:xfrm>
                <a:off x="7026089" y="3682478"/>
                <a:ext cx="532503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</p:grpSp>
        <p:sp>
          <p:nvSpPr>
            <p:cNvPr id="96" name="Oval 95"/>
            <p:cNvSpPr/>
            <p:nvPr/>
          </p:nvSpPr>
          <p:spPr bwMode="auto">
            <a:xfrm>
              <a:off x="3937363" y="1447801"/>
              <a:ext cx="1320437" cy="1755738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noFill/>
                <a:latin typeface="Arial" charset="0"/>
              </a:endParaRPr>
            </a:p>
          </p:txBody>
        </p:sp>
        <p:sp>
          <p:nvSpPr>
            <p:cNvPr id="97" name="Oval 96"/>
            <p:cNvSpPr/>
            <p:nvPr/>
          </p:nvSpPr>
          <p:spPr bwMode="auto">
            <a:xfrm>
              <a:off x="5715000" y="2057167"/>
              <a:ext cx="1527717" cy="1981433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168" name="Title 84"/>
          <p:cNvSpPr txBox="1">
            <a:spLocks/>
          </p:cNvSpPr>
          <p:nvPr/>
        </p:nvSpPr>
        <p:spPr>
          <a:xfrm>
            <a:off x="1399766" y="1045031"/>
            <a:ext cx="6210300" cy="400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altLang="ko-KR" sz="2100" kern="0" dirty="0">
                <a:solidFill>
                  <a:srgbClr val="002060"/>
                </a:solidFill>
                <a:ea typeface="Gulim" pitchFamily="34" charset="-127"/>
              </a:rPr>
              <a:t>PAM or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K-</a:t>
            </a:r>
            <a:r>
              <a:rPr lang="en-IN" sz="2100" kern="0" spc="3" dirty="0" err="1">
                <a:solidFill>
                  <a:srgbClr val="002060"/>
                </a:solidFill>
                <a:cs typeface="Century Gothic"/>
              </a:rPr>
              <a:t>Medoid</a:t>
            </a:r>
            <a:r>
              <a:rPr lang="en-IN" sz="2100" kern="0" dirty="0" err="1">
                <a:solidFill>
                  <a:srgbClr val="002060"/>
                </a:solidFill>
                <a:cs typeface="Century Gothic"/>
              </a:rPr>
              <a:t>s</a:t>
            </a:r>
            <a:r>
              <a:rPr lang="en-IN" sz="2100" kern="0" dirty="0">
                <a:solidFill>
                  <a:srgbClr val="002060"/>
                </a:solidFill>
                <a:cs typeface="Century Gothic"/>
              </a:rPr>
              <a:t>:</a:t>
            </a:r>
            <a:r>
              <a:rPr lang="en-IN" sz="2100" kern="0" spc="6" dirty="0">
                <a:solidFill>
                  <a:srgbClr val="002060"/>
                </a:solidFill>
                <a:cs typeface="Century Gothic"/>
              </a:rPr>
              <a:t> 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Example</a:t>
            </a:r>
            <a:endParaRPr lang="en-IN" sz="2100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71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bject 86"/>
          <p:cNvSpPr/>
          <p:nvPr/>
        </p:nvSpPr>
        <p:spPr>
          <a:xfrm>
            <a:off x="1846955" y="5416811"/>
            <a:ext cx="79673" cy="126066"/>
          </a:xfrm>
          <a:custGeom>
            <a:avLst/>
            <a:gdLst/>
            <a:ahLst/>
            <a:cxnLst/>
            <a:rect l="l" t="t" r="r" b="b"/>
            <a:pathLst>
              <a:path w="120395" h="190500">
                <a:moveTo>
                  <a:pt x="120395" y="95250"/>
                </a:moveTo>
                <a:lnTo>
                  <a:pt x="0" y="0"/>
                </a:lnTo>
                <a:lnTo>
                  <a:pt x="0" y="190500"/>
                </a:lnTo>
                <a:lnTo>
                  <a:pt x="120395" y="95250"/>
                </a:lnTo>
                <a:close/>
              </a:path>
            </a:pathLst>
          </a:custGeom>
          <a:solidFill>
            <a:srgbClr val="9FB7CC"/>
          </a:solidFill>
        </p:spPr>
        <p:txBody>
          <a:bodyPr wrap="square" lIns="0" tIns="0" rIns="0" bIns="0" rtlCol="0">
            <a:noAutofit/>
          </a:bodyPr>
          <a:lstStyle/>
          <a:p>
            <a:endParaRPr sz="926"/>
          </a:p>
        </p:txBody>
      </p:sp>
      <p:sp>
        <p:nvSpPr>
          <p:cNvPr id="87" name="object 87"/>
          <p:cNvSpPr/>
          <p:nvPr/>
        </p:nvSpPr>
        <p:spPr>
          <a:xfrm>
            <a:off x="1688111" y="5178295"/>
            <a:ext cx="5672978" cy="378199"/>
          </a:xfrm>
          <a:custGeom>
            <a:avLst/>
            <a:gdLst/>
            <a:ahLst/>
            <a:cxnLst/>
            <a:rect l="l" t="t" r="r" b="b"/>
            <a:pathLst>
              <a:path w="8572500" h="571500">
                <a:moveTo>
                  <a:pt x="0" y="571500"/>
                </a:moveTo>
                <a:lnTo>
                  <a:pt x="8572500" y="571500"/>
                </a:lnTo>
                <a:lnTo>
                  <a:pt x="8572500" y="0"/>
                </a:lnTo>
                <a:lnTo>
                  <a:pt x="0" y="0"/>
                </a:lnTo>
                <a:lnTo>
                  <a:pt x="0" y="571500"/>
                </a:lnTo>
                <a:close/>
              </a:path>
            </a:pathLst>
          </a:custGeom>
          <a:solidFill>
            <a:srgbClr val="FEFFFE"/>
          </a:solidFill>
        </p:spPr>
        <p:txBody>
          <a:bodyPr wrap="square" lIns="0" tIns="0" rIns="0" bIns="0" rtlCol="0">
            <a:noAutofit/>
          </a:bodyPr>
          <a:lstStyle/>
          <a:p>
            <a:endParaRPr sz="926"/>
          </a:p>
        </p:txBody>
      </p:sp>
      <p:sp>
        <p:nvSpPr>
          <p:cNvPr id="22" name="object 22"/>
          <p:cNvSpPr txBox="1"/>
          <p:nvPr/>
        </p:nvSpPr>
        <p:spPr>
          <a:xfrm>
            <a:off x="3746449" y="4100296"/>
            <a:ext cx="4025951" cy="9864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2717" indent="-214313">
              <a:lnSpc>
                <a:spcPts val="1307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sz="1191" dirty="0">
                <a:latin typeface="Century Gothic"/>
                <a:cs typeface="Century Gothic"/>
              </a:rPr>
              <a:t>Choose a random</a:t>
            </a:r>
            <a:r>
              <a:rPr lang="en-IN" sz="1191" dirty="0">
                <a:latin typeface="Century Gothic"/>
                <a:cs typeface="Century Gothic"/>
              </a:rPr>
              <a:t> object </a:t>
            </a:r>
            <a:r>
              <a:rPr lang="en-IN" sz="1191" dirty="0">
                <a:solidFill>
                  <a:srgbClr val="C00000"/>
                </a:solidFill>
                <a:latin typeface="Century Gothic"/>
                <a:cs typeface="Century Gothic"/>
              </a:rPr>
              <a:t>0</a:t>
            </a:r>
            <a:r>
              <a:rPr lang="en-IN" sz="1191" baseline="-25000" dirty="0">
                <a:solidFill>
                  <a:srgbClr val="C00000"/>
                </a:solidFill>
                <a:latin typeface="Century Gothic"/>
                <a:cs typeface="Century Gothic"/>
              </a:rPr>
              <a:t>7</a:t>
            </a:r>
            <a:endParaRPr sz="1191" baseline="-25000" dirty="0">
              <a:solidFill>
                <a:srgbClr val="C00000"/>
              </a:solidFill>
              <a:latin typeface="Century Gothic"/>
              <a:cs typeface="Century Gothic"/>
            </a:endParaRPr>
          </a:p>
          <a:p>
            <a:pPr marL="222717" marR="22821" indent="-214313">
              <a:lnSpc>
                <a:spcPct val="102172"/>
              </a:lnSpc>
              <a:spcBef>
                <a:spcPts val="857"/>
              </a:spcBef>
              <a:buFont typeface="Arial" panose="020B0604020202020204" pitchFamily="34" charset="0"/>
              <a:buChar char="•"/>
            </a:pPr>
            <a:r>
              <a:rPr sz="1191" dirty="0">
                <a:latin typeface="Century Gothic"/>
                <a:cs typeface="Century Gothic"/>
              </a:rPr>
              <a:t>Swap </a:t>
            </a:r>
            <a:r>
              <a:rPr lang="en-IN" sz="1191" dirty="0">
                <a:solidFill>
                  <a:srgbClr val="C00000"/>
                </a:solidFill>
                <a:latin typeface="Century Gothic"/>
                <a:cs typeface="Century Gothic"/>
              </a:rPr>
              <a:t>0</a:t>
            </a:r>
            <a:r>
              <a:rPr sz="1191" baseline="-25000" dirty="0">
                <a:solidFill>
                  <a:srgbClr val="C00000"/>
                </a:solidFill>
                <a:latin typeface="Century Gothic"/>
                <a:cs typeface="Century Gothic"/>
              </a:rPr>
              <a:t>8</a:t>
            </a:r>
            <a:r>
              <a:rPr sz="1191" spc="320" dirty="0">
                <a:solidFill>
                  <a:srgbClr val="006FBF"/>
                </a:solidFill>
                <a:latin typeface="Century Gothic"/>
                <a:cs typeface="Century Gothic"/>
              </a:rPr>
              <a:t> </a:t>
            </a:r>
            <a:r>
              <a:rPr sz="1191" spc="3" dirty="0">
                <a:latin typeface="Century Gothic"/>
                <a:cs typeface="Century Gothic"/>
              </a:rPr>
              <a:t>an</a:t>
            </a:r>
            <a:r>
              <a:rPr sz="1191" dirty="0">
                <a:latin typeface="Century Gothic"/>
                <a:cs typeface="Century Gothic"/>
              </a:rPr>
              <a:t>d </a:t>
            </a:r>
            <a:r>
              <a:rPr sz="1191" dirty="0">
                <a:solidFill>
                  <a:srgbClr val="C00000"/>
                </a:solidFill>
                <a:latin typeface="Century Gothic"/>
                <a:cs typeface="Century Gothic"/>
              </a:rPr>
              <a:t>0</a:t>
            </a:r>
            <a:r>
              <a:rPr sz="1191" baseline="-25000" dirty="0">
                <a:solidFill>
                  <a:srgbClr val="C00000"/>
                </a:solidFill>
                <a:latin typeface="Century Gothic"/>
                <a:cs typeface="Century Gothic"/>
              </a:rPr>
              <a:t>7</a:t>
            </a:r>
            <a:endParaRPr lang="en-IN" sz="1191" baseline="-25000" dirty="0">
              <a:solidFill>
                <a:srgbClr val="C00000"/>
              </a:solidFill>
              <a:latin typeface="Century Gothic"/>
              <a:cs typeface="Century Gothic"/>
            </a:endParaRPr>
          </a:p>
          <a:p>
            <a:pPr marL="222717" marR="22821" indent="-214313">
              <a:lnSpc>
                <a:spcPct val="102172"/>
              </a:lnSpc>
              <a:spcBef>
                <a:spcPts val="857"/>
              </a:spcBef>
              <a:buFont typeface="Arial" panose="020B0604020202020204" pitchFamily="34" charset="0"/>
              <a:buChar char="•"/>
            </a:pPr>
            <a:r>
              <a:rPr lang="en-IN" sz="1191" dirty="0">
                <a:latin typeface="Arial"/>
                <a:cs typeface="Arial"/>
              </a:rPr>
              <a:t>Compute the absolute error criterion</a:t>
            </a:r>
            <a:r>
              <a:rPr lang="en-IN" sz="1191" spc="-3" dirty="0">
                <a:latin typeface="Arial"/>
                <a:cs typeface="Arial"/>
              </a:rPr>
              <a:t> </a:t>
            </a:r>
            <a:r>
              <a:rPr lang="en-IN" sz="1191" dirty="0">
                <a:solidFill>
                  <a:srgbClr val="640064"/>
                </a:solidFill>
                <a:latin typeface="Arial"/>
                <a:cs typeface="Arial"/>
              </a:rPr>
              <a:t>[for the set of </a:t>
            </a:r>
            <a:r>
              <a:rPr lang="en-IN" sz="1191" dirty="0" err="1">
                <a:solidFill>
                  <a:srgbClr val="640064"/>
                </a:solidFill>
                <a:latin typeface="Arial"/>
                <a:cs typeface="Arial"/>
              </a:rPr>
              <a:t>Medoids</a:t>
            </a:r>
            <a:r>
              <a:rPr lang="en-IN" sz="1191" dirty="0">
                <a:solidFill>
                  <a:srgbClr val="640064"/>
                </a:solidFill>
                <a:latin typeface="Arial"/>
                <a:cs typeface="Arial"/>
              </a:rPr>
              <a:t> (0</a:t>
            </a:r>
            <a:r>
              <a:rPr lang="en-IN" sz="1191" baseline="-25000" dirty="0">
                <a:solidFill>
                  <a:srgbClr val="640064"/>
                </a:solidFill>
                <a:latin typeface="Arial"/>
                <a:cs typeface="Arial"/>
              </a:rPr>
              <a:t>2</a:t>
            </a:r>
            <a:r>
              <a:rPr lang="en-IN" sz="1191" dirty="0">
                <a:solidFill>
                  <a:srgbClr val="640064"/>
                </a:solidFill>
                <a:latin typeface="Arial"/>
                <a:cs typeface="Arial"/>
              </a:rPr>
              <a:t>,0</a:t>
            </a:r>
            <a:r>
              <a:rPr lang="en-IN" sz="1191" baseline="-25000" dirty="0">
                <a:solidFill>
                  <a:srgbClr val="640064"/>
                </a:solidFill>
                <a:latin typeface="Arial"/>
                <a:cs typeface="Arial"/>
              </a:rPr>
              <a:t>7</a:t>
            </a:r>
            <a:r>
              <a:rPr lang="en-IN" sz="1191" dirty="0">
                <a:solidFill>
                  <a:srgbClr val="640064"/>
                </a:solidFill>
                <a:latin typeface="Arial"/>
                <a:cs typeface="Arial"/>
              </a:rPr>
              <a:t>)</a:t>
            </a:r>
            <a:endParaRPr lang="en-IN" sz="1191" dirty="0">
              <a:latin typeface="Arial"/>
              <a:cs typeface="Arial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1842584" y="1853786"/>
            <a:ext cx="1075646" cy="3255804"/>
            <a:chOff x="932777" y="1328714"/>
            <a:chExt cx="1434195" cy="4341072"/>
          </a:xfrm>
        </p:grpSpPr>
        <p:sp>
          <p:nvSpPr>
            <p:cNvPr id="89" name="object 44"/>
            <p:cNvSpPr txBox="1"/>
            <p:nvPr/>
          </p:nvSpPr>
          <p:spPr>
            <a:xfrm>
              <a:off x="1007410" y="1328714"/>
              <a:ext cx="1337651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640064"/>
                  </a:solidFill>
                  <a:latin typeface="Century Gothic"/>
                  <a:cs typeface="Century Gothic"/>
                </a:rPr>
                <a:t>Data Objects</a:t>
              </a:r>
              <a:endParaRPr sz="1191">
                <a:latin typeface="Century Gothic"/>
                <a:cs typeface="Century Gothic"/>
              </a:endParaRPr>
            </a:p>
          </p:txBody>
        </p:sp>
        <p:sp>
          <p:nvSpPr>
            <p:cNvPr id="90" name="object 41"/>
            <p:cNvSpPr txBox="1"/>
            <p:nvPr/>
          </p:nvSpPr>
          <p:spPr>
            <a:xfrm>
              <a:off x="1642783" y="1906266"/>
              <a:ext cx="283478" cy="36201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542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1157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91" name="object 40"/>
            <p:cNvSpPr txBox="1"/>
            <p:nvPr/>
          </p:nvSpPr>
          <p:spPr>
            <a:xfrm>
              <a:off x="2083146" y="1906273"/>
              <a:ext cx="283826" cy="362018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20">
                <a:lnSpc>
                  <a:spcPts val="1549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2</a:t>
              </a:r>
              <a:endParaRPr sz="794">
                <a:latin typeface="Century Gothic"/>
                <a:cs typeface="Century Gothic"/>
              </a:endParaRPr>
            </a:p>
            <a:p>
              <a:pPr marL="8425" marR="27611">
                <a:lnSpc>
                  <a:spcPct val="95825"/>
                </a:lnSpc>
                <a:spcBef>
                  <a:spcPts val="1151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5</a:t>
              </a:r>
              <a:endParaRPr sz="1191">
                <a:latin typeface="Arial"/>
                <a:cs typeface="Arial"/>
              </a:endParaRP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92" name="object 38"/>
            <p:cNvSpPr txBox="1"/>
            <p:nvPr/>
          </p:nvSpPr>
          <p:spPr>
            <a:xfrm>
              <a:off x="932777" y="2369634"/>
              <a:ext cx="365031" cy="330015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 marR="27536">
                <a:lnSpc>
                  <a:spcPts val="1532"/>
                </a:lnSpc>
                <a:spcBef>
                  <a:spcPts val="76"/>
                </a:spcBef>
                <a:spcAft>
                  <a:spcPts val="225"/>
                </a:spcAft>
              </a:pPr>
              <a:r>
                <a:rPr sz="1786" baseline="9662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 dirty="0">
                <a:latin typeface="Arial"/>
                <a:cs typeface="Arial"/>
              </a:endParaRPr>
            </a:p>
            <a:p>
              <a:pPr marL="8410" marR="27536">
                <a:lnSpc>
                  <a:spcPts val="1370"/>
                </a:lnSpc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2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3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4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5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8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6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7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8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9</a:t>
              </a:r>
              <a:endParaRPr sz="794" dirty="0">
                <a:latin typeface="Arial"/>
                <a:cs typeface="Arial"/>
              </a:endParaRPr>
            </a:p>
            <a:p>
              <a:pPr marL="8405">
                <a:lnSpc>
                  <a:spcPts val="1370"/>
                </a:lnSpc>
                <a:spcBef>
                  <a:spcPts val="600"/>
                </a:spcBef>
                <a:spcAft>
                  <a:spcPts val="225"/>
                </a:spcAft>
              </a:pPr>
              <a:r>
                <a:rPr sz="1786" baseline="16104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794" dirty="0">
                  <a:solidFill>
                    <a:srgbClr val="006FBF"/>
                  </a:solidFill>
                  <a:latin typeface="Arial"/>
                  <a:cs typeface="Arial"/>
                </a:rPr>
                <a:t>10</a:t>
              </a:r>
              <a:endParaRPr sz="794" dirty="0">
                <a:latin typeface="Arial"/>
                <a:cs typeface="Arial"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3996291" y="1804921"/>
            <a:ext cx="2865710" cy="2081279"/>
            <a:chOff x="3804386" y="1263562"/>
            <a:chExt cx="3820947" cy="2775038"/>
          </a:xfrm>
        </p:grpSpPr>
        <p:grpSp>
          <p:nvGrpSpPr>
            <p:cNvPr id="94" name="Group 93"/>
            <p:cNvGrpSpPr/>
            <p:nvPr/>
          </p:nvGrpSpPr>
          <p:grpSpPr>
            <a:xfrm>
              <a:off x="3804386" y="1263562"/>
              <a:ext cx="3820947" cy="2744080"/>
              <a:chOff x="3804386" y="1263562"/>
              <a:chExt cx="3820947" cy="2744080"/>
            </a:xfrm>
          </p:grpSpPr>
          <p:sp>
            <p:nvSpPr>
              <p:cNvPr id="97" name="object 46"/>
              <p:cNvSpPr/>
              <p:nvPr/>
            </p:nvSpPr>
            <p:spPr>
              <a:xfrm>
                <a:off x="5957048" y="297247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98" name="object 47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99" name="object 48"/>
              <p:cNvSpPr/>
              <p:nvPr/>
            </p:nvSpPr>
            <p:spPr>
              <a:xfrm>
                <a:off x="6466018" y="3301254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0" name="object 49"/>
              <p:cNvSpPr/>
              <p:nvPr/>
            </p:nvSpPr>
            <p:spPr>
              <a:xfrm>
                <a:off x="5982596" y="360717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1" name="object 50"/>
              <p:cNvSpPr/>
              <p:nvPr/>
            </p:nvSpPr>
            <p:spPr>
              <a:xfrm>
                <a:off x="3987726" y="2284655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2" name="object 51"/>
              <p:cNvSpPr/>
              <p:nvPr/>
            </p:nvSpPr>
            <p:spPr>
              <a:xfrm>
                <a:off x="4940449" y="1943099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3" name="object 52"/>
              <p:cNvSpPr/>
              <p:nvPr/>
            </p:nvSpPr>
            <p:spPr>
              <a:xfrm>
                <a:off x="4395172" y="161230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4" name="object 53"/>
              <p:cNvSpPr/>
              <p:nvPr/>
            </p:nvSpPr>
            <p:spPr>
              <a:xfrm>
                <a:off x="4000500" y="1395132"/>
                <a:ext cx="3558092" cy="2287345"/>
              </a:xfrm>
              <a:custGeom>
                <a:avLst/>
                <a:gdLst/>
                <a:ahLst/>
                <a:cxnLst/>
                <a:rect l="l" t="t" r="r" b="b"/>
                <a:pathLst>
                  <a:path w="4032504" h="2592324">
                    <a:moveTo>
                      <a:pt x="0" y="0"/>
                    </a:moveTo>
                    <a:lnTo>
                      <a:pt x="0" y="2592324"/>
                    </a:lnTo>
                    <a:lnTo>
                      <a:pt x="4032504" y="2592324"/>
                    </a:lnTo>
                    <a:lnTo>
                      <a:pt x="40325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5" name="object 54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6" name="object 55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7" name="object 56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8" name="object 57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9" name="object 58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0" name="object 59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1" name="object 60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2" name="object 61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3" name="object 62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4" name="object 63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5" name="object 64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6" name="object 65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7" name="object 66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8" name="object 67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9" name="object 68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0" name="object 69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1" name="object 70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2" name="object 71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3" name="object 72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4" name="object 73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5" name="object 74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6" name="object 75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7" name="object 76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8" name="object 77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9" name="object 78"/>
              <p:cNvSpPr/>
              <p:nvPr/>
            </p:nvSpPr>
            <p:spPr>
              <a:xfrm>
                <a:off x="6453244" y="296978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0" name="object 79"/>
              <p:cNvSpPr/>
              <p:nvPr/>
            </p:nvSpPr>
            <p:spPr>
              <a:xfrm>
                <a:off x="6961543" y="2589904"/>
                <a:ext cx="126401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3255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61" y="86124"/>
                    </a:lnTo>
                    <a:lnTo>
                      <a:pt x="5652" y="99613"/>
                    </a:lnTo>
                    <a:lnTo>
                      <a:pt x="12285" y="111806"/>
                    </a:lnTo>
                    <a:lnTo>
                      <a:pt x="21071" y="122417"/>
                    </a:lnTo>
                    <a:lnTo>
                      <a:pt x="31722" y="131155"/>
                    </a:lnTo>
                    <a:lnTo>
                      <a:pt x="43950" y="137733"/>
                    </a:lnTo>
                    <a:lnTo>
                      <a:pt x="57466" y="141862"/>
                    </a:lnTo>
                    <a:lnTo>
                      <a:pt x="71627" y="143255"/>
                    </a:lnTo>
                    <a:lnTo>
                      <a:pt x="86124" y="141794"/>
                    </a:lnTo>
                    <a:lnTo>
                      <a:pt x="99613" y="137603"/>
                    </a:lnTo>
                    <a:lnTo>
                      <a:pt x="111806" y="130970"/>
                    </a:lnTo>
                    <a:lnTo>
                      <a:pt x="122417" y="122184"/>
                    </a:lnTo>
                    <a:lnTo>
                      <a:pt x="131155" y="111533"/>
                    </a:lnTo>
                    <a:lnTo>
                      <a:pt x="137733" y="99305"/>
                    </a:lnTo>
                    <a:lnTo>
                      <a:pt x="141862" y="85789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1" name="object 80"/>
              <p:cNvSpPr/>
              <p:nvPr/>
            </p:nvSpPr>
            <p:spPr>
              <a:xfrm>
                <a:off x="6466018" y="2259107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2" name="object 81"/>
              <p:cNvSpPr/>
              <p:nvPr/>
            </p:nvSpPr>
            <p:spPr>
              <a:xfrm>
                <a:off x="6453244" y="2971128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3" name="object 82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4" name="object 45"/>
              <p:cNvSpPr txBox="1"/>
              <p:nvPr/>
            </p:nvSpPr>
            <p:spPr>
              <a:xfrm>
                <a:off x="3804386" y="1263562"/>
                <a:ext cx="175444" cy="185321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 marR="20197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16982" marR="10597">
                  <a:lnSpc>
                    <a:spcPct val="102172"/>
                  </a:lnSpc>
                  <a:spcBef>
                    <a:spcPts val="521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757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6071" marR="150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6071" marR="1508">
                  <a:lnSpc>
                    <a:spcPct val="102172"/>
                  </a:lnSpc>
                  <a:spcBef>
                    <a:spcPts val="71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  <a:endParaRPr sz="1059">
                  <a:latin typeface="Century Gothic"/>
                  <a:cs typeface="Century Gothic"/>
                </a:endParaRPr>
              </a:p>
              <a:p>
                <a:pPr marL="27578">
                  <a:lnSpc>
                    <a:spcPct val="102172"/>
                  </a:lnSpc>
                  <a:spcBef>
                    <a:spcPts val="802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35" name="object 43"/>
              <p:cNvSpPr txBox="1"/>
              <p:nvPr/>
            </p:nvSpPr>
            <p:spPr>
              <a:xfrm>
                <a:off x="6667276" y="1708639"/>
                <a:ext cx="71983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solidFill>
                      <a:schemeClr val="accent2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cluster2</a:t>
                </a:r>
              </a:p>
            </p:txBody>
          </p:sp>
          <p:sp>
            <p:nvSpPr>
              <p:cNvPr id="136" name="object 42"/>
              <p:cNvSpPr txBox="1"/>
              <p:nvPr/>
            </p:nvSpPr>
            <p:spPr>
              <a:xfrm>
                <a:off x="4493559" y="17362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3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37" name="object 39"/>
              <p:cNvSpPr txBox="1"/>
              <p:nvPr/>
            </p:nvSpPr>
            <p:spPr>
              <a:xfrm>
                <a:off x="5036823" y="20791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4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38" name="object 37"/>
              <p:cNvSpPr txBox="1"/>
              <p:nvPr/>
            </p:nvSpPr>
            <p:spPr>
              <a:xfrm>
                <a:off x="6628280" y="2332577"/>
                <a:ext cx="150486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10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39" name="object 36"/>
              <p:cNvSpPr txBox="1"/>
              <p:nvPr/>
            </p:nvSpPr>
            <p:spPr>
              <a:xfrm>
                <a:off x="4090147" y="241393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0" name="object 35"/>
              <p:cNvSpPr txBox="1"/>
              <p:nvPr/>
            </p:nvSpPr>
            <p:spPr>
              <a:xfrm>
                <a:off x="7124476" y="2663374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9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1" name="object 34"/>
              <p:cNvSpPr txBox="1"/>
              <p:nvPr/>
            </p:nvSpPr>
            <p:spPr>
              <a:xfrm>
                <a:off x="6090404" y="304393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6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2" name="object 33"/>
              <p:cNvSpPr txBox="1"/>
              <p:nvPr/>
            </p:nvSpPr>
            <p:spPr>
              <a:xfrm>
                <a:off x="6615505" y="304258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8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3" name="object 32"/>
              <p:cNvSpPr txBox="1"/>
              <p:nvPr/>
            </p:nvSpPr>
            <p:spPr>
              <a:xfrm>
                <a:off x="4539951" y="3056697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2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4" name="object 31"/>
              <p:cNvSpPr txBox="1"/>
              <p:nvPr/>
            </p:nvSpPr>
            <p:spPr>
              <a:xfrm>
                <a:off x="3840704" y="329741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5" name="object 30"/>
              <p:cNvSpPr txBox="1"/>
              <p:nvPr/>
            </p:nvSpPr>
            <p:spPr>
              <a:xfrm>
                <a:off x="3885752" y="363896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2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6" name="object 29"/>
              <p:cNvSpPr txBox="1"/>
              <p:nvPr/>
            </p:nvSpPr>
            <p:spPr>
              <a:xfrm>
                <a:off x="7008168" y="3774795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7" name="object 28"/>
              <p:cNvSpPr txBox="1"/>
              <p:nvPr/>
            </p:nvSpPr>
            <p:spPr>
              <a:xfrm>
                <a:off x="7475453" y="3780844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8" name="object 27"/>
              <p:cNvSpPr txBox="1"/>
              <p:nvPr/>
            </p:nvSpPr>
            <p:spPr>
              <a:xfrm>
                <a:off x="5458391" y="3792930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9" name="object 26"/>
              <p:cNvSpPr txBox="1"/>
              <p:nvPr/>
            </p:nvSpPr>
            <p:spPr>
              <a:xfrm>
                <a:off x="5967356" y="378755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0" name="object 25"/>
              <p:cNvSpPr txBox="1"/>
              <p:nvPr/>
            </p:nvSpPr>
            <p:spPr>
              <a:xfrm>
                <a:off x="6475661" y="379294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1" name="object 24"/>
              <p:cNvSpPr txBox="1"/>
              <p:nvPr/>
            </p:nvSpPr>
            <p:spPr>
              <a:xfrm>
                <a:off x="4441788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2" name="object 23"/>
              <p:cNvSpPr txBox="1"/>
              <p:nvPr/>
            </p:nvSpPr>
            <p:spPr>
              <a:xfrm>
                <a:off x="4950086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3" name="object 16"/>
              <p:cNvSpPr txBox="1"/>
              <p:nvPr/>
            </p:nvSpPr>
            <p:spPr>
              <a:xfrm>
                <a:off x="4000500" y="1395133"/>
                <a:ext cx="3558092" cy="28037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596"/>
                  </a:lnSpc>
                  <a:spcBef>
                    <a:spcPts val="3"/>
                  </a:spcBef>
                </a:pPr>
                <a:endParaRPr sz="596" dirty="0"/>
              </a:p>
              <a:p>
                <a:pPr marL="770054">
                  <a:lnSpc>
                    <a:spcPts val="1055"/>
                  </a:lnSpc>
                  <a:spcBef>
                    <a:spcPts val="53"/>
                  </a:spcBef>
                </a:pPr>
                <a:r>
                  <a:rPr sz="1589" baseline="-11894" dirty="0">
                    <a:solidFill>
                      <a:schemeClr val="accent5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cluster1</a:t>
                </a:r>
                <a:endParaRPr sz="1059" dirty="0">
                  <a:solidFill>
                    <a:schemeClr val="accent5">
                      <a:lumMod val="75000"/>
                    </a:schemeClr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154" name="object 15"/>
              <p:cNvSpPr txBox="1"/>
              <p:nvPr/>
            </p:nvSpPr>
            <p:spPr>
              <a:xfrm>
                <a:off x="4000500" y="1675503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5" name="object 14"/>
              <p:cNvSpPr txBox="1"/>
              <p:nvPr/>
            </p:nvSpPr>
            <p:spPr>
              <a:xfrm>
                <a:off x="4000500" y="2018404"/>
                <a:ext cx="0" cy="330797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6" name="object 13"/>
              <p:cNvSpPr txBox="1"/>
              <p:nvPr/>
            </p:nvSpPr>
            <p:spPr>
              <a:xfrm>
                <a:off x="4000500" y="2349201"/>
                <a:ext cx="0" cy="34155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7" name="object 12"/>
              <p:cNvSpPr txBox="1"/>
              <p:nvPr/>
            </p:nvSpPr>
            <p:spPr>
              <a:xfrm>
                <a:off x="4000500" y="2690756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8" name="object 11"/>
              <p:cNvSpPr txBox="1"/>
              <p:nvPr/>
            </p:nvSpPr>
            <p:spPr>
              <a:xfrm>
                <a:off x="4000500" y="3033657"/>
                <a:ext cx="0" cy="34357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9" name="object 10"/>
              <p:cNvSpPr txBox="1"/>
              <p:nvPr/>
            </p:nvSpPr>
            <p:spPr>
              <a:xfrm>
                <a:off x="4000500" y="3377229"/>
                <a:ext cx="3558092" cy="30524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R="646999" algn="r">
                  <a:lnSpc>
                    <a:spcPts val="672"/>
                  </a:lnSpc>
                  <a:spcBef>
                    <a:spcPts val="33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7</a:t>
                </a:r>
                <a:endParaRPr sz="596">
                  <a:latin typeface="Century Gothic"/>
                  <a:cs typeface="Century Gothic"/>
                </a:endParaRPr>
              </a:p>
              <a:p>
                <a:pPr marL="1437782" marR="1160408" algn="ctr">
                  <a:lnSpc>
                    <a:spcPct val="102172"/>
                  </a:lnSpc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5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60" name="object 9"/>
              <p:cNvSpPr txBox="1"/>
              <p:nvPr/>
            </p:nvSpPr>
            <p:spPr>
              <a:xfrm>
                <a:off x="4000500" y="3682478"/>
                <a:ext cx="498885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1" name="object 8"/>
              <p:cNvSpPr txBox="1"/>
              <p:nvPr/>
            </p:nvSpPr>
            <p:spPr>
              <a:xfrm>
                <a:off x="4499386" y="3682478"/>
                <a:ext cx="516367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2" name="object 7"/>
              <p:cNvSpPr txBox="1"/>
              <p:nvPr/>
            </p:nvSpPr>
            <p:spPr>
              <a:xfrm>
                <a:off x="5015753" y="3682478"/>
                <a:ext cx="50023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3" name="object 6"/>
              <p:cNvSpPr txBox="1"/>
              <p:nvPr/>
            </p:nvSpPr>
            <p:spPr>
              <a:xfrm>
                <a:off x="5515984" y="3682478"/>
                <a:ext cx="517039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4" name="object 5"/>
              <p:cNvSpPr txBox="1"/>
              <p:nvPr/>
            </p:nvSpPr>
            <p:spPr>
              <a:xfrm>
                <a:off x="6033023" y="3682478"/>
                <a:ext cx="495524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5" name="object 4"/>
              <p:cNvSpPr txBox="1"/>
              <p:nvPr/>
            </p:nvSpPr>
            <p:spPr>
              <a:xfrm>
                <a:off x="6528548" y="3682478"/>
                <a:ext cx="49754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6" name="object 3"/>
              <p:cNvSpPr txBox="1"/>
              <p:nvPr/>
            </p:nvSpPr>
            <p:spPr>
              <a:xfrm>
                <a:off x="7026089" y="3682478"/>
                <a:ext cx="532503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</p:grpSp>
        <p:sp>
          <p:nvSpPr>
            <p:cNvPr id="95" name="Oval 94"/>
            <p:cNvSpPr/>
            <p:nvPr/>
          </p:nvSpPr>
          <p:spPr bwMode="auto">
            <a:xfrm>
              <a:off x="3937363" y="1447801"/>
              <a:ext cx="1320437" cy="1755738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noFill/>
                <a:latin typeface="Arial" charset="0"/>
              </a:endParaRPr>
            </a:p>
          </p:txBody>
        </p:sp>
        <p:sp>
          <p:nvSpPr>
            <p:cNvPr id="96" name="Oval 95"/>
            <p:cNvSpPr/>
            <p:nvPr/>
          </p:nvSpPr>
          <p:spPr bwMode="auto">
            <a:xfrm>
              <a:off x="5715000" y="2057167"/>
              <a:ext cx="1527717" cy="1981433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167" name="object 19"/>
          <p:cNvSpPr txBox="1"/>
          <p:nvPr/>
        </p:nvSpPr>
        <p:spPr>
          <a:xfrm>
            <a:off x="3615422" y="5235933"/>
            <a:ext cx="3355154" cy="2671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405">
              <a:lnSpc>
                <a:spcPts val="2075"/>
              </a:lnSpc>
              <a:spcBef>
                <a:spcPts val="103"/>
              </a:spcBef>
            </a:pPr>
            <a:r>
              <a:rPr sz="1952" i="1" dirty="0">
                <a:latin typeface="Times New Roman"/>
                <a:cs typeface="Times New Roman"/>
              </a:rPr>
              <a:t>E</a:t>
            </a:r>
            <a:r>
              <a:rPr lang="en-IN" sz="1952" i="1" dirty="0">
                <a:latin typeface="Times New Roman"/>
                <a:cs typeface="Times New Roman"/>
              </a:rPr>
              <a:t> </a:t>
            </a:r>
            <a:r>
              <a:rPr lang="en-IN" sz="1952" dirty="0">
                <a:latin typeface="Times New Roman"/>
                <a:cs typeface="Times New Roman"/>
              </a:rPr>
              <a:t>= (3+4+4)+(2+2+1+3+3) = 22</a:t>
            </a:r>
            <a:endParaRPr sz="1952" dirty="0">
              <a:latin typeface="Times New Roman"/>
              <a:cs typeface="Times New Roman"/>
            </a:endParaRPr>
          </a:p>
        </p:txBody>
      </p:sp>
      <p:sp>
        <p:nvSpPr>
          <p:cNvPr id="168" name="Title 84"/>
          <p:cNvSpPr txBox="1">
            <a:spLocks/>
          </p:cNvSpPr>
          <p:nvPr/>
        </p:nvSpPr>
        <p:spPr>
          <a:xfrm>
            <a:off x="1399766" y="1045031"/>
            <a:ext cx="6210300" cy="400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altLang="ko-KR" sz="2100" kern="0" dirty="0">
                <a:solidFill>
                  <a:srgbClr val="002060"/>
                </a:solidFill>
                <a:ea typeface="Gulim" pitchFamily="34" charset="-127"/>
              </a:rPr>
              <a:t>PAM or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K-</a:t>
            </a:r>
            <a:r>
              <a:rPr lang="en-IN" sz="2100" kern="0" spc="3" dirty="0" err="1">
                <a:solidFill>
                  <a:srgbClr val="002060"/>
                </a:solidFill>
                <a:cs typeface="Century Gothic"/>
              </a:rPr>
              <a:t>Medoid</a:t>
            </a:r>
            <a:r>
              <a:rPr lang="en-IN" sz="2100" kern="0" dirty="0" err="1">
                <a:solidFill>
                  <a:srgbClr val="002060"/>
                </a:solidFill>
                <a:cs typeface="Century Gothic"/>
              </a:rPr>
              <a:t>s</a:t>
            </a:r>
            <a:r>
              <a:rPr lang="en-IN" sz="2100" kern="0" dirty="0">
                <a:solidFill>
                  <a:srgbClr val="002060"/>
                </a:solidFill>
                <a:cs typeface="Century Gothic"/>
              </a:rPr>
              <a:t>:</a:t>
            </a:r>
            <a:r>
              <a:rPr lang="en-IN" sz="2100" kern="0" spc="6" dirty="0">
                <a:solidFill>
                  <a:srgbClr val="002060"/>
                </a:solidFill>
                <a:cs typeface="Century Gothic"/>
              </a:rPr>
              <a:t> 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Example</a:t>
            </a:r>
            <a:endParaRPr lang="en-IN" sz="2100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56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object 89"/>
          <p:cNvSpPr/>
          <p:nvPr/>
        </p:nvSpPr>
        <p:spPr>
          <a:xfrm>
            <a:off x="1688111" y="5178295"/>
            <a:ext cx="5672978" cy="378199"/>
          </a:xfrm>
          <a:custGeom>
            <a:avLst/>
            <a:gdLst/>
            <a:ahLst/>
            <a:cxnLst/>
            <a:rect l="l" t="t" r="r" b="b"/>
            <a:pathLst>
              <a:path w="8572500" h="571500">
                <a:moveTo>
                  <a:pt x="0" y="571500"/>
                </a:moveTo>
                <a:lnTo>
                  <a:pt x="8572500" y="571500"/>
                </a:lnTo>
                <a:lnTo>
                  <a:pt x="8572500" y="0"/>
                </a:lnTo>
                <a:lnTo>
                  <a:pt x="0" y="0"/>
                </a:lnTo>
                <a:lnTo>
                  <a:pt x="0" y="571500"/>
                </a:lnTo>
                <a:close/>
              </a:path>
            </a:pathLst>
          </a:custGeom>
          <a:solidFill>
            <a:srgbClr val="FEFFFE"/>
          </a:solidFill>
        </p:spPr>
        <p:txBody>
          <a:bodyPr wrap="square" lIns="0" tIns="0" rIns="0" bIns="0" rtlCol="0">
            <a:noAutofit/>
          </a:bodyPr>
          <a:lstStyle/>
          <a:p>
            <a:endParaRPr sz="926"/>
          </a:p>
        </p:txBody>
      </p:sp>
      <p:grpSp>
        <p:nvGrpSpPr>
          <p:cNvPr id="169" name="Group 168"/>
          <p:cNvGrpSpPr/>
          <p:nvPr/>
        </p:nvGrpSpPr>
        <p:grpSpPr>
          <a:xfrm>
            <a:off x="2054375" y="4108502"/>
            <a:ext cx="5775176" cy="1435049"/>
            <a:chOff x="1215165" y="4335001"/>
            <a:chExt cx="7700235" cy="1913399"/>
          </a:xfrm>
        </p:grpSpPr>
        <p:sp>
          <p:nvSpPr>
            <p:cNvPr id="25" name="object 25"/>
            <p:cNvSpPr txBox="1"/>
            <p:nvPr/>
          </p:nvSpPr>
          <p:spPr>
            <a:xfrm>
              <a:off x="3130026" y="4335001"/>
              <a:ext cx="5785374" cy="85798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22717" indent="-214313">
                <a:lnSpc>
                  <a:spcPts val="1307"/>
                </a:lnSpc>
                <a:spcBef>
                  <a:spcPts val="65"/>
                </a:spcBef>
                <a:buFont typeface="Times New Roman" panose="02020603050405020304" pitchFamily="18" charset="0"/>
                <a:buChar char="→"/>
              </a:pPr>
              <a:r>
                <a:rPr sz="1191" spc="-3" dirty="0">
                  <a:solidFill>
                    <a:srgbClr val="006FBF"/>
                  </a:solidFill>
                  <a:latin typeface="Century Gothic"/>
                  <a:cs typeface="Century Gothic"/>
                </a:rPr>
                <a:t>Comput</a:t>
              </a:r>
              <a:r>
                <a:rPr sz="1191" dirty="0">
                  <a:solidFill>
                    <a:srgbClr val="006FBF"/>
                  </a:solidFill>
                  <a:latin typeface="Century Gothic"/>
                  <a:cs typeface="Century Gothic"/>
                </a:rPr>
                <a:t>e </a:t>
              </a:r>
              <a:r>
                <a:rPr sz="1191" spc="-3" dirty="0">
                  <a:solidFill>
                    <a:srgbClr val="006FBF"/>
                  </a:solidFill>
                  <a:latin typeface="Century Gothic"/>
                  <a:cs typeface="Century Gothic"/>
                </a:rPr>
                <a:t>the</a:t>
              </a:r>
              <a:r>
                <a:rPr lang="en-IN" sz="1191" spc="-3" dirty="0">
                  <a:solidFill>
                    <a:srgbClr val="006FBF"/>
                  </a:solidFill>
                  <a:latin typeface="Century Gothic"/>
                  <a:cs typeface="Century Gothic"/>
                </a:rPr>
                <a:t> cost function</a:t>
              </a:r>
            </a:p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lang="es-ES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   </a:t>
              </a:r>
            </a:p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lang="es-ES" sz="1191" dirty="0" err="1">
                  <a:solidFill>
                    <a:srgbClr val="A50020"/>
                  </a:solidFill>
                  <a:latin typeface="Century Gothic"/>
                  <a:cs typeface="Century Gothic"/>
                </a:rPr>
                <a:t>Absolute</a:t>
              </a:r>
              <a:r>
                <a:rPr lang="es-ES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 error [0</a:t>
              </a:r>
              <a:r>
                <a:rPr lang="es-ES" sz="1191" baseline="-25000" dirty="0">
                  <a:solidFill>
                    <a:srgbClr val="A50020"/>
                  </a:solidFill>
                  <a:latin typeface="Century Gothic"/>
                  <a:cs typeface="Century Gothic"/>
                </a:rPr>
                <a:t>2</a:t>
              </a:r>
              <a:r>
                <a:rPr lang="es-ES" sz="1191" spc="-8" dirty="0">
                  <a:solidFill>
                    <a:srgbClr val="A50020"/>
                  </a:solidFill>
                  <a:latin typeface="Century Gothic"/>
                  <a:cs typeface="Century Gothic"/>
                </a:rPr>
                <a:t> </a:t>
              </a:r>
              <a:r>
                <a:rPr lang="es-ES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,0</a:t>
              </a:r>
              <a:r>
                <a:rPr lang="es-ES" sz="1191" baseline="-25000" dirty="0">
                  <a:solidFill>
                    <a:srgbClr val="A50020"/>
                  </a:solidFill>
                  <a:latin typeface="Century Gothic"/>
                  <a:cs typeface="Century Gothic"/>
                </a:rPr>
                <a:t>7</a:t>
              </a:r>
              <a:r>
                <a:rPr lang="es-ES" sz="1191" spc="13" dirty="0">
                  <a:solidFill>
                    <a:srgbClr val="A50020"/>
                  </a:solidFill>
                  <a:latin typeface="Century Gothic"/>
                  <a:cs typeface="Century Gothic"/>
                </a:rPr>
                <a:t> </a:t>
              </a:r>
              <a:r>
                <a:rPr lang="es-ES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] - </a:t>
              </a:r>
              <a:r>
                <a:rPr lang="es-ES" sz="1191" dirty="0" err="1">
                  <a:solidFill>
                    <a:srgbClr val="A50020"/>
                  </a:solidFill>
                  <a:latin typeface="Century Gothic"/>
                  <a:cs typeface="Century Gothic"/>
                </a:rPr>
                <a:t>Absolute</a:t>
              </a:r>
              <a:r>
                <a:rPr lang="es-ES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 error [</a:t>
              </a:r>
              <a:r>
                <a:rPr lang="es-ES" sz="1191" dirty="0" err="1">
                  <a:solidFill>
                    <a:srgbClr val="A50020"/>
                  </a:solidFill>
                  <a:latin typeface="Century Gothic"/>
                  <a:cs typeface="Century Gothic"/>
                </a:rPr>
                <a:t>for</a:t>
              </a:r>
              <a:r>
                <a:rPr lang="es-ES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 0</a:t>
              </a:r>
              <a:r>
                <a:rPr lang="es-ES" sz="1191" baseline="-25000" dirty="0">
                  <a:solidFill>
                    <a:srgbClr val="A50020"/>
                  </a:solidFill>
                  <a:latin typeface="Century Gothic"/>
                  <a:cs typeface="Century Gothic"/>
                </a:rPr>
                <a:t>2</a:t>
              </a:r>
              <a:r>
                <a:rPr lang="es-ES" sz="1191" spc="23" dirty="0">
                  <a:solidFill>
                    <a:srgbClr val="A50020"/>
                  </a:solidFill>
                  <a:latin typeface="Century Gothic"/>
                  <a:cs typeface="Century Gothic"/>
                </a:rPr>
                <a:t> </a:t>
              </a:r>
              <a:r>
                <a:rPr lang="es-ES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,0</a:t>
              </a:r>
              <a:r>
                <a:rPr lang="es-ES" sz="1191" baseline="-25000" dirty="0">
                  <a:solidFill>
                    <a:srgbClr val="A50020"/>
                  </a:solidFill>
                  <a:latin typeface="Century Gothic"/>
                  <a:cs typeface="Century Gothic"/>
                </a:rPr>
                <a:t>8</a:t>
              </a:r>
              <a:r>
                <a:rPr lang="es-ES" sz="1191" spc="-103" dirty="0">
                  <a:solidFill>
                    <a:srgbClr val="A50020"/>
                  </a:solidFill>
                  <a:latin typeface="Century Gothic"/>
                  <a:cs typeface="Century Gothic"/>
                </a:rPr>
                <a:t> </a:t>
              </a:r>
              <a:r>
                <a:rPr lang="es-ES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] </a:t>
              </a:r>
              <a:endParaRPr sz="1191" dirty="0">
                <a:latin typeface="Century Gothic"/>
                <a:cs typeface="Century Gothic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856629" y="5328099"/>
              <a:ext cx="1208841" cy="332461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933"/>
                </a:lnSpc>
                <a:spcBef>
                  <a:spcPts val="97"/>
                </a:spcBef>
              </a:pPr>
              <a:r>
                <a:rPr sz="1820" i="1" dirty="0">
                  <a:latin typeface="Times New Roman"/>
                  <a:cs typeface="Times New Roman"/>
                </a:rPr>
                <a:t>S</a:t>
              </a:r>
              <a:r>
                <a:rPr lang="en-IN" sz="1820" i="1" dirty="0">
                  <a:latin typeface="Times New Roman"/>
                  <a:cs typeface="Times New Roman"/>
                </a:rPr>
                <a:t>=22-20</a:t>
              </a:r>
              <a:endParaRPr sz="1820" dirty="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215165" y="5744135"/>
              <a:ext cx="7563971" cy="50426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431"/>
                </a:lnSpc>
                <a:spcBef>
                  <a:spcPts val="27"/>
                </a:spcBef>
              </a:pPr>
              <a:endParaRPr sz="431" dirty="0"/>
            </a:p>
            <a:p>
              <a:pPr marL="2038341">
                <a:lnSpc>
                  <a:spcPts val="1462"/>
                </a:lnSpc>
                <a:spcBef>
                  <a:spcPts val="662"/>
                </a:spcBef>
              </a:pPr>
              <a:r>
                <a:rPr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S</a:t>
              </a:r>
              <a:r>
                <a:rPr lang="en-IN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&gt;</a:t>
              </a:r>
              <a:r>
                <a:rPr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 0</a:t>
              </a:r>
              <a:r>
                <a:rPr lang="en-IN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 =&gt;</a:t>
              </a:r>
              <a:r>
                <a:rPr lang="en-IN" sz="1191" spc="-103" dirty="0">
                  <a:solidFill>
                    <a:srgbClr val="A50020"/>
                  </a:solidFill>
                  <a:latin typeface="PMingLiU"/>
                  <a:cs typeface="PMingLiU"/>
                </a:rPr>
                <a:t>   </a:t>
              </a:r>
              <a:r>
                <a:rPr lang="en-IN"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I</a:t>
              </a:r>
              <a:r>
                <a:rPr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t is a bad idea to replace 0</a:t>
              </a:r>
              <a:r>
                <a:rPr sz="1191" baseline="-22655" dirty="0">
                  <a:solidFill>
                    <a:srgbClr val="A50020"/>
                  </a:solidFill>
                  <a:latin typeface="Century Gothic"/>
                  <a:cs typeface="Century Gothic"/>
                </a:rPr>
                <a:t>8 </a:t>
              </a:r>
              <a:r>
                <a:rPr sz="1191" spc="-109" baseline="-22655" dirty="0">
                  <a:solidFill>
                    <a:srgbClr val="A50020"/>
                  </a:solidFill>
                  <a:latin typeface="Century Gothic"/>
                  <a:cs typeface="Century Gothic"/>
                </a:rPr>
                <a:t> </a:t>
              </a:r>
              <a:r>
                <a:rPr sz="1191" dirty="0">
                  <a:solidFill>
                    <a:srgbClr val="A50020"/>
                  </a:solidFill>
                  <a:latin typeface="Century Gothic"/>
                  <a:cs typeface="Century Gothic"/>
                </a:rPr>
                <a:t>by 0</a:t>
              </a:r>
              <a:r>
                <a:rPr sz="1191" baseline="-22655" dirty="0">
                  <a:solidFill>
                    <a:srgbClr val="A50020"/>
                  </a:solidFill>
                  <a:latin typeface="Century Gothic"/>
                  <a:cs typeface="Century Gothic"/>
                </a:rPr>
                <a:t>7</a:t>
              </a:r>
              <a:endParaRPr sz="794" dirty="0">
                <a:latin typeface="Century Gothic"/>
                <a:cs typeface="Century Gothic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842584" y="1853786"/>
            <a:ext cx="1075646" cy="3255804"/>
            <a:chOff x="932777" y="1328714"/>
            <a:chExt cx="1434195" cy="4341072"/>
          </a:xfrm>
        </p:grpSpPr>
        <p:sp>
          <p:nvSpPr>
            <p:cNvPr id="91" name="object 44"/>
            <p:cNvSpPr txBox="1"/>
            <p:nvPr/>
          </p:nvSpPr>
          <p:spPr>
            <a:xfrm>
              <a:off x="1007410" y="1328714"/>
              <a:ext cx="1337651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640064"/>
                  </a:solidFill>
                  <a:latin typeface="Century Gothic"/>
                  <a:cs typeface="Century Gothic"/>
                </a:rPr>
                <a:t>Data Objects</a:t>
              </a:r>
              <a:endParaRPr sz="1191">
                <a:latin typeface="Century Gothic"/>
                <a:cs typeface="Century Gothic"/>
              </a:endParaRPr>
            </a:p>
          </p:txBody>
        </p:sp>
        <p:sp>
          <p:nvSpPr>
            <p:cNvPr id="92" name="object 41"/>
            <p:cNvSpPr txBox="1"/>
            <p:nvPr/>
          </p:nvSpPr>
          <p:spPr>
            <a:xfrm>
              <a:off x="1642783" y="1906266"/>
              <a:ext cx="283478" cy="36201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542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1157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93" name="object 40"/>
            <p:cNvSpPr txBox="1"/>
            <p:nvPr/>
          </p:nvSpPr>
          <p:spPr>
            <a:xfrm>
              <a:off x="2083146" y="1906273"/>
              <a:ext cx="283826" cy="362018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20">
                <a:lnSpc>
                  <a:spcPts val="1549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2</a:t>
              </a:r>
              <a:endParaRPr sz="794" dirty="0">
                <a:latin typeface="Century Gothic"/>
                <a:cs typeface="Century Gothic"/>
              </a:endParaRPr>
            </a:p>
            <a:p>
              <a:pPr marL="8425" marR="27611">
                <a:lnSpc>
                  <a:spcPct val="95825"/>
                </a:lnSpc>
                <a:spcBef>
                  <a:spcPts val="1151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</a:p>
            <a:p>
              <a:pPr marL="8405" marR="27611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5</a:t>
              </a: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94" name="object 38"/>
            <p:cNvSpPr txBox="1"/>
            <p:nvPr/>
          </p:nvSpPr>
          <p:spPr>
            <a:xfrm>
              <a:off x="932777" y="2369634"/>
              <a:ext cx="365031" cy="330015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 marR="27536">
                <a:lnSpc>
                  <a:spcPts val="1532"/>
                </a:lnSpc>
                <a:spcBef>
                  <a:spcPts val="76"/>
                </a:spcBef>
                <a:spcAft>
                  <a:spcPts val="225"/>
                </a:spcAft>
              </a:pPr>
              <a:r>
                <a:rPr sz="1786" baseline="9662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 dirty="0">
                <a:latin typeface="Arial"/>
                <a:cs typeface="Arial"/>
              </a:endParaRPr>
            </a:p>
            <a:p>
              <a:pPr marL="8410" marR="27536">
                <a:lnSpc>
                  <a:spcPts val="1370"/>
                </a:lnSpc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2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3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4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5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8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6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7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8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9</a:t>
              </a:r>
              <a:endParaRPr sz="794" dirty="0">
                <a:latin typeface="Arial"/>
                <a:cs typeface="Arial"/>
              </a:endParaRPr>
            </a:p>
            <a:p>
              <a:pPr marL="8405">
                <a:lnSpc>
                  <a:spcPts val="1370"/>
                </a:lnSpc>
                <a:spcBef>
                  <a:spcPts val="600"/>
                </a:spcBef>
                <a:spcAft>
                  <a:spcPts val="225"/>
                </a:spcAft>
              </a:pPr>
              <a:r>
                <a:rPr sz="1786" baseline="16104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794" dirty="0">
                  <a:solidFill>
                    <a:srgbClr val="006FBF"/>
                  </a:solidFill>
                  <a:latin typeface="Arial"/>
                  <a:cs typeface="Arial"/>
                </a:rPr>
                <a:t>10</a:t>
              </a:r>
              <a:endParaRPr sz="794" dirty="0">
                <a:latin typeface="Arial"/>
                <a:cs typeface="Arial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3996291" y="1804921"/>
            <a:ext cx="2865710" cy="2081279"/>
            <a:chOff x="3804386" y="1263562"/>
            <a:chExt cx="3820947" cy="2775038"/>
          </a:xfrm>
        </p:grpSpPr>
        <p:grpSp>
          <p:nvGrpSpPr>
            <p:cNvPr id="96" name="Group 95"/>
            <p:cNvGrpSpPr/>
            <p:nvPr/>
          </p:nvGrpSpPr>
          <p:grpSpPr>
            <a:xfrm>
              <a:off x="3804386" y="1263562"/>
              <a:ext cx="3820947" cy="2744080"/>
              <a:chOff x="3804386" y="1263562"/>
              <a:chExt cx="3820947" cy="2744080"/>
            </a:xfrm>
          </p:grpSpPr>
          <p:sp>
            <p:nvSpPr>
              <p:cNvPr id="99" name="object 46"/>
              <p:cNvSpPr/>
              <p:nvPr/>
            </p:nvSpPr>
            <p:spPr>
              <a:xfrm>
                <a:off x="5957048" y="297247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0" name="object 47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1" name="object 48"/>
              <p:cNvSpPr/>
              <p:nvPr/>
            </p:nvSpPr>
            <p:spPr>
              <a:xfrm>
                <a:off x="6466018" y="3301254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2" name="object 49"/>
              <p:cNvSpPr/>
              <p:nvPr/>
            </p:nvSpPr>
            <p:spPr>
              <a:xfrm>
                <a:off x="5982596" y="360717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3" name="object 50"/>
              <p:cNvSpPr/>
              <p:nvPr/>
            </p:nvSpPr>
            <p:spPr>
              <a:xfrm>
                <a:off x="3987726" y="2284655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4" name="object 51"/>
              <p:cNvSpPr/>
              <p:nvPr/>
            </p:nvSpPr>
            <p:spPr>
              <a:xfrm>
                <a:off x="4940449" y="1943099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5" name="object 52"/>
              <p:cNvSpPr/>
              <p:nvPr/>
            </p:nvSpPr>
            <p:spPr>
              <a:xfrm>
                <a:off x="4395172" y="161230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6" name="object 53"/>
              <p:cNvSpPr/>
              <p:nvPr/>
            </p:nvSpPr>
            <p:spPr>
              <a:xfrm>
                <a:off x="4000500" y="1395132"/>
                <a:ext cx="3558092" cy="2287345"/>
              </a:xfrm>
              <a:custGeom>
                <a:avLst/>
                <a:gdLst/>
                <a:ahLst/>
                <a:cxnLst/>
                <a:rect l="l" t="t" r="r" b="b"/>
                <a:pathLst>
                  <a:path w="4032504" h="2592324">
                    <a:moveTo>
                      <a:pt x="0" y="0"/>
                    </a:moveTo>
                    <a:lnTo>
                      <a:pt x="0" y="2592324"/>
                    </a:lnTo>
                    <a:lnTo>
                      <a:pt x="4032504" y="2592324"/>
                    </a:lnTo>
                    <a:lnTo>
                      <a:pt x="40325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7" name="object 54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8" name="object 55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9" name="object 56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0" name="object 57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1" name="object 58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2" name="object 59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3" name="object 60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4" name="object 61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5" name="object 62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6" name="object 63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7" name="object 64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8" name="object 65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9" name="object 66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0" name="object 67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1" name="object 68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2" name="object 69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3" name="object 70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4" name="object 71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5" name="object 72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6" name="object 73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7" name="object 74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8" name="object 75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9" name="object 76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0" name="object 77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1" name="object 78"/>
              <p:cNvSpPr/>
              <p:nvPr/>
            </p:nvSpPr>
            <p:spPr>
              <a:xfrm>
                <a:off x="6453244" y="296978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2" name="object 79"/>
              <p:cNvSpPr/>
              <p:nvPr/>
            </p:nvSpPr>
            <p:spPr>
              <a:xfrm>
                <a:off x="6961543" y="2589904"/>
                <a:ext cx="126401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3255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61" y="86124"/>
                    </a:lnTo>
                    <a:lnTo>
                      <a:pt x="5652" y="99613"/>
                    </a:lnTo>
                    <a:lnTo>
                      <a:pt x="12285" y="111806"/>
                    </a:lnTo>
                    <a:lnTo>
                      <a:pt x="21071" y="122417"/>
                    </a:lnTo>
                    <a:lnTo>
                      <a:pt x="31722" y="131155"/>
                    </a:lnTo>
                    <a:lnTo>
                      <a:pt x="43950" y="137733"/>
                    </a:lnTo>
                    <a:lnTo>
                      <a:pt x="57466" y="141862"/>
                    </a:lnTo>
                    <a:lnTo>
                      <a:pt x="71627" y="143255"/>
                    </a:lnTo>
                    <a:lnTo>
                      <a:pt x="86124" y="141794"/>
                    </a:lnTo>
                    <a:lnTo>
                      <a:pt x="99613" y="137603"/>
                    </a:lnTo>
                    <a:lnTo>
                      <a:pt x="111806" y="130970"/>
                    </a:lnTo>
                    <a:lnTo>
                      <a:pt x="122417" y="122184"/>
                    </a:lnTo>
                    <a:lnTo>
                      <a:pt x="131155" y="111533"/>
                    </a:lnTo>
                    <a:lnTo>
                      <a:pt x="137733" y="99305"/>
                    </a:lnTo>
                    <a:lnTo>
                      <a:pt x="141862" y="85789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3" name="object 80"/>
              <p:cNvSpPr/>
              <p:nvPr/>
            </p:nvSpPr>
            <p:spPr>
              <a:xfrm>
                <a:off x="6466018" y="2259107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4" name="object 81"/>
              <p:cNvSpPr/>
              <p:nvPr/>
            </p:nvSpPr>
            <p:spPr>
              <a:xfrm>
                <a:off x="6453244" y="2971128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5" name="object 82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6" name="object 45"/>
              <p:cNvSpPr txBox="1"/>
              <p:nvPr/>
            </p:nvSpPr>
            <p:spPr>
              <a:xfrm>
                <a:off x="3804386" y="1263562"/>
                <a:ext cx="175444" cy="185321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 marR="20197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</a:p>
              <a:p>
                <a:pPr marL="16982" marR="10597">
                  <a:lnSpc>
                    <a:spcPct val="102172"/>
                  </a:lnSpc>
                  <a:spcBef>
                    <a:spcPts val="521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</a:p>
              <a:p>
                <a:pPr marL="2757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</a:p>
              <a:p>
                <a:pPr marL="26071" marR="150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</a:p>
              <a:p>
                <a:pPr marL="26071" marR="1508">
                  <a:lnSpc>
                    <a:spcPct val="102172"/>
                  </a:lnSpc>
                  <a:spcBef>
                    <a:spcPts val="71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</a:p>
              <a:p>
                <a:pPr marL="27578">
                  <a:lnSpc>
                    <a:spcPct val="102172"/>
                  </a:lnSpc>
                  <a:spcBef>
                    <a:spcPts val="802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</a:p>
            </p:txBody>
          </p:sp>
          <p:sp>
            <p:nvSpPr>
              <p:cNvPr id="137" name="object 43"/>
              <p:cNvSpPr txBox="1"/>
              <p:nvPr/>
            </p:nvSpPr>
            <p:spPr>
              <a:xfrm>
                <a:off x="6667276" y="1708639"/>
                <a:ext cx="71983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solidFill>
                      <a:schemeClr val="accent2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cluster2</a:t>
                </a:r>
              </a:p>
            </p:txBody>
          </p:sp>
          <p:sp>
            <p:nvSpPr>
              <p:cNvPr id="138" name="object 42"/>
              <p:cNvSpPr txBox="1"/>
              <p:nvPr/>
            </p:nvSpPr>
            <p:spPr>
              <a:xfrm>
                <a:off x="4493559" y="17362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3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39" name="object 39"/>
              <p:cNvSpPr txBox="1"/>
              <p:nvPr/>
            </p:nvSpPr>
            <p:spPr>
              <a:xfrm>
                <a:off x="5036823" y="20791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4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0" name="object 37"/>
              <p:cNvSpPr txBox="1"/>
              <p:nvPr/>
            </p:nvSpPr>
            <p:spPr>
              <a:xfrm>
                <a:off x="6628280" y="2332577"/>
                <a:ext cx="150486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10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1" name="object 36"/>
              <p:cNvSpPr txBox="1"/>
              <p:nvPr/>
            </p:nvSpPr>
            <p:spPr>
              <a:xfrm>
                <a:off x="4090147" y="241393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2" name="object 35"/>
              <p:cNvSpPr txBox="1"/>
              <p:nvPr/>
            </p:nvSpPr>
            <p:spPr>
              <a:xfrm>
                <a:off x="7124476" y="2663374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9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3" name="object 34"/>
              <p:cNvSpPr txBox="1"/>
              <p:nvPr/>
            </p:nvSpPr>
            <p:spPr>
              <a:xfrm>
                <a:off x="6090404" y="304393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6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4" name="object 33"/>
              <p:cNvSpPr txBox="1"/>
              <p:nvPr/>
            </p:nvSpPr>
            <p:spPr>
              <a:xfrm>
                <a:off x="6615505" y="304258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8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5" name="object 32"/>
              <p:cNvSpPr txBox="1"/>
              <p:nvPr/>
            </p:nvSpPr>
            <p:spPr>
              <a:xfrm>
                <a:off x="4539951" y="3056697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2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6" name="object 31"/>
              <p:cNvSpPr txBox="1"/>
              <p:nvPr/>
            </p:nvSpPr>
            <p:spPr>
              <a:xfrm>
                <a:off x="3840704" y="329741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7" name="object 30"/>
              <p:cNvSpPr txBox="1"/>
              <p:nvPr/>
            </p:nvSpPr>
            <p:spPr>
              <a:xfrm>
                <a:off x="3885752" y="363896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2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8" name="object 29"/>
              <p:cNvSpPr txBox="1"/>
              <p:nvPr/>
            </p:nvSpPr>
            <p:spPr>
              <a:xfrm>
                <a:off x="7008168" y="3774795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9" name="object 28"/>
              <p:cNvSpPr txBox="1"/>
              <p:nvPr/>
            </p:nvSpPr>
            <p:spPr>
              <a:xfrm>
                <a:off x="7475453" y="3780844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0" name="object 27"/>
              <p:cNvSpPr txBox="1"/>
              <p:nvPr/>
            </p:nvSpPr>
            <p:spPr>
              <a:xfrm>
                <a:off x="5458391" y="3792930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1" name="object 26"/>
              <p:cNvSpPr txBox="1"/>
              <p:nvPr/>
            </p:nvSpPr>
            <p:spPr>
              <a:xfrm>
                <a:off x="5967356" y="378755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2" name="object 25"/>
              <p:cNvSpPr txBox="1"/>
              <p:nvPr/>
            </p:nvSpPr>
            <p:spPr>
              <a:xfrm>
                <a:off x="6475661" y="379294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3" name="object 24"/>
              <p:cNvSpPr txBox="1"/>
              <p:nvPr/>
            </p:nvSpPr>
            <p:spPr>
              <a:xfrm>
                <a:off x="4441788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4" name="object 23"/>
              <p:cNvSpPr txBox="1"/>
              <p:nvPr/>
            </p:nvSpPr>
            <p:spPr>
              <a:xfrm>
                <a:off x="4950086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5" name="object 16"/>
              <p:cNvSpPr txBox="1"/>
              <p:nvPr/>
            </p:nvSpPr>
            <p:spPr>
              <a:xfrm>
                <a:off x="4000500" y="1395133"/>
                <a:ext cx="3558092" cy="28037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596"/>
                  </a:lnSpc>
                  <a:spcBef>
                    <a:spcPts val="3"/>
                  </a:spcBef>
                </a:pPr>
                <a:endParaRPr sz="596" dirty="0"/>
              </a:p>
              <a:p>
                <a:pPr marL="770054">
                  <a:lnSpc>
                    <a:spcPts val="1055"/>
                  </a:lnSpc>
                  <a:spcBef>
                    <a:spcPts val="53"/>
                  </a:spcBef>
                </a:pPr>
                <a:r>
                  <a:rPr sz="1589" baseline="-11894" dirty="0">
                    <a:solidFill>
                      <a:schemeClr val="accent5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cluster1</a:t>
                </a:r>
                <a:endParaRPr sz="1059" dirty="0">
                  <a:solidFill>
                    <a:schemeClr val="accent5">
                      <a:lumMod val="75000"/>
                    </a:schemeClr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156" name="object 15"/>
              <p:cNvSpPr txBox="1"/>
              <p:nvPr/>
            </p:nvSpPr>
            <p:spPr>
              <a:xfrm>
                <a:off x="4000500" y="1675503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7" name="object 14"/>
              <p:cNvSpPr txBox="1"/>
              <p:nvPr/>
            </p:nvSpPr>
            <p:spPr>
              <a:xfrm>
                <a:off x="4000500" y="2018404"/>
                <a:ext cx="0" cy="330797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8" name="object 13"/>
              <p:cNvSpPr txBox="1"/>
              <p:nvPr/>
            </p:nvSpPr>
            <p:spPr>
              <a:xfrm>
                <a:off x="4000500" y="2349201"/>
                <a:ext cx="0" cy="34155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9" name="object 12"/>
              <p:cNvSpPr txBox="1"/>
              <p:nvPr/>
            </p:nvSpPr>
            <p:spPr>
              <a:xfrm>
                <a:off x="4000500" y="2690756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60" name="object 11"/>
              <p:cNvSpPr txBox="1"/>
              <p:nvPr/>
            </p:nvSpPr>
            <p:spPr>
              <a:xfrm>
                <a:off x="4000500" y="3033657"/>
                <a:ext cx="0" cy="34357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61" name="object 10"/>
              <p:cNvSpPr txBox="1"/>
              <p:nvPr/>
            </p:nvSpPr>
            <p:spPr>
              <a:xfrm>
                <a:off x="4000500" y="3377229"/>
                <a:ext cx="3558092" cy="30524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R="646999" algn="r">
                  <a:lnSpc>
                    <a:spcPts val="672"/>
                  </a:lnSpc>
                  <a:spcBef>
                    <a:spcPts val="33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7</a:t>
                </a:r>
                <a:endParaRPr sz="596">
                  <a:latin typeface="Century Gothic"/>
                  <a:cs typeface="Century Gothic"/>
                </a:endParaRPr>
              </a:p>
              <a:p>
                <a:pPr marL="1437782" marR="1160408" algn="ctr">
                  <a:lnSpc>
                    <a:spcPct val="102172"/>
                  </a:lnSpc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5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62" name="object 9"/>
              <p:cNvSpPr txBox="1"/>
              <p:nvPr/>
            </p:nvSpPr>
            <p:spPr>
              <a:xfrm>
                <a:off x="4000500" y="3682478"/>
                <a:ext cx="498885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3" name="object 8"/>
              <p:cNvSpPr txBox="1"/>
              <p:nvPr/>
            </p:nvSpPr>
            <p:spPr>
              <a:xfrm>
                <a:off x="4499386" y="3682478"/>
                <a:ext cx="516367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4" name="object 7"/>
              <p:cNvSpPr txBox="1"/>
              <p:nvPr/>
            </p:nvSpPr>
            <p:spPr>
              <a:xfrm>
                <a:off x="5015753" y="3682478"/>
                <a:ext cx="50023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5" name="object 6"/>
              <p:cNvSpPr txBox="1"/>
              <p:nvPr/>
            </p:nvSpPr>
            <p:spPr>
              <a:xfrm>
                <a:off x="5515984" y="3682478"/>
                <a:ext cx="517039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6" name="object 5"/>
              <p:cNvSpPr txBox="1"/>
              <p:nvPr/>
            </p:nvSpPr>
            <p:spPr>
              <a:xfrm>
                <a:off x="6033023" y="3682478"/>
                <a:ext cx="495524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7" name="object 4"/>
              <p:cNvSpPr txBox="1"/>
              <p:nvPr/>
            </p:nvSpPr>
            <p:spPr>
              <a:xfrm>
                <a:off x="6528548" y="3682478"/>
                <a:ext cx="49754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8" name="object 3"/>
              <p:cNvSpPr txBox="1"/>
              <p:nvPr/>
            </p:nvSpPr>
            <p:spPr>
              <a:xfrm>
                <a:off x="7026089" y="3682478"/>
                <a:ext cx="532503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</p:grpSp>
        <p:sp>
          <p:nvSpPr>
            <p:cNvPr id="97" name="Oval 96"/>
            <p:cNvSpPr/>
            <p:nvPr/>
          </p:nvSpPr>
          <p:spPr bwMode="auto">
            <a:xfrm>
              <a:off x="3937363" y="1447801"/>
              <a:ext cx="1320437" cy="1755738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noFill/>
                <a:latin typeface="Arial" charset="0"/>
              </a:endParaRPr>
            </a:p>
          </p:txBody>
        </p:sp>
        <p:sp>
          <p:nvSpPr>
            <p:cNvPr id="98" name="Oval 97"/>
            <p:cNvSpPr/>
            <p:nvPr/>
          </p:nvSpPr>
          <p:spPr bwMode="auto">
            <a:xfrm>
              <a:off x="5715000" y="2057167"/>
              <a:ext cx="1527717" cy="1981433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170" name="Title 84"/>
          <p:cNvSpPr txBox="1">
            <a:spLocks/>
          </p:cNvSpPr>
          <p:nvPr/>
        </p:nvSpPr>
        <p:spPr>
          <a:xfrm>
            <a:off x="1399766" y="1045031"/>
            <a:ext cx="6210300" cy="400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altLang="ko-KR" sz="2100" kern="0" dirty="0">
                <a:solidFill>
                  <a:srgbClr val="002060"/>
                </a:solidFill>
                <a:ea typeface="Gulim" pitchFamily="34" charset="-127"/>
              </a:rPr>
              <a:t>PAM or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K-</a:t>
            </a:r>
            <a:r>
              <a:rPr lang="en-IN" sz="2100" kern="0" spc="3" dirty="0" err="1">
                <a:solidFill>
                  <a:srgbClr val="002060"/>
                </a:solidFill>
                <a:cs typeface="Century Gothic"/>
              </a:rPr>
              <a:t>Medoid</a:t>
            </a:r>
            <a:r>
              <a:rPr lang="en-IN" sz="2100" kern="0" dirty="0" err="1">
                <a:solidFill>
                  <a:srgbClr val="002060"/>
                </a:solidFill>
                <a:cs typeface="Century Gothic"/>
              </a:rPr>
              <a:t>s</a:t>
            </a:r>
            <a:r>
              <a:rPr lang="en-IN" sz="2100" kern="0" dirty="0">
                <a:solidFill>
                  <a:srgbClr val="002060"/>
                </a:solidFill>
                <a:cs typeface="Century Gothic"/>
              </a:rPr>
              <a:t>:</a:t>
            </a:r>
            <a:r>
              <a:rPr lang="en-IN" sz="2100" kern="0" spc="6" dirty="0">
                <a:solidFill>
                  <a:srgbClr val="002060"/>
                </a:solidFill>
                <a:cs typeface="Century Gothic"/>
              </a:rPr>
              <a:t> 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Example</a:t>
            </a:r>
            <a:endParaRPr lang="en-IN" sz="2100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38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/>
          <p:cNvGrpSpPr/>
          <p:nvPr/>
        </p:nvGrpSpPr>
        <p:grpSpPr>
          <a:xfrm>
            <a:off x="1842584" y="1853786"/>
            <a:ext cx="1075646" cy="3255804"/>
            <a:chOff x="932777" y="1328714"/>
            <a:chExt cx="1434195" cy="4341072"/>
          </a:xfrm>
        </p:grpSpPr>
        <p:sp>
          <p:nvSpPr>
            <p:cNvPr id="91" name="object 44"/>
            <p:cNvSpPr txBox="1"/>
            <p:nvPr/>
          </p:nvSpPr>
          <p:spPr>
            <a:xfrm>
              <a:off x="1007410" y="1328714"/>
              <a:ext cx="1337651" cy="22411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307"/>
                </a:lnSpc>
                <a:spcBef>
                  <a:spcPts val="65"/>
                </a:spcBef>
              </a:pPr>
              <a:r>
                <a:rPr sz="1191" dirty="0">
                  <a:solidFill>
                    <a:srgbClr val="640064"/>
                  </a:solidFill>
                  <a:latin typeface="Century Gothic"/>
                  <a:cs typeface="Century Gothic"/>
                </a:rPr>
                <a:t>Data Objects</a:t>
              </a:r>
              <a:endParaRPr sz="1191">
                <a:latin typeface="Century Gothic"/>
                <a:cs typeface="Century Gothic"/>
              </a:endParaRPr>
            </a:p>
          </p:txBody>
        </p:sp>
        <p:sp>
          <p:nvSpPr>
            <p:cNvPr id="92" name="object 41"/>
            <p:cNvSpPr txBox="1"/>
            <p:nvPr/>
          </p:nvSpPr>
          <p:spPr>
            <a:xfrm>
              <a:off x="1642783" y="1906266"/>
              <a:ext cx="283478" cy="36201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>
                <a:lnSpc>
                  <a:spcPts val="1542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1157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  <a:endParaRPr sz="1191">
                <a:latin typeface="Arial"/>
                <a:cs typeface="Arial"/>
              </a:endParaRPr>
            </a:p>
            <a:p>
              <a:pPr marL="8405" marR="27765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  <a:endParaRPr sz="1191">
                <a:latin typeface="Arial"/>
                <a:cs typeface="Arial"/>
              </a:endParaRPr>
            </a:p>
          </p:txBody>
        </p:sp>
        <p:sp>
          <p:nvSpPr>
            <p:cNvPr id="93" name="object 40"/>
            <p:cNvSpPr txBox="1"/>
            <p:nvPr/>
          </p:nvSpPr>
          <p:spPr>
            <a:xfrm>
              <a:off x="2083146" y="1906273"/>
              <a:ext cx="283826" cy="362018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20">
                <a:lnSpc>
                  <a:spcPts val="1549"/>
                </a:lnSpc>
                <a:spcBef>
                  <a:spcPts val="77"/>
                </a:spcBef>
              </a:pPr>
              <a:r>
                <a:rPr sz="1786" baseline="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A</a:t>
              </a:r>
              <a:r>
                <a:rPr sz="1191" baseline="-9062" dirty="0">
                  <a:solidFill>
                    <a:srgbClr val="006FBF"/>
                  </a:solidFill>
                  <a:latin typeface="Century Gothic"/>
                  <a:cs typeface="Century Gothic"/>
                </a:rPr>
                <a:t>2</a:t>
              </a:r>
              <a:endParaRPr sz="794" dirty="0">
                <a:latin typeface="Century Gothic"/>
                <a:cs typeface="Century Gothic"/>
              </a:endParaRPr>
            </a:p>
            <a:p>
              <a:pPr marL="8425" marR="27611">
                <a:lnSpc>
                  <a:spcPct val="95825"/>
                </a:lnSpc>
                <a:spcBef>
                  <a:spcPts val="1151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</a:p>
            <a:p>
              <a:pPr marL="8405" marR="27611">
                <a:lnSpc>
                  <a:spcPct val="95825"/>
                </a:lnSpc>
                <a:spcBef>
                  <a:spcPts val="536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8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7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2</a:t>
              </a: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3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4</a:t>
              </a:r>
            </a:p>
            <a:p>
              <a:pPr marL="8405" marR="27611">
                <a:lnSpc>
                  <a:spcPct val="95825"/>
                </a:lnSpc>
                <a:spcBef>
                  <a:spcPts val="540"/>
                </a:spcBef>
              </a:pPr>
              <a:r>
                <a:rPr sz="1191" dirty="0">
                  <a:latin typeface="Arial"/>
                  <a:cs typeface="Arial"/>
                </a:rPr>
                <a:t>5</a:t>
              </a:r>
            </a:p>
            <a:p>
              <a:pPr marL="8405" marR="27611">
                <a:lnSpc>
                  <a:spcPct val="95825"/>
                </a:lnSpc>
                <a:spcBef>
                  <a:spcPts val="544"/>
                </a:spcBef>
              </a:pPr>
              <a:r>
                <a:rPr sz="1191" dirty="0"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94" name="object 38"/>
            <p:cNvSpPr txBox="1"/>
            <p:nvPr/>
          </p:nvSpPr>
          <p:spPr>
            <a:xfrm>
              <a:off x="932777" y="2369634"/>
              <a:ext cx="365031" cy="330015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405" marR="27536">
                <a:lnSpc>
                  <a:spcPts val="1532"/>
                </a:lnSpc>
                <a:spcBef>
                  <a:spcPts val="76"/>
                </a:spcBef>
                <a:spcAft>
                  <a:spcPts val="225"/>
                </a:spcAft>
              </a:pPr>
              <a:r>
                <a:rPr sz="1786" baseline="9662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9662" dirty="0">
                  <a:solidFill>
                    <a:srgbClr val="006FBF"/>
                  </a:solidFill>
                  <a:latin typeface="Arial"/>
                  <a:cs typeface="Arial"/>
                </a:rPr>
                <a:t>1</a:t>
              </a:r>
              <a:endParaRPr sz="794" dirty="0">
                <a:latin typeface="Arial"/>
                <a:cs typeface="Arial"/>
              </a:endParaRPr>
            </a:p>
            <a:p>
              <a:pPr marL="8410" marR="27536">
                <a:lnSpc>
                  <a:spcPts val="1370"/>
                </a:lnSpc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2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3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4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5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8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6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7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8</a:t>
              </a:r>
              <a:endParaRPr sz="794" dirty="0">
                <a:latin typeface="Arial"/>
                <a:cs typeface="Arial"/>
              </a:endParaRPr>
            </a:p>
            <a:p>
              <a:pPr marL="8405" marR="27536">
                <a:lnSpc>
                  <a:spcPts val="1370"/>
                </a:lnSpc>
                <a:spcBef>
                  <a:spcPts val="291"/>
                </a:spcBef>
                <a:spcAft>
                  <a:spcPts val="225"/>
                </a:spcAft>
              </a:pPr>
              <a:r>
                <a:rPr sz="1191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1191" baseline="-24156" dirty="0">
                  <a:solidFill>
                    <a:srgbClr val="006FBF"/>
                  </a:solidFill>
                  <a:latin typeface="Arial"/>
                  <a:cs typeface="Arial"/>
                </a:rPr>
                <a:t>9</a:t>
              </a:r>
              <a:endParaRPr sz="794" dirty="0">
                <a:latin typeface="Arial"/>
                <a:cs typeface="Arial"/>
              </a:endParaRPr>
            </a:p>
            <a:p>
              <a:pPr marL="8405">
                <a:lnSpc>
                  <a:spcPts val="1370"/>
                </a:lnSpc>
                <a:spcBef>
                  <a:spcPts val="600"/>
                </a:spcBef>
                <a:spcAft>
                  <a:spcPts val="225"/>
                </a:spcAft>
              </a:pPr>
              <a:r>
                <a:rPr sz="1786" baseline="16104" dirty="0">
                  <a:solidFill>
                    <a:srgbClr val="006FBF"/>
                  </a:solidFill>
                  <a:latin typeface="Arial"/>
                  <a:cs typeface="Arial"/>
                </a:rPr>
                <a:t>0</a:t>
              </a:r>
              <a:r>
                <a:rPr sz="794" dirty="0">
                  <a:solidFill>
                    <a:srgbClr val="006FBF"/>
                  </a:solidFill>
                  <a:latin typeface="Arial"/>
                  <a:cs typeface="Arial"/>
                </a:rPr>
                <a:t>10</a:t>
              </a:r>
              <a:endParaRPr sz="794" dirty="0">
                <a:latin typeface="Arial"/>
                <a:cs typeface="Arial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3996291" y="1804921"/>
            <a:ext cx="2865710" cy="2081279"/>
            <a:chOff x="3804386" y="1263562"/>
            <a:chExt cx="3820947" cy="2775038"/>
          </a:xfrm>
        </p:grpSpPr>
        <p:grpSp>
          <p:nvGrpSpPr>
            <p:cNvPr id="96" name="Group 95"/>
            <p:cNvGrpSpPr/>
            <p:nvPr/>
          </p:nvGrpSpPr>
          <p:grpSpPr>
            <a:xfrm>
              <a:off x="3804386" y="1263562"/>
              <a:ext cx="3820947" cy="2744080"/>
              <a:chOff x="3804386" y="1263562"/>
              <a:chExt cx="3820947" cy="2744080"/>
            </a:xfrm>
          </p:grpSpPr>
          <p:sp>
            <p:nvSpPr>
              <p:cNvPr id="99" name="object 46"/>
              <p:cNvSpPr/>
              <p:nvPr/>
            </p:nvSpPr>
            <p:spPr>
              <a:xfrm>
                <a:off x="5957048" y="297247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0" name="object 47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1" name="object 48"/>
              <p:cNvSpPr/>
              <p:nvPr/>
            </p:nvSpPr>
            <p:spPr>
              <a:xfrm>
                <a:off x="6466018" y="3301254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2" name="object 49"/>
              <p:cNvSpPr/>
              <p:nvPr/>
            </p:nvSpPr>
            <p:spPr>
              <a:xfrm>
                <a:off x="5982596" y="360717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3" name="object 50"/>
              <p:cNvSpPr/>
              <p:nvPr/>
            </p:nvSpPr>
            <p:spPr>
              <a:xfrm>
                <a:off x="3987726" y="2284655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4" name="object 51"/>
              <p:cNvSpPr/>
              <p:nvPr/>
            </p:nvSpPr>
            <p:spPr>
              <a:xfrm>
                <a:off x="4940449" y="1943099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5" name="object 52"/>
              <p:cNvSpPr/>
              <p:nvPr/>
            </p:nvSpPr>
            <p:spPr>
              <a:xfrm>
                <a:off x="4395172" y="1612302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76" y="85945"/>
                    </a:lnTo>
                    <a:lnTo>
                      <a:pt x="5710" y="99307"/>
                    </a:lnTo>
                    <a:lnTo>
                      <a:pt x="12409" y="111411"/>
                    </a:lnTo>
                    <a:lnTo>
                      <a:pt x="21280" y="121954"/>
                    </a:lnTo>
                    <a:lnTo>
                      <a:pt x="32029" y="130636"/>
                    </a:lnTo>
                    <a:lnTo>
                      <a:pt x="44364" y="137153"/>
                    </a:lnTo>
                    <a:lnTo>
                      <a:pt x="57992" y="141204"/>
                    </a:lnTo>
                    <a:lnTo>
                      <a:pt x="71627" y="142494"/>
                    </a:lnTo>
                    <a:lnTo>
                      <a:pt x="86198" y="141019"/>
                    </a:lnTo>
                    <a:lnTo>
                      <a:pt x="99750" y="136795"/>
                    </a:lnTo>
                    <a:lnTo>
                      <a:pt x="111989" y="130125"/>
                    </a:lnTo>
                    <a:lnTo>
                      <a:pt x="122623" y="121311"/>
                    </a:lnTo>
                    <a:lnTo>
                      <a:pt x="131359" y="110655"/>
                    </a:lnTo>
                    <a:lnTo>
                      <a:pt x="137904" y="98458"/>
                    </a:lnTo>
                    <a:lnTo>
                      <a:pt x="141965" y="85024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6" name="object 53"/>
              <p:cNvSpPr/>
              <p:nvPr/>
            </p:nvSpPr>
            <p:spPr>
              <a:xfrm>
                <a:off x="4000500" y="1395132"/>
                <a:ext cx="3558092" cy="2287345"/>
              </a:xfrm>
              <a:custGeom>
                <a:avLst/>
                <a:gdLst/>
                <a:ahLst/>
                <a:cxnLst/>
                <a:rect l="l" t="t" r="r" b="b"/>
                <a:pathLst>
                  <a:path w="4032504" h="2592324">
                    <a:moveTo>
                      <a:pt x="0" y="0"/>
                    </a:moveTo>
                    <a:lnTo>
                      <a:pt x="0" y="2592324"/>
                    </a:lnTo>
                    <a:lnTo>
                      <a:pt x="4032504" y="2592324"/>
                    </a:lnTo>
                    <a:lnTo>
                      <a:pt x="40325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7" name="object 54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8" name="object 55"/>
              <p:cNvSpPr/>
              <p:nvPr/>
            </p:nvSpPr>
            <p:spPr>
              <a:xfrm>
                <a:off x="3974951" y="3377229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09" name="object 56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0" name="object 57"/>
              <p:cNvSpPr/>
              <p:nvPr/>
            </p:nvSpPr>
            <p:spPr>
              <a:xfrm>
                <a:off x="3976968" y="30336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1" name="object 58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2" name="object 59"/>
              <p:cNvSpPr/>
              <p:nvPr/>
            </p:nvSpPr>
            <p:spPr>
              <a:xfrm>
                <a:off x="3976968" y="2690756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3" name="object 60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4" name="object 61"/>
              <p:cNvSpPr/>
              <p:nvPr/>
            </p:nvSpPr>
            <p:spPr>
              <a:xfrm>
                <a:off x="3974951" y="2349201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5" name="object 62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6" name="object 63"/>
              <p:cNvSpPr/>
              <p:nvPr/>
            </p:nvSpPr>
            <p:spPr>
              <a:xfrm>
                <a:off x="3976968" y="2018404"/>
                <a:ext cx="62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866">
                    <a:moveTo>
                      <a:pt x="70866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7" name="object 64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0" y="0"/>
                    </a:moveTo>
                    <a:lnTo>
                      <a:pt x="7162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8" name="object 65"/>
              <p:cNvSpPr/>
              <p:nvPr/>
            </p:nvSpPr>
            <p:spPr>
              <a:xfrm>
                <a:off x="3974951" y="1675503"/>
                <a:ext cx="63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627">
                    <a:moveTo>
                      <a:pt x="71627" y="0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19" name="object 66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0" name="object 67"/>
              <p:cNvSpPr/>
              <p:nvPr/>
            </p:nvSpPr>
            <p:spPr>
              <a:xfrm>
                <a:off x="4499386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1" name="object 68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2" name="object 69"/>
              <p:cNvSpPr/>
              <p:nvPr/>
            </p:nvSpPr>
            <p:spPr>
              <a:xfrm>
                <a:off x="501575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3" name="object 70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4" name="object 71"/>
              <p:cNvSpPr/>
              <p:nvPr/>
            </p:nvSpPr>
            <p:spPr>
              <a:xfrm>
                <a:off x="5515984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5" name="object 72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6" name="object 73"/>
              <p:cNvSpPr/>
              <p:nvPr/>
            </p:nvSpPr>
            <p:spPr>
              <a:xfrm>
                <a:off x="6033023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7" name="object 74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8" name="object 75"/>
              <p:cNvSpPr/>
              <p:nvPr/>
            </p:nvSpPr>
            <p:spPr>
              <a:xfrm>
                <a:off x="6528547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29" name="object 76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0"/>
                    </a:moveTo>
                    <a:lnTo>
                      <a:pt x="0" y="144779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0" name="object 77"/>
              <p:cNvSpPr/>
              <p:nvPr/>
            </p:nvSpPr>
            <p:spPr>
              <a:xfrm>
                <a:off x="7026088" y="3619276"/>
                <a:ext cx="0" cy="127746"/>
              </a:xfrm>
              <a:custGeom>
                <a:avLst/>
                <a:gdLst/>
                <a:ahLst/>
                <a:cxnLst/>
                <a:rect l="l" t="t" r="r" b="b"/>
                <a:pathLst>
                  <a:path h="144779">
                    <a:moveTo>
                      <a:pt x="0" y="144779"/>
                    </a:moveTo>
                    <a:lnTo>
                      <a:pt x="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1" name="object 78"/>
              <p:cNvSpPr/>
              <p:nvPr/>
            </p:nvSpPr>
            <p:spPr>
              <a:xfrm>
                <a:off x="6453244" y="2969783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2" name="object 79"/>
              <p:cNvSpPr/>
              <p:nvPr/>
            </p:nvSpPr>
            <p:spPr>
              <a:xfrm>
                <a:off x="6961543" y="2589904"/>
                <a:ext cx="126401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3255">
                    <a:moveTo>
                      <a:pt x="71627" y="0"/>
                    </a:moveTo>
                    <a:lnTo>
                      <a:pt x="57131" y="1461"/>
                    </a:lnTo>
                    <a:lnTo>
                      <a:pt x="43642" y="5652"/>
                    </a:lnTo>
                    <a:lnTo>
                      <a:pt x="31449" y="12285"/>
                    </a:lnTo>
                    <a:lnTo>
                      <a:pt x="20838" y="21071"/>
                    </a:lnTo>
                    <a:lnTo>
                      <a:pt x="12100" y="31722"/>
                    </a:lnTo>
                    <a:lnTo>
                      <a:pt x="5522" y="43950"/>
                    </a:lnTo>
                    <a:lnTo>
                      <a:pt x="1393" y="57466"/>
                    </a:lnTo>
                    <a:lnTo>
                      <a:pt x="0" y="71627"/>
                    </a:lnTo>
                    <a:lnTo>
                      <a:pt x="1461" y="86124"/>
                    </a:lnTo>
                    <a:lnTo>
                      <a:pt x="5652" y="99613"/>
                    </a:lnTo>
                    <a:lnTo>
                      <a:pt x="12285" y="111806"/>
                    </a:lnTo>
                    <a:lnTo>
                      <a:pt x="21071" y="122417"/>
                    </a:lnTo>
                    <a:lnTo>
                      <a:pt x="31722" y="131155"/>
                    </a:lnTo>
                    <a:lnTo>
                      <a:pt x="43950" y="137733"/>
                    </a:lnTo>
                    <a:lnTo>
                      <a:pt x="57466" y="141862"/>
                    </a:lnTo>
                    <a:lnTo>
                      <a:pt x="71627" y="143255"/>
                    </a:lnTo>
                    <a:lnTo>
                      <a:pt x="86124" y="141794"/>
                    </a:lnTo>
                    <a:lnTo>
                      <a:pt x="99613" y="137603"/>
                    </a:lnTo>
                    <a:lnTo>
                      <a:pt x="111806" y="130970"/>
                    </a:lnTo>
                    <a:lnTo>
                      <a:pt x="122417" y="122184"/>
                    </a:lnTo>
                    <a:lnTo>
                      <a:pt x="131155" y="111533"/>
                    </a:lnTo>
                    <a:lnTo>
                      <a:pt x="137733" y="99305"/>
                    </a:lnTo>
                    <a:lnTo>
                      <a:pt x="141862" y="85789"/>
                    </a:lnTo>
                    <a:lnTo>
                      <a:pt x="143255" y="71627"/>
                    </a:lnTo>
                    <a:lnTo>
                      <a:pt x="141794" y="57131"/>
                    </a:lnTo>
                    <a:lnTo>
                      <a:pt x="137603" y="43642"/>
                    </a:lnTo>
                    <a:lnTo>
                      <a:pt x="130970" y="31449"/>
                    </a:lnTo>
                    <a:lnTo>
                      <a:pt x="122184" y="20838"/>
                    </a:lnTo>
                    <a:lnTo>
                      <a:pt x="111533" y="12100"/>
                    </a:lnTo>
                    <a:lnTo>
                      <a:pt x="99305" y="5522"/>
                    </a:lnTo>
                    <a:lnTo>
                      <a:pt x="85789" y="1393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3" name="object 80"/>
              <p:cNvSpPr/>
              <p:nvPr/>
            </p:nvSpPr>
            <p:spPr>
              <a:xfrm>
                <a:off x="6466018" y="2259107"/>
                <a:ext cx="125730" cy="126401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3255">
                    <a:moveTo>
                      <a:pt x="70866" y="0"/>
                    </a:moveTo>
                    <a:lnTo>
                      <a:pt x="56548" y="1476"/>
                    </a:lnTo>
                    <a:lnTo>
                      <a:pt x="43186" y="5710"/>
                    </a:lnTo>
                    <a:lnTo>
                      <a:pt x="31082" y="12409"/>
                    </a:lnTo>
                    <a:lnTo>
                      <a:pt x="20539" y="21280"/>
                    </a:lnTo>
                    <a:lnTo>
                      <a:pt x="11857" y="32029"/>
                    </a:lnTo>
                    <a:lnTo>
                      <a:pt x="5340" y="44364"/>
                    </a:lnTo>
                    <a:lnTo>
                      <a:pt x="1289" y="57992"/>
                    </a:lnTo>
                    <a:lnTo>
                      <a:pt x="0" y="71627"/>
                    </a:lnTo>
                    <a:lnTo>
                      <a:pt x="1474" y="86198"/>
                    </a:lnTo>
                    <a:lnTo>
                      <a:pt x="5698" y="99750"/>
                    </a:lnTo>
                    <a:lnTo>
                      <a:pt x="12368" y="111989"/>
                    </a:lnTo>
                    <a:lnTo>
                      <a:pt x="21182" y="122623"/>
                    </a:lnTo>
                    <a:lnTo>
                      <a:pt x="31838" y="131359"/>
                    </a:lnTo>
                    <a:lnTo>
                      <a:pt x="44035" y="137904"/>
                    </a:lnTo>
                    <a:lnTo>
                      <a:pt x="57469" y="141965"/>
                    </a:lnTo>
                    <a:lnTo>
                      <a:pt x="70866" y="143255"/>
                    </a:lnTo>
                    <a:lnTo>
                      <a:pt x="85362" y="141794"/>
                    </a:lnTo>
                    <a:lnTo>
                      <a:pt x="98851" y="137603"/>
                    </a:lnTo>
                    <a:lnTo>
                      <a:pt x="111044" y="130970"/>
                    </a:lnTo>
                    <a:lnTo>
                      <a:pt x="121655" y="122184"/>
                    </a:lnTo>
                    <a:lnTo>
                      <a:pt x="130393" y="111533"/>
                    </a:lnTo>
                    <a:lnTo>
                      <a:pt x="136971" y="99305"/>
                    </a:lnTo>
                    <a:lnTo>
                      <a:pt x="141100" y="85789"/>
                    </a:lnTo>
                    <a:lnTo>
                      <a:pt x="142494" y="71627"/>
                    </a:lnTo>
                    <a:lnTo>
                      <a:pt x="141032" y="57131"/>
                    </a:lnTo>
                    <a:lnTo>
                      <a:pt x="136841" y="43642"/>
                    </a:lnTo>
                    <a:lnTo>
                      <a:pt x="130208" y="31449"/>
                    </a:lnTo>
                    <a:lnTo>
                      <a:pt x="121422" y="20838"/>
                    </a:lnTo>
                    <a:lnTo>
                      <a:pt x="110771" y="12100"/>
                    </a:lnTo>
                    <a:lnTo>
                      <a:pt x="98543" y="5522"/>
                    </a:lnTo>
                    <a:lnTo>
                      <a:pt x="85027" y="1393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727BA2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4" name="object 81"/>
              <p:cNvSpPr/>
              <p:nvPr/>
            </p:nvSpPr>
            <p:spPr>
              <a:xfrm>
                <a:off x="6453244" y="2971128"/>
                <a:ext cx="125730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2494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5945" y="141017"/>
                    </a:lnTo>
                    <a:lnTo>
                      <a:pt x="99307" y="136783"/>
                    </a:lnTo>
                    <a:lnTo>
                      <a:pt x="111411" y="130084"/>
                    </a:lnTo>
                    <a:lnTo>
                      <a:pt x="121954" y="121213"/>
                    </a:lnTo>
                    <a:lnTo>
                      <a:pt x="130636" y="110464"/>
                    </a:lnTo>
                    <a:lnTo>
                      <a:pt x="137153" y="98129"/>
                    </a:lnTo>
                    <a:lnTo>
                      <a:pt x="141204" y="84501"/>
                    </a:lnTo>
                    <a:lnTo>
                      <a:pt x="142494" y="70866"/>
                    </a:lnTo>
                    <a:lnTo>
                      <a:pt x="141003" y="56473"/>
                    </a:lnTo>
                    <a:lnTo>
                      <a:pt x="136736" y="43048"/>
                    </a:lnTo>
                    <a:lnTo>
                      <a:pt x="129999" y="30899"/>
                    </a:lnTo>
                    <a:lnTo>
                      <a:pt x="121100" y="20331"/>
                    </a:lnTo>
                    <a:lnTo>
                      <a:pt x="110345" y="11652"/>
                    </a:lnTo>
                    <a:lnTo>
                      <a:pt x="98042" y="5168"/>
                    </a:lnTo>
                    <a:lnTo>
                      <a:pt x="84497" y="1188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5" name="object 82"/>
              <p:cNvSpPr/>
              <p:nvPr/>
            </p:nvSpPr>
            <p:spPr>
              <a:xfrm>
                <a:off x="4406602" y="2971128"/>
                <a:ext cx="126401" cy="125730"/>
              </a:xfrm>
              <a:custGeom>
                <a:avLst/>
                <a:gdLst/>
                <a:ahLst/>
                <a:cxnLst/>
                <a:rect l="l" t="t" r="r" b="b"/>
                <a:pathLst>
                  <a:path w="143255" h="142494">
                    <a:moveTo>
                      <a:pt x="71627" y="0"/>
                    </a:moveTo>
                    <a:lnTo>
                      <a:pt x="57057" y="1474"/>
                    </a:lnTo>
                    <a:lnTo>
                      <a:pt x="43505" y="5698"/>
                    </a:lnTo>
                    <a:lnTo>
                      <a:pt x="31266" y="12368"/>
                    </a:lnTo>
                    <a:lnTo>
                      <a:pt x="20632" y="21182"/>
                    </a:lnTo>
                    <a:lnTo>
                      <a:pt x="11896" y="31838"/>
                    </a:lnTo>
                    <a:lnTo>
                      <a:pt x="5351" y="44035"/>
                    </a:lnTo>
                    <a:lnTo>
                      <a:pt x="1290" y="57469"/>
                    </a:lnTo>
                    <a:lnTo>
                      <a:pt x="0" y="70866"/>
                    </a:lnTo>
                    <a:lnTo>
                      <a:pt x="1461" y="85362"/>
                    </a:lnTo>
                    <a:lnTo>
                      <a:pt x="5652" y="98851"/>
                    </a:lnTo>
                    <a:lnTo>
                      <a:pt x="12285" y="111044"/>
                    </a:lnTo>
                    <a:lnTo>
                      <a:pt x="21071" y="121655"/>
                    </a:lnTo>
                    <a:lnTo>
                      <a:pt x="31722" y="130393"/>
                    </a:lnTo>
                    <a:lnTo>
                      <a:pt x="43950" y="136971"/>
                    </a:lnTo>
                    <a:lnTo>
                      <a:pt x="57466" y="141100"/>
                    </a:lnTo>
                    <a:lnTo>
                      <a:pt x="71627" y="142494"/>
                    </a:lnTo>
                    <a:lnTo>
                      <a:pt x="86124" y="141032"/>
                    </a:lnTo>
                    <a:lnTo>
                      <a:pt x="99613" y="136841"/>
                    </a:lnTo>
                    <a:lnTo>
                      <a:pt x="111806" y="130208"/>
                    </a:lnTo>
                    <a:lnTo>
                      <a:pt x="122417" y="121422"/>
                    </a:lnTo>
                    <a:lnTo>
                      <a:pt x="131155" y="110771"/>
                    </a:lnTo>
                    <a:lnTo>
                      <a:pt x="137733" y="98543"/>
                    </a:lnTo>
                    <a:lnTo>
                      <a:pt x="141862" y="85027"/>
                    </a:lnTo>
                    <a:lnTo>
                      <a:pt x="143255" y="70866"/>
                    </a:lnTo>
                    <a:lnTo>
                      <a:pt x="141779" y="56548"/>
                    </a:lnTo>
                    <a:lnTo>
                      <a:pt x="137545" y="43186"/>
                    </a:lnTo>
                    <a:lnTo>
                      <a:pt x="130846" y="31082"/>
                    </a:lnTo>
                    <a:lnTo>
                      <a:pt x="121975" y="20539"/>
                    </a:lnTo>
                    <a:lnTo>
                      <a:pt x="111226" y="11857"/>
                    </a:lnTo>
                    <a:lnTo>
                      <a:pt x="98891" y="5340"/>
                    </a:lnTo>
                    <a:lnTo>
                      <a:pt x="85263" y="1289"/>
                    </a:lnTo>
                    <a:lnTo>
                      <a:pt x="71627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 sz="926"/>
              </a:p>
            </p:txBody>
          </p:sp>
          <p:sp>
            <p:nvSpPr>
              <p:cNvPr id="136" name="object 45"/>
              <p:cNvSpPr txBox="1"/>
              <p:nvPr/>
            </p:nvSpPr>
            <p:spPr>
              <a:xfrm>
                <a:off x="3804386" y="1263562"/>
                <a:ext cx="175444" cy="185321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 marR="20197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</a:p>
              <a:p>
                <a:pPr marL="16982" marR="10597">
                  <a:lnSpc>
                    <a:spcPct val="102172"/>
                  </a:lnSpc>
                  <a:spcBef>
                    <a:spcPts val="521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</a:p>
              <a:p>
                <a:pPr marL="2757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</a:p>
              <a:p>
                <a:pPr marL="26071" marR="1508">
                  <a:lnSpc>
                    <a:spcPct val="102172"/>
                  </a:lnSpc>
                  <a:spcBef>
                    <a:spcPts val="580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</a:p>
              <a:p>
                <a:pPr marL="26071" marR="1508">
                  <a:lnSpc>
                    <a:spcPct val="102172"/>
                  </a:lnSpc>
                  <a:spcBef>
                    <a:spcPts val="71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</a:p>
              <a:p>
                <a:pPr marL="27578">
                  <a:lnSpc>
                    <a:spcPct val="102172"/>
                  </a:lnSpc>
                  <a:spcBef>
                    <a:spcPts val="802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</a:p>
            </p:txBody>
          </p:sp>
          <p:sp>
            <p:nvSpPr>
              <p:cNvPr id="137" name="object 43"/>
              <p:cNvSpPr txBox="1"/>
              <p:nvPr/>
            </p:nvSpPr>
            <p:spPr>
              <a:xfrm>
                <a:off x="6667276" y="1708639"/>
                <a:ext cx="71983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solidFill>
                      <a:schemeClr val="accent2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cluster2</a:t>
                </a:r>
              </a:p>
            </p:txBody>
          </p:sp>
          <p:sp>
            <p:nvSpPr>
              <p:cNvPr id="138" name="object 42"/>
              <p:cNvSpPr txBox="1"/>
              <p:nvPr/>
            </p:nvSpPr>
            <p:spPr>
              <a:xfrm>
                <a:off x="4493559" y="17362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3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39" name="object 39"/>
              <p:cNvSpPr txBox="1"/>
              <p:nvPr/>
            </p:nvSpPr>
            <p:spPr>
              <a:xfrm>
                <a:off x="5036823" y="207910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4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0" name="object 37"/>
              <p:cNvSpPr txBox="1"/>
              <p:nvPr/>
            </p:nvSpPr>
            <p:spPr>
              <a:xfrm>
                <a:off x="6628280" y="2332577"/>
                <a:ext cx="150486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10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1" name="object 36"/>
              <p:cNvSpPr txBox="1"/>
              <p:nvPr/>
            </p:nvSpPr>
            <p:spPr>
              <a:xfrm>
                <a:off x="4090147" y="241393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1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2" name="object 35"/>
              <p:cNvSpPr txBox="1"/>
              <p:nvPr/>
            </p:nvSpPr>
            <p:spPr>
              <a:xfrm>
                <a:off x="7124476" y="2663374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9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3" name="object 34"/>
              <p:cNvSpPr txBox="1"/>
              <p:nvPr/>
            </p:nvSpPr>
            <p:spPr>
              <a:xfrm>
                <a:off x="6090404" y="3043930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6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4" name="object 33"/>
              <p:cNvSpPr txBox="1"/>
              <p:nvPr/>
            </p:nvSpPr>
            <p:spPr>
              <a:xfrm>
                <a:off x="6615505" y="3042581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8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5" name="object 32"/>
              <p:cNvSpPr txBox="1"/>
              <p:nvPr/>
            </p:nvSpPr>
            <p:spPr>
              <a:xfrm>
                <a:off x="4539951" y="3056697"/>
                <a:ext cx="94023" cy="12326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685"/>
                  </a:lnSpc>
                  <a:spcBef>
                    <a:spcPts val="34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2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46" name="object 31"/>
              <p:cNvSpPr txBox="1"/>
              <p:nvPr/>
            </p:nvSpPr>
            <p:spPr>
              <a:xfrm>
                <a:off x="3840704" y="329741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7" name="object 30"/>
              <p:cNvSpPr txBox="1"/>
              <p:nvPr/>
            </p:nvSpPr>
            <p:spPr>
              <a:xfrm>
                <a:off x="3885752" y="363896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2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8" name="object 29"/>
              <p:cNvSpPr txBox="1"/>
              <p:nvPr/>
            </p:nvSpPr>
            <p:spPr>
              <a:xfrm>
                <a:off x="7008168" y="3774795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8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49" name="object 28"/>
              <p:cNvSpPr txBox="1"/>
              <p:nvPr/>
            </p:nvSpPr>
            <p:spPr>
              <a:xfrm>
                <a:off x="7475453" y="3780844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9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0" name="object 27"/>
              <p:cNvSpPr txBox="1"/>
              <p:nvPr/>
            </p:nvSpPr>
            <p:spPr>
              <a:xfrm>
                <a:off x="5458391" y="3792930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5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1" name="object 26"/>
              <p:cNvSpPr txBox="1"/>
              <p:nvPr/>
            </p:nvSpPr>
            <p:spPr>
              <a:xfrm>
                <a:off x="5967356" y="3787558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6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2" name="object 25"/>
              <p:cNvSpPr txBox="1"/>
              <p:nvPr/>
            </p:nvSpPr>
            <p:spPr>
              <a:xfrm>
                <a:off x="6475661" y="3792943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7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3" name="object 24"/>
              <p:cNvSpPr txBox="1"/>
              <p:nvPr/>
            </p:nvSpPr>
            <p:spPr>
              <a:xfrm>
                <a:off x="4441788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3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4" name="object 23"/>
              <p:cNvSpPr txBox="1"/>
              <p:nvPr/>
            </p:nvSpPr>
            <p:spPr>
              <a:xfrm>
                <a:off x="4950086" y="3805712"/>
                <a:ext cx="149880" cy="20193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8405">
                  <a:lnSpc>
                    <a:spcPts val="1168"/>
                  </a:lnSpc>
                  <a:spcBef>
                    <a:spcPts val="59"/>
                  </a:spcBef>
                </a:pPr>
                <a:r>
                  <a:rPr sz="1059" dirty="0">
                    <a:latin typeface="Century Gothic"/>
                    <a:cs typeface="Century Gothic"/>
                  </a:rPr>
                  <a:t>4</a:t>
                </a:r>
                <a:endParaRPr sz="1059">
                  <a:latin typeface="Century Gothic"/>
                  <a:cs typeface="Century Gothic"/>
                </a:endParaRPr>
              </a:p>
            </p:txBody>
          </p:sp>
          <p:sp>
            <p:nvSpPr>
              <p:cNvPr id="155" name="object 16"/>
              <p:cNvSpPr txBox="1"/>
              <p:nvPr/>
            </p:nvSpPr>
            <p:spPr>
              <a:xfrm>
                <a:off x="4000500" y="1395133"/>
                <a:ext cx="3558092" cy="28037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596"/>
                  </a:lnSpc>
                  <a:spcBef>
                    <a:spcPts val="3"/>
                  </a:spcBef>
                </a:pPr>
                <a:endParaRPr sz="596" dirty="0"/>
              </a:p>
              <a:p>
                <a:pPr marL="770054">
                  <a:lnSpc>
                    <a:spcPts val="1055"/>
                  </a:lnSpc>
                  <a:spcBef>
                    <a:spcPts val="53"/>
                  </a:spcBef>
                </a:pPr>
                <a:r>
                  <a:rPr sz="1589" baseline="-11894" dirty="0">
                    <a:solidFill>
                      <a:schemeClr val="accent5">
                        <a:lumMod val="75000"/>
                      </a:schemeClr>
                    </a:solidFill>
                    <a:latin typeface="Century Gothic"/>
                    <a:cs typeface="Century Gothic"/>
                  </a:rPr>
                  <a:t>cluster1</a:t>
                </a:r>
                <a:endParaRPr sz="1059" dirty="0">
                  <a:solidFill>
                    <a:schemeClr val="accent5">
                      <a:lumMod val="75000"/>
                    </a:schemeClr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156" name="object 15"/>
              <p:cNvSpPr txBox="1"/>
              <p:nvPr/>
            </p:nvSpPr>
            <p:spPr>
              <a:xfrm>
                <a:off x="4000500" y="1675503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7" name="object 14"/>
              <p:cNvSpPr txBox="1"/>
              <p:nvPr/>
            </p:nvSpPr>
            <p:spPr>
              <a:xfrm>
                <a:off x="4000500" y="2018404"/>
                <a:ext cx="0" cy="330797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8" name="object 13"/>
              <p:cNvSpPr txBox="1"/>
              <p:nvPr/>
            </p:nvSpPr>
            <p:spPr>
              <a:xfrm>
                <a:off x="4000500" y="2349201"/>
                <a:ext cx="0" cy="34155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59" name="object 12"/>
              <p:cNvSpPr txBox="1"/>
              <p:nvPr/>
            </p:nvSpPr>
            <p:spPr>
              <a:xfrm>
                <a:off x="4000500" y="2690756"/>
                <a:ext cx="0" cy="3429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60" name="object 11"/>
              <p:cNvSpPr txBox="1"/>
              <p:nvPr/>
            </p:nvSpPr>
            <p:spPr>
              <a:xfrm>
                <a:off x="4000500" y="3033657"/>
                <a:ext cx="0" cy="34357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662"/>
                  </a:lnSpc>
                </a:pPr>
                <a:endParaRPr sz="662"/>
              </a:p>
            </p:txBody>
          </p:sp>
          <p:sp>
            <p:nvSpPr>
              <p:cNvPr id="161" name="object 10"/>
              <p:cNvSpPr txBox="1"/>
              <p:nvPr/>
            </p:nvSpPr>
            <p:spPr>
              <a:xfrm>
                <a:off x="4000500" y="3377229"/>
                <a:ext cx="3558092" cy="30524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R="646999" algn="r">
                  <a:lnSpc>
                    <a:spcPts val="672"/>
                  </a:lnSpc>
                  <a:spcBef>
                    <a:spcPts val="33"/>
                  </a:spcBef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7</a:t>
                </a:r>
                <a:endParaRPr sz="596">
                  <a:latin typeface="Century Gothic"/>
                  <a:cs typeface="Century Gothic"/>
                </a:endParaRPr>
              </a:p>
              <a:p>
                <a:pPr marL="1437782" marR="1160408" algn="ctr">
                  <a:lnSpc>
                    <a:spcPct val="102172"/>
                  </a:lnSpc>
                </a:pPr>
                <a:r>
                  <a:rPr sz="596" dirty="0">
                    <a:solidFill>
                      <a:srgbClr val="640064"/>
                    </a:solidFill>
                    <a:latin typeface="Century Gothic"/>
                    <a:cs typeface="Century Gothic"/>
                  </a:rPr>
                  <a:t>5</a:t>
                </a:r>
                <a:endParaRPr sz="596">
                  <a:latin typeface="Century Gothic"/>
                  <a:cs typeface="Century Gothic"/>
                </a:endParaRPr>
              </a:p>
            </p:txBody>
          </p:sp>
          <p:sp>
            <p:nvSpPr>
              <p:cNvPr id="162" name="object 9"/>
              <p:cNvSpPr txBox="1"/>
              <p:nvPr/>
            </p:nvSpPr>
            <p:spPr>
              <a:xfrm>
                <a:off x="4000500" y="3682478"/>
                <a:ext cx="498885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3" name="object 8"/>
              <p:cNvSpPr txBox="1"/>
              <p:nvPr/>
            </p:nvSpPr>
            <p:spPr>
              <a:xfrm>
                <a:off x="4499386" y="3682478"/>
                <a:ext cx="516367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4" name="object 7"/>
              <p:cNvSpPr txBox="1"/>
              <p:nvPr/>
            </p:nvSpPr>
            <p:spPr>
              <a:xfrm>
                <a:off x="5015753" y="3682478"/>
                <a:ext cx="50023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5" name="object 6"/>
              <p:cNvSpPr txBox="1"/>
              <p:nvPr/>
            </p:nvSpPr>
            <p:spPr>
              <a:xfrm>
                <a:off x="5515984" y="3682478"/>
                <a:ext cx="517039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6" name="object 5"/>
              <p:cNvSpPr txBox="1"/>
              <p:nvPr/>
            </p:nvSpPr>
            <p:spPr>
              <a:xfrm>
                <a:off x="6033023" y="3682478"/>
                <a:ext cx="495524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7" name="object 4"/>
              <p:cNvSpPr txBox="1"/>
              <p:nvPr/>
            </p:nvSpPr>
            <p:spPr>
              <a:xfrm>
                <a:off x="6528548" y="3682478"/>
                <a:ext cx="497540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  <p:sp>
            <p:nvSpPr>
              <p:cNvPr id="168" name="object 3"/>
              <p:cNvSpPr txBox="1"/>
              <p:nvPr/>
            </p:nvSpPr>
            <p:spPr>
              <a:xfrm>
                <a:off x="7026089" y="3682478"/>
                <a:ext cx="532503" cy="64545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6810">
                  <a:lnSpc>
                    <a:spcPts val="364"/>
                  </a:lnSpc>
                  <a:spcBef>
                    <a:spcPts val="17"/>
                  </a:spcBef>
                </a:pPr>
                <a:endParaRPr sz="364"/>
              </a:p>
            </p:txBody>
          </p:sp>
        </p:grpSp>
        <p:sp>
          <p:nvSpPr>
            <p:cNvPr id="97" name="Oval 96"/>
            <p:cNvSpPr/>
            <p:nvPr/>
          </p:nvSpPr>
          <p:spPr bwMode="auto">
            <a:xfrm>
              <a:off x="3937363" y="1447801"/>
              <a:ext cx="1320437" cy="1755738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noFill/>
                <a:latin typeface="Arial" charset="0"/>
              </a:endParaRPr>
            </a:p>
          </p:txBody>
        </p:sp>
        <p:sp>
          <p:nvSpPr>
            <p:cNvPr id="98" name="Oval 97"/>
            <p:cNvSpPr/>
            <p:nvPr/>
          </p:nvSpPr>
          <p:spPr bwMode="auto">
            <a:xfrm>
              <a:off x="5715000" y="2057167"/>
              <a:ext cx="1527717" cy="1981433"/>
            </a:xfrm>
            <a:prstGeom prst="ellipse">
              <a:avLst/>
            </a:prstGeom>
            <a:no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050" b="1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3267688" y="3932445"/>
            <a:ext cx="24909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C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6</a:t>
            </a:r>
            <a:r>
              <a:rPr lang="en-US" altLang="en-US" sz="1200" baseline="-25000" dirty="0">
                <a:solidFill>
                  <a:srgbClr val="C00000"/>
                </a:solidFill>
                <a:sym typeface="Symbol" pitchFamily="18" charset="2"/>
              </a:rPr>
              <a:t>8</a:t>
            </a:r>
            <a:r>
              <a:rPr lang="en-US" altLang="en-US" sz="1200" baseline="-25000" dirty="0">
                <a:solidFill>
                  <a:srgbClr val="006600"/>
                </a:solidFill>
                <a:sym typeface="Symbol" pitchFamily="18" charset="2"/>
              </a:rPr>
              <a:t>7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 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= d(0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7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6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 - d(0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8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6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)=2-1=1</a:t>
            </a:r>
          </a:p>
          <a:p>
            <a:pPr algn="ctr">
              <a:lnSpc>
                <a:spcPct val="150000"/>
              </a:lnSpc>
            </a:pP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C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5</a:t>
            </a:r>
            <a:r>
              <a:rPr lang="en-US" altLang="en-US" sz="1200" baseline="-25000" dirty="0">
                <a:solidFill>
                  <a:srgbClr val="C00000"/>
                </a:solidFill>
                <a:sym typeface="Symbol" pitchFamily="18" charset="2"/>
              </a:rPr>
              <a:t>8</a:t>
            </a:r>
            <a:r>
              <a:rPr lang="en-US" altLang="en-US" sz="1200" baseline="-25000" dirty="0">
                <a:solidFill>
                  <a:srgbClr val="006600"/>
                </a:solidFill>
                <a:sym typeface="Symbol" pitchFamily="18" charset="2"/>
              </a:rPr>
              <a:t>7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 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= d(0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7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5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 - d(0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8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5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)=2-3=-1</a:t>
            </a:r>
          </a:p>
          <a:p>
            <a:pPr algn="ctr">
              <a:lnSpc>
                <a:spcPct val="150000"/>
              </a:lnSpc>
            </a:pP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C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9</a:t>
            </a:r>
            <a:r>
              <a:rPr lang="en-US" altLang="en-US" sz="1200" baseline="-25000" dirty="0">
                <a:solidFill>
                  <a:srgbClr val="C00000"/>
                </a:solidFill>
                <a:sym typeface="Symbol" pitchFamily="18" charset="2"/>
              </a:rPr>
              <a:t>8</a:t>
            </a:r>
            <a:r>
              <a:rPr lang="en-US" altLang="en-US" sz="1200" baseline="-25000" dirty="0">
                <a:solidFill>
                  <a:srgbClr val="006600"/>
                </a:solidFill>
                <a:sym typeface="Symbol" pitchFamily="18" charset="2"/>
              </a:rPr>
              <a:t>7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 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= d(0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7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9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 - d(0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8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9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)=3-2=1</a:t>
            </a:r>
          </a:p>
          <a:p>
            <a:pPr algn="ctr">
              <a:lnSpc>
                <a:spcPct val="150000"/>
              </a:lnSpc>
            </a:pP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C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10</a:t>
            </a:r>
            <a:r>
              <a:rPr lang="en-US" altLang="en-US" sz="1200" baseline="-25000" dirty="0">
                <a:solidFill>
                  <a:srgbClr val="C00000"/>
                </a:solidFill>
                <a:sym typeface="Symbol" pitchFamily="18" charset="2"/>
              </a:rPr>
              <a:t>8</a:t>
            </a:r>
            <a:r>
              <a:rPr lang="en-US" altLang="en-US" sz="1200" baseline="-25000" dirty="0">
                <a:solidFill>
                  <a:srgbClr val="006600"/>
                </a:solidFill>
                <a:sym typeface="Symbol" pitchFamily="18" charset="2"/>
              </a:rPr>
              <a:t>7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 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= d(0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7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10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 - d(0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8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,0</a:t>
            </a:r>
            <a:r>
              <a:rPr lang="en-US" altLang="en-US" sz="1200" baseline="-250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10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)=3-2=1</a:t>
            </a:r>
            <a:endParaRPr lang="en-IN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0" name="Title 84"/>
          <p:cNvSpPr txBox="1">
            <a:spLocks/>
          </p:cNvSpPr>
          <p:nvPr/>
        </p:nvSpPr>
        <p:spPr>
          <a:xfrm>
            <a:off x="1399766" y="1045031"/>
            <a:ext cx="6210300" cy="400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altLang="ko-KR" sz="2100" kern="0" dirty="0">
                <a:solidFill>
                  <a:srgbClr val="002060"/>
                </a:solidFill>
                <a:ea typeface="Gulim" pitchFamily="34" charset="-127"/>
              </a:rPr>
              <a:t>PAM or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K-</a:t>
            </a:r>
            <a:r>
              <a:rPr lang="en-IN" sz="2100" kern="0" spc="3" dirty="0" err="1">
                <a:solidFill>
                  <a:srgbClr val="002060"/>
                </a:solidFill>
                <a:cs typeface="Century Gothic"/>
              </a:rPr>
              <a:t>Medoid</a:t>
            </a:r>
            <a:r>
              <a:rPr lang="en-IN" sz="2100" kern="0" dirty="0" err="1">
                <a:solidFill>
                  <a:srgbClr val="002060"/>
                </a:solidFill>
                <a:cs typeface="Century Gothic"/>
              </a:rPr>
              <a:t>s</a:t>
            </a:r>
            <a:r>
              <a:rPr lang="en-IN" sz="2100" kern="0" dirty="0">
                <a:solidFill>
                  <a:srgbClr val="002060"/>
                </a:solidFill>
                <a:cs typeface="Century Gothic"/>
              </a:rPr>
              <a:t>:</a:t>
            </a:r>
            <a:r>
              <a:rPr lang="en-IN" sz="2100" kern="0" spc="6" dirty="0">
                <a:solidFill>
                  <a:srgbClr val="002060"/>
                </a:solidFill>
                <a:cs typeface="Century Gothic"/>
              </a:rPr>
              <a:t>  </a:t>
            </a:r>
            <a:r>
              <a:rPr lang="en-IN" sz="2100" kern="0" spc="3" dirty="0">
                <a:solidFill>
                  <a:srgbClr val="002060"/>
                </a:solidFill>
                <a:cs typeface="Century Gothic"/>
              </a:rPr>
              <a:t>Example</a:t>
            </a:r>
            <a:endParaRPr lang="en-IN" sz="2100" kern="0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03410" y="4363393"/>
            <a:ext cx="15055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2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C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1</a:t>
            </a:r>
            <a:r>
              <a:rPr lang="en-US" altLang="en-US" sz="1200" baseline="-25000" dirty="0">
                <a:solidFill>
                  <a:srgbClr val="C00000"/>
                </a:solidFill>
                <a:sym typeface="Symbol" pitchFamily="18" charset="2"/>
              </a:rPr>
              <a:t>8</a:t>
            </a:r>
            <a:r>
              <a:rPr lang="en-US" altLang="en-US" sz="1200" baseline="-25000" dirty="0">
                <a:solidFill>
                  <a:srgbClr val="006600"/>
                </a:solidFill>
                <a:sym typeface="Symbol" pitchFamily="18" charset="2"/>
              </a:rPr>
              <a:t>7</a:t>
            </a:r>
            <a:r>
              <a:rPr lang="en-US" altLang="en-US" sz="12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=0, C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3</a:t>
            </a:r>
            <a:r>
              <a:rPr lang="en-US" altLang="en-US" sz="1200" baseline="-25000" dirty="0">
                <a:solidFill>
                  <a:srgbClr val="C00000"/>
                </a:solidFill>
                <a:sym typeface="Symbol" pitchFamily="18" charset="2"/>
              </a:rPr>
              <a:t>8</a:t>
            </a:r>
            <a:r>
              <a:rPr lang="en-US" altLang="en-US" sz="1200" baseline="-25000" dirty="0">
                <a:solidFill>
                  <a:srgbClr val="006600"/>
                </a:solidFill>
                <a:sym typeface="Symbol" pitchFamily="18" charset="2"/>
              </a:rPr>
              <a:t>7</a:t>
            </a:r>
            <a:r>
              <a:rPr lang="en-US" altLang="en-US" sz="12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=0, C</a:t>
            </a:r>
            <a:r>
              <a:rPr lang="en-US" altLang="en-US" sz="1200" baseline="-25000" dirty="0">
                <a:solidFill>
                  <a:srgbClr val="002060"/>
                </a:solidFill>
                <a:sym typeface="Symbol" pitchFamily="18" charset="2"/>
              </a:rPr>
              <a:t>4</a:t>
            </a:r>
            <a:r>
              <a:rPr lang="en-US" altLang="en-US" sz="1200" baseline="-25000" dirty="0">
                <a:solidFill>
                  <a:srgbClr val="C00000"/>
                </a:solidFill>
                <a:sym typeface="Symbol" pitchFamily="18" charset="2"/>
              </a:rPr>
              <a:t>8</a:t>
            </a:r>
            <a:r>
              <a:rPr lang="en-US" altLang="en-US" sz="1200" baseline="-25000" dirty="0">
                <a:solidFill>
                  <a:srgbClr val="006600"/>
                </a:solidFill>
                <a:sym typeface="Symbol" pitchFamily="18" charset="2"/>
              </a:rPr>
              <a:t>7</a:t>
            </a:r>
            <a:r>
              <a:rPr lang="en-US" altLang="en-US" sz="12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=0</a:t>
            </a:r>
            <a:endParaRPr lang="en-IN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43325" y="5297852"/>
            <a:ext cx="3371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i="1" dirty="0" err="1"/>
              <a:t>TC</a:t>
            </a:r>
            <a:r>
              <a:rPr lang="en-US" altLang="en-US" i="1" baseline="-25000" dirty="0" err="1">
                <a:solidFill>
                  <a:srgbClr val="C00000"/>
                </a:solidFill>
              </a:rPr>
              <a:t>i</a:t>
            </a:r>
            <a:r>
              <a:rPr lang="en-US" altLang="en-US" i="1" baseline="-25000" dirty="0" err="1">
                <a:solidFill>
                  <a:srgbClr val="006600"/>
                </a:solidFill>
              </a:rPr>
              <a:t>h</a:t>
            </a:r>
            <a:r>
              <a:rPr lang="en-US" altLang="en-US" i="1" dirty="0">
                <a:solidFill>
                  <a:srgbClr val="002060"/>
                </a:solidFill>
              </a:rPr>
              <a:t>=</a:t>
            </a:r>
            <a:r>
              <a:rPr lang="en-US" altLang="en-US" i="1" dirty="0">
                <a:sym typeface="Symbol" pitchFamily="18" charset="2"/>
              </a:rPr>
              <a:t></a:t>
            </a:r>
            <a:r>
              <a:rPr lang="en-US" altLang="en-US" i="1" baseline="-25000" dirty="0">
                <a:sym typeface="Symbol" pitchFamily="18" charset="2"/>
              </a:rPr>
              <a:t>j</a:t>
            </a:r>
            <a:r>
              <a:rPr lang="en-US" altLang="en-US" i="1" dirty="0">
                <a:sym typeface="Symbol" pitchFamily="18" charset="2"/>
              </a:rPr>
              <a:t>C</a:t>
            </a:r>
            <a:r>
              <a:rPr lang="en-US" altLang="en-US" i="1" baseline="-25000" dirty="0">
                <a:solidFill>
                  <a:srgbClr val="002060"/>
                </a:solidFill>
                <a:sym typeface="Symbol" pitchFamily="18" charset="2"/>
              </a:rPr>
              <a:t>j</a:t>
            </a:r>
            <a:r>
              <a:rPr lang="en-US" altLang="en-US" i="1" baseline="-25000" dirty="0">
                <a:solidFill>
                  <a:srgbClr val="C00000"/>
                </a:solidFill>
                <a:sym typeface="Symbol" pitchFamily="18" charset="2"/>
              </a:rPr>
              <a:t>i</a:t>
            </a:r>
            <a:r>
              <a:rPr lang="en-US" altLang="en-US" i="1" baseline="-25000" dirty="0">
                <a:solidFill>
                  <a:srgbClr val="006600"/>
                </a:solidFill>
                <a:sym typeface="Symbol" pitchFamily="18" charset="2"/>
              </a:rPr>
              <a:t>h</a:t>
            </a:r>
            <a:r>
              <a:rPr lang="en-US" altLang="en-US" dirty="0">
                <a:sym typeface="Symbol" pitchFamily="18" charset="2"/>
              </a:rPr>
              <a:t>=1-1+1+1=2=S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87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457200" y="1828800"/>
            <a:ext cx="8686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PAM is more robust than k-means in the presence of noise and outliers</a:t>
            </a:r>
          </a:p>
          <a:p>
            <a:pPr>
              <a:spcBef>
                <a:spcPct val="50000"/>
              </a:spcBef>
              <a:defRPr/>
            </a:pPr>
            <a:r>
              <a:rPr lang="en-US" sz="2400" b="0" dirty="0" err="1">
                <a:solidFill>
                  <a:schemeClr val="tx1"/>
                </a:solidFill>
                <a:latin typeface="+mj-lt"/>
              </a:rPr>
              <a:t>Medoids</a:t>
            </a:r>
            <a:r>
              <a:rPr lang="en-US" sz="2400" b="0" dirty="0">
                <a:solidFill>
                  <a:schemeClr val="tx1"/>
                </a:solidFill>
                <a:latin typeface="+mj-lt"/>
              </a:rPr>
              <a:t> are less influenced by outliers</a:t>
            </a:r>
          </a:p>
          <a:p>
            <a:pPr>
              <a:spcBef>
                <a:spcPct val="50000"/>
              </a:spcBef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PAM is efficiently for small data sets but</a:t>
            </a:r>
          </a:p>
          <a:p>
            <a:pPr>
              <a:spcBef>
                <a:spcPct val="50000"/>
              </a:spcBef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does not scale well for large data sets</a:t>
            </a:r>
          </a:p>
          <a:p>
            <a:pPr>
              <a:spcBef>
                <a:spcPct val="50000"/>
              </a:spcBef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O(k(n-k)2 ) for each iteration</a:t>
            </a:r>
          </a:p>
          <a:p>
            <a:pPr>
              <a:spcBef>
                <a:spcPct val="50000"/>
              </a:spcBef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Sampling based method: CLARA</a:t>
            </a: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sz="4400" b="0" dirty="0">
                <a:solidFill>
                  <a:schemeClr val="tx1"/>
                </a:solidFill>
                <a:latin typeface="+mj-lt"/>
              </a:rPr>
              <a:t>Pros &amp; Cons of PAM</a:t>
            </a:r>
          </a:p>
        </p:txBody>
      </p:sp>
    </p:spTree>
    <p:extLst>
      <p:ext uri="{BB962C8B-B14F-4D97-AF65-F5344CB8AC3E}">
        <p14:creationId xmlns:p14="http://schemas.microsoft.com/office/powerpoint/2010/main" val="376658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05800" cy="4724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 i="1" smtClean="0">
                <a:solidFill>
                  <a:srgbClr val="000000"/>
                </a:solidFill>
              </a:rPr>
              <a:t>CLARA</a:t>
            </a:r>
            <a:r>
              <a:rPr lang="en-US" altLang="en-US" sz="2400" b="1" smtClean="0">
                <a:solidFill>
                  <a:srgbClr val="000000"/>
                </a:solidFill>
              </a:rPr>
              <a:t> (Kaufmann and Rousseeuw in 1990)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000" b="1" smtClean="0">
                <a:solidFill>
                  <a:srgbClr val="000000"/>
                </a:solidFill>
              </a:rPr>
              <a:t>Built in statistical analysis packages, such as S+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 smtClean="0">
                <a:solidFill>
                  <a:srgbClr val="000000"/>
                </a:solidFill>
              </a:rPr>
              <a:t>It draws </a:t>
            </a:r>
            <a:r>
              <a:rPr lang="en-US" altLang="en-US" sz="2400" b="1" i="1" smtClean="0">
                <a:solidFill>
                  <a:srgbClr val="000000"/>
                </a:solidFill>
              </a:rPr>
              <a:t>multiple samples</a:t>
            </a:r>
            <a:r>
              <a:rPr lang="en-US" altLang="en-US" sz="2400" b="1" smtClean="0">
                <a:solidFill>
                  <a:srgbClr val="000000"/>
                </a:solidFill>
              </a:rPr>
              <a:t> of the data set, applies </a:t>
            </a:r>
            <a:r>
              <a:rPr lang="en-US" altLang="en-US" sz="2400" b="1" i="1" smtClean="0">
                <a:solidFill>
                  <a:srgbClr val="000000"/>
                </a:solidFill>
              </a:rPr>
              <a:t>PAM</a:t>
            </a:r>
            <a:r>
              <a:rPr lang="en-US" altLang="en-US" sz="2400" b="1" smtClean="0">
                <a:solidFill>
                  <a:srgbClr val="000000"/>
                </a:solidFill>
              </a:rPr>
              <a:t> on each sample, and gives the best clustering as the output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 u="sng" smtClean="0">
                <a:solidFill>
                  <a:srgbClr val="000000"/>
                </a:solidFill>
              </a:rPr>
              <a:t>Strength</a:t>
            </a:r>
            <a:r>
              <a:rPr lang="en-US" altLang="en-US" sz="2400" b="1" smtClean="0">
                <a:solidFill>
                  <a:srgbClr val="000000"/>
                </a:solidFill>
              </a:rPr>
              <a:t>: deals with larger data sets than </a:t>
            </a:r>
            <a:r>
              <a:rPr lang="en-US" altLang="en-US" sz="2400" b="1" i="1" smtClean="0">
                <a:solidFill>
                  <a:srgbClr val="000000"/>
                </a:solidFill>
              </a:rPr>
              <a:t>PAM</a:t>
            </a:r>
            <a:endParaRPr lang="en-US" altLang="en-US" sz="2400" b="1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sz="2400" b="1" u="sng" smtClean="0">
                <a:solidFill>
                  <a:srgbClr val="000000"/>
                </a:solidFill>
              </a:rPr>
              <a:t>Weakness:</a:t>
            </a:r>
            <a:endParaRPr lang="en-US" altLang="en-US" sz="2400" b="1" smtClean="0">
              <a:solidFill>
                <a:srgbClr val="000000"/>
              </a:solidFill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sz="2000" b="1" smtClean="0">
                <a:solidFill>
                  <a:srgbClr val="000000"/>
                </a:solidFill>
              </a:rPr>
              <a:t>Efficiency depends on the sample size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sz="2000" b="1" smtClean="0">
                <a:solidFill>
                  <a:srgbClr val="000000"/>
                </a:solidFill>
              </a:rPr>
              <a:t>A good clustering based on samples will not necessarily represent a good clustering of the whole data set if the sample is biased</a:t>
            </a:r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458200" cy="762000"/>
          </a:xfrm>
        </p:spPr>
        <p:txBody>
          <a:bodyPr>
            <a:normAutofit fontScale="9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i="1" dirty="0" smtClean="0">
                <a:solidFill>
                  <a:schemeClr val="tx1">
                    <a:alpha val="100000"/>
                  </a:schemeClr>
                </a:solidFill>
              </a:rPr>
              <a:t>CLARA</a:t>
            </a:r>
            <a:r>
              <a:rPr lang="en-US" sz="4000" dirty="0" smtClean="0">
                <a:solidFill>
                  <a:schemeClr val="tx1">
                    <a:alpha val="100000"/>
                  </a:schemeClr>
                </a:solidFill>
              </a:rPr>
              <a:t> (Clustering Large Applications) (1990)</a:t>
            </a:r>
            <a:endParaRPr lang="en-US" sz="2900" dirty="0" smtClean="0">
              <a:solidFill>
                <a:schemeClr val="tx1">
                  <a:alpha val="10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802066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2EA2-3485-4416-ABBF-D8525247564E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60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CLARA - Algorithm</a:t>
            </a:r>
          </a:p>
        </p:txBody>
      </p:sp>
      <p:sp>
        <p:nvSpPr>
          <p:cNvPr id="1601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2425" y="990600"/>
            <a:ext cx="8442325" cy="5867400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Set </a:t>
            </a:r>
            <a:r>
              <a:rPr lang="en-US" altLang="zh-CN" dirty="0" err="1">
                <a:ea typeface="宋体" panose="02010600030101010101" pitchFamily="2" charset="-122"/>
              </a:rPr>
              <a:t>mincost</a:t>
            </a:r>
            <a:r>
              <a:rPr lang="en-US" altLang="zh-CN" dirty="0">
                <a:ea typeface="宋体" panose="02010600030101010101" pitchFamily="2" charset="-122"/>
              </a:rPr>
              <a:t> to MAXIMUM;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Repeat </a:t>
            </a:r>
            <a:r>
              <a:rPr lang="en-US" altLang="zh-CN" i="1" dirty="0">
                <a:ea typeface="宋体" panose="02010600030101010101" pitchFamily="2" charset="-122"/>
              </a:rPr>
              <a:t>q</a:t>
            </a:r>
            <a:r>
              <a:rPr lang="en-US" altLang="zh-CN" dirty="0">
                <a:ea typeface="宋体" panose="02010600030101010101" pitchFamily="2" charset="-122"/>
              </a:rPr>
              <a:t> times // draws </a:t>
            </a:r>
            <a:r>
              <a:rPr lang="en-US" altLang="zh-CN" i="1" dirty="0">
                <a:ea typeface="宋体" panose="02010600030101010101" pitchFamily="2" charset="-122"/>
              </a:rPr>
              <a:t>q</a:t>
            </a:r>
            <a:r>
              <a:rPr lang="en-US" altLang="zh-CN" dirty="0">
                <a:ea typeface="宋体" panose="02010600030101010101" pitchFamily="2" charset="-122"/>
              </a:rPr>
              <a:t> samples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Create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 by drawing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 objects randomly from </a:t>
            </a:r>
            <a:r>
              <a:rPr lang="en-US" altLang="zh-CN" i="1" dirty="0">
                <a:ea typeface="宋体" panose="02010600030101010101" pitchFamily="2" charset="-122"/>
              </a:rPr>
              <a:t>D</a:t>
            </a:r>
            <a:r>
              <a:rPr lang="en-US" altLang="zh-CN" dirty="0">
                <a:ea typeface="宋体" panose="02010600030101010101" pitchFamily="2" charset="-122"/>
              </a:rPr>
              <a:t>;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Generate the set of </a:t>
            </a:r>
            <a:r>
              <a:rPr lang="en-US" altLang="zh-CN" dirty="0" err="1">
                <a:ea typeface="宋体" panose="02010600030101010101" pitchFamily="2" charset="-122"/>
              </a:rPr>
              <a:t>medoids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 from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 by applying the </a:t>
            </a:r>
            <a:r>
              <a:rPr lang="en-US" altLang="zh-CN" dirty="0" smtClean="0">
                <a:ea typeface="宋体" panose="02010600030101010101" pitchFamily="2" charset="-122"/>
              </a:rPr>
              <a:t>PAM </a:t>
            </a:r>
            <a:r>
              <a:rPr lang="en-US" altLang="zh-CN" dirty="0">
                <a:ea typeface="宋体" panose="02010600030101010101" pitchFamily="2" charset="-122"/>
              </a:rPr>
              <a:t>algorithm;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Compute cost(M,D)	</a:t>
            </a:r>
          </a:p>
          <a:p>
            <a:pPr lvl="1"/>
            <a:r>
              <a:rPr lang="en-US" altLang="zh-CN" sz="2500" dirty="0">
                <a:ea typeface="宋体" panose="02010600030101010101" pitchFamily="2" charset="-122"/>
              </a:rPr>
              <a:t>If cost(</a:t>
            </a:r>
            <a:r>
              <a:rPr lang="en-US" altLang="zh-CN" sz="2500" i="1" dirty="0">
                <a:ea typeface="宋体" panose="02010600030101010101" pitchFamily="2" charset="-122"/>
              </a:rPr>
              <a:t>M</a:t>
            </a:r>
            <a:r>
              <a:rPr lang="en-US" altLang="zh-CN" sz="2500" dirty="0">
                <a:ea typeface="宋体" panose="02010600030101010101" pitchFamily="2" charset="-122"/>
              </a:rPr>
              <a:t>, </a:t>
            </a:r>
            <a:r>
              <a:rPr lang="en-US" altLang="zh-CN" sz="2500" i="1" dirty="0">
                <a:ea typeface="宋体" panose="02010600030101010101" pitchFamily="2" charset="-122"/>
              </a:rPr>
              <a:t>D</a:t>
            </a:r>
            <a:r>
              <a:rPr lang="en-US" altLang="zh-CN" sz="2500" dirty="0">
                <a:ea typeface="宋体" panose="02010600030101010101" pitchFamily="2" charset="-122"/>
              </a:rPr>
              <a:t>)&lt;</a:t>
            </a:r>
            <a:r>
              <a:rPr lang="en-US" altLang="zh-CN" sz="2500" dirty="0" err="1">
                <a:ea typeface="宋体" panose="02010600030101010101" pitchFamily="2" charset="-122"/>
              </a:rPr>
              <a:t>mincost</a:t>
            </a:r>
            <a:endParaRPr lang="en-US" altLang="zh-CN" sz="2500" dirty="0">
              <a:ea typeface="宋体" panose="02010600030101010101" pitchFamily="2" charset="-122"/>
            </a:endParaRPr>
          </a:p>
          <a:p>
            <a:pPr lvl="2">
              <a:buFont typeface="Monotype Sorts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</a:t>
            </a:r>
            <a:r>
              <a:rPr lang="en-US" altLang="zh-CN" dirty="0" err="1">
                <a:ea typeface="宋体" panose="02010600030101010101" pitchFamily="2" charset="-122"/>
              </a:rPr>
              <a:t>Mincost</a:t>
            </a:r>
            <a:r>
              <a:rPr lang="en-US" altLang="zh-CN" dirty="0">
                <a:ea typeface="宋体" panose="02010600030101010101" pitchFamily="2" charset="-122"/>
              </a:rPr>
              <a:t> = cost(</a:t>
            </a:r>
            <a:r>
              <a:rPr lang="en-US" altLang="zh-CN" i="1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i="1" dirty="0">
                <a:ea typeface="宋体" panose="02010600030101010101" pitchFamily="2" charset="-122"/>
              </a:rPr>
              <a:t>D</a:t>
            </a:r>
            <a:r>
              <a:rPr lang="en-US" altLang="zh-CN" dirty="0">
                <a:ea typeface="宋体" panose="02010600030101010101" pitchFamily="2" charset="-122"/>
              </a:rPr>
              <a:t>);</a:t>
            </a:r>
          </a:p>
          <a:p>
            <a:pPr lvl="2">
              <a:buFont typeface="Monotype Sorts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</a:t>
            </a:r>
            <a:r>
              <a:rPr lang="en-US" altLang="zh-CN" dirty="0" err="1">
                <a:ea typeface="宋体" panose="02010600030101010101" pitchFamily="2" charset="-122"/>
              </a:rPr>
              <a:t>Bestset</a:t>
            </a:r>
            <a:r>
              <a:rPr lang="en-US" altLang="zh-CN" dirty="0">
                <a:ea typeface="宋体" panose="02010600030101010101" pitchFamily="2" charset="-122"/>
              </a:rPr>
              <a:t> = </a:t>
            </a:r>
            <a:r>
              <a:rPr lang="en-US" altLang="zh-CN" i="1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;</a:t>
            </a:r>
          </a:p>
          <a:p>
            <a:pPr lvl="1"/>
            <a:r>
              <a:rPr lang="en-US" altLang="zh-CN" dirty="0" err="1">
                <a:ea typeface="宋体" panose="02010600030101010101" pitchFamily="2" charset="-122"/>
              </a:rPr>
              <a:t>Endif</a:t>
            </a:r>
            <a:r>
              <a:rPr lang="en-US" altLang="zh-CN" dirty="0">
                <a:ea typeface="宋体" panose="02010600030101010101" pitchFamily="2" charset="-122"/>
              </a:rPr>
              <a:t>;</a:t>
            </a:r>
          </a:p>
          <a:p>
            <a:r>
              <a:rPr lang="en-US" altLang="zh-CN" dirty="0" err="1">
                <a:ea typeface="宋体" panose="02010600030101010101" pitchFamily="2" charset="-122"/>
              </a:rPr>
              <a:t>Endrepeat</a:t>
            </a:r>
            <a:r>
              <a:rPr lang="en-US" altLang="zh-CN" dirty="0">
                <a:ea typeface="宋体" panose="02010600030101010101" pitchFamily="2" charset="-122"/>
              </a:rPr>
              <a:t>;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Return </a:t>
            </a:r>
            <a:r>
              <a:rPr lang="en-US" altLang="zh-CN" dirty="0" err="1">
                <a:ea typeface="宋体" panose="02010600030101010101" pitchFamily="2" charset="-122"/>
              </a:rPr>
              <a:t>Bestset</a:t>
            </a:r>
            <a:r>
              <a:rPr lang="en-US" altLang="zh-CN" dirty="0">
                <a:ea typeface="宋体" panose="02010600030101010101" pitchFamily="2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6773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458200" cy="54102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400" i="1" dirty="0" smtClean="0">
                <a:solidFill>
                  <a:srgbClr val="000000"/>
                </a:solidFill>
              </a:rPr>
              <a:t>CLARANS</a:t>
            </a:r>
            <a:r>
              <a:rPr lang="en-US" altLang="en-US" sz="2400" dirty="0" smtClean="0">
                <a:solidFill>
                  <a:srgbClr val="000000"/>
                </a:solidFill>
              </a:rPr>
              <a:t> (A Clustering Algorithm based on Randomized Search)  (Ng and Han’94)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CLARANS draws sample of neighbors dynamically</a:t>
            </a:r>
          </a:p>
          <a:p>
            <a:r>
              <a:rPr lang="en-US" altLang="zh-CN" sz="2400" dirty="0"/>
              <a:t>A solution is a set of </a:t>
            </a:r>
            <a:r>
              <a:rPr lang="en-US" altLang="zh-CN" sz="2400" i="1" dirty="0"/>
              <a:t>k</a:t>
            </a:r>
            <a:r>
              <a:rPr lang="en-US" altLang="zh-CN" sz="2400" dirty="0"/>
              <a:t> </a:t>
            </a:r>
            <a:r>
              <a:rPr lang="en-US" altLang="zh-CN" sz="2400" dirty="0" err="1"/>
              <a:t>medoids</a:t>
            </a:r>
            <a:endParaRPr lang="en-US" altLang="zh-CN" sz="2400" dirty="0"/>
          </a:p>
          <a:p>
            <a:r>
              <a:rPr lang="en-US" altLang="zh-CN" sz="2400" dirty="0"/>
              <a:t>The solutions space contains          solutions in total</a:t>
            </a:r>
          </a:p>
          <a:p>
            <a:pPr>
              <a:buFont typeface="Monotype Sort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The clustering process can be presented as searching a graph where every node is a potential solution, that is, a set of </a:t>
            </a:r>
            <a:r>
              <a:rPr lang="en-US" altLang="en-US" sz="2400" i="1" dirty="0" smtClean="0">
                <a:solidFill>
                  <a:srgbClr val="000000"/>
                </a:solidFill>
              </a:rPr>
              <a:t>k</a:t>
            </a:r>
            <a:r>
              <a:rPr lang="en-US" altLang="en-US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err="1" smtClean="0">
                <a:solidFill>
                  <a:srgbClr val="000000"/>
                </a:solidFill>
              </a:rPr>
              <a:t>medoids</a:t>
            </a: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If the local optimum is found, </a:t>
            </a:r>
            <a:r>
              <a:rPr lang="en-US" altLang="en-US" sz="2400" i="1" dirty="0" smtClean="0">
                <a:solidFill>
                  <a:srgbClr val="000000"/>
                </a:solidFill>
              </a:rPr>
              <a:t>CLARANS</a:t>
            </a:r>
            <a:r>
              <a:rPr lang="en-US" altLang="en-US" sz="2400" dirty="0" smtClean="0">
                <a:solidFill>
                  <a:srgbClr val="000000"/>
                </a:solidFill>
              </a:rPr>
              <a:t> starts with new randomly selected node in search for a new local optimum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It is more efficient and scalable than both </a:t>
            </a:r>
            <a:r>
              <a:rPr lang="en-US" altLang="en-US" sz="2400" i="1" dirty="0" smtClean="0">
                <a:solidFill>
                  <a:srgbClr val="000000"/>
                </a:solidFill>
              </a:rPr>
              <a:t>PAM</a:t>
            </a:r>
            <a:r>
              <a:rPr lang="en-US" altLang="en-US" sz="2400" dirty="0" smtClean="0">
                <a:solidFill>
                  <a:srgbClr val="000000"/>
                </a:solidFill>
              </a:rPr>
              <a:t> and </a:t>
            </a:r>
            <a:r>
              <a:rPr lang="en-US" altLang="en-US" sz="2400" i="1" dirty="0" smtClean="0">
                <a:solidFill>
                  <a:srgbClr val="000000"/>
                </a:solidFill>
              </a:rPr>
              <a:t>CLARA</a:t>
            </a: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Focusing techniques and spatial access structures may further improve its performance (Ester et al.’95)</a:t>
            </a:r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77200" cy="914400"/>
          </a:xfrm>
        </p:spPr>
        <p:txBody>
          <a:bodyPr>
            <a:normAutofit fontScale="9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i="1" smtClean="0">
                <a:solidFill>
                  <a:schemeClr val="tx1">
                    <a:alpha val="100000"/>
                  </a:schemeClr>
                </a:solidFill>
              </a:rPr>
              <a:t>CLARANS </a:t>
            </a:r>
            <a:r>
              <a:rPr lang="en-US" sz="4000" smtClean="0">
                <a:solidFill>
                  <a:schemeClr val="tx1">
                    <a:alpha val="100000"/>
                  </a:schemeClr>
                </a:solidFill>
              </a:rPr>
              <a:t>(“Randomized” CLARA)</a:t>
            </a:r>
            <a:r>
              <a:rPr lang="en-US" sz="4000" i="1" smtClean="0">
                <a:solidFill>
                  <a:schemeClr val="tx1">
                    <a:alpha val="100000"/>
                  </a:schemeClr>
                </a:solidFill>
              </a:rPr>
              <a:t> (1994)</a:t>
            </a:r>
            <a:endParaRPr lang="en-US" smtClean="0">
              <a:solidFill>
                <a:schemeClr val="tx1">
                  <a:alpha val="100000"/>
                </a:schemeClr>
              </a:solidFill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545954"/>
              </p:ext>
            </p:extLst>
          </p:nvPr>
        </p:nvGraphicFramePr>
        <p:xfrm>
          <a:off x="3835400" y="2362200"/>
          <a:ext cx="622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6" name="Equation" r:id="rId4" imgW="266400" imgH="457200" progId="Equation.3">
                  <p:embed/>
                </p:oleObj>
              </mc:Choice>
              <mc:Fallback>
                <p:oleObj name="Equation" r:id="rId4" imgW="266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400" y="2362200"/>
                        <a:ext cx="6223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499901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3689-459E-402C-BFB8-F4090CCE5C54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160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3706"/>
            <a:ext cx="8229600" cy="42703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Graph Abstraction</a:t>
            </a:r>
          </a:p>
        </p:txBody>
      </p:sp>
      <p:sp>
        <p:nvSpPr>
          <p:cNvPr id="1609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81743"/>
            <a:ext cx="8564563" cy="5519057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Every node is a potential solution (k-</a:t>
            </a:r>
            <a:r>
              <a:rPr lang="en-US" altLang="zh-CN" sz="2800" dirty="0" err="1">
                <a:ea typeface="宋体" panose="02010600030101010101" pitchFamily="2" charset="-122"/>
              </a:rPr>
              <a:t>medoid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  <a:p>
            <a:r>
              <a:rPr lang="en-US" altLang="zh-CN" sz="2800" dirty="0">
                <a:ea typeface="宋体" panose="02010600030101010101" pitchFamily="2" charset="-122"/>
              </a:rPr>
              <a:t>Every node is associated with a squared error</a:t>
            </a:r>
          </a:p>
          <a:p>
            <a:r>
              <a:rPr lang="en-US" altLang="zh-CN" sz="2800" dirty="0">
                <a:ea typeface="宋体" panose="02010600030101010101" pitchFamily="2" charset="-122"/>
              </a:rPr>
              <a:t>Two nodes are adjacent if they differ by one </a:t>
            </a:r>
            <a:r>
              <a:rPr lang="en-US" altLang="zh-CN" sz="2800" dirty="0" err="1">
                <a:ea typeface="宋体" panose="02010600030101010101" pitchFamily="2" charset="-122"/>
              </a:rPr>
              <a:t>medoid</a:t>
            </a:r>
            <a:endParaRPr lang="en-US" altLang="zh-CN" sz="2800" dirty="0">
              <a:ea typeface="宋体" panose="02010600030101010101" pitchFamily="2" charset="-122"/>
            </a:endParaRPr>
          </a:p>
          <a:p>
            <a:r>
              <a:rPr lang="en-US" altLang="zh-CN" sz="2800" dirty="0">
                <a:ea typeface="宋体" panose="02010600030101010101" pitchFamily="2" charset="-122"/>
              </a:rPr>
              <a:t>Every node has </a:t>
            </a:r>
            <a:r>
              <a:rPr lang="en-US" altLang="zh-CN" sz="2800" i="1" dirty="0">
                <a:ea typeface="宋体" panose="02010600030101010101" pitchFamily="2" charset="-122"/>
              </a:rPr>
              <a:t>k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en-US" altLang="zh-CN" sz="2800" i="1" dirty="0" err="1">
                <a:ea typeface="宋体" panose="02010600030101010101" pitchFamily="2" charset="-122"/>
              </a:rPr>
              <a:t>n</a:t>
            </a:r>
            <a:r>
              <a:rPr lang="en-US" altLang="zh-CN" sz="2800" i="1" dirty="0" err="1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 i="1" dirty="0" err="1">
                <a:ea typeface="宋体" panose="02010600030101010101" pitchFamily="2" charset="-122"/>
              </a:rPr>
              <a:t>k</a:t>
            </a:r>
            <a:r>
              <a:rPr lang="en-US" altLang="zh-CN" sz="2800" dirty="0">
                <a:ea typeface="宋体" panose="02010600030101010101" pitchFamily="2" charset="-122"/>
              </a:rPr>
              <a:t>) adjacent nodes</a:t>
            </a: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09732" name="Oval 4"/>
          <p:cNvSpPr>
            <a:spLocks noChangeArrowheads="1"/>
          </p:cNvSpPr>
          <p:nvPr/>
        </p:nvSpPr>
        <p:spPr bwMode="auto">
          <a:xfrm>
            <a:off x="1524000" y="3048000"/>
            <a:ext cx="1905000" cy="1219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09733" name="Text Box 5"/>
          <p:cNvSpPr txBox="1">
            <a:spLocks noChangeArrowheads="1"/>
          </p:cNvSpPr>
          <p:nvPr/>
        </p:nvSpPr>
        <p:spPr bwMode="auto">
          <a:xfrm>
            <a:off x="1676400" y="3429000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5F5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{</a:t>
            </a:r>
            <a:r>
              <a:rPr lang="en-US" altLang="zh-CN" sz="2000" i="1">
                <a:solidFill>
                  <a:srgbClr val="CC0000"/>
                </a:solidFill>
                <a:cs typeface="Arial" panose="020B0604020202020204" pitchFamily="34" charset="0"/>
              </a:rPr>
              <a:t>O</a:t>
            </a:r>
            <a:r>
              <a:rPr lang="en-US" altLang="zh-CN" sz="2000" i="1" baseline="-25000">
                <a:solidFill>
                  <a:srgbClr val="CC0000"/>
                </a:solidFill>
                <a:cs typeface="Arial" panose="020B0604020202020204" pitchFamily="34" charset="0"/>
              </a:rPr>
              <a:t>1</a:t>
            </a:r>
            <a:r>
              <a:rPr lang="en-US" altLang="zh-CN" sz="2000" i="1">
                <a:solidFill>
                  <a:srgbClr val="FF9900"/>
                </a:solidFill>
                <a:cs typeface="Arial" panose="020B0604020202020204" pitchFamily="34" charset="0"/>
              </a:rPr>
              <a:t>,</a:t>
            </a:r>
            <a:r>
              <a:rPr lang="en-US" altLang="zh-CN" sz="2000" i="1">
                <a:solidFill>
                  <a:schemeClr val="tx1"/>
                </a:solidFill>
                <a:cs typeface="Arial" panose="020B0604020202020204" pitchFamily="34" charset="0"/>
              </a:rPr>
              <a:t>O</a:t>
            </a:r>
            <a:r>
              <a:rPr lang="en-US" altLang="zh-CN" sz="2000" i="1" baseline="-2500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r>
              <a:rPr lang="en-US" altLang="zh-CN" sz="2000" i="1">
                <a:solidFill>
                  <a:schemeClr val="tx1"/>
                </a:solidFill>
                <a:cs typeface="Arial" panose="020B0604020202020204" pitchFamily="34" charset="0"/>
              </a:rPr>
              <a:t>,…,O</a:t>
            </a:r>
            <a:r>
              <a:rPr lang="en-US" altLang="zh-CN" sz="2000" i="1" baseline="-25000">
                <a:solidFill>
                  <a:schemeClr val="tx1"/>
                </a:solidFill>
                <a:cs typeface="Arial" panose="020B0604020202020204" pitchFamily="34" charset="0"/>
              </a:rPr>
              <a:t>k</a:t>
            </a:r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}</a:t>
            </a:r>
          </a:p>
        </p:txBody>
      </p:sp>
      <p:sp>
        <p:nvSpPr>
          <p:cNvPr id="1609734" name="Oval 6"/>
          <p:cNvSpPr>
            <a:spLocks noChangeArrowheads="1"/>
          </p:cNvSpPr>
          <p:nvPr/>
        </p:nvSpPr>
        <p:spPr bwMode="auto">
          <a:xfrm>
            <a:off x="152400" y="4343400"/>
            <a:ext cx="1905000" cy="1143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09735" name="Text Box 7"/>
          <p:cNvSpPr txBox="1">
            <a:spLocks noChangeArrowheads="1"/>
          </p:cNvSpPr>
          <p:nvPr/>
        </p:nvSpPr>
        <p:spPr bwMode="auto">
          <a:xfrm>
            <a:off x="152400" y="4708525"/>
            <a:ext cx="2667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5F5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{</a:t>
            </a:r>
            <a:r>
              <a:rPr lang="en-US" altLang="zh-CN" sz="2000" i="1">
                <a:solidFill>
                  <a:srgbClr val="CC0000"/>
                </a:solidFill>
                <a:cs typeface="Arial" panose="020B0604020202020204" pitchFamily="34" charset="0"/>
              </a:rPr>
              <a:t>O</a:t>
            </a:r>
            <a:r>
              <a:rPr lang="en-US" altLang="zh-CN" sz="2000" i="1" baseline="-25000">
                <a:solidFill>
                  <a:srgbClr val="CC0000"/>
                </a:solidFill>
                <a:cs typeface="Arial" panose="020B0604020202020204" pitchFamily="34" charset="0"/>
              </a:rPr>
              <a:t>k+1</a:t>
            </a:r>
            <a:r>
              <a:rPr lang="en-US" altLang="zh-CN" sz="2000" i="1">
                <a:solidFill>
                  <a:srgbClr val="FF9900"/>
                </a:solidFill>
                <a:cs typeface="Arial" panose="020B0604020202020204" pitchFamily="34" charset="0"/>
              </a:rPr>
              <a:t>,</a:t>
            </a:r>
            <a:r>
              <a:rPr lang="en-US" altLang="zh-CN" sz="2000" i="1">
                <a:solidFill>
                  <a:schemeClr val="tx1"/>
                </a:solidFill>
                <a:cs typeface="Arial" panose="020B0604020202020204" pitchFamily="34" charset="0"/>
              </a:rPr>
              <a:t>O</a:t>
            </a:r>
            <a:r>
              <a:rPr lang="en-US" altLang="zh-CN" sz="2000" i="1" baseline="-2500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r>
              <a:rPr lang="en-US" altLang="zh-CN" sz="2000" i="1">
                <a:solidFill>
                  <a:schemeClr val="tx1"/>
                </a:solidFill>
                <a:cs typeface="Arial" panose="020B0604020202020204" pitchFamily="34" charset="0"/>
              </a:rPr>
              <a:t>,…,O</a:t>
            </a:r>
            <a:r>
              <a:rPr lang="en-US" altLang="zh-CN" sz="2000" i="1" baseline="-25000">
                <a:solidFill>
                  <a:schemeClr val="tx1"/>
                </a:solidFill>
                <a:cs typeface="Arial" panose="020B0604020202020204" pitchFamily="34" charset="0"/>
              </a:rPr>
              <a:t>k</a:t>
            </a:r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}</a:t>
            </a:r>
          </a:p>
        </p:txBody>
      </p:sp>
      <p:sp>
        <p:nvSpPr>
          <p:cNvPr id="1609736" name="Oval 8"/>
          <p:cNvSpPr>
            <a:spLocks noChangeArrowheads="1"/>
          </p:cNvSpPr>
          <p:nvPr/>
        </p:nvSpPr>
        <p:spPr bwMode="auto">
          <a:xfrm>
            <a:off x="2743200" y="4343400"/>
            <a:ext cx="1981200" cy="1219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09737" name="Text Box 9"/>
          <p:cNvSpPr txBox="1">
            <a:spLocks noChangeArrowheads="1"/>
          </p:cNvSpPr>
          <p:nvPr/>
        </p:nvSpPr>
        <p:spPr bwMode="auto">
          <a:xfrm>
            <a:off x="2819400" y="4724400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5F5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{</a:t>
            </a:r>
            <a:r>
              <a:rPr lang="en-US" altLang="zh-CN" sz="2000" i="1">
                <a:solidFill>
                  <a:srgbClr val="CC0000"/>
                </a:solidFill>
                <a:cs typeface="Arial" panose="020B0604020202020204" pitchFamily="34" charset="0"/>
              </a:rPr>
              <a:t>O</a:t>
            </a:r>
            <a:r>
              <a:rPr lang="en-US" altLang="zh-CN" sz="2000" i="1" baseline="-25000">
                <a:solidFill>
                  <a:srgbClr val="CC0000"/>
                </a:solidFill>
                <a:cs typeface="Arial" panose="020B0604020202020204" pitchFamily="34" charset="0"/>
              </a:rPr>
              <a:t>k+n</a:t>
            </a:r>
            <a:r>
              <a:rPr lang="en-US" altLang="zh-CN" sz="2000" i="1">
                <a:solidFill>
                  <a:srgbClr val="FF9900"/>
                </a:solidFill>
                <a:cs typeface="Arial" panose="020B0604020202020204" pitchFamily="34" charset="0"/>
              </a:rPr>
              <a:t>,</a:t>
            </a:r>
            <a:r>
              <a:rPr lang="en-US" altLang="zh-CN" sz="2000" i="1">
                <a:solidFill>
                  <a:schemeClr val="tx1"/>
                </a:solidFill>
                <a:cs typeface="Arial" panose="020B0604020202020204" pitchFamily="34" charset="0"/>
              </a:rPr>
              <a:t>O</a:t>
            </a:r>
            <a:r>
              <a:rPr lang="en-US" altLang="zh-CN" sz="2000" i="1" baseline="-2500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r>
              <a:rPr lang="en-US" altLang="zh-CN" sz="2000" i="1">
                <a:solidFill>
                  <a:schemeClr val="tx1"/>
                </a:solidFill>
                <a:cs typeface="Arial" panose="020B0604020202020204" pitchFamily="34" charset="0"/>
              </a:rPr>
              <a:t>,…,O</a:t>
            </a:r>
            <a:r>
              <a:rPr lang="en-US" altLang="zh-CN" sz="2000" i="1" baseline="-25000">
                <a:solidFill>
                  <a:schemeClr val="tx1"/>
                </a:solidFill>
                <a:cs typeface="Arial" panose="020B0604020202020204" pitchFamily="34" charset="0"/>
              </a:rPr>
              <a:t>k</a:t>
            </a:r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}</a:t>
            </a:r>
          </a:p>
        </p:txBody>
      </p:sp>
      <p:sp>
        <p:nvSpPr>
          <p:cNvPr id="1609738" name="Line 10"/>
          <p:cNvSpPr>
            <a:spLocks noChangeShapeType="1"/>
          </p:cNvSpPr>
          <p:nvPr/>
        </p:nvSpPr>
        <p:spPr bwMode="auto">
          <a:xfrm flipH="1">
            <a:off x="1524000" y="4114800"/>
            <a:ext cx="228600" cy="304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9739" name="Line 11"/>
          <p:cNvSpPr>
            <a:spLocks noChangeShapeType="1"/>
          </p:cNvSpPr>
          <p:nvPr/>
        </p:nvSpPr>
        <p:spPr bwMode="auto">
          <a:xfrm>
            <a:off x="3048000" y="4191000"/>
            <a:ext cx="228600" cy="2286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9740" name="Text Box 12"/>
          <p:cNvSpPr txBox="1">
            <a:spLocks noChangeArrowheads="1"/>
          </p:cNvSpPr>
          <p:nvPr/>
        </p:nvSpPr>
        <p:spPr bwMode="auto">
          <a:xfrm>
            <a:off x="2057400" y="4648200"/>
            <a:ext cx="68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5F5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chemeClr val="tx1"/>
                </a:solidFill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609741" name="AutoShape 13"/>
          <p:cNvSpPr>
            <a:spLocks/>
          </p:cNvSpPr>
          <p:nvPr/>
        </p:nvSpPr>
        <p:spPr bwMode="auto">
          <a:xfrm rot="5400000">
            <a:off x="1981200" y="4191000"/>
            <a:ext cx="457200" cy="3048000"/>
          </a:xfrm>
          <a:prstGeom prst="rightBrace">
            <a:avLst>
              <a:gd name="adj1" fmla="val 5555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09742" name="Text Box 14"/>
          <p:cNvSpPr txBox="1">
            <a:spLocks noChangeArrowheads="1"/>
          </p:cNvSpPr>
          <p:nvPr/>
        </p:nvSpPr>
        <p:spPr bwMode="auto">
          <a:xfrm>
            <a:off x="1447800" y="5867400"/>
            <a:ext cx="2438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5F5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FF0000"/>
                </a:solidFill>
                <a:cs typeface="Arial" panose="020B0604020202020204" pitchFamily="34" charset="0"/>
              </a:rPr>
              <a:t>n-k</a:t>
            </a:r>
            <a:r>
              <a:rPr lang="en-US" altLang="zh-CN" sz="2400" i="1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1"/>
                </a:solidFill>
                <a:cs typeface="Arial" panose="020B0604020202020204" pitchFamily="34" charset="0"/>
              </a:rPr>
              <a:t>neighbors for one medoid</a:t>
            </a:r>
          </a:p>
        </p:txBody>
      </p:sp>
      <p:sp>
        <p:nvSpPr>
          <p:cNvPr id="1609743" name="AutoShape 15"/>
          <p:cNvSpPr>
            <a:spLocks noChangeArrowheads="1"/>
          </p:cNvSpPr>
          <p:nvPr/>
        </p:nvSpPr>
        <p:spPr bwMode="auto">
          <a:xfrm>
            <a:off x="5867400" y="472440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09744" name="Text Box 16"/>
          <p:cNvSpPr txBox="1">
            <a:spLocks noChangeArrowheads="1"/>
          </p:cNvSpPr>
          <p:nvPr/>
        </p:nvSpPr>
        <p:spPr bwMode="auto">
          <a:xfrm>
            <a:off x="6858000" y="4267200"/>
            <a:ext cx="2286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5F5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FF0000"/>
                </a:solidFill>
                <a:cs typeface="Arial" panose="020B0604020202020204" pitchFamily="34" charset="0"/>
              </a:rPr>
              <a:t>k</a:t>
            </a:r>
            <a:r>
              <a:rPr lang="en-US" altLang="zh-CN" sz="2400">
                <a:solidFill>
                  <a:srgbClr val="FF0000"/>
                </a:solidFill>
                <a:cs typeface="Arial" panose="020B0604020202020204" pitchFamily="34" charset="0"/>
              </a:rPr>
              <a:t>(</a:t>
            </a:r>
            <a:r>
              <a:rPr lang="en-US" altLang="zh-CN" sz="2400" i="1">
                <a:solidFill>
                  <a:srgbClr val="FF0000"/>
                </a:solidFill>
                <a:cs typeface="Arial" panose="020B0604020202020204" pitchFamily="34" charset="0"/>
              </a:rPr>
              <a:t>n</a:t>
            </a:r>
            <a:r>
              <a:rPr lang="en-US" altLang="zh-CN" i="1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zh-CN" sz="2400" i="1">
                <a:solidFill>
                  <a:srgbClr val="FF0000"/>
                </a:solidFill>
                <a:cs typeface="Arial" panose="020B0604020202020204" pitchFamily="34" charset="0"/>
              </a:rPr>
              <a:t>k</a:t>
            </a:r>
            <a:r>
              <a:rPr lang="en-US" altLang="zh-CN" sz="2400">
                <a:solidFill>
                  <a:srgbClr val="FF0000"/>
                </a:solidFill>
                <a:cs typeface="Arial" panose="020B0604020202020204" pitchFamily="34" charset="0"/>
              </a:rPr>
              <a:t>)</a:t>
            </a:r>
            <a:r>
              <a:rPr lang="en-US" altLang="zh-CN" sz="2400">
                <a:solidFill>
                  <a:schemeClr val="tx1"/>
                </a:solidFill>
                <a:cs typeface="Arial" panose="020B0604020202020204" pitchFamily="34" charset="0"/>
              </a:rPr>
              <a:t> neighbors for one node</a:t>
            </a:r>
          </a:p>
        </p:txBody>
      </p:sp>
      <p:sp>
        <p:nvSpPr>
          <p:cNvPr id="1609745" name="Text Box 17"/>
          <p:cNvSpPr txBox="1">
            <a:spLocks noChangeArrowheads="1"/>
          </p:cNvSpPr>
          <p:nvPr/>
        </p:nvSpPr>
        <p:spPr bwMode="auto">
          <a:xfrm>
            <a:off x="4953000" y="4572000"/>
            <a:ext cx="68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5F5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chemeClr val="tx1"/>
                </a:solidFill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6714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43143-424D-4626-8568-AEB0660D873B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161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Graph Abstraction: CLARANS</a:t>
            </a:r>
          </a:p>
        </p:txBody>
      </p:sp>
      <p:sp>
        <p:nvSpPr>
          <p:cNvPr id="1611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>
                <a:ea typeface="宋体" panose="02010600030101010101" pitchFamily="2" charset="-122"/>
              </a:rPr>
              <a:t>Start with a randomly selected node, check </a:t>
            </a:r>
            <a:r>
              <a:rPr lang="en-US" altLang="zh-CN" u="sng">
                <a:ea typeface="宋体" panose="02010600030101010101" pitchFamily="2" charset="-122"/>
              </a:rPr>
              <a:t>at most </a:t>
            </a:r>
            <a:r>
              <a:rPr lang="en-US" altLang="zh-CN" i="1" u="sng">
                <a:ea typeface="宋体" panose="02010600030101010101" pitchFamily="2" charset="-122"/>
              </a:rPr>
              <a:t>m</a:t>
            </a:r>
            <a:r>
              <a:rPr lang="en-US" altLang="zh-CN" u="sng">
                <a:ea typeface="宋体" panose="02010600030101010101" pitchFamily="2" charset="-122"/>
              </a:rPr>
              <a:t> neighbors</a:t>
            </a:r>
            <a:r>
              <a:rPr lang="en-US" altLang="zh-CN">
                <a:ea typeface="宋体" panose="02010600030101010101" pitchFamily="2" charset="-122"/>
              </a:rPr>
              <a:t> randomly</a:t>
            </a:r>
          </a:p>
          <a:p>
            <a:r>
              <a:rPr lang="en-US" altLang="zh-CN">
                <a:ea typeface="宋体" panose="02010600030101010101" pitchFamily="2" charset="-122"/>
              </a:rPr>
              <a:t>If a better adjacent node is found, moves to node and continue; otherwise, current node is local optimum; re-starts with another randomly selected node to search for another local optimum</a:t>
            </a:r>
          </a:p>
          <a:p>
            <a:r>
              <a:rPr lang="en-US" altLang="zh-CN">
                <a:ea typeface="宋体" panose="02010600030101010101" pitchFamily="2" charset="-122"/>
              </a:rPr>
              <a:t>When </a:t>
            </a:r>
            <a:r>
              <a:rPr lang="en-US" altLang="zh-CN" i="1" u="sng">
                <a:ea typeface="宋体" panose="02010600030101010101" pitchFamily="2" charset="-122"/>
              </a:rPr>
              <a:t>h</a:t>
            </a:r>
            <a:r>
              <a:rPr lang="en-US" altLang="zh-CN" u="sng">
                <a:ea typeface="宋体" panose="02010600030101010101" pitchFamily="2" charset="-122"/>
              </a:rPr>
              <a:t> local optimum</a:t>
            </a:r>
            <a:r>
              <a:rPr lang="en-US" altLang="zh-CN">
                <a:ea typeface="宋体" panose="02010600030101010101" pitchFamily="2" charset="-122"/>
              </a:rPr>
              <a:t> have been found, returns best result as overall result</a:t>
            </a:r>
          </a:p>
        </p:txBody>
      </p:sp>
    </p:spTree>
    <p:extLst>
      <p:ext uri="{BB962C8B-B14F-4D97-AF65-F5344CB8AC3E}">
        <p14:creationId xmlns:p14="http://schemas.microsoft.com/office/powerpoint/2010/main" val="422156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2DB4-B615-4D02-A5B9-F1BB577970AA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161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4000" y="13440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dirty="0">
                <a:ea typeface="宋体" panose="02010600030101010101" pitchFamily="2" charset="-122"/>
              </a:rPr>
              <a:t>CLARANS</a:t>
            </a:r>
          </a:p>
        </p:txBody>
      </p:sp>
      <p:grpSp>
        <p:nvGrpSpPr>
          <p:cNvPr id="1613827" name="Group 3"/>
          <p:cNvGrpSpPr>
            <a:grpSpLocks/>
          </p:cNvGrpSpPr>
          <p:nvPr/>
        </p:nvGrpSpPr>
        <p:grpSpPr bwMode="auto">
          <a:xfrm>
            <a:off x="304800" y="1752600"/>
            <a:ext cx="1981200" cy="2362200"/>
            <a:chOff x="432" y="1200"/>
            <a:chExt cx="1920" cy="2208"/>
          </a:xfrm>
        </p:grpSpPr>
        <p:sp>
          <p:nvSpPr>
            <p:cNvPr id="1613828" name="Oval 4"/>
            <p:cNvSpPr>
              <a:spLocks noChangeArrowheads="1"/>
            </p:cNvSpPr>
            <p:nvPr/>
          </p:nvSpPr>
          <p:spPr bwMode="auto">
            <a:xfrm>
              <a:off x="432" y="1200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613829" name="Oval 5"/>
            <p:cNvSpPr>
              <a:spLocks noChangeArrowheads="1"/>
            </p:cNvSpPr>
            <p:nvPr/>
          </p:nvSpPr>
          <p:spPr bwMode="auto">
            <a:xfrm>
              <a:off x="1344" y="2064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613830" name="Oval 6"/>
            <p:cNvSpPr>
              <a:spLocks noChangeArrowheads="1"/>
            </p:cNvSpPr>
            <p:nvPr/>
          </p:nvSpPr>
          <p:spPr bwMode="auto">
            <a:xfrm>
              <a:off x="432" y="2064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613831" name="Oval 7"/>
            <p:cNvSpPr>
              <a:spLocks noChangeArrowheads="1"/>
            </p:cNvSpPr>
            <p:nvPr/>
          </p:nvSpPr>
          <p:spPr bwMode="auto">
            <a:xfrm>
              <a:off x="1344" y="1200"/>
              <a:ext cx="480" cy="48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613832" name="Line 8"/>
            <p:cNvSpPr>
              <a:spLocks noChangeShapeType="1"/>
            </p:cNvSpPr>
            <p:nvPr/>
          </p:nvSpPr>
          <p:spPr bwMode="auto">
            <a:xfrm>
              <a:off x="912" y="144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833" name="Line 9"/>
            <p:cNvSpPr>
              <a:spLocks noChangeShapeType="1"/>
            </p:cNvSpPr>
            <p:nvPr/>
          </p:nvSpPr>
          <p:spPr bwMode="auto">
            <a:xfrm>
              <a:off x="1584" y="168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834" name="Oval 10"/>
            <p:cNvSpPr>
              <a:spLocks noChangeArrowheads="1"/>
            </p:cNvSpPr>
            <p:nvPr/>
          </p:nvSpPr>
          <p:spPr bwMode="auto">
            <a:xfrm>
              <a:off x="864" y="2928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3835" name="Oval 11"/>
            <p:cNvSpPr>
              <a:spLocks noChangeArrowheads="1"/>
            </p:cNvSpPr>
            <p:nvPr/>
          </p:nvSpPr>
          <p:spPr bwMode="auto">
            <a:xfrm>
              <a:off x="1872" y="2928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3836" name="Line 12"/>
            <p:cNvSpPr>
              <a:spLocks noChangeShapeType="1"/>
            </p:cNvSpPr>
            <p:nvPr/>
          </p:nvSpPr>
          <p:spPr bwMode="auto">
            <a:xfrm flipH="1">
              <a:off x="1200" y="2496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837" name="Line 13"/>
            <p:cNvSpPr>
              <a:spLocks noChangeShapeType="1"/>
            </p:cNvSpPr>
            <p:nvPr/>
          </p:nvSpPr>
          <p:spPr bwMode="auto">
            <a:xfrm>
              <a:off x="1728" y="2496"/>
              <a:ext cx="28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838" name="Line 14"/>
            <p:cNvSpPr>
              <a:spLocks noChangeShapeType="1"/>
            </p:cNvSpPr>
            <p:nvPr/>
          </p:nvSpPr>
          <p:spPr bwMode="auto">
            <a:xfrm flipH="1">
              <a:off x="864" y="1584"/>
              <a:ext cx="52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13839" name="Group 15"/>
          <p:cNvGrpSpPr>
            <a:grpSpLocks/>
          </p:cNvGrpSpPr>
          <p:nvPr/>
        </p:nvGrpSpPr>
        <p:grpSpPr bwMode="auto">
          <a:xfrm>
            <a:off x="2438400" y="1752600"/>
            <a:ext cx="1981200" cy="2362200"/>
            <a:chOff x="2448" y="1248"/>
            <a:chExt cx="1920" cy="2208"/>
          </a:xfrm>
        </p:grpSpPr>
        <p:sp>
          <p:nvSpPr>
            <p:cNvPr id="1613840" name="Oval 16"/>
            <p:cNvSpPr>
              <a:spLocks noChangeArrowheads="1"/>
            </p:cNvSpPr>
            <p:nvPr/>
          </p:nvSpPr>
          <p:spPr bwMode="auto">
            <a:xfrm>
              <a:off x="2448" y="1248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3841" name="Oval 17"/>
            <p:cNvSpPr>
              <a:spLocks noChangeArrowheads="1"/>
            </p:cNvSpPr>
            <p:nvPr/>
          </p:nvSpPr>
          <p:spPr bwMode="auto">
            <a:xfrm>
              <a:off x="3360" y="2112"/>
              <a:ext cx="480" cy="48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613842" name="Oval 18"/>
            <p:cNvSpPr>
              <a:spLocks noChangeArrowheads="1"/>
            </p:cNvSpPr>
            <p:nvPr/>
          </p:nvSpPr>
          <p:spPr bwMode="auto">
            <a:xfrm>
              <a:off x="2448" y="2112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3843" name="Oval 19"/>
            <p:cNvSpPr>
              <a:spLocks noChangeArrowheads="1"/>
            </p:cNvSpPr>
            <p:nvPr/>
          </p:nvSpPr>
          <p:spPr bwMode="auto">
            <a:xfrm>
              <a:off x="3360" y="1248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613844" name="Line 20"/>
            <p:cNvSpPr>
              <a:spLocks noChangeShapeType="1"/>
            </p:cNvSpPr>
            <p:nvPr/>
          </p:nvSpPr>
          <p:spPr bwMode="auto">
            <a:xfrm>
              <a:off x="2928" y="148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845" name="Line 21"/>
            <p:cNvSpPr>
              <a:spLocks noChangeShapeType="1"/>
            </p:cNvSpPr>
            <p:nvPr/>
          </p:nvSpPr>
          <p:spPr bwMode="auto">
            <a:xfrm>
              <a:off x="3600" y="17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846" name="Oval 22"/>
            <p:cNvSpPr>
              <a:spLocks noChangeArrowheads="1"/>
            </p:cNvSpPr>
            <p:nvPr/>
          </p:nvSpPr>
          <p:spPr bwMode="auto">
            <a:xfrm>
              <a:off x="2880" y="2976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613847" name="Oval 23"/>
            <p:cNvSpPr>
              <a:spLocks noChangeArrowheads="1"/>
            </p:cNvSpPr>
            <p:nvPr/>
          </p:nvSpPr>
          <p:spPr bwMode="auto">
            <a:xfrm>
              <a:off x="3888" y="2976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613848" name="Line 24"/>
            <p:cNvSpPr>
              <a:spLocks noChangeShapeType="1"/>
            </p:cNvSpPr>
            <p:nvPr/>
          </p:nvSpPr>
          <p:spPr bwMode="auto">
            <a:xfrm flipH="1">
              <a:off x="3216" y="2544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849" name="Line 25"/>
            <p:cNvSpPr>
              <a:spLocks noChangeShapeType="1"/>
            </p:cNvSpPr>
            <p:nvPr/>
          </p:nvSpPr>
          <p:spPr bwMode="auto">
            <a:xfrm>
              <a:off x="3744" y="2544"/>
              <a:ext cx="28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850" name="Line 26"/>
            <p:cNvSpPr>
              <a:spLocks noChangeShapeType="1"/>
            </p:cNvSpPr>
            <p:nvPr/>
          </p:nvSpPr>
          <p:spPr bwMode="auto">
            <a:xfrm flipH="1">
              <a:off x="2880" y="1632"/>
              <a:ext cx="52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613851" name="Object 27"/>
          <p:cNvGraphicFramePr>
            <a:graphicFrameLocks noChangeAspect="1"/>
          </p:cNvGraphicFramePr>
          <p:nvPr/>
        </p:nvGraphicFramePr>
        <p:xfrm>
          <a:off x="977900" y="1676400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3" name="Equation" r:id="rId4" imgW="126720" imgH="152280" progId="Equation.3">
                  <p:embed/>
                </p:oleObj>
              </mc:Choice>
              <mc:Fallback>
                <p:oleObj name="Equation" r:id="rId4" imgW="12672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1676400"/>
                        <a:ext cx="31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3852" name="Object 28"/>
          <p:cNvGraphicFramePr>
            <a:graphicFrameLocks noChangeAspect="1"/>
          </p:cNvGraphicFramePr>
          <p:nvPr/>
        </p:nvGraphicFramePr>
        <p:xfrm>
          <a:off x="838200" y="2438400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4" name="Equation" r:id="rId6" imgW="126720" imgH="152280" progId="Equation.3">
                  <p:embed/>
                </p:oleObj>
              </mc:Choice>
              <mc:Fallback>
                <p:oleObj name="Equation" r:id="rId6" imgW="12672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438400"/>
                        <a:ext cx="31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3853" name="Text Box 29"/>
          <p:cNvSpPr txBox="1">
            <a:spLocks noChangeArrowheads="1"/>
          </p:cNvSpPr>
          <p:nvPr/>
        </p:nvSpPr>
        <p:spPr bwMode="auto">
          <a:xfrm>
            <a:off x="1676400" y="2438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cs typeface="Arial" panose="020B0604020202020204" pitchFamily="34" charset="0"/>
              </a:rPr>
              <a:t>&lt;</a:t>
            </a:r>
          </a:p>
        </p:txBody>
      </p:sp>
      <p:graphicFrame>
        <p:nvGraphicFramePr>
          <p:cNvPr id="1613854" name="Object 30"/>
          <p:cNvGraphicFramePr>
            <a:graphicFrameLocks noChangeAspect="1"/>
          </p:cNvGraphicFramePr>
          <p:nvPr/>
        </p:nvGraphicFramePr>
        <p:xfrm>
          <a:off x="3048000" y="3124200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5" name="Equation" r:id="rId7" imgW="126720" imgH="152280" progId="Equation.3">
                  <p:embed/>
                </p:oleObj>
              </mc:Choice>
              <mc:Fallback>
                <p:oleObj name="Equation" r:id="rId7" imgW="12672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124200"/>
                        <a:ext cx="31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3855" name="Object 31"/>
          <p:cNvGraphicFramePr>
            <a:graphicFrameLocks noChangeAspect="1"/>
          </p:cNvGraphicFramePr>
          <p:nvPr/>
        </p:nvGraphicFramePr>
        <p:xfrm>
          <a:off x="3962400" y="3124200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6" name="Equation" r:id="rId8" imgW="126720" imgH="152280" progId="Equation.3">
                  <p:embed/>
                </p:oleObj>
              </mc:Choice>
              <mc:Fallback>
                <p:oleObj name="Equation" r:id="rId8" imgW="12672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124200"/>
                        <a:ext cx="31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13856" name="Group 32"/>
          <p:cNvGrpSpPr>
            <a:grpSpLocks/>
          </p:cNvGrpSpPr>
          <p:nvPr/>
        </p:nvGrpSpPr>
        <p:grpSpPr bwMode="auto">
          <a:xfrm>
            <a:off x="4419600" y="2057400"/>
            <a:ext cx="2667000" cy="1006475"/>
            <a:chOff x="3217" y="1872"/>
            <a:chExt cx="1680" cy="634"/>
          </a:xfrm>
        </p:grpSpPr>
        <p:sp>
          <p:nvSpPr>
            <p:cNvPr id="1613857" name="AutoShape 33"/>
            <p:cNvSpPr>
              <a:spLocks noChangeArrowheads="1"/>
            </p:cNvSpPr>
            <p:nvPr/>
          </p:nvSpPr>
          <p:spPr bwMode="auto">
            <a:xfrm>
              <a:off x="3697" y="2160"/>
              <a:ext cx="240" cy="240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000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3858" name="Text Box 34"/>
            <p:cNvSpPr txBox="1">
              <a:spLocks noChangeArrowheads="1"/>
            </p:cNvSpPr>
            <p:nvPr/>
          </p:nvSpPr>
          <p:spPr bwMode="auto">
            <a:xfrm>
              <a:off x="4033" y="2064"/>
              <a:ext cx="86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accent2"/>
                  </a:solidFill>
                  <a:cs typeface="Arial" panose="020B0604020202020204" pitchFamily="34" charset="0"/>
                </a:rPr>
                <a:t>Local minimum</a:t>
              </a:r>
            </a:p>
          </p:txBody>
        </p:sp>
        <p:sp>
          <p:nvSpPr>
            <p:cNvPr id="1613859" name="Text Box 35"/>
            <p:cNvSpPr txBox="1">
              <a:spLocks noChangeArrowheads="1"/>
            </p:cNvSpPr>
            <p:nvPr/>
          </p:nvSpPr>
          <p:spPr bwMode="auto">
            <a:xfrm>
              <a:off x="3217" y="1872"/>
              <a:ext cx="480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5400">
                  <a:solidFill>
                    <a:schemeClr val="tx1"/>
                  </a:solidFill>
                  <a:cs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1613860" name="AutoShape 36"/>
          <p:cNvSpPr>
            <a:spLocks/>
          </p:cNvSpPr>
          <p:nvPr/>
        </p:nvSpPr>
        <p:spPr bwMode="auto">
          <a:xfrm rot="-5373337">
            <a:off x="2780507" y="-575469"/>
            <a:ext cx="304800" cy="4040187"/>
          </a:xfrm>
          <a:prstGeom prst="rightBrace">
            <a:avLst>
              <a:gd name="adj1" fmla="val 110460"/>
              <a:gd name="adj2" fmla="val 5007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3861" name="Text Box 37"/>
          <p:cNvSpPr txBox="1">
            <a:spLocks noChangeArrowheads="1"/>
          </p:cNvSpPr>
          <p:nvPr/>
        </p:nvSpPr>
        <p:spPr bwMode="auto">
          <a:xfrm>
            <a:off x="2749550" y="416350"/>
            <a:ext cx="41021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Compare no more than </a:t>
            </a:r>
            <a:r>
              <a:rPr lang="en-US" altLang="zh-CN" sz="2400" i="1" dirty="0" err="1">
                <a:solidFill>
                  <a:srgbClr val="CC0000"/>
                </a:solidFill>
                <a:cs typeface="Arial" panose="020B0604020202020204" pitchFamily="34" charset="0"/>
              </a:rPr>
              <a:t>maxneighbor</a:t>
            </a:r>
            <a:r>
              <a:rPr lang="en-US" altLang="zh-CN" sz="2400" i="1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times</a:t>
            </a:r>
          </a:p>
        </p:txBody>
      </p:sp>
      <p:grpSp>
        <p:nvGrpSpPr>
          <p:cNvPr id="1613862" name="Group 38"/>
          <p:cNvGrpSpPr>
            <a:grpSpLocks/>
          </p:cNvGrpSpPr>
          <p:nvPr/>
        </p:nvGrpSpPr>
        <p:grpSpPr bwMode="auto">
          <a:xfrm>
            <a:off x="7010400" y="1752600"/>
            <a:ext cx="1828800" cy="4724400"/>
            <a:chOff x="4704" y="1488"/>
            <a:chExt cx="912" cy="1632"/>
          </a:xfrm>
        </p:grpSpPr>
        <p:sp>
          <p:nvSpPr>
            <p:cNvPr id="1613863" name="AutoShape 39"/>
            <p:cNvSpPr>
              <a:spLocks/>
            </p:cNvSpPr>
            <p:nvPr/>
          </p:nvSpPr>
          <p:spPr bwMode="auto">
            <a:xfrm>
              <a:off x="4704" y="1488"/>
              <a:ext cx="96" cy="1632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3864" name="Text Box 40"/>
            <p:cNvSpPr txBox="1">
              <a:spLocks noChangeArrowheads="1"/>
            </p:cNvSpPr>
            <p:nvPr/>
          </p:nvSpPr>
          <p:spPr bwMode="auto">
            <a:xfrm>
              <a:off x="4848" y="2160"/>
              <a:ext cx="768" cy="1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CC0000"/>
                  </a:solidFill>
                  <a:cs typeface="Arial" panose="020B0604020202020204" pitchFamily="34" charset="0"/>
                </a:rPr>
                <a:t>numlocal</a:t>
              </a:r>
            </a:p>
          </p:txBody>
        </p:sp>
      </p:grpSp>
      <p:sp>
        <p:nvSpPr>
          <p:cNvPr id="1613865" name="AutoShape 41"/>
          <p:cNvSpPr>
            <a:spLocks noChangeArrowheads="1"/>
          </p:cNvSpPr>
          <p:nvPr/>
        </p:nvSpPr>
        <p:spPr bwMode="auto">
          <a:xfrm>
            <a:off x="7645400" y="4405313"/>
            <a:ext cx="838200" cy="77628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3866" name="Text Box 42"/>
          <p:cNvSpPr txBox="1">
            <a:spLocks noChangeArrowheads="1"/>
          </p:cNvSpPr>
          <p:nvPr/>
        </p:nvSpPr>
        <p:spPr bwMode="auto">
          <a:xfrm>
            <a:off x="7467600" y="54864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cs typeface="Arial" panose="020B0604020202020204" pitchFamily="34" charset="0"/>
              </a:rPr>
              <a:t>Best Node</a:t>
            </a:r>
          </a:p>
        </p:txBody>
      </p:sp>
      <p:graphicFrame>
        <p:nvGraphicFramePr>
          <p:cNvPr id="1613867" name="Object 43"/>
          <p:cNvGraphicFramePr>
            <a:graphicFrameLocks noChangeAspect="1"/>
          </p:cNvGraphicFramePr>
          <p:nvPr/>
        </p:nvGraphicFramePr>
        <p:xfrm>
          <a:off x="3657600" y="2286000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7" name="Equation" r:id="rId9" imgW="126720" imgH="152280" progId="Equation.3">
                  <p:embed/>
                </p:oleObj>
              </mc:Choice>
              <mc:Fallback>
                <p:oleObj name="Equation" r:id="rId9" imgW="12672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286000"/>
                        <a:ext cx="31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13868" name="Group 44"/>
          <p:cNvGrpSpPr>
            <a:grpSpLocks/>
          </p:cNvGrpSpPr>
          <p:nvPr/>
        </p:nvGrpSpPr>
        <p:grpSpPr bwMode="auto">
          <a:xfrm>
            <a:off x="4419600" y="3733800"/>
            <a:ext cx="2667000" cy="1006475"/>
            <a:chOff x="3217" y="1872"/>
            <a:chExt cx="1680" cy="634"/>
          </a:xfrm>
        </p:grpSpPr>
        <p:sp>
          <p:nvSpPr>
            <p:cNvPr id="1613869" name="AutoShape 45"/>
            <p:cNvSpPr>
              <a:spLocks noChangeArrowheads="1"/>
            </p:cNvSpPr>
            <p:nvPr/>
          </p:nvSpPr>
          <p:spPr bwMode="auto">
            <a:xfrm>
              <a:off x="3697" y="2160"/>
              <a:ext cx="240" cy="240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000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3870" name="Text Box 46"/>
            <p:cNvSpPr txBox="1">
              <a:spLocks noChangeArrowheads="1"/>
            </p:cNvSpPr>
            <p:nvPr/>
          </p:nvSpPr>
          <p:spPr bwMode="auto">
            <a:xfrm>
              <a:off x="4033" y="2064"/>
              <a:ext cx="86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accent2"/>
                  </a:solidFill>
                  <a:cs typeface="Arial" panose="020B0604020202020204" pitchFamily="34" charset="0"/>
                </a:rPr>
                <a:t>Local minimum</a:t>
              </a:r>
            </a:p>
          </p:txBody>
        </p:sp>
        <p:sp>
          <p:nvSpPr>
            <p:cNvPr id="1613871" name="Text Box 47"/>
            <p:cNvSpPr txBox="1">
              <a:spLocks noChangeArrowheads="1"/>
            </p:cNvSpPr>
            <p:nvPr/>
          </p:nvSpPr>
          <p:spPr bwMode="auto">
            <a:xfrm>
              <a:off x="3217" y="1872"/>
              <a:ext cx="480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5400">
                  <a:solidFill>
                    <a:schemeClr val="tx1"/>
                  </a:solidFill>
                  <a:cs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1613872" name="Group 48"/>
          <p:cNvGrpSpPr>
            <a:grpSpLocks/>
          </p:cNvGrpSpPr>
          <p:nvPr/>
        </p:nvGrpSpPr>
        <p:grpSpPr bwMode="auto">
          <a:xfrm>
            <a:off x="4495800" y="4648200"/>
            <a:ext cx="2667000" cy="1006475"/>
            <a:chOff x="3217" y="1872"/>
            <a:chExt cx="1680" cy="634"/>
          </a:xfrm>
        </p:grpSpPr>
        <p:sp>
          <p:nvSpPr>
            <p:cNvPr id="1613873" name="AutoShape 49"/>
            <p:cNvSpPr>
              <a:spLocks noChangeArrowheads="1"/>
            </p:cNvSpPr>
            <p:nvPr/>
          </p:nvSpPr>
          <p:spPr bwMode="auto">
            <a:xfrm>
              <a:off x="3697" y="2160"/>
              <a:ext cx="240" cy="240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000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3874" name="Text Box 50"/>
            <p:cNvSpPr txBox="1">
              <a:spLocks noChangeArrowheads="1"/>
            </p:cNvSpPr>
            <p:nvPr/>
          </p:nvSpPr>
          <p:spPr bwMode="auto">
            <a:xfrm>
              <a:off x="4033" y="2064"/>
              <a:ext cx="86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accent2"/>
                  </a:solidFill>
                  <a:cs typeface="Arial" panose="020B0604020202020204" pitchFamily="34" charset="0"/>
                </a:rPr>
                <a:t>Local minimum</a:t>
              </a:r>
            </a:p>
          </p:txBody>
        </p:sp>
        <p:sp>
          <p:nvSpPr>
            <p:cNvPr id="1613875" name="Text Box 51"/>
            <p:cNvSpPr txBox="1">
              <a:spLocks noChangeArrowheads="1"/>
            </p:cNvSpPr>
            <p:nvPr/>
          </p:nvSpPr>
          <p:spPr bwMode="auto">
            <a:xfrm>
              <a:off x="3217" y="1872"/>
              <a:ext cx="480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5400">
                  <a:solidFill>
                    <a:schemeClr val="tx1"/>
                  </a:solidFill>
                  <a:cs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1613876" name="Group 52"/>
          <p:cNvGrpSpPr>
            <a:grpSpLocks/>
          </p:cNvGrpSpPr>
          <p:nvPr/>
        </p:nvGrpSpPr>
        <p:grpSpPr bwMode="auto">
          <a:xfrm>
            <a:off x="4495800" y="5470525"/>
            <a:ext cx="2667000" cy="1006475"/>
            <a:chOff x="3217" y="1872"/>
            <a:chExt cx="1680" cy="634"/>
          </a:xfrm>
        </p:grpSpPr>
        <p:sp>
          <p:nvSpPr>
            <p:cNvPr id="1613877" name="AutoShape 53"/>
            <p:cNvSpPr>
              <a:spLocks noChangeArrowheads="1"/>
            </p:cNvSpPr>
            <p:nvPr/>
          </p:nvSpPr>
          <p:spPr bwMode="auto">
            <a:xfrm>
              <a:off x="3697" y="2160"/>
              <a:ext cx="240" cy="240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000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3878" name="Text Box 54"/>
            <p:cNvSpPr txBox="1">
              <a:spLocks noChangeArrowheads="1"/>
            </p:cNvSpPr>
            <p:nvPr/>
          </p:nvSpPr>
          <p:spPr bwMode="auto">
            <a:xfrm>
              <a:off x="4033" y="2064"/>
              <a:ext cx="86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accent2"/>
                  </a:solidFill>
                  <a:cs typeface="Arial" panose="020B0604020202020204" pitchFamily="34" charset="0"/>
                </a:rPr>
                <a:t>Local minimum</a:t>
              </a:r>
            </a:p>
          </p:txBody>
        </p:sp>
        <p:sp>
          <p:nvSpPr>
            <p:cNvPr id="1613879" name="Text Box 55"/>
            <p:cNvSpPr txBox="1">
              <a:spLocks noChangeArrowheads="1"/>
            </p:cNvSpPr>
            <p:nvPr/>
          </p:nvSpPr>
          <p:spPr bwMode="auto">
            <a:xfrm>
              <a:off x="3217" y="1872"/>
              <a:ext cx="480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5400">
                  <a:solidFill>
                    <a:schemeClr val="tx1"/>
                  </a:solidFill>
                  <a:cs typeface="Arial" panose="020B0604020202020204" pitchFamily="34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587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3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3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13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13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13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13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13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13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13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13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3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3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13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13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13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13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13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13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13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13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13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13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13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13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385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D052-7874-43B4-AB7E-A7A3B7387548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161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0087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a typeface="宋体" panose="02010600030101010101" pitchFamily="2" charset="-122"/>
              </a:rPr>
              <a:t>CLARANS - Algorithm</a:t>
            </a:r>
          </a:p>
        </p:txBody>
      </p:sp>
      <p:sp>
        <p:nvSpPr>
          <p:cNvPr id="1615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2425" y="1066800"/>
            <a:ext cx="8105775" cy="5562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Set </a:t>
            </a:r>
            <a:r>
              <a:rPr lang="en-US" altLang="zh-CN" sz="2400" dirty="0" err="1">
                <a:ea typeface="宋体" panose="02010600030101010101" pitchFamily="2" charset="-122"/>
              </a:rPr>
              <a:t>mincost</a:t>
            </a:r>
            <a:r>
              <a:rPr lang="en-US" altLang="zh-CN" sz="2400" dirty="0">
                <a:ea typeface="宋体" panose="02010600030101010101" pitchFamily="2" charset="-122"/>
              </a:rPr>
              <a:t> to MAXIMUM; 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For </a:t>
            </a:r>
            <a:r>
              <a:rPr lang="en-US" altLang="zh-CN" sz="2400" dirty="0" err="1"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=1 to </a:t>
            </a:r>
            <a:r>
              <a:rPr lang="en-US" altLang="zh-CN" sz="2400" i="1" dirty="0">
                <a:ea typeface="宋体" panose="02010600030101010101" pitchFamily="2" charset="-122"/>
              </a:rPr>
              <a:t>h</a:t>
            </a:r>
            <a:r>
              <a:rPr lang="en-US" altLang="zh-CN" sz="2400" dirty="0">
                <a:ea typeface="宋体" panose="02010600030101010101" pitchFamily="2" charset="-122"/>
              </a:rPr>
              <a:t> do  // find h local optimum</a:t>
            </a: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Randomly select a node as the current node C in the graph;</a:t>
            </a: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J = 1;  // counter of neighbors</a:t>
            </a: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Repeat</a:t>
            </a:r>
          </a:p>
          <a:p>
            <a:pPr lvl="2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Randomly select a neighbor N of C;</a:t>
            </a:r>
          </a:p>
          <a:p>
            <a:pPr lvl="2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If Cost(N,D)&lt;Cost(C,D) </a:t>
            </a:r>
          </a:p>
          <a:p>
            <a:pPr lvl="3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1700" dirty="0">
                <a:ea typeface="宋体" panose="02010600030101010101" pitchFamily="2" charset="-122"/>
              </a:rPr>
              <a:t>	</a:t>
            </a:r>
            <a:r>
              <a:rPr lang="en-US" altLang="zh-CN" sz="1900" dirty="0">
                <a:ea typeface="宋体" panose="02010600030101010101" pitchFamily="2" charset="-122"/>
              </a:rPr>
              <a:t>Assign N as the current node C;</a:t>
            </a:r>
          </a:p>
          <a:p>
            <a:pPr lvl="3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	J = 1;</a:t>
            </a:r>
          </a:p>
          <a:p>
            <a:pPr lvl="2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	</a:t>
            </a:r>
            <a:r>
              <a:rPr lang="en-US" altLang="zh-CN" sz="2000" dirty="0">
                <a:ea typeface="宋体" panose="02010600030101010101" pitchFamily="2" charset="-122"/>
              </a:rPr>
              <a:t>Else  J++;</a:t>
            </a:r>
          </a:p>
          <a:p>
            <a:pPr lvl="2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ea typeface="宋体" panose="02010600030101010101" pitchFamily="2" charset="-122"/>
              </a:rPr>
              <a:t>Endif</a:t>
            </a:r>
            <a:r>
              <a:rPr lang="en-US" altLang="zh-CN" sz="2000" dirty="0">
                <a:ea typeface="宋体" panose="02010600030101010101" pitchFamily="2" charset="-122"/>
              </a:rPr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Until J &gt; m</a:t>
            </a: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Update </a:t>
            </a:r>
            <a:r>
              <a:rPr lang="en-US" altLang="zh-CN" sz="2200" dirty="0" err="1">
                <a:ea typeface="宋体" panose="02010600030101010101" pitchFamily="2" charset="-122"/>
              </a:rPr>
              <a:t>mincost</a:t>
            </a:r>
            <a:r>
              <a:rPr lang="en-US" altLang="zh-CN" sz="2200" dirty="0">
                <a:ea typeface="宋体" panose="02010600030101010101" pitchFamily="2" charset="-122"/>
              </a:rPr>
              <a:t> with Cost(C,D) if </a:t>
            </a:r>
            <a:r>
              <a:rPr lang="en-US" altLang="zh-CN" sz="2200" dirty="0" err="1">
                <a:ea typeface="宋体" panose="02010600030101010101" pitchFamily="2" charset="-122"/>
              </a:rPr>
              <a:t>applicableEnd</a:t>
            </a:r>
            <a:r>
              <a:rPr lang="en-US" altLang="zh-CN" sz="2200" dirty="0">
                <a:ea typeface="宋体" panose="02010600030101010101" pitchFamily="2" charset="-122"/>
              </a:rPr>
              <a:t> for;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End For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Return </a:t>
            </a:r>
            <a:r>
              <a:rPr lang="en-US" altLang="zh-CN" sz="2400" dirty="0" err="1">
                <a:ea typeface="宋体" panose="02010600030101010101" pitchFamily="2" charset="-122"/>
              </a:rPr>
              <a:t>bestnode</a:t>
            </a:r>
            <a:r>
              <a:rPr lang="en-US" altLang="zh-CN" sz="2400" dirty="0">
                <a:ea typeface="宋体" panose="02010600030101010101" pitchFamily="2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7985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dirty="0" smtClean="0"/>
              <a:t>Density-Based Clustering</a:t>
            </a: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916863" cy="44656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Density-based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A cluster is a dense region of points, which is separated by low-density regions, from other regions of high density.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Used when the clusters are irregular or intertwined, and when noise and outliers are present. </a:t>
            </a:r>
          </a:p>
        </p:txBody>
      </p:sp>
      <p:grpSp>
        <p:nvGrpSpPr>
          <p:cNvPr id="202756" name="Group 4"/>
          <p:cNvGrpSpPr>
            <a:grpSpLocks/>
          </p:cNvGrpSpPr>
          <p:nvPr/>
        </p:nvGrpSpPr>
        <p:grpSpPr bwMode="auto">
          <a:xfrm>
            <a:off x="357188" y="3932238"/>
            <a:ext cx="8610600" cy="1676400"/>
            <a:chOff x="1056" y="3072"/>
            <a:chExt cx="3840" cy="720"/>
          </a:xfrm>
        </p:grpSpPr>
        <p:sp>
          <p:nvSpPr>
            <p:cNvPr id="202758" name="Rectangle 5"/>
            <p:cNvSpPr>
              <a:spLocks noChangeArrowheads="1"/>
            </p:cNvSpPr>
            <p:nvPr/>
          </p:nvSpPr>
          <p:spPr bwMode="auto">
            <a:xfrm>
              <a:off x="1056" y="3072"/>
              <a:ext cx="3840" cy="720"/>
            </a:xfrm>
            <a:prstGeom prst="rect">
              <a:avLst/>
            </a:prstGeom>
            <a:pattFill prst="pct10">
              <a:fgClr>
                <a:schemeClr val="tx1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2759" name="Oval 6"/>
            <p:cNvSpPr>
              <a:spLocks noChangeAspect="1" noChangeArrowheads="1"/>
            </p:cNvSpPr>
            <p:nvPr/>
          </p:nvSpPr>
          <p:spPr bwMode="auto">
            <a:xfrm>
              <a:off x="1599" y="3374"/>
              <a:ext cx="134" cy="134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2760" name="AutoShape 7"/>
            <p:cNvSpPr>
              <a:spLocks noChangeAspect="1" noChangeArrowheads="1"/>
            </p:cNvSpPr>
            <p:nvPr/>
          </p:nvSpPr>
          <p:spPr bwMode="auto">
            <a:xfrm rot="-5400000">
              <a:off x="1370" y="3006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1" name="Oval 8"/>
            <p:cNvSpPr>
              <a:spLocks noChangeAspect="1" noChangeArrowheads="1"/>
            </p:cNvSpPr>
            <p:nvPr/>
          </p:nvSpPr>
          <p:spPr bwMode="auto">
            <a:xfrm>
              <a:off x="1932" y="3374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2762" name="Oval 9"/>
            <p:cNvSpPr>
              <a:spLocks noChangeAspect="1" noChangeArrowheads="1"/>
            </p:cNvSpPr>
            <p:nvPr/>
          </p:nvSpPr>
          <p:spPr bwMode="auto">
            <a:xfrm>
              <a:off x="3664" y="3257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2763" name="Oval 10"/>
            <p:cNvSpPr>
              <a:spLocks noChangeAspect="1" noChangeArrowheads="1"/>
            </p:cNvSpPr>
            <p:nvPr/>
          </p:nvSpPr>
          <p:spPr bwMode="auto">
            <a:xfrm>
              <a:off x="4108" y="3257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2764" name="Oval 11"/>
            <p:cNvSpPr>
              <a:spLocks noChangeAspect="1" noChangeArrowheads="1"/>
            </p:cNvSpPr>
            <p:nvPr/>
          </p:nvSpPr>
          <p:spPr bwMode="auto">
            <a:xfrm>
              <a:off x="2420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2765" name="Oval 12"/>
            <p:cNvSpPr>
              <a:spLocks noChangeAspect="1" noChangeArrowheads="1"/>
            </p:cNvSpPr>
            <p:nvPr/>
          </p:nvSpPr>
          <p:spPr bwMode="auto">
            <a:xfrm>
              <a:off x="2819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02757" name="Text Box 13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6 density-based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50752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DBSCAN</a:t>
            </a:r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4864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dirty="0" smtClean="0"/>
              <a:t>DBSCAN is a density-based algorithm.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400" dirty="0" smtClean="0"/>
              <a:t>Density = number of points within a specified radius (Eps)</a:t>
            </a:r>
          </a:p>
          <a:p>
            <a:pPr marL="2171700" lvl="4" indent="-342900" eaLnBrk="1" hangingPunct="1">
              <a:lnSpc>
                <a:spcPct val="90000"/>
              </a:lnSpc>
              <a:defRPr/>
            </a:pPr>
            <a:endParaRPr lang="en-US" sz="1800" dirty="0" smtClean="0"/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400" dirty="0" smtClean="0"/>
              <a:t>A point is a </a:t>
            </a:r>
            <a:r>
              <a:rPr lang="en-US" sz="2400" dirty="0" smtClean="0">
                <a:solidFill>
                  <a:srgbClr val="FF0000"/>
                </a:solidFill>
              </a:rPr>
              <a:t>core point</a:t>
            </a:r>
            <a:r>
              <a:rPr lang="en-US" sz="2400" dirty="0" smtClean="0"/>
              <a:t> if it has more than a specified number of points (</a:t>
            </a:r>
            <a:r>
              <a:rPr lang="en-US" sz="2400" dirty="0" err="1" smtClean="0"/>
              <a:t>MinPts</a:t>
            </a:r>
            <a:r>
              <a:rPr lang="en-US" sz="2400" dirty="0" smtClean="0"/>
              <a:t>) within Eps</a:t>
            </a:r>
            <a:r>
              <a:rPr lang="en-US" dirty="0" smtClean="0"/>
              <a:t> </a:t>
            </a:r>
          </a:p>
          <a:p>
            <a:pPr marL="1295400" lvl="2" indent="-381000" eaLnBrk="1" hangingPunct="1">
              <a:defRPr/>
            </a:pPr>
            <a:r>
              <a:rPr lang="en-US" dirty="0" smtClean="0"/>
              <a:t>These are points that are at the interior of a cluster</a:t>
            </a:r>
          </a:p>
          <a:p>
            <a:pPr marL="2171700" lvl="4" indent="-342900" eaLnBrk="1" hangingPunct="1">
              <a:defRPr/>
            </a:pPr>
            <a:endParaRPr lang="en-US" dirty="0" smtClean="0"/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FF0000"/>
                </a:solidFill>
              </a:rPr>
              <a:t>border point</a:t>
            </a:r>
            <a:r>
              <a:rPr lang="en-US" sz="2400" dirty="0" smtClean="0"/>
              <a:t> has fewer than </a:t>
            </a:r>
            <a:r>
              <a:rPr lang="en-US" sz="2400" dirty="0" err="1" smtClean="0"/>
              <a:t>MinPts</a:t>
            </a:r>
            <a:r>
              <a:rPr lang="en-US" sz="2400" dirty="0" smtClean="0"/>
              <a:t> within Eps, but is in the neighborhood of a core point</a:t>
            </a:r>
          </a:p>
          <a:p>
            <a:pPr marL="2171700" lvl="4" indent="-342900" eaLnBrk="1" hangingPunct="1">
              <a:lnSpc>
                <a:spcPct val="90000"/>
              </a:lnSpc>
              <a:defRPr/>
            </a:pPr>
            <a:endParaRPr lang="en-US" sz="1800" dirty="0" smtClean="0"/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400" smtClean="0"/>
              <a:t>A </a:t>
            </a:r>
            <a:r>
              <a:rPr lang="en-US" sz="2400" smtClean="0">
                <a:solidFill>
                  <a:srgbClr val="FF0000"/>
                </a:solidFill>
              </a:rPr>
              <a:t>noise point</a:t>
            </a:r>
            <a:r>
              <a:rPr lang="en-US" sz="2400" smtClean="0"/>
              <a:t> is any point that is not a core point or a border point. 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17382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1587500"/>
            <a:ext cx="8523287" cy="368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3990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DBSCAN: Core, Border, and Noise Points</a:t>
            </a:r>
          </a:p>
        </p:txBody>
      </p:sp>
      <p:pic>
        <p:nvPicPr>
          <p:cNvPr id="2068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1"/>
          <a:stretch>
            <a:fillRect/>
          </a:stretch>
        </p:blipFill>
        <p:spPr bwMode="auto">
          <a:xfrm>
            <a:off x="838200" y="1600200"/>
            <a:ext cx="7313613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911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Text Box 2"/>
          <p:cNvSpPr txBox="1">
            <a:spLocks noChangeArrowheads="1"/>
          </p:cNvSpPr>
          <p:nvPr/>
        </p:nvSpPr>
        <p:spPr bwMode="auto">
          <a:xfrm>
            <a:off x="228600" y="609600"/>
            <a:ext cx="8915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4400">
                <a:solidFill>
                  <a:schemeClr val="tx2"/>
                </a:solidFill>
              </a:rPr>
              <a:t>Density-Based Method: DBSCAN</a:t>
            </a:r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533400" y="1905000"/>
            <a:ext cx="8610600" cy="44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9900CC"/>
              </a:buClr>
              <a:buSzPct val="130000"/>
              <a:buFontTx/>
              <a:buChar char="•"/>
            </a:pPr>
            <a:r>
              <a:rPr lang="en-US" altLang="zh-CN" sz="2000" i="1">
                <a:solidFill>
                  <a:srgbClr val="FF33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Є-</a:t>
            </a:r>
            <a:r>
              <a:rPr kumimoji="1" lang="en-US" altLang="en-US" sz="2400" i="1">
                <a:solidFill>
                  <a:srgbClr val="FF33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neighborhood:</a:t>
            </a:r>
            <a:r>
              <a:rPr kumimoji="1" lang="en-US" altLang="en-US" sz="2400">
                <a:solidFill>
                  <a:schemeClr val="bg1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kumimoji="1" lang="en-US" altLang="en-US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Points within </a:t>
            </a:r>
            <a:r>
              <a:rPr lang="en-US" altLang="zh-CN" sz="2000" i="1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Є</a:t>
            </a:r>
            <a:r>
              <a:rPr kumimoji="1" lang="en-US" altLang="en-US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 distance of a point.</a:t>
            </a:r>
          </a:p>
          <a:p>
            <a:pPr>
              <a:lnSpc>
                <a:spcPct val="90000"/>
              </a:lnSpc>
              <a:buClr>
                <a:srgbClr val="9900CC"/>
              </a:buClr>
              <a:buSzPct val="130000"/>
              <a:buFontTx/>
              <a:buNone/>
            </a:pPr>
            <a:r>
              <a:rPr lang="en-US" altLang="zh-CN" sz="2000" i="1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		 </a:t>
            </a:r>
            <a:r>
              <a:rPr lang="en-US" altLang="zh-CN" sz="2400" i="1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en-US" altLang="zh-CN" sz="2000" i="1" baseline="-250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Є</a:t>
            </a:r>
            <a:r>
              <a:rPr lang="en-US" altLang="zh-CN" sz="2400" i="1" baseline="-250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2000" i="1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(p) </a:t>
            </a:r>
            <a:r>
              <a:rPr lang="en-US" altLang="zh-CN" sz="20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:</a:t>
            </a:r>
            <a:r>
              <a:rPr lang="en-US" altLang="zh-CN" sz="2000" i="1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{q belongs to D | dist(p,q) &lt;= Є}</a:t>
            </a:r>
            <a:endParaRPr kumimoji="1" lang="en-US" altLang="en-US" sz="2400">
              <a:solidFill>
                <a:srgbClr val="000000"/>
              </a:solidFill>
              <a:ea typeface="SimSun" panose="02010600030101010101" pitchFamily="2" charset="-122"/>
              <a:cs typeface="Tahoma" panose="020B0604030504040204" pitchFamily="34" charset="0"/>
            </a:endParaRPr>
          </a:p>
          <a:p>
            <a:pPr>
              <a:lnSpc>
                <a:spcPct val="90000"/>
              </a:lnSpc>
              <a:buClr>
                <a:srgbClr val="9900CC"/>
              </a:buClr>
              <a:buSzPct val="130000"/>
              <a:buFontTx/>
              <a:buChar char="•"/>
            </a:pPr>
            <a:r>
              <a:rPr kumimoji="1" lang="en-US" altLang="en-US" sz="2400" i="1">
                <a:solidFill>
                  <a:srgbClr val="FF33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Core point:</a:t>
            </a:r>
            <a:r>
              <a:rPr kumimoji="1" lang="en-US" altLang="en-US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2000" i="1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Є</a:t>
            </a:r>
            <a:r>
              <a:rPr kumimoji="1" lang="en-US" altLang="zh-CN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kumimoji="1" lang="en-US" altLang="en-US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-neighborhood dense enough (MinPts)</a:t>
            </a:r>
          </a:p>
          <a:p>
            <a:pPr>
              <a:lnSpc>
                <a:spcPct val="90000"/>
              </a:lnSpc>
              <a:buClr>
                <a:srgbClr val="9900CC"/>
              </a:buClr>
              <a:buSzPct val="130000"/>
              <a:buFontTx/>
              <a:buChar char="•"/>
            </a:pPr>
            <a:endParaRPr kumimoji="1" lang="en-US" altLang="en-US" sz="2400">
              <a:solidFill>
                <a:srgbClr val="000000"/>
              </a:solidFill>
              <a:ea typeface="SimSun" panose="02010600030101010101" pitchFamily="2" charset="-122"/>
              <a:cs typeface="Tahoma" panose="020B0604030504040204" pitchFamily="34" charset="0"/>
            </a:endParaRPr>
          </a:p>
          <a:p>
            <a:pPr>
              <a:lnSpc>
                <a:spcPct val="90000"/>
              </a:lnSpc>
              <a:buClr>
                <a:srgbClr val="9900CC"/>
              </a:buClr>
              <a:buSzPct val="130000"/>
              <a:buFontTx/>
              <a:buChar char="•"/>
            </a:pPr>
            <a:r>
              <a:rPr kumimoji="1" lang="en-US" altLang="en-US" sz="2400" i="1">
                <a:solidFill>
                  <a:srgbClr val="FF33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Directly density-reachable:</a:t>
            </a:r>
            <a:r>
              <a:rPr kumimoji="1" lang="en-US" altLang="en-US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 A point p is directly density-reachable from a point q if the distance is small (</a:t>
            </a:r>
            <a:r>
              <a:rPr lang="en-US" altLang="zh-CN" sz="2000" i="1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Є</a:t>
            </a:r>
            <a:r>
              <a:rPr kumimoji="1" lang="en-US" altLang="en-US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 ) and q is a core point.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	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	1) p belongs to N</a:t>
            </a:r>
            <a:r>
              <a:rPr lang="en-US" altLang="zh-CN" sz="2000" i="1" baseline="-250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Є</a:t>
            </a:r>
            <a:r>
              <a:rPr lang="en-US" altLang="zh-CN" sz="2400" baseline="-250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(q)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		2) core point condition: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          | N</a:t>
            </a:r>
            <a:r>
              <a:rPr lang="en-US" altLang="zh-CN" sz="2000" i="1" baseline="-250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Є</a:t>
            </a:r>
            <a:r>
              <a:rPr lang="en-US" altLang="zh-CN" sz="2400" baseline="-250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(q)| &gt;= MinPts 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endParaRPr kumimoji="1" lang="en-US" altLang="en-US" sz="2400">
              <a:solidFill>
                <a:srgbClr val="000000"/>
              </a:solidFill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grpSp>
        <p:nvGrpSpPr>
          <p:cNvPr id="208900" name="Group 4"/>
          <p:cNvGrpSpPr>
            <a:grpSpLocks/>
          </p:cNvGrpSpPr>
          <p:nvPr/>
        </p:nvGrpSpPr>
        <p:grpSpPr bwMode="auto">
          <a:xfrm>
            <a:off x="4876800" y="4267200"/>
            <a:ext cx="3879850" cy="1663700"/>
            <a:chOff x="3072" y="2544"/>
            <a:chExt cx="2444" cy="1048"/>
          </a:xfrm>
        </p:grpSpPr>
        <p:grpSp>
          <p:nvGrpSpPr>
            <p:cNvPr id="208901" name="Group 5"/>
            <p:cNvGrpSpPr>
              <a:grpSpLocks/>
            </p:cNvGrpSpPr>
            <p:nvPr/>
          </p:nvGrpSpPr>
          <p:grpSpPr bwMode="auto">
            <a:xfrm>
              <a:off x="3072" y="2544"/>
              <a:ext cx="1048" cy="1048"/>
              <a:chOff x="3072" y="2544"/>
              <a:chExt cx="1048" cy="1048"/>
            </a:xfrm>
          </p:grpSpPr>
          <p:sp>
            <p:nvSpPr>
              <p:cNvPr id="208903" name="Oval 6"/>
              <p:cNvSpPr>
                <a:spLocks noChangeArrowheads="1"/>
              </p:cNvSpPr>
              <p:nvPr/>
            </p:nvSpPr>
            <p:spPr bwMode="auto">
              <a:xfrm>
                <a:off x="3142" y="3037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04" name="Oval 7"/>
              <p:cNvSpPr>
                <a:spLocks noChangeArrowheads="1"/>
              </p:cNvSpPr>
              <p:nvPr/>
            </p:nvSpPr>
            <p:spPr bwMode="auto">
              <a:xfrm>
                <a:off x="3354" y="3107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05" name="Oval 8"/>
              <p:cNvSpPr>
                <a:spLocks noChangeArrowheads="1"/>
              </p:cNvSpPr>
              <p:nvPr/>
            </p:nvSpPr>
            <p:spPr bwMode="auto">
              <a:xfrm>
                <a:off x="3354" y="2896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06" name="Oval 9"/>
              <p:cNvSpPr>
                <a:spLocks noChangeArrowheads="1"/>
              </p:cNvSpPr>
              <p:nvPr/>
            </p:nvSpPr>
            <p:spPr bwMode="auto">
              <a:xfrm>
                <a:off x="3072" y="3318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07" name="Oval 10"/>
              <p:cNvSpPr>
                <a:spLocks noChangeArrowheads="1"/>
              </p:cNvSpPr>
              <p:nvPr/>
            </p:nvSpPr>
            <p:spPr bwMode="auto">
              <a:xfrm>
                <a:off x="3213" y="3178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08" name="Oval 11"/>
              <p:cNvSpPr>
                <a:spLocks noChangeArrowheads="1"/>
              </p:cNvSpPr>
              <p:nvPr/>
            </p:nvSpPr>
            <p:spPr bwMode="auto">
              <a:xfrm>
                <a:off x="3213" y="3318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09" name="Oval 12"/>
              <p:cNvSpPr>
                <a:spLocks noChangeArrowheads="1"/>
              </p:cNvSpPr>
              <p:nvPr/>
            </p:nvSpPr>
            <p:spPr bwMode="auto">
              <a:xfrm>
                <a:off x="3424" y="3389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10" name="Oval 13"/>
              <p:cNvSpPr>
                <a:spLocks noChangeArrowheads="1"/>
              </p:cNvSpPr>
              <p:nvPr/>
            </p:nvSpPr>
            <p:spPr bwMode="auto">
              <a:xfrm>
                <a:off x="3424" y="2544"/>
                <a:ext cx="696" cy="696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11" name="Oval 14"/>
              <p:cNvSpPr>
                <a:spLocks noChangeArrowheads="1"/>
              </p:cNvSpPr>
              <p:nvPr/>
            </p:nvSpPr>
            <p:spPr bwMode="auto">
              <a:xfrm>
                <a:off x="3424" y="2755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12" name="Oval 15"/>
              <p:cNvSpPr>
                <a:spLocks noChangeArrowheads="1"/>
              </p:cNvSpPr>
              <p:nvPr/>
            </p:nvSpPr>
            <p:spPr bwMode="auto">
              <a:xfrm>
                <a:off x="3846" y="3178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13" name="Oval 16"/>
              <p:cNvSpPr>
                <a:spLocks noChangeArrowheads="1"/>
              </p:cNvSpPr>
              <p:nvPr/>
            </p:nvSpPr>
            <p:spPr bwMode="auto">
              <a:xfrm>
                <a:off x="3706" y="2896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14" name="Oval 17"/>
              <p:cNvSpPr>
                <a:spLocks noChangeArrowheads="1"/>
              </p:cNvSpPr>
              <p:nvPr/>
            </p:nvSpPr>
            <p:spPr bwMode="auto">
              <a:xfrm>
                <a:off x="3354" y="3248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15" name="Oval 18"/>
              <p:cNvSpPr>
                <a:spLocks noChangeArrowheads="1"/>
              </p:cNvSpPr>
              <p:nvPr/>
            </p:nvSpPr>
            <p:spPr bwMode="auto">
              <a:xfrm>
                <a:off x="3494" y="3107"/>
                <a:ext cx="63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16" name="Oval 19"/>
              <p:cNvSpPr>
                <a:spLocks noChangeArrowheads="1"/>
              </p:cNvSpPr>
              <p:nvPr/>
            </p:nvSpPr>
            <p:spPr bwMode="auto">
              <a:xfrm>
                <a:off x="3635" y="3318"/>
                <a:ext cx="63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17" name="Oval 20"/>
              <p:cNvSpPr>
                <a:spLocks noChangeArrowheads="1"/>
              </p:cNvSpPr>
              <p:nvPr/>
            </p:nvSpPr>
            <p:spPr bwMode="auto">
              <a:xfrm>
                <a:off x="3987" y="3389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18" name="Oval 21"/>
              <p:cNvSpPr>
                <a:spLocks noChangeArrowheads="1"/>
              </p:cNvSpPr>
              <p:nvPr/>
            </p:nvSpPr>
            <p:spPr bwMode="auto">
              <a:xfrm>
                <a:off x="3213" y="2896"/>
                <a:ext cx="696" cy="696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8919" name="Rectangle 22"/>
              <p:cNvSpPr>
                <a:spLocks noChangeArrowheads="1"/>
              </p:cNvSpPr>
              <p:nvPr/>
            </p:nvSpPr>
            <p:spPr bwMode="auto">
              <a:xfrm>
                <a:off x="3740" y="273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rPr>
                  <a:t>p</a:t>
                </a:r>
              </a:p>
            </p:txBody>
          </p:sp>
          <p:sp>
            <p:nvSpPr>
              <p:cNvPr id="208920" name="Rectangle 23"/>
              <p:cNvSpPr>
                <a:spLocks noChangeArrowheads="1"/>
              </p:cNvSpPr>
              <p:nvPr/>
            </p:nvSpPr>
            <p:spPr bwMode="auto">
              <a:xfrm>
                <a:off x="3548" y="297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rPr>
                  <a:t>q</a:t>
                </a:r>
              </a:p>
            </p:txBody>
          </p:sp>
        </p:grpSp>
        <p:sp>
          <p:nvSpPr>
            <p:cNvPr id="208902" name="Rectangle 24"/>
            <p:cNvSpPr>
              <a:spLocks noChangeArrowheads="1"/>
            </p:cNvSpPr>
            <p:nvPr/>
          </p:nvSpPr>
          <p:spPr bwMode="auto">
            <a:xfrm>
              <a:off x="4364" y="2732"/>
              <a:ext cx="115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MinPts = 5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Eps = 1 cm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1461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Text Box 2"/>
          <p:cNvSpPr txBox="1">
            <a:spLocks noChangeArrowheads="1"/>
          </p:cNvSpPr>
          <p:nvPr/>
        </p:nvSpPr>
        <p:spPr bwMode="auto">
          <a:xfrm>
            <a:off x="0" y="6096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4400">
                <a:solidFill>
                  <a:schemeClr val="tx2"/>
                </a:solidFill>
              </a:rPr>
              <a:t>Density-Based Method: DBSCAN</a:t>
            </a:r>
          </a:p>
        </p:txBody>
      </p:sp>
      <p:sp>
        <p:nvSpPr>
          <p:cNvPr id="209923" name="Rectangle 3"/>
          <p:cNvSpPr>
            <a:spLocks noChangeArrowheads="1"/>
          </p:cNvSpPr>
          <p:nvPr/>
        </p:nvSpPr>
        <p:spPr bwMode="auto">
          <a:xfrm>
            <a:off x="0" y="1828800"/>
            <a:ext cx="61722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9900CC"/>
              </a:buClr>
              <a:buSzPct val="130000"/>
              <a:buFontTx/>
              <a:buChar char="•"/>
            </a:pPr>
            <a:r>
              <a:rPr lang="en-US" altLang="zh-CN" sz="2800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kumimoji="1" lang="en-US" altLang="en-US" sz="2400" i="1">
                <a:solidFill>
                  <a:srgbClr val="FF3300"/>
                </a:solidFill>
              </a:rPr>
              <a:t>Density-reachable:</a:t>
            </a:r>
            <a:r>
              <a:rPr kumimoji="1" lang="en-US" altLang="en-US" sz="2400">
                <a:solidFill>
                  <a:srgbClr val="000000"/>
                </a:solidFill>
              </a:rPr>
              <a:t> 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A point p is density-reachable from a point q wrt. </a:t>
            </a:r>
            <a:r>
              <a:rPr lang="en-US" altLang="zh-CN" sz="2000" i="1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Є</a:t>
            </a:r>
            <a:r>
              <a:rPr kumimoji="1" lang="en-US" altLang="en-US" sz="2400">
                <a:solidFill>
                  <a:srgbClr val="000000"/>
                </a:solidFill>
              </a:rPr>
              <a:t> 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, MinPts if there is a chain of points p</a:t>
            </a:r>
            <a:r>
              <a:rPr lang="en-US" altLang="zh-CN" sz="2400" baseline="-25000">
                <a:solidFill>
                  <a:srgbClr val="000000"/>
                </a:solidFill>
                <a:ea typeface="SimSun" panose="02010600030101010101" pitchFamily="2" charset="-122"/>
              </a:rPr>
              <a:t>1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, …,p</a:t>
            </a:r>
            <a:r>
              <a:rPr lang="en-US" altLang="zh-CN" sz="2400" baseline="-25000">
                <a:solidFill>
                  <a:srgbClr val="000000"/>
                </a:solidFill>
                <a:ea typeface="SimSun" panose="02010600030101010101" pitchFamily="2" charset="-122"/>
              </a:rPr>
              <a:t>n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, p</a:t>
            </a:r>
            <a:r>
              <a:rPr lang="en-US" altLang="zh-CN" sz="2400" baseline="-25000">
                <a:solidFill>
                  <a:srgbClr val="000000"/>
                </a:solidFill>
                <a:ea typeface="SimSun" panose="02010600030101010101" pitchFamily="2" charset="-122"/>
              </a:rPr>
              <a:t>1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= q, p</a:t>
            </a:r>
            <a:r>
              <a:rPr lang="en-US" altLang="zh-CN" sz="2400" baseline="-25000">
                <a:solidFill>
                  <a:srgbClr val="000000"/>
                </a:solidFill>
                <a:ea typeface="SimSun" panose="02010600030101010101" pitchFamily="2" charset="-122"/>
              </a:rPr>
              <a:t>n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= p such that p</a:t>
            </a:r>
            <a:r>
              <a:rPr lang="en-US" altLang="zh-CN" sz="2400" baseline="-25000">
                <a:solidFill>
                  <a:srgbClr val="000000"/>
                </a:solidFill>
                <a:ea typeface="SimSun" panose="02010600030101010101" pitchFamily="2" charset="-122"/>
              </a:rPr>
              <a:t>i+1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is directly density-reachable from p</a:t>
            </a:r>
            <a:r>
              <a:rPr lang="en-US" altLang="zh-CN" sz="2400" baseline="-25000">
                <a:solidFill>
                  <a:srgbClr val="000000"/>
                </a:solidFill>
                <a:ea typeface="SimSun" panose="02010600030101010101" pitchFamily="2" charset="-122"/>
              </a:rPr>
              <a:t>i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	</a:t>
            </a:r>
          </a:p>
        </p:txBody>
      </p:sp>
      <p:grpSp>
        <p:nvGrpSpPr>
          <p:cNvPr id="209924" name="Group 4"/>
          <p:cNvGrpSpPr>
            <a:grpSpLocks/>
          </p:cNvGrpSpPr>
          <p:nvPr/>
        </p:nvGrpSpPr>
        <p:grpSpPr bwMode="auto">
          <a:xfrm>
            <a:off x="6324600" y="1447800"/>
            <a:ext cx="2171700" cy="1714500"/>
            <a:chOff x="3984" y="912"/>
            <a:chExt cx="1368" cy="1080"/>
          </a:xfrm>
        </p:grpSpPr>
        <p:sp>
          <p:nvSpPr>
            <p:cNvPr id="209964" name="Oval 5"/>
            <p:cNvSpPr>
              <a:spLocks noChangeArrowheads="1"/>
            </p:cNvSpPr>
            <p:nvPr/>
          </p:nvSpPr>
          <p:spPr bwMode="auto">
            <a:xfrm>
              <a:off x="4393" y="1357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65" name="Oval 6"/>
            <p:cNvSpPr>
              <a:spLocks noChangeArrowheads="1"/>
            </p:cNvSpPr>
            <p:nvPr/>
          </p:nvSpPr>
          <p:spPr bwMode="auto">
            <a:xfrm>
              <a:off x="4605" y="1427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66" name="Oval 7"/>
            <p:cNvSpPr>
              <a:spLocks noChangeArrowheads="1"/>
            </p:cNvSpPr>
            <p:nvPr/>
          </p:nvSpPr>
          <p:spPr bwMode="auto">
            <a:xfrm>
              <a:off x="4605" y="1216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67" name="Oval 8"/>
            <p:cNvSpPr>
              <a:spLocks noChangeArrowheads="1"/>
            </p:cNvSpPr>
            <p:nvPr/>
          </p:nvSpPr>
          <p:spPr bwMode="auto">
            <a:xfrm>
              <a:off x="4323" y="1638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68" name="Oval 9"/>
            <p:cNvSpPr>
              <a:spLocks noChangeArrowheads="1"/>
            </p:cNvSpPr>
            <p:nvPr/>
          </p:nvSpPr>
          <p:spPr bwMode="auto">
            <a:xfrm>
              <a:off x="4464" y="1498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69" name="Oval 10"/>
            <p:cNvSpPr>
              <a:spLocks noChangeArrowheads="1"/>
            </p:cNvSpPr>
            <p:nvPr/>
          </p:nvSpPr>
          <p:spPr bwMode="auto">
            <a:xfrm>
              <a:off x="4464" y="1638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70" name="Oval 11"/>
            <p:cNvSpPr>
              <a:spLocks noChangeArrowheads="1"/>
            </p:cNvSpPr>
            <p:nvPr/>
          </p:nvSpPr>
          <p:spPr bwMode="auto">
            <a:xfrm>
              <a:off x="4675" y="1709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71" name="Oval 12"/>
            <p:cNvSpPr>
              <a:spLocks noChangeArrowheads="1"/>
            </p:cNvSpPr>
            <p:nvPr/>
          </p:nvSpPr>
          <p:spPr bwMode="auto">
            <a:xfrm>
              <a:off x="4675" y="1075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72" name="Oval 13"/>
            <p:cNvSpPr>
              <a:spLocks noChangeArrowheads="1"/>
            </p:cNvSpPr>
            <p:nvPr/>
          </p:nvSpPr>
          <p:spPr bwMode="auto">
            <a:xfrm>
              <a:off x="5097" y="1498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73" name="Oval 14"/>
            <p:cNvSpPr>
              <a:spLocks noChangeArrowheads="1"/>
            </p:cNvSpPr>
            <p:nvPr/>
          </p:nvSpPr>
          <p:spPr bwMode="auto">
            <a:xfrm>
              <a:off x="4957" y="1216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74" name="Oval 15"/>
            <p:cNvSpPr>
              <a:spLocks noChangeArrowheads="1"/>
            </p:cNvSpPr>
            <p:nvPr/>
          </p:nvSpPr>
          <p:spPr bwMode="auto">
            <a:xfrm>
              <a:off x="4605" y="1568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75" name="Oval 16"/>
            <p:cNvSpPr>
              <a:spLocks noChangeArrowheads="1"/>
            </p:cNvSpPr>
            <p:nvPr/>
          </p:nvSpPr>
          <p:spPr bwMode="auto">
            <a:xfrm>
              <a:off x="4745" y="1427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76" name="Oval 17"/>
            <p:cNvSpPr>
              <a:spLocks noChangeArrowheads="1"/>
            </p:cNvSpPr>
            <p:nvPr/>
          </p:nvSpPr>
          <p:spPr bwMode="auto">
            <a:xfrm>
              <a:off x="4886" y="1638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77" name="Oval 18"/>
            <p:cNvSpPr>
              <a:spLocks noChangeArrowheads="1"/>
            </p:cNvSpPr>
            <p:nvPr/>
          </p:nvSpPr>
          <p:spPr bwMode="auto">
            <a:xfrm>
              <a:off x="5238" y="1709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78" name="Oval 19"/>
            <p:cNvSpPr>
              <a:spLocks noChangeArrowheads="1"/>
            </p:cNvSpPr>
            <p:nvPr/>
          </p:nvSpPr>
          <p:spPr bwMode="auto">
            <a:xfrm>
              <a:off x="4320" y="1104"/>
              <a:ext cx="696" cy="69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79" name="Oval 20"/>
            <p:cNvSpPr>
              <a:spLocks noChangeArrowheads="1"/>
            </p:cNvSpPr>
            <p:nvPr/>
          </p:nvSpPr>
          <p:spPr bwMode="auto">
            <a:xfrm>
              <a:off x="3984" y="1296"/>
              <a:ext cx="696" cy="69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80" name="Rectangle 21"/>
            <p:cNvSpPr>
              <a:spLocks noChangeArrowheads="1"/>
            </p:cNvSpPr>
            <p:nvPr/>
          </p:nvSpPr>
          <p:spPr bwMode="auto">
            <a:xfrm>
              <a:off x="4991" y="110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</a:t>
              </a:r>
            </a:p>
          </p:txBody>
        </p:sp>
        <p:sp>
          <p:nvSpPr>
            <p:cNvPr id="209981" name="Rectangle 22"/>
            <p:cNvSpPr>
              <a:spLocks noChangeArrowheads="1"/>
            </p:cNvSpPr>
            <p:nvPr/>
          </p:nvSpPr>
          <p:spPr bwMode="auto">
            <a:xfrm>
              <a:off x="4127" y="153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q</a:t>
              </a:r>
            </a:p>
          </p:txBody>
        </p:sp>
        <p:sp>
          <p:nvSpPr>
            <p:cNvPr id="209982" name="Oval 23"/>
            <p:cNvSpPr>
              <a:spLocks noChangeArrowheads="1"/>
            </p:cNvSpPr>
            <p:nvPr/>
          </p:nvSpPr>
          <p:spPr bwMode="auto">
            <a:xfrm>
              <a:off x="4656" y="912"/>
              <a:ext cx="696" cy="69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83" name="Rectangle 24"/>
            <p:cNvSpPr>
              <a:spLocks noChangeArrowheads="1"/>
            </p:cNvSpPr>
            <p:nvPr/>
          </p:nvSpPr>
          <p:spPr bwMode="auto">
            <a:xfrm>
              <a:off x="4608" y="139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</a:t>
              </a:r>
              <a:r>
                <a:rPr lang="en-US" altLang="zh-CN" sz="24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09984" name="Line 25"/>
            <p:cNvSpPr>
              <a:spLocks noChangeShapeType="1"/>
            </p:cNvSpPr>
            <p:nvPr/>
          </p:nvSpPr>
          <p:spPr bwMode="auto">
            <a:xfrm flipH="1">
              <a:off x="4655" y="1292"/>
              <a:ext cx="288" cy="1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stealth" w="lg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85" name="Line 26"/>
            <p:cNvSpPr>
              <a:spLocks noChangeShapeType="1"/>
            </p:cNvSpPr>
            <p:nvPr/>
          </p:nvSpPr>
          <p:spPr bwMode="auto">
            <a:xfrm flipV="1">
              <a:off x="4339" y="1488"/>
              <a:ext cx="288" cy="19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9925" name="Group 27"/>
          <p:cNvGrpSpPr>
            <a:grpSpLocks/>
          </p:cNvGrpSpPr>
          <p:nvPr/>
        </p:nvGrpSpPr>
        <p:grpSpPr bwMode="auto">
          <a:xfrm>
            <a:off x="6019800" y="4572000"/>
            <a:ext cx="2857500" cy="1638300"/>
            <a:chOff x="3792" y="2880"/>
            <a:chExt cx="1800" cy="1032"/>
          </a:xfrm>
        </p:grpSpPr>
        <p:sp>
          <p:nvSpPr>
            <p:cNvPr id="209929" name="Oval 28"/>
            <p:cNvSpPr>
              <a:spLocks noChangeArrowheads="1"/>
            </p:cNvSpPr>
            <p:nvPr/>
          </p:nvSpPr>
          <p:spPr bwMode="auto">
            <a:xfrm>
              <a:off x="4326" y="3229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30" name="Oval 29"/>
            <p:cNvSpPr>
              <a:spLocks noChangeArrowheads="1"/>
            </p:cNvSpPr>
            <p:nvPr/>
          </p:nvSpPr>
          <p:spPr bwMode="auto">
            <a:xfrm>
              <a:off x="4538" y="3299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31" name="Oval 30"/>
            <p:cNvSpPr>
              <a:spLocks noChangeArrowheads="1"/>
            </p:cNvSpPr>
            <p:nvPr/>
          </p:nvSpPr>
          <p:spPr bwMode="auto">
            <a:xfrm>
              <a:off x="4538" y="3088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32" name="Oval 31"/>
            <p:cNvSpPr>
              <a:spLocks noChangeArrowheads="1"/>
            </p:cNvSpPr>
            <p:nvPr/>
          </p:nvSpPr>
          <p:spPr bwMode="auto">
            <a:xfrm>
              <a:off x="4256" y="3510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33" name="Oval 32"/>
            <p:cNvSpPr>
              <a:spLocks noChangeArrowheads="1"/>
            </p:cNvSpPr>
            <p:nvPr/>
          </p:nvSpPr>
          <p:spPr bwMode="auto">
            <a:xfrm>
              <a:off x="4397" y="3370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34" name="Oval 33"/>
            <p:cNvSpPr>
              <a:spLocks noChangeArrowheads="1"/>
            </p:cNvSpPr>
            <p:nvPr/>
          </p:nvSpPr>
          <p:spPr bwMode="auto">
            <a:xfrm>
              <a:off x="4541" y="3654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35" name="Oval 34"/>
            <p:cNvSpPr>
              <a:spLocks noChangeArrowheads="1"/>
            </p:cNvSpPr>
            <p:nvPr/>
          </p:nvSpPr>
          <p:spPr bwMode="auto">
            <a:xfrm>
              <a:off x="4608" y="3437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36" name="Oval 35"/>
            <p:cNvSpPr>
              <a:spLocks noChangeArrowheads="1"/>
            </p:cNvSpPr>
            <p:nvPr/>
          </p:nvSpPr>
          <p:spPr bwMode="auto">
            <a:xfrm>
              <a:off x="4608" y="2947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37" name="Oval 36"/>
            <p:cNvSpPr>
              <a:spLocks noChangeArrowheads="1"/>
            </p:cNvSpPr>
            <p:nvPr/>
          </p:nvSpPr>
          <p:spPr bwMode="auto">
            <a:xfrm>
              <a:off x="5030" y="3370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38" name="Oval 37"/>
            <p:cNvSpPr>
              <a:spLocks noChangeArrowheads="1"/>
            </p:cNvSpPr>
            <p:nvPr/>
          </p:nvSpPr>
          <p:spPr bwMode="auto">
            <a:xfrm>
              <a:off x="4890" y="3088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39" name="Oval 38"/>
            <p:cNvSpPr>
              <a:spLocks noChangeArrowheads="1"/>
            </p:cNvSpPr>
            <p:nvPr/>
          </p:nvSpPr>
          <p:spPr bwMode="auto">
            <a:xfrm>
              <a:off x="4106" y="3392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40" name="Oval 39"/>
            <p:cNvSpPr>
              <a:spLocks noChangeArrowheads="1"/>
            </p:cNvSpPr>
            <p:nvPr/>
          </p:nvSpPr>
          <p:spPr bwMode="auto">
            <a:xfrm>
              <a:off x="4678" y="3299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41" name="Oval 40"/>
            <p:cNvSpPr>
              <a:spLocks noChangeArrowheads="1"/>
            </p:cNvSpPr>
            <p:nvPr/>
          </p:nvSpPr>
          <p:spPr bwMode="auto">
            <a:xfrm>
              <a:off x="4819" y="3510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42" name="Oval 41"/>
            <p:cNvSpPr>
              <a:spLocks noChangeArrowheads="1"/>
            </p:cNvSpPr>
            <p:nvPr/>
          </p:nvSpPr>
          <p:spPr bwMode="auto">
            <a:xfrm>
              <a:off x="5171" y="3581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43" name="Rectangle 42"/>
            <p:cNvSpPr>
              <a:spLocks noChangeArrowheads="1"/>
            </p:cNvSpPr>
            <p:nvPr/>
          </p:nvSpPr>
          <p:spPr bwMode="auto">
            <a:xfrm>
              <a:off x="3916" y="297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p</a:t>
              </a:r>
            </a:p>
          </p:txBody>
        </p:sp>
        <p:sp>
          <p:nvSpPr>
            <p:cNvPr id="209944" name="Rectangle 43"/>
            <p:cNvSpPr>
              <a:spLocks noChangeArrowheads="1"/>
            </p:cNvSpPr>
            <p:nvPr/>
          </p:nvSpPr>
          <p:spPr bwMode="auto">
            <a:xfrm>
              <a:off x="5280" y="307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q</a:t>
              </a:r>
            </a:p>
          </p:txBody>
        </p:sp>
        <p:sp>
          <p:nvSpPr>
            <p:cNvPr id="209945" name="Oval 44"/>
            <p:cNvSpPr>
              <a:spLocks noChangeArrowheads="1"/>
            </p:cNvSpPr>
            <p:nvPr/>
          </p:nvSpPr>
          <p:spPr bwMode="auto">
            <a:xfrm>
              <a:off x="5270" y="3322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46" name="Oval 45"/>
            <p:cNvSpPr>
              <a:spLocks noChangeArrowheads="1"/>
            </p:cNvSpPr>
            <p:nvPr/>
          </p:nvSpPr>
          <p:spPr bwMode="auto">
            <a:xfrm>
              <a:off x="4918" y="3347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47" name="Oval 46"/>
            <p:cNvSpPr>
              <a:spLocks noChangeArrowheads="1"/>
            </p:cNvSpPr>
            <p:nvPr/>
          </p:nvSpPr>
          <p:spPr bwMode="auto">
            <a:xfrm>
              <a:off x="5059" y="3462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48" name="Oval 47"/>
            <p:cNvSpPr>
              <a:spLocks noChangeArrowheads="1"/>
            </p:cNvSpPr>
            <p:nvPr/>
          </p:nvSpPr>
          <p:spPr bwMode="auto">
            <a:xfrm>
              <a:off x="5366" y="3082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49" name="Oval 48"/>
            <p:cNvSpPr>
              <a:spLocks noChangeArrowheads="1"/>
            </p:cNvSpPr>
            <p:nvPr/>
          </p:nvSpPr>
          <p:spPr bwMode="auto">
            <a:xfrm>
              <a:off x="5014" y="3011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50" name="Oval 49"/>
            <p:cNvSpPr>
              <a:spLocks noChangeArrowheads="1"/>
            </p:cNvSpPr>
            <p:nvPr/>
          </p:nvSpPr>
          <p:spPr bwMode="auto">
            <a:xfrm>
              <a:off x="5203" y="3174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51" name="Oval 50"/>
            <p:cNvSpPr>
              <a:spLocks noChangeArrowheads="1"/>
            </p:cNvSpPr>
            <p:nvPr/>
          </p:nvSpPr>
          <p:spPr bwMode="auto">
            <a:xfrm>
              <a:off x="3936" y="3216"/>
              <a:ext cx="696" cy="69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52" name="Oval 51"/>
            <p:cNvSpPr>
              <a:spLocks noChangeArrowheads="1"/>
            </p:cNvSpPr>
            <p:nvPr/>
          </p:nvSpPr>
          <p:spPr bwMode="auto">
            <a:xfrm>
              <a:off x="4272" y="3120"/>
              <a:ext cx="696" cy="69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53" name="Oval 52"/>
            <p:cNvSpPr>
              <a:spLocks noChangeArrowheads="1"/>
            </p:cNvSpPr>
            <p:nvPr/>
          </p:nvSpPr>
          <p:spPr bwMode="auto">
            <a:xfrm>
              <a:off x="4608" y="3024"/>
              <a:ext cx="696" cy="69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54" name="Oval 53"/>
            <p:cNvSpPr>
              <a:spLocks noChangeArrowheads="1"/>
            </p:cNvSpPr>
            <p:nvPr/>
          </p:nvSpPr>
          <p:spPr bwMode="auto">
            <a:xfrm>
              <a:off x="4896" y="2880"/>
              <a:ext cx="696" cy="69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55" name="Line 54"/>
            <p:cNvSpPr>
              <a:spLocks noChangeShapeType="1"/>
            </p:cNvSpPr>
            <p:nvPr/>
          </p:nvSpPr>
          <p:spPr bwMode="auto">
            <a:xfrm flipV="1">
              <a:off x="4300" y="3452"/>
              <a:ext cx="288" cy="9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56" name="Line 55"/>
            <p:cNvSpPr>
              <a:spLocks noChangeShapeType="1"/>
            </p:cNvSpPr>
            <p:nvPr/>
          </p:nvSpPr>
          <p:spPr bwMode="auto">
            <a:xfrm flipH="1">
              <a:off x="4684" y="3404"/>
              <a:ext cx="240" cy="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57" name="Oval 56"/>
            <p:cNvSpPr>
              <a:spLocks noChangeArrowheads="1"/>
            </p:cNvSpPr>
            <p:nvPr/>
          </p:nvSpPr>
          <p:spPr bwMode="auto">
            <a:xfrm>
              <a:off x="4230" y="3133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58" name="Oval 57"/>
            <p:cNvSpPr>
              <a:spLocks noChangeArrowheads="1"/>
            </p:cNvSpPr>
            <p:nvPr/>
          </p:nvSpPr>
          <p:spPr bwMode="auto">
            <a:xfrm>
              <a:off x="4106" y="3184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59" name="Oval 58"/>
            <p:cNvSpPr>
              <a:spLocks noChangeArrowheads="1"/>
            </p:cNvSpPr>
            <p:nvPr/>
          </p:nvSpPr>
          <p:spPr bwMode="auto">
            <a:xfrm>
              <a:off x="4272" y="2947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60" name="Oval 59"/>
            <p:cNvSpPr>
              <a:spLocks noChangeArrowheads="1"/>
            </p:cNvSpPr>
            <p:nvPr/>
          </p:nvSpPr>
          <p:spPr bwMode="auto">
            <a:xfrm>
              <a:off x="3792" y="2880"/>
              <a:ext cx="696" cy="69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9961" name="Line 60"/>
            <p:cNvSpPr>
              <a:spLocks noChangeShapeType="1"/>
            </p:cNvSpPr>
            <p:nvPr/>
          </p:nvSpPr>
          <p:spPr bwMode="auto">
            <a:xfrm>
              <a:off x="4156" y="3212"/>
              <a:ext cx="96" cy="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2" name="Line 61"/>
            <p:cNvSpPr>
              <a:spLocks noChangeShapeType="1"/>
            </p:cNvSpPr>
            <p:nvPr/>
          </p:nvSpPr>
          <p:spPr bwMode="auto">
            <a:xfrm flipH="1">
              <a:off x="4972" y="3212"/>
              <a:ext cx="240" cy="1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3" name="Rectangle 62"/>
            <p:cNvSpPr>
              <a:spLocks noChangeArrowheads="1"/>
            </p:cNvSpPr>
            <p:nvPr/>
          </p:nvSpPr>
          <p:spPr bwMode="auto">
            <a:xfrm>
              <a:off x="4588" y="345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</a:rPr>
                <a:t>o</a:t>
              </a:r>
            </a:p>
          </p:txBody>
        </p:sp>
      </p:grpSp>
      <p:sp>
        <p:nvSpPr>
          <p:cNvPr id="209926" name="Text Box 63"/>
          <p:cNvSpPr txBox="1">
            <a:spLocks noChangeArrowheads="1"/>
          </p:cNvSpPr>
          <p:nvPr/>
        </p:nvSpPr>
        <p:spPr bwMode="auto">
          <a:xfrm>
            <a:off x="6172200" y="3276600"/>
            <a:ext cx="2744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66"/>
                </a:solidFill>
                <a:latin typeface="Times New Roman" panose="02020603050405020304" pitchFamily="18" charset="0"/>
              </a:rPr>
              <a:t>Density Reachability</a:t>
            </a:r>
          </a:p>
        </p:txBody>
      </p:sp>
      <p:sp>
        <p:nvSpPr>
          <p:cNvPr id="209927" name="Text Box 64"/>
          <p:cNvSpPr txBox="1">
            <a:spLocks noChangeArrowheads="1"/>
          </p:cNvSpPr>
          <p:nvPr/>
        </p:nvSpPr>
        <p:spPr bwMode="auto">
          <a:xfrm>
            <a:off x="5943600" y="6248400"/>
            <a:ext cx="2779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66"/>
                </a:solidFill>
                <a:latin typeface="Times New Roman" panose="02020603050405020304" pitchFamily="18" charset="0"/>
              </a:rPr>
              <a:t>Density Connectivity</a:t>
            </a:r>
          </a:p>
        </p:txBody>
      </p:sp>
      <p:sp>
        <p:nvSpPr>
          <p:cNvPr id="209928" name="Rectangle 65"/>
          <p:cNvSpPr>
            <a:spLocks noChangeArrowheads="1"/>
          </p:cNvSpPr>
          <p:nvPr/>
        </p:nvSpPr>
        <p:spPr bwMode="auto">
          <a:xfrm>
            <a:off x="0" y="3733800"/>
            <a:ext cx="5715000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205000"/>
              <a:buFontTx/>
              <a:buChar char="•"/>
            </a:pP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400" i="1">
                <a:solidFill>
                  <a:srgbClr val="FF3300"/>
                </a:solidFill>
                <a:ea typeface="SimSun" panose="02010600030101010101" pitchFamily="2" charset="-122"/>
              </a:rPr>
              <a:t>Density-connected:</a:t>
            </a:r>
            <a:r>
              <a:rPr lang="en-US" altLang="zh-CN" sz="2400" i="1">
                <a:solidFill>
                  <a:schemeClr val="bg1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A point </a:t>
            </a:r>
            <a:r>
              <a:rPr lang="en-US" altLang="zh-CN" sz="2400" i="1">
                <a:solidFill>
                  <a:srgbClr val="000000"/>
                </a:solidFill>
                <a:ea typeface="SimSun" panose="02010600030101010101" pitchFamily="2" charset="-122"/>
              </a:rPr>
              <a:t>p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is density-connected to a point </a:t>
            </a:r>
            <a:r>
              <a:rPr lang="en-US" altLang="zh-CN" sz="2400" i="1">
                <a:solidFill>
                  <a:srgbClr val="000000"/>
                </a:solidFill>
                <a:ea typeface="SimSun" panose="02010600030101010101" pitchFamily="2" charset="-122"/>
              </a:rPr>
              <a:t>q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wrt. </a:t>
            </a:r>
            <a:r>
              <a:rPr lang="en-US" altLang="zh-CN" sz="2000" i="1">
                <a:solidFill>
                  <a:srgbClr val="000000"/>
                </a:solidFill>
                <a:ea typeface="SimSun" panose="02010600030101010101" pitchFamily="2" charset="-122"/>
                <a:cs typeface="Tahoma" panose="020B0604030504040204" pitchFamily="34" charset="0"/>
              </a:rPr>
              <a:t>Є</a:t>
            </a:r>
            <a:r>
              <a:rPr kumimoji="1" lang="en-US" altLang="en-US" sz="2400">
                <a:solidFill>
                  <a:srgbClr val="000000"/>
                </a:solidFill>
              </a:rPr>
              <a:t> 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, </a:t>
            </a:r>
            <a:r>
              <a:rPr lang="en-US" altLang="zh-CN" sz="2400" i="1">
                <a:solidFill>
                  <a:srgbClr val="000000"/>
                </a:solidFill>
                <a:ea typeface="SimSun" panose="02010600030101010101" pitchFamily="2" charset="-122"/>
              </a:rPr>
              <a:t>MinPts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if there is a point </a:t>
            </a:r>
            <a:r>
              <a:rPr lang="en-US" altLang="zh-CN" sz="2400" i="1">
                <a:solidFill>
                  <a:srgbClr val="000000"/>
                </a:solidFill>
                <a:ea typeface="SimSun" panose="02010600030101010101" pitchFamily="2" charset="-122"/>
              </a:rPr>
              <a:t>o 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such that both, </a:t>
            </a:r>
            <a:r>
              <a:rPr lang="en-US" altLang="zh-CN" sz="2400" i="1">
                <a:solidFill>
                  <a:srgbClr val="000000"/>
                </a:solidFill>
                <a:ea typeface="SimSun" panose="02010600030101010101" pitchFamily="2" charset="-122"/>
              </a:rPr>
              <a:t>p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and </a:t>
            </a:r>
            <a:r>
              <a:rPr lang="en-US" altLang="zh-CN" sz="2400" i="1">
                <a:solidFill>
                  <a:srgbClr val="000000"/>
                </a:solidFill>
                <a:ea typeface="SimSun" panose="02010600030101010101" pitchFamily="2" charset="-122"/>
              </a:rPr>
              <a:t>q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are density-reachable from </a:t>
            </a:r>
            <a:r>
              <a:rPr lang="en-US" altLang="zh-CN" sz="2400" i="1">
                <a:solidFill>
                  <a:srgbClr val="000000"/>
                </a:solidFill>
                <a:ea typeface="SimSun" panose="02010600030101010101" pitchFamily="2" charset="-122"/>
              </a:rPr>
              <a:t>o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wrt. </a:t>
            </a:r>
            <a:r>
              <a:rPr lang="en-US" altLang="zh-CN" sz="2000" i="1">
                <a:solidFill>
                  <a:srgbClr val="000000"/>
                </a:solidFill>
                <a:ea typeface="SimSun" panose="02010600030101010101" pitchFamily="2" charset="-122"/>
              </a:rPr>
              <a:t>Є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 and </a:t>
            </a:r>
            <a:r>
              <a:rPr lang="en-US" altLang="zh-CN" sz="2400" i="1">
                <a:solidFill>
                  <a:srgbClr val="000000"/>
                </a:solidFill>
                <a:ea typeface="SimSun" panose="02010600030101010101" pitchFamily="2" charset="-122"/>
              </a:rPr>
              <a:t>MinPts</a:t>
            </a: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514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ChangeArrowheads="1"/>
          </p:cNvSpPr>
          <p:nvPr/>
        </p:nvSpPr>
        <p:spPr bwMode="auto">
          <a:xfrm>
            <a:off x="228600" y="381000"/>
            <a:ext cx="7239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4400">
                <a:solidFill>
                  <a:schemeClr val="tx2"/>
                </a:solidFill>
                <a:ea typeface="SimSun" panose="02010600030101010101" pitchFamily="2" charset="-122"/>
              </a:rPr>
              <a:t>DBSCAN</a:t>
            </a:r>
          </a:p>
        </p:txBody>
      </p:sp>
      <p:sp>
        <p:nvSpPr>
          <p:cNvPr id="210947" name="Rectangle 3"/>
          <p:cNvSpPr>
            <a:spLocks noChangeArrowheads="1"/>
          </p:cNvSpPr>
          <p:nvPr/>
        </p:nvSpPr>
        <p:spPr bwMode="auto">
          <a:xfrm>
            <a:off x="0" y="1600200"/>
            <a:ext cx="91440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Relies on a </a:t>
            </a:r>
            <a:r>
              <a:rPr kumimoji="1" lang="en-US" altLang="zh-CN" sz="2400" i="1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density-based</a:t>
            </a:r>
            <a:r>
              <a:rPr kumimoji="1"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notion of cluster:  A </a:t>
            </a:r>
            <a:r>
              <a:rPr kumimoji="1" lang="en-US" altLang="zh-CN" sz="2400" i="1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cluster</a:t>
            </a:r>
            <a:r>
              <a:rPr kumimoji="1"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is defined as a </a:t>
            </a:r>
            <a:r>
              <a:rPr kumimoji="1" lang="en-US" altLang="zh-CN" sz="2400">
                <a:solidFill>
                  <a:srgbClr val="FF33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maximal set</a:t>
            </a:r>
            <a:r>
              <a:rPr kumimoji="1"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of density-connected points w.r.t. density reachability</a:t>
            </a:r>
          </a:p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Every object not contained in any cluster considered as noise</a:t>
            </a:r>
          </a:p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Discovers clusters of arbitrary shape in spatial databases with noise</a:t>
            </a:r>
          </a:p>
        </p:txBody>
      </p:sp>
      <p:sp>
        <p:nvSpPr>
          <p:cNvPr id="210948" name="Oval 4"/>
          <p:cNvSpPr>
            <a:spLocks noChangeArrowheads="1"/>
          </p:cNvSpPr>
          <p:nvPr/>
        </p:nvSpPr>
        <p:spPr bwMode="auto">
          <a:xfrm>
            <a:off x="3781425" y="4987925"/>
            <a:ext cx="196850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49" name="Oval 5"/>
          <p:cNvSpPr>
            <a:spLocks noChangeArrowheads="1"/>
          </p:cNvSpPr>
          <p:nvPr/>
        </p:nvSpPr>
        <p:spPr bwMode="auto">
          <a:xfrm>
            <a:off x="3714750" y="5299075"/>
            <a:ext cx="198438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50" name="Oval 6"/>
          <p:cNvSpPr>
            <a:spLocks noChangeArrowheads="1"/>
          </p:cNvSpPr>
          <p:nvPr/>
        </p:nvSpPr>
        <p:spPr bwMode="auto">
          <a:xfrm>
            <a:off x="4044950" y="5360988"/>
            <a:ext cx="196850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51" name="Oval 7"/>
          <p:cNvSpPr>
            <a:spLocks noChangeArrowheads="1"/>
          </p:cNvSpPr>
          <p:nvPr/>
        </p:nvSpPr>
        <p:spPr bwMode="auto">
          <a:xfrm>
            <a:off x="4176713" y="4987925"/>
            <a:ext cx="196850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52" name="Oval 8"/>
          <p:cNvSpPr>
            <a:spLocks noChangeArrowheads="1"/>
          </p:cNvSpPr>
          <p:nvPr/>
        </p:nvSpPr>
        <p:spPr bwMode="auto">
          <a:xfrm>
            <a:off x="4308475" y="5548313"/>
            <a:ext cx="196850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53" name="Oval 9"/>
          <p:cNvSpPr>
            <a:spLocks noChangeArrowheads="1"/>
          </p:cNvSpPr>
          <p:nvPr/>
        </p:nvSpPr>
        <p:spPr bwMode="auto">
          <a:xfrm>
            <a:off x="3781425" y="5611813"/>
            <a:ext cx="196850" cy="185737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54" name="Oval 10"/>
          <p:cNvSpPr>
            <a:spLocks noChangeArrowheads="1"/>
          </p:cNvSpPr>
          <p:nvPr/>
        </p:nvSpPr>
        <p:spPr bwMode="auto">
          <a:xfrm>
            <a:off x="4044950" y="5797550"/>
            <a:ext cx="196850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55" name="Oval 11"/>
          <p:cNvSpPr>
            <a:spLocks noChangeArrowheads="1"/>
          </p:cNvSpPr>
          <p:nvPr/>
        </p:nvSpPr>
        <p:spPr bwMode="auto">
          <a:xfrm>
            <a:off x="3913188" y="6110288"/>
            <a:ext cx="196850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56" name="Oval 12"/>
          <p:cNvSpPr>
            <a:spLocks noChangeArrowheads="1"/>
          </p:cNvSpPr>
          <p:nvPr/>
        </p:nvSpPr>
        <p:spPr bwMode="auto">
          <a:xfrm>
            <a:off x="4241800" y="6297613"/>
            <a:ext cx="198438" cy="185737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57" name="Oval 13"/>
          <p:cNvSpPr>
            <a:spLocks noChangeArrowheads="1"/>
          </p:cNvSpPr>
          <p:nvPr/>
        </p:nvSpPr>
        <p:spPr bwMode="auto">
          <a:xfrm>
            <a:off x="4373563" y="6546850"/>
            <a:ext cx="198437" cy="185738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58" name="Oval 14"/>
          <p:cNvSpPr>
            <a:spLocks noChangeArrowheads="1"/>
          </p:cNvSpPr>
          <p:nvPr/>
        </p:nvSpPr>
        <p:spPr bwMode="auto">
          <a:xfrm>
            <a:off x="4308475" y="5984875"/>
            <a:ext cx="196850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59" name="Oval 15"/>
          <p:cNvSpPr>
            <a:spLocks noChangeArrowheads="1"/>
          </p:cNvSpPr>
          <p:nvPr/>
        </p:nvSpPr>
        <p:spPr bwMode="auto">
          <a:xfrm>
            <a:off x="5164138" y="4240213"/>
            <a:ext cx="198437" cy="185737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60" name="Oval 16"/>
          <p:cNvSpPr>
            <a:spLocks noChangeArrowheads="1"/>
          </p:cNvSpPr>
          <p:nvPr/>
        </p:nvSpPr>
        <p:spPr bwMode="auto">
          <a:xfrm>
            <a:off x="5295900" y="4987925"/>
            <a:ext cx="198438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61" name="Oval 17"/>
          <p:cNvSpPr>
            <a:spLocks noChangeArrowheads="1"/>
          </p:cNvSpPr>
          <p:nvPr/>
        </p:nvSpPr>
        <p:spPr bwMode="auto">
          <a:xfrm>
            <a:off x="5099050" y="5237163"/>
            <a:ext cx="196850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62" name="Oval 18"/>
          <p:cNvSpPr>
            <a:spLocks noChangeArrowheads="1"/>
          </p:cNvSpPr>
          <p:nvPr/>
        </p:nvSpPr>
        <p:spPr bwMode="auto">
          <a:xfrm>
            <a:off x="5559425" y="5360988"/>
            <a:ext cx="198438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63" name="Oval 19"/>
          <p:cNvSpPr>
            <a:spLocks noChangeArrowheads="1"/>
          </p:cNvSpPr>
          <p:nvPr/>
        </p:nvSpPr>
        <p:spPr bwMode="auto">
          <a:xfrm>
            <a:off x="5691188" y="5049838"/>
            <a:ext cx="198437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64" name="Oval 20"/>
          <p:cNvSpPr>
            <a:spLocks noChangeArrowheads="1"/>
          </p:cNvSpPr>
          <p:nvPr/>
        </p:nvSpPr>
        <p:spPr bwMode="auto">
          <a:xfrm>
            <a:off x="5295900" y="5486400"/>
            <a:ext cx="198438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65" name="Rectangle 21"/>
          <p:cNvSpPr>
            <a:spLocks noChangeArrowheads="1"/>
          </p:cNvSpPr>
          <p:nvPr/>
        </p:nvSpPr>
        <p:spPr bwMode="auto">
          <a:xfrm>
            <a:off x="3122613" y="4114800"/>
            <a:ext cx="335915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66" name="Oval 22"/>
          <p:cNvSpPr>
            <a:spLocks noChangeArrowheads="1"/>
          </p:cNvSpPr>
          <p:nvPr/>
        </p:nvSpPr>
        <p:spPr bwMode="auto">
          <a:xfrm>
            <a:off x="3386138" y="4738688"/>
            <a:ext cx="790575" cy="809625"/>
          </a:xfrm>
          <a:prstGeom prst="ellips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67" name="Oval 23"/>
          <p:cNvSpPr>
            <a:spLocks noChangeArrowheads="1"/>
          </p:cNvSpPr>
          <p:nvPr/>
        </p:nvSpPr>
        <p:spPr bwMode="auto">
          <a:xfrm>
            <a:off x="3781425" y="5486400"/>
            <a:ext cx="790575" cy="811213"/>
          </a:xfrm>
          <a:prstGeom prst="ellipse">
            <a:avLst/>
          </a:prstGeom>
          <a:noFill/>
          <a:ln w="9525">
            <a:solidFill>
              <a:srgbClr val="00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68" name="Oval 24"/>
          <p:cNvSpPr>
            <a:spLocks noChangeArrowheads="1"/>
          </p:cNvSpPr>
          <p:nvPr/>
        </p:nvSpPr>
        <p:spPr bwMode="auto">
          <a:xfrm>
            <a:off x="4900613" y="4114800"/>
            <a:ext cx="790575" cy="811213"/>
          </a:xfrm>
          <a:prstGeom prst="ellips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0969" name="AutoShape 25"/>
          <p:cNvSpPr>
            <a:spLocks/>
          </p:cNvSpPr>
          <p:nvPr/>
        </p:nvSpPr>
        <p:spPr bwMode="auto">
          <a:xfrm>
            <a:off x="2713038" y="5803900"/>
            <a:ext cx="790575" cy="466725"/>
          </a:xfrm>
          <a:prstGeom prst="borderCallout1">
            <a:avLst>
              <a:gd name="adj1" fmla="val 18750"/>
              <a:gd name="adj2" fmla="val 108333"/>
              <a:gd name="adj3" fmla="val 18750"/>
              <a:gd name="adj4" fmla="val 168750"/>
            </a:avLst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Core</a:t>
            </a:r>
          </a:p>
        </p:txBody>
      </p:sp>
      <p:sp>
        <p:nvSpPr>
          <p:cNvPr id="210970" name="AutoShape 26"/>
          <p:cNvSpPr>
            <a:spLocks/>
          </p:cNvSpPr>
          <p:nvPr/>
        </p:nvSpPr>
        <p:spPr bwMode="auto">
          <a:xfrm>
            <a:off x="2133600" y="5022850"/>
            <a:ext cx="1120775" cy="466725"/>
          </a:xfrm>
          <a:prstGeom prst="borderCallout1">
            <a:avLst>
              <a:gd name="adj1" fmla="val 14458"/>
              <a:gd name="adj2" fmla="val 105884"/>
              <a:gd name="adj3" fmla="val 14458"/>
              <a:gd name="adj4" fmla="val 148528"/>
            </a:avLst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Border</a:t>
            </a:r>
          </a:p>
        </p:txBody>
      </p:sp>
      <p:sp>
        <p:nvSpPr>
          <p:cNvPr id="210971" name="AutoShape 27"/>
          <p:cNvSpPr>
            <a:spLocks/>
          </p:cNvSpPr>
          <p:nvPr/>
        </p:nvSpPr>
        <p:spPr bwMode="auto">
          <a:xfrm>
            <a:off x="6284913" y="4240213"/>
            <a:ext cx="1131887" cy="466725"/>
          </a:xfrm>
          <a:prstGeom prst="borderCallout1">
            <a:avLst>
              <a:gd name="adj1" fmla="val 24491"/>
              <a:gd name="adj2" fmla="val -5810"/>
              <a:gd name="adj3" fmla="val 21431"/>
              <a:gd name="adj4" fmla="val -82810"/>
            </a:avLst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Outlier</a:t>
            </a:r>
          </a:p>
        </p:txBody>
      </p:sp>
      <p:sp>
        <p:nvSpPr>
          <p:cNvPr id="210972" name="Text Box 28"/>
          <p:cNvSpPr txBox="1">
            <a:spLocks noChangeArrowheads="1"/>
          </p:cNvSpPr>
          <p:nvPr/>
        </p:nvSpPr>
        <p:spPr bwMode="auto">
          <a:xfrm>
            <a:off x="6811963" y="5299075"/>
            <a:ext cx="1646237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Eps = 1cm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ea typeface="SimSun" panose="02010600030101010101" pitchFamily="2" charset="-122"/>
              </a:rPr>
              <a:t>MinPts = 5</a:t>
            </a:r>
          </a:p>
        </p:txBody>
      </p:sp>
      <p:sp>
        <p:nvSpPr>
          <p:cNvPr id="210973" name="Oval 29"/>
          <p:cNvSpPr>
            <a:spLocks noChangeArrowheads="1"/>
          </p:cNvSpPr>
          <p:nvPr/>
        </p:nvSpPr>
        <p:spPr bwMode="auto">
          <a:xfrm>
            <a:off x="4505325" y="6234113"/>
            <a:ext cx="198438" cy="187325"/>
          </a:xfrm>
          <a:prstGeom prst="ellipse">
            <a:avLst/>
          </a:prstGeom>
          <a:solidFill>
            <a:srgbClr val="990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416936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62" y="1600200"/>
            <a:ext cx="8327476" cy="299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49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DBSCAN Algorithm</a:t>
            </a:r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Eliminate noise points</a:t>
            </a:r>
          </a:p>
          <a:p>
            <a:pPr eaLnBrk="1" hangingPunct="1">
              <a:defRPr/>
            </a:pPr>
            <a:r>
              <a:rPr lang="en-US" smtClean="0"/>
              <a:t>Perform clustering on the remaining points</a:t>
            </a:r>
          </a:p>
        </p:txBody>
      </p:sp>
      <p:pic>
        <p:nvPicPr>
          <p:cNvPr id="211972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2667000"/>
            <a:ext cx="7386638" cy="3490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499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DBSCAN: Core, Border and Noise Points</a:t>
            </a:r>
          </a:p>
        </p:txBody>
      </p:sp>
      <p:pic>
        <p:nvPicPr>
          <p:cNvPr id="2140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4872038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020" name="Text Box 4"/>
          <p:cNvSpPr txBox="1">
            <a:spLocks noChangeArrowheads="1"/>
          </p:cNvSpPr>
          <p:nvPr/>
        </p:nvSpPr>
        <p:spPr bwMode="auto">
          <a:xfrm>
            <a:off x="990600" y="5029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Original Points</a:t>
            </a:r>
          </a:p>
        </p:txBody>
      </p:sp>
      <p:sp>
        <p:nvSpPr>
          <p:cNvPr id="214021" name="Text Box 5"/>
          <p:cNvSpPr txBox="1">
            <a:spLocks noChangeArrowheads="1"/>
          </p:cNvSpPr>
          <p:nvPr/>
        </p:nvSpPr>
        <p:spPr bwMode="auto">
          <a:xfrm>
            <a:off x="5257800" y="5105400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Point types: </a:t>
            </a:r>
            <a:r>
              <a:rPr lang="en-US" altLang="en-US" sz="1800" b="1" dirty="0">
                <a:solidFill>
                  <a:srgbClr val="00B050"/>
                </a:solidFill>
                <a:latin typeface="Arial" panose="020B0604020202020204" pitchFamily="34" charset="0"/>
              </a:rPr>
              <a:t>core</a:t>
            </a:r>
            <a:r>
              <a:rPr lang="en-US" altLang="en-US" sz="1800" b="1" dirty="0">
                <a:latin typeface="Arial" panose="020B0604020202020204" pitchFamily="34" charset="0"/>
              </a:rPr>
              <a:t>, </a:t>
            </a:r>
            <a:r>
              <a:rPr lang="en-US" altLang="en-US" sz="1800" b="1" dirty="0">
                <a:solidFill>
                  <a:srgbClr val="003399"/>
                </a:solidFill>
                <a:latin typeface="Arial" panose="020B0604020202020204" pitchFamily="34" charset="0"/>
              </a:rPr>
              <a:t>border</a:t>
            </a:r>
            <a:r>
              <a:rPr lang="en-US" altLang="en-US" sz="1800" b="1" dirty="0">
                <a:latin typeface="Arial" panose="020B0604020202020204" pitchFamily="34" charset="0"/>
              </a:rPr>
              <a:t> and </a:t>
            </a:r>
            <a:r>
              <a:rPr lang="en-US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noise</a:t>
            </a:r>
          </a:p>
        </p:txBody>
      </p:sp>
      <p:pic>
        <p:nvPicPr>
          <p:cNvPr id="2140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447800"/>
            <a:ext cx="4872038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023" name="Text Box 7"/>
          <p:cNvSpPr txBox="1">
            <a:spLocks noChangeArrowheads="1"/>
          </p:cNvSpPr>
          <p:nvPr/>
        </p:nvSpPr>
        <p:spPr bwMode="auto">
          <a:xfrm>
            <a:off x="2743200" y="5943600"/>
            <a:ext cx="327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Eps = 10, MinPts = 4</a:t>
            </a:r>
          </a:p>
        </p:txBody>
      </p:sp>
    </p:spTree>
    <p:extLst>
      <p:ext uri="{BB962C8B-B14F-4D97-AF65-F5344CB8AC3E}">
        <p14:creationId xmlns:p14="http://schemas.microsoft.com/office/powerpoint/2010/main" val="21475424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When DBSCAN Works Well</a:t>
            </a:r>
          </a:p>
        </p:txBody>
      </p:sp>
      <p:pic>
        <p:nvPicPr>
          <p:cNvPr id="2160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4872038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6068" name="Text Box 4"/>
          <p:cNvSpPr txBox="1">
            <a:spLocks noChangeArrowheads="1"/>
          </p:cNvSpPr>
          <p:nvPr/>
        </p:nvSpPr>
        <p:spPr bwMode="auto">
          <a:xfrm>
            <a:off x="990600" y="4433888"/>
            <a:ext cx="251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pic>
        <p:nvPicPr>
          <p:cNvPr id="21606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081088"/>
            <a:ext cx="4872037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6070" name="Text Box 7"/>
          <p:cNvSpPr txBox="1">
            <a:spLocks noChangeArrowheads="1"/>
          </p:cNvSpPr>
          <p:nvPr/>
        </p:nvSpPr>
        <p:spPr bwMode="auto">
          <a:xfrm>
            <a:off x="5486400" y="43434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Clusters</a:t>
            </a:r>
          </a:p>
        </p:txBody>
      </p:sp>
      <p:sp>
        <p:nvSpPr>
          <p:cNvPr id="531464" name="Text Box 8"/>
          <p:cNvSpPr txBox="1">
            <a:spLocks noChangeArrowheads="1"/>
          </p:cNvSpPr>
          <p:nvPr/>
        </p:nvSpPr>
        <p:spPr bwMode="auto">
          <a:xfrm>
            <a:off x="609600" y="5392738"/>
            <a:ext cx="66294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Resistant to Noise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Can handle clusters of different shapes and sizes</a:t>
            </a:r>
          </a:p>
        </p:txBody>
      </p:sp>
    </p:spTree>
    <p:extLst>
      <p:ext uri="{BB962C8B-B14F-4D97-AF65-F5344CB8AC3E}">
        <p14:creationId xmlns:p14="http://schemas.microsoft.com/office/powerpoint/2010/main" val="67248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6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4328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DBSCAN: Determining EPS and MinPts</a:t>
            </a:r>
          </a:p>
        </p:txBody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30725"/>
          </a:xfrm>
        </p:spPr>
        <p:txBody>
          <a:bodyPr lIns="90488" tIns="44450" rIns="90488" bIns="44450"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smtClean="0"/>
              <a:t>Idea is that for points in a cluster, their k</a:t>
            </a:r>
            <a:r>
              <a:rPr lang="en-US" sz="2800" baseline="30000" smtClean="0"/>
              <a:t>th</a:t>
            </a:r>
            <a:r>
              <a:rPr lang="en-US" sz="2800" smtClean="0"/>
              <a:t> nearest neighbors are at roughly the same distance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smtClean="0"/>
              <a:t>Noise points have the k</a:t>
            </a:r>
            <a:r>
              <a:rPr lang="en-US" sz="2800" baseline="30000" smtClean="0"/>
              <a:t>th</a:t>
            </a:r>
            <a:r>
              <a:rPr lang="en-US" sz="2800" smtClean="0"/>
              <a:t> nearest neighbor at farther distance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smtClean="0"/>
              <a:t>So, plot sorted distance of every point to its k</a:t>
            </a:r>
            <a:r>
              <a:rPr lang="en-US" sz="2800" baseline="30000" smtClean="0"/>
              <a:t>th</a:t>
            </a:r>
            <a:r>
              <a:rPr lang="en-US" sz="2800" smtClean="0"/>
              <a:t> nearest neighbor</a:t>
            </a:r>
            <a:endParaRPr lang="en-US" smtClean="0"/>
          </a:p>
        </p:txBody>
      </p:sp>
      <p:pic>
        <p:nvPicPr>
          <p:cNvPr id="2201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8100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77" y="3886200"/>
            <a:ext cx="3250847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97518" y="6141243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Original Points</a:t>
            </a:r>
          </a:p>
        </p:txBody>
      </p:sp>
    </p:spTree>
    <p:extLst>
      <p:ext uri="{BB962C8B-B14F-4D97-AF65-F5344CB8AC3E}">
        <p14:creationId xmlns:p14="http://schemas.microsoft.com/office/powerpoint/2010/main" val="396198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188" y="1857375"/>
            <a:ext cx="6650037" cy="314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133600" y="762000"/>
            <a:ext cx="3733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 smtClean="0">
                <a:latin typeface="Arial" panose="020B0604020202020204" pitchFamily="34" charset="0"/>
              </a:rPr>
              <a:t>Clusters of Varying Density</a:t>
            </a:r>
            <a:endParaRPr lang="en-US" altLang="en-US" sz="1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881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When DBSCAN Does NOT Work Well</a:t>
            </a:r>
          </a:p>
        </p:txBody>
      </p:sp>
      <p:sp>
        <p:nvSpPr>
          <p:cNvPr id="218115" name="Text Box 3"/>
          <p:cNvSpPr txBox="1">
            <a:spLocks noChangeArrowheads="1"/>
          </p:cNvSpPr>
          <p:nvPr/>
        </p:nvSpPr>
        <p:spPr bwMode="auto">
          <a:xfrm>
            <a:off x="1066800" y="3886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sp>
        <p:nvSpPr>
          <p:cNvPr id="218116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218117" name="Picture 5" descr="fish_cluste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8118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218119" name="Object 7"/>
          <p:cNvGraphicFramePr>
            <a:graphicFrameLocks noChangeAspect="1"/>
          </p:cNvGraphicFramePr>
          <p:nvPr/>
        </p:nvGraphicFramePr>
        <p:xfrm>
          <a:off x="4648200" y="1066800"/>
          <a:ext cx="3363913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0" r:id="rId5" imgW="4686706" imgH="3177815" progId="MSPhotoEd.3">
                  <p:embed/>
                </p:oleObj>
              </mc:Choice>
              <mc:Fallback>
                <p:oleObj r:id="rId5" imgW="4686706" imgH="3177815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066800"/>
                        <a:ext cx="3363913" cy="228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0" name="Rectangle 8"/>
          <p:cNvSpPr>
            <a:spLocks noChangeArrowheads="1"/>
          </p:cNvSpPr>
          <p:nvPr/>
        </p:nvSpPr>
        <p:spPr bwMode="auto">
          <a:xfrm>
            <a:off x="4800600" y="33528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(MinPts=4, Eps=9.75).</a:t>
            </a:r>
            <a:r>
              <a:rPr lang="en-US" altLang="en-US" sz="900">
                <a:latin typeface="Times New Roman" panose="02020603050405020304" pitchFamily="18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18121" name="Rectangle 9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218122" name="Object 10"/>
          <p:cNvGraphicFramePr>
            <a:graphicFrameLocks noChangeAspect="1"/>
          </p:cNvGraphicFramePr>
          <p:nvPr/>
        </p:nvGraphicFramePr>
        <p:xfrm>
          <a:off x="4724400" y="3733800"/>
          <a:ext cx="336391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1" r:id="rId7" imgW="4686706" imgH="3177815" progId="MSPhotoEd.3">
                  <p:embed/>
                </p:oleObj>
              </mc:Choice>
              <mc:Fallback>
                <p:oleObj r:id="rId7" imgW="4686706" imgH="3177815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733800"/>
                        <a:ext cx="3363913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3" name="Rectangle 11"/>
          <p:cNvSpPr>
            <a:spLocks noChangeArrowheads="1"/>
          </p:cNvSpPr>
          <p:nvPr/>
        </p:nvSpPr>
        <p:spPr bwMode="auto">
          <a:xfrm>
            <a:off x="4724400" y="60198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(MinPts=4, Eps=9.62)</a:t>
            </a:r>
          </a:p>
        </p:txBody>
      </p:sp>
      <p:sp>
        <p:nvSpPr>
          <p:cNvPr id="533516" name="Text Box 12"/>
          <p:cNvSpPr txBox="1">
            <a:spLocks noChangeArrowheads="1"/>
          </p:cNvSpPr>
          <p:nvPr/>
        </p:nvSpPr>
        <p:spPr bwMode="auto">
          <a:xfrm>
            <a:off x="609600" y="5392738"/>
            <a:ext cx="3505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Varying densities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High-dimensional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256810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1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</a:t>
            </a:r>
          </a:p>
        </p:txBody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991600" cy="5562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Two main types of hierarchical clustering</a:t>
            </a:r>
          </a:p>
          <a:p>
            <a:pPr lvl="1" eaLnBrk="1" hangingPunct="1">
              <a:defRPr/>
            </a:pPr>
            <a:r>
              <a:rPr lang="en-US" sz="2400" dirty="0" smtClean="0"/>
              <a:t>Agglomerative:  </a:t>
            </a:r>
          </a:p>
          <a:p>
            <a:pPr lvl="2" eaLnBrk="1" hangingPunct="1">
              <a:defRPr/>
            </a:pPr>
            <a:r>
              <a:rPr lang="en-US" sz="2000" dirty="0" smtClean="0"/>
              <a:t> Start with the points as individual clusters</a:t>
            </a:r>
          </a:p>
          <a:p>
            <a:pPr lvl="2" eaLnBrk="1" hangingPunct="1">
              <a:defRPr/>
            </a:pPr>
            <a:r>
              <a:rPr lang="en-US" sz="2000" dirty="0" smtClean="0"/>
              <a:t> At each step, merge the closest pair of clusters until only one cluster (or k clusters) left</a:t>
            </a:r>
          </a:p>
          <a:p>
            <a:pPr lvl="4" eaLnBrk="1" hangingPunct="1">
              <a:defRPr/>
            </a:pPr>
            <a:endParaRPr lang="en-US" sz="1800" dirty="0" smtClean="0"/>
          </a:p>
          <a:p>
            <a:pPr lvl="1" eaLnBrk="1" hangingPunct="1">
              <a:defRPr/>
            </a:pPr>
            <a:r>
              <a:rPr lang="en-US" sz="2400" dirty="0" smtClean="0"/>
              <a:t>Divisive:  </a:t>
            </a:r>
          </a:p>
          <a:p>
            <a:pPr lvl="2" eaLnBrk="1" hangingPunct="1">
              <a:defRPr/>
            </a:pPr>
            <a:r>
              <a:rPr lang="en-US" sz="2000" dirty="0" smtClean="0"/>
              <a:t> Start with one, all-inclusive cluster </a:t>
            </a:r>
          </a:p>
          <a:p>
            <a:pPr lvl="2" eaLnBrk="1" hangingPunct="1">
              <a:defRPr/>
            </a:pPr>
            <a:r>
              <a:rPr lang="en-US" sz="2000" dirty="0" smtClean="0"/>
              <a:t> At each step, split a cluster until each cluster contains a point (or there are k clusters)</a:t>
            </a:r>
          </a:p>
          <a:p>
            <a:pPr lvl="4" eaLnBrk="1" hangingPunct="1">
              <a:defRPr/>
            </a:pPr>
            <a:endParaRPr lang="en-US" sz="1800" dirty="0" smtClean="0"/>
          </a:p>
          <a:p>
            <a:pPr eaLnBrk="1" hangingPunct="1">
              <a:defRPr/>
            </a:pPr>
            <a:r>
              <a:rPr lang="en-US" sz="2800" dirty="0" smtClean="0"/>
              <a:t>Traditional hierarchical algorithms use a similarity or distance matrix</a:t>
            </a:r>
          </a:p>
          <a:p>
            <a:pPr lvl="1" eaLnBrk="1" hangingPunct="1">
              <a:defRPr/>
            </a:pPr>
            <a:r>
              <a:rPr lang="en-US" sz="2400" dirty="0" smtClean="0"/>
              <a:t>Merge or split one cluster at a time</a:t>
            </a:r>
          </a:p>
          <a:p>
            <a:pPr lvl="4" eaLnBrk="1" hangingPunct="1">
              <a:defRPr/>
            </a:pPr>
            <a:endParaRPr lang="en-US" sz="800" dirty="0" smtClean="0"/>
          </a:p>
        </p:txBody>
      </p:sp>
    </p:spTree>
    <p:extLst>
      <p:ext uri="{BB962C8B-B14F-4D97-AF65-F5344CB8AC3E}">
        <p14:creationId xmlns:p14="http://schemas.microsoft.com/office/powerpoint/2010/main" val="87311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Agglomerative Clustering Algorithm</a:t>
            </a: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8915400" cy="4530725"/>
          </a:xfrm>
        </p:spPr>
        <p:txBody>
          <a:bodyPr>
            <a:normAutofit fontScale="92500" lnSpcReduction="10000"/>
          </a:bodyPr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smtClean="0"/>
              <a:t>More popular hierarchical clustering technique</a:t>
            </a:r>
          </a:p>
          <a:p>
            <a:pPr marL="2209800" lvl="4" indent="-381000" eaLnBrk="1" hangingPunct="1">
              <a:lnSpc>
                <a:spcPct val="90000"/>
              </a:lnSpc>
              <a:defRPr/>
            </a:pPr>
            <a:endParaRPr lang="en-US" sz="800" smtClean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smtClean="0"/>
              <a:t>Basic algorithm is straightforward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smtClean="0"/>
              <a:t>Compute the proximity matrix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smtClean="0"/>
              <a:t>Let each data point be a cluster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b="1" smtClean="0"/>
              <a:t>Repeat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lang="en-US" sz="2400" smtClean="0"/>
              <a:t>	Merge the two closest clusters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lang="en-US" sz="2400" smtClean="0"/>
              <a:t>	Update the proximity matrix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b="1" smtClean="0"/>
              <a:t>Until</a:t>
            </a:r>
            <a:r>
              <a:rPr lang="en-US" sz="2400" smtClean="0"/>
              <a:t> only a single cluster remains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smtClean="0"/>
              <a:t>Key operation is the computation of the proximity of two clusters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400" smtClean="0"/>
              <a:t>Different approaches to defining the distance between clusters distinguish the different algorithms</a:t>
            </a:r>
          </a:p>
        </p:txBody>
      </p:sp>
    </p:spTree>
    <p:extLst>
      <p:ext uri="{BB962C8B-B14F-4D97-AF65-F5344CB8AC3E}">
        <p14:creationId xmlns:p14="http://schemas.microsoft.com/office/powerpoint/2010/main" val="392073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Starting Situation 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Start with clusters of individual points and a proximity matrix</a:t>
            </a:r>
          </a:p>
          <a:p>
            <a:pPr lvl="1" eaLnBrk="1" hangingPunct="1">
              <a:defRPr/>
            </a:pPr>
            <a:endParaRPr lang="en-US" smtClean="0"/>
          </a:p>
        </p:txBody>
      </p:sp>
      <p:sp>
        <p:nvSpPr>
          <p:cNvPr id="115716" name="Oval 4"/>
          <p:cNvSpPr>
            <a:spLocks noChangeArrowheads="1"/>
          </p:cNvSpPr>
          <p:nvPr/>
        </p:nvSpPr>
        <p:spPr bwMode="auto">
          <a:xfrm>
            <a:off x="685800" y="44037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17" name="Oval 5"/>
          <p:cNvSpPr>
            <a:spLocks noChangeArrowheads="1"/>
          </p:cNvSpPr>
          <p:nvPr/>
        </p:nvSpPr>
        <p:spPr bwMode="auto">
          <a:xfrm>
            <a:off x="2743200" y="5470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18" name="Oval 6"/>
          <p:cNvSpPr>
            <a:spLocks noChangeArrowheads="1"/>
          </p:cNvSpPr>
          <p:nvPr/>
        </p:nvSpPr>
        <p:spPr bwMode="auto">
          <a:xfrm>
            <a:off x="1600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19" name="Oval 7"/>
          <p:cNvSpPr>
            <a:spLocks noChangeArrowheads="1"/>
          </p:cNvSpPr>
          <p:nvPr/>
        </p:nvSpPr>
        <p:spPr bwMode="auto">
          <a:xfrm>
            <a:off x="1447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0" name="Oval 8"/>
          <p:cNvSpPr>
            <a:spLocks noChangeArrowheads="1"/>
          </p:cNvSpPr>
          <p:nvPr/>
        </p:nvSpPr>
        <p:spPr bwMode="auto">
          <a:xfrm>
            <a:off x="3124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1" name="Oval 9"/>
          <p:cNvSpPr>
            <a:spLocks noChangeArrowheads="1"/>
          </p:cNvSpPr>
          <p:nvPr/>
        </p:nvSpPr>
        <p:spPr bwMode="auto">
          <a:xfrm>
            <a:off x="1600200" y="2955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2" name="Oval 10"/>
          <p:cNvSpPr>
            <a:spLocks noChangeArrowheads="1"/>
          </p:cNvSpPr>
          <p:nvPr/>
        </p:nvSpPr>
        <p:spPr bwMode="auto">
          <a:xfrm>
            <a:off x="457200" y="4708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3" name="Oval 11"/>
          <p:cNvSpPr>
            <a:spLocks noChangeArrowheads="1"/>
          </p:cNvSpPr>
          <p:nvPr/>
        </p:nvSpPr>
        <p:spPr bwMode="auto">
          <a:xfrm>
            <a:off x="1828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4" name="Oval 12"/>
          <p:cNvSpPr>
            <a:spLocks noChangeArrowheads="1"/>
          </p:cNvSpPr>
          <p:nvPr/>
        </p:nvSpPr>
        <p:spPr bwMode="auto">
          <a:xfrm>
            <a:off x="3124200" y="5089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5" name="Oval 13"/>
          <p:cNvSpPr>
            <a:spLocks noChangeArrowheads="1"/>
          </p:cNvSpPr>
          <p:nvPr/>
        </p:nvSpPr>
        <p:spPr bwMode="auto">
          <a:xfrm>
            <a:off x="2133600" y="3032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6" name="Oval 14"/>
          <p:cNvSpPr>
            <a:spLocks noChangeArrowheads="1"/>
          </p:cNvSpPr>
          <p:nvPr/>
        </p:nvSpPr>
        <p:spPr bwMode="auto">
          <a:xfrm>
            <a:off x="3200400" y="4098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7" name="Oval 15"/>
          <p:cNvSpPr>
            <a:spLocks noChangeArrowheads="1"/>
          </p:cNvSpPr>
          <p:nvPr/>
        </p:nvSpPr>
        <p:spPr bwMode="auto">
          <a:xfrm>
            <a:off x="3733800" y="3184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pSp>
        <p:nvGrpSpPr>
          <p:cNvPr id="115728" name="Group 16"/>
          <p:cNvGrpSpPr>
            <a:grpSpLocks/>
          </p:cNvGrpSpPr>
          <p:nvPr/>
        </p:nvGrpSpPr>
        <p:grpSpPr bwMode="auto">
          <a:xfrm>
            <a:off x="5257800" y="1903413"/>
            <a:ext cx="3200400" cy="2789237"/>
            <a:chOff x="3456" y="1622"/>
            <a:chExt cx="2160" cy="2058"/>
          </a:xfrm>
        </p:grpSpPr>
        <p:sp>
          <p:nvSpPr>
            <p:cNvPr id="115731" name="Line 17"/>
            <p:cNvSpPr>
              <a:spLocks noChangeShapeType="1"/>
            </p:cNvSpPr>
            <p:nvPr/>
          </p:nvSpPr>
          <p:spPr bwMode="auto">
            <a:xfrm>
              <a:off x="369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2" name="Line 18"/>
            <p:cNvSpPr>
              <a:spLocks noChangeShapeType="1"/>
            </p:cNvSpPr>
            <p:nvPr/>
          </p:nvSpPr>
          <p:spPr bwMode="auto">
            <a:xfrm>
              <a:off x="3504" y="1814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3" name="Line 19"/>
            <p:cNvSpPr>
              <a:spLocks noChangeShapeType="1"/>
            </p:cNvSpPr>
            <p:nvPr/>
          </p:nvSpPr>
          <p:spPr bwMode="auto">
            <a:xfrm>
              <a:off x="4012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4" name="Line 20"/>
            <p:cNvSpPr>
              <a:spLocks noChangeShapeType="1"/>
            </p:cNvSpPr>
            <p:nvPr/>
          </p:nvSpPr>
          <p:spPr bwMode="auto">
            <a:xfrm>
              <a:off x="4329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5" name="Line 21"/>
            <p:cNvSpPr>
              <a:spLocks noChangeShapeType="1"/>
            </p:cNvSpPr>
            <p:nvPr/>
          </p:nvSpPr>
          <p:spPr bwMode="auto">
            <a:xfrm>
              <a:off x="464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6" name="Line 22"/>
            <p:cNvSpPr>
              <a:spLocks noChangeShapeType="1"/>
            </p:cNvSpPr>
            <p:nvPr/>
          </p:nvSpPr>
          <p:spPr bwMode="auto">
            <a:xfrm>
              <a:off x="4963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7" name="Line 23"/>
            <p:cNvSpPr>
              <a:spLocks noChangeShapeType="1"/>
            </p:cNvSpPr>
            <p:nvPr/>
          </p:nvSpPr>
          <p:spPr bwMode="auto">
            <a:xfrm>
              <a:off x="5280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8" name="Line 24"/>
            <p:cNvSpPr>
              <a:spLocks noChangeShapeType="1"/>
            </p:cNvSpPr>
            <p:nvPr/>
          </p:nvSpPr>
          <p:spPr bwMode="auto">
            <a:xfrm>
              <a:off x="3504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9" name="Line 25"/>
            <p:cNvSpPr>
              <a:spLocks noChangeShapeType="1"/>
            </p:cNvSpPr>
            <p:nvPr/>
          </p:nvSpPr>
          <p:spPr bwMode="auto">
            <a:xfrm>
              <a:off x="3504" y="23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0" name="Line 26"/>
            <p:cNvSpPr>
              <a:spLocks noChangeShapeType="1"/>
            </p:cNvSpPr>
            <p:nvPr/>
          </p:nvSpPr>
          <p:spPr bwMode="auto">
            <a:xfrm>
              <a:off x="3504" y="25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1" name="Line 27"/>
            <p:cNvSpPr>
              <a:spLocks noChangeShapeType="1"/>
            </p:cNvSpPr>
            <p:nvPr/>
          </p:nvSpPr>
          <p:spPr bwMode="auto">
            <a:xfrm>
              <a:off x="3504" y="28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2" name="Line 28"/>
            <p:cNvSpPr>
              <a:spLocks noChangeShapeType="1"/>
            </p:cNvSpPr>
            <p:nvPr/>
          </p:nvSpPr>
          <p:spPr bwMode="auto">
            <a:xfrm>
              <a:off x="3504" y="311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3" name="Text Box 29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15744" name="Text Box 30"/>
            <p:cNvSpPr txBox="1">
              <a:spLocks noChangeArrowheads="1"/>
            </p:cNvSpPr>
            <p:nvPr/>
          </p:nvSpPr>
          <p:spPr bwMode="auto">
            <a:xfrm>
              <a:off x="3456" y="239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15745" name="Text Box 31"/>
            <p:cNvSpPr txBox="1">
              <a:spLocks noChangeArrowheads="1"/>
            </p:cNvSpPr>
            <p:nvPr/>
          </p:nvSpPr>
          <p:spPr bwMode="auto">
            <a:xfrm>
              <a:off x="3456" y="2917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15746" name="Text Box 32"/>
            <p:cNvSpPr txBox="1">
              <a:spLocks noChangeArrowheads="1"/>
            </p:cNvSpPr>
            <p:nvPr/>
          </p:nvSpPr>
          <p:spPr bwMode="auto">
            <a:xfrm>
              <a:off x="3456" y="2679"/>
              <a:ext cx="33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15747" name="Text Box 33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15748" name="Text Box 34"/>
            <p:cNvSpPr txBox="1">
              <a:spLocks noChangeArrowheads="1"/>
            </p:cNvSpPr>
            <p:nvPr/>
          </p:nvSpPr>
          <p:spPr bwMode="auto">
            <a:xfrm>
              <a:off x="3744" y="1622"/>
              <a:ext cx="33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15749" name="Text Box 35"/>
            <p:cNvSpPr txBox="1">
              <a:spLocks noChangeArrowheads="1"/>
            </p:cNvSpPr>
            <p:nvPr/>
          </p:nvSpPr>
          <p:spPr bwMode="auto">
            <a:xfrm>
              <a:off x="4032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15750" name="Text Box 36"/>
            <p:cNvSpPr txBox="1">
              <a:spLocks noChangeArrowheads="1"/>
            </p:cNvSpPr>
            <p:nvPr/>
          </p:nvSpPr>
          <p:spPr bwMode="auto">
            <a:xfrm>
              <a:off x="4368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15751" name="Text Box 37"/>
            <p:cNvSpPr txBox="1">
              <a:spLocks noChangeArrowheads="1"/>
            </p:cNvSpPr>
            <p:nvPr/>
          </p:nvSpPr>
          <p:spPr bwMode="auto">
            <a:xfrm>
              <a:off x="470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15752" name="Text Box 38"/>
            <p:cNvSpPr txBox="1">
              <a:spLocks noChangeArrowheads="1"/>
            </p:cNvSpPr>
            <p:nvPr/>
          </p:nvSpPr>
          <p:spPr bwMode="auto">
            <a:xfrm>
              <a:off x="494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15753" name="Text Box 39"/>
            <p:cNvSpPr txBox="1">
              <a:spLocks noChangeArrowheads="1"/>
            </p:cNvSpPr>
            <p:nvPr/>
          </p:nvSpPr>
          <p:spPr bwMode="auto">
            <a:xfrm>
              <a:off x="5280" y="1622"/>
              <a:ext cx="336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15754" name="Text Box 40"/>
            <p:cNvSpPr txBox="1">
              <a:spLocks noChangeArrowheads="1"/>
            </p:cNvSpPr>
            <p:nvPr/>
          </p:nvSpPr>
          <p:spPr bwMode="auto">
            <a:xfrm>
              <a:off x="3504" y="3072"/>
              <a:ext cx="192" cy="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15729" name="Text Box 41"/>
          <p:cNvSpPr txBox="1">
            <a:spLocks noChangeArrowheads="1"/>
          </p:cNvSpPr>
          <p:nvPr/>
        </p:nvSpPr>
        <p:spPr bwMode="auto">
          <a:xfrm>
            <a:off x="57912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graphicFrame>
        <p:nvGraphicFramePr>
          <p:cNvPr id="115730" name="Object 4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73588" y="5507038"/>
          <a:ext cx="401320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5" name="Visio" r:id="rId4" imgW="7949438" imgH="1399827" progId="Visio.Drawing.6">
                  <p:embed/>
                </p:oleObj>
              </mc:Choice>
              <mc:Fallback>
                <p:oleObj name="Visio" r:id="rId4" imgW="7949438" imgH="1399827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5507038"/>
                        <a:ext cx="4013200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559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229600" cy="1371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Intermediate Situation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88392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smtClean="0"/>
              <a:t>After some merging steps, we have some clusters </a:t>
            </a:r>
          </a:p>
          <a:p>
            <a:pPr lvl="1" eaLnBrk="1" hangingPunct="1">
              <a:defRPr/>
            </a:pPr>
            <a:endParaRPr lang="en-US" sz="2400" smtClean="0"/>
          </a:p>
        </p:txBody>
      </p:sp>
      <p:sp>
        <p:nvSpPr>
          <p:cNvPr id="117764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7765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7766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7767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7768" name="Freeform 8"/>
          <p:cNvSpPr>
            <a:spLocks/>
          </p:cNvSpPr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7769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C1</a:t>
            </a:r>
          </a:p>
        </p:txBody>
      </p:sp>
      <p:sp>
        <p:nvSpPr>
          <p:cNvPr id="117770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C4</a:t>
            </a:r>
          </a:p>
        </p:txBody>
      </p:sp>
      <p:sp>
        <p:nvSpPr>
          <p:cNvPr id="117771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C2</a:t>
            </a:r>
          </a:p>
        </p:txBody>
      </p:sp>
      <p:sp>
        <p:nvSpPr>
          <p:cNvPr id="117772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C5</a:t>
            </a:r>
          </a:p>
        </p:txBody>
      </p:sp>
      <p:sp>
        <p:nvSpPr>
          <p:cNvPr id="117773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C3</a:t>
            </a:r>
          </a:p>
        </p:txBody>
      </p:sp>
      <p:grpSp>
        <p:nvGrpSpPr>
          <p:cNvPr id="117774" name="Group 14"/>
          <p:cNvGrpSpPr>
            <a:grpSpLocks/>
          </p:cNvGrpSpPr>
          <p:nvPr/>
        </p:nvGrpSpPr>
        <p:grpSpPr bwMode="auto">
          <a:xfrm>
            <a:off x="5486400" y="1660525"/>
            <a:ext cx="2895600" cy="2212975"/>
            <a:chOff x="3456" y="1440"/>
            <a:chExt cx="1872" cy="1503"/>
          </a:xfrm>
        </p:grpSpPr>
        <p:sp>
          <p:nvSpPr>
            <p:cNvPr id="117777" name="Text Box 1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C2</a:t>
              </a:r>
            </a:p>
          </p:txBody>
        </p:sp>
        <p:sp>
          <p:nvSpPr>
            <p:cNvPr id="117778" name="Text Box 16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C1</a:t>
              </a:r>
            </a:p>
          </p:txBody>
        </p:sp>
        <p:sp>
          <p:nvSpPr>
            <p:cNvPr id="117779" name="Line 17"/>
            <p:cNvSpPr>
              <a:spLocks noChangeShapeType="1"/>
            </p:cNvSpPr>
            <p:nvPr/>
          </p:nvSpPr>
          <p:spPr bwMode="auto">
            <a:xfrm>
              <a:off x="369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0" name="Line 18"/>
            <p:cNvSpPr>
              <a:spLocks noChangeShapeType="1"/>
            </p:cNvSpPr>
            <p:nvPr/>
          </p:nvSpPr>
          <p:spPr bwMode="auto">
            <a:xfrm>
              <a:off x="3504" y="163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1" name="Line 19"/>
            <p:cNvSpPr>
              <a:spLocks noChangeShapeType="1"/>
            </p:cNvSpPr>
            <p:nvPr/>
          </p:nvSpPr>
          <p:spPr bwMode="auto">
            <a:xfrm>
              <a:off x="528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2" name="Line 20"/>
            <p:cNvSpPr>
              <a:spLocks noChangeShapeType="1"/>
            </p:cNvSpPr>
            <p:nvPr/>
          </p:nvSpPr>
          <p:spPr bwMode="auto">
            <a:xfrm>
              <a:off x="3504" y="2928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3" name="Text Box 21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C1</a:t>
              </a:r>
            </a:p>
          </p:txBody>
        </p:sp>
        <p:sp>
          <p:nvSpPr>
            <p:cNvPr id="117784" name="Text Box 22"/>
            <p:cNvSpPr txBox="1">
              <a:spLocks noChangeArrowheads="1"/>
            </p:cNvSpPr>
            <p:nvPr/>
          </p:nvSpPr>
          <p:spPr bwMode="auto">
            <a:xfrm>
              <a:off x="3456" y="2207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C3</a:t>
              </a:r>
            </a:p>
          </p:txBody>
        </p:sp>
        <p:sp>
          <p:nvSpPr>
            <p:cNvPr id="117785" name="Text Box 23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C5</a:t>
              </a:r>
            </a:p>
          </p:txBody>
        </p:sp>
        <p:sp>
          <p:nvSpPr>
            <p:cNvPr id="117786" name="Text Box 24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C4</a:t>
              </a:r>
            </a:p>
          </p:txBody>
        </p:sp>
        <p:sp>
          <p:nvSpPr>
            <p:cNvPr id="117787" name="Text Box 25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C2</a:t>
              </a:r>
            </a:p>
          </p:txBody>
        </p:sp>
        <p:sp>
          <p:nvSpPr>
            <p:cNvPr id="117788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C3</a:t>
              </a:r>
            </a:p>
          </p:txBody>
        </p:sp>
        <p:sp>
          <p:nvSpPr>
            <p:cNvPr id="117789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C4</a:t>
              </a:r>
            </a:p>
          </p:txBody>
        </p:sp>
        <p:sp>
          <p:nvSpPr>
            <p:cNvPr id="117790" name="Text Box 28"/>
            <p:cNvSpPr txBox="1">
              <a:spLocks noChangeArrowheads="1"/>
            </p:cNvSpPr>
            <p:nvPr/>
          </p:nvSpPr>
          <p:spPr bwMode="auto">
            <a:xfrm>
              <a:off x="499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C5</a:t>
              </a:r>
            </a:p>
          </p:txBody>
        </p:sp>
        <p:sp>
          <p:nvSpPr>
            <p:cNvPr id="117791" name="Line 29"/>
            <p:cNvSpPr>
              <a:spLocks noChangeShapeType="1"/>
            </p:cNvSpPr>
            <p:nvPr/>
          </p:nvSpPr>
          <p:spPr bwMode="auto">
            <a:xfrm>
              <a:off x="3504" y="187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2" name="Line 30"/>
            <p:cNvSpPr>
              <a:spLocks noChangeShapeType="1"/>
            </p:cNvSpPr>
            <p:nvPr/>
          </p:nvSpPr>
          <p:spPr bwMode="auto">
            <a:xfrm>
              <a:off x="3504" y="240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3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4" name="Line 32"/>
            <p:cNvSpPr>
              <a:spLocks noChangeShapeType="1"/>
            </p:cNvSpPr>
            <p:nvPr/>
          </p:nvSpPr>
          <p:spPr bwMode="auto">
            <a:xfrm>
              <a:off x="3504" y="264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5" name="Line 33"/>
            <p:cNvSpPr>
              <a:spLocks noChangeShapeType="1"/>
            </p:cNvSpPr>
            <p:nvPr/>
          </p:nvSpPr>
          <p:spPr bwMode="auto">
            <a:xfrm>
              <a:off x="403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6" name="Line 34"/>
            <p:cNvSpPr>
              <a:spLocks noChangeShapeType="1"/>
            </p:cNvSpPr>
            <p:nvPr/>
          </p:nvSpPr>
          <p:spPr bwMode="auto">
            <a:xfrm>
              <a:off x="432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7" name="Line 35"/>
            <p:cNvSpPr>
              <a:spLocks noChangeShapeType="1"/>
            </p:cNvSpPr>
            <p:nvPr/>
          </p:nvSpPr>
          <p:spPr bwMode="auto">
            <a:xfrm>
              <a:off x="465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8" name="Line 36"/>
            <p:cNvSpPr>
              <a:spLocks noChangeShapeType="1"/>
            </p:cNvSpPr>
            <p:nvPr/>
          </p:nvSpPr>
          <p:spPr bwMode="auto">
            <a:xfrm>
              <a:off x="499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7775" name="Text Box 37"/>
          <p:cNvSpPr txBox="1">
            <a:spLocks noChangeArrowheads="1"/>
          </p:cNvSpPr>
          <p:nvPr/>
        </p:nvSpPr>
        <p:spPr bwMode="auto">
          <a:xfrm>
            <a:off x="5791200" y="3870325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graphicFrame>
        <p:nvGraphicFramePr>
          <p:cNvPr id="117776" name="Object 3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721225"/>
          <a:ext cx="4040188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Visio" r:id="rId4" imgW="7591349" imgH="2996548" progId="Visio.Drawing.6">
                  <p:embed/>
                </p:oleObj>
              </mc:Choice>
              <mc:Fallback>
                <p:oleObj name="Visio" r:id="rId4" imgW="7591349" imgH="299654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21225"/>
                        <a:ext cx="4040188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578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Intermediate Situation</a:t>
            </a:r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smtClean="0"/>
              <a:t>We want to merge the two closest clusters (C2 and C5)  and update the proximity matrix. </a:t>
            </a:r>
          </a:p>
          <a:p>
            <a:pPr lvl="1" eaLnBrk="1" hangingPunct="1">
              <a:defRPr/>
            </a:pPr>
            <a:endParaRPr lang="en-US" sz="2400" smtClean="0"/>
          </a:p>
        </p:txBody>
      </p:sp>
      <p:sp>
        <p:nvSpPr>
          <p:cNvPr id="119812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13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14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15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16" name="Freeform 8"/>
          <p:cNvSpPr>
            <a:spLocks/>
          </p:cNvSpPr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17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C1</a:t>
            </a:r>
          </a:p>
        </p:txBody>
      </p:sp>
      <p:sp>
        <p:nvSpPr>
          <p:cNvPr id="119818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C4</a:t>
            </a:r>
          </a:p>
        </p:txBody>
      </p:sp>
      <p:sp>
        <p:nvSpPr>
          <p:cNvPr id="119819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C2</a:t>
            </a:r>
          </a:p>
        </p:txBody>
      </p:sp>
      <p:sp>
        <p:nvSpPr>
          <p:cNvPr id="119820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C5</a:t>
            </a:r>
          </a:p>
        </p:txBody>
      </p:sp>
      <p:sp>
        <p:nvSpPr>
          <p:cNvPr id="119821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C3</a:t>
            </a:r>
          </a:p>
        </p:txBody>
      </p:sp>
      <p:grpSp>
        <p:nvGrpSpPr>
          <p:cNvPr id="119822" name="Group 14"/>
          <p:cNvGrpSpPr>
            <a:grpSpLocks/>
          </p:cNvGrpSpPr>
          <p:nvPr/>
        </p:nvGrpSpPr>
        <p:grpSpPr bwMode="auto">
          <a:xfrm>
            <a:off x="5486400" y="1828800"/>
            <a:ext cx="2971800" cy="2193925"/>
            <a:chOff x="3456" y="1094"/>
            <a:chExt cx="1920" cy="1503"/>
          </a:xfrm>
        </p:grpSpPr>
        <p:sp>
          <p:nvSpPr>
            <p:cNvPr id="119826" name="Text Box 15"/>
            <p:cNvSpPr txBox="1">
              <a:spLocks noChangeArrowheads="1"/>
            </p:cNvSpPr>
            <p:nvPr/>
          </p:nvSpPr>
          <p:spPr bwMode="auto">
            <a:xfrm>
              <a:off x="403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C2</a:t>
              </a:r>
            </a:p>
          </p:txBody>
        </p:sp>
        <p:sp>
          <p:nvSpPr>
            <p:cNvPr id="119827" name="Text Box 16"/>
            <p:cNvSpPr txBox="1">
              <a:spLocks noChangeArrowheads="1"/>
            </p:cNvSpPr>
            <p:nvPr/>
          </p:nvSpPr>
          <p:spPr bwMode="auto">
            <a:xfrm>
              <a:off x="374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C1</a:t>
              </a:r>
            </a:p>
          </p:txBody>
        </p:sp>
        <p:sp>
          <p:nvSpPr>
            <p:cNvPr id="119828" name="Line 17"/>
            <p:cNvSpPr>
              <a:spLocks noChangeShapeType="1"/>
            </p:cNvSpPr>
            <p:nvPr/>
          </p:nvSpPr>
          <p:spPr bwMode="auto">
            <a:xfrm>
              <a:off x="369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9" name="Line 18"/>
            <p:cNvSpPr>
              <a:spLocks noChangeShapeType="1"/>
            </p:cNvSpPr>
            <p:nvPr/>
          </p:nvSpPr>
          <p:spPr bwMode="auto">
            <a:xfrm>
              <a:off x="3504" y="128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30" name="Line 19"/>
            <p:cNvSpPr>
              <a:spLocks noChangeShapeType="1"/>
            </p:cNvSpPr>
            <p:nvPr/>
          </p:nvSpPr>
          <p:spPr bwMode="auto">
            <a:xfrm>
              <a:off x="528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31" name="Line 20"/>
            <p:cNvSpPr>
              <a:spLocks noChangeShapeType="1"/>
            </p:cNvSpPr>
            <p:nvPr/>
          </p:nvSpPr>
          <p:spPr bwMode="auto">
            <a:xfrm>
              <a:off x="3504" y="258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32" name="Text Box 21"/>
            <p:cNvSpPr txBox="1">
              <a:spLocks noChangeArrowheads="1"/>
            </p:cNvSpPr>
            <p:nvPr/>
          </p:nvSpPr>
          <p:spPr bwMode="auto">
            <a:xfrm>
              <a:off x="3456" y="133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C1</a:t>
              </a:r>
            </a:p>
          </p:txBody>
        </p:sp>
        <p:sp>
          <p:nvSpPr>
            <p:cNvPr id="119833" name="Text Box 22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C3</a:t>
              </a:r>
            </a:p>
          </p:txBody>
        </p:sp>
        <p:sp>
          <p:nvSpPr>
            <p:cNvPr id="119834" name="Text Box 23"/>
            <p:cNvSpPr txBox="1">
              <a:spLocks noChangeArrowheads="1"/>
            </p:cNvSpPr>
            <p:nvPr/>
          </p:nvSpPr>
          <p:spPr bwMode="auto">
            <a:xfrm>
              <a:off x="3456" y="2389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C5</a:t>
              </a:r>
            </a:p>
          </p:txBody>
        </p:sp>
        <p:sp>
          <p:nvSpPr>
            <p:cNvPr id="119835" name="Text Box 24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C4</a:t>
              </a:r>
            </a:p>
          </p:txBody>
        </p:sp>
        <p:sp>
          <p:nvSpPr>
            <p:cNvPr id="119836" name="Text Box 25"/>
            <p:cNvSpPr txBox="1">
              <a:spLocks noChangeArrowheads="1"/>
            </p:cNvSpPr>
            <p:nvPr/>
          </p:nvSpPr>
          <p:spPr bwMode="auto">
            <a:xfrm>
              <a:off x="3456" y="162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C2</a:t>
              </a:r>
            </a:p>
          </p:txBody>
        </p:sp>
        <p:sp>
          <p:nvSpPr>
            <p:cNvPr id="119837" name="Text Box 26"/>
            <p:cNvSpPr txBox="1">
              <a:spLocks noChangeArrowheads="1"/>
            </p:cNvSpPr>
            <p:nvPr/>
          </p:nvSpPr>
          <p:spPr bwMode="auto">
            <a:xfrm>
              <a:off x="4368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C3</a:t>
              </a:r>
            </a:p>
          </p:txBody>
        </p:sp>
        <p:sp>
          <p:nvSpPr>
            <p:cNvPr id="119838" name="Text Box 27"/>
            <p:cNvSpPr txBox="1">
              <a:spLocks noChangeArrowheads="1"/>
            </p:cNvSpPr>
            <p:nvPr/>
          </p:nvSpPr>
          <p:spPr bwMode="auto">
            <a:xfrm>
              <a:off x="470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C4</a:t>
              </a:r>
            </a:p>
          </p:txBody>
        </p:sp>
        <p:sp>
          <p:nvSpPr>
            <p:cNvPr id="119839" name="Text Box 28"/>
            <p:cNvSpPr txBox="1">
              <a:spLocks noChangeArrowheads="1"/>
            </p:cNvSpPr>
            <p:nvPr/>
          </p:nvSpPr>
          <p:spPr bwMode="auto">
            <a:xfrm>
              <a:off x="499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C5</a:t>
              </a:r>
            </a:p>
          </p:txBody>
        </p:sp>
        <p:sp>
          <p:nvSpPr>
            <p:cNvPr id="119840" name="Line 29"/>
            <p:cNvSpPr>
              <a:spLocks noChangeShapeType="1"/>
            </p:cNvSpPr>
            <p:nvPr/>
          </p:nvSpPr>
          <p:spPr bwMode="auto">
            <a:xfrm>
              <a:off x="3504" y="1526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1" name="Line 30"/>
            <p:cNvSpPr>
              <a:spLocks noChangeShapeType="1"/>
            </p:cNvSpPr>
            <p:nvPr/>
          </p:nvSpPr>
          <p:spPr bwMode="auto">
            <a:xfrm>
              <a:off x="3504" y="205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2" name="Line 31"/>
            <p:cNvSpPr>
              <a:spLocks noChangeShapeType="1"/>
            </p:cNvSpPr>
            <p:nvPr/>
          </p:nvSpPr>
          <p:spPr bwMode="auto">
            <a:xfrm>
              <a:off x="3504" y="181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3" name="Line 32"/>
            <p:cNvSpPr>
              <a:spLocks noChangeShapeType="1"/>
            </p:cNvSpPr>
            <p:nvPr/>
          </p:nvSpPr>
          <p:spPr bwMode="auto">
            <a:xfrm>
              <a:off x="3504" y="229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4" name="Line 33"/>
            <p:cNvSpPr>
              <a:spLocks noChangeShapeType="1"/>
            </p:cNvSpPr>
            <p:nvPr/>
          </p:nvSpPr>
          <p:spPr bwMode="auto">
            <a:xfrm>
              <a:off x="403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5" name="Line 34"/>
            <p:cNvSpPr>
              <a:spLocks noChangeShapeType="1"/>
            </p:cNvSpPr>
            <p:nvPr/>
          </p:nvSpPr>
          <p:spPr bwMode="auto">
            <a:xfrm>
              <a:off x="432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6" name="Line 35"/>
            <p:cNvSpPr>
              <a:spLocks noChangeShapeType="1"/>
            </p:cNvSpPr>
            <p:nvPr/>
          </p:nvSpPr>
          <p:spPr bwMode="auto">
            <a:xfrm>
              <a:off x="465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7" name="Line 36"/>
            <p:cNvSpPr>
              <a:spLocks noChangeShapeType="1"/>
            </p:cNvSpPr>
            <p:nvPr/>
          </p:nvSpPr>
          <p:spPr bwMode="auto">
            <a:xfrm>
              <a:off x="499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8" name="Rectangle 37" descr="Wide downward diagonal"/>
            <p:cNvSpPr>
              <a:spLocks noChangeArrowheads="1"/>
            </p:cNvSpPr>
            <p:nvPr/>
          </p:nvSpPr>
          <p:spPr bwMode="auto">
            <a:xfrm>
              <a:off x="3696" y="1526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9849" name="Rectangle 38" descr="Wide downward diagonal"/>
            <p:cNvSpPr>
              <a:spLocks noChangeArrowheads="1"/>
            </p:cNvSpPr>
            <p:nvPr/>
          </p:nvSpPr>
          <p:spPr bwMode="auto">
            <a:xfrm>
              <a:off x="3696" y="2294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9850" name="Rectangle 39" descr="Wide downward diagonal"/>
            <p:cNvSpPr>
              <a:spLocks noChangeArrowheads="1"/>
            </p:cNvSpPr>
            <p:nvPr/>
          </p:nvSpPr>
          <p:spPr bwMode="auto">
            <a:xfrm rot="5400000">
              <a:off x="3521" y="1783"/>
              <a:ext cx="1298" cy="299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9851" name="Rectangle 40" descr="Wide downward diagonal"/>
            <p:cNvSpPr>
              <a:spLocks noChangeArrowheads="1"/>
            </p:cNvSpPr>
            <p:nvPr/>
          </p:nvSpPr>
          <p:spPr bwMode="auto">
            <a:xfrm rot="5400000">
              <a:off x="4477" y="1778"/>
              <a:ext cx="1297" cy="311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19823" name="Oval 41"/>
          <p:cNvSpPr>
            <a:spLocks noChangeArrowheads="1"/>
          </p:cNvSpPr>
          <p:nvPr/>
        </p:nvSpPr>
        <p:spPr bwMode="auto">
          <a:xfrm>
            <a:off x="990600" y="4648200"/>
            <a:ext cx="2514600" cy="1295400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9824" name="Text Box 42"/>
          <p:cNvSpPr txBox="1">
            <a:spLocks noChangeArrowheads="1"/>
          </p:cNvSpPr>
          <p:nvPr/>
        </p:nvSpPr>
        <p:spPr bwMode="auto">
          <a:xfrm>
            <a:off x="5791200" y="40386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graphicFrame>
        <p:nvGraphicFramePr>
          <p:cNvPr id="119825" name="Object 4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800600"/>
          <a:ext cx="40830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3" name="Visio" r:id="rId4" imgW="7591349" imgH="3431733" progId="Visio.Drawing.6">
                  <p:embed/>
                </p:oleObj>
              </mc:Choice>
              <mc:Fallback>
                <p:oleObj name="Visio" r:id="rId4" imgW="7591349" imgH="343173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800600"/>
                        <a:ext cx="408305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391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After Merging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9154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smtClean="0"/>
              <a:t>The question is “How do we update the proximity matrix?” </a:t>
            </a:r>
          </a:p>
          <a:p>
            <a:pPr lvl="1" eaLnBrk="1" hangingPunct="1">
              <a:defRPr/>
            </a:pPr>
            <a:endParaRPr lang="en-US" sz="2400" smtClean="0"/>
          </a:p>
        </p:txBody>
      </p:sp>
      <p:sp>
        <p:nvSpPr>
          <p:cNvPr id="121860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61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62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63" name="Freeform 7"/>
          <p:cNvSpPr>
            <a:spLocks/>
          </p:cNvSpPr>
          <p:nvPr/>
        </p:nvSpPr>
        <p:spPr bwMode="auto">
          <a:xfrm>
            <a:off x="1295400" y="4953000"/>
            <a:ext cx="23622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64" name="Text Box 8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C1</a:t>
            </a:r>
          </a:p>
        </p:txBody>
      </p:sp>
      <p:sp>
        <p:nvSpPr>
          <p:cNvPr id="121865" name="Text Box 9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C4</a:t>
            </a:r>
          </a:p>
        </p:txBody>
      </p:sp>
      <p:sp>
        <p:nvSpPr>
          <p:cNvPr id="121866" name="Text Box 10"/>
          <p:cNvSpPr txBox="1">
            <a:spLocks noChangeArrowheads="1"/>
          </p:cNvSpPr>
          <p:nvPr/>
        </p:nvSpPr>
        <p:spPr bwMode="auto">
          <a:xfrm>
            <a:off x="1905000" y="51816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C2 </a:t>
            </a:r>
            <a:r>
              <a:rPr lang="en-US" altLang="en-US" sz="1400">
                <a:latin typeface="Arial" panose="020B0604020202020204" pitchFamily="34" charset="0"/>
              </a:rPr>
              <a:t>U</a:t>
            </a:r>
            <a:r>
              <a:rPr lang="en-US" altLang="en-US" sz="1400" b="1">
                <a:latin typeface="Arial" panose="020B0604020202020204" pitchFamily="34" charset="0"/>
              </a:rPr>
              <a:t> C5</a:t>
            </a:r>
          </a:p>
        </p:txBody>
      </p:sp>
      <p:sp>
        <p:nvSpPr>
          <p:cNvPr id="121867" name="Text Box 11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C3</a:t>
            </a:r>
          </a:p>
        </p:txBody>
      </p:sp>
      <p:sp>
        <p:nvSpPr>
          <p:cNvPr id="121868" name="Text Box 12"/>
          <p:cNvSpPr txBox="1">
            <a:spLocks noChangeArrowheads="1"/>
          </p:cNvSpPr>
          <p:nvPr/>
        </p:nvSpPr>
        <p:spPr bwMode="auto">
          <a:xfrm>
            <a:off x="6172200" y="274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?        ?        ?        ?    	   </a:t>
            </a:r>
          </a:p>
        </p:txBody>
      </p:sp>
      <p:sp>
        <p:nvSpPr>
          <p:cNvPr id="121869" name="Text Box 13"/>
          <p:cNvSpPr txBox="1">
            <a:spLocks noChangeArrowheads="1"/>
          </p:cNvSpPr>
          <p:nvPr/>
        </p:nvSpPr>
        <p:spPr bwMode="auto">
          <a:xfrm>
            <a:off x="6651625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auto">
          <a:xfrm>
            <a:off x="6651625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121871" name="Text Box 15"/>
          <p:cNvSpPr txBox="1">
            <a:spLocks noChangeArrowheads="1"/>
          </p:cNvSpPr>
          <p:nvPr/>
        </p:nvSpPr>
        <p:spPr bwMode="auto">
          <a:xfrm>
            <a:off x="6651625" y="3581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121872" name="Text Box 16"/>
          <p:cNvSpPr txBox="1">
            <a:spLocks noChangeArrowheads="1"/>
          </p:cNvSpPr>
          <p:nvPr/>
        </p:nvSpPr>
        <p:spPr bwMode="auto">
          <a:xfrm>
            <a:off x="6629400" y="1555750"/>
            <a:ext cx="5334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C2 </a:t>
            </a:r>
            <a:r>
              <a:rPr lang="en-US" altLang="en-US" sz="1400">
                <a:latin typeface="Arial" panose="020B0604020202020204" pitchFamily="34" charset="0"/>
              </a:rPr>
              <a:t>U </a:t>
            </a:r>
            <a:r>
              <a:rPr lang="en-US" altLang="en-US" sz="1400" b="1">
                <a:latin typeface="Arial" panose="020B0604020202020204" pitchFamily="34" charset="0"/>
              </a:rPr>
              <a:t>C5</a:t>
            </a:r>
          </a:p>
        </p:txBody>
      </p:sp>
      <p:sp>
        <p:nvSpPr>
          <p:cNvPr id="121873" name="Text Box 17"/>
          <p:cNvSpPr txBox="1">
            <a:spLocks noChangeArrowheads="1"/>
          </p:cNvSpPr>
          <p:nvPr/>
        </p:nvSpPr>
        <p:spPr bwMode="auto">
          <a:xfrm>
            <a:off x="6096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C1</a:t>
            </a:r>
          </a:p>
        </p:txBody>
      </p:sp>
      <p:sp>
        <p:nvSpPr>
          <p:cNvPr id="121874" name="Line 18"/>
          <p:cNvSpPr>
            <a:spLocks noChangeShapeType="1"/>
          </p:cNvSpPr>
          <p:nvPr/>
        </p:nvSpPr>
        <p:spPr bwMode="auto">
          <a:xfrm>
            <a:off x="6019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75" name="Line 19"/>
          <p:cNvSpPr>
            <a:spLocks noChangeShapeType="1"/>
          </p:cNvSpPr>
          <p:nvPr/>
        </p:nvSpPr>
        <p:spPr bwMode="auto">
          <a:xfrm>
            <a:off x="5715000" y="2286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76" name="Text Box 20"/>
          <p:cNvSpPr txBox="1">
            <a:spLocks noChangeArrowheads="1"/>
          </p:cNvSpPr>
          <p:nvPr/>
        </p:nvSpPr>
        <p:spPr bwMode="auto">
          <a:xfrm>
            <a:off x="5638800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C1</a:t>
            </a:r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5638800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C3</a:t>
            </a:r>
          </a:p>
        </p:txBody>
      </p:sp>
      <p:sp>
        <p:nvSpPr>
          <p:cNvPr id="121878" name="Text Box 22"/>
          <p:cNvSpPr txBox="1">
            <a:spLocks noChangeArrowheads="1"/>
          </p:cNvSpPr>
          <p:nvPr/>
        </p:nvSpPr>
        <p:spPr bwMode="auto">
          <a:xfrm>
            <a:off x="5638800" y="36576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C4</a:t>
            </a:r>
          </a:p>
        </p:txBody>
      </p:sp>
      <p:sp>
        <p:nvSpPr>
          <p:cNvPr id="121879" name="Text Box 23"/>
          <p:cNvSpPr txBox="1">
            <a:spLocks noChangeArrowheads="1"/>
          </p:cNvSpPr>
          <p:nvPr/>
        </p:nvSpPr>
        <p:spPr bwMode="auto">
          <a:xfrm>
            <a:off x="5181600" y="28194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C2 </a:t>
            </a:r>
            <a:r>
              <a:rPr lang="en-US" altLang="en-US" sz="1400">
                <a:latin typeface="Arial" panose="020B0604020202020204" pitchFamily="34" charset="0"/>
              </a:rPr>
              <a:t>U </a:t>
            </a:r>
            <a:r>
              <a:rPr lang="en-US" altLang="en-US" sz="1400" b="1">
                <a:latin typeface="Arial" panose="020B0604020202020204" pitchFamily="34" charset="0"/>
              </a:rPr>
              <a:t>C5</a:t>
            </a:r>
          </a:p>
        </p:txBody>
      </p:sp>
      <p:sp>
        <p:nvSpPr>
          <p:cNvPr id="121880" name="Text Box 24"/>
          <p:cNvSpPr txBox="1">
            <a:spLocks noChangeArrowheads="1"/>
          </p:cNvSpPr>
          <p:nvPr/>
        </p:nvSpPr>
        <p:spPr bwMode="auto">
          <a:xfrm>
            <a:off x="70866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C3</a:t>
            </a:r>
          </a:p>
        </p:txBody>
      </p:sp>
      <p:sp>
        <p:nvSpPr>
          <p:cNvPr id="121881" name="Text Box 25"/>
          <p:cNvSpPr txBox="1">
            <a:spLocks noChangeArrowheads="1"/>
          </p:cNvSpPr>
          <p:nvPr/>
        </p:nvSpPr>
        <p:spPr bwMode="auto">
          <a:xfrm>
            <a:off x="7620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C4</a:t>
            </a:r>
          </a:p>
        </p:txBody>
      </p:sp>
      <p:sp>
        <p:nvSpPr>
          <p:cNvPr id="121882" name="Line 26"/>
          <p:cNvSpPr>
            <a:spLocks noChangeShapeType="1"/>
          </p:cNvSpPr>
          <p:nvPr/>
        </p:nvSpPr>
        <p:spPr bwMode="auto">
          <a:xfrm>
            <a:off x="5715000" y="2667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3" name="Line 27"/>
          <p:cNvSpPr>
            <a:spLocks noChangeShapeType="1"/>
          </p:cNvSpPr>
          <p:nvPr/>
        </p:nvSpPr>
        <p:spPr bwMode="auto">
          <a:xfrm>
            <a:off x="5715000" y="3505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4" name="Line 28"/>
          <p:cNvSpPr>
            <a:spLocks noChangeShapeType="1"/>
          </p:cNvSpPr>
          <p:nvPr/>
        </p:nvSpPr>
        <p:spPr bwMode="auto">
          <a:xfrm>
            <a:off x="5715000" y="3124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5" name="Line 29"/>
          <p:cNvSpPr>
            <a:spLocks noChangeShapeType="1"/>
          </p:cNvSpPr>
          <p:nvPr/>
        </p:nvSpPr>
        <p:spPr bwMode="auto">
          <a:xfrm>
            <a:off x="5715000" y="3886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6" name="Line 30"/>
          <p:cNvSpPr>
            <a:spLocks noChangeShapeType="1"/>
          </p:cNvSpPr>
          <p:nvPr/>
        </p:nvSpPr>
        <p:spPr bwMode="auto">
          <a:xfrm>
            <a:off x="6553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7" name="Line 31"/>
          <p:cNvSpPr>
            <a:spLocks noChangeShapeType="1"/>
          </p:cNvSpPr>
          <p:nvPr/>
        </p:nvSpPr>
        <p:spPr bwMode="auto">
          <a:xfrm>
            <a:off x="70104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8" name="Line 32"/>
          <p:cNvSpPr>
            <a:spLocks noChangeShapeType="1"/>
          </p:cNvSpPr>
          <p:nvPr/>
        </p:nvSpPr>
        <p:spPr bwMode="auto">
          <a:xfrm>
            <a:off x="7543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9" name="Line 33"/>
          <p:cNvSpPr>
            <a:spLocks noChangeShapeType="1"/>
          </p:cNvSpPr>
          <p:nvPr/>
        </p:nvSpPr>
        <p:spPr bwMode="auto">
          <a:xfrm>
            <a:off x="8077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90" name="Text Box 34"/>
          <p:cNvSpPr txBox="1">
            <a:spLocks noChangeArrowheads="1"/>
          </p:cNvSpPr>
          <p:nvPr/>
        </p:nvSpPr>
        <p:spPr bwMode="auto">
          <a:xfrm>
            <a:off x="5791200" y="3962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graphicFrame>
        <p:nvGraphicFramePr>
          <p:cNvPr id="121891" name="Object 3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435475"/>
          <a:ext cx="4083050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Visio" r:id="rId4" imgW="7591349" imgH="3654718" progId="Visio.Drawing.6">
                  <p:embed/>
                </p:oleObj>
              </mc:Choice>
              <mc:Fallback>
                <p:oleObj name="Visio" r:id="rId4" imgW="7591349" imgH="365471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435475"/>
                        <a:ext cx="4083050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054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How to Define Inter-Cluster Similarity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651125"/>
            <a:ext cx="4749800" cy="2889250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</p:txBody>
      </p:sp>
      <p:grpSp>
        <p:nvGrpSpPr>
          <p:cNvPr id="123908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123923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4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5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6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7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8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9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0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1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2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3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4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5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3936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3937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3938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3939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3940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3941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3942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3943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3944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3945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23946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23909" name="Line 29"/>
          <p:cNvSpPr>
            <a:spLocks noChangeShapeType="1"/>
          </p:cNvSpPr>
          <p:nvPr/>
        </p:nvSpPr>
        <p:spPr bwMode="auto">
          <a:xfrm>
            <a:off x="2209800" y="20574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0" name="Text Box 30"/>
          <p:cNvSpPr txBox="1">
            <a:spLocks noChangeArrowheads="1"/>
          </p:cNvSpPr>
          <p:nvPr/>
        </p:nvSpPr>
        <p:spPr bwMode="auto">
          <a:xfrm>
            <a:off x="2209800" y="160020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Similarity?</a:t>
            </a:r>
          </a:p>
        </p:txBody>
      </p:sp>
      <p:sp>
        <p:nvSpPr>
          <p:cNvPr id="478239" name="Rectangle 3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MAX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Group Average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Distance Between Centroids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Other methods driven by an objective function</a:t>
            </a:r>
          </a:p>
          <a:p>
            <a:pPr marL="742950" lvl="1" indent="-285750" eaLnBrk="1" hangingPunct="1">
              <a:spcBef>
                <a:spcPts val="200"/>
              </a:spcBef>
              <a:spcAft>
                <a:spcPts val="200"/>
              </a:spcAft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Ward’s Method uses squared error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3912" name="Freeform 32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3" name="Oval 33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14" name="Oval 34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15" name="Oval 35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16" name="Oval 36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17" name="Freeform 37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8" name="Oval 38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19" name="Oval 39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20" name="Oval 40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21" name="Oval 41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22" name="Text Box 42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425740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How to Define Inter-Cluster Similarity</a:t>
            </a:r>
          </a:p>
        </p:txBody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651125"/>
            <a:ext cx="4749800" cy="2889250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</p:txBody>
      </p:sp>
      <p:grpSp>
        <p:nvGrpSpPr>
          <p:cNvPr id="125956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125970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1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2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3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4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5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6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7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8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9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80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81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82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5983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5984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5985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5986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5987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5988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5989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5990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5991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5992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25993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25957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8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59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0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1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2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3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4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5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6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7" name="Line 39"/>
          <p:cNvSpPr>
            <a:spLocks noChangeShapeType="1"/>
          </p:cNvSpPr>
          <p:nvPr/>
        </p:nvSpPr>
        <p:spPr bwMode="auto">
          <a:xfrm flipV="1">
            <a:off x="1981200" y="1600200"/>
            <a:ext cx="1524000" cy="152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8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sp>
        <p:nvSpPr>
          <p:cNvPr id="480297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MAX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Group Average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Distance Between Centroids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Other methods driven by an objective function</a:t>
            </a:r>
          </a:p>
          <a:p>
            <a:pPr marL="742950" lvl="1" indent="-285750" eaLnBrk="1" hangingPunct="1">
              <a:spcBef>
                <a:spcPts val="200"/>
              </a:spcBef>
              <a:spcAft>
                <a:spcPts val="200"/>
              </a:spcAft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Ward’s Method uses squared error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824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How to Define Inter-Cluster Similarity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651125"/>
            <a:ext cx="4749800" cy="2889250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</p:txBody>
      </p:sp>
      <p:grpSp>
        <p:nvGrpSpPr>
          <p:cNvPr id="128004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128018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19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0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1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2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3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4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5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6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7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8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9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30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8031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8032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8033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8034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8035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8036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8037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8038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8039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8040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28041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28005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6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07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08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09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10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1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12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13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14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15" name="Line 39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6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sp>
        <p:nvSpPr>
          <p:cNvPr id="482345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MAX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Group Average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Distance Between Centroids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Other methods driven by an objective function</a:t>
            </a:r>
          </a:p>
          <a:p>
            <a:pPr marL="742950" lvl="1" indent="-285750" eaLnBrk="1" hangingPunct="1">
              <a:spcBef>
                <a:spcPts val="200"/>
              </a:spcBef>
              <a:spcAft>
                <a:spcPts val="200"/>
              </a:spcAft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Ward’s Method uses squared error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141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How to Define Inter-Cluster Similarity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651125"/>
            <a:ext cx="4749800" cy="2889250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</p:txBody>
      </p:sp>
      <p:grpSp>
        <p:nvGrpSpPr>
          <p:cNvPr id="130052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130081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2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3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4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5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6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7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8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9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0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1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2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3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30094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30095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30096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30097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30098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30099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30100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30101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30102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30103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30104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30053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4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55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56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57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58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9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60" name="Oval 36"/>
          <p:cNvSpPr>
            <a:spLocks noChangeArrowheads="1"/>
          </p:cNvSpPr>
          <p:nvPr/>
        </p:nvSpPr>
        <p:spPr bwMode="auto">
          <a:xfrm rot="5400000" flipV="1">
            <a:off x="3516313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61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62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63" name="Line 39"/>
          <p:cNvSpPr>
            <a:spLocks noChangeShapeType="1"/>
          </p:cNvSpPr>
          <p:nvPr/>
        </p:nvSpPr>
        <p:spPr bwMode="auto">
          <a:xfrm>
            <a:off x="1828800" y="2209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4" name="Line 40"/>
          <p:cNvSpPr>
            <a:spLocks noChangeShapeType="1"/>
          </p:cNvSpPr>
          <p:nvPr/>
        </p:nvSpPr>
        <p:spPr bwMode="auto">
          <a:xfrm flipV="1">
            <a:off x="1828800" y="1676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5" name="Line 41"/>
          <p:cNvSpPr>
            <a:spLocks noChangeShapeType="1"/>
          </p:cNvSpPr>
          <p:nvPr/>
        </p:nvSpPr>
        <p:spPr bwMode="auto">
          <a:xfrm flipV="1">
            <a:off x="1828800" y="1295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6" name="Line 42"/>
          <p:cNvSpPr>
            <a:spLocks noChangeShapeType="1"/>
          </p:cNvSpPr>
          <p:nvPr/>
        </p:nvSpPr>
        <p:spPr bwMode="auto">
          <a:xfrm flipV="1">
            <a:off x="1828800" y="1676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7" name="Line 43"/>
          <p:cNvSpPr>
            <a:spLocks noChangeShapeType="1"/>
          </p:cNvSpPr>
          <p:nvPr/>
        </p:nvSpPr>
        <p:spPr bwMode="auto">
          <a:xfrm>
            <a:off x="1981200" y="1828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8" name="Line 44"/>
          <p:cNvSpPr>
            <a:spLocks noChangeShapeType="1"/>
          </p:cNvSpPr>
          <p:nvPr/>
        </p:nvSpPr>
        <p:spPr bwMode="auto">
          <a:xfrm flipV="1">
            <a:off x="1981200" y="1676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9" name="Line 45"/>
          <p:cNvSpPr>
            <a:spLocks noChangeShapeType="1"/>
          </p:cNvSpPr>
          <p:nvPr/>
        </p:nvSpPr>
        <p:spPr bwMode="auto">
          <a:xfrm flipV="1">
            <a:off x="1981200" y="1295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0" name="Line 46"/>
          <p:cNvSpPr>
            <a:spLocks noChangeShapeType="1"/>
          </p:cNvSpPr>
          <p:nvPr/>
        </p:nvSpPr>
        <p:spPr bwMode="auto">
          <a:xfrm flipV="1">
            <a:off x="1981200" y="1676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1" name="Line 47"/>
          <p:cNvSpPr>
            <a:spLocks noChangeShapeType="1"/>
          </p:cNvSpPr>
          <p:nvPr/>
        </p:nvSpPr>
        <p:spPr bwMode="auto">
          <a:xfrm>
            <a:off x="914400" y="1905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2" name="Line 48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3" name="Line 49"/>
          <p:cNvSpPr>
            <a:spLocks noChangeShapeType="1"/>
          </p:cNvSpPr>
          <p:nvPr/>
        </p:nvSpPr>
        <p:spPr bwMode="auto">
          <a:xfrm flipV="1">
            <a:off x="914400" y="1295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4" name="Line 50"/>
          <p:cNvSpPr>
            <a:spLocks noChangeShapeType="1"/>
          </p:cNvSpPr>
          <p:nvPr/>
        </p:nvSpPr>
        <p:spPr bwMode="auto">
          <a:xfrm flipV="1">
            <a:off x="914400" y="1676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5" name="Line 51"/>
          <p:cNvSpPr>
            <a:spLocks noChangeShapeType="1"/>
          </p:cNvSpPr>
          <p:nvPr/>
        </p:nvSpPr>
        <p:spPr bwMode="auto">
          <a:xfrm>
            <a:off x="1752600" y="1447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6" name="Line 52"/>
          <p:cNvSpPr>
            <a:spLocks noChangeShapeType="1"/>
          </p:cNvSpPr>
          <p:nvPr/>
        </p:nvSpPr>
        <p:spPr bwMode="auto">
          <a:xfrm>
            <a:off x="1752600" y="1447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7" name="Line 53"/>
          <p:cNvSpPr>
            <a:spLocks noChangeShapeType="1"/>
          </p:cNvSpPr>
          <p:nvPr/>
        </p:nvSpPr>
        <p:spPr bwMode="auto">
          <a:xfrm flipV="1">
            <a:off x="1752600" y="1295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8" name="Line 54"/>
          <p:cNvSpPr>
            <a:spLocks noChangeShapeType="1"/>
          </p:cNvSpPr>
          <p:nvPr/>
        </p:nvSpPr>
        <p:spPr bwMode="auto">
          <a:xfrm>
            <a:off x="1752600" y="1447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9" name="Text Box 55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sp>
        <p:nvSpPr>
          <p:cNvPr id="484408" name="Rectangle 56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MAX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Group Average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Distance Between Centroids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Other methods driven by an objective function</a:t>
            </a:r>
          </a:p>
          <a:p>
            <a:pPr marL="742950" lvl="1" indent="-285750" eaLnBrk="1" hangingPunct="1">
              <a:spcBef>
                <a:spcPts val="200"/>
              </a:spcBef>
              <a:spcAft>
                <a:spcPts val="200"/>
              </a:spcAft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Ward’s Method uses squared error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705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Line 2"/>
          <p:cNvSpPr>
            <a:spLocks noChangeShapeType="1"/>
          </p:cNvSpPr>
          <p:nvPr/>
        </p:nvSpPr>
        <p:spPr bwMode="auto">
          <a:xfrm flipV="1">
            <a:off x="1371600" y="1981200"/>
            <a:ext cx="289560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099" name="Freeform 3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640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How to Define Inter-Cluster Similarity</a:t>
            </a:r>
          </a:p>
        </p:txBody>
      </p:sp>
      <p:sp>
        <p:nvSpPr>
          <p:cNvPr id="4864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2625" y="2651125"/>
            <a:ext cx="4749800" cy="2889250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</p:txBody>
      </p:sp>
      <p:grpSp>
        <p:nvGrpSpPr>
          <p:cNvPr id="132102" name="Group 6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132116" name="Line 7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17" name="Line 8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18" name="Line 9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19" name="Line 10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0" name="Line 11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1" name="Line 12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2" name="Line 13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3" name="Line 14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4" name="Line 15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5" name="Line 16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6" name="Line 17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7" name="Line 18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8" name="Text Box 19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32129" name="Text Box 20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32130" name="Text Box 21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32131" name="Text Box 22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32132" name="Text Box 23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32133" name="Text Box 24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32134" name="Text Box 2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32135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32136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32137" name="Text Box 28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32138" name="Text Box 29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32139" name="Text Box 30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32103" name="Oval 31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04" name="Oval 32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05" name="Oval 33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06" name="Oval 34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07" name="Freeform 35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8" name="Oval 36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09" name="Oval 37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10" name="Oval 38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11" name="Oval 39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12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sp>
        <p:nvSpPr>
          <p:cNvPr id="486441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MAX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Group Average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Distance Between Centroids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Other methods driven by an objective function</a:t>
            </a:r>
          </a:p>
          <a:p>
            <a:pPr marL="742950" lvl="1" indent="-285750" eaLnBrk="1" hangingPunct="1">
              <a:spcBef>
                <a:spcPts val="200"/>
              </a:spcBef>
              <a:spcAft>
                <a:spcPts val="200"/>
              </a:spcAft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Ward’s Method uses squared error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2114" name="Text Box 42"/>
          <p:cNvSpPr txBox="1">
            <a:spLocks noChangeArrowheads="1"/>
          </p:cNvSpPr>
          <p:nvPr/>
        </p:nvSpPr>
        <p:spPr bwMode="auto">
          <a:xfrm>
            <a:off x="12192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132115" name="Text Box 43"/>
          <p:cNvSpPr txBox="1">
            <a:spLocks noChangeArrowheads="1"/>
          </p:cNvSpPr>
          <p:nvPr/>
        </p:nvSpPr>
        <p:spPr bwMode="auto">
          <a:xfrm>
            <a:off x="41148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</a:p>
        </p:txBody>
      </p:sp>
    </p:spTree>
    <p:extLst>
      <p:ext uri="{BB962C8B-B14F-4D97-AF65-F5344CB8AC3E}">
        <p14:creationId xmlns:p14="http://schemas.microsoft.com/office/powerpoint/2010/main" val="163433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296863"/>
            <a:ext cx="8397875" cy="626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91991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1250950"/>
            <a:ext cx="7440613" cy="435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6581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1155700"/>
            <a:ext cx="7481887" cy="454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55641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1123950"/>
            <a:ext cx="7481887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2289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1082675"/>
            <a:ext cx="7815263" cy="469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66579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b="1" smtClean="0">
                <a:effectLst/>
              </a:rPr>
              <a:t>Single Linkage Clustering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05000"/>
            <a:ext cx="7543800" cy="3962400"/>
          </a:xfrm>
        </p:spPr>
        <p:txBody>
          <a:bodyPr/>
          <a:lstStyle/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ko-KR" smtClean="0">
                <a:effectLst/>
                <a:ea typeface="굴림" charset="-127"/>
              </a:rPr>
              <a:t>It is an example of agglomerative hierarchical clustering.</a:t>
            </a:r>
          </a:p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ko-KR" smtClean="0">
                <a:effectLst/>
                <a:ea typeface="굴림" charset="-127"/>
              </a:rPr>
              <a:t>We consider the distance between one cluster and another cluster to be equal to the shortest distance from any member of one cluster to any member of the other cluster. </a:t>
            </a:r>
            <a:endParaRPr lang="en-US" altLang="en-US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5971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9310"/>
            <a:ext cx="3352800" cy="762000"/>
          </a:xfrm>
        </p:spPr>
        <p:txBody>
          <a:bodyPr>
            <a:normAutofit/>
          </a:bodyPr>
          <a:lstStyle/>
          <a:p>
            <a:r>
              <a:rPr lang="en-US" altLang="en-US" sz="4000" b="1" smtClean="0">
                <a:effectLst/>
              </a:rPr>
              <a:t>Algorithm</a:t>
            </a:r>
          </a:p>
        </p:txBody>
      </p:sp>
      <p:sp>
        <p:nvSpPr>
          <p:cNvPr id="194563" name="Rectangle 3"/>
          <p:cNvSpPr>
            <a:spLocks noChangeArrowheads="1"/>
          </p:cNvSpPr>
          <p:nvPr/>
        </p:nvSpPr>
        <p:spPr bwMode="auto">
          <a:xfrm>
            <a:off x="228600" y="914400"/>
            <a:ext cx="83820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Given a set of N items to be clustered, and an </a:t>
            </a:r>
            <a:r>
              <a:rPr lang="en-GB" altLang="en-US" sz="2400" dirty="0" err="1"/>
              <a:t>NxN</a:t>
            </a:r>
            <a:r>
              <a:rPr lang="en-GB" altLang="en-US" sz="2400" dirty="0"/>
              <a:t> distance (or similarity) matrix, the basic process of single linkage clustering is this: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   1.Start by assigning each item to its own cluster, so that if we have N items, we now have N clusters, each containing just one item. Let the distances (similarities) between the clusters equal the distances (similarities) between the items they contain.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   2.Find the closest (most similar) pair of clusters and merge them into a single cluster, so that now you have one less cluster.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   3.Compute distances (similarities) between the new cluster and each of the old clusters.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   4.Repeat steps 2 and 3 until all items are clustered into a single cluster of size N. </a:t>
            </a:r>
          </a:p>
        </p:txBody>
      </p:sp>
    </p:spTree>
    <p:extLst>
      <p:ext uri="{BB962C8B-B14F-4D97-AF65-F5344CB8AC3E}">
        <p14:creationId xmlns:p14="http://schemas.microsoft.com/office/powerpoint/2010/main" val="208674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158750"/>
            <a:ext cx="8763000" cy="762000"/>
          </a:xfrm>
        </p:spPr>
        <p:txBody>
          <a:bodyPr/>
          <a:lstStyle/>
          <a:p>
            <a:pPr>
              <a:defRPr/>
            </a:pPr>
            <a:r>
              <a:rPr lang="en-US" dirty="0"/>
              <a:t>  </a:t>
            </a:r>
            <a:r>
              <a:rPr lang="en-US" b="1" dirty="0">
                <a:effectLst/>
              </a:rPr>
              <a:t>Interpreting </a:t>
            </a:r>
            <a:r>
              <a:rPr lang="en-US" b="1" dirty="0" err="1">
                <a:effectLst/>
              </a:rPr>
              <a:t>Dendrograms</a:t>
            </a:r>
            <a:endParaRPr lang="en-US" b="1" dirty="0">
              <a:effectLst/>
            </a:endParaRPr>
          </a:p>
        </p:txBody>
      </p:sp>
      <p:pic>
        <p:nvPicPr>
          <p:cNvPr id="136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435225"/>
            <a:ext cx="4191000" cy="397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438400"/>
            <a:ext cx="4267200" cy="397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197" name="Rectangle 5"/>
          <p:cNvSpPr>
            <a:spLocks noChangeArrowheads="1"/>
          </p:cNvSpPr>
          <p:nvPr/>
        </p:nvSpPr>
        <p:spPr bwMode="auto">
          <a:xfrm>
            <a:off x="0" y="1371600"/>
            <a:ext cx="8763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2"/>
                </a:solidFill>
              </a:rPr>
              <a:t>  </a:t>
            </a:r>
            <a:r>
              <a:rPr lang="en-US" altLang="en-US" b="1">
                <a:solidFill>
                  <a:srgbClr val="000066"/>
                </a:solidFill>
              </a:rPr>
              <a:t>Clusters                              Dendrogram</a:t>
            </a:r>
          </a:p>
        </p:txBody>
      </p:sp>
    </p:spTree>
    <p:extLst>
      <p:ext uri="{BB962C8B-B14F-4D97-AF65-F5344CB8AC3E}">
        <p14:creationId xmlns:p14="http://schemas.microsoft.com/office/powerpoint/2010/main" val="279398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56" name="Group 56"/>
          <p:cNvGraphicFramePr>
            <a:graphicFrameLocks noGrp="1"/>
          </p:cNvGraphicFramePr>
          <p:nvPr/>
        </p:nvGraphicFramePr>
        <p:xfrm>
          <a:off x="0" y="1752600"/>
          <a:ext cx="3429000" cy="2794001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33400"/>
                <a:gridCol w="609600"/>
                <a:gridCol w="571500"/>
                <a:gridCol w="571500"/>
              </a:tblGrid>
              <a:tr h="4572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1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7269" name="Text Box 53"/>
          <p:cNvSpPr txBox="1">
            <a:spLocks noChangeArrowheads="1"/>
          </p:cNvSpPr>
          <p:nvPr/>
        </p:nvSpPr>
        <p:spPr bwMode="auto">
          <a:xfrm>
            <a:off x="0" y="609600"/>
            <a:ext cx="7696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1"/>
              <a:t>Agglomeration Schedule</a:t>
            </a:r>
            <a:endParaRPr lang="en-GB" altLang="en-US" sz="4400" b="1"/>
          </a:p>
        </p:txBody>
      </p:sp>
      <p:graphicFrame>
        <p:nvGraphicFramePr>
          <p:cNvPr id="137270" name="Object 2"/>
          <p:cNvGraphicFramePr>
            <a:graphicFrameLocks noChangeAspect="1"/>
          </p:cNvGraphicFramePr>
          <p:nvPr/>
        </p:nvGraphicFramePr>
        <p:xfrm>
          <a:off x="4352925" y="1504950"/>
          <a:ext cx="4105275" cy="245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2" name="Bitmap Image" r:id="rId3" imgW="4105848" imgH="2457143" progId="Paint.Picture">
                  <p:embed/>
                </p:oleObj>
              </mc:Choice>
              <mc:Fallback>
                <p:oleObj name="Bitmap Image" r:id="rId3" imgW="4105848" imgH="245714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925" y="1504950"/>
                        <a:ext cx="4105275" cy="245745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5" name="Object 3"/>
          <p:cNvGraphicFramePr>
            <a:graphicFrameLocks noChangeAspect="1"/>
          </p:cNvGraphicFramePr>
          <p:nvPr/>
        </p:nvGraphicFramePr>
        <p:xfrm>
          <a:off x="3581400" y="4114800"/>
          <a:ext cx="5162550" cy="256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3" name="Bitmap Image" r:id="rId5" imgW="5161905" imgH="2561905" progId="Paint.Picture">
                  <p:embed/>
                </p:oleObj>
              </mc:Choice>
              <mc:Fallback>
                <p:oleObj name="Bitmap Image" r:id="rId5" imgW="5161905" imgH="256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114800"/>
                        <a:ext cx="5162550" cy="256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96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>
                <a:effectLst/>
              </a:rPr>
              <a:t>Advantages</a:t>
            </a:r>
            <a:endParaRPr lang="en-GB" altLang="en-US" b="1" smtClean="0">
              <a:effectLst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05000"/>
            <a:ext cx="8153400" cy="411480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  <a:ea typeface="宋体" panose="02010600030101010101" pitchFamily="2" charset="-122"/>
              </a:rPr>
              <a:t>S</a:t>
            </a:r>
            <a:r>
              <a:rPr lang="en-GB" altLang="en-US" smtClean="0">
                <a:effectLst/>
                <a:ea typeface="宋体" panose="02010600030101010101" pitchFamily="2" charset="-122"/>
              </a:rPr>
              <a:t>ingle linkage is best suited to detect lined structure</a:t>
            </a:r>
            <a:endParaRPr lang="en-US" altLang="en-US" smtClean="0">
              <a:effectLst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  <a:ea typeface="宋体" panose="02010600030101010101" pitchFamily="2" charset="-122"/>
              </a:rPr>
              <a:t>Invariant against monotonic transformation of the dissimilarities or similarities. For example, the results do not change, if the dissimilarities or similarities are squared, or if we take the log.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  <a:ea typeface="宋体" panose="02010600030101010101" pitchFamily="2" charset="-122"/>
              </a:rPr>
              <a:t>Intuitive</a:t>
            </a:r>
            <a:endParaRPr lang="en-GB" altLang="en-US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686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7772400" cy="7620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Problems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52600"/>
            <a:ext cx="8915400" cy="4114800"/>
          </a:xfrm>
        </p:spPr>
        <p:txBody>
          <a:bodyPr/>
          <a:lstStyle/>
          <a:p>
            <a:pPr marL="609600" indent="-609600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zh-CN" sz="2800" smtClean="0">
                <a:effectLst/>
                <a:ea typeface="宋体" panose="02010600030101010101" pitchFamily="2" charset="-122"/>
              </a:rPr>
              <a:t>Do not scale well: time complexity of at least </a:t>
            </a:r>
            <a:r>
              <a:rPr lang="en-US" altLang="zh-CN" sz="2800" smtClean="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r>
              <a:rPr lang="en-US" altLang="zh-CN" sz="2800" smtClean="0">
                <a:effectLst/>
                <a:ea typeface="宋体" panose="02010600030101010101" pitchFamily="2" charset="-122"/>
              </a:rPr>
              <a:t>(n</a:t>
            </a:r>
            <a:r>
              <a:rPr lang="en-US" altLang="zh-CN" sz="2800" baseline="30000" smtClean="0">
                <a:effectLst/>
                <a:ea typeface="宋体" panose="02010600030101010101" pitchFamily="2" charset="-122"/>
              </a:rPr>
              <a:t>2</a:t>
            </a:r>
            <a:r>
              <a:rPr lang="en-US" altLang="zh-CN" sz="2800" smtClean="0">
                <a:effectLst/>
                <a:ea typeface="宋体" panose="02010600030101010101" pitchFamily="2" charset="-122"/>
              </a:rPr>
              <a:t>), where n is the number of total objects</a:t>
            </a:r>
          </a:p>
          <a:p>
            <a:pPr marL="609600" indent="-609600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zh-CN" sz="2800" smtClean="0">
                <a:effectLst/>
                <a:ea typeface="宋体" panose="02010600030101010101" pitchFamily="2" charset="-122"/>
              </a:rPr>
              <a:t>It is not incremental.  If new data is to be added, the whole analysis needs to be redone.</a:t>
            </a:r>
          </a:p>
          <a:p>
            <a:pPr marL="609600" indent="-609600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zh-CN" sz="2800" smtClean="0">
                <a:effectLst/>
                <a:ea typeface="宋体" panose="02010600030101010101" pitchFamily="2" charset="-122"/>
              </a:rPr>
              <a:t>Can never undo what was done previously</a:t>
            </a:r>
          </a:p>
          <a:p>
            <a:pPr marL="609600" indent="-609600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zh-CN" sz="2800" smtClean="0">
                <a:effectLst/>
                <a:ea typeface="宋体" panose="02010600030101010101" pitchFamily="2" charset="-122"/>
              </a:rPr>
              <a:t>Can lead to chaining</a:t>
            </a:r>
          </a:p>
          <a:p>
            <a:pPr marL="609600" indent="-609600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ja-JP" sz="2800" smtClean="0">
                <a:effectLst/>
                <a:ea typeface="ＭＳ Ｐゴシック" panose="020B0600070205080204" pitchFamily="34" charset="-128"/>
              </a:rPr>
              <a:t>Data in the cluster must 	be compact.</a:t>
            </a:r>
            <a:endParaRPr lang="en-US" altLang="en-US" sz="2800" smtClean="0">
              <a:effectLst/>
            </a:endParaRPr>
          </a:p>
        </p:txBody>
      </p:sp>
      <p:graphicFrame>
        <p:nvGraphicFramePr>
          <p:cNvPr id="139268" name="Object 2"/>
          <p:cNvGraphicFramePr>
            <a:graphicFrameLocks noChangeAspect="1"/>
          </p:cNvGraphicFramePr>
          <p:nvPr/>
        </p:nvGraphicFramePr>
        <p:xfrm>
          <a:off x="5029200" y="4191000"/>
          <a:ext cx="3238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5" name="Bitmap Image" r:id="rId3" imgW="3238952" imgH="380852" progId="Paint.Picture">
                  <p:embed/>
                </p:oleObj>
              </mc:Choice>
              <mc:Fallback>
                <p:oleObj name="Bitmap Image" r:id="rId3" imgW="3238952" imgH="3808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191000"/>
                        <a:ext cx="3238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672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84582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/>
            </a:r>
            <a:br>
              <a:rPr lang="en-US"/>
            </a:br>
            <a:endParaRPr lang="en-GB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1752600"/>
            <a:ext cx="8763000" cy="53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 smtClean="0">
                <a:effectLst/>
                <a:ea typeface="宋体" panose="02010600030101010101" pitchFamily="2" charset="-122"/>
              </a:rPr>
              <a:t>Messy to construct if number of points is large.</a:t>
            </a:r>
          </a:p>
        </p:txBody>
      </p:sp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228600" y="673100"/>
            <a:ext cx="79089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1"/>
              <a:t>Problems with Dendrogram</a:t>
            </a:r>
            <a:endParaRPr lang="en-GB" altLang="en-US" sz="4400" b="1"/>
          </a:p>
        </p:txBody>
      </p:sp>
      <p:pic>
        <p:nvPicPr>
          <p:cNvPr id="14029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38400"/>
            <a:ext cx="81534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4" name="Text Box 6"/>
          <p:cNvSpPr txBox="1">
            <a:spLocks noChangeArrowheads="1"/>
          </p:cNvSpPr>
          <p:nvPr/>
        </p:nvSpPr>
        <p:spPr bwMode="auto">
          <a:xfrm>
            <a:off x="1219200" y="64008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Number of observations = 6113</a:t>
            </a:r>
            <a:endParaRPr lang="en-GB" alt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27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763000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b="1" smtClean="0">
                <a:effectLst/>
              </a:rPr>
              <a:t>Deciding where to cut the Dendrogram can be difficult</a:t>
            </a:r>
            <a:endParaRPr lang="en-GB" altLang="en-US" sz="4000" b="1" smtClean="0">
              <a:effectLst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219700" y="2133600"/>
            <a:ext cx="3924300" cy="3417888"/>
          </a:xfrm>
        </p:spPr>
        <p:txBody>
          <a:bodyPr/>
          <a:lstStyle/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400" smtClean="0">
                <a:effectLst/>
              </a:rPr>
              <a:t>As shown, if there are no sharp elbow knicks in the Inverse Scree Test, then it is difficult to find the number of clusters from the dendrogram</a:t>
            </a:r>
            <a:endParaRPr lang="en-GB" altLang="en-US" sz="2400" smtClean="0">
              <a:effectLst/>
            </a:endParaRPr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1371600" y="6096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Inverse Scree test</a:t>
            </a:r>
            <a:endParaRPr lang="en-GB" altLang="en-US" sz="1800"/>
          </a:p>
        </p:txBody>
      </p:sp>
      <p:graphicFrame>
        <p:nvGraphicFramePr>
          <p:cNvPr id="141317" name="Object 2"/>
          <p:cNvGraphicFramePr>
            <a:graphicFrameLocks noChangeAspect="1"/>
          </p:cNvGraphicFramePr>
          <p:nvPr/>
        </p:nvGraphicFramePr>
        <p:xfrm>
          <a:off x="228600" y="1895475"/>
          <a:ext cx="4953000" cy="404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9" name="Bitmap Image" r:id="rId3" imgW="4580952" imgH="3742857" progId="Paint.Picture">
                  <p:embed/>
                </p:oleObj>
              </mc:Choice>
              <mc:Fallback>
                <p:oleObj name="Bitmap Image" r:id="rId3" imgW="4580952" imgH="374285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95475"/>
                        <a:ext cx="4953000" cy="404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035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altLang="en-US" sz="4000" b="1" smtClean="0">
                <a:effectLst/>
              </a:rPr>
              <a:t>Comparing two Dendrograms is not straightforward</a:t>
            </a:r>
            <a:endParaRPr lang="en-GB" altLang="en-US" sz="4000" b="1" smtClean="0">
              <a:effectLst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953000" y="4724400"/>
            <a:ext cx="3581400" cy="1905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effectLst/>
              </a:rPr>
              <a:t>  </a:t>
            </a:r>
            <a:r>
              <a:rPr lang="en-US" altLang="en-US" sz="2400" b="1" smtClean="0">
                <a:effectLst/>
              </a:rPr>
              <a:t>H</a:t>
            </a:r>
            <a:r>
              <a:rPr lang="en-US" altLang="en-US" sz="2400" b="1" baseline="-25000" smtClean="0">
                <a:effectLst/>
              </a:rPr>
              <a:t>n</a:t>
            </a:r>
            <a:r>
              <a:rPr lang="en-US" altLang="en-US" sz="2400" smtClean="0">
                <a:effectLst/>
              </a:rPr>
              <a:t> denotes the number of simply equivalent dendrograms for n objects.</a:t>
            </a:r>
            <a:endParaRPr lang="en-GB" altLang="en-US" sz="2400" smtClean="0">
              <a:effectLst/>
            </a:endParaRPr>
          </a:p>
        </p:txBody>
      </p:sp>
      <p:pic>
        <p:nvPicPr>
          <p:cNvPr id="142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81600"/>
            <a:ext cx="411480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23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4343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5105400" y="1981200"/>
            <a:ext cx="35814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four dendrograms all represent the same data.  They can be obtained from each other by rotating a few branches.</a:t>
            </a:r>
            <a:endParaRPr lang="en-GB" altLang="en-US" sz="1800"/>
          </a:p>
        </p:txBody>
      </p:sp>
    </p:spTree>
    <p:extLst>
      <p:ext uri="{BB962C8B-B14F-4D97-AF65-F5344CB8AC3E}">
        <p14:creationId xmlns:p14="http://schemas.microsoft.com/office/powerpoint/2010/main" val="90006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85800"/>
            <a:ext cx="7772400" cy="8382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Agglomerative Example</a:t>
            </a:r>
          </a:p>
        </p:txBody>
      </p:sp>
      <p:grpSp>
        <p:nvGrpSpPr>
          <p:cNvPr id="143363" name="Group 103"/>
          <p:cNvGrpSpPr>
            <a:grpSpLocks/>
          </p:cNvGrpSpPr>
          <p:nvPr/>
        </p:nvGrpSpPr>
        <p:grpSpPr bwMode="auto">
          <a:xfrm>
            <a:off x="457200" y="1905000"/>
            <a:ext cx="2514600" cy="2743200"/>
            <a:chOff x="288" y="1200"/>
            <a:chExt cx="1584" cy="1728"/>
          </a:xfrm>
        </p:grpSpPr>
        <p:sp>
          <p:nvSpPr>
            <p:cNvPr id="143411" name="Rectangle 4"/>
            <p:cNvSpPr>
              <a:spLocks noChangeArrowheads="1"/>
            </p:cNvSpPr>
            <p:nvPr/>
          </p:nvSpPr>
          <p:spPr bwMode="auto">
            <a:xfrm>
              <a:off x="1608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0</a:t>
              </a:r>
            </a:p>
          </p:txBody>
        </p:sp>
        <p:sp>
          <p:nvSpPr>
            <p:cNvPr id="143412" name="Rectangle 5"/>
            <p:cNvSpPr>
              <a:spLocks noChangeArrowheads="1"/>
            </p:cNvSpPr>
            <p:nvPr/>
          </p:nvSpPr>
          <p:spPr bwMode="auto">
            <a:xfrm>
              <a:off x="1344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3413" name="Rectangle 6"/>
            <p:cNvSpPr>
              <a:spLocks noChangeArrowheads="1"/>
            </p:cNvSpPr>
            <p:nvPr/>
          </p:nvSpPr>
          <p:spPr bwMode="auto">
            <a:xfrm>
              <a:off x="1080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5</a:t>
              </a:r>
            </a:p>
          </p:txBody>
        </p:sp>
        <p:sp>
          <p:nvSpPr>
            <p:cNvPr id="143414" name="Rectangle 7"/>
            <p:cNvSpPr>
              <a:spLocks noChangeArrowheads="1"/>
            </p:cNvSpPr>
            <p:nvPr/>
          </p:nvSpPr>
          <p:spPr bwMode="auto">
            <a:xfrm>
              <a:off x="816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3415" name="Rectangle 8"/>
            <p:cNvSpPr>
              <a:spLocks noChangeArrowheads="1"/>
            </p:cNvSpPr>
            <p:nvPr/>
          </p:nvSpPr>
          <p:spPr bwMode="auto">
            <a:xfrm>
              <a:off x="552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3416" name="Rectangle 9"/>
            <p:cNvSpPr>
              <a:spLocks noChangeArrowheads="1"/>
            </p:cNvSpPr>
            <p:nvPr/>
          </p:nvSpPr>
          <p:spPr bwMode="auto">
            <a:xfrm>
              <a:off x="288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E</a:t>
              </a:r>
            </a:p>
          </p:txBody>
        </p:sp>
        <p:sp>
          <p:nvSpPr>
            <p:cNvPr id="143417" name="Rectangle 10"/>
            <p:cNvSpPr>
              <a:spLocks noChangeArrowheads="1"/>
            </p:cNvSpPr>
            <p:nvPr/>
          </p:nvSpPr>
          <p:spPr bwMode="auto">
            <a:xfrm>
              <a:off x="1608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3418" name="Rectangle 11"/>
            <p:cNvSpPr>
              <a:spLocks noChangeArrowheads="1"/>
            </p:cNvSpPr>
            <p:nvPr/>
          </p:nvSpPr>
          <p:spPr bwMode="auto">
            <a:xfrm>
              <a:off x="1344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0</a:t>
              </a:r>
            </a:p>
          </p:txBody>
        </p:sp>
        <p:sp>
          <p:nvSpPr>
            <p:cNvPr id="143419" name="Rectangle 12"/>
            <p:cNvSpPr>
              <a:spLocks noChangeArrowheads="1"/>
            </p:cNvSpPr>
            <p:nvPr/>
          </p:nvSpPr>
          <p:spPr bwMode="auto">
            <a:xfrm>
              <a:off x="1080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1</a:t>
              </a:r>
            </a:p>
          </p:txBody>
        </p:sp>
        <p:sp>
          <p:nvSpPr>
            <p:cNvPr id="143420" name="Rectangle 13"/>
            <p:cNvSpPr>
              <a:spLocks noChangeArrowheads="1"/>
            </p:cNvSpPr>
            <p:nvPr/>
          </p:nvSpPr>
          <p:spPr bwMode="auto">
            <a:xfrm>
              <a:off x="816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4</a:t>
              </a:r>
            </a:p>
          </p:txBody>
        </p:sp>
        <p:sp>
          <p:nvSpPr>
            <p:cNvPr id="143421" name="Rectangle 14"/>
            <p:cNvSpPr>
              <a:spLocks noChangeArrowheads="1"/>
            </p:cNvSpPr>
            <p:nvPr/>
          </p:nvSpPr>
          <p:spPr bwMode="auto">
            <a:xfrm>
              <a:off x="552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3422" name="Rectangle 15"/>
            <p:cNvSpPr>
              <a:spLocks noChangeArrowheads="1"/>
            </p:cNvSpPr>
            <p:nvPr/>
          </p:nvSpPr>
          <p:spPr bwMode="auto">
            <a:xfrm>
              <a:off x="288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D</a:t>
              </a:r>
            </a:p>
          </p:txBody>
        </p:sp>
        <p:sp>
          <p:nvSpPr>
            <p:cNvPr id="143423" name="Rectangle 16"/>
            <p:cNvSpPr>
              <a:spLocks noChangeArrowheads="1"/>
            </p:cNvSpPr>
            <p:nvPr/>
          </p:nvSpPr>
          <p:spPr bwMode="auto">
            <a:xfrm>
              <a:off x="1608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5</a:t>
              </a:r>
            </a:p>
          </p:txBody>
        </p:sp>
        <p:sp>
          <p:nvSpPr>
            <p:cNvPr id="143424" name="Rectangle 17"/>
            <p:cNvSpPr>
              <a:spLocks noChangeArrowheads="1"/>
            </p:cNvSpPr>
            <p:nvPr/>
          </p:nvSpPr>
          <p:spPr bwMode="auto">
            <a:xfrm>
              <a:off x="1344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1</a:t>
              </a:r>
            </a:p>
          </p:txBody>
        </p:sp>
        <p:sp>
          <p:nvSpPr>
            <p:cNvPr id="143425" name="Rectangle 18"/>
            <p:cNvSpPr>
              <a:spLocks noChangeArrowheads="1"/>
            </p:cNvSpPr>
            <p:nvPr/>
          </p:nvSpPr>
          <p:spPr bwMode="auto">
            <a:xfrm>
              <a:off x="1080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0</a:t>
              </a:r>
            </a:p>
          </p:txBody>
        </p:sp>
        <p:sp>
          <p:nvSpPr>
            <p:cNvPr id="143426" name="Rectangle 19"/>
            <p:cNvSpPr>
              <a:spLocks noChangeArrowheads="1"/>
            </p:cNvSpPr>
            <p:nvPr/>
          </p:nvSpPr>
          <p:spPr bwMode="auto">
            <a:xfrm>
              <a:off x="816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3427" name="Rectangle 20"/>
            <p:cNvSpPr>
              <a:spLocks noChangeArrowheads="1"/>
            </p:cNvSpPr>
            <p:nvPr/>
          </p:nvSpPr>
          <p:spPr bwMode="auto">
            <a:xfrm>
              <a:off x="552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3428" name="Rectangle 21"/>
            <p:cNvSpPr>
              <a:spLocks noChangeArrowheads="1"/>
            </p:cNvSpPr>
            <p:nvPr/>
          </p:nvSpPr>
          <p:spPr bwMode="auto">
            <a:xfrm>
              <a:off x="288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C</a:t>
              </a:r>
            </a:p>
          </p:txBody>
        </p:sp>
        <p:sp>
          <p:nvSpPr>
            <p:cNvPr id="143429" name="Rectangle 22"/>
            <p:cNvSpPr>
              <a:spLocks noChangeArrowheads="1"/>
            </p:cNvSpPr>
            <p:nvPr/>
          </p:nvSpPr>
          <p:spPr bwMode="auto">
            <a:xfrm>
              <a:off x="1608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3430" name="Rectangle 23"/>
            <p:cNvSpPr>
              <a:spLocks noChangeArrowheads="1"/>
            </p:cNvSpPr>
            <p:nvPr/>
          </p:nvSpPr>
          <p:spPr bwMode="auto">
            <a:xfrm>
              <a:off x="1344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4</a:t>
              </a:r>
            </a:p>
          </p:txBody>
        </p:sp>
        <p:sp>
          <p:nvSpPr>
            <p:cNvPr id="143431" name="Rectangle 24"/>
            <p:cNvSpPr>
              <a:spLocks noChangeArrowheads="1"/>
            </p:cNvSpPr>
            <p:nvPr/>
          </p:nvSpPr>
          <p:spPr bwMode="auto">
            <a:xfrm>
              <a:off x="1080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3432" name="Rectangle 25"/>
            <p:cNvSpPr>
              <a:spLocks noChangeArrowheads="1"/>
            </p:cNvSpPr>
            <p:nvPr/>
          </p:nvSpPr>
          <p:spPr bwMode="auto">
            <a:xfrm>
              <a:off x="816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0</a:t>
              </a:r>
            </a:p>
          </p:txBody>
        </p:sp>
        <p:sp>
          <p:nvSpPr>
            <p:cNvPr id="143433" name="Rectangle 26"/>
            <p:cNvSpPr>
              <a:spLocks noChangeArrowheads="1"/>
            </p:cNvSpPr>
            <p:nvPr/>
          </p:nvSpPr>
          <p:spPr bwMode="auto">
            <a:xfrm>
              <a:off x="552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1</a:t>
              </a:r>
            </a:p>
          </p:txBody>
        </p:sp>
        <p:sp>
          <p:nvSpPr>
            <p:cNvPr id="143434" name="Rectangle 27"/>
            <p:cNvSpPr>
              <a:spLocks noChangeArrowheads="1"/>
            </p:cNvSpPr>
            <p:nvPr/>
          </p:nvSpPr>
          <p:spPr bwMode="auto">
            <a:xfrm>
              <a:off x="288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B</a:t>
              </a:r>
            </a:p>
          </p:txBody>
        </p:sp>
        <p:sp>
          <p:nvSpPr>
            <p:cNvPr id="143435" name="Rectangle 28"/>
            <p:cNvSpPr>
              <a:spLocks noChangeArrowheads="1"/>
            </p:cNvSpPr>
            <p:nvPr/>
          </p:nvSpPr>
          <p:spPr bwMode="auto">
            <a:xfrm>
              <a:off x="1608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3436" name="Rectangle 29"/>
            <p:cNvSpPr>
              <a:spLocks noChangeArrowheads="1"/>
            </p:cNvSpPr>
            <p:nvPr/>
          </p:nvSpPr>
          <p:spPr bwMode="auto">
            <a:xfrm>
              <a:off x="1344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3437" name="Rectangle 30"/>
            <p:cNvSpPr>
              <a:spLocks noChangeArrowheads="1"/>
            </p:cNvSpPr>
            <p:nvPr/>
          </p:nvSpPr>
          <p:spPr bwMode="auto">
            <a:xfrm>
              <a:off x="1080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3438" name="Rectangle 31"/>
            <p:cNvSpPr>
              <a:spLocks noChangeArrowheads="1"/>
            </p:cNvSpPr>
            <p:nvPr/>
          </p:nvSpPr>
          <p:spPr bwMode="auto">
            <a:xfrm>
              <a:off x="816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1</a:t>
              </a:r>
            </a:p>
          </p:txBody>
        </p:sp>
        <p:sp>
          <p:nvSpPr>
            <p:cNvPr id="143439" name="Rectangle 32"/>
            <p:cNvSpPr>
              <a:spLocks noChangeArrowheads="1"/>
            </p:cNvSpPr>
            <p:nvPr/>
          </p:nvSpPr>
          <p:spPr bwMode="auto">
            <a:xfrm>
              <a:off x="552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0</a:t>
              </a:r>
            </a:p>
          </p:txBody>
        </p:sp>
        <p:sp>
          <p:nvSpPr>
            <p:cNvPr id="143440" name="Rectangle 33"/>
            <p:cNvSpPr>
              <a:spLocks noChangeArrowheads="1"/>
            </p:cNvSpPr>
            <p:nvPr/>
          </p:nvSpPr>
          <p:spPr bwMode="auto">
            <a:xfrm>
              <a:off x="288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A</a:t>
              </a:r>
            </a:p>
          </p:txBody>
        </p:sp>
        <p:sp>
          <p:nvSpPr>
            <p:cNvPr id="143441" name="Rectangle 34"/>
            <p:cNvSpPr>
              <a:spLocks noChangeArrowheads="1"/>
            </p:cNvSpPr>
            <p:nvPr/>
          </p:nvSpPr>
          <p:spPr bwMode="auto">
            <a:xfrm>
              <a:off x="1608" y="120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E</a:t>
              </a:r>
            </a:p>
          </p:txBody>
        </p:sp>
        <p:sp>
          <p:nvSpPr>
            <p:cNvPr id="143442" name="Rectangle 35"/>
            <p:cNvSpPr>
              <a:spLocks noChangeArrowheads="1"/>
            </p:cNvSpPr>
            <p:nvPr/>
          </p:nvSpPr>
          <p:spPr bwMode="auto">
            <a:xfrm>
              <a:off x="1344" y="120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D</a:t>
              </a:r>
            </a:p>
          </p:txBody>
        </p:sp>
        <p:sp>
          <p:nvSpPr>
            <p:cNvPr id="143443" name="Rectangle 36"/>
            <p:cNvSpPr>
              <a:spLocks noChangeArrowheads="1"/>
            </p:cNvSpPr>
            <p:nvPr/>
          </p:nvSpPr>
          <p:spPr bwMode="auto">
            <a:xfrm>
              <a:off x="1080" y="120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C</a:t>
              </a:r>
            </a:p>
          </p:txBody>
        </p:sp>
        <p:sp>
          <p:nvSpPr>
            <p:cNvPr id="143444" name="Rectangle 37"/>
            <p:cNvSpPr>
              <a:spLocks noChangeArrowheads="1"/>
            </p:cNvSpPr>
            <p:nvPr/>
          </p:nvSpPr>
          <p:spPr bwMode="auto">
            <a:xfrm>
              <a:off x="816" y="120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B</a:t>
              </a:r>
            </a:p>
          </p:txBody>
        </p:sp>
        <p:sp>
          <p:nvSpPr>
            <p:cNvPr id="143445" name="Rectangle 38"/>
            <p:cNvSpPr>
              <a:spLocks noChangeArrowheads="1"/>
            </p:cNvSpPr>
            <p:nvPr/>
          </p:nvSpPr>
          <p:spPr bwMode="auto">
            <a:xfrm>
              <a:off x="552" y="120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A</a:t>
              </a:r>
            </a:p>
          </p:txBody>
        </p:sp>
        <p:sp>
          <p:nvSpPr>
            <p:cNvPr id="143446" name="Rectangle 39"/>
            <p:cNvSpPr>
              <a:spLocks noChangeArrowheads="1"/>
            </p:cNvSpPr>
            <p:nvPr/>
          </p:nvSpPr>
          <p:spPr bwMode="auto">
            <a:xfrm>
              <a:off x="288" y="120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endParaRPr lang="en-US" altLang="en-US" sz="2000"/>
            </a:p>
          </p:txBody>
        </p:sp>
        <p:sp>
          <p:nvSpPr>
            <p:cNvPr id="143447" name="Line 40"/>
            <p:cNvSpPr>
              <a:spLocks noChangeShapeType="1"/>
            </p:cNvSpPr>
            <p:nvPr/>
          </p:nvSpPr>
          <p:spPr bwMode="auto">
            <a:xfrm>
              <a:off x="288" y="1200"/>
              <a:ext cx="15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48" name="Line 41"/>
            <p:cNvSpPr>
              <a:spLocks noChangeShapeType="1"/>
            </p:cNvSpPr>
            <p:nvPr/>
          </p:nvSpPr>
          <p:spPr bwMode="auto">
            <a:xfrm>
              <a:off x="288" y="1488"/>
              <a:ext cx="158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49" name="Line 42"/>
            <p:cNvSpPr>
              <a:spLocks noChangeShapeType="1"/>
            </p:cNvSpPr>
            <p:nvPr/>
          </p:nvSpPr>
          <p:spPr bwMode="auto">
            <a:xfrm>
              <a:off x="288" y="1776"/>
              <a:ext cx="15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50" name="Line 43"/>
            <p:cNvSpPr>
              <a:spLocks noChangeShapeType="1"/>
            </p:cNvSpPr>
            <p:nvPr/>
          </p:nvSpPr>
          <p:spPr bwMode="auto">
            <a:xfrm>
              <a:off x="288" y="2064"/>
              <a:ext cx="15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51" name="Line 44"/>
            <p:cNvSpPr>
              <a:spLocks noChangeShapeType="1"/>
            </p:cNvSpPr>
            <p:nvPr/>
          </p:nvSpPr>
          <p:spPr bwMode="auto">
            <a:xfrm>
              <a:off x="288" y="2352"/>
              <a:ext cx="15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52" name="Line 45"/>
            <p:cNvSpPr>
              <a:spLocks noChangeShapeType="1"/>
            </p:cNvSpPr>
            <p:nvPr/>
          </p:nvSpPr>
          <p:spPr bwMode="auto">
            <a:xfrm>
              <a:off x="288" y="2640"/>
              <a:ext cx="15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53" name="Line 46"/>
            <p:cNvSpPr>
              <a:spLocks noChangeShapeType="1"/>
            </p:cNvSpPr>
            <p:nvPr/>
          </p:nvSpPr>
          <p:spPr bwMode="auto">
            <a:xfrm>
              <a:off x="288" y="2928"/>
              <a:ext cx="1584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54" name="Line 47"/>
            <p:cNvSpPr>
              <a:spLocks noChangeShapeType="1"/>
            </p:cNvSpPr>
            <p:nvPr/>
          </p:nvSpPr>
          <p:spPr bwMode="auto">
            <a:xfrm>
              <a:off x="288" y="1200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55" name="Line 48"/>
            <p:cNvSpPr>
              <a:spLocks noChangeShapeType="1"/>
            </p:cNvSpPr>
            <p:nvPr/>
          </p:nvSpPr>
          <p:spPr bwMode="auto">
            <a:xfrm>
              <a:off x="552" y="1200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56" name="Line 49"/>
            <p:cNvSpPr>
              <a:spLocks noChangeShapeType="1"/>
            </p:cNvSpPr>
            <p:nvPr/>
          </p:nvSpPr>
          <p:spPr bwMode="auto">
            <a:xfrm>
              <a:off x="816" y="1200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57" name="Line 50"/>
            <p:cNvSpPr>
              <a:spLocks noChangeShapeType="1"/>
            </p:cNvSpPr>
            <p:nvPr/>
          </p:nvSpPr>
          <p:spPr bwMode="auto">
            <a:xfrm>
              <a:off x="1080" y="1200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58" name="Line 51"/>
            <p:cNvSpPr>
              <a:spLocks noChangeShapeType="1"/>
            </p:cNvSpPr>
            <p:nvPr/>
          </p:nvSpPr>
          <p:spPr bwMode="auto">
            <a:xfrm>
              <a:off x="1344" y="1200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59" name="Line 52"/>
            <p:cNvSpPr>
              <a:spLocks noChangeShapeType="1"/>
            </p:cNvSpPr>
            <p:nvPr/>
          </p:nvSpPr>
          <p:spPr bwMode="auto">
            <a:xfrm>
              <a:off x="1608" y="1200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60" name="Line 53"/>
            <p:cNvSpPr>
              <a:spLocks noChangeShapeType="1"/>
            </p:cNvSpPr>
            <p:nvPr/>
          </p:nvSpPr>
          <p:spPr bwMode="auto">
            <a:xfrm>
              <a:off x="1872" y="1200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61" name="Line 54"/>
            <p:cNvSpPr>
              <a:spLocks noChangeShapeType="1"/>
            </p:cNvSpPr>
            <p:nvPr/>
          </p:nvSpPr>
          <p:spPr bwMode="auto">
            <a:xfrm>
              <a:off x="288" y="1488"/>
              <a:ext cx="0" cy="144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3462" name="Line 55"/>
            <p:cNvSpPr>
              <a:spLocks noChangeShapeType="1"/>
            </p:cNvSpPr>
            <p:nvPr/>
          </p:nvSpPr>
          <p:spPr bwMode="auto">
            <a:xfrm>
              <a:off x="1872" y="1488"/>
              <a:ext cx="0" cy="144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</p:grpSp>
      <p:sp>
        <p:nvSpPr>
          <p:cNvPr id="214072" name="Oval 56"/>
          <p:cNvSpPr>
            <a:spLocks noChangeArrowheads="1"/>
          </p:cNvSpPr>
          <p:nvPr/>
        </p:nvSpPr>
        <p:spPr bwMode="auto">
          <a:xfrm>
            <a:off x="5562600" y="1905000"/>
            <a:ext cx="76200" cy="76200"/>
          </a:xfrm>
          <a:prstGeom prst="ellipse">
            <a:avLst/>
          </a:prstGeom>
          <a:noFill/>
          <a:ln w="38100" cap="sq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4073" name="Oval 57"/>
          <p:cNvSpPr>
            <a:spLocks noChangeArrowheads="1"/>
          </p:cNvSpPr>
          <p:nvPr/>
        </p:nvSpPr>
        <p:spPr bwMode="auto">
          <a:xfrm>
            <a:off x="6553200" y="1905000"/>
            <a:ext cx="76200" cy="76200"/>
          </a:xfrm>
          <a:prstGeom prst="ellipse">
            <a:avLst/>
          </a:prstGeom>
          <a:noFill/>
          <a:ln w="38100" cap="sq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4074" name="Oval 58"/>
          <p:cNvSpPr>
            <a:spLocks noChangeArrowheads="1"/>
          </p:cNvSpPr>
          <p:nvPr/>
        </p:nvSpPr>
        <p:spPr bwMode="auto">
          <a:xfrm>
            <a:off x="7212013" y="2859088"/>
            <a:ext cx="76200" cy="76200"/>
          </a:xfrm>
          <a:prstGeom prst="ellipse">
            <a:avLst/>
          </a:prstGeom>
          <a:noFill/>
          <a:ln w="38100" cap="sq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4075" name="Oval 59"/>
          <p:cNvSpPr>
            <a:spLocks noChangeArrowheads="1"/>
          </p:cNvSpPr>
          <p:nvPr/>
        </p:nvSpPr>
        <p:spPr bwMode="auto">
          <a:xfrm>
            <a:off x="5029200" y="2819400"/>
            <a:ext cx="76200" cy="76200"/>
          </a:xfrm>
          <a:prstGeom prst="ellipse">
            <a:avLst/>
          </a:prstGeom>
          <a:noFill/>
          <a:ln w="38100" cap="sq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4076" name="Oval 60"/>
          <p:cNvSpPr>
            <a:spLocks noChangeArrowheads="1"/>
          </p:cNvSpPr>
          <p:nvPr/>
        </p:nvSpPr>
        <p:spPr bwMode="auto">
          <a:xfrm>
            <a:off x="6146800" y="3695700"/>
            <a:ext cx="76200" cy="76200"/>
          </a:xfrm>
          <a:prstGeom prst="ellipse">
            <a:avLst/>
          </a:prstGeom>
          <a:noFill/>
          <a:ln w="38100" cap="sq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4077" name="Text Box 61"/>
          <p:cNvSpPr txBox="1">
            <a:spLocks noChangeArrowheads="1"/>
          </p:cNvSpPr>
          <p:nvPr/>
        </p:nvSpPr>
        <p:spPr bwMode="auto">
          <a:xfrm>
            <a:off x="6400800" y="1371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214078" name="Text Box 62"/>
          <p:cNvSpPr txBox="1">
            <a:spLocks noChangeArrowheads="1"/>
          </p:cNvSpPr>
          <p:nvPr/>
        </p:nvSpPr>
        <p:spPr bwMode="auto">
          <a:xfrm>
            <a:off x="5410200" y="1371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214079" name="Text Box 63"/>
          <p:cNvSpPr txBox="1">
            <a:spLocks noChangeArrowheads="1"/>
          </p:cNvSpPr>
          <p:nvPr/>
        </p:nvSpPr>
        <p:spPr bwMode="auto">
          <a:xfrm>
            <a:off x="4572000" y="2590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214080" name="Text Box 64"/>
          <p:cNvSpPr txBox="1">
            <a:spLocks noChangeArrowheads="1"/>
          </p:cNvSpPr>
          <p:nvPr/>
        </p:nvSpPr>
        <p:spPr bwMode="auto">
          <a:xfrm>
            <a:off x="7315200" y="2590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214081" name="Text Box 65"/>
          <p:cNvSpPr txBox="1">
            <a:spLocks noChangeArrowheads="1"/>
          </p:cNvSpPr>
          <p:nvPr/>
        </p:nvSpPr>
        <p:spPr bwMode="auto">
          <a:xfrm>
            <a:off x="59436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214082" name="Line 66"/>
          <p:cNvSpPr>
            <a:spLocks noChangeShapeType="1"/>
          </p:cNvSpPr>
          <p:nvPr/>
        </p:nvSpPr>
        <p:spPr bwMode="auto">
          <a:xfrm flipH="1">
            <a:off x="6172200" y="1981200"/>
            <a:ext cx="381000" cy="1676400"/>
          </a:xfrm>
          <a:prstGeom prst="line">
            <a:avLst/>
          </a:prstGeom>
          <a:noFill/>
          <a:ln w="38100" cap="sq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4083" name="Line 67"/>
          <p:cNvSpPr>
            <a:spLocks noChangeShapeType="1"/>
          </p:cNvSpPr>
          <p:nvPr/>
        </p:nvSpPr>
        <p:spPr bwMode="auto">
          <a:xfrm>
            <a:off x="5638800" y="1981200"/>
            <a:ext cx="914400" cy="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4084" name="Line 68"/>
          <p:cNvSpPr>
            <a:spLocks noChangeShapeType="1"/>
          </p:cNvSpPr>
          <p:nvPr/>
        </p:nvSpPr>
        <p:spPr bwMode="auto">
          <a:xfrm flipV="1">
            <a:off x="6172200" y="2895600"/>
            <a:ext cx="1066800" cy="8382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4085" name="Line 69"/>
          <p:cNvSpPr>
            <a:spLocks noChangeShapeType="1"/>
          </p:cNvSpPr>
          <p:nvPr/>
        </p:nvSpPr>
        <p:spPr bwMode="auto">
          <a:xfrm>
            <a:off x="5638800" y="1981200"/>
            <a:ext cx="1600200" cy="9144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4086" name="Line 70"/>
          <p:cNvSpPr>
            <a:spLocks noChangeShapeType="1"/>
          </p:cNvSpPr>
          <p:nvPr/>
        </p:nvSpPr>
        <p:spPr bwMode="auto">
          <a:xfrm>
            <a:off x="5562600" y="1981200"/>
            <a:ext cx="609600" cy="17526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4087" name="Line 71"/>
          <p:cNvSpPr>
            <a:spLocks noChangeShapeType="1"/>
          </p:cNvSpPr>
          <p:nvPr/>
        </p:nvSpPr>
        <p:spPr bwMode="auto">
          <a:xfrm>
            <a:off x="6553200" y="1981200"/>
            <a:ext cx="685800" cy="9144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4088" name="Line 72"/>
          <p:cNvSpPr>
            <a:spLocks noChangeShapeType="1"/>
          </p:cNvSpPr>
          <p:nvPr/>
        </p:nvSpPr>
        <p:spPr bwMode="auto">
          <a:xfrm flipH="1">
            <a:off x="5105400" y="1981200"/>
            <a:ext cx="457200" cy="838200"/>
          </a:xfrm>
          <a:prstGeom prst="line">
            <a:avLst/>
          </a:prstGeom>
          <a:noFill/>
          <a:ln w="38100" cap="sq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4089" name="Line 73"/>
          <p:cNvSpPr>
            <a:spLocks noChangeShapeType="1"/>
          </p:cNvSpPr>
          <p:nvPr/>
        </p:nvSpPr>
        <p:spPr bwMode="auto">
          <a:xfrm flipH="1">
            <a:off x="5105400" y="1981200"/>
            <a:ext cx="1447800" cy="838200"/>
          </a:xfrm>
          <a:prstGeom prst="line">
            <a:avLst/>
          </a:prstGeom>
          <a:noFill/>
          <a:ln w="38100" cap="sq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4090" name="Line 74"/>
          <p:cNvSpPr>
            <a:spLocks noChangeShapeType="1"/>
          </p:cNvSpPr>
          <p:nvPr/>
        </p:nvSpPr>
        <p:spPr bwMode="auto">
          <a:xfrm>
            <a:off x="5105400" y="2895600"/>
            <a:ext cx="1066800" cy="838200"/>
          </a:xfrm>
          <a:prstGeom prst="line">
            <a:avLst/>
          </a:prstGeom>
          <a:noFill/>
          <a:ln w="38100" cap="sq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4096" name="Line 80"/>
          <p:cNvSpPr>
            <a:spLocks noChangeShapeType="1"/>
          </p:cNvSpPr>
          <p:nvPr/>
        </p:nvSpPr>
        <p:spPr bwMode="auto">
          <a:xfrm>
            <a:off x="5105400" y="2895600"/>
            <a:ext cx="2133600" cy="0"/>
          </a:xfrm>
          <a:prstGeom prst="line">
            <a:avLst/>
          </a:prstGeom>
          <a:noFill/>
          <a:ln w="381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4091" name="Text Box 75"/>
          <p:cNvSpPr txBox="1">
            <a:spLocks noChangeArrowheads="1"/>
          </p:cNvSpPr>
          <p:nvPr/>
        </p:nvSpPr>
        <p:spPr bwMode="auto">
          <a:xfrm>
            <a:off x="7720013" y="44958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14092" name="Text Box 76"/>
          <p:cNvSpPr txBox="1">
            <a:spLocks noChangeArrowheads="1"/>
          </p:cNvSpPr>
          <p:nvPr/>
        </p:nvSpPr>
        <p:spPr bwMode="auto">
          <a:xfrm>
            <a:off x="6705600" y="3886200"/>
            <a:ext cx="187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Threshold of</a:t>
            </a:r>
          </a:p>
        </p:txBody>
      </p:sp>
      <p:sp>
        <p:nvSpPr>
          <p:cNvPr id="214093" name="Text Box 77"/>
          <p:cNvSpPr txBox="1">
            <a:spLocks noChangeArrowheads="1"/>
          </p:cNvSpPr>
          <p:nvPr/>
        </p:nvSpPr>
        <p:spPr bwMode="auto">
          <a:xfrm>
            <a:off x="7129463" y="4495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Arial" panose="020B0604020202020204" pitchFamily="34" charset="0"/>
              </a:rPr>
              <a:t> 2</a:t>
            </a:r>
          </a:p>
        </p:txBody>
      </p:sp>
      <p:sp>
        <p:nvSpPr>
          <p:cNvPr id="214094" name="Text Box 78"/>
          <p:cNvSpPr txBox="1">
            <a:spLocks noChangeArrowheads="1"/>
          </p:cNvSpPr>
          <p:nvPr/>
        </p:nvSpPr>
        <p:spPr bwMode="auto">
          <a:xfrm>
            <a:off x="7491413" y="44958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14095" name="Text Box 79"/>
          <p:cNvSpPr txBox="1">
            <a:spLocks noChangeArrowheads="1"/>
          </p:cNvSpPr>
          <p:nvPr/>
        </p:nvSpPr>
        <p:spPr bwMode="auto">
          <a:xfrm>
            <a:off x="7975600" y="44958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14097" name="Rectangle 81"/>
          <p:cNvSpPr>
            <a:spLocks noChangeArrowheads="1"/>
          </p:cNvSpPr>
          <p:nvPr/>
        </p:nvSpPr>
        <p:spPr bwMode="auto">
          <a:xfrm>
            <a:off x="6961188" y="44958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8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14098" name="Line 82"/>
          <p:cNvSpPr>
            <a:spLocks noChangeShapeType="1"/>
          </p:cNvSpPr>
          <p:nvPr/>
        </p:nvSpPr>
        <p:spPr bwMode="auto">
          <a:xfrm>
            <a:off x="2286000" y="5791200"/>
            <a:ext cx="3429000" cy="0"/>
          </a:xfrm>
          <a:prstGeom prst="line">
            <a:avLst/>
          </a:prstGeom>
          <a:noFill/>
          <a:ln w="57150" cap="sq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4099" name="Line 83"/>
          <p:cNvSpPr>
            <a:spLocks noChangeShapeType="1"/>
          </p:cNvSpPr>
          <p:nvPr/>
        </p:nvSpPr>
        <p:spPr bwMode="auto">
          <a:xfrm>
            <a:off x="2286000" y="5334000"/>
            <a:ext cx="3429000" cy="0"/>
          </a:xfrm>
          <a:prstGeom prst="line">
            <a:avLst/>
          </a:prstGeom>
          <a:noFill/>
          <a:ln w="57150" cap="sq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4100" name="Line 84"/>
          <p:cNvSpPr>
            <a:spLocks noChangeShapeType="1"/>
          </p:cNvSpPr>
          <p:nvPr/>
        </p:nvSpPr>
        <p:spPr bwMode="auto">
          <a:xfrm>
            <a:off x="2286000" y="4876800"/>
            <a:ext cx="3429000" cy="0"/>
          </a:xfrm>
          <a:prstGeom prst="line">
            <a:avLst/>
          </a:prstGeom>
          <a:noFill/>
          <a:ln w="57150" cap="sq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393" name="Line 85"/>
          <p:cNvSpPr>
            <a:spLocks noChangeShapeType="1"/>
          </p:cNvSpPr>
          <p:nvPr/>
        </p:nvSpPr>
        <p:spPr bwMode="auto">
          <a:xfrm>
            <a:off x="3200400" y="5791200"/>
            <a:ext cx="0" cy="45720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394" name="Line 86"/>
          <p:cNvSpPr>
            <a:spLocks noChangeShapeType="1"/>
          </p:cNvSpPr>
          <p:nvPr/>
        </p:nvSpPr>
        <p:spPr bwMode="auto">
          <a:xfrm>
            <a:off x="3657600" y="5791200"/>
            <a:ext cx="0" cy="45720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395" name="Line 87"/>
          <p:cNvSpPr>
            <a:spLocks noChangeShapeType="1"/>
          </p:cNvSpPr>
          <p:nvPr/>
        </p:nvSpPr>
        <p:spPr bwMode="auto">
          <a:xfrm>
            <a:off x="4572000" y="5791200"/>
            <a:ext cx="0" cy="45720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396" name="Line 88"/>
          <p:cNvSpPr>
            <a:spLocks noChangeShapeType="1"/>
          </p:cNvSpPr>
          <p:nvPr/>
        </p:nvSpPr>
        <p:spPr bwMode="auto">
          <a:xfrm>
            <a:off x="4114800" y="5791200"/>
            <a:ext cx="0" cy="45720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397" name="Line 89"/>
          <p:cNvSpPr>
            <a:spLocks noChangeShapeType="1"/>
          </p:cNvSpPr>
          <p:nvPr/>
        </p:nvSpPr>
        <p:spPr bwMode="auto">
          <a:xfrm>
            <a:off x="3200400" y="5791200"/>
            <a:ext cx="457200" cy="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398" name="Line 90"/>
          <p:cNvSpPr>
            <a:spLocks noChangeShapeType="1"/>
          </p:cNvSpPr>
          <p:nvPr/>
        </p:nvSpPr>
        <p:spPr bwMode="auto">
          <a:xfrm>
            <a:off x="4114800" y="5791200"/>
            <a:ext cx="457200" cy="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399" name="Line 91"/>
          <p:cNvSpPr>
            <a:spLocks noChangeShapeType="1"/>
          </p:cNvSpPr>
          <p:nvPr/>
        </p:nvSpPr>
        <p:spPr bwMode="auto">
          <a:xfrm>
            <a:off x="3429000" y="5334000"/>
            <a:ext cx="914400" cy="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400" name="Line 92"/>
          <p:cNvSpPr>
            <a:spLocks noChangeShapeType="1"/>
          </p:cNvSpPr>
          <p:nvPr/>
        </p:nvSpPr>
        <p:spPr bwMode="auto">
          <a:xfrm>
            <a:off x="4343400" y="5334000"/>
            <a:ext cx="0" cy="45720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401" name="Line 93"/>
          <p:cNvSpPr>
            <a:spLocks noChangeShapeType="1"/>
          </p:cNvSpPr>
          <p:nvPr/>
        </p:nvSpPr>
        <p:spPr bwMode="auto">
          <a:xfrm>
            <a:off x="5029200" y="5334000"/>
            <a:ext cx="0" cy="91440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402" name="Line 94"/>
          <p:cNvSpPr>
            <a:spLocks noChangeShapeType="1"/>
          </p:cNvSpPr>
          <p:nvPr/>
        </p:nvSpPr>
        <p:spPr bwMode="auto">
          <a:xfrm>
            <a:off x="3429000" y="5334000"/>
            <a:ext cx="0" cy="45720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403" name="Line 95"/>
          <p:cNvSpPr>
            <a:spLocks noChangeShapeType="1"/>
          </p:cNvSpPr>
          <p:nvPr/>
        </p:nvSpPr>
        <p:spPr bwMode="auto">
          <a:xfrm>
            <a:off x="5029200" y="4876800"/>
            <a:ext cx="0" cy="45720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404" name="Line 96"/>
          <p:cNvSpPr>
            <a:spLocks noChangeShapeType="1"/>
          </p:cNvSpPr>
          <p:nvPr/>
        </p:nvSpPr>
        <p:spPr bwMode="auto">
          <a:xfrm>
            <a:off x="3886200" y="4876800"/>
            <a:ext cx="1143000" cy="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405" name="Text Box 97"/>
          <p:cNvSpPr txBox="1">
            <a:spLocks noChangeArrowheads="1"/>
          </p:cNvSpPr>
          <p:nvPr/>
        </p:nvSpPr>
        <p:spPr bwMode="auto">
          <a:xfrm>
            <a:off x="3048000" y="62484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43406" name="Text Box 98"/>
          <p:cNvSpPr txBox="1">
            <a:spLocks noChangeArrowheads="1"/>
          </p:cNvSpPr>
          <p:nvPr/>
        </p:nvSpPr>
        <p:spPr bwMode="auto">
          <a:xfrm>
            <a:off x="3463925" y="62484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43407" name="Text Box 99"/>
          <p:cNvSpPr txBox="1">
            <a:spLocks noChangeArrowheads="1"/>
          </p:cNvSpPr>
          <p:nvPr/>
        </p:nvSpPr>
        <p:spPr bwMode="auto">
          <a:xfrm>
            <a:off x="3886200" y="6248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43408" name="Text Box 100"/>
          <p:cNvSpPr txBox="1">
            <a:spLocks noChangeArrowheads="1"/>
          </p:cNvSpPr>
          <p:nvPr/>
        </p:nvSpPr>
        <p:spPr bwMode="auto">
          <a:xfrm>
            <a:off x="4395788" y="6248400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43409" name="Text Box 101"/>
          <p:cNvSpPr txBox="1">
            <a:spLocks noChangeArrowheads="1"/>
          </p:cNvSpPr>
          <p:nvPr/>
        </p:nvSpPr>
        <p:spPr bwMode="auto">
          <a:xfrm>
            <a:off x="4870450" y="62484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43410" name="Line 102"/>
          <p:cNvSpPr>
            <a:spLocks noChangeShapeType="1"/>
          </p:cNvSpPr>
          <p:nvPr/>
        </p:nvSpPr>
        <p:spPr bwMode="auto">
          <a:xfrm flipH="1">
            <a:off x="3886200" y="4419600"/>
            <a:ext cx="0" cy="914400"/>
          </a:xfrm>
          <a:prstGeom prst="line">
            <a:avLst/>
          </a:prstGeom>
          <a:noFill/>
          <a:ln w="12700" cap="sq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4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4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4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4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4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4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1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1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1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1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1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4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4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4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4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4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4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4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4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4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4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4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4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4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4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4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4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4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4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4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4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4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14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4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4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1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1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14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14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14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14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14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14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14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14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72" grpId="0" animBg="1"/>
      <p:bldP spid="214073" grpId="0" animBg="1"/>
      <p:bldP spid="214074" grpId="0" animBg="1"/>
      <p:bldP spid="214075" grpId="0" animBg="1"/>
      <p:bldP spid="214076" grpId="0" animBg="1"/>
      <p:bldP spid="214077" grpId="0"/>
      <p:bldP spid="214078" grpId="0"/>
      <p:bldP spid="214079" grpId="0"/>
      <p:bldP spid="214080" grpId="0"/>
      <p:bldP spid="214081" grpId="0"/>
      <p:bldP spid="214082" grpId="0" animBg="1"/>
      <p:bldP spid="214083" grpId="0" animBg="1"/>
      <p:bldP spid="214084" grpId="0" animBg="1"/>
      <p:bldP spid="214085" grpId="0" animBg="1"/>
      <p:bldP spid="214086" grpId="0" animBg="1"/>
      <p:bldP spid="214087" grpId="0" animBg="1"/>
      <p:bldP spid="214088" grpId="0" animBg="1"/>
      <p:bldP spid="214089" grpId="0" animBg="1"/>
      <p:bldP spid="214090" grpId="0" animBg="1"/>
      <p:bldP spid="214096" grpId="0" animBg="1"/>
      <p:bldP spid="214091" grpId="0"/>
      <p:bldP spid="214092" grpId="0"/>
      <p:bldP spid="214093" grpId="0"/>
      <p:bldP spid="214094" grpId="0"/>
      <p:bldP spid="214095" grpId="0"/>
      <p:bldP spid="214097" grpId="0"/>
      <p:bldP spid="214098" grpId="0" animBg="1"/>
      <p:bldP spid="214099" grpId="0" animBg="1"/>
      <p:bldP spid="21410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38200"/>
            <a:ext cx="7772400" cy="7620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MST Example</a:t>
            </a:r>
          </a:p>
        </p:txBody>
      </p:sp>
      <p:grpSp>
        <p:nvGrpSpPr>
          <p:cNvPr id="144387" name="Group 70"/>
          <p:cNvGrpSpPr>
            <a:grpSpLocks/>
          </p:cNvGrpSpPr>
          <p:nvPr/>
        </p:nvGrpSpPr>
        <p:grpSpPr bwMode="auto">
          <a:xfrm>
            <a:off x="1295400" y="2362200"/>
            <a:ext cx="2514600" cy="2743200"/>
            <a:chOff x="816" y="1488"/>
            <a:chExt cx="1584" cy="1728"/>
          </a:xfrm>
        </p:grpSpPr>
        <p:sp>
          <p:nvSpPr>
            <p:cNvPr id="144402" name="Rectangle 4"/>
            <p:cNvSpPr>
              <a:spLocks noChangeArrowheads="1"/>
            </p:cNvSpPr>
            <p:nvPr/>
          </p:nvSpPr>
          <p:spPr bwMode="auto">
            <a:xfrm>
              <a:off x="2136" y="292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0</a:t>
              </a:r>
            </a:p>
          </p:txBody>
        </p:sp>
        <p:sp>
          <p:nvSpPr>
            <p:cNvPr id="144403" name="Rectangle 5"/>
            <p:cNvSpPr>
              <a:spLocks noChangeArrowheads="1"/>
            </p:cNvSpPr>
            <p:nvPr/>
          </p:nvSpPr>
          <p:spPr bwMode="auto">
            <a:xfrm>
              <a:off x="1872" y="292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4404" name="Rectangle 6"/>
            <p:cNvSpPr>
              <a:spLocks noChangeArrowheads="1"/>
            </p:cNvSpPr>
            <p:nvPr/>
          </p:nvSpPr>
          <p:spPr bwMode="auto">
            <a:xfrm>
              <a:off x="1608" y="292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5</a:t>
              </a:r>
            </a:p>
          </p:txBody>
        </p:sp>
        <p:sp>
          <p:nvSpPr>
            <p:cNvPr id="144405" name="Rectangle 7"/>
            <p:cNvSpPr>
              <a:spLocks noChangeArrowheads="1"/>
            </p:cNvSpPr>
            <p:nvPr/>
          </p:nvSpPr>
          <p:spPr bwMode="auto">
            <a:xfrm>
              <a:off x="1344" y="292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4406" name="Rectangle 8"/>
            <p:cNvSpPr>
              <a:spLocks noChangeArrowheads="1"/>
            </p:cNvSpPr>
            <p:nvPr/>
          </p:nvSpPr>
          <p:spPr bwMode="auto">
            <a:xfrm>
              <a:off x="1080" y="292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4407" name="Rectangle 9"/>
            <p:cNvSpPr>
              <a:spLocks noChangeArrowheads="1"/>
            </p:cNvSpPr>
            <p:nvPr/>
          </p:nvSpPr>
          <p:spPr bwMode="auto">
            <a:xfrm>
              <a:off x="816" y="292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 b="1"/>
                <a:t>E</a:t>
              </a:r>
            </a:p>
          </p:txBody>
        </p:sp>
        <p:sp>
          <p:nvSpPr>
            <p:cNvPr id="144408" name="Rectangle 10"/>
            <p:cNvSpPr>
              <a:spLocks noChangeArrowheads="1"/>
            </p:cNvSpPr>
            <p:nvPr/>
          </p:nvSpPr>
          <p:spPr bwMode="auto">
            <a:xfrm>
              <a:off x="2136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4409" name="Rectangle 11"/>
            <p:cNvSpPr>
              <a:spLocks noChangeArrowheads="1"/>
            </p:cNvSpPr>
            <p:nvPr/>
          </p:nvSpPr>
          <p:spPr bwMode="auto">
            <a:xfrm>
              <a:off x="1872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0</a:t>
              </a:r>
            </a:p>
          </p:txBody>
        </p:sp>
        <p:sp>
          <p:nvSpPr>
            <p:cNvPr id="144410" name="Rectangle 12"/>
            <p:cNvSpPr>
              <a:spLocks noChangeArrowheads="1"/>
            </p:cNvSpPr>
            <p:nvPr/>
          </p:nvSpPr>
          <p:spPr bwMode="auto">
            <a:xfrm>
              <a:off x="1608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1</a:t>
              </a:r>
            </a:p>
          </p:txBody>
        </p:sp>
        <p:sp>
          <p:nvSpPr>
            <p:cNvPr id="144411" name="Rectangle 13"/>
            <p:cNvSpPr>
              <a:spLocks noChangeArrowheads="1"/>
            </p:cNvSpPr>
            <p:nvPr/>
          </p:nvSpPr>
          <p:spPr bwMode="auto">
            <a:xfrm>
              <a:off x="1344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4</a:t>
              </a:r>
            </a:p>
          </p:txBody>
        </p:sp>
        <p:sp>
          <p:nvSpPr>
            <p:cNvPr id="144412" name="Rectangle 14"/>
            <p:cNvSpPr>
              <a:spLocks noChangeArrowheads="1"/>
            </p:cNvSpPr>
            <p:nvPr/>
          </p:nvSpPr>
          <p:spPr bwMode="auto">
            <a:xfrm>
              <a:off x="1080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4413" name="Rectangle 15"/>
            <p:cNvSpPr>
              <a:spLocks noChangeArrowheads="1"/>
            </p:cNvSpPr>
            <p:nvPr/>
          </p:nvSpPr>
          <p:spPr bwMode="auto">
            <a:xfrm>
              <a:off x="816" y="2640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 b="1"/>
                <a:t>D</a:t>
              </a:r>
            </a:p>
          </p:txBody>
        </p:sp>
        <p:sp>
          <p:nvSpPr>
            <p:cNvPr id="144414" name="Rectangle 16"/>
            <p:cNvSpPr>
              <a:spLocks noChangeArrowheads="1"/>
            </p:cNvSpPr>
            <p:nvPr/>
          </p:nvSpPr>
          <p:spPr bwMode="auto">
            <a:xfrm>
              <a:off x="2136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5</a:t>
              </a:r>
            </a:p>
          </p:txBody>
        </p:sp>
        <p:sp>
          <p:nvSpPr>
            <p:cNvPr id="144415" name="Rectangle 17"/>
            <p:cNvSpPr>
              <a:spLocks noChangeArrowheads="1"/>
            </p:cNvSpPr>
            <p:nvPr/>
          </p:nvSpPr>
          <p:spPr bwMode="auto">
            <a:xfrm>
              <a:off x="1872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1</a:t>
              </a:r>
            </a:p>
          </p:txBody>
        </p:sp>
        <p:sp>
          <p:nvSpPr>
            <p:cNvPr id="144416" name="Rectangle 18"/>
            <p:cNvSpPr>
              <a:spLocks noChangeArrowheads="1"/>
            </p:cNvSpPr>
            <p:nvPr/>
          </p:nvSpPr>
          <p:spPr bwMode="auto">
            <a:xfrm>
              <a:off x="1608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0</a:t>
              </a:r>
            </a:p>
          </p:txBody>
        </p:sp>
        <p:sp>
          <p:nvSpPr>
            <p:cNvPr id="144417" name="Rectangle 19"/>
            <p:cNvSpPr>
              <a:spLocks noChangeArrowheads="1"/>
            </p:cNvSpPr>
            <p:nvPr/>
          </p:nvSpPr>
          <p:spPr bwMode="auto">
            <a:xfrm>
              <a:off x="1344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4418" name="Rectangle 20"/>
            <p:cNvSpPr>
              <a:spLocks noChangeArrowheads="1"/>
            </p:cNvSpPr>
            <p:nvPr/>
          </p:nvSpPr>
          <p:spPr bwMode="auto">
            <a:xfrm>
              <a:off x="1080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4419" name="Rectangle 21"/>
            <p:cNvSpPr>
              <a:spLocks noChangeArrowheads="1"/>
            </p:cNvSpPr>
            <p:nvPr/>
          </p:nvSpPr>
          <p:spPr bwMode="auto">
            <a:xfrm>
              <a:off x="816" y="2352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 b="1"/>
                <a:t>C</a:t>
              </a:r>
            </a:p>
          </p:txBody>
        </p:sp>
        <p:sp>
          <p:nvSpPr>
            <p:cNvPr id="144420" name="Rectangle 22"/>
            <p:cNvSpPr>
              <a:spLocks noChangeArrowheads="1"/>
            </p:cNvSpPr>
            <p:nvPr/>
          </p:nvSpPr>
          <p:spPr bwMode="auto">
            <a:xfrm>
              <a:off x="2136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4421" name="Rectangle 23"/>
            <p:cNvSpPr>
              <a:spLocks noChangeArrowheads="1"/>
            </p:cNvSpPr>
            <p:nvPr/>
          </p:nvSpPr>
          <p:spPr bwMode="auto">
            <a:xfrm>
              <a:off x="1872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4</a:t>
              </a:r>
            </a:p>
          </p:txBody>
        </p:sp>
        <p:sp>
          <p:nvSpPr>
            <p:cNvPr id="144422" name="Rectangle 24"/>
            <p:cNvSpPr>
              <a:spLocks noChangeArrowheads="1"/>
            </p:cNvSpPr>
            <p:nvPr/>
          </p:nvSpPr>
          <p:spPr bwMode="auto">
            <a:xfrm>
              <a:off x="1608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4423" name="Rectangle 25"/>
            <p:cNvSpPr>
              <a:spLocks noChangeArrowheads="1"/>
            </p:cNvSpPr>
            <p:nvPr/>
          </p:nvSpPr>
          <p:spPr bwMode="auto">
            <a:xfrm>
              <a:off x="1344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0</a:t>
              </a:r>
            </a:p>
          </p:txBody>
        </p:sp>
        <p:sp>
          <p:nvSpPr>
            <p:cNvPr id="144424" name="Rectangle 26"/>
            <p:cNvSpPr>
              <a:spLocks noChangeArrowheads="1"/>
            </p:cNvSpPr>
            <p:nvPr/>
          </p:nvSpPr>
          <p:spPr bwMode="auto">
            <a:xfrm>
              <a:off x="1080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1</a:t>
              </a:r>
            </a:p>
          </p:txBody>
        </p:sp>
        <p:sp>
          <p:nvSpPr>
            <p:cNvPr id="144425" name="Rectangle 27"/>
            <p:cNvSpPr>
              <a:spLocks noChangeArrowheads="1"/>
            </p:cNvSpPr>
            <p:nvPr/>
          </p:nvSpPr>
          <p:spPr bwMode="auto">
            <a:xfrm>
              <a:off x="816" y="2064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 b="1"/>
                <a:t>B</a:t>
              </a:r>
            </a:p>
          </p:txBody>
        </p:sp>
        <p:sp>
          <p:nvSpPr>
            <p:cNvPr id="144426" name="Rectangle 28"/>
            <p:cNvSpPr>
              <a:spLocks noChangeArrowheads="1"/>
            </p:cNvSpPr>
            <p:nvPr/>
          </p:nvSpPr>
          <p:spPr bwMode="auto">
            <a:xfrm>
              <a:off x="2136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3</a:t>
              </a:r>
            </a:p>
          </p:txBody>
        </p:sp>
        <p:sp>
          <p:nvSpPr>
            <p:cNvPr id="144427" name="Rectangle 29"/>
            <p:cNvSpPr>
              <a:spLocks noChangeArrowheads="1"/>
            </p:cNvSpPr>
            <p:nvPr/>
          </p:nvSpPr>
          <p:spPr bwMode="auto">
            <a:xfrm>
              <a:off x="1872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4428" name="Rectangle 30"/>
            <p:cNvSpPr>
              <a:spLocks noChangeArrowheads="1"/>
            </p:cNvSpPr>
            <p:nvPr/>
          </p:nvSpPr>
          <p:spPr bwMode="auto">
            <a:xfrm>
              <a:off x="1608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2</a:t>
              </a:r>
            </a:p>
          </p:txBody>
        </p:sp>
        <p:sp>
          <p:nvSpPr>
            <p:cNvPr id="144429" name="Rectangle 31"/>
            <p:cNvSpPr>
              <a:spLocks noChangeArrowheads="1"/>
            </p:cNvSpPr>
            <p:nvPr/>
          </p:nvSpPr>
          <p:spPr bwMode="auto">
            <a:xfrm>
              <a:off x="1344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1</a:t>
              </a:r>
            </a:p>
          </p:txBody>
        </p:sp>
        <p:sp>
          <p:nvSpPr>
            <p:cNvPr id="144430" name="Rectangle 32"/>
            <p:cNvSpPr>
              <a:spLocks noChangeArrowheads="1"/>
            </p:cNvSpPr>
            <p:nvPr/>
          </p:nvSpPr>
          <p:spPr bwMode="auto">
            <a:xfrm>
              <a:off x="1080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/>
                <a:t>0</a:t>
              </a:r>
            </a:p>
          </p:txBody>
        </p:sp>
        <p:sp>
          <p:nvSpPr>
            <p:cNvPr id="144431" name="Rectangle 33"/>
            <p:cNvSpPr>
              <a:spLocks noChangeArrowheads="1"/>
            </p:cNvSpPr>
            <p:nvPr/>
          </p:nvSpPr>
          <p:spPr bwMode="auto">
            <a:xfrm>
              <a:off x="816" y="1776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 b="1"/>
                <a:t>A</a:t>
              </a:r>
            </a:p>
          </p:txBody>
        </p:sp>
        <p:sp>
          <p:nvSpPr>
            <p:cNvPr id="144432" name="Rectangle 34"/>
            <p:cNvSpPr>
              <a:spLocks noChangeArrowheads="1"/>
            </p:cNvSpPr>
            <p:nvPr/>
          </p:nvSpPr>
          <p:spPr bwMode="auto">
            <a:xfrm>
              <a:off x="2136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 b="1"/>
                <a:t>E</a:t>
              </a:r>
            </a:p>
          </p:txBody>
        </p:sp>
        <p:sp>
          <p:nvSpPr>
            <p:cNvPr id="144433" name="Rectangle 35"/>
            <p:cNvSpPr>
              <a:spLocks noChangeArrowheads="1"/>
            </p:cNvSpPr>
            <p:nvPr/>
          </p:nvSpPr>
          <p:spPr bwMode="auto">
            <a:xfrm>
              <a:off x="1872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 b="1"/>
                <a:t>D</a:t>
              </a:r>
            </a:p>
          </p:txBody>
        </p:sp>
        <p:sp>
          <p:nvSpPr>
            <p:cNvPr id="144434" name="Rectangle 36"/>
            <p:cNvSpPr>
              <a:spLocks noChangeArrowheads="1"/>
            </p:cNvSpPr>
            <p:nvPr/>
          </p:nvSpPr>
          <p:spPr bwMode="auto">
            <a:xfrm>
              <a:off x="1608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 b="1"/>
                <a:t>C</a:t>
              </a:r>
            </a:p>
          </p:txBody>
        </p:sp>
        <p:sp>
          <p:nvSpPr>
            <p:cNvPr id="144435" name="Rectangle 37"/>
            <p:cNvSpPr>
              <a:spLocks noChangeArrowheads="1"/>
            </p:cNvSpPr>
            <p:nvPr/>
          </p:nvSpPr>
          <p:spPr bwMode="auto">
            <a:xfrm>
              <a:off x="1344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 b="1"/>
                <a:t>B</a:t>
              </a:r>
            </a:p>
          </p:txBody>
        </p:sp>
        <p:sp>
          <p:nvSpPr>
            <p:cNvPr id="144436" name="Rectangle 38"/>
            <p:cNvSpPr>
              <a:spLocks noChangeArrowheads="1"/>
            </p:cNvSpPr>
            <p:nvPr/>
          </p:nvSpPr>
          <p:spPr bwMode="auto">
            <a:xfrm>
              <a:off x="1080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r>
                <a:rPr lang="en-US" altLang="en-US" sz="2000" b="1"/>
                <a:t>A</a:t>
              </a:r>
            </a:p>
          </p:txBody>
        </p:sp>
        <p:sp>
          <p:nvSpPr>
            <p:cNvPr id="144437" name="Rectangle 39"/>
            <p:cNvSpPr>
              <a:spLocks noChangeArrowheads="1"/>
            </p:cNvSpPr>
            <p:nvPr/>
          </p:nvSpPr>
          <p:spPr bwMode="auto">
            <a:xfrm>
              <a:off x="816" y="1488"/>
              <a:ext cx="264" cy="288"/>
            </a:xfrm>
            <a:prstGeom prst="rect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>
                  <a:schemeClr val="accent1"/>
                </a:buClr>
                <a:buFont typeface="Wingdings" panose="05000000000000000000" pitchFamily="2" charset="2"/>
                <a:buNone/>
              </a:pPr>
              <a:endParaRPr lang="en-US" altLang="en-US" sz="2000" b="1"/>
            </a:p>
          </p:txBody>
        </p:sp>
        <p:sp>
          <p:nvSpPr>
            <p:cNvPr id="144438" name="Line 40"/>
            <p:cNvSpPr>
              <a:spLocks noChangeShapeType="1"/>
            </p:cNvSpPr>
            <p:nvPr/>
          </p:nvSpPr>
          <p:spPr bwMode="auto">
            <a:xfrm>
              <a:off x="816" y="1488"/>
              <a:ext cx="15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39" name="Line 41"/>
            <p:cNvSpPr>
              <a:spLocks noChangeShapeType="1"/>
            </p:cNvSpPr>
            <p:nvPr/>
          </p:nvSpPr>
          <p:spPr bwMode="auto">
            <a:xfrm>
              <a:off x="816" y="1776"/>
              <a:ext cx="158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40" name="Line 42"/>
            <p:cNvSpPr>
              <a:spLocks noChangeShapeType="1"/>
            </p:cNvSpPr>
            <p:nvPr/>
          </p:nvSpPr>
          <p:spPr bwMode="auto">
            <a:xfrm>
              <a:off x="816" y="2064"/>
              <a:ext cx="15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41" name="Line 43"/>
            <p:cNvSpPr>
              <a:spLocks noChangeShapeType="1"/>
            </p:cNvSpPr>
            <p:nvPr/>
          </p:nvSpPr>
          <p:spPr bwMode="auto">
            <a:xfrm>
              <a:off x="816" y="2352"/>
              <a:ext cx="15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42" name="Line 44"/>
            <p:cNvSpPr>
              <a:spLocks noChangeShapeType="1"/>
            </p:cNvSpPr>
            <p:nvPr/>
          </p:nvSpPr>
          <p:spPr bwMode="auto">
            <a:xfrm>
              <a:off x="816" y="2640"/>
              <a:ext cx="15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43" name="Line 45"/>
            <p:cNvSpPr>
              <a:spLocks noChangeShapeType="1"/>
            </p:cNvSpPr>
            <p:nvPr/>
          </p:nvSpPr>
          <p:spPr bwMode="auto">
            <a:xfrm>
              <a:off x="816" y="2928"/>
              <a:ext cx="15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44" name="Line 46"/>
            <p:cNvSpPr>
              <a:spLocks noChangeShapeType="1"/>
            </p:cNvSpPr>
            <p:nvPr/>
          </p:nvSpPr>
          <p:spPr bwMode="auto">
            <a:xfrm>
              <a:off x="816" y="3216"/>
              <a:ext cx="1584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45" name="Line 47"/>
            <p:cNvSpPr>
              <a:spLocks noChangeShapeType="1"/>
            </p:cNvSpPr>
            <p:nvPr/>
          </p:nvSpPr>
          <p:spPr bwMode="auto">
            <a:xfrm>
              <a:off x="816" y="1488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46" name="Line 48"/>
            <p:cNvSpPr>
              <a:spLocks noChangeShapeType="1"/>
            </p:cNvSpPr>
            <p:nvPr/>
          </p:nvSpPr>
          <p:spPr bwMode="auto">
            <a:xfrm>
              <a:off x="1080" y="1488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47" name="Line 49"/>
            <p:cNvSpPr>
              <a:spLocks noChangeShapeType="1"/>
            </p:cNvSpPr>
            <p:nvPr/>
          </p:nvSpPr>
          <p:spPr bwMode="auto">
            <a:xfrm>
              <a:off x="1344" y="1488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48" name="Line 50"/>
            <p:cNvSpPr>
              <a:spLocks noChangeShapeType="1"/>
            </p:cNvSpPr>
            <p:nvPr/>
          </p:nvSpPr>
          <p:spPr bwMode="auto">
            <a:xfrm>
              <a:off x="1608" y="1488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49" name="Line 51"/>
            <p:cNvSpPr>
              <a:spLocks noChangeShapeType="1"/>
            </p:cNvSpPr>
            <p:nvPr/>
          </p:nvSpPr>
          <p:spPr bwMode="auto">
            <a:xfrm>
              <a:off x="1872" y="1488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50" name="Line 52"/>
            <p:cNvSpPr>
              <a:spLocks noChangeShapeType="1"/>
            </p:cNvSpPr>
            <p:nvPr/>
          </p:nvSpPr>
          <p:spPr bwMode="auto">
            <a:xfrm>
              <a:off x="2136" y="1488"/>
              <a:ext cx="0" cy="1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51" name="Line 53"/>
            <p:cNvSpPr>
              <a:spLocks noChangeShapeType="1"/>
            </p:cNvSpPr>
            <p:nvPr/>
          </p:nvSpPr>
          <p:spPr bwMode="auto">
            <a:xfrm>
              <a:off x="2400" y="1488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52" name="Line 54"/>
            <p:cNvSpPr>
              <a:spLocks noChangeShapeType="1"/>
            </p:cNvSpPr>
            <p:nvPr/>
          </p:nvSpPr>
          <p:spPr bwMode="auto">
            <a:xfrm>
              <a:off x="816" y="1776"/>
              <a:ext cx="0" cy="144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  <p:sp>
          <p:nvSpPr>
            <p:cNvPr id="144453" name="Line 55"/>
            <p:cNvSpPr>
              <a:spLocks noChangeShapeType="1"/>
            </p:cNvSpPr>
            <p:nvPr/>
          </p:nvSpPr>
          <p:spPr bwMode="auto">
            <a:xfrm>
              <a:off x="2400" y="1776"/>
              <a:ext cx="0" cy="144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</p:grpSp>
      <p:sp>
        <p:nvSpPr>
          <p:cNvPr id="144388" name="Oval 56"/>
          <p:cNvSpPr>
            <a:spLocks noChangeArrowheads="1"/>
          </p:cNvSpPr>
          <p:nvPr/>
        </p:nvSpPr>
        <p:spPr bwMode="auto">
          <a:xfrm>
            <a:off x="5715000" y="2590800"/>
            <a:ext cx="76200" cy="76200"/>
          </a:xfrm>
          <a:prstGeom prst="ellipse">
            <a:avLst/>
          </a:prstGeom>
          <a:noFill/>
          <a:ln w="5715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4389" name="Oval 57"/>
          <p:cNvSpPr>
            <a:spLocks noChangeArrowheads="1"/>
          </p:cNvSpPr>
          <p:nvPr/>
        </p:nvSpPr>
        <p:spPr bwMode="auto">
          <a:xfrm>
            <a:off x="6705600" y="2590800"/>
            <a:ext cx="76200" cy="76200"/>
          </a:xfrm>
          <a:prstGeom prst="ellipse">
            <a:avLst/>
          </a:prstGeom>
          <a:noFill/>
          <a:ln w="5715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4390" name="Oval 58"/>
          <p:cNvSpPr>
            <a:spLocks noChangeArrowheads="1"/>
          </p:cNvSpPr>
          <p:nvPr/>
        </p:nvSpPr>
        <p:spPr bwMode="auto">
          <a:xfrm>
            <a:off x="7315200" y="3505200"/>
            <a:ext cx="76200" cy="76200"/>
          </a:xfrm>
          <a:prstGeom prst="ellipse">
            <a:avLst/>
          </a:prstGeom>
          <a:noFill/>
          <a:ln w="5715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4391" name="Oval 59"/>
          <p:cNvSpPr>
            <a:spLocks noChangeArrowheads="1"/>
          </p:cNvSpPr>
          <p:nvPr/>
        </p:nvSpPr>
        <p:spPr bwMode="auto">
          <a:xfrm>
            <a:off x="5181600" y="3505200"/>
            <a:ext cx="76200" cy="76200"/>
          </a:xfrm>
          <a:prstGeom prst="ellipse">
            <a:avLst/>
          </a:prstGeom>
          <a:noFill/>
          <a:ln w="5715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4392" name="Oval 60"/>
          <p:cNvSpPr>
            <a:spLocks noChangeArrowheads="1"/>
          </p:cNvSpPr>
          <p:nvPr/>
        </p:nvSpPr>
        <p:spPr bwMode="auto">
          <a:xfrm>
            <a:off x="6248400" y="4343400"/>
            <a:ext cx="76200" cy="76200"/>
          </a:xfrm>
          <a:prstGeom prst="ellipse">
            <a:avLst/>
          </a:prstGeom>
          <a:noFill/>
          <a:ln w="5715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4393" name="Text Box 61"/>
          <p:cNvSpPr txBox="1">
            <a:spLocks noChangeArrowheads="1"/>
          </p:cNvSpPr>
          <p:nvPr/>
        </p:nvSpPr>
        <p:spPr bwMode="auto">
          <a:xfrm>
            <a:off x="6705600" y="1981200"/>
            <a:ext cx="444500" cy="514350"/>
          </a:xfrm>
          <a:prstGeom prst="rect">
            <a:avLst/>
          </a:prstGeom>
          <a:noFill/>
          <a:ln w="57150" cap="sq">
            <a:solidFill>
              <a:srgbClr val="CCE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44394" name="Text Box 62"/>
          <p:cNvSpPr txBox="1">
            <a:spLocks noChangeArrowheads="1"/>
          </p:cNvSpPr>
          <p:nvPr/>
        </p:nvSpPr>
        <p:spPr bwMode="auto">
          <a:xfrm>
            <a:off x="5486400" y="1981200"/>
            <a:ext cx="444500" cy="514350"/>
          </a:xfrm>
          <a:prstGeom prst="rect">
            <a:avLst/>
          </a:prstGeom>
          <a:noFill/>
          <a:ln w="57150" cap="sq">
            <a:solidFill>
              <a:srgbClr val="CCE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44395" name="Text Box 63"/>
          <p:cNvSpPr txBox="1">
            <a:spLocks noChangeArrowheads="1"/>
          </p:cNvSpPr>
          <p:nvPr/>
        </p:nvSpPr>
        <p:spPr bwMode="auto">
          <a:xfrm>
            <a:off x="4648200" y="3276600"/>
            <a:ext cx="457200" cy="514350"/>
          </a:xfrm>
          <a:prstGeom prst="rect">
            <a:avLst/>
          </a:prstGeom>
          <a:noFill/>
          <a:ln w="57150" cap="sq">
            <a:solidFill>
              <a:srgbClr val="CCE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44396" name="Text Box 64"/>
          <p:cNvSpPr txBox="1">
            <a:spLocks noChangeArrowheads="1"/>
          </p:cNvSpPr>
          <p:nvPr/>
        </p:nvSpPr>
        <p:spPr bwMode="auto">
          <a:xfrm>
            <a:off x="7467600" y="3276600"/>
            <a:ext cx="457200" cy="514350"/>
          </a:xfrm>
          <a:prstGeom prst="rect">
            <a:avLst/>
          </a:prstGeom>
          <a:noFill/>
          <a:ln w="57150" cap="sq">
            <a:solidFill>
              <a:srgbClr val="CCE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44397" name="Text Box 65"/>
          <p:cNvSpPr txBox="1">
            <a:spLocks noChangeArrowheads="1"/>
          </p:cNvSpPr>
          <p:nvPr/>
        </p:nvSpPr>
        <p:spPr bwMode="auto">
          <a:xfrm>
            <a:off x="6096000" y="4495800"/>
            <a:ext cx="457200" cy="514350"/>
          </a:xfrm>
          <a:prstGeom prst="rect">
            <a:avLst/>
          </a:prstGeom>
          <a:noFill/>
          <a:ln w="57150" cap="sq">
            <a:solidFill>
              <a:srgbClr val="CCE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215106" name="Line 66"/>
          <p:cNvSpPr>
            <a:spLocks noChangeShapeType="1"/>
          </p:cNvSpPr>
          <p:nvPr/>
        </p:nvSpPr>
        <p:spPr bwMode="auto">
          <a:xfrm>
            <a:off x="5791200" y="2667000"/>
            <a:ext cx="914400" cy="0"/>
          </a:xfrm>
          <a:prstGeom prst="line">
            <a:avLst/>
          </a:prstGeom>
          <a:noFill/>
          <a:ln w="1905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5107" name="Line 67"/>
          <p:cNvSpPr>
            <a:spLocks noChangeShapeType="1"/>
          </p:cNvSpPr>
          <p:nvPr/>
        </p:nvSpPr>
        <p:spPr bwMode="auto">
          <a:xfrm flipV="1">
            <a:off x="6324600" y="3505200"/>
            <a:ext cx="1066800" cy="914400"/>
          </a:xfrm>
          <a:prstGeom prst="line">
            <a:avLst/>
          </a:prstGeom>
          <a:noFill/>
          <a:ln w="1905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5108" name="Line 68"/>
          <p:cNvSpPr>
            <a:spLocks noChangeShapeType="1"/>
          </p:cNvSpPr>
          <p:nvPr/>
        </p:nvSpPr>
        <p:spPr bwMode="auto">
          <a:xfrm>
            <a:off x="6705600" y="2667000"/>
            <a:ext cx="685800" cy="914400"/>
          </a:xfrm>
          <a:prstGeom prst="line">
            <a:avLst/>
          </a:prstGeom>
          <a:noFill/>
          <a:ln w="1905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215109" name="Line 69"/>
          <p:cNvSpPr>
            <a:spLocks noChangeShapeType="1"/>
          </p:cNvSpPr>
          <p:nvPr/>
        </p:nvSpPr>
        <p:spPr bwMode="auto">
          <a:xfrm>
            <a:off x="5257800" y="3581400"/>
            <a:ext cx="1066800" cy="838200"/>
          </a:xfrm>
          <a:prstGeom prst="line">
            <a:avLst/>
          </a:prstGeom>
          <a:noFill/>
          <a:ln w="1905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9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6" grpId="0" animBg="1"/>
      <p:bldP spid="215107" grpId="0" animBg="1"/>
      <p:bldP spid="215108" grpId="0" animBg="1"/>
      <p:bldP spid="21510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838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sz="4000" b="1" smtClean="0">
                <a:effectLst/>
              </a:rPr>
              <a:t>Agglomerative Algorithm</a:t>
            </a:r>
          </a:p>
        </p:txBody>
      </p:sp>
      <p:pic>
        <p:nvPicPr>
          <p:cNvPr id="145411" name="Picture 3" descr="d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55576"/>
            <a:ext cx="73152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161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b="1" smtClean="0">
                <a:effectLst/>
              </a:rPr>
              <a:t>Single Link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05000"/>
            <a:ext cx="7772400" cy="4454525"/>
          </a:xfrm>
        </p:spPr>
        <p:txBody>
          <a:bodyPr/>
          <a:lstStyle/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</a:rPr>
              <a:t>View all items with links (distances) between them.</a:t>
            </a:r>
          </a:p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</a:rPr>
              <a:t>Finds maximal connected components in this graph.</a:t>
            </a:r>
          </a:p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</a:rPr>
              <a:t>Two clusters are merged if there is at least one edge which connects them.</a:t>
            </a:r>
          </a:p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</a:rPr>
              <a:t>Uses threshold distances at each level.</a:t>
            </a:r>
          </a:p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</a:rPr>
              <a:t>Could be agglomerative or divisive.</a:t>
            </a:r>
          </a:p>
        </p:txBody>
      </p:sp>
    </p:spTree>
    <p:extLst>
      <p:ext uri="{BB962C8B-B14F-4D97-AF65-F5344CB8AC3E}">
        <p14:creationId xmlns:p14="http://schemas.microsoft.com/office/powerpoint/2010/main" val="416074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838200"/>
          </a:xfrm>
        </p:spPr>
        <p:txBody>
          <a:bodyPr/>
          <a:lstStyle/>
          <a:p>
            <a:r>
              <a:rPr lang="en-US" altLang="en-US" b="1" dirty="0" smtClean="0">
                <a:effectLst/>
              </a:rPr>
              <a:t>MST Single Link Algorithm</a:t>
            </a:r>
          </a:p>
        </p:txBody>
      </p:sp>
      <p:pic>
        <p:nvPicPr>
          <p:cNvPr id="147459" name="Picture 3" descr="du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7315200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057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>
                <a:effectLst/>
              </a:rPr>
              <a:t>Single Link Clustering</a:t>
            </a:r>
          </a:p>
        </p:txBody>
      </p:sp>
      <p:pic>
        <p:nvPicPr>
          <p:cNvPr id="148483" name="Picture 3" descr="dendro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82296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533400" y="2057400"/>
            <a:ext cx="8229600" cy="3505200"/>
          </a:xfrm>
          <a:prstGeom prst="rect">
            <a:avLst/>
          </a:prstGeom>
          <a:noFill/>
          <a:ln w="57150" cap="sq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8485" name="Line 5"/>
          <p:cNvSpPr>
            <a:spLocks noChangeShapeType="1"/>
          </p:cNvSpPr>
          <p:nvPr/>
        </p:nvSpPr>
        <p:spPr bwMode="auto">
          <a:xfrm>
            <a:off x="3276600" y="2057400"/>
            <a:ext cx="0" cy="3505200"/>
          </a:xfrm>
          <a:prstGeom prst="line">
            <a:avLst/>
          </a:prstGeom>
          <a:noFill/>
          <a:ln w="57150" cap="sq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148486" name="Line 6"/>
          <p:cNvSpPr>
            <a:spLocks noChangeShapeType="1"/>
          </p:cNvSpPr>
          <p:nvPr/>
        </p:nvSpPr>
        <p:spPr bwMode="auto">
          <a:xfrm>
            <a:off x="6096000" y="2057400"/>
            <a:ext cx="0" cy="3505200"/>
          </a:xfrm>
          <a:prstGeom prst="line">
            <a:avLst/>
          </a:prstGeom>
          <a:noFill/>
          <a:ln w="57150" cap="sq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2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ChangeArrowheads="1"/>
          </p:cNvSpPr>
          <p:nvPr/>
        </p:nvSpPr>
        <p:spPr bwMode="auto">
          <a:xfrm>
            <a:off x="0" y="9144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ja-JP" sz="4000" b="1">
                <a:ea typeface="ＭＳ Ｐゴシック" panose="020B0600070205080204" pitchFamily="34" charset="-128"/>
              </a:rPr>
              <a:t>How to Compute Group Similarity?</a:t>
            </a:r>
          </a:p>
        </p:txBody>
      </p:sp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304800" y="2590800"/>
            <a:ext cx="8610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Given two groups g1 and g2,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ja-JP" sz="1800"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 i="1">
                <a:ea typeface="ＭＳ Ｐゴシック" panose="020B0600070205080204" pitchFamily="34" charset="-128"/>
              </a:rPr>
              <a:t>Single-link algorithm:</a:t>
            </a:r>
            <a:r>
              <a:rPr lang="en-US" altLang="ja-JP" sz="1800">
                <a:ea typeface="ＭＳ Ｐゴシック" panose="020B0600070205080204" pitchFamily="34" charset="-128"/>
              </a:rPr>
              <a:t> s(g1,g2)= similarity of the </a:t>
            </a:r>
            <a:r>
              <a:rPr lang="en-US" altLang="ja-JP" sz="1800" i="1">
                <a:ea typeface="ＭＳ Ｐゴシック" panose="020B0600070205080204" pitchFamily="34" charset="-128"/>
              </a:rPr>
              <a:t>closest</a:t>
            </a:r>
            <a:r>
              <a:rPr lang="en-US" altLang="ja-JP" sz="1800">
                <a:ea typeface="ＭＳ Ｐゴシック" panose="020B0600070205080204" pitchFamily="34" charset="-128"/>
              </a:rPr>
              <a:t> pair</a:t>
            </a:r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304800" y="4038600"/>
            <a:ext cx="868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 i="1">
                <a:ea typeface="ＭＳ Ｐゴシック" panose="020B0600070205080204" pitchFamily="34" charset="-128"/>
              </a:rPr>
              <a:t>Complete-link algorithm:</a:t>
            </a:r>
            <a:r>
              <a:rPr lang="en-US" altLang="ja-JP" sz="1800">
                <a:ea typeface="ＭＳ Ｐゴシック" panose="020B0600070205080204" pitchFamily="34" charset="-128"/>
              </a:rPr>
              <a:t> s(g1,g2)= similarity of the </a:t>
            </a:r>
            <a:r>
              <a:rPr lang="en-US" altLang="ja-JP" sz="1800" i="1">
                <a:ea typeface="ＭＳ Ｐゴシック" panose="020B0600070205080204" pitchFamily="34" charset="-128"/>
              </a:rPr>
              <a:t>farthest</a:t>
            </a:r>
            <a:r>
              <a:rPr lang="en-US" altLang="ja-JP" sz="1800">
                <a:ea typeface="ＭＳ Ｐゴシック" panose="020B0600070205080204" pitchFamily="34" charset="-128"/>
              </a:rPr>
              <a:t> pair</a:t>
            </a:r>
          </a:p>
        </p:txBody>
      </p:sp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381000" y="4953000"/>
            <a:ext cx="861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 i="1">
                <a:ea typeface="ＭＳ Ｐゴシック" panose="020B0600070205080204" pitchFamily="34" charset="-128"/>
              </a:rPr>
              <a:t>Average-link algorithm:</a:t>
            </a:r>
            <a:r>
              <a:rPr lang="en-US" altLang="ja-JP" sz="1800" b="1">
                <a:ea typeface="ＭＳ Ｐゴシック" panose="020B0600070205080204" pitchFamily="34" charset="-128"/>
              </a:rPr>
              <a:t> s(g1,g2)= </a:t>
            </a:r>
            <a:r>
              <a:rPr lang="en-US" altLang="ja-JP" sz="1800" i="1">
                <a:ea typeface="ＭＳ Ｐゴシック" panose="020B0600070205080204" pitchFamily="34" charset="-128"/>
              </a:rPr>
              <a:t>average </a:t>
            </a:r>
            <a:r>
              <a:rPr lang="en-US" altLang="ja-JP" sz="1800">
                <a:ea typeface="ＭＳ Ｐゴシック" panose="020B0600070205080204" pitchFamily="34" charset="-128"/>
              </a:rPr>
              <a:t>of similarity of all pairs</a:t>
            </a: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152400" y="1946275"/>
            <a:ext cx="5062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b="1">
                <a:ea typeface="ＭＳ Ｐゴシック" panose="020B0600070205080204" pitchFamily="34" charset="-128"/>
              </a:rPr>
              <a:t>Three Popular Methods:</a:t>
            </a:r>
          </a:p>
        </p:txBody>
      </p:sp>
    </p:spTree>
    <p:extLst>
      <p:ext uri="{BB962C8B-B14F-4D97-AF65-F5344CB8AC3E}">
        <p14:creationId xmlns:p14="http://schemas.microsoft.com/office/powerpoint/2010/main" val="420608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ChangeArrowheads="1"/>
          </p:cNvSpPr>
          <p:nvPr/>
        </p:nvSpPr>
        <p:spPr bwMode="auto">
          <a:xfrm>
            <a:off x="0" y="9144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ja-JP" sz="4000" b="1">
                <a:ea typeface="ＭＳ Ｐゴシック" panose="020B0600070205080204" pitchFamily="34" charset="-128"/>
              </a:rPr>
              <a:t>Three Methods Illustrated</a:t>
            </a:r>
          </a:p>
        </p:txBody>
      </p:sp>
      <p:sp>
        <p:nvSpPr>
          <p:cNvPr id="150531" name="Text Box 4"/>
          <p:cNvSpPr txBox="1">
            <a:spLocks noChangeArrowheads="1"/>
          </p:cNvSpPr>
          <p:nvPr/>
        </p:nvSpPr>
        <p:spPr bwMode="auto">
          <a:xfrm>
            <a:off x="1905000" y="5029200"/>
            <a:ext cx="2795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Single-link algorithm</a:t>
            </a:r>
          </a:p>
        </p:txBody>
      </p:sp>
      <p:sp>
        <p:nvSpPr>
          <p:cNvPr id="150532" name="Freeform 5"/>
          <p:cNvSpPr>
            <a:spLocks/>
          </p:cNvSpPr>
          <p:nvPr/>
        </p:nvSpPr>
        <p:spPr bwMode="auto">
          <a:xfrm>
            <a:off x="3124200" y="4038600"/>
            <a:ext cx="2438400" cy="482600"/>
          </a:xfrm>
          <a:custGeom>
            <a:avLst/>
            <a:gdLst>
              <a:gd name="T0" fmla="*/ 0 w 1536"/>
              <a:gd name="T1" fmla="*/ 0 h 304"/>
              <a:gd name="T2" fmla="*/ 2147483646 w 1536"/>
              <a:gd name="T3" fmla="*/ 2147483646 h 304"/>
              <a:gd name="T4" fmla="*/ 2147483646 w 1536"/>
              <a:gd name="T5" fmla="*/ 2147483646 h 304"/>
              <a:gd name="T6" fmla="*/ 0 60000 65536"/>
              <a:gd name="T7" fmla="*/ 0 60000 65536"/>
              <a:gd name="T8" fmla="*/ 0 60000 65536"/>
              <a:gd name="T9" fmla="*/ 0 w 1536"/>
              <a:gd name="T10" fmla="*/ 0 h 304"/>
              <a:gd name="T11" fmla="*/ 1536 w 1536"/>
              <a:gd name="T12" fmla="*/ 304 h 3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36" h="304">
                <a:moveTo>
                  <a:pt x="0" y="0"/>
                </a:moveTo>
                <a:cubicBezTo>
                  <a:pt x="208" y="136"/>
                  <a:pt x="416" y="272"/>
                  <a:pt x="672" y="288"/>
                </a:cubicBezTo>
                <a:cubicBezTo>
                  <a:pt x="928" y="304"/>
                  <a:pt x="1232" y="200"/>
                  <a:pt x="1536" y="9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33" name="Line 6"/>
          <p:cNvSpPr>
            <a:spLocks noChangeShapeType="1"/>
          </p:cNvSpPr>
          <p:nvPr/>
        </p:nvSpPr>
        <p:spPr bwMode="auto">
          <a:xfrm flipV="1">
            <a:off x="3048000" y="4495800"/>
            <a:ext cx="8382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34" name="Line 8"/>
          <p:cNvSpPr>
            <a:spLocks noChangeShapeType="1"/>
          </p:cNvSpPr>
          <p:nvPr/>
        </p:nvSpPr>
        <p:spPr bwMode="auto">
          <a:xfrm flipH="1">
            <a:off x="3581400" y="38608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35" name="Line 9"/>
          <p:cNvSpPr>
            <a:spLocks noChangeShapeType="1"/>
          </p:cNvSpPr>
          <p:nvPr/>
        </p:nvSpPr>
        <p:spPr bwMode="auto">
          <a:xfrm>
            <a:off x="4343400" y="3860800"/>
            <a:ext cx="533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36" name="Text Box 10"/>
          <p:cNvSpPr txBox="1">
            <a:spLocks noChangeArrowheads="1"/>
          </p:cNvSpPr>
          <p:nvPr/>
        </p:nvSpPr>
        <p:spPr bwMode="auto">
          <a:xfrm>
            <a:off x="4022725" y="36734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?</a:t>
            </a:r>
          </a:p>
        </p:txBody>
      </p:sp>
      <p:sp>
        <p:nvSpPr>
          <p:cNvPr id="150537" name="Rectangle 12"/>
          <p:cNvSpPr>
            <a:spLocks noChangeArrowheads="1"/>
          </p:cNvSpPr>
          <p:nvPr/>
        </p:nvSpPr>
        <p:spPr bwMode="auto">
          <a:xfrm>
            <a:off x="2286000" y="42418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38" name="Rectangle 13"/>
          <p:cNvSpPr>
            <a:spLocks noChangeArrowheads="1"/>
          </p:cNvSpPr>
          <p:nvPr/>
        </p:nvSpPr>
        <p:spPr bwMode="auto">
          <a:xfrm>
            <a:off x="2286000" y="34036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39" name="Rectangle 14"/>
          <p:cNvSpPr>
            <a:spLocks noChangeArrowheads="1"/>
          </p:cNvSpPr>
          <p:nvPr/>
        </p:nvSpPr>
        <p:spPr bwMode="auto">
          <a:xfrm>
            <a:off x="1752600" y="37846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0" name="Rectangle 15"/>
          <p:cNvSpPr>
            <a:spLocks noChangeArrowheads="1"/>
          </p:cNvSpPr>
          <p:nvPr/>
        </p:nvSpPr>
        <p:spPr bwMode="auto">
          <a:xfrm>
            <a:off x="2819400" y="37846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1" name="Rectangle 16"/>
          <p:cNvSpPr>
            <a:spLocks noChangeArrowheads="1"/>
          </p:cNvSpPr>
          <p:nvPr/>
        </p:nvSpPr>
        <p:spPr bwMode="auto">
          <a:xfrm>
            <a:off x="2286000" y="37846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2" name="Rectangle 17"/>
          <p:cNvSpPr>
            <a:spLocks noChangeArrowheads="1"/>
          </p:cNvSpPr>
          <p:nvPr/>
        </p:nvSpPr>
        <p:spPr bwMode="auto">
          <a:xfrm>
            <a:off x="5638800" y="34798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3" name="Rectangle 18"/>
          <p:cNvSpPr>
            <a:spLocks noChangeArrowheads="1"/>
          </p:cNvSpPr>
          <p:nvPr/>
        </p:nvSpPr>
        <p:spPr bwMode="auto">
          <a:xfrm>
            <a:off x="6553200" y="34798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4" name="Rectangle 19"/>
          <p:cNvSpPr>
            <a:spLocks noChangeArrowheads="1"/>
          </p:cNvSpPr>
          <p:nvPr/>
        </p:nvSpPr>
        <p:spPr bwMode="auto">
          <a:xfrm>
            <a:off x="6019800" y="34798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5" name="Rectangle 20"/>
          <p:cNvSpPr>
            <a:spLocks noChangeArrowheads="1"/>
          </p:cNvSpPr>
          <p:nvPr/>
        </p:nvSpPr>
        <p:spPr bwMode="auto">
          <a:xfrm>
            <a:off x="5486400" y="39370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6" name="Rectangle 21"/>
          <p:cNvSpPr>
            <a:spLocks noChangeArrowheads="1"/>
          </p:cNvSpPr>
          <p:nvPr/>
        </p:nvSpPr>
        <p:spPr bwMode="auto">
          <a:xfrm>
            <a:off x="5791200" y="42418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7" name="Rectangle 22"/>
          <p:cNvSpPr>
            <a:spLocks noChangeArrowheads="1"/>
          </p:cNvSpPr>
          <p:nvPr/>
        </p:nvSpPr>
        <p:spPr bwMode="auto">
          <a:xfrm>
            <a:off x="6629400" y="40132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8" name="Rectangle 23"/>
          <p:cNvSpPr>
            <a:spLocks noChangeArrowheads="1"/>
          </p:cNvSpPr>
          <p:nvPr/>
        </p:nvSpPr>
        <p:spPr bwMode="auto">
          <a:xfrm>
            <a:off x="6096000" y="39370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9" name="Oval 24"/>
          <p:cNvSpPr>
            <a:spLocks noChangeArrowheads="1"/>
          </p:cNvSpPr>
          <p:nvPr/>
        </p:nvSpPr>
        <p:spPr bwMode="auto">
          <a:xfrm>
            <a:off x="1219200" y="3251200"/>
            <a:ext cx="23622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50" name="Oval 25"/>
          <p:cNvSpPr>
            <a:spLocks noChangeArrowheads="1"/>
          </p:cNvSpPr>
          <p:nvPr/>
        </p:nvSpPr>
        <p:spPr bwMode="auto">
          <a:xfrm>
            <a:off x="4876800" y="3251200"/>
            <a:ext cx="23622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51" name="Text Box 26"/>
          <p:cNvSpPr txBox="1">
            <a:spLocks noChangeArrowheads="1"/>
          </p:cNvSpPr>
          <p:nvPr/>
        </p:nvSpPr>
        <p:spPr bwMode="auto">
          <a:xfrm>
            <a:off x="1965325" y="28352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g1</a:t>
            </a:r>
          </a:p>
        </p:txBody>
      </p:sp>
      <p:sp>
        <p:nvSpPr>
          <p:cNvPr id="150552" name="Text Box 27"/>
          <p:cNvSpPr txBox="1">
            <a:spLocks noChangeArrowheads="1"/>
          </p:cNvSpPr>
          <p:nvPr/>
        </p:nvSpPr>
        <p:spPr bwMode="auto">
          <a:xfrm>
            <a:off x="5943600" y="2794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g2</a:t>
            </a:r>
          </a:p>
        </p:txBody>
      </p:sp>
      <p:sp>
        <p:nvSpPr>
          <p:cNvPr id="150553" name="Text Box 29"/>
          <p:cNvSpPr txBox="1">
            <a:spLocks noChangeArrowheads="1"/>
          </p:cNvSpPr>
          <p:nvPr/>
        </p:nvSpPr>
        <p:spPr bwMode="auto">
          <a:xfrm>
            <a:off x="3429000" y="1828800"/>
            <a:ext cx="3132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complete-link algorithm</a:t>
            </a:r>
          </a:p>
        </p:txBody>
      </p:sp>
      <p:sp>
        <p:nvSpPr>
          <p:cNvPr id="150554" name="Freeform 30"/>
          <p:cNvSpPr>
            <a:spLocks/>
          </p:cNvSpPr>
          <p:nvPr/>
        </p:nvSpPr>
        <p:spPr bwMode="auto">
          <a:xfrm>
            <a:off x="1905000" y="2743200"/>
            <a:ext cx="4800600" cy="1346200"/>
          </a:xfrm>
          <a:custGeom>
            <a:avLst/>
            <a:gdLst>
              <a:gd name="T0" fmla="*/ 0 w 3024"/>
              <a:gd name="T1" fmla="*/ 2147483646 h 848"/>
              <a:gd name="T2" fmla="*/ 2147483646 w 3024"/>
              <a:gd name="T3" fmla="*/ 2147483646 h 848"/>
              <a:gd name="T4" fmla="*/ 2147483646 w 3024"/>
              <a:gd name="T5" fmla="*/ 2147483646 h 848"/>
              <a:gd name="T6" fmla="*/ 0 60000 65536"/>
              <a:gd name="T7" fmla="*/ 0 60000 65536"/>
              <a:gd name="T8" fmla="*/ 0 60000 65536"/>
              <a:gd name="T9" fmla="*/ 0 w 3024"/>
              <a:gd name="T10" fmla="*/ 0 h 848"/>
              <a:gd name="T11" fmla="*/ 3024 w 3024"/>
              <a:gd name="T12" fmla="*/ 848 h 8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4" h="848">
                <a:moveTo>
                  <a:pt x="0" y="656"/>
                </a:moveTo>
                <a:cubicBezTo>
                  <a:pt x="444" y="328"/>
                  <a:pt x="888" y="0"/>
                  <a:pt x="1392" y="32"/>
                </a:cubicBezTo>
                <a:cubicBezTo>
                  <a:pt x="1896" y="64"/>
                  <a:pt x="2460" y="456"/>
                  <a:pt x="3024" y="848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55" name="Line 31"/>
          <p:cNvSpPr>
            <a:spLocks noChangeShapeType="1"/>
          </p:cNvSpPr>
          <p:nvPr/>
        </p:nvSpPr>
        <p:spPr bwMode="auto">
          <a:xfrm flipH="1">
            <a:off x="4648200" y="2286000"/>
            <a:ext cx="2286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56" name="Freeform 33"/>
          <p:cNvSpPr>
            <a:spLocks/>
          </p:cNvSpPr>
          <p:nvPr/>
        </p:nvSpPr>
        <p:spPr bwMode="auto">
          <a:xfrm>
            <a:off x="2336800" y="3098800"/>
            <a:ext cx="4368800" cy="1193800"/>
          </a:xfrm>
          <a:custGeom>
            <a:avLst/>
            <a:gdLst>
              <a:gd name="T0" fmla="*/ 2147483646 w 2752"/>
              <a:gd name="T1" fmla="*/ 2147483646 h 752"/>
              <a:gd name="T2" fmla="*/ 2147483646 w 2752"/>
              <a:gd name="T3" fmla="*/ 2147483646 h 752"/>
              <a:gd name="T4" fmla="*/ 2147483646 w 2752"/>
              <a:gd name="T5" fmla="*/ 2147483646 h 752"/>
              <a:gd name="T6" fmla="*/ 2147483646 w 2752"/>
              <a:gd name="T7" fmla="*/ 2147483646 h 752"/>
              <a:gd name="T8" fmla="*/ 2147483646 w 2752"/>
              <a:gd name="T9" fmla="*/ 2147483646 h 7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2"/>
              <a:gd name="T16" fmla="*/ 0 h 752"/>
              <a:gd name="T17" fmla="*/ 2752 w 2752"/>
              <a:gd name="T18" fmla="*/ 752 h 7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2" h="752">
                <a:moveTo>
                  <a:pt x="112" y="304"/>
                </a:moveTo>
                <a:cubicBezTo>
                  <a:pt x="56" y="300"/>
                  <a:pt x="0" y="296"/>
                  <a:pt x="160" y="256"/>
                </a:cubicBezTo>
                <a:cubicBezTo>
                  <a:pt x="320" y="216"/>
                  <a:pt x="688" y="0"/>
                  <a:pt x="1072" y="64"/>
                </a:cubicBezTo>
                <a:cubicBezTo>
                  <a:pt x="1456" y="128"/>
                  <a:pt x="2184" y="528"/>
                  <a:pt x="2464" y="640"/>
                </a:cubicBezTo>
                <a:cubicBezTo>
                  <a:pt x="2744" y="752"/>
                  <a:pt x="2748" y="744"/>
                  <a:pt x="2752" y="7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57" name="Freeform 34"/>
          <p:cNvSpPr>
            <a:spLocks/>
          </p:cNvSpPr>
          <p:nvPr/>
        </p:nvSpPr>
        <p:spPr bwMode="auto">
          <a:xfrm>
            <a:off x="2438400" y="3429000"/>
            <a:ext cx="2971800" cy="990600"/>
          </a:xfrm>
          <a:custGeom>
            <a:avLst/>
            <a:gdLst>
              <a:gd name="T0" fmla="*/ 0 w 1872"/>
              <a:gd name="T1" fmla="*/ 2147483646 h 624"/>
              <a:gd name="T2" fmla="*/ 2147483646 w 1872"/>
              <a:gd name="T3" fmla="*/ 2147483646 h 624"/>
              <a:gd name="T4" fmla="*/ 2147483646 w 1872"/>
              <a:gd name="T5" fmla="*/ 2147483646 h 624"/>
              <a:gd name="T6" fmla="*/ 0 60000 65536"/>
              <a:gd name="T7" fmla="*/ 0 60000 65536"/>
              <a:gd name="T8" fmla="*/ 0 60000 65536"/>
              <a:gd name="T9" fmla="*/ 0 w 1872"/>
              <a:gd name="T10" fmla="*/ 0 h 624"/>
              <a:gd name="T11" fmla="*/ 1872 w 1872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624">
                <a:moveTo>
                  <a:pt x="0" y="624"/>
                </a:moveTo>
                <a:cubicBezTo>
                  <a:pt x="252" y="360"/>
                  <a:pt x="504" y="96"/>
                  <a:pt x="816" y="48"/>
                </a:cubicBezTo>
                <a:cubicBezTo>
                  <a:pt x="1128" y="0"/>
                  <a:pt x="1500" y="168"/>
                  <a:pt x="1872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58" name="Text Box 35"/>
          <p:cNvSpPr txBox="1">
            <a:spLocks noChangeArrowheads="1"/>
          </p:cNvSpPr>
          <p:nvPr/>
        </p:nvSpPr>
        <p:spPr bwMode="auto">
          <a:xfrm>
            <a:off x="3870325" y="392747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……</a:t>
            </a:r>
          </a:p>
        </p:txBody>
      </p:sp>
      <p:sp>
        <p:nvSpPr>
          <p:cNvPr id="150559" name="Oval 37"/>
          <p:cNvSpPr>
            <a:spLocks noChangeArrowheads="1"/>
          </p:cNvSpPr>
          <p:nvPr/>
        </p:nvSpPr>
        <p:spPr bwMode="auto">
          <a:xfrm>
            <a:off x="4038600" y="2667000"/>
            <a:ext cx="304800" cy="22860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60" name="Text Box 38"/>
          <p:cNvSpPr txBox="1">
            <a:spLocks noChangeArrowheads="1"/>
          </p:cNvSpPr>
          <p:nvPr/>
        </p:nvSpPr>
        <p:spPr bwMode="auto">
          <a:xfrm>
            <a:off x="5486400" y="5257800"/>
            <a:ext cx="2963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average-link algorithm</a:t>
            </a:r>
          </a:p>
        </p:txBody>
      </p:sp>
      <p:sp>
        <p:nvSpPr>
          <p:cNvPr id="150561" name="Line 39"/>
          <p:cNvSpPr>
            <a:spLocks noChangeShapeType="1"/>
          </p:cNvSpPr>
          <p:nvPr/>
        </p:nvSpPr>
        <p:spPr bwMode="auto">
          <a:xfrm flipH="1" flipV="1">
            <a:off x="4648200" y="4495800"/>
            <a:ext cx="16764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77724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Hierarchical: Single Link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7086600" cy="838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800" smtClean="0">
                <a:effectLst/>
              </a:rPr>
              <a:t>cluster similarity = similarity of two </a:t>
            </a:r>
            <a:r>
              <a:rPr lang="en-US" altLang="en-US" sz="2800" i="1" smtClean="0">
                <a:solidFill>
                  <a:srgbClr val="800000"/>
                </a:solidFill>
                <a:effectLst/>
              </a:rPr>
              <a:t>most</a:t>
            </a:r>
            <a:r>
              <a:rPr lang="en-US" altLang="en-US" sz="2800" smtClean="0">
                <a:effectLst/>
              </a:rPr>
              <a:t> similar members</a:t>
            </a:r>
          </a:p>
        </p:txBody>
      </p:sp>
      <p:grpSp>
        <p:nvGrpSpPr>
          <p:cNvPr id="151556" name="Group 26"/>
          <p:cNvGrpSpPr>
            <a:grpSpLocks/>
          </p:cNvGrpSpPr>
          <p:nvPr/>
        </p:nvGrpSpPr>
        <p:grpSpPr bwMode="auto">
          <a:xfrm>
            <a:off x="533400" y="3505200"/>
            <a:ext cx="5032375" cy="2360613"/>
            <a:chOff x="432" y="1825"/>
            <a:chExt cx="3170" cy="1487"/>
          </a:xfrm>
        </p:grpSpPr>
        <p:sp>
          <p:nvSpPr>
            <p:cNvPr id="151558" name="Oval 4"/>
            <p:cNvSpPr>
              <a:spLocks noChangeArrowheads="1"/>
            </p:cNvSpPr>
            <p:nvPr/>
          </p:nvSpPr>
          <p:spPr bwMode="auto">
            <a:xfrm>
              <a:off x="1874" y="2593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59" name="Oval 5"/>
            <p:cNvSpPr>
              <a:spLocks noChangeArrowheads="1"/>
            </p:cNvSpPr>
            <p:nvPr/>
          </p:nvSpPr>
          <p:spPr bwMode="auto">
            <a:xfrm>
              <a:off x="3362" y="2545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0" name="Oval 6"/>
            <p:cNvSpPr>
              <a:spLocks noChangeArrowheads="1"/>
            </p:cNvSpPr>
            <p:nvPr/>
          </p:nvSpPr>
          <p:spPr bwMode="auto">
            <a:xfrm>
              <a:off x="2354" y="3217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1" name="Oval 7"/>
            <p:cNvSpPr>
              <a:spLocks noChangeArrowheads="1"/>
            </p:cNvSpPr>
            <p:nvPr/>
          </p:nvSpPr>
          <p:spPr bwMode="auto">
            <a:xfrm>
              <a:off x="2210" y="2737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2" name="Oval 8"/>
            <p:cNvSpPr>
              <a:spLocks noChangeArrowheads="1"/>
            </p:cNvSpPr>
            <p:nvPr/>
          </p:nvSpPr>
          <p:spPr bwMode="auto">
            <a:xfrm>
              <a:off x="3170" y="2545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3" name="Oval 9"/>
            <p:cNvSpPr>
              <a:spLocks noChangeArrowheads="1"/>
            </p:cNvSpPr>
            <p:nvPr/>
          </p:nvSpPr>
          <p:spPr bwMode="auto">
            <a:xfrm>
              <a:off x="3314" y="2353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4" name="Oval 10"/>
            <p:cNvSpPr>
              <a:spLocks noChangeArrowheads="1"/>
            </p:cNvSpPr>
            <p:nvPr/>
          </p:nvSpPr>
          <p:spPr bwMode="auto">
            <a:xfrm>
              <a:off x="1010" y="2401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5" name="Oval 11"/>
            <p:cNvSpPr>
              <a:spLocks noChangeArrowheads="1"/>
            </p:cNvSpPr>
            <p:nvPr/>
          </p:nvSpPr>
          <p:spPr bwMode="auto">
            <a:xfrm>
              <a:off x="962" y="2113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6" name="Oval 12"/>
            <p:cNvSpPr>
              <a:spLocks noChangeArrowheads="1"/>
            </p:cNvSpPr>
            <p:nvPr/>
          </p:nvSpPr>
          <p:spPr bwMode="auto">
            <a:xfrm>
              <a:off x="1250" y="2209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7" name="Oval 13"/>
            <p:cNvSpPr>
              <a:spLocks noChangeArrowheads="1"/>
            </p:cNvSpPr>
            <p:nvPr/>
          </p:nvSpPr>
          <p:spPr bwMode="auto">
            <a:xfrm>
              <a:off x="1058" y="2257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8" name="Oval 14"/>
            <p:cNvSpPr>
              <a:spLocks noChangeArrowheads="1"/>
            </p:cNvSpPr>
            <p:nvPr/>
          </p:nvSpPr>
          <p:spPr bwMode="auto">
            <a:xfrm>
              <a:off x="1202" y="2401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9" name="Oval 15"/>
            <p:cNvSpPr>
              <a:spLocks noChangeArrowheads="1"/>
            </p:cNvSpPr>
            <p:nvPr/>
          </p:nvSpPr>
          <p:spPr bwMode="auto">
            <a:xfrm>
              <a:off x="3122" y="2353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0" name="Oval 16"/>
            <p:cNvSpPr>
              <a:spLocks noChangeArrowheads="1"/>
            </p:cNvSpPr>
            <p:nvPr/>
          </p:nvSpPr>
          <p:spPr bwMode="auto">
            <a:xfrm>
              <a:off x="1010" y="1921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1" name="Oval 17"/>
            <p:cNvSpPr>
              <a:spLocks noChangeArrowheads="1"/>
            </p:cNvSpPr>
            <p:nvPr/>
          </p:nvSpPr>
          <p:spPr bwMode="auto">
            <a:xfrm>
              <a:off x="2978" y="2209"/>
              <a:ext cx="624" cy="521"/>
            </a:xfrm>
            <a:prstGeom prst="ellipse">
              <a:avLst/>
            </a:prstGeom>
            <a:noFill/>
            <a:ln w="38100" cap="sq">
              <a:solidFill>
                <a:srgbClr val="33CC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2" name="Oval 18"/>
            <p:cNvSpPr>
              <a:spLocks noChangeArrowheads="1"/>
            </p:cNvSpPr>
            <p:nvPr/>
          </p:nvSpPr>
          <p:spPr bwMode="auto">
            <a:xfrm>
              <a:off x="770" y="1825"/>
              <a:ext cx="720" cy="682"/>
            </a:xfrm>
            <a:prstGeom prst="ellipse">
              <a:avLst/>
            </a:prstGeom>
            <a:noFill/>
            <a:ln w="38100" cap="sq">
              <a:solidFill>
                <a:srgbClr val="33CC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3" name="Oval 19"/>
            <p:cNvSpPr>
              <a:spLocks noChangeArrowheads="1"/>
            </p:cNvSpPr>
            <p:nvPr/>
          </p:nvSpPr>
          <p:spPr bwMode="auto">
            <a:xfrm rot="2411630">
              <a:off x="1626" y="2590"/>
              <a:ext cx="1152" cy="696"/>
            </a:xfrm>
            <a:prstGeom prst="ellipse">
              <a:avLst/>
            </a:prstGeom>
            <a:noFill/>
            <a:ln w="38100" cap="sq">
              <a:solidFill>
                <a:srgbClr val="33CC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4" name="Oval 20"/>
            <p:cNvSpPr>
              <a:spLocks noChangeArrowheads="1"/>
            </p:cNvSpPr>
            <p:nvPr/>
          </p:nvSpPr>
          <p:spPr bwMode="auto">
            <a:xfrm>
              <a:off x="2306" y="2833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5" name="Oval 21"/>
            <p:cNvSpPr>
              <a:spLocks noChangeArrowheads="1"/>
            </p:cNvSpPr>
            <p:nvPr/>
          </p:nvSpPr>
          <p:spPr bwMode="auto">
            <a:xfrm>
              <a:off x="2114" y="2929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6" name="Line 22"/>
            <p:cNvSpPr>
              <a:spLocks noChangeShapeType="1"/>
            </p:cNvSpPr>
            <p:nvPr/>
          </p:nvSpPr>
          <p:spPr bwMode="auto">
            <a:xfrm>
              <a:off x="1250" y="2449"/>
              <a:ext cx="672" cy="160"/>
            </a:xfrm>
            <a:prstGeom prst="line">
              <a:avLst/>
            </a:prstGeom>
            <a:noFill/>
            <a:ln w="38100" cap="sq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77" name="Line 23"/>
            <p:cNvSpPr>
              <a:spLocks noChangeShapeType="1"/>
            </p:cNvSpPr>
            <p:nvPr/>
          </p:nvSpPr>
          <p:spPr bwMode="auto">
            <a:xfrm flipH="1">
              <a:off x="2354" y="2593"/>
              <a:ext cx="864" cy="241"/>
            </a:xfrm>
            <a:prstGeom prst="line">
              <a:avLst/>
            </a:prstGeom>
            <a:noFill/>
            <a:ln w="38100" cap="sq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78" name="Oval 24"/>
            <p:cNvSpPr>
              <a:spLocks noChangeArrowheads="1"/>
            </p:cNvSpPr>
            <p:nvPr/>
          </p:nvSpPr>
          <p:spPr bwMode="auto">
            <a:xfrm rot="1822447">
              <a:off x="432" y="1920"/>
              <a:ext cx="2640" cy="1392"/>
            </a:xfrm>
            <a:prstGeom prst="ellipse">
              <a:avLst/>
            </a:prstGeom>
            <a:noFill/>
            <a:ln w="38100" cap="rnd">
              <a:solidFill>
                <a:schemeClr val="hlink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51557" name="Text Box 25"/>
          <p:cNvSpPr txBox="1">
            <a:spLocks noChangeArrowheads="1"/>
          </p:cNvSpPr>
          <p:nvPr/>
        </p:nvSpPr>
        <p:spPr bwMode="auto">
          <a:xfrm>
            <a:off x="6248400" y="2743200"/>
            <a:ext cx="25146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800000"/>
                </a:solidFill>
              </a:rPr>
              <a:t>-</a:t>
            </a:r>
            <a:r>
              <a:rPr lang="en-US" altLang="en-US" sz="2800"/>
              <a:t> Potentially long and skinny clusters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800000"/>
                </a:solidFill>
              </a:rPr>
              <a:t>+</a:t>
            </a:r>
            <a:r>
              <a:rPr lang="en-US" altLang="en-US" sz="2800"/>
              <a:t> Fast</a:t>
            </a:r>
          </a:p>
        </p:txBody>
      </p:sp>
    </p:spTree>
    <p:extLst>
      <p:ext uri="{BB962C8B-B14F-4D97-AF65-F5344CB8AC3E}">
        <p14:creationId xmlns:p14="http://schemas.microsoft.com/office/powerpoint/2010/main" val="237271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78486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b="1" smtClean="0">
                <a:effectLst/>
              </a:rPr>
              <a:t>Example: single link</a:t>
            </a:r>
          </a:p>
        </p:txBody>
      </p:sp>
      <p:graphicFrame>
        <p:nvGraphicFramePr>
          <p:cNvPr id="153603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5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4" name="Object 3"/>
          <p:cNvGraphicFramePr>
            <a:graphicFrameLocks noChangeAspect="1"/>
          </p:cNvGraphicFramePr>
          <p:nvPr/>
        </p:nvGraphicFramePr>
        <p:xfrm>
          <a:off x="3962400" y="1905000"/>
          <a:ext cx="15240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6" name="Equation" r:id="rId5" imgW="1193800" imgH="1143000" progId="Equation.3">
                  <p:embed/>
                </p:oleObj>
              </mc:Choice>
              <mc:Fallback>
                <p:oleObj name="Equation" r:id="rId5" imgW="11938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05000"/>
                        <a:ext cx="15240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5" name="Line 5"/>
          <p:cNvSpPr>
            <a:spLocks noChangeShapeType="1"/>
          </p:cNvSpPr>
          <p:nvPr/>
        </p:nvSpPr>
        <p:spPr bwMode="auto">
          <a:xfrm flipH="1">
            <a:off x="5791200" y="5257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06" name="Line 6"/>
          <p:cNvSpPr>
            <a:spLocks noChangeShapeType="1"/>
          </p:cNvSpPr>
          <p:nvPr/>
        </p:nvSpPr>
        <p:spPr bwMode="auto">
          <a:xfrm>
            <a:off x="5791200" y="52578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07" name="Line 7"/>
          <p:cNvSpPr>
            <a:spLocks noChangeShapeType="1"/>
          </p:cNvSpPr>
          <p:nvPr/>
        </p:nvSpPr>
        <p:spPr bwMode="auto">
          <a:xfrm>
            <a:off x="5791200" y="5791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08" name="Oval 8"/>
          <p:cNvSpPr>
            <a:spLocks noChangeArrowheads="1"/>
          </p:cNvSpPr>
          <p:nvPr/>
        </p:nvSpPr>
        <p:spPr bwMode="auto">
          <a:xfrm>
            <a:off x="7391400" y="5562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09" name="Oval 9"/>
          <p:cNvSpPr>
            <a:spLocks noChangeArrowheads="1"/>
          </p:cNvSpPr>
          <p:nvPr/>
        </p:nvSpPr>
        <p:spPr bwMode="auto">
          <a:xfrm>
            <a:off x="7391400" y="5105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10" name="Oval 10"/>
          <p:cNvSpPr>
            <a:spLocks noChangeArrowheads="1"/>
          </p:cNvSpPr>
          <p:nvPr/>
        </p:nvSpPr>
        <p:spPr bwMode="auto">
          <a:xfrm>
            <a:off x="7391400" y="4724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11" name="Oval 11"/>
          <p:cNvSpPr>
            <a:spLocks noChangeArrowheads="1"/>
          </p:cNvSpPr>
          <p:nvPr/>
        </p:nvSpPr>
        <p:spPr bwMode="auto">
          <a:xfrm>
            <a:off x="7391400" y="4267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12" name="Oval 12"/>
          <p:cNvSpPr>
            <a:spLocks noChangeArrowheads="1"/>
          </p:cNvSpPr>
          <p:nvPr/>
        </p:nvSpPr>
        <p:spPr bwMode="auto">
          <a:xfrm>
            <a:off x="7391400" y="3733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13" name="Text Box 13"/>
          <p:cNvSpPr txBox="1">
            <a:spLocks noChangeArrowheads="1"/>
          </p:cNvSpPr>
          <p:nvPr/>
        </p:nvSpPr>
        <p:spPr bwMode="auto">
          <a:xfrm>
            <a:off x="7391400" y="5562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3614" name="Text Box 14"/>
          <p:cNvSpPr txBox="1">
            <a:spLocks noChangeArrowheads="1"/>
          </p:cNvSpPr>
          <p:nvPr/>
        </p:nvSpPr>
        <p:spPr bwMode="auto">
          <a:xfrm>
            <a:off x="7391400" y="5105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3615" name="Text Box 15"/>
          <p:cNvSpPr txBox="1">
            <a:spLocks noChangeArrowheads="1"/>
          </p:cNvSpPr>
          <p:nvPr/>
        </p:nvSpPr>
        <p:spPr bwMode="auto">
          <a:xfrm>
            <a:off x="7391400" y="4724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3616" name="Text Box 16"/>
          <p:cNvSpPr txBox="1">
            <a:spLocks noChangeArrowheads="1"/>
          </p:cNvSpPr>
          <p:nvPr/>
        </p:nvSpPr>
        <p:spPr bwMode="auto">
          <a:xfrm>
            <a:off x="73914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3617" name="Text Box 17"/>
          <p:cNvSpPr txBox="1">
            <a:spLocks noChangeArrowheads="1"/>
          </p:cNvSpPr>
          <p:nvPr/>
        </p:nvSpPr>
        <p:spPr bwMode="auto">
          <a:xfrm>
            <a:off x="7391400" y="3733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53618" name="AutoShape 18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53619" name="Object 4"/>
          <p:cNvGraphicFramePr>
            <a:graphicFrameLocks noChangeAspect="1"/>
          </p:cNvGraphicFramePr>
          <p:nvPr/>
        </p:nvGraphicFramePr>
        <p:xfrm>
          <a:off x="609600" y="3962400"/>
          <a:ext cx="4341813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7" r:id="rId7" imgW="2371834" imgH="735724" progId="">
                  <p:embed/>
                </p:oleObj>
              </mc:Choice>
              <mc:Fallback>
                <p:oleObj r:id="rId7" imgW="2371834" imgH="7357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62400"/>
                        <a:ext cx="4341813" cy="1344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808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858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single link</a:t>
            </a:r>
          </a:p>
        </p:txBody>
      </p:sp>
      <p:graphicFrame>
        <p:nvGraphicFramePr>
          <p:cNvPr id="154627" name="Object 2"/>
          <p:cNvGraphicFramePr>
            <a:graphicFrameLocks noChangeAspect="1"/>
          </p:cNvGraphicFramePr>
          <p:nvPr/>
        </p:nvGraphicFramePr>
        <p:xfrm>
          <a:off x="6381750" y="1981200"/>
          <a:ext cx="1408113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0" name="Equation" r:id="rId3" imgW="1079500" imgH="939800" progId="Equation.3">
                  <p:embed/>
                </p:oleObj>
              </mc:Choice>
              <mc:Fallback>
                <p:oleObj name="Equation" r:id="rId3" imgW="10795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1981200"/>
                        <a:ext cx="1408113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28" name="Line 4"/>
          <p:cNvSpPr>
            <a:spLocks noChangeShapeType="1"/>
          </p:cNvSpPr>
          <p:nvPr/>
        </p:nvSpPr>
        <p:spPr bwMode="auto">
          <a:xfrm flipH="1">
            <a:off x="6019800" y="51054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629" name="Line 5"/>
          <p:cNvSpPr>
            <a:spLocks noChangeShapeType="1"/>
          </p:cNvSpPr>
          <p:nvPr/>
        </p:nvSpPr>
        <p:spPr bwMode="auto">
          <a:xfrm>
            <a:off x="6019800" y="5105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630" name="Line 6"/>
          <p:cNvSpPr>
            <a:spLocks noChangeShapeType="1"/>
          </p:cNvSpPr>
          <p:nvPr/>
        </p:nvSpPr>
        <p:spPr bwMode="auto">
          <a:xfrm>
            <a:off x="6019800" y="5638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4631" name="Group 7"/>
          <p:cNvGrpSpPr>
            <a:grpSpLocks/>
          </p:cNvGrpSpPr>
          <p:nvPr/>
        </p:nvGrpSpPr>
        <p:grpSpPr bwMode="auto">
          <a:xfrm>
            <a:off x="7620000" y="3657600"/>
            <a:ext cx="533400" cy="2286000"/>
            <a:chOff x="4800" y="2304"/>
            <a:chExt cx="336" cy="1440"/>
          </a:xfrm>
        </p:grpSpPr>
        <p:sp>
          <p:nvSpPr>
            <p:cNvPr id="154640" name="Oval 8"/>
            <p:cNvSpPr>
              <a:spLocks noChangeArrowheads="1"/>
            </p:cNvSpPr>
            <p:nvPr/>
          </p:nvSpPr>
          <p:spPr bwMode="auto">
            <a:xfrm>
              <a:off x="4800" y="34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641" name="Oval 9"/>
            <p:cNvSpPr>
              <a:spLocks noChangeArrowheads="1"/>
            </p:cNvSpPr>
            <p:nvPr/>
          </p:nvSpPr>
          <p:spPr bwMode="auto">
            <a:xfrm>
              <a:off x="4800" y="31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642" name="Oval 10"/>
            <p:cNvSpPr>
              <a:spLocks noChangeArrowheads="1"/>
            </p:cNvSpPr>
            <p:nvPr/>
          </p:nvSpPr>
          <p:spPr bwMode="auto">
            <a:xfrm>
              <a:off x="4800" y="29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643" name="Oval 11"/>
            <p:cNvSpPr>
              <a:spLocks noChangeArrowheads="1"/>
            </p:cNvSpPr>
            <p:nvPr/>
          </p:nvSpPr>
          <p:spPr bwMode="auto">
            <a:xfrm>
              <a:off x="4800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644" name="Oval 12"/>
            <p:cNvSpPr>
              <a:spLocks noChangeArrowheads="1"/>
            </p:cNvSpPr>
            <p:nvPr/>
          </p:nvSpPr>
          <p:spPr bwMode="auto">
            <a:xfrm>
              <a:off x="4800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645" name="Text Box 13"/>
            <p:cNvSpPr txBox="1">
              <a:spLocks noChangeArrowheads="1"/>
            </p:cNvSpPr>
            <p:nvPr/>
          </p:nvSpPr>
          <p:spPr bwMode="auto">
            <a:xfrm>
              <a:off x="4800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54646" name="Text Box 14"/>
            <p:cNvSpPr txBox="1">
              <a:spLocks noChangeArrowheads="1"/>
            </p:cNvSpPr>
            <p:nvPr/>
          </p:nvSpPr>
          <p:spPr bwMode="auto">
            <a:xfrm>
              <a:off x="4800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54647" name="Text Box 15"/>
            <p:cNvSpPr txBox="1">
              <a:spLocks noChangeArrowheads="1"/>
            </p:cNvSpPr>
            <p:nvPr/>
          </p:nvSpPr>
          <p:spPr bwMode="auto">
            <a:xfrm>
              <a:off x="4800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54648" name="Text Box 16"/>
            <p:cNvSpPr txBox="1">
              <a:spLocks noChangeArrowheads="1"/>
            </p:cNvSpPr>
            <p:nvPr/>
          </p:nvSpPr>
          <p:spPr bwMode="auto">
            <a:xfrm>
              <a:off x="4800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54649" name="Text Box 17"/>
            <p:cNvSpPr txBox="1">
              <a:spLocks noChangeArrowheads="1"/>
            </p:cNvSpPr>
            <p:nvPr/>
          </p:nvSpPr>
          <p:spPr bwMode="auto">
            <a:xfrm>
              <a:off x="4800" y="23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54632" name="AutoShape 18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4633" name="AutoShape 19"/>
          <p:cNvSpPr>
            <a:spLocks noChangeArrowheads="1"/>
          </p:cNvSpPr>
          <p:nvPr/>
        </p:nvSpPr>
        <p:spPr bwMode="auto">
          <a:xfrm>
            <a:off x="56388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54634" name="Object 3"/>
          <p:cNvGraphicFramePr>
            <a:graphicFrameLocks noChangeAspect="1"/>
          </p:cNvGraphicFramePr>
          <p:nvPr/>
        </p:nvGraphicFramePr>
        <p:xfrm>
          <a:off x="3962400" y="1905000"/>
          <a:ext cx="15240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1" name="Equation" r:id="rId5" imgW="1193800" imgH="1143000" progId="Equation.3">
                  <p:embed/>
                </p:oleObj>
              </mc:Choice>
              <mc:Fallback>
                <p:oleObj name="Equation" r:id="rId5" imgW="11938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05000"/>
                        <a:ext cx="15240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5" name="Object 4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2" name="Equation" r:id="rId7" imgW="1371600" imgH="1371600" progId="Equation.3">
                  <p:embed/>
                </p:oleObj>
              </mc:Choice>
              <mc:Fallback>
                <p:oleObj name="Equation" r:id="rId7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6" name="Line 22"/>
          <p:cNvSpPr>
            <a:spLocks noChangeShapeType="1"/>
          </p:cNvSpPr>
          <p:nvPr/>
        </p:nvSpPr>
        <p:spPr bwMode="auto">
          <a:xfrm flipH="1">
            <a:off x="5486400" y="4800600"/>
            <a:ext cx="2057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637" name="Line 23"/>
          <p:cNvSpPr>
            <a:spLocks noChangeShapeType="1"/>
          </p:cNvSpPr>
          <p:nvPr/>
        </p:nvSpPr>
        <p:spPr bwMode="auto">
          <a:xfrm>
            <a:off x="5486400" y="48006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638" name="Line 24"/>
          <p:cNvSpPr>
            <a:spLocks noChangeShapeType="1"/>
          </p:cNvSpPr>
          <p:nvPr/>
        </p:nvSpPr>
        <p:spPr bwMode="auto">
          <a:xfrm>
            <a:off x="5486400" y="5334000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4639" name="Object 5"/>
          <p:cNvGraphicFramePr>
            <a:graphicFrameLocks noChangeAspect="1"/>
          </p:cNvGraphicFramePr>
          <p:nvPr/>
        </p:nvGraphicFramePr>
        <p:xfrm>
          <a:off x="685800" y="4038600"/>
          <a:ext cx="380841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3" r:id="rId9" imgW="2532185" imgH="481818" progId="">
                  <p:embed/>
                </p:oleObj>
              </mc:Choice>
              <mc:Fallback>
                <p:oleObj r:id="rId9" imgW="2532185" imgH="48181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038600"/>
                        <a:ext cx="380841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529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858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single link</a:t>
            </a:r>
          </a:p>
        </p:txBody>
      </p:sp>
      <p:graphicFrame>
        <p:nvGraphicFramePr>
          <p:cNvPr id="155651" name="Object 2"/>
          <p:cNvGraphicFramePr>
            <a:graphicFrameLocks noChangeAspect="1"/>
          </p:cNvGraphicFramePr>
          <p:nvPr/>
        </p:nvGraphicFramePr>
        <p:xfrm>
          <a:off x="6381750" y="1981200"/>
          <a:ext cx="1408113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4" name="Equation" r:id="rId3" imgW="1079500" imgH="939800" progId="Equation.3">
                  <p:embed/>
                </p:oleObj>
              </mc:Choice>
              <mc:Fallback>
                <p:oleObj name="Equation" r:id="rId3" imgW="10795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1981200"/>
                        <a:ext cx="1408113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2" name="Line 4"/>
          <p:cNvSpPr>
            <a:spLocks noChangeShapeType="1"/>
          </p:cNvSpPr>
          <p:nvPr/>
        </p:nvSpPr>
        <p:spPr bwMode="auto">
          <a:xfrm flipH="1">
            <a:off x="5943600" y="51054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53" name="Line 5"/>
          <p:cNvSpPr>
            <a:spLocks noChangeShapeType="1"/>
          </p:cNvSpPr>
          <p:nvPr/>
        </p:nvSpPr>
        <p:spPr bwMode="auto">
          <a:xfrm>
            <a:off x="5943600" y="5105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54" name="Line 6"/>
          <p:cNvSpPr>
            <a:spLocks noChangeShapeType="1"/>
          </p:cNvSpPr>
          <p:nvPr/>
        </p:nvSpPr>
        <p:spPr bwMode="auto">
          <a:xfrm>
            <a:off x="5943600" y="5638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55" name="Text Box 7"/>
          <p:cNvSpPr txBox="1">
            <a:spLocks noChangeArrowheads="1"/>
          </p:cNvSpPr>
          <p:nvPr/>
        </p:nvSpPr>
        <p:spPr bwMode="auto">
          <a:xfrm>
            <a:off x="7543800" y="5029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155656" name="Oval 8"/>
          <p:cNvSpPr>
            <a:spLocks noChangeArrowheads="1"/>
          </p:cNvSpPr>
          <p:nvPr/>
        </p:nvSpPr>
        <p:spPr bwMode="auto">
          <a:xfrm>
            <a:off x="7543800" y="5486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57" name="Oval 9"/>
          <p:cNvSpPr>
            <a:spLocks noChangeArrowheads="1"/>
          </p:cNvSpPr>
          <p:nvPr/>
        </p:nvSpPr>
        <p:spPr bwMode="auto">
          <a:xfrm>
            <a:off x="7543800" y="5029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2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5658" name="Oval 10"/>
          <p:cNvSpPr>
            <a:spLocks noChangeArrowheads="1"/>
          </p:cNvSpPr>
          <p:nvPr/>
        </p:nvSpPr>
        <p:spPr bwMode="auto">
          <a:xfrm>
            <a:off x="7543800" y="4648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59" name="Oval 11"/>
          <p:cNvSpPr>
            <a:spLocks noChangeArrowheads="1"/>
          </p:cNvSpPr>
          <p:nvPr/>
        </p:nvSpPr>
        <p:spPr bwMode="auto">
          <a:xfrm>
            <a:off x="7543800" y="4191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60" name="Oval 12"/>
          <p:cNvSpPr>
            <a:spLocks noChangeArrowheads="1"/>
          </p:cNvSpPr>
          <p:nvPr/>
        </p:nvSpPr>
        <p:spPr bwMode="auto">
          <a:xfrm>
            <a:off x="7543800" y="3657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61" name="Text Box 13"/>
          <p:cNvSpPr txBox="1">
            <a:spLocks noChangeArrowheads="1"/>
          </p:cNvSpPr>
          <p:nvPr/>
        </p:nvSpPr>
        <p:spPr bwMode="auto">
          <a:xfrm>
            <a:off x="7543800" y="5486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5662" name="Text Box 14"/>
          <p:cNvSpPr txBox="1">
            <a:spLocks noChangeArrowheads="1"/>
          </p:cNvSpPr>
          <p:nvPr/>
        </p:nvSpPr>
        <p:spPr bwMode="auto">
          <a:xfrm>
            <a:off x="75438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5663" name="Text Box 15"/>
          <p:cNvSpPr txBox="1">
            <a:spLocks noChangeArrowheads="1"/>
          </p:cNvSpPr>
          <p:nvPr/>
        </p:nvSpPr>
        <p:spPr bwMode="auto">
          <a:xfrm>
            <a:off x="7543800" y="419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5664" name="Text Box 16"/>
          <p:cNvSpPr txBox="1">
            <a:spLocks noChangeArrowheads="1"/>
          </p:cNvSpPr>
          <p:nvPr/>
        </p:nvSpPr>
        <p:spPr bwMode="auto">
          <a:xfrm>
            <a:off x="7543800" y="3657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55665" name="AutoShape 17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66" name="AutoShape 18"/>
          <p:cNvSpPr>
            <a:spLocks noChangeArrowheads="1"/>
          </p:cNvSpPr>
          <p:nvPr/>
        </p:nvSpPr>
        <p:spPr bwMode="auto">
          <a:xfrm>
            <a:off x="56388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55667" name="Object 3"/>
          <p:cNvGraphicFramePr>
            <a:graphicFrameLocks noChangeAspect="1"/>
          </p:cNvGraphicFramePr>
          <p:nvPr/>
        </p:nvGraphicFramePr>
        <p:xfrm>
          <a:off x="3962400" y="1905000"/>
          <a:ext cx="15240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5" name="Equation" r:id="rId5" imgW="1193800" imgH="1143000" progId="Equation.3">
                  <p:embed/>
                </p:oleObj>
              </mc:Choice>
              <mc:Fallback>
                <p:oleObj name="Equation" r:id="rId5" imgW="11938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05000"/>
                        <a:ext cx="15240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8" name="Object 4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6" name="Equation" r:id="rId7" imgW="1371600" imgH="1371600" progId="Equation.3">
                  <p:embed/>
                </p:oleObj>
              </mc:Choice>
              <mc:Fallback>
                <p:oleObj name="Equation" r:id="rId7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69" name="Line 21"/>
          <p:cNvSpPr>
            <a:spLocks noChangeShapeType="1"/>
          </p:cNvSpPr>
          <p:nvPr/>
        </p:nvSpPr>
        <p:spPr bwMode="auto">
          <a:xfrm flipH="1">
            <a:off x="5410200" y="4800600"/>
            <a:ext cx="2057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0" name="Line 22"/>
          <p:cNvSpPr>
            <a:spLocks noChangeShapeType="1"/>
          </p:cNvSpPr>
          <p:nvPr/>
        </p:nvSpPr>
        <p:spPr bwMode="auto">
          <a:xfrm>
            <a:off x="5410200" y="48006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1" name="Line 23"/>
          <p:cNvSpPr>
            <a:spLocks noChangeShapeType="1"/>
          </p:cNvSpPr>
          <p:nvPr/>
        </p:nvSpPr>
        <p:spPr bwMode="auto">
          <a:xfrm>
            <a:off x="5410200" y="5334000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2" name="Line 24"/>
          <p:cNvSpPr>
            <a:spLocks noChangeShapeType="1"/>
          </p:cNvSpPr>
          <p:nvPr/>
        </p:nvSpPr>
        <p:spPr bwMode="auto">
          <a:xfrm flipH="1">
            <a:off x="5943600" y="3886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3" name="Line 25"/>
          <p:cNvSpPr>
            <a:spLocks noChangeShapeType="1"/>
          </p:cNvSpPr>
          <p:nvPr/>
        </p:nvSpPr>
        <p:spPr bwMode="auto">
          <a:xfrm>
            <a:off x="5943600" y="38862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4" name="Line 26"/>
          <p:cNvSpPr>
            <a:spLocks noChangeShapeType="1"/>
          </p:cNvSpPr>
          <p:nvPr/>
        </p:nvSpPr>
        <p:spPr bwMode="auto">
          <a:xfrm>
            <a:off x="5943600" y="4419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5" name="Line 27"/>
          <p:cNvSpPr>
            <a:spLocks noChangeShapeType="1"/>
          </p:cNvSpPr>
          <p:nvPr/>
        </p:nvSpPr>
        <p:spPr bwMode="auto">
          <a:xfrm flipH="1">
            <a:off x="4648200" y="4114800"/>
            <a:ext cx="1295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6" name="Line 28"/>
          <p:cNvSpPr>
            <a:spLocks noChangeShapeType="1"/>
          </p:cNvSpPr>
          <p:nvPr/>
        </p:nvSpPr>
        <p:spPr bwMode="auto">
          <a:xfrm>
            <a:off x="4648200" y="4114800"/>
            <a:ext cx="0" cy="990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7" name="Line 29"/>
          <p:cNvSpPr>
            <a:spLocks noChangeShapeType="1"/>
          </p:cNvSpPr>
          <p:nvPr/>
        </p:nvSpPr>
        <p:spPr bwMode="auto">
          <a:xfrm>
            <a:off x="4648200" y="5105400"/>
            <a:ext cx="762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5678" name="Object 5"/>
          <p:cNvGraphicFramePr>
            <a:graphicFrameLocks noChangeAspect="1"/>
          </p:cNvGraphicFramePr>
          <p:nvPr/>
        </p:nvGraphicFramePr>
        <p:xfrm>
          <a:off x="457200" y="4114800"/>
          <a:ext cx="38846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7" r:id="rId9" imgW="2240280" imgH="239151" progId="">
                  <p:embed/>
                </p:oleObj>
              </mc:Choice>
              <mc:Fallback>
                <p:oleObj r:id="rId9" imgW="2240280" imgH="23915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14800"/>
                        <a:ext cx="388461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314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85800"/>
            <a:ext cx="7772400" cy="838200"/>
          </a:xfrm>
        </p:spPr>
        <p:txBody>
          <a:bodyPr/>
          <a:lstStyle/>
          <a:p>
            <a:r>
              <a:rPr lang="en-US" altLang="en-US" sz="4000" b="1" smtClean="0">
                <a:effectLst/>
              </a:rPr>
              <a:t>Hierarchical: Complete Link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620000" cy="990600"/>
          </a:xfrm>
        </p:spPr>
        <p:txBody>
          <a:bodyPr/>
          <a:lstStyle/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800" smtClean="0">
                <a:effectLst/>
              </a:rPr>
              <a:t>cluster similarity = similarity of two </a:t>
            </a:r>
            <a:r>
              <a:rPr lang="en-US" altLang="en-US" sz="2800" i="1" smtClean="0">
                <a:solidFill>
                  <a:srgbClr val="800000"/>
                </a:solidFill>
                <a:effectLst/>
              </a:rPr>
              <a:t>least</a:t>
            </a:r>
            <a:r>
              <a:rPr lang="en-US" altLang="en-US" sz="2800" smtClean="0">
                <a:effectLst/>
              </a:rPr>
              <a:t> similar members</a:t>
            </a:r>
          </a:p>
        </p:txBody>
      </p:sp>
      <p:sp>
        <p:nvSpPr>
          <p:cNvPr id="156676" name="Oval 4"/>
          <p:cNvSpPr>
            <a:spLocks noChangeArrowheads="1"/>
          </p:cNvSpPr>
          <p:nvPr/>
        </p:nvSpPr>
        <p:spPr bwMode="auto">
          <a:xfrm>
            <a:off x="2286000" y="4495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77" name="Oval 5"/>
          <p:cNvSpPr>
            <a:spLocks noChangeArrowheads="1"/>
          </p:cNvSpPr>
          <p:nvPr/>
        </p:nvSpPr>
        <p:spPr bwMode="auto">
          <a:xfrm>
            <a:off x="4648200" y="44196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78" name="Oval 6"/>
          <p:cNvSpPr>
            <a:spLocks noChangeArrowheads="1"/>
          </p:cNvSpPr>
          <p:nvPr/>
        </p:nvSpPr>
        <p:spPr bwMode="auto">
          <a:xfrm>
            <a:off x="3048000" y="54864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79" name="Oval 7"/>
          <p:cNvSpPr>
            <a:spLocks noChangeArrowheads="1"/>
          </p:cNvSpPr>
          <p:nvPr/>
        </p:nvSpPr>
        <p:spPr bwMode="auto">
          <a:xfrm>
            <a:off x="2819400" y="47244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0" name="Oval 8"/>
          <p:cNvSpPr>
            <a:spLocks noChangeArrowheads="1"/>
          </p:cNvSpPr>
          <p:nvPr/>
        </p:nvSpPr>
        <p:spPr bwMode="auto">
          <a:xfrm>
            <a:off x="4343400" y="44196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1" name="Oval 9"/>
          <p:cNvSpPr>
            <a:spLocks noChangeArrowheads="1"/>
          </p:cNvSpPr>
          <p:nvPr/>
        </p:nvSpPr>
        <p:spPr bwMode="auto">
          <a:xfrm>
            <a:off x="4572000" y="4114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2" name="Oval 10"/>
          <p:cNvSpPr>
            <a:spLocks noChangeArrowheads="1"/>
          </p:cNvSpPr>
          <p:nvPr/>
        </p:nvSpPr>
        <p:spPr bwMode="auto">
          <a:xfrm>
            <a:off x="914400" y="4191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3" name="Oval 11"/>
          <p:cNvSpPr>
            <a:spLocks noChangeArrowheads="1"/>
          </p:cNvSpPr>
          <p:nvPr/>
        </p:nvSpPr>
        <p:spPr bwMode="auto">
          <a:xfrm>
            <a:off x="838200" y="3733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4" name="Oval 12"/>
          <p:cNvSpPr>
            <a:spLocks noChangeArrowheads="1"/>
          </p:cNvSpPr>
          <p:nvPr/>
        </p:nvSpPr>
        <p:spPr bwMode="auto">
          <a:xfrm>
            <a:off x="1295400" y="38862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5" name="Oval 13"/>
          <p:cNvSpPr>
            <a:spLocks noChangeArrowheads="1"/>
          </p:cNvSpPr>
          <p:nvPr/>
        </p:nvSpPr>
        <p:spPr bwMode="auto">
          <a:xfrm>
            <a:off x="990600" y="39624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6" name="Oval 14"/>
          <p:cNvSpPr>
            <a:spLocks noChangeArrowheads="1"/>
          </p:cNvSpPr>
          <p:nvPr/>
        </p:nvSpPr>
        <p:spPr bwMode="auto">
          <a:xfrm>
            <a:off x="1219200" y="4191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7" name="Oval 15"/>
          <p:cNvSpPr>
            <a:spLocks noChangeArrowheads="1"/>
          </p:cNvSpPr>
          <p:nvPr/>
        </p:nvSpPr>
        <p:spPr bwMode="auto">
          <a:xfrm>
            <a:off x="4267200" y="4114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8" name="Oval 16"/>
          <p:cNvSpPr>
            <a:spLocks noChangeArrowheads="1"/>
          </p:cNvSpPr>
          <p:nvPr/>
        </p:nvSpPr>
        <p:spPr bwMode="auto">
          <a:xfrm>
            <a:off x="914400" y="3429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9" name="Oval 17"/>
          <p:cNvSpPr>
            <a:spLocks noChangeArrowheads="1"/>
          </p:cNvSpPr>
          <p:nvPr/>
        </p:nvSpPr>
        <p:spPr bwMode="auto">
          <a:xfrm>
            <a:off x="4038600" y="3886200"/>
            <a:ext cx="990600" cy="9906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0" name="Oval 18"/>
          <p:cNvSpPr>
            <a:spLocks noChangeArrowheads="1"/>
          </p:cNvSpPr>
          <p:nvPr/>
        </p:nvSpPr>
        <p:spPr bwMode="auto">
          <a:xfrm>
            <a:off x="533400" y="3276600"/>
            <a:ext cx="1143000" cy="12954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1" name="Oval 19"/>
          <p:cNvSpPr>
            <a:spLocks noChangeArrowheads="1"/>
          </p:cNvSpPr>
          <p:nvPr/>
        </p:nvSpPr>
        <p:spPr bwMode="auto">
          <a:xfrm rot="2411630">
            <a:off x="1905000" y="4495800"/>
            <a:ext cx="1828800" cy="10668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2" name="Oval 20"/>
          <p:cNvSpPr>
            <a:spLocks noChangeArrowheads="1"/>
          </p:cNvSpPr>
          <p:nvPr/>
        </p:nvSpPr>
        <p:spPr bwMode="auto">
          <a:xfrm>
            <a:off x="2971800" y="4876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3" name="Oval 21"/>
          <p:cNvSpPr>
            <a:spLocks noChangeArrowheads="1"/>
          </p:cNvSpPr>
          <p:nvPr/>
        </p:nvSpPr>
        <p:spPr bwMode="auto">
          <a:xfrm>
            <a:off x="2667000" y="50292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4" name="Line 22"/>
          <p:cNvSpPr>
            <a:spLocks noChangeShapeType="1"/>
          </p:cNvSpPr>
          <p:nvPr/>
        </p:nvSpPr>
        <p:spPr bwMode="auto">
          <a:xfrm>
            <a:off x="990600" y="3505200"/>
            <a:ext cx="2133600" cy="20574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6695" name="Line 23"/>
          <p:cNvSpPr>
            <a:spLocks noChangeShapeType="1"/>
          </p:cNvSpPr>
          <p:nvPr/>
        </p:nvSpPr>
        <p:spPr bwMode="auto">
          <a:xfrm flipH="1">
            <a:off x="2362200" y="4495800"/>
            <a:ext cx="2362200" cy="762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6696" name="Oval 24"/>
          <p:cNvSpPr>
            <a:spLocks noChangeArrowheads="1"/>
          </p:cNvSpPr>
          <p:nvPr/>
        </p:nvSpPr>
        <p:spPr bwMode="auto">
          <a:xfrm rot="-931360">
            <a:off x="1597025" y="3713163"/>
            <a:ext cx="3775075" cy="2095500"/>
          </a:xfrm>
          <a:prstGeom prst="ellipse">
            <a:avLst/>
          </a:prstGeom>
          <a:noFill/>
          <a:ln w="38100" cap="rnd">
            <a:solidFill>
              <a:schemeClr val="hlink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7" name="Text Box 25"/>
          <p:cNvSpPr txBox="1">
            <a:spLocks noChangeArrowheads="1"/>
          </p:cNvSpPr>
          <p:nvPr/>
        </p:nvSpPr>
        <p:spPr bwMode="auto">
          <a:xfrm>
            <a:off x="5943600" y="3048000"/>
            <a:ext cx="2743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Comic Sans MS" panose="030F0702030302020204" pitchFamily="66" charset="0"/>
              </a:rPr>
              <a:t>+</a:t>
            </a:r>
            <a:r>
              <a:rPr lang="en-US" altLang="en-US" sz="1800">
                <a:latin typeface="Comic Sans MS" panose="030F0702030302020204" pitchFamily="66" charset="0"/>
              </a:rPr>
              <a:t> </a:t>
            </a:r>
            <a:r>
              <a:rPr lang="en-US" altLang="en-US" sz="1800"/>
              <a:t>tight clusters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Comic Sans MS" panose="030F0702030302020204" pitchFamily="66" charset="0"/>
              </a:rPr>
              <a:t>+ </a:t>
            </a:r>
            <a:r>
              <a:rPr lang="en-US" altLang="en-US" sz="1800">
                <a:latin typeface="Comic Sans MS" panose="030F0702030302020204" pitchFamily="66" charset="0"/>
              </a:rPr>
              <a:t>Fast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93698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complete link</a:t>
            </a:r>
          </a:p>
        </p:txBody>
      </p:sp>
      <p:graphicFrame>
        <p:nvGraphicFramePr>
          <p:cNvPr id="158723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7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4" name="Object 3"/>
          <p:cNvGraphicFramePr>
            <a:graphicFrameLocks noChangeAspect="1"/>
          </p:cNvGraphicFramePr>
          <p:nvPr/>
        </p:nvGraphicFramePr>
        <p:xfrm>
          <a:off x="3922713" y="1905000"/>
          <a:ext cx="1604962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8" name="Equation" r:id="rId5" imgW="1257300" imgH="1143000" progId="Equation.3">
                  <p:embed/>
                </p:oleObj>
              </mc:Choice>
              <mc:Fallback>
                <p:oleObj name="Equation" r:id="rId5" imgW="12573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1905000"/>
                        <a:ext cx="1604962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5" name="Line 5"/>
          <p:cNvSpPr>
            <a:spLocks noChangeShapeType="1"/>
          </p:cNvSpPr>
          <p:nvPr/>
        </p:nvSpPr>
        <p:spPr bwMode="auto">
          <a:xfrm flipH="1">
            <a:off x="5791200" y="5181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726" name="Line 6"/>
          <p:cNvSpPr>
            <a:spLocks noChangeShapeType="1"/>
          </p:cNvSpPr>
          <p:nvPr/>
        </p:nvSpPr>
        <p:spPr bwMode="auto">
          <a:xfrm>
            <a:off x="5791200" y="51816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727" name="Line 7"/>
          <p:cNvSpPr>
            <a:spLocks noChangeShapeType="1"/>
          </p:cNvSpPr>
          <p:nvPr/>
        </p:nvSpPr>
        <p:spPr bwMode="auto">
          <a:xfrm>
            <a:off x="5791200" y="57150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728" name="Text Box 8"/>
          <p:cNvSpPr txBox="1">
            <a:spLocks noChangeArrowheads="1"/>
          </p:cNvSpPr>
          <p:nvPr/>
        </p:nvSpPr>
        <p:spPr bwMode="auto">
          <a:xfrm>
            <a:off x="7391400" y="5029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158729" name="Oval 9"/>
          <p:cNvSpPr>
            <a:spLocks noChangeArrowheads="1"/>
          </p:cNvSpPr>
          <p:nvPr/>
        </p:nvSpPr>
        <p:spPr bwMode="auto">
          <a:xfrm>
            <a:off x="7391400" y="5486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8730" name="Oval 10"/>
          <p:cNvSpPr>
            <a:spLocks noChangeArrowheads="1"/>
          </p:cNvSpPr>
          <p:nvPr/>
        </p:nvSpPr>
        <p:spPr bwMode="auto">
          <a:xfrm>
            <a:off x="7391400" y="5029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20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8731" name="Oval 11"/>
          <p:cNvSpPr>
            <a:spLocks noChangeArrowheads="1"/>
          </p:cNvSpPr>
          <p:nvPr/>
        </p:nvSpPr>
        <p:spPr bwMode="auto">
          <a:xfrm>
            <a:off x="7391400" y="4648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8732" name="Oval 12"/>
          <p:cNvSpPr>
            <a:spLocks noChangeArrowheads="1"/>
          </p:cNvSpPr>
          <p:nvPr/>
        </p:nvSpPr>
        <p:spPr bwMode="auto">
          <a:xfrm>
            <a:off x="7391400" y="4191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8733" name="Oval 13"/>
          <p:cNvSpPr>
            <a:spLocks noChangeArrowheads="1"/>
          </p:cNvSpPr>
          <p:nvPr/>
        </p:nvSpPr>
        <p:spPr bwMode="auto">
          <a:xfrm>
            <a:off x="7391400" y="3657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8734" name="Text Box 14"/>
          <p:cNvSpPr txBox="1">
            <a:spLocks noChangeArrowheads="1"/>
          </p:cNvSpPr>
          <p:nvPr/>
        </p:nvSpPr>
        <p:spPr bwMode="auto">
          <a:xfrm>
            <a:off x="7391400" y="5486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8735" name="Text Box 15"/>
          <p:cNvSpPr txBox="1">
            <a:spLocks noChangeArrowheads="1"/>
          </p:cNvSpPr>
          <p:nvPr/>
        </p:nvSpPr>
        <p:spPr bwMode="auto">
          <a:xfrm>
            <a:off x="7391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8736" name="Text Box 16"/>
          <p:cNvSpPr txBox="1">
            <a:spLocks noChangeArrowheads="1"/>
          </p:cNvSpPr>
          <p:nvPr/>
        </p:nvSpPr>
        <p:spPr bwMode="auto">
          <a:xfrm>
            <a:off x="7391400" y="419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8737" name="Text Box 17"/>
          <p:cNvSpPr txBox="1">
            <a:spLocks noChangeArrowheads="1"/>
          </p:cNvSpPr>
          <p:nvPr/>
        </p:nvSpPr>
        <p:spPr bwMode="auto">
          <a:xfrm>
            <a:off x="7391400" y="3657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58738" name="AutoShape 18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58739" name="Object 4"/>
          <p:cNvGraphicFramePr>
            <a:graphicFrameLocks noChangeAspect="1"/>
          </p:cNvGraphicFramePr>
          <p:nvPr/>
        </p:nvGraphicFramePr>
        <p:xfrm>
          <a:off x="685800" y="3962400"/>
          <a:ext cx="4037013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9" r:id="rId7" imgW="2487448" imgH="735724" progId="">
                  <p:embed/>
                </p:oleObj>
              </mc:Choice>
              <mc:Fallback>
                <p:oleObj r:id="rId7" imgW="2487448" imgH="7357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962400"/>
                        <a:ext cx="4037013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823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complete link</a:t>
            </a:r>
          </a:p>
        </p:txBody>
      </p:sp>
      <p:graphicFrame>
        <p:nvGraphicFramePr>
          <p:cNvPr id="159747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2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8" name="Object 3"/>
          <p:cNvGraphicFramePr>
            <a:graphicFrameLocks noChangeAspect="1"/>
          </p:cNvGraphicFramePr>
          <p:nvPr/>
        </p:nvGraphicFramePr>
        <p:xfrm>
          <a:off x="3922713" y="1905000"/>
          <a:ext cx="1604962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3" name="Equation" r:id="rId5" imgW="1257300" imgH="1143000" progId="Equation.3">
                  <p:embed/>
                </p:oleObj>
              </mc:Choice>
              <mc:Fallback>
                <p:oleObj name="Equation" r:id="rId5" imgW="12573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1905000"/>
                        <a:ext cx="1604962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49" name="Line 5"/>
          <p:cNvSpPr>
            <a:spLocks noChangeShapeType="1"/>
          </p:cNvSpPr>
          <p:nvPr/>
        </p:nvSpPr>
        <p:spPr bwMode="auto">
          <a:xfrm flipH="1">
            <a:off x="5867400" y="5181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0" name="Line 6"/>
          <p:cNvSpPr>
            <a:spLocks noChangeShapeType="1"/>
          </p:cNvSpPr>
          <p:nvPr/>
        </p:nvSpPr>
        <p:spPr bwMode="auto">
          <a:xfrm>
            <a:off x="5867400" y="51816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1" name="Line 7"/>
          <p:cNvSpPr>
            <a:spLocks noChangeShapeType="1"/>
          </p:cNvSpPr>
          <p:nvPr/>
        </p:nvSpPr>
        <p:spPr bwMode="auto">
          <a:xfrm>
            <a:off x="5867400" y="57150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9752" name="Group 8"/>
          <p:cNvGrpSpPr>
            <a:grpSpLocks/>
          </p:cNvGrpSpPr>
          <p:nvPr/>
        </p:nvGrpSpPr>
        <p:grpSpPr bwMode="auto">
          <a:xfrm>
            <a:off x="7467600" y="3657600"/>
            <a:ext cx="533400" cy="2286000"/>
            <a:chOff x="4704" y="2304"/>
            <a:chExt cx="336" cy="1440"/>
          </a:xfrm>
        </p:grpSpPr>
        <p:sp>
          <p:nvSpPr>
            <p:cNvPr id="159760" name="Oval 9"/>
            <p:cNvSpPr>
              <a:spLocks noChangeArrowheads="1"/>
            </p:cNvSpPr>
            <p:nvPr/>
          </p:nvSpPr>
          <p:spPr bwMode="auto">
            <a:xfrm>
              <a:off x="4704" y="34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9761" name="Oval 10"/>
            <p:cNvSpPr>
              <a:spLocks noChangeArrowheads="1"/>
            </p:cNvSpPr>
            <p:nvPr/>
          </p:nvSpPr>
          <p:spPr bwMode="auto">
            <a:xfrm>
              <a:off x="4704" y="31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9762" name="Oval 11"/>
            <p:cNvSpPr>
              <a:spLocks noChangeArrowheads="1"/>
            </p:cNvSpPr>
            <p:nvPr/>
          </p:nvSpPr>
          <p:spPr bwMode="auto">
            <a:xfrm>
              <a:off x="4704" y="29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9763" name="Oval 12"/>
            <p:cNvSpPr>
              <a:spLocks noChangeArrowheads="1"/>
            </p:cNvSpPr>
            <p:nvPr/>
          </p:nvSpPr>
          <p:spPr bwMode="auto">
            <a:xfrm>
              <a:off x="4704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9764" name="Oval 13"/>
            <p:cNvSpPr>
              <a:spLocks noChangeArrowheads="1"/>
            </p:cNvSpPr>
            <p:nvPr/>
          </p:nvSpPr>
          <p:spPr bwMode="auto">
            <a:xfrm>
              <a:off x="4704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9765" name="Text Box 14"/>
            <p:cNvSpPr txBox="1">
              <a:spLocks noChangeArrowheads="1"/>
            </p:cNvSpPr>
            <p:nvPr/>
          </p:nvSpPr>
          <p:spPr bwMode="auto">
            <a:xfrm>
              <a:off x="4704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59766" name="Text Box 15"/>
            <p:cNvSpPr txBox="1">
              <a:spLocks noChangeArrowheads="1"/>
            </p:cNvSpPr>
            <p:nvPr/>
          </p:nvSpPr>
          <p:spPr bwMode="auto">
            <a:xfrm>
              <a:off x="4704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59767" name="Text Box 16"/>
            <p:cNvSpPr txBox="1">
              <a:spLocks noChangeArrowheads="1"/>
            </p:cNvSpPr>
            <p:nvPr/>
          </p:nvSpPr>
          <p:spPr bwMode="auto">
            <a:xfrm>
              <a:off x="4704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59768" name="Text Box 17"/>
            <p:cNvSpPr txBox="1">
              <a:spLocks noChangeArrowheads="1"/>
            </p:cNvSpPr>
            <p:nvPr/>
          </p:nvSpPr>
          <p:spPr bwMode="auto">
            <a:xfrm>
              <a:off x="4704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59769" name="Text Box 18"/>
            <p:cNvSpPr txBox="1">
              <a:spLocks noChangeArrowheads="1"/>
            </p:cNvSpPr>
            <p:nvPr/>
          </p:nvSpPr>
          <p:spPr bwMode="auto">
            <a:xfrm>
              <a:off x="4704" y="23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59753" name="AutoShape 19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9754" name="AutoShape 20"/>
          <p:cNvSpPr>
            <a:spLocks noChangeArrowheads="1"/>
          </p:cNvSpPr>
          <p:nvPr/>
        </p:nvSpPr>
        <p:spPr bwMode="auto">
          <a:xfrm>
            <a:off x="57150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59755" name="Object 4"/>
          <p:cNvGraphicFramePr>
            <a:graphicFrameLocks noChangeAspect="1"/>
          </p:cNvGraphicFramePr>
          <p:nvPr/>
        </p:nvGraphicFramePr>
        <p:xfrm>
          <a:off x="6477000" y="1981200"/>
          <a:ext cx="15240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4" name="Equation" r:id="rId7" imgW="1168400" imgH="939800" progId="Equation.3">
                  <p:embed/>
                </p:oleObj>
              </mc:Choice>
              <mc:Fallback>
                <p:oleObj name="Equation" r:id="rId7" imgW="1168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81200"/>
                        <a:ext cx="15240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6" name="Line 22"/>
          <p:cNvSpPr>
            <a:spLocks noChangeShapeType="1"/>
          </p:cNvSpPr>
          <p:nvPr/>
        </p:nvSpPr>
        <p:spPr bwMode="auto">
          <a:xfrm flipH="1">
            <a:off x="5867400" y="3886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7" name="Line 23"/>
          <p:cNvSpPr>
            <a:spLocks noChangeShapeType="1"/>
          </p:cNvSpPr>
          <p:nvPr/>
        </p:nvSpPr>
        <p:spPr bwMode="auto">
          <a:xfrm>
            <a:off x="5867400" y="38862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8" name="Line 24"/>
          <p:cNvSpPr>
            <a:spLocks noChangeShapeType="1"/>
          </p:cNvSpPr>
          <p:nvPr/>
        </p:nvSpPr>
        <p:spPr bwMode="auto">
          <a:xfrm>
            <a:off x="5867400" y="4419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9759" name="Object 5"/>
          <p:cNvGraphicFramePr>
            <a:graphicFrameLocks noChangeAspect="1"/>
          </p:cNvGraphicFramePr>
          <p:nvPr/>
        </p:nvGraphicFramePr>
        <p:xfrm>
          <a:off x="838200" y="4038600"/>
          <a:ext cx="4494213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5" r:id="rId9" imgW="2893848" imgH="479972" progId="">
                  <p:embed/>
                </p:oleObj>
              </mc:Choice>
              <mc:Fallback>
                <p:oleObj r:id="rId9" imgW="2893848" imgH="47997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038600"/>
                        <a:ext cx="4494213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400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complete link</a:t>
            </a:r>
          </a:p>
        </p:txBody>
      </p:sp>
      <p:graphicFrame>
        <p:nvGraphicFramePr>
          <p:cNvPr id="160771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6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2" name="Object 3"/>
          <p:cNvGraphicFramePr>
            <a:graphicFrameLocks noChangeAspect="1"/>
          </p:cNvGraphicFramePr>
          <p:nvPr/>
        </p:nvGraphicFramePr>
        <p:xfrm>
          <a:off x="3922713" y="1905000"/>
          <a:ext cx="1604962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7" name="Equation" r:id="rId5" imgW="1257300" imgH="1143000" progId="Equation.3">
                  <p:embed/>
                </p:oleObj>
              </mc:Choice>
              <mc:Fallback>
                <p:oleObj name="Equation" r:id="rId5" imgW="12573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1905000"/>
                        <a:ext cx="1604962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3" name="AutoShape 5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0774" name="AutoShape 6"/>
          <p:cNvSpPr>
            <a:spLocks noChangeArrowheads="1"/>
          </p:cNvSpPr>
          <p:nvPr/>
        </p:nvSpPr>
        <p:spPr bwMode="auto">
          <a:xfrm>
            <a:off x="57150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60775" name="Object 4"/>
          <p:cNvGraphicFramePr>
            <a:graphicFrameLocks noChangeAspect="1"/>
          </p:cNvGraphicFramePr>
          <p:nvPr/>
        </p:nvGraphicFramePr>
        <p:xfrm>
          <a:off x="6477000" y="1981200"/>
          <a:ext cx="15240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8" name="Equation" r:id="rId7" imgW="1168400" imgH="939800" progId="Equation.3">
                  <p:embed/>
                </p:oleObj>
              </mc:Choice>
              <mc:Fallback>
                <p:oleObj name="Equation" r:id="rId7" imgW="1168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81200"/>
                        <a:ext cx="15240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6" name="Line 8"/>
          <p:cNvSpPr>
            <a:spLocks noChangeShapeType="1"/>
          </p:cNvSpPr>
          <p:nvPr/>
        </p:nvSpPr>
        <p:spPr bwMode="auto">
          <a:xfrm flipH="1">
            <a:off x="5867400" y="51054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77" name="Line 9"/>
          <p:cNvSpPr>
            <a:spLocks noChangeShapeType="1"/>
          </p:cNvSpPr>
          <p:nvPr/>
        </p:nvSpPr>
        <p:spPr bwMode="auto">
          <a:xfrm>
            <a:off x="5867400" y="5105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78" name="Line 10"/>
          <p:cNvSpPr>
            <a:spLocks noChangeShapeType="1"/>
          </p:cNvSpPr>
          <p:nvPr/>
        </p:nvSpPr>
        <p:spPr bwMode="auto">
          <a:xfrm>
            <a:off x="5867400" y="5638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79" name="Line 11"/>
          <p:cNvSpPr>
            <a:spLocks noChangeShapeType="1"/>
          </p:cNvSpPr>
          <p:nvPr/>
        </p:nvSpPr>
        <p:spPr bwMode="auto">
          <a:xfrm flipH="1">
            <a:off x="5867400" y="3886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0" name="Line 12"/>
          <p:cNvSpPr>
            <a:spLocks noChangeShapeType="1"/>
          </p:cNvSpPr>
          <p:nvPr/>
        </p:nvSpPr>
        <p:spPr bwMode="auto">
          <a:xfrm>
            <a:off x="5867400" y="38862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1" name="Line 13"/>
          <p:cNvSpPr>
            <a:spLocks noChangeShapeType="1"/>
          </p:cNvSpPr>
          <p:nvPr/>
        </p:nvSpPr>
        <p:spPr bwMode="auto">
          <a:xfrm>
            <a:off x="5867400" y="4419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2" name="Line 14"/>
          <p:cNvSpPr>
            <a:spLocks noChangeShapeType="1"/>
          </p:cNvSpPr>
          <p:nvPr/>
        </p:nvSpPr>
        <p:spPr bwMode="auto">
          <a:xfrm flipH="1">
            <a:off x="5257800" y="5257800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3" name="Line 15"/>
          <p:cNvSpPr>
            <a:spLocks noChangeShapeType="1"/>
          </p:cNvSpPr>
          <p:nvPr/>
        </p:nvSpPr>
        <p:spPr bwMode="auto">
          <a:xfrm>
            <a:off x="5257800" y="4724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4" name="Line 16"/>
          <p:cNvSpPr>
            <a:spLocks noChangeShapeType="1"/>
          </p:cNvSpPr>
          <p:nvPr/>
        </p:nvSpPr>
        <p:spPr bwMode="auto">
          <a:xfrm>
            <a:off x="5257800" y="4724400"/>
            <a:ext cx="2133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5" name="Line 17"/>
          <p:cNvSpPr>
            <a:spLocks noChangeShapeType="1"/>
          </p:cNvSpPr>
          <p:nvPr/>
        </p:nvSpPr>
        <p:spPr bwMode="auto">
          <a:xfrm flipH="1">
            <a:off x="4572000" y="5029200"/>
            <a:ext cx="685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6" name="Line 18"/>
          <p:cNvSpPr>
            <a:spLocks noChangeShapeType="1"/>
          </p:cNvSpPr>
          <p:nvPr/>
        </p:nvSpPr>
        <p:spPr bwMode="auto">
          <a:xfrm>
            <a:off x="4572000" y="4191000"/>
            <a:ext cx="0" cy="838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7" name="Line 19"/>
          <p:cNvSpPr>
            <a:spLocks noChangeShapeType="1"/>
          </p:cNvSpPr>
          <p:nvPr/>
        </p:nvSpPr>
        <p:spPr bwMode="auto">
          <a:xfrm>
            <a:off x="4572000" y="4191000"/>
            <a:ext cx="1219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0788" name="Group 20"/>
          <p:cNvGrpSpPr>
            <a:grpSpLocks/>
          </p:cNvGrpSpPr>
          <p:nvPr/>
        </p:nvGrpSpPr>
        <p:grpSpPr bwMode="auto">
          <a:xfrm>
            <a:off x="7467600" y="3657600"/>
            <a:ext cx="533400" cy="2286000"/>
            <a:chOff x="4704" y="2304"/>
            <a:chExt cx="336" cy="1440"/>
          </a:xfrm>
        </p:grpSpPr>
        <p:sp>
          <p:nvSpPr>
            <p:cNvPr id="160790" name="Oval 21"/>
            <p:cNvSpPr>
              <a:spLocks noChangeArrowheads="1"/>
            </p:cNvSpPr>
            <p:nvPr/>
          </p:nvSpPr>
          <p:spPr bwMode="auto">
            <a:xfrm>
              <a:off x="4704" y="34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0791" name="Oval 22"/>
            <p:cNvSpPr>
              <a:spLocks noChangeArrowheads="1"/>
            </p:cNvSpPr>
            <p:nvPr/>
          </p:nvSpPr>
          <p:spPr bwMode="auto">
            <a:xfrm>
              <a:off x="4704" y="31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0792" name="Oval 23"/>
            <p:cNvSpPr>
              <a:spLocks noChangeArrowheads="1"/>
            </p:cNvSpPr>
            <p:nvPr/>
          </p:nvSpPr>
          <p:spPr bwMode="auto">
            <a:xfrm>
              <a:off x="4704" y="29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0793" name="Oval 24"/>
            <p:cNvSpPr>
              <a:spLocks noChangeArrowheads="1"/>
            </p:cNvSpPr>
            <p:nvPr/>
          </p:nvSpPr>
          <p:spPr bwMode="auto">
            <a:xfrm>
              <a:off x="4704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0794" name="Oval 25"/>
            <p:cNvSpPr>
              <a:spLocks noChangeArrowheads="1"/>
            </p:cNvSpPr>
            <p:nvPr/>
          </p:nvSpPr>
          <p:spPr bwMode="auto">
            <a:xfrm>
              <a:off x="4704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0795" name="Text Box 26"/>
            <p:cNvSpPr txBox="1">
              <a:spLocks noChangeArrowheads="1"/>
            </p:cNvSpPr>
            <p:nvPr/>
          </p:nvSpPr>
          <p:spPr bwMode="auto">
            <a:xfrm>
              <a:off x="4704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0796" name="Text Box 27"/>
            <p:cNvSpPr txBox="1">
              <a:spLocks noChangeArrowheads="1"/>
            </p:cNvSpPr>
            <p:nvPr/>
          </p:nvSpPr>
          <p:spPr bwMode="auto">
            <a:xfrm>
              <a:off x="4704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60797" name="Text Box 28"/>
            <p:cNvSpPr txBox="1">
              <a:spLocks noChangeArrowheads="1"/>
            </p:cNvSpPr>
            <p:nvPr/>
          </p:nvSpPr>
          <p:spPr bwMode="auto">
            <a:xfrm>
              <a:off x="4704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60798" name="Text Box 29"/>
            <p:cNvSpPr txBox="1">
              <a:spLocks noChangeArrowheads="1"/>
            </p:cNvSpPr>
            <p:nvPr/>
          </p:nvSpPr>
          <p:spPr bwMode="auto">
            <a:xfrm>
              <a:off x="4704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60799" name="Text Box 30"/>
            <p:cNvSpPr txBox="1">
              <a:spLocks noChangeArrowheads="1"/>
            </p:cNvSpPr>
            <p:nvPr/>
          </p:nvSpPr>
          <p:spPr bwMode="auto">
            <a:xfrm>
              <a:off x="4704" y="23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graphicFrame>
        <p:nvGraphicFramePr>
          <p:cNvPr id="160789" name="Object 5"/>
          <p:cNvGraphicFramePr>
            <a:graphicFrameLocks noChangeAspect="1"/>
          </p:cNvGraphicFramePr>
          <p:nvPr/>
        </p:nvGraphicFramePr>
        <p:xfrm>
          <a:off x="457200" y="4191000"/>
          <a:ext cx="38846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9" r:id="rId9" imgW="2342271" imgH="239151" progId="">
                  <p:embed/>
                </p:oleObj>
              </mc:Choice>
              <mc:Fallback>
                <p:oleObj r:id="rId9" imgW="2342271" imgH="23915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91000"/>
                        <a:ext cx="388461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279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7848600" cy="8382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Hierarchical: Average Link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7467600" cy="990600"/>
          </a:xfrm>
        </p:spPr>
        <p:txBody>
          <a:bodyPr/>
          <a:lstStyle/>
          <a:p>
            <a:r>
              <a:rPr lang="en-US" altLang="en-US" sz="2800" smtClean="0">
                <a:effectLst/>
              </a:rPr>
              <a:t>cluster similarity = </a:t>
            </a:r>
            <a:r>
              <a:rPr lang="en-US" altLang="en-US" sz="2800" i="1" smtClean="0">
                <a:solidFill>
                  <a:srgbClr val="800000"/>
                </a:solidFill>
                <a:effectLst/>
              </a:rPr>
              <a:t>average</a:t>
            </a:r>
            <a:r>
              <a:rPr lang="en-US" altLang="en-US" sz="2800" smtClean="0">
                <a:effectLst/>
              </a:rPr>
              <a:t> similarity of all pairs</a:t>
            </a:r>
            <a:endParaRPr lang="en-US" altLang="en-US" smtClean="0">
              <a:effectLst/>
            </a:endParaRPr>
          </a:p>
        </p:txBody>
      </p:sp>
      <p:sp>
        <p:nvSpPr>
          <p:cNvPr id="161796" name="Oval 4"/>
          <p:cNvSpPr>
            <a:spLocks noChangeArrowheads="1"/>
          </p:cNvSpPr>
          <p:nvPr/>
        </p:nvSpPr>
        <p:spPr bwMode="auto">
          <a:xfrm>
            <a:off x="2514600" y="4572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797" name="Oval 5"/>
          <p:cNvSpPr>
            <a:spLocks noChangeArrowheads="1"/>
          </p:cNvSpPr>
          <p:nvPr/>
        </p:nvSpPr>
        <p:spPr bwMode="auto">
          <a:xfrm>
            <a:off x="4876800" y="4495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798" name="Oval 6"/>
          <p:cNvSpPr>
            <a:spLocks noChangeArrowheads="1"/>
          </p:cNvSpPr>
          <p:nvPr/>
        </p:nvSpPr>
        <p:spPr bwMode="auto">
          <a:xfrm>
            <a:off x="3276600" y="55626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799" name="Oval 7"/>
          <p:cNvSpPr>
            <a:spLocks noChangeArrowheads="1"/>
          </p:cNvSpPr>
          <p:nvPr/>
        </p:nvSpPr>
        <p:spPr bwMode="auto">
          <a:xfrm>
            <a:off x="3048000" y="48006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0" name="Oval 8"/>
          <p:cNvSpPr>
            <a:spLocks noChangeArrowheads="1"/>
          </p:cNvSpPr>
          <p:nvPr/>
        </p:nvSpPr>
        <p:spPr bwMode="auto">
          <a:xfrm>
            <a:off x="4572000" y="4495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1" name="Oval 9"/>
          <p:cNvSpPr>
            <a:spLocks noChangeArrowheads="1"/>
          </p:cNvSpPr>
          <p:nvPr/>
        </p:nvSpPr>
        <p:spPr bwMode="auto">
          <a:xfrm>
            <a:off x="4800600" y="4191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2" name="Oval 10"/>
          <p:cNvSpPr>
            <a:spLocks noChangeArrowheads="1"/>
          </p:cNvSpPr>
          <p:nvPr/>
        </p:nvSpPr>
        <p:spPr bwMode="auto">
          <a:xfrm>
            <a:off x="1143000" y="42672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3" name="Oval 11"/>
          <p:cNvSpPr>
            <a:spLocks noChangeArrowheads="1"/>
          </p:cNvSpPr>
          <p:nvPr/>
        </p:nvSpPr>
        <p:spPr bwMode="auto">
          <a:xfrm>
            <a:off x="1066800" y="3810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4" name="Oval 12"/>
          <p:cNvSpPr>
            <a:spLocks noChangeArrowheads="1"/>
          </p:cNvSpPr>
          <p:nvPr/>
        </p:nvSpPr>
        <p:spPr bwMode="auto">
          <a:xfrm>
            <a:off x="1524000" y="39624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5" name="Oval 13"/>
          <p:cNvSpPr>
            <a:spLocks noChangeArrowheads="1"/>
          </p:cNvSpPr>
          <p:nvPr/>
        </p:nvSpPr>
        <p:spPr bwMode="auto">
          <a:xfrm>
            <a:off x="1219200" y="40386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6" name="Oval 14"/>
          <p:cNvSpPr>
            <a:spLocks noChangeArrowheads="1"/>
          </p:cNvSpPr>
          <p:nvPr/>
        </p:nvSpPr>
        <p:spPr bwMode="auto">
          <a:xfrm>
            <a:off x="1447800" y="42672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7" name="Oval 15"/>
          <p:cNvSpPr>
            <a:spLocks noChangeArrowheads="1"/>
          </p:cNvSpPr>
          <p:nvPr/>
        </p:nvSpPr>
        <p:spPr bwMode="auto">
          <a:xfrm>
            <a:off x="4495800" y="4191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8" name="Oval 16"/>
          <p:cNvSpPr>
            <a:spLocks noChangeArrowheads="1"/>
          </p:cNvSpPr>
          <p:nvPr/>
        </p:nvSpPr>
        <p:spPr bwMode="auto">
          <a:xfrm>
            <a:off x="1143000" y="35052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9" name="Oval 17"/>
          <p:cNvSpPr>
            <a:spLocks noChangeArrowheads="1"/>
          </p:cNvSpPr>
          <p:nvPr/>
        </p:nvSpPr>
        <p:spPr bwMode="auto">
          <a:xfrm>
            <a:off x="4267200" y="3962400"/>
            <a:ext cx="990600" cy="9906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0" name="Oval 18"/>
          <p:cNvSpPr>
            <a:spLocks noChangeArrowheads="1"/>
          </p:cNvSpPr>
          <p:nvPr/>
        </p:nvSpPr>
        <p:spPr bwMode="auto">
          <a:xfrm>
            <a:off x="762000" y="3352800"/>
            <a:ext cx="1143000" cy="12954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1" name="Oval 19"/>
          <p:cNvSpPr>
            <a:spLocks noChangeArrowheads="1"/>
          </p:cNvSpPr>
          <p:nvPr/>
        </p:nvSpPr>
        <p:spPr bwMode="auto">
          <a:xfrm rot="2411630">
            <a:off x="2133600" y="4572000"/>
            <a:ext cx="1828800" cy="10668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2" name="Oval 20"/>
          <p:cNvSpPr>
            <a:spLocks noChangeArrowheads="1"/>
          </p:cNvSpPr>
          <p:nvPr/>
        </p:nvSpPr>
        <p:spPr bwMode="auto">
          <a:xfrm>
            <a:off x="3200400" y="4953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3" name="Oval 21"/>
          <p:cNvSpPr>
            <a:spLocks noChangeArrowheads="1"/>
          </p:cNvSpPr>
          <p:nvPr/>
        </p:nvSpPr>
        <p:spPr bwMode="auto">
          <a:xfrm>
            <a:off x="2895600" y="51054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4" name="Line 22"/>
          <p:cNvSpPr>
            <a:spLocks noChangeShapeType="1"/>
          </p:cNvSpPr>
          <p:nvPr/>
        </p:nvSpPr>
        <p:spPr bwMode="auto">
          <a:xfrm flipH="1">
            <a:off x="3124200" y="4267200"/>
            <a:ext cx="1447800" cy="6096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15" name="Oval 23"/>
          <p:cNvSpPr>
            <a:spLocks noChangeArrowheads="1"/>
          </p:cNvSpPr>
          <p:nvPr/>
        </p:nvSpPr>
        <p:spPr bwMode="auto">
          <a:xfrm rot="-931360">
            <a:off x="1825625" y="3789363"/>
            <a:ext cx="3775075" cy="2095500"/>
          </a:xfrm>
          <a:prstGeom prst="ellipse">
            <a:avLst/>
          </a:prstGeom>
          <a:noFill/>
          <a:ln w="38100" cap="rnd">
            <a:solidFill>
              <a:schemeClr val="hlink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6" name="Line 24"/>
          <p:cNvSpPr>
            <a:spLocks noChangeShapeType="1"/>
          </p:cNvSpPr>
          <p:nvPr/>
        </p:nvSpPr>
        <p:spPr bwMode="auto">
          <a:xfrm flipH="1">
            <a:off x="2971800" y="4267200"/>
            <a:ext cx="1600200" cy="9144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17" name="Line 25"/>
          <p:cNvSpPr>
            <a:spLocks noChangeShapeType="1"/>
          </p:cNvSpPr>
          <p:nvPr/>
        </p:nvSpPr>
        <p:spPr bwMode="auto">
          <a:xfrm flipH="1">
            <a:off x="3352800" y="4267200"/>
            <a:ext cx="1219200" cy="13716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18" name="Line 26"/>
          <p:cNvSpPr>
            <a:spLocks noChangeShapeType="1"/>
          </p:cNvSpPr>
          <p:nvPr/>
        </p:nvSpPr>
        <p:spPr bwMode="auto">
          <a:xfrm flipH="1">
            <a:off x="3352800" y="4267200"/>
            <a:ext cx="1219200" cy="7620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19" name="Line 27"/>
          <p:cNvSpPr>
            <a:spLocks noChangeShapeType="1"/>
          </p:cNvSpPr>
          <p:nvPr/>
        </p:nvSpPr>
        <p:spPr bwMode="auto">
          <a:xfrm flipH="1">
            <a:off x="2590800" y="4572000"/>
            <a:ext cx="2057400" cy="762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0" name="Line 28"/>
          <p:cNvSpPr>
            <a:spLocks noChangeShapeType="1"/>
          </p:cNvSpPr>
          <p:nvPr/>
        </p:nvSpPr>
        <p:spPr bwMode="auto">
          <a:xfrm flipH="1">
            <a:off x="3124200" y="4572000"/>
            <a:ext cx="1524000" cy="3048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1" name="Line 29"/>
          <p:cNvSpPr>
            <a:spLocks noChangeShapeType="1"/>
          </p:cNvSpPr>
          <p:nvPr/>
        </p:nvSpPr>
        <p:spPr bwMode="auto">
          <a:xfrm flipH="1">
            <a:off x="2590800" y="4267200"/>
            <a:ext cx="1981200" cy="3810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2" name="Line 30"/>
          <p:cNvSpPr>
            <a:spLocks noChangeShapeType="1"/>
          </p:cNvSpPr>
          <p:nvPr/>
        </p:nvSpPr>
        <p:spPr bwMode="auto">
          <a:xfrm flipH="1">
            <a:off x="3276600" y="4572000"/>
            <a:ext cx="1371600" cy="4572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3" name="Line 31"/>
          <p:cNvSpPr>
            <a:spLocks noChangeShapeType="1"/>
          </p:cNvSpPr>
          <p:nvPr/>
        </p:nvSpPr>
        <p:spPr bwMode="auto">
          <a:xfrm flipH="1">
            <a:off x="2971800" y="4572000"/>
            <a:ext cx="1676400" cy="6096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4" name="Line 32"/>
          <p:cNvSpPr>
            <a:spLocks noChangeShapeType="1"/>
          </p:cNvSpPr>
          <p:nvPr/>
        </p:nvSpPr>
        <p:spPr bwMode="auto">
          <a:xfrm flipH="1">
            <a:off x="3352800" y="4572000"/>
            <a:ext cx="1295400" cy="10668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5" name="Text Box 33"/>
          <p:cNvSpPr txBox="1">
            <a:spLocks noChangeArrowheads="1"/>
          </p:cNvSpPr>
          <p:nvPr/>
        </p:nvSpPr>
        <p:spPr bwMode="auto">
          <a:xfrm>
            <a:off x="5943600" y="3276600"/>
            <a:ext cx="2743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Comic Sans MS" panose="030F0702030302020204" pitchFamily="66" charset="0"/>
              </a:rPr>
              <a:t>+</a:t>
            </a:r>
            <a:r>
              <a:rPr lang="en-US" altLang="en-US" sz="1800">
                <a:latin typeface="Comic Sans MS" panose="030F0702030302020204" pitchFamily="66" charset="0"/>
              </a:rPr>
              <a:t> tight clusters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Comic Sans MS" panose="030F0702030302020204" pitchFamily="66" charset="0"/>
              </a:rPr>
              <a:t>-</a:t>
            </a:r>
            <a:r>
              <a:rPr lang="en-US" altLang="en-US" sz="1800">
                <a:latin typeface="Comic Sans MS" panose="030F0702030302020204" pitchFamily="66" charset="0"/>
              </a:rPr>
              <a:t> slow</a:t>
            </a:r>
          </a:p>
        </p:txBody>
      </p:sp>
    </p:spTree>
    <p:extLst>
      <p:ext uri="{BB962C8B-B14F-4D97-AF65-F5344CB8AC3E}">
        <p14:creationId xmlns:p14="http://schemas.microsoft.com/office/powerpoint/2010/main" val="310499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average link</a:t>
            </a:r>
          </a:p>
        </p:txBody>
      </p:sp>
      <p:graphicFrame>
        <p:nvGraphicFramePr>
          <p:cNvPr id="163843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9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4" name="Object 3"/>
          <p:cNvGraphicFramePr>
            <a:graphicFrameLocks noChangeAspect="1"/>
          </p:cNvGraphicFramePr>
          <p:nvPr/>
        </p:nvGraphicFramePr>
        <p:xfrm>
          <a:off x="3890963" y="1905000"/>
          <a:ext cx="167005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0" name="Equation" r:id="rId5" imgW="1308100" imgH="1143000" progId="Equation.3">
                  <p:embed/>
                </p:oleObj>
              </mc:Choice>
              <mc:Fallback>
                <p:oleObj name="Equation" r:id="rId5" imgW="13081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1905000"/>
                        <a:ext cx="167005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5" name="Line 5"/>
          <p:cNvSpPr>
            <a:spLocks noChangeShapeType="1"/>
          </p:cNvSpPr>
          <p:nvPr/>
        </p:nvSpPr>
        <p:spPr bwMode="auto">
          <a:xfrm flipH="1">
            <a:off x="5943600" y="5181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6" name="Line 6"/>
          <p:cNvSpPr>
            <a:spLocks noChangeShapeType="1"/>
          </p:cNvSpPr>
          <p:nvPr/>
        </p:nvSpPr>
        <p:spPr bwMode="auto">
          <a:xfrm>
            <a:off x="5943600" y="51816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7" name="Line 7"/>
          <p:cNvSpPr>
            <a:spLocks noChangeShapeType="1"/>
          </p:cNvSpPr>
          <p:nvPr/>
        </p:nvSpPr>
        <p:spPr bwMode="auto">
          <a:xfrm>
            <a:off x="5943600" y="57150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3848" name="Group 8"/>
          <p:cNvGrpSpPr>
            <a:grpSpLocks/>
          </p:cNvGrpSpPr>
          <p:nvPr/>
        </p:nvGrpSpPr>
        <p:grpSpPr bwMode="auto">
          <a:xfrm>
            <a:off x="7543800" y="3657600"/>
            <a:ext cx="533400" cy="2286000"/>
            <a:chOff x="4752" y="2304"/>
            <a:chExt cx="336" cy="1440"/>
          </a:xfrm>
        </p:grpSpPr>
        <p:sp>
          <p:nvSpPr>
            <p:cNvPr id="163851" name="Oval 9"/>
            <p:cNvSpPr>
              <a:spLocks noChangeArrowheads="1"/>
            </p:cNvSpPr>
            <p:nvPr/>
          </p:nvSpPr>
          <p:spPr bwMode="auto">
            <a:xfrm>
              <a:off x="4752" y="34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3852" name="Oval 10"/>
            <p:cNvSpPr>
              <a:spLocks noChangeArrowheads="1"/>
            </p:cNvSpPr>
            <p:nvPr/>
          </p:nvSpPr>
          <p:spPr bwMode="auto">
            <a:xfrm>
              <a:off x="4752" y="31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3853" name="Oval 11"/>
            <p:cNvSpPr>
              <a:spLocks noChangeArrowheads="1"/>
            </p:cNvSpPr>
            <p:nvPr/>
          </p:nvSpPr>
          <p:spPr bwMode="auto">
            <a:xfrm>
              <a:off x="4752" y="29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3854" name="Oval 12"/>
            <p:cNvSpPr>
              <a:spLocks noChangeArrowheads="1"/>
            </p:cNvSpPr>
            <p:nvPr/>
          </p:nvSpPr>
          <p:spPr bwMode="auto">
            <a:xfrm>
              <a:off x="475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3855" name="Oval 13"/>
            <p:cNvSpPr>
              <a:spLocks noChangeArrowheads="1"/>
            </p:cNvSpPr>
            <p:nvPr/>
          </p:nvSpPr>
          <p:spPr bwMode="auto">
            <a:xfrm>
              <a:off x="4752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3856" name="Text Box 14"/>
            <p:cNvSpPr txBox="1">
              <a:spLocks noChangeArrowheads="1"/>
            </p:cNvSpPr>
            <p:nvPr/>
          </p:nvSpPr>
          <p:spPr bwMode="auto">
            <a:xfrm>
              <a:off x="4752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3857" name="Text Box 15"/>
            <p:cNvSpPr txBox="1">
              <a:spLocks noChangeArrowheads="1"/>
            </p:cNvSpPr>
            <p:nvPr/>
          </p:nvSpPr>
          <p:spPr bwMode="auto">
            <a:xfrm>
              <a:off x="4752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63858" name="Text Box 16"/>
            <p:cNvSpPr txBox="1">
              <a:spLocks noChangeArrowheads="1"/>
            </p:cNvSpPr>
            <p:nvPr/>
          </p:nvSpPr>
          <p:spPr bwMode="auto">
            <a:xfrm>
              <a:off x="4752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63859" name="Text Box 17"/>
            <p:cNvSpPr txBox="1">
              <a:spLocks noChangeArrowheads="1"/>
            </p:cNvSpPr>
            <p:nvPr/>
          </p:nvSpPr>
          <p:spPr bwMode="auto">
            <a:xfrm>
              <a:off x="4752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63860" name="Text Box 18"/>
            <p:cNvSpPr txBox="1">
              <a:spLocks noChangeArrowheads="1"/>
            </p:cNvSpPr>
            <p:nvPr/>
          </p:nvSpPr>
          <p:spPr bwMode="auto">
            <a:xfrm>
              <a:off x="4752" y="23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63849" name="AutoShape 19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63850" name="Object 4"/>
          <p:cNvGraphicFramePr>
            <a:graphicFrameLocks noChangeAspect="1"/>
          </p:cNvGraphicFramePr>
          <p:nvPr/>
        </p:nvGraphicFramePr>
        <p:xfrm>
          <a:off x="990600" y="3733800"/>
          <a:ext cx="3656013" cy="200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1" r:id="rId7" imgW="2193159" imgH="1205186" progId="">
                  <p:embed/>
                </p:oleObj>
              </mc:Choice>
              <mc:Fallback>
                <p:oleObj r:id="rId7" imgW="2193159" imgH="120518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733800"/>
                        <a:ext cx="3656013" cy="200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649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average link</a:t>
            </a:r>
          </a:p>
        </p:txBody>
      </p:sp>
      <p:graphicFrame>
        <p:nvGraphicFramePr>
          <p:cNvPr id="164867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4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8" name="Object 3"/>
          <p:cNvGraphicFramePr>
            <a:graphicFrameLocks noChangeAspect="1"/>
          </p:cNvGraphicFramePr>
          <p:nvPr/>
        </p:nvGraphicFramePr>
        <p:xfrm>
          <a:off x="3890963" y="1905000"/>
          <a:ext cx="167005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5" name="Equation" r:id="rId5" imgW="1308100" imgH="1143000" progId="Equation.3">
                  <p:embed/>
                </p:oleObj>
              </mc:Choice>
              <mc:Fallback>
                <p:oleObj name="Equation" r:id="rId5" imgW="13081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1905000"/>
                        <a:ext cx="167005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69" name="Line 5"/>
          <p:cNvSpPr>
            <a:spLocks noChangeShapeType="1"/>
          </p:cNvSpPr>
          <p:nvPr/>
        </p:nvSpPr>
        <p:spPr bwMode="auto">
          <a:xfrm flipH="1">
            <a:off x="5867400" y="5257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0" name="Line 6"/>
          <p:cNvSpPr>
            <a:spLocks noChangeShapeType="1"/>
          </p:cNvSpPr>
          <p:nvPr/>
        </p:nvSpPr>
        <p:spPr bwMode="auto">
          <a:xfrm>
            <a:off x="5867400" y="52578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1" name="Line 7"/>
          <p:cNvSpPr>
            <a:spLocks noChangeShapeType="1"/>
          </p:cNvSpPr>
          <p:nvPr/>
        </p:nvSpPr>
        <p:spPr bwMode="auto">
          <a:xfrm>
            <a:off x="5867400" y="5791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4872" name="Group 8"/>
          <p:cNvGrpSpPr>
            <a:grpSpLocks/>
          </p:cNvGrpSpPr>
          <p:nvPr/>
        </p:nvGrpSpPr>
        <p:grpSpPr bwMode="auto">
          <a:xfrm>
            <a:off x="7467600" y="3733800"/>
            <a:ext cx="533400" cy="2286000"/>
            <a:chOff x="4704" y="2352"/>
            <a:chExt cx="336" cy="1440"/>
          </a:xfrm>
        </p:grpSpPr>
        <p:sp>
          <p:nvSpPr>
            <p:cNvPr id="164880" name="Oval 9"/>
            <p:cNvSpPr>
              <a:spLocks noChangeArrowheads="1"/>
            </p:cNvSpPr>
            <p:nvPr/>
          </p:nvSpPr>
          <p:spPr bwMode="auto">
            <a:xfrm>
              <a:off x="4704" y="35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4881" name="Oval 10"/>
            <p:cNvSpPr>
              <a:spLocks noChangeArrowheads="1"/>
            </p:cNvSpPr>
            <p:nvPr/>
          </p:nvSpPr>
          <p:spPr bwMode="auto">
            <a:xfrm>
              <a:off x="4704" y="321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4882" name="Oval 11"/>
            <p:cNvSpPr>
              <a:spLocks noChangeArrowheads="1"/>
            </p:cNvSpPr>
            <p:nvPr/>
          </p:nvSpPr>
          <p:spPr bwMode="auto">
            <a:xfrm>
              <a:off x="4704" y="297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4883" name="Oval 12"/>
            <p:cNvSpPr>
              <a:spLocks noChangeArrowheads="1"/>
            </p:cNvSpPr>
            <p:nvPr/>
          </p:nvSpPr>
          <p:spPr bwMode="auto">
            <a:xfrm>
              <a:off x="4704" y="268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4884" name="Oval 13"/>
            <p:cNvSpPr>
              <a:spLocks noChangeArrowheads="1"/>
            </p:cNvSpPr>
            <p:nvPr/>
          </p:nvSpPr>
          <p:spPr bwMode="auto">
            <a:xfrm>
              <a:off x="4704" y="235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4885" name="Text Box 14"/>
            <p:cNvSpPr txBox="1">
              <a:spLocks noChangeArrowheads="1"/>
            </p:cNvSpPr>
            <p:nvPr/>
          </p:nvSpPr>
          <p:spPr bwMode="auto">
            <a:xfrm>
              <a:off x="4704" y="35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4886" name="Text Box 15"/>
            <p:cNvSpPr txBox="1">
              <a:spLocks noChangeArrowheads="1"/>
            </p:cNvSpPr>
            <p:nvPr/>
          </p:nvSpPr>
          <p:spPr bwMode="auto">
            <a:xfrm>
              <a:off x="4704" y="321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64887" name="Text Box 16"/>
            <p:cNvSpPr txBox="1">
              <a:spLocks noChangeArrowheads="1"/>
            </p:cNvSpPr>
            <p:nvPr/>
          </p:nvSpPr>
          <p:spPr bwMode="auto">
            <a:xfrm>
              <a:off x="4704" y="29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64888" name="Text Box 17"/>
            <p:cNvSpPr txBox="1">
              <a:spLocks noChangeArrowheads="1"/>
            </p:cNvSpPr>
            <p:nvPr/>
          </p:nvSpPr>
          <p:spPr bwMode="auto">
            <a:xfrm>
              <a:off x="4704" y="268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64889" name="Text Box 18"/>
            <p:cNvSpPr txBox="1">
              <a:spLocks noChangeArrowheads="1"/>
            </p:cNvSpPr>
            <p:nvPr/>
          </p:nvSpPr>
          <p:spPr bwMode="auto">
            <a:xfrm>
              <a:off x="4704" y="235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64873" name="AutoShape 19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4874" name="AutoShape 20"/>
          <p:cNvSpPr>
            <a:spLocks noChangeArrowheads="1"/>
          </p:cNvSpPr>
          <p:nvPr/>
        </p:nvSpPr>
        <p:spPr bwMode="auto">
          <a:xfrm>
            <a:off x="57150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64875" name="Object 4"/>
          <p:cNvGraphicFramePr>
            <a:graphicFrameLocks noChangeAspect="1"/>
          </p:cNvGraphicFramePr>
          <p:nvPr/>
        </p:nvGraphicFramePr>
        <p:xfrm>
          <a:off x="6477000" y="1981200"/>
          <a:ext cx="15240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6" name="Equation" r:id="rId7" imgW="1168400" imgH="939800" progId="Equation.3">
                  <p:embed/>
                </p:oleObj>
              </mc:Choice>
              <mc:Fallback>
                <p:oleObj name="Equation" r:id="rId7" imgW="1168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81200"/>
                        <a:ext cx="15240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6" name="Line 22"/>
          <p:cNvSpPr>
            <a:spLocks noChangeShapeType="1"/>
          </p:cNvSpPr>
          <p:nvPr/>
        </p:nvSpPr>
        <p:spPr bwMode="auto">
          <a:xfrm flipH="1">
            <a:off x="5867400" y="39624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7" name="Line 23"/>
          <p:cNvSpPr>
            <a:spLocks noChangeShapeType="1"/>
          </p:cNvSpPr>
          <p:nvPr/>
        </p:nvSpPr>
        <p:spPr bwMode="auto">
          <a:xfrm>
            <a:off x="5867400" y="3962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8" name="Line 24"/>
          <p:cNvSpPr>
            <a:spLocks noChangeShapeType="1"/>
          </p:cNvSpPr>
          <p:nvPr/>
        </p:nvSpPr>
        <p:spPr bwMode="auto">
          <a:xfrm>
            <a:off x="5867400" y="4495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64879" name="Object 5"/>
          <p:cNvGraphicFramePr>
            <a:graphicFrameLocks noChangeAspect="1"/>
          </p:cNvGraphicFramePr>
          <p:nvPr/>
        </p:nvGraphicFramePr>
        <p:xfrm>
          <a:off x="1066800" y="4038600"/>
          <a:ext cx="3656013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7" r:id="rId9" imgW="2405575" imgH="812409" progId="">
                  <p:embed/>
                </p:oleObj>
              </mc:Choice>
              <mc:Fallback>
                <p:oleObj r:id="rId9" imgW="2405575" imgH="81240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038600"/>
                        <a:ext cx="3656013" cy="123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261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average link</a:t>
            </a:r>
          </a:p>
        </p:txBody>
      </p:sp>
      <p:graphicFrame>
        <p:nvGraphicFramePr>
          <p:cNvPr id="165891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8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2" name="Object 3"/>
          <p:cNvGraphicFramePr>
            <a:graphicFrameLocks noChangeAspect="1"/>
          </p:cNvGraphicFramePr>
          <p:nvPr/>
        </p:nvGraphicFramePr>
        <p:xfrm>
          <a:off x="3890963" y="1905000"/>
          <a:ext cx="167005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9" name="Equation" r:id="rId5" imgW="1308100" imgH="1143000" progId="Equation.3">
                  <p:embed/>
                </p:oleObj>
              </mc:Choice>
              <mc:Fallback>
                <p:oleObj name="Equation" r:id="rId5" imgW="13081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1905000"/>
                        <a:ext cx="167005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3" name="AutoShape 5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5894" name="AutoShape 6"/>
          <p:cNvSpPr>
            <a:spLocks noChangeArrowheads="1"/>
          </p:cNvSpPr>
          <p:nvPr/>
        </p:nvSpPr>
        <p:spPr bwMode="auto">
          <a:xfrm>
            <a:off x="57150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65895" name="Object 4"/>
          <p:cNvGraphicFramePr>
            <a:graphicFrameLocks noChangeAspect="1"/>
          </p:cNvGraphicFramePr>
          <p:nvPr/>
        </p:nvGraphicFramePr>
        <p:xfrm>
          <a:off x="6477000" y="1981200"/>
          <a:ext cx="15240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0" name="Equation" r:id="rId7" imgW="1168400" imgH="939800" progId="Equation.3">
                  <p:embed/>
                </p:oleObj>
              </mc:Choice>
              <mc:Fallback>
                <p:oleObj name="Equation" r:id="rId7" imgW="1168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81200"/>
                        <a:ext cx="15240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6" name="Line 8"/>
          <p:cNvSpPr>
            <a:spLocks noChangeShapeType="1"/>
          </p:cNvSpPr>
          <p:nvPr/>
        </p:nvSpPr>
        <p:spPr bwMode="auto">
          <a:xfrm flipH="1">
            <a:off x="5867400" y="51054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7" name="Line 9"/>
          <p:cNvSpPr>
            <a:spLocks noChangeShapeType="1"/>
          </p:cNvSpPr>
          <p:nvPr/>
        </p:nvSpPr>
        <p:spPr bwMode="auto">
          <a:xfrm>
            <a:off x="5867400" y="5105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8" name="Line 10"/>
          <p:cNvSpPr>
            <a:spLocks noChangeShapeType="1"/>
          </p:cNvSpPr>
          <p:nvPr/>
        </p:nvSpPr>
        <p:spPr bwMode="auto">
          <a:xfrm>
            <a:off x="5867400" y="5638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9" name="Line 11"/>
          <p:cNvSpPr>
            <a:spLocks noChangeShapeType="1"/>
          </p:cNvSpPr>
          <p:nvPr/>
        </p:nvSpPr>
        <p:spPr bwMode="auto">
          <a:xfrm flipH="1">
            <a:off x="5867400" y="3886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0" name="Line 12"/>
          <p:cNvSpPr>
            <a:spLocks noChangeShapeType="1"/>
          </p:cNvSpPr>
          <p:nvPr/>
        </p:nvSpPr>
        <p:spPr bwMode="auto">
          <a:xfrm>
            <a:off x="5867400" y="38862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1" name="Line 13"/>
          <p:cNvSpPr>
            <a:spLocks noChangeShapeType="1"/>
          </p:cNvSpPr>
          <p:nvPr/>
        </p:nvSpPr>
        <p:spPr bwMode="auto">
          <a:xfrm>
            <a:off x="5867400" y="4419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2" name="Line 14"/>
          <p:cNvSpPr>
            <a:spLocks noChangeShapeType="1"/>
          </p:cNvSpPr>
          <p:nvPr/>
        </p:nvSpPr>
        <p:spPr bwMode="auto">
          <a:xfrm flipH="1">
            <a:off x="5257800" y="5257800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3" name="Line 15"/>
          <p:cNvSpPr>
            <a:spLocks noChangeShapeType="1"/>
          </p:cNvSpPr>
          <p:nvPr/>
        </p:nvSpPr>
        <p:spPr bwMode="auto">
          <a:xfrm>
            <a:off x="5257800" y="4724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4" name="Line 16"/>
          <p:cNvSpPr>
            <a:spLocks noChangeShapeType="1"/>
          </p:cNvSpPr>
          <p:nvPr/>
        </p:nvSpPr>
        <p:spPr bwMode="auto">
          <a:xfrm>
            <a:off x="5257800" y="4724400"/>
            <a:ext cx="2133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5" name="Line 17"/>
          <p:cNvSpPr>
            <a:spLocks noChangeShapeType="1"/>
          </p:cNvSpPr>
          <p:nvPr/>
        </p:nvSpPr>
        <p:spPr bwMode="auto">
          <a:xfrm flipH="1">
            <a:off x="4572000" y="5029200"/>
            <a:ext cx="685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6" name="Line 18"/>
          <p:cNvSpPr>
            <a:spLocks noChangeShapeType="1"/>
          </p:cNvSpPr>
          <p:nvPr/>
        </p:nvSpPr>
        <p:spPr bwMode="auto">
          <a:xfrm>
            <a:off x="4572000" y="4191000"/>
            <a:ext cx="0" cy="838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7" name="Line 19"/>
          <p:cNvSpPr>
            <a:spLocks noChangeShapeType="1"/>
          </p:cNvSpPr>
          <p:nvPr/>
        </p:nvSpPr>
        <p:spPr bwMode="auto">
          <a:xfrm>
            <a:off x="4572000" y="4191000"/>
            <a:ext cx="1219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5908" name="Group 20"/>
          <p:cNvGrpSpPr>
            <a:grpSpLocks/>
          </p:cNvGrpSpPr>
          <p:nvPr/>
        </p:nvGrpSpPr>
        <p:grpSpPr bwMode="auto">
          <a:xfrm>
            <a:off x="7467600" y="3657600"/>
            <a:ext cx="533400" cy="2286000"/>
            <a:chOff x="4704" y="2304"/>
            <a:chExt cx="336" cy="1440"/>
          </a:xfrm>
        </p:grpSpPr>
        <p:sp>
          <p:nvSpPr>
            <p:cNvPr id="165910" name="Oval 21"/>
            <p:cNvSpPr>
              <a:spLocks noChangeArrowheads="1"/>
            </p:cNvSpPr>
            <p:nvPr/>
          </p:nvSpPr>
          <p:spPr bwMode="auto">
            <a:xfrm>
              <a:off x="4704" y="34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5911" name="Oval 22"/>
            <p:cNvSpPr>
              <a:spLocks noChangeArrowheads="1"/>
            </p:cNvSpPr>
            <p:nvPr/>
          </p:nvSpPr>
          <p:spPr bwMode="auto">
            <a:xfrm>
              <a:off x="4704" y="31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5912" name="Oval 23"/>
            <p:cNvSpPr>
              <a:spLocks noChangeArrowheads="1"/>
            </p:cNvSpPr>
            <p:nvPr/>
          </p:nvSpPr>
          <p:spPr bwMode="auto">
            <a:xfrm>
              <a:off x="4704" y="29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5913" name="Oval 24"/>
            <p:cNvSpPr>
              <a:spLocks noChangeArrowheads="1"/>
            </p:cNvSpPr>
            <p:nvPr/>
          </p:nvSpPr>
          <p:spPr bwMode="auto">
            <a:xfrm>
              <a:off x="4704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5914" name="Oval 25"/>
            <p:cNvSpPr>
              <a:spLocks noChangeArrowheads="1"/>
            </p:cNvSpPr>
            <p:nvPr/>
          </p:nvSpPr>
          <p:spPr bwMode="auto">
            <a:xfrm>
              <a:off x="4704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5915" name="Text Box 26"/>
            <p:cNvSpPr txBox="1">
              <a:spLocks noChangeArrowheads="1"/>
            </p:cNvSpPr>
            <p:nvPr/>
          </p:nvSpPr>
          <p:spPr bwMode="auto">
            <a:xfrm>
              <a:off x="4704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5916" name="Text Box 27"/>
            <p:cNvSpPr txBox="1">
              <a:spLocks noChangeArrowheads="1"/>
            </p:cNvSpPr>
            <p:nvPr/>
          </p:nvSpPr>
          <p:spPr bwMode="auto">
            <a:xfrm>
              <a:off x="4704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65917" name="Text Box 28"/>
            <p:cNvSpPr txBox="1">
              <a:spLocks noChangeArrowheads="1"/>
            </p:cNvSpPr>
            <p:nvPr/>
          </p:nvSpPr>
          <p:spPr bwMode="auto">
            <a:xfrm>
              <a:off x="4704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65918" name="Text Box 29"/>
            <p:cNvSpPr txBox="1">
              <a:spLocks noChangeArrowheads="1"/>
            </p:cNvSpPr>
            <p:nvPr/>
          </p:nvSpPr>
          <p:spPr bwMode="auto">
            <a:xfrm>
              <a:off x="4704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65919" name="Text Box 30"/>
            <p:cNvSpPr txBox="1">
              <a:spLocks noChangeArrowheads="1"/>
            </p:cNvSpPr>
            <p:nvPr/>
          </p:nvSpPr>
          <p:spPr bwMode="auto">
            <a:xfrm>
              <a:off x="4704" y="23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graphicFrame>
        <p:nvGraphicFramePr>
          <p:cNvPr id="165909" name="Object 5"/>
          <p:cNvGraphicFramePr>
            <a:graphicFrameLocks noChangeAspect="1"/>
          </p:cNvGraphicFramePr>
          <p:nvPr/>
        </p:nvGraphicFramePr>
        <p:xfrm>
          <a:off x="304800" y="4114800"/>
          <a:ext cx="41894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1" r:id="rId9" imgW="3160110" imgH="392386" progId="">
                  <p:embed/>
                </p:oleObj>
              </mc:Choice>
              <mc:Fallback>
                <p:oleObj r:id="rId9" imgW="3160110" imgH="39238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14800"/>
                        <a:ext cx="41894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656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152400" y="685800"/>
            <a:ext cx="8839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en-US" sz="4000" b="1"/>
              <a:t>Comparison of the Three Methods</a:t>
            </a:r>
          </a:p>
        </p:txBody>
      </p:sp>
      <p:sp>
        <p:nvSpPr>
          <p:cNvPr id="166915" name="Rectangle 3"/>
          <p:cNvSpPr>
            <a:spLocks noChangeArrowheads="1"/>
          </p:cNvSpPr>
          <p:nvPr/>
        </p:nvSpPr>
        <p:spPr bwMode="auto">
          <a:xfrm>
            <a:off x="152400" y="1905000"/>
            <a:ext cx="8458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Single-link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“Loose” clusters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Individual decision, sensitive to outliers 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Complete-link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 “Tight” clusters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Individual decision, sensitive to outliers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Average-link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“In between”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Group decision, insensitive to outliers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Which one is the best? Depends on what you need! </a:t>
            </a:r>
          </a:p>
        </p:txBody>
      </p:sp>
    </p:spTree>
    <p:extLst>
      <p:ext uri="{BB962C8B-B14F-4D97-AF65-F5344CB8AC3E}">
        <p14:creationId xmlns:p14="http://schemas.microsoft.com/office/powerpoint/2010/main" val="417197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 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Produces a set of nested clusters organized as a hierarchical tree</a:t>
            </a:r>
          </a:p>
          <a:p>
            <a:pPr eaLnBrk="1" hangingPunct="1">
              <a:defRPr/>
            </a:pPr>
            <a:r>
              <a:rPr lang="en-US" smtClean="0"/>
              <a:t>Can be visualized as a dendrogram</a:t>
            </a:r>
          </a:p>
          <a:p>
            <a:pPr lvl="1" eaLnBrk="1" hangingPunct="1">
              <a:defRPr/>
            </a:pPr>
            <a:r>
              <a:rPr lang="en-US" smtClean="0"/>
              <a:t>A tree like diagram that records the sequences of merges or splits</a:t>
            </a:r>
          </a:p>
        </p:txBody>
      </p:sp>
      <p:pic>
        <p:nvPicPr>
          <p:cNvPr id="1679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59213"/>
            <a:ext cx="34591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7941" name="Object 5"/>
          <p:cNvGraphicFramePr>
            <a:graphicFrameLocks noChangeAspect="1"/>
          </p:cNvGraphicFramePr>
          <p:nvPr/>
        </p:nvGraphicFramePr>
        <p:xfrm>
          <a:off x="5257800" y="3629025"/>
          <a:ext cx="2319338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6" name="VISIO" r:id="rId5" imgW="3163511" imgH="3230582" progId="Visio.Drawing.6">
                  <p:embed/>
                </p:oleObj>
              </mc:Choice>
              <mc:Fallback>
                <p:oleObj name="VISIO" r:id="rId5" imgW="3163511" imgH="323058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629025"/>
                        <a:ext cx="2319338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694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Strengths of Hierarchical Clustering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Do not have to assume any particular number of clusters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Any desired number of clusters can be obtained by ‘cutting’ the </a:t>
            </a:r>
            <a:r>
              <a:rPr lang="en-US" dirty="0" err="1" smtClean="0"/>
              <a:t>dendogram</a:t>
            </a:r>
            <a:r>
              <a:rPr lang="en-US" dirty="0" smtClean="0"/>
              <a:t> at the proper level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They may correspond to meaningful taxonomies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Example in biological sciences (e.g., animal kingdom, phylogeny reconstruction, …)</a:t>
            </a:r>
          </a:p>
        </p:txBody>
      </p:sp>
    </p:spTree>
    <p:extLst>
      <p:ext uri="{BB962C8B-B14F-4D97-AF65-F5344CB8AC3E}">
        <p14:creationId xmlns:p14="http://schemas.microsoft.com/office/powerpoint/2010/main" val="388223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Cluster Similarity: MIN or Single Link 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Similarity of two clusters is based on the two most similar (closest) points in the different clusters</a:t>
            </a:r>
          </a:p>
          <a:p>
            <a:pPr lvl="1" eaLnBrk="1" hangingPunct="1">
              <a:defRPr/>
            </a:pPr>
            <a:r>
              <a:rPr lang="en-US" smtClean="0"/>
              <a:t>Determined by one pair of points, i.e., by one link in the proximity graph.</a:t>
            </a:r>
          </a:p>
        </p:txBody>
      </p:sp>
      <p:graphicFrame>
        <p:nvGraphicFramePr>
          <p:cNvPr id="488452" name="Object 4"/>
          <p:cNvGraphicFramePr>
            <a:graphicFrameLocks noChangeAspect="1"/>
          </p:cNvGraphicFramePr>
          <p:nvPr/>
        </p:nvGraphicFramePr>
        <p:xfrm>
          <a:off x="0" y="4343400"/>
          <a:ext cx="4087813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0" name="Worksheet" r:id="rId4" imgW="2294001" imgH="1013841" progId="Excel.Sheet.8">
                  <p:embed/>
                </p:oleObj>
              </mc:Choice>
              <mc:Fallback>
                <p:oleObj name="Worksheet" r:id="rId4" imgW="2294001" imgH="101384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343400"/>
                        <a:ext cx="4087813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562600" y="3810000"/>
            <a:ext cx="2820988" cy="2562225"/>
            <a:chOff x="3616" y="2256"/>
            <a:chExt cx="1777" cy="1614"/>
          </a:xfrm>
        </p:grpSpPr>
        <p:sp>
          <p:nvSpPr>
            <p:cNvPr id="172038" name="Line 6"/>
            <p:cNvSpPr>
              <a:spLocks noChangeShapeType="1"/>
            </p:cNvSpPr>
            <p:nvPr/>
          </p:nvSpPr>
          <p:spPr bwMode="auto">
            <a:xfrm flipV="1">
              <a:off x="3696" y="3221"/>
              <a:ext cx="0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39" name="Line 7"/>
            <p:cNvSpPr>
              <a:spLocks noChangeShapeType="1"/>
            </p:cNvSpPr>
            <p:nvPr/>
          </p:nvSpPr>
          <p:spPr bwMode="auto">
            <a:xfrm>
              <a:off x="3696" y="3221"/>
              <a:ext cx="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0" name="Line 8"/>
            <p:cNvSpPr>
              <a:spLocks noChangeShapeType="1"/>
            </p:cNvSpPr>
            <p:nvPr/>
          </p:nvSpPr>
          <p:spPr bwMode="auto">
            <a:xfrm>
              <a:off x="4163" y="3221"/>
              <a:ext cx="0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1" name="Line 9"/>
            <p:cNvSpPr>
              <a:spLocks noChangeShapeType="1"/>
            </p:cNvSpPr>
            <p:nvPr/>
          </p:nvSpPr>
          <p:spPr bwMode="auto">
            <a:xfrm flipV="1">
              <a:off x="3976" y="2979"/>
              <a:ext cx="0" cy="2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2" name="Line 10"/>
            <p:cNvSpPr>
              <a:spLocks noChangeShapeType="1"/>
            </p:cNvSpPr>
            <p:nvPr/>
          </p:nvSpPr>
          <p:spPr bwMode="auto">
            <a:xfrm flipV="1">
              <a:off x="3976" y="2899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3" name="Line 11"/>
            <p:cNvSpPr>
              <a:spLocks noChangeShapeType="1"/>
            </p:cNvSpPr>
            <p:nvPr/>
          </p:nvSpPr>
          <p:spPr bwMode="auto">
            <a:xfrm flipV="1">
              <a:off x="4818" y="3060"/>
              <a:ext cx="0" cy="5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4" name="Line 12"/>
            <p:cNvSpPr>
              <a:spLocks noChangeShapeType="1"/>
            </p:cNvSpPr>
            <p:nvPr/>
          </p:nvSpPr>
          <p:spPr bwMode="auto">
            <a:xfrm>
              <a:off x="4818" y="3060"/>
              <a:ext cx="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5" name="Line 13"/>
            <p:cNvSpPr>
              <a:spLocks noChangeShapeType="1"/>
            </p:cNvSpPr>
            <p:nvPr/>
          </p:nvSpPr>
          <p:spPr bwMode="auto">
            <a:xfrm>
              <a:off x="5285" y="3060"/>
              <a:ext cx="0" cy="5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6" name="Line 14"/>
            <p:cNvSpPr>
              <a:spLocks noChangeShapeType="1"/>
            </p:cNvSpPr>
            <p:nvPr/>
          </p:nvSpPr>
          <p:spPr bwMode="auto">
            <a:xfrm flipV="1">
              <a:off x="5098" y="2819"/>
              <a:ext cx="0" cy="2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7" name="Line 15"/>
            <p:cNvSpPr>
              <a:spLocks noChangeShapeType="1"/>
            </p:cNvSpPr>
            <p:nvPr/>
          </p:nvSpPr>
          <p:spPr bwMode="auto">
            <a:xfrm flipV="1">
              <a:off x="5098" y="2738"/>
              <a:ext cx="0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8" name="Line 16"/>
            <p:cNvSpPr>
              <a:spLocks noChangeShapeType="1"/>
            </p:cNvSpPr>
            <p:nvPr/>
          </p:nvSpPr>
          <p:spPr bwMode="auto">
            <a:xfrm flipV="1">
              <a:off x="4444" y="2899"/>
              <a:ext cx="0" cy="7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9" name="Line 17"/>
            <p:cNvSpPr>
              <a:spLocks noChangeShapeType="1"/>
            </p:cNvSpPr>
            <p:nvPr/>
          </p:nvSpPr>
          <p:spPr bwMode="auto">
            <a:xfrm>
              <a:off x="3976" y="2899"/>
              <a:ext cx="4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0" name="Line 18"/>
            <p:cNvSpPr>
              <a:spLocks noChangeShapeType="1"/>
            </p:cNvSpPr>
            <p:nvPr/>
          </p:nvSpPr>
          <p:spPr bwMode="auto">
            <a:xfrm flipV="1">
              <a:off x="4163" y="2578"/>
              <a:ext cx="0" cy="3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1" name="Line 19"/>
            <p:cNvSpPr>
              <a:spLocks noChangeShapeType="1"/>
            </p:cNvSpPr>
            <p:nvPr/>
          </p:nvSpPr>
          <p:spPr bwMode="auto">
            <a:xfrm>
              <a:off x="4163" y="2578"/>
              <a:ext cx="9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2" name="Line 20"/>
            <p:cNvSpPr>
              <a:spLocks noChangeShapeType="1"/>
            </p:cNvSpPr>
            <p:nvPr/>
          </p:nvSpPr>
          <p:spPr bwMode="auto">
            <a:xfrm>
              <a:off x="5098" y="2578"/>
              <a:ext cx="0" cy="2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3" name="Line 21"/>
            <p:cNvSpPr>
              <a:spLocks noChangeShapeType="1"/>
            </p:cNvSpPr>
            <p:nvPr/>
          </p:nvSpPr>
          <p:spPr bwMode="auto">
            <a:xfrm flipV="1">
              <a:off x="4631" y="2256"/>
              <a:ext cx="0" cy="3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4" name="Text Box 22"/>
            <p:cNvSpPr txBox="1">
              <a:spLocks noChangeArrowheads="1"/>
            </p:cNvSpPr>
            <p:nvPr/>
          </p:nvSpPr>
          <p:spPr bwMode="auto">
            <a:xfrm>
              <a:off x="3616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2055" name="Text Box 23"/>
            <p:cNvSpPr txBox="1">
              <a:spLocks noChangeArrowheads="1"/>
            </p:cNvSpPr>
            <p:nvPr/>
          </p:nvSpPr>
          <p:spPr bwMode="auto">
            <a:xfrm>
              <a:off x="4083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2056" name="Text Box 24"/>
            <p:cNvSpPr txBox="1">
              <a:spLocks noChangeArrowheads="1"/>
            </p:cNvSpPr>
            <p:nvPr/>
          </p:nvSpPr>
          <p:spPr bwMode="auto">
            <a:xfrm>
              <a:off x="4364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2057" name="Text Box 25"/>
            <p:cNvSpPr txBox="1">
              <a:spLocks noChangeArrowheads="1"/>
            </p:cNvSpPr>
            <p:nvPr/>
          </p:nvSpPr>
          <p:spPr bwMode="auto">
            <a:xfrm>
              <a:off x="4738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72058" name="Text Box 26"/>
            <p:cNvSpPr txBox="1">
              <a:spLocks noChangeArrowheads="1"/>
            </p:cNvSpPr>
            <p:nvPr/>
          </p:nvSpPr>
          <p:spPr bwMode="auto">
            <a:xfrm>
              <a:off x="5205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09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Hierarchical Clustering: MIN</a:t>
            </a: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914400" y="57150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Nested Clusters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5791200" y="57150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Dendrogram</a:t>
            </a:r>
          </a:p>
        </p:txBody>
      </p:sp>
      <p:grpSp>
        <p:nvGrpSpPr>
          <p:cNvPr id="174085" name="Group 5"/>
          <p:cNvGrpSpPr>
            <a:grpSpLocks/>
          </p:cNvGrpSpPr>
          <p:nvPr/>
        </p:nvGrpSpPr>
        <p:grpSpPr bwMode="auto">
          <a:xfrm>
            <a:off x="747713" y="1773238"/>
            <a:ext cx="3175000" cy="2790825"/>
            <a:chOff x="471" y="1117"/>
            <a:chExt cx="2000" cy="1758"/>
          </a:xfrm>
        </p:grpSpPr>
        <p:sp>
          <p:nvSpPr>
            <p:cNvPr id="174102" name="Freeform 6"/>
            <p:cNvSpPr>
              <a:spLocks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3" name="Freeform 7"/>
            <p:cNvSpPr>
              <a:spLocks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4" name="Freeform 8"/>
            <p:cNvSpPr>
              <a:spLocks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5" name="Freeform 9"/>
            <p:cNvSpPr>
              <a:spLocks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6" name="Freeform 10"/>
            <p:cNvSpPr>
              <a:spLocks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7" name="Freeform 11"/>
            <p:cNvSpPr>
              <a:spLocks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8" name="Rectangle 12"/>
            <p:cNvSpPr>
              <a:spLocks noChangeArrowheads="1"/>
            </p:cNvSpPr>
            <p:nvPr/>
          </p:nvSpPr>
          <p:spPr bwMode="auto">
            <a:xfrm>
              <a:off x="2032" y="1117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09" name="Rectangle 13"/>
            <p:cNvSpPr>
              <a:spLocks noChangeArrowheads="1"/>
            </p:cNvSpPr>
            <p:nvPr/>
          </p:nvSpPr>
          <p:spPr bwMode="auto">
            <a:xfrm>
              <a:off x="1256" y="1764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0" name="Rectangle 14"/>
            <p:cNvSpPr>
              <a:spLocks noChangeArrowheads="1"/>
            </p:cNvSpPr>
            <p:nvPr/>
          </p:nvSpPr>
          <p:spPr bwMode="auto">
            <a:xfrm>
              <a:off x="1810" y="2069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1" name="Rectangle 15"/>
            <p:cNvSpPr>
              <a:spLocks noChangeArrowheads="1"/>
            </p:cNvSpPr>
            <p:nvPr/>
          </p:nvSpPr>
          <p:spPr bwMode="auto">
            <a:xfrm>
              <a:off x="1422" y="263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2" name="Rectangle 16"/>
            <p:cNvSpPr>
              <a:spLocks noChangeArrowheads="1"/>
            </p:cNvSpPr>
            <p:nvPr/>
          </p:nvSpPr>
          <p:spPr bwMode="auto">
            <a:xfrm>
              <a:off x="648" y="1626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3" name="Rectangle 17"/>
            <p:cNvSpPr>
              <a:spLocks noChangeArrowheads="1"/>
            </p:cNvSpPr>
            <p:nvPr/>
          </p:nvSpPr>
          <p:spPr bwMode="auto">
            <a:xfrm>
              <a:off x="2307" y="212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6" name="Group 18"/>
          <p:cNvGrpSpPr>
            <a:grpSpLocks/>
          </p:cNvGrpSpPr>
          <p:nvPr/>
        </p:nvGrpSpPr>
        <p:grpSpPr bwMode="auto">
          <a:xfrm>
            <a:off x="2495550" y="2863850"/>
            <a:ext cx="1423988" cy="914400"/>
            <a:chOff x="1572" y="1804"/>
            <a:chExt cx="897" cy="576"/>
          </a:xfrm>
        </p:grpSpPr>
        <p:sp>
          <p:nvSpPr>
            <p:cNvPr id="174100" name="Freeform 19"/>
            <p:cNvSpPr>
              <a:spLocks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01" name="Rectangle 20"/>
            <p:cNvSpPr>
              <a:spLocks noChangeArrowheads="1"/>
            </p:cNvSpPr>
            <p:nvPr/>
          </p:nvSpPr>
          <p:spPr bwMode="auto">
            <a:xfrm>
              <a:off x="1944" y="1804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7" name="Group 21"/>
          <p:cNvGrpSpPr>
            <a:grpSpLocks/>
          </p:cNvGrpSpPr>
          <p:nvPr/>
        </p:nvGrpSpPr>
        <p:grpSpPr bwMode="auto">
          <a:xfrm>
            <a:off x="527050" y="2489200"/>
            <a:ext cx="1735138" cy="1158875"/>
            <a:chOff x="332" y="1568"/>
            <a:chExt cx="1093" cy="730"/>
          </a:xfrm>
        </p:grpSpPr>
        <p:sp>
          <p:nvSpPr>
            <p:cNvPr id="174098" name="Freeform 22"/>
            <p:cNvSpPr>
              <a:spLocks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9" name="Rectangle 23"/>
            <p:cNvSpPr>
              <a:spLocks noChangeArrowheads="1"/>
            </p:cNvSpPr>
            <p:nvPr/>
          </p:nvSpPr>
          <p:spPr bwMode="auto">
            <a:xfrm>
              <a:off x="949" y="2052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8" name="Group 24"/>
          <p:cNvGrpSpPr>
            <a:grpSpLocks/>
          </p:cNvGrpSpPr>
          <p:nvPr/>
        </p:nvGrpSpPr>
        <p:grpSpPr bwMode="auto">
          <a:xfrm>
            <a:off x="444500" y="2071688"/>
            <a:ext cx="3675063" cy="2097087"/>
            <a:chOff x="280" y="1305"/>
            <a:chExt cx="2315" cy="1321"/>
          </a:xfrm>
        </p:grpSpPr>
        <p:sp>
          <p:nvSpPr>
            <p:cNvPr id="174096" name="Freeform 25"/>
            <p:cNvSpPr>
              <a:spLocks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7" name="Rectangle 26"/>
            <p:cNvSpPr>
              <a:spLocks noChangeArrowheads="1"/>
            </p:cNvSpPr>
            <p:nvPr/>
          </p:nvSpPr>
          <p:spPr bwMode="auto">
            <a:xfrm>
              <a:off x="1390" y="130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9" name="Group 27"/>
          <p:cNvGrpSpPr>
            <a:grpSpLocks/>
          </p:cNvGrpSpPr>
          <p:nvPr/>
        </p:nvGrpSpPr>
        <p:grpSpPr bwMode="auto">
          <a:xfrm>
            <a:off x="382588" y="1951038"/>
            <a:ext cx="3795712" cy="2924175"/>
            <a:chOff x="241" y="1229"/>
            <a:chExt cx="2391" cy="1842"/>
          </a:xfrm>
        </p:grpSpPr>
        <p:sp>
          <p:nvSpPr>
            <p:cNvPr id="174094" name="Freeform 28"/>
            <p:cNvSpPr>
              <a:spLocks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5" name="Rectangle 29"/>
            <p:cNvSpPr>
              <a:spLocks noChangeArrowheads="1"/>
            </p:cNvSpPr>
            <p:nvPr/>
          </p:nvSpPr>
          <p:spPr bwMode="auto">
            <a:xfrm>
              <a:off x="1239" y="282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90" name="Group 30"/>
          <p:cNvGrpSpPr>
            <a:grpSpLocks/>
          </p:cNvGrpSpPr>
          <p:nvPr/>
        </p:nvGrpSpPr>
        <p:grpSpPr bwMode="auto">
          <a:xfrm>
            <a:off x="307975" y="1547813"/>
            <a:ext cx="4003675" cy="3530600"/>
            <a:chOff x="194" y="975"/>
            <a:chExt cx="2522" cy="2224"/>
          </a:xfrm>
        </p:grpSpPr>
        <p:sp>
          <p:nvSpPr>
            <p:cNvPr id="174092" name="Rectangle 31"/>
            <p:cNvSpPr>
              <a:spLocks noChangeArrowheads="1"/>
            </p:cNvSpPr>
            <p:nvPr/>
          </p:nvSpPr>
          <p:spPr bwMode="auto">
            <a:xfrm>
              <a:off x="2138" y="97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093" name="Freeform 32"/>
            <p:cNvSpPr>
              <a:spLocks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4091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992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Strength of MIN</a:t>
            </a:r>
          </a:p>
        </p:txBody>
      </p:sp>
      <p:sp>
        <p:nvSpPr>
          <p:cNvPr id="176131" name="Text Box 3"/>
          <p:cNvSpPr txBox="1">
            <a:spLocks noChangeArrowheads="1"/>
          </p:cNvSpPr>
          <p:nvPr/>
        </p:nvSpPr>
        <p:spPr bwMode="auto">
          <a:xfrm>
            <a:off x="1066800" y="42672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876800" y="1981200"/>
            <a:ext cx="4103688" cy="2652713"/>
            <a:chOff x="3072" y="1248"/>
            <a:chExt cx="2585" cy="1671"/>
          </a:xfrm>
        </p:grpSpPr>
        <p:sp>
          <p:nvSpPr>
            <p:cNvPr id="176135" name="Text Box 5"/>
            <p:cNvSpPr txBox="1">
              <a:spLocks noChangeArrowheads="1"/>
            </p:cNvSpPr>
            <p:nvPr/>
          </p:nvSpPr>
          <p:spPr bwMode="auto">
            <a:xfrm>
              <a:off x="3408" y="2688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  <p:pic>
          <p:nvPicPr>
            <p:cNvPr id="17613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28" r="7143"/>
            <a:stretch>
              <a:fillRect/>
            </a:stretch>
          </p:blipFill>
          <p:spPr bwMode="auto">
            <a:xfrm>
              <a:off x="3072" y="1248"/>
              <a:ext cx="2585" cy="1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613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5357"/>
          <a:stretch>
            <a:fillRect/>
          </a:stretch>
        </p:blipFill>
        <p:spPr bwMode="auto">
          <a:xfrm>
            <a:off x="152400" y="1981200"/>
            <a:ext cx="4186238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2552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Can handle non-elliptical shapes</a:t>
            </a:r>
          </a:p>
        </p:txBody>
      </p:sp>
    </p:spTree>
    <p:extLst>
      <p:ext uri="{BB962C8B-B14F-4D97-AF65-F5344CB8AC3E}">
        <p14:creationId xmlns:p14="http://schemas.microsoft.com/office/powerpoint/2010/main" val="421199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52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Limitations of MIN</a:t>
            </a:r>
          </a:p>
        </p:txBody>
      </p:sp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1066800" y="47244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pic>
        <p:nvPicPr>
          <p:cNvPr id="1781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265613" y="1524000"/>
            <a:ext cx="4878387" cy="3567113"/>
            <a:chOff x="2496" y="960"/>
            <a:chExt cx="2689" cy="2247"/>
          </a:xfrm>
        </p:grpSpPr>
        <p:sp>
          <p:nvSpPr>
            <p:cNvPr id="178183" name="Text Box 6"/>
            <p:cNvSpPr txBox="1">
              <a:spLocks noChangeArrowheads="1"/>
            </p:cNvSpPr>
            <p:nvPr/>
          </p:nvSpPr>
          <p:spPr bwMode="auto">
            <a:xfrm>
              <a:off x="3072" y="2976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  <p:pic>
          <p:nvPicPr>
            <p:cNvPr id="178184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6" y="960"/>
              <a:ext cx="2689" cy="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94600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Sensitive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293252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00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Cluster Similarity: MAX or Complete Linkage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Similarity of two clusters is based on the two least similar (most distant) points in the different clusters</a:t>
            </a:r>
          </a:p>
          <a:p>
            <a:pPr lvl="1" eaLnBrk="1" hangingPunct="1">
              <a:defRPr/>
            </a:pPr>
            <a:r>
              <a:rPr lang="en-US" smtClean="0"/>
              <a:t>Determined by all pairs of points in the two clusters</a:t>
            </a:r>
          </a:p>
          <a:p>
            <a:pPr eaLnBrk="1" hangingPunct="1">
              <a:defRPr/>
            </a:pPr>
            <a:endParaRPr lang="en-US" smtClean="0"/>
          </a:p>
        </p:txBody>
      </p:sp>
      <p:graphicFrame>
        <p:nvGraphicFramePr>
          <p:cNvPr id="180228" name="Object 4"/>
          <p:cNvGraphicFramePr>
            <a:graphicFrameLocks noChangeAspect="1"/>
          </p:cNvGraphicFramePr>
          <p:nvPr/>
        </p:nvGraphicFramePr>
        <p:xfrm>
          <a:off x="152400" y="4114800"/>
          <a:ext cx="4343400" cy="245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4" name="Worksheet" r:id="rId4" imgW="2294001" imgH="1013841" progId="Excel.Sheet.8">
                  <p:embed/>
                </p:oleObj>
              </mc:Choice>
              <mc:Fallback>
                <p:oleObj name="Worksheet" r:id="rId4" imgW="2294001" imgH="101384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14800"/>
                        <a:ext cx="4343400" cy="245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15000" y="3886200"/>
            <a:ext cx="2598738" cy="2667000"/>
            <a:chOff x="3691" y="2160"/>
            <a:chExt cx="1637" cy="1680"/>
          </a:xfrm>
        </p:grpSpPr>
        <p:sp>
          <p:nvSpPr>
            <p:cNvPr id="180230" name="Line 6"/>
            <p:cNvSpPr>
              <a:spLocks noChangeShapeType="1"/>
            </p:cNvSpPr>
            <p:nvPr/>
          </p:nvSpPr>
          <p:spPr bwMode="auto">
            <a:xfrm flipV="1">
              <a:off x="5219" y="3168"/>
              <a:ext cx="0" cy="4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1" name="Line 7"/>
            <p:cNvSpPr>
              <a:spLocks noChangeShapeType="1"/>
            </p:cNvSpPr>
            <p:nvPr/>
          </p:nvSpPr>
          <p:spPr bwMode="auto">
            <a:xfrm>
              <a:off x="4793" y="3168"/>
              <a:ext cx="4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2" name="Line 8"/>
            <p:cNvSpPr>
              <a:spLocks noChangeShapeType="1"/>
            </p:cNvSpPr>
            <p:nvPr/>
          </p:nvSpPr>
          <p:spPr bwMode="auto">
            <a:xfrm>
              <a:off x="4793" y="3168"/>
              <a:ext cx="0" cy="4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3" name="Line 9"/>
            <p:cNvSpPr>
              <a:spLocks noChangeShapeType="1"/>
            </p:cNvSpPr>
            <p:nvPr/>
          </p:nvSpPr>
          <p:spPr bwMode="auto">
            <a:xfrm flipV="1">
              <a:off x="4964" y="2916"/>
              <a:ext cx="0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4" name="Line 10"/>
            <p:cNvSpPr>
              <a:spLocks noChangeShapeType="1"/>
            </p:cNvSpPr>
            <p:nvPr/>
          </p:nvSpPr>
          <p:spPr bwMode="auto">
            <a:xfrm flipV="1">
              <a:off x="4964" y="2832"/>
              <a:ext cx="0" cy="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5" name="Line 11"/>
            <p:cNvSpPr>
              <a:spLocks noChangeShapeType="1"/>
            </p:cNvSpPr>
            <p:nvPr/>
          </p:nvSpPr>
          <p:spPr bwMode="auto">
            <a:xfrm flipV="1">
              <a:off x="4197" y="325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6" name="Line 12"/>
            <p:cNvSpPr>
              <a:spLocks noChangeShapeType="1"/>
            </p:cNvSpPr>
            <p:nvPr/>
          </p:nvSpPr>
          <p:spPr bwMode="auto">
            <a:xfrm>
              <a:off x="3770" y="3252"/>
              <a:ext cx="4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7" name="Line 13"/>
            <p:cNvSpPr>
              <a:spLocks noChangeShapeType="1"/>
            </p:cNvSpPr>
            <p:nvPr/>
          </p:nvSpPr>
          <p:spPr bwMode="auto">
            <a:xfrm>
              <a:off x="3770" y="325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8" name="Line 14"/>
            <p:cNvSpPr>
              <a:spLocks noChangeShapeType="1"/>
            </p:cNvSpPr>
            <p:nvPr/>
          </p:nvSpPr>
          <p:spPr bwMode="auto">
            <a:xfrm flipV="1">
              <a:off x="3941" y="2748"/>
              <a:ext cx="0" cy="5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9" name="Line 15"/>
            <p:cNvSpPr>
              <a:spLocks noChangeShapeType="1"/>
            </p:cNvSpPr>
            <p:nvPr/>
          </p:nvSpPr>
          <p:spPr bwMode="auto">
            <a:xfrm flipV="1">
              <a:off x="3941" y="2664"/>
              <a:ext cx="0" cy="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0" name="Line 16"/>
            <p:cNvSpPr>
              <a:spLocks noChangeShapeType="1"/>
            </p:cNvSpPr>
            <p:nvPr/>
          </p:nvSpPr>
          <p:spPr bwMode="auto">
            <a:xfrm flipV="1">
              <a:off x="4537" y="2832"/>
              <a:ext cx="0" cy="7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1" name="Line 17"/>
            <p:cNvSpPr>
              <a:spLocks noChangeShapeType="1"/>
            </p:cNvSpPr>
            <p:nvPr/>
          </p:nvSpPr>
          <p:spPr bwMode="auto">
            <a:xfrm>
              <a:off x="4537" y="2832"/>
              <a:ext cx="4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2" name="Line 18"/>
            <p:cNvSpPr>
              <a:spLocks noChangeShapeType="1"/>
            </p:cNvSpPr>
            <p:nvPr/>
          </p:nvSpPr>
          <p:spPr bwMode="auto">
            <a:xfrm flipV="1">
              <a:off x="4793" y="24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3" name="Line 19"/>
            <p:cNvSpPr>
              <a:spLocks noChangeShapeType="1"/>
            </p:cNvSpPr>
            <p:nvPr/>
          </p:nvSpPr>
          <p:spPr bwMode="auto">
            <a:xfrm>
              <a:off x="3941" y="2496"/>
              <a:ext cx="8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4" name="Line 20"/>
            <p:cNvSpPr>
              <a:spLocks noChangeShapeType="1"/>
            </p:cNvSpPr>
            <p:nvPr/>
          </p:nvSpPr>
          <p:spPr bwMode="auto">
            <a:xfrm>
              <a:off x="3941" y="2496"/>
              <a:ext cx="0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5" name="Line 21"/>
            <p:cNvSpPr>
              <a:spLocks noChangeShapeType="1"/>
            </p:cNvSpPr>
            <p:nvPr/>
          </p:nvSpPr>
          <p:spPr bwMode="auto">
            <a:xfrm flipV="1">
              <a:off x="4367" y="216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6" name="Text Box 22"/>
            <p:cNvSpPr txBox="1">
              <a:spLocks noChangeArrowheads="1"/>
            </p:cNvSpPr>
            <p:nvPr/>
          </p:nvSpPr>
          <p:spPr bwMode="auto">
            <a:xfrm>
              <a:off x="3691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0247" name="Text Box 23"/>
            <p:cNvSpPr txBox="1">
              <a:spLocks noChangeArrowheads="1"/>
            </p:cNvSpPr>
            <p:nvPr/>
          </p:nvSpPr>
          <p:spPr bwMode="auto">
            <a:xfrm>
              <a:off x="4117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0248" name="Text Box 24"/>
            <p:cNvSpPr txBox="1">
              <a:spLocks noChangeArrowheads="1"/>
            </p:cNvSpPr>
            <p:nvPr/>
          </p:nvSpPr>
          <p:spPr bwMode="auto">
            <a:xfrm>
              <a:off x="4458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0249" name="Text Box 25"/>
            <p:cNvSpPr txBox="1">
              <a:spLocks noChangeArrowheads="1"/>
            </p:cNvSpPr>
            <p:nvPr/>
          </p:nvSpPr>
          <p:spPr bwMode="auto">
            <a:xfrm>
              <a:off x="4715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0250" name="Text Box 26"/>
            <p:cNvSpPr txBox="1">
              <a:spLocks noChangeArrowheads="1"/>
            </p:cNvSpPr>
            <p:nvPr/>
          </p:nvSpPr>
          <p:spPr bwMode="auto">
            <a:xfrm>
              <a:off x="5140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037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Hierarchical Clustering: MAX</a:t>
            </a: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1098550" y="5348288"/>
            <a:ext cx="3352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Nested Clusters</a:t>
            </a:r>
          </a:p>
        </p:txBody>
      </p:sp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5670550" y="5348288"/>
            <a:ext cx="179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Dendrogram</a:t>
            </a:r>
          </a:p>
        </p:txBody>
      </p:sp>
      <p:pic>
        <p:nvPicPr>
          <p:cNvPr id="1822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21336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2278" name="Group 6"/>
          <p:cNvGrpSpPr>
            <a:grpSpLocks/>
          </p:cNvGrpSpPr>
          <p:nvPr/>
        </p:nvGrpSpPr>
        <p:grpSpPr bwMode="auto">
          <a:xfrm>
            <a:off x="792163" y="1824038"/>
            <a:ext cx="2998787" cy="2687637"/>
            <a:chOff x="383" y="1437"/>
            <a:chExt cx="1889" cy="1693"/>
          </a:xfrm>
        </p:grpSpPr>
        <p:sp>
          <p:nvSpPr>
            <p:cNvPr id="182294" name="Freeform 7"/>
            <p:cNvSpPr>
              <a:spLocks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5" name="Freeform 8"/>
            <p:cNvSpPr>
              <a:spLocks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6" name="Freeform 9"/>
            <p:cNvSpPr>
              <a:spLocks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7" name="Freeform 10"/>
            <p:cNvSpPr>
              <a:spLocks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8" name="Freeform 11"/>
            <p:cNvSpPr>
              <a:spLocks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9" name="Freeform 12"/>
            <p:cNvSpPr>
              <a:spLocks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00" name="Rectangle 13"/>
            <p:cNvSpPr>
              <a:spLocks noChangeArrowheads="1"/>
            </p:cNvSpPr>
            <p:nvPr/>
          </p:nvSpPr>
          <p:spPr bwMode="auto">
            <a:xfrm>
              <a:off x="1890" y="143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1" name="Rectangle 14"/>
            <p:cNvSpPr>
              <a:spLocks noChangeArrowheads="1"/>
            </p:cNvSpPr>
            <p:nvPr/>
          </p:nvSpPr>
          <p:spPr bwMode="auto">
            <a:xfrm>
              <a:off x="1089" y="206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2" name="Rectangle 15"/>
            <p:cNvSpPr>
              <a:spLocks noChangeArrowheads="1"/>
            </p:cNvSpPr>
            <p:nvPr/>
          </p:nvSpPr>
          <p:spPr bwMode="auto">
            <a:xfrm>
              <a:off x="1699" y="237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3" name="Rectangle 16"/>
            <p:cNvSpPr>
              <a:spLocks noChangeArrowheads="1"/>
            </p:cNvSpPr>
            <p:nvPr/>
          </p:nvSpPr>
          <p:spPr bwMode="auto">
            <a:xfrm>
              <a:off x="1319" y="29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4" name="Rectangle 17"/>
            <p:cNvSpPr>
              <a:spLocks noChangeArrowheads="1"/>
            </p:cNvSpPr>
            <p:nvPr/>
          </p:nvSpPr>
          <p:spPr bwMode="auto">
            <a:xfrm>
              <a:off x="517" y="194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5" name="Rectangle 18"/>
            <p:cNvSpPr>
              <a:spLocks noChangeArrowheads="1"/>
            </p:cNvSpPr>
            <p:nvPr/>
          </p:nvSpPr>
          <p:spPr bwMode="auto">
            <a:xfrm>
              <a:off x="2188" y="24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82279" name="Group 19"/>
          <p:cNvGrpSpPr>
            <a:grpSpLocks/>
          </p:cNvGrpSpPr>
          <p:nvPr/>
        </p:nvGrpSpPr>
        <p:grpSpPr bwMode="auto">
          <a:xfrm>
            <a:off x="2509838" y="3208338"/>
            <a:ext cx="1401762" cy="890587"/>
            <a:chOff x="1465" y="2309"/>
            <a:chExt cx="883" cy="561"/>
          </a:xfrm>
        </p:grpSpPr>
        <p:sp>
          <p:nvSpPr>
            <p:cNvPr id="182292" name="Freeform 20"/>
            <p:cNvSpPr>
              <a:spLocks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93" name="Rectangle 21"/>
            <p:cNvSpPr>
              <a:spLocks noChangeArrowheads="1"/>
            </p:cNvSpPr>
            <p:nvPr/>
          </p:nvSpPr>
          <p:spPr bwMode="auto">
            <a:xfrm>
              <a:off x="1831" y="2668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82280" name="Group 22"/>
          <p:cNvGrpSpPr>
            <a:grpSpLocks/>
          </p:cNvGrpSpPr>
          <p:nvPr/>
        </p:nvGrpSpPr>
        <p:grpSpPr bwMode="auto">
          <a:xfrm>
            <a:off x="704850" y="2249488"/>
            <a:ext cx="1579563" cy="889000"/>
            <a:chOff x="328" y="1705"/>
            <a:chExt cx="995" cy="560"/>
          </a:xfrm>
        </p:grpSpPr>
        <p:sp>
          <p:nvSpPr>
            <p:cNvPr id="182290" name="Freeform 23"/>
            <p:cNvSpPr>
              <a:spLocks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91" name="Rectangle 24"/>
            <p:cNvSpPr>
              <a:spLocks noChangeArrowheads="1"/>
            </p:cNvSpPr>
            <p:nvPr/>
          </p:nvSpPr>
          <p:spPr bwMode="auto">
            <a:xfrm>
              <a:off x="853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82281" name="Group 25"/>
          <p:cNvGrpSpPr>
            <a:grpSpLocks/>
          </p:cNvGrpSpPr>
          <p:nvPr/>
        </p:nvGrpSpPr>
        <p:grpSpPr bwMode="auto">
          <a:xfrm>
            <a:off x="360363" y="1582738"/>
            <a:ext cx="3935412" cy="3487737"/>
            <a:chOff x="111" y="1285"/>
            <a:chExt cx="2479" cy="2197"/>
          </a:xfrm>
        </p:grpSpPr>
        <p:sp>
          <p:nvSpPr>
            <p:cNvPr id="182288" name="Rectangle 26"/>
            <p:cNvSpPr>
              <a:spLocks noChangeArrowheads="1"/>
            </p:cNvSpPr>
            <p:nvPr/>
          </p:nvSpPr>
          <p:spPr bwMode="auto">
            <a:xfrm>
              <a:off x="2484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289" name="Freeform 27"/>
            <p:cNvSpPr>
              <a:spLocks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2282" name="Group 28"/>
          <p:cNvGrpSpPr>
            <a:grpSpLocks/>
          </p:cNvGrpSpPr>
          <p:nvPr/>
        </p:nvGrpSpPr>
        <p:grpSpPr bwMode="auto">
          <a:xfrm>
            <a:off x="1882775" y="2982913"/>
            <a:ext cx="2160588" cy="1652587"/>
            <a:chOff x="1070" y="2167"/>
            <a:chExt cx="1361" cy="1041"/>
          </a:xfrm>
        </p:grpSpPr>
        <p:sp>
          <p:nvSpPr>
            <p:cNvPr id="182286" name="Rectangle 29"/>
            <p:cNvSpPr>
              <a:spLocks noChangeArrowheads="1"/>
            </p:cNvSpPr>
            <p:nvPr/>
          </p:nvSpPr>
          <p:spPr bwMode="auto">
            <a:xfrm>
              <a:off x="1070" y="256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287" name="Freeform 30"/>
            <p:cNvSpPr>
              <a:spLocks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2283" name="Group 31"/>
          <p:cNvGrpSpPr>
            <a:grpSpLocks/>
          </p:cNvGrpSpPr>
          <p:nvPr/>
        </p:nvGrpSpPr>
        <p:grpSpPr bwMode="auto">
          <a:xfrm>
            <a:off x="615950" y="1720850"/>
            <a:ext cx="2906713" cy="1520825"/>
            <a:chOff x="272" y="1372"/>
            <a:chExt cx="1831" cy="958"/>
          </a:xfrm>
        </p:grpSpPr>
        <p:sp>
          <p:nvSpPr>
            <p:cNvPr id="182284" name="Rectangle 32"/>
            <p:cNvSpPr>
              <a:spLocks noChangeArrowheads="1"/>
            </p:cNvSpPr>
            <p:nvPr/>
          </p:nvSpPr>
          <p:spPr bwMode="auto">
            <a:xfrm>
              <a:off x="1165" y="138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285" name="Freeform 33"/>
            <p:cNvSpPr>
              <a:spLocks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983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Strength of MAX</a:t>
            </a:r>
          </a:p>
        </p:txBody>
      </p:sp>
      <p:sp>
        <p:nvSpPr>
          <p:cNvPr id="184323" name="Text Box 3"/>
          <p:cNvSpPr txBox="1">
            <a:spLocks noChangeArrowheads="1"/>
          </p:cNvSpPr>
          <p:nvPr/>
        </p:nvSpPr>
        <p:spPr bwMode="auto">
          <a:xfrm>
            <a:off x="1370013" y="4357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pic>
        <p:nvPicPr>
          <p:cNvPr id="1843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05"/>
          <a:stretch>
            <a:fillRect/>
          </a:stretch>
        </p:blipFill>
        <p:spPr bwMode="auto">
          <a:xfrm>
            <a:off x="303213" y="1295400"/>
            <a:ext cx="426878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341813" y="1219200"/>
            <a:ext cx="4268787" cy="3505200"/>
            <a:chOff x="2735" y="768"/>
            <a:chExt cx="2689" cy="2208"/>
          </a:xfrm>
        </p:grpSpPr>
        <p:sp>
          <p:nvSpPr>
            <p:cNvPr id="184327" name="Text Box 6"/>
            <p:cNvSpPr txBox="1">
              <a:spLocks noChangeArrowheads="1"/>
            </p:cNvSpPr>
            <p:nvPr/>
          </p:nvSpPr>
          <p:spPr bwMode="auto">
            <a:xfrm>
              <a:off x="3263" y="2745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  <p:pic>
          <p:nvPicPr>
            <p:cNvPr id="184328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905"/>
            <a:stretch>
              <a:fillRect/>
            </a:stretch>
          </p:blipFill>
          <p:spPr bwMode="auto">
            <a:xfrm>
              <a:off x="2735" y="768"/>
              <a:ext cx="2689" cy="1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00744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Less susceptible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311541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44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Limitations of MAX</a:t>
            </a:r>
          </a:p>
        </p:txBody>
      </p:sp>
      <p:pic>
        <p:nvPicPr>
          <p:cNvPr id="1863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1066800" y="4738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418013" y="1371600"/>
            <a:ext cx="4268787" cy="3733800"/>
            <a:chOff x="2783" y="864"/>
            <a:chExt cx="2689" cy="2352"/>
          </a:xfrm>
        </p:grpSpPr>
        <p:pic>
          <p:nvPicPr>
            <p:cNvPr id="186375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3" y="864"/>
              <a:ext cx="2689" cy="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6376" name="Text Box 7"/>
            <p:cNvSpPr txBox="1">
              <a:spLocks noChangeArrowheads="1"/>
            </p:cNvSpPr>
            <p:nvPr/>
          </p:nvSpPr>
          <p:spPr bwMode="auto">
            <a:xfrm>
              <a:off x="3263" y="2985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</p:grpSp>
      <p:sp>
        <p:nvSpPr>
          <p:cNvPr id="502792" name="Text Box 8"/>
          <p:cNvSpPr txBox="1">
            <a:spLocks noChangeArrowheads="1"/>
          </p:cNvSpPr>
          <p:nvPr/>
        </p:nvSpPr>
        <p:spPr bwMode="auto">
          <a:xfrm>
            <a:off x="609600" y="5486400"/>
            <a:ext cx="6324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Tends to break large clusters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354529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92" grpId="0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Cluster Similarity: Group Average</a:t>
            </a:r>
          </a:p>
        </p:txBody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3065463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smtClean="0"/>
              <a:t>Proximity of two clusters is the average of pairwise proximity between points in the two clusters.</a:t>
            </a:r>
          </a:p>
          <a:p>
            <a:pPr eaLnBrk="1" hangingPunct="1">
              <a:defRPr/>
            </a:pPr>
            <a:endParaRPr lang="en-US" sz="2600" smtClean="0"/>
          </a:p>
          <a:p>
            <a:pPr eaLnBrk="1" hangingPunct="1">
              <a:defRPr/>
            </a:pPr>
            <a:endParaRPr lang="en-US" sz="2600" smtClean="0"/>
          </a:p>
          <a:p>
            <a:pPr lvl="4" eaLnBrk="1" hangingPunct="1">
              <a:defRPr/>
            </a:pPr>
            <a:endParaRPr lang="en-US" sz="1800" smtClean="0"/>
          </a:p>
          <a:p>
            <a:pPr eaLnBrk="1" hangingPunct="1">
              <a:defRPr/>
            </a:pPr>
            <a:r>
              <a:rPr lang="en-US" sz="2600" smtClean="0"/>
              <a:t>Need to use average connectivity for scalability since total proximity favors large clusters</a:t>
            </a:r>
          </a:p>
          <a:p>
            <a:pPr eaLnBrk="1" hangingPunct="1">
              <a:defRPr/>
            </a:pPr>
            <a:endParaRPr lang="en-US" sz="2600" smtClean="0"/>
          </a:p>
        </p:txBody>
      </p:sp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1676400" y="2057400"/>
          <a:ext cx="55753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6" name="Equation" r:id="rId4" imgW="3873500" imgH="698500" progId="Equation.3">
                  <p:embed/>
                </p:oleObj>
              </mc:Choice>
              <mc:Fallback>
                <p:oleObj name="Equation" r:id="rId4" imgW="3873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057400"/>
                        <a:ext cx="557530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0" y="4191000"/>
          <a:ext cx="4343400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7" name="Worksheet" r:id="rId6" imgW="2294001" imgH="1013841" progId="Excel.Sheet.8">
                  <p:embed/>
                </p:oleObj>
              </mc:Choice>
              <mc:Fallback>
                <p:oleObj name="Worksheet" r:id="rId6" imgW="2294001" imgH="101384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191000"/>
                        <a:ext cx="4343400" cy="241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334000" y="3886200"/>
            <a:ext cx="2957513" cy="2755900"/>
            <a:chOff x="3504" y="2112"/>
            <a:chExt cx="1863" cy="1736"/>
          </a:xfrm>
        </p:grpSpPr>
        <p:sp>
          <p:nvSpPr>
            <p:cNvPr id="188423" name="Line 7"/>
            <p:cNvSpPr>
              <a:spLocks noChangeShapeType="1"/>
            </p:cNvSpPr>
            <p:nvPr/>
          </p:nvSpPr>
          <p:spPr bwMode="auto">
            <a:xfrm flipV="1">
              <a:off x="3605" y="3184"/>
              <a:ext cx="0" cy="4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4" name="Line 8"/>
            <p:cNvSpPr>
              <a:spLocks noChangeShapeType="1"/>
            </p:cNvSpPr>
            <p:nvPr/>
          </p:nvSpPr>
          <p:spPr bwMode="auto">
            <a:xfrm>
              <a:off x="3605" y="3184"/>
              <a:ext cx="4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5" name="Line 9"/>
            <p:cNvSpPr>
              <a:spLocks noChangeShapeType="1"/>
            </p:cNvSpPr>
            <p:nvPr/>
          </p:nvSpPr>
          <p:spPr bwMode="auto">
            <a:xfrm>
              <a:off x="4098" y="3184"/>
              <a:ext cx="0" cy="4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6" name="Line 10"/>
            <p:cNvSpPr>
              <a:spLocks noChangeShapeType="1"/>
            </p:cNvSpPr>
            <p:nvPr/>
          </p:nvSpPr>
          <p:spPr bwMode="auto">
            <a:xfrm flipV="1">
              <a:off x="3901" y="2916"/>
              <a:ext cx="0" cy="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7" name="Line 11"/>
            <p:cNvSpPr>
              <a:spLocks noChangeShapeType="1"/>
            </p:cNvSpPr>
            <p:nvPr/>
          </p:nvSpPr>
          <p:spPr bwMode="auto">
            <a:xfrm flipV="1">
              <a:off x="3901" y="2827"/>
              <a:ext cx="0" cy="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8" name="Line 12"/>
            <p:cNvSpPr>
              <a:spLocks noChangeShapeType="1"/>
            </p:cNvSpPr>
            <p:nvPr/>
          </p:nvSpPr>
          <p:spPr bwMode="auto">
            <a:xfrm flipV="1">
              <a:off x="4787" y="3006"/>
              <a:ext cx="0" cy="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9" name="Line 13"/>
            <p:cNvSpPr>
              <a:spLocks noChangeShapeType="1"/>
            </p:cNvSpPr>
            <p:nvPr/>
          </p:nvSpPr>
          <p:spPr bwMode="auto">
            <a:xfrm>
              <a:off x="4787" y="3006"/>
              <a:ext cx="4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0" name="Line 14"/>
            <p:cNvSpPr>
              <a:spLocks noChangeShapeType="1"/>
            </p:cNvSpPr>
            <p:nvPr/>
          </p:nvSpPr>
          <p:spPr bwMode="auto">
            <a:xfrm>
              <a:off x="5280" y="3006"/>
              <a:ext cx="0" cy="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1" name="Line 15"/>
            <p:cNvSpPr>
              <a:spLocks noChangeShapeType="1"/>
            </p:cNvSpPr>
            <p:nvPr/>
          </p:nvSpPr>
          <p:spPr bwMode="auto">
            <a:xfrm flipV="1">
              <a:off x="5083" y="2738"/>
              <a:ext cx="0" cy="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2" name="Line 16"/>
            <p:cNvSpPr>
              <a:spLocks noChangeShapeType="1"/>
            </p:cNvSpPr>
            <p:nvPr/>
          </p:nvSpPr>
          <p:spPr bwMode="auto">
            <a:xfrm flipV="1">
              <a:off x="5083" y="2648"/>
              <a:ext cx="0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3" name="Line 17"/>
            <p:cNvSpPr>
              <a:spLocks noChangeShapeType="1"/>
            </p:cNvSpPr>
            <p:nvPr/>
          </p:nvSpPr>
          <p:spPr bwMode="auto">
            <a:xfrm flipV="1">
              <a:off x="4393" y="2827"/>
              <a:ext cx="0" cy="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4" name="Line 18"/>
            <p:cNvSpPr>
              <a:spLocks noChangeShapeType="1"/>
            </p:cNvSpPr>
            <p:nvPr/>
          </p:nvSpPr>
          <p:spPr bwMode="auto">
            <a:xfrm>
              <a:off x="3901" y="2827"/>
              <a:ext cx="4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5" name="Line 19"/>
            <p:cNvSpPr>
              <a:spLocks noChangeShapeType="1"/>
            </p:cNvSpPr>
            <p:nvPr/>
          </p:nvSpPr>
          <p:spPr bwMode="auto">
            <a:xfrm flipV="1">
              <a:off x="4098" y="2469"/>
              <a:ext cx="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6" name="Line 20"/>
            <p:cNvSpPr>
              <a:spLocks noChangeShapeType="1"/>
            </p:cNvSpPr>
            <p:nvPr/>
          </p:nvSpPr>
          <p:spPr bwMode="auto">
            <a:xfrm>
              <a:off x="4098" y="2469"/>
              <a:ext cx="9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7" name="Line 21"/>
            <p:cNvSpPr>
              <a:spLocks noChangeShapeType="1"/>
            </p:cNvSpPr>
            <p:nvPr/>
          </p:nvSpPr>
          <p:spPr bwMode="auto">
            <a:xfrm>
              <a:off x="5083" y="2469"/>
              <a:ext cx="0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8" name="Line 22"/>
            <p:cNvSpPr>
              <a:spLocks noChangeShapeType="1"/>
            </p:cNvSpPr>
            <p:nvPr/>
          </p:nvSpPr>
          <p:spPr bwMode="auto">
            <a:xfrm flipV="1">
              <a:off x="4590" y="2112"/>
              <a:ext cx="0" cy="3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9" name="Text Box 23"/>
            <p:cNvSpPr txBox="1">
              <a:spLocks noChangeArrowheads="1"/>
            </p:cNvSpPr>
            <p:nvPr/>
          </p:nvSpPr>
          <p:spPr bwMode="auto">
            <a:xfrm>
              <a:off x="3504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8440" name="Text Box 24"/>
            <p:cNvSpPr txBox="1">
              <a:spLocks noChangeArrowheads="1"/>
            </p:cNvSpPr>
            <p:nvPr/>
          </p:nvSpPr>
          <p:spPr bwMode="auto">
            <a:xfrm>
              <a:off x="3997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8441" name="Text Box 25"/>
            <p:cNvSpPr txBox="1">
              <a:spLocks noChangeArrowheads="1"/>
            </p:cNvSpPr>
            <p:nvPr/>
          </p:nvSpPr>
          <p:spPr bwMode="auto">
            <a:xfrm>
              <a:off x="4292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8442" name="Text Box 26"/>
            <p:cNvSpPr txBox="1">
              <a:spLocks noChangeArrowheads="1"/>
            </p:cNvSpPr>
            <p:nvPr/>
          </p:nvSpPr>
          <p:spPr bwMode="auto">
            <a:xfrm>
              <a:off x="4686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8443" name="Text Box 27"/>
            <p:cNvSpPr txBox="1">
              <a:spLocks noChangeArrowheads="1"/>
            </p:cNvSpPr>
            <p:nvPr/>
          </p:nvSpPr>
          <p:spPr bwMode="auto">
            <a:xfrm>
              <a:off x="5179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044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Clustering: Group Average</a:t>
            </a:r>
          </a:p>
        </p:txBody>
      </p:sp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739775" y="5616575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Nested Clusters</a:t>
            </a:r>
          </a:p>
        </p:txBody>
      </p:sp>
      <p:sp>
        <p:nvSpPr>
          <p:cNvPr id="190468" name="Text Box 4"/>
          <p:cNvSpPr txBox="1">
            <a:spLocks noChangeArrowheads="1"/>
          </p:cNvSpPr>
          <p:nvPr/>
        </p:nvSpPr>
        <p:spPr bwMode="auto">
          <a:xfrm>
            <a:off x="5562600" y="55626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Dendrogram</a:t>
            </a:r>
          </a:p>
        </p:txBody>
      </p:sp>
      <p:pic>
        <p:nvPicPr>
          <p:cNvPr id="190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3622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0470" name="Group 6"/>
          <p:cNvGrpSpPr>
            <a:grpSpLocks/>
          </p:cNvGrpSpPr>
          <p:nvPr/>
        </p:nvGrpSpPr>
        <p:grpSpPr bwMode="auto">
          <a:xfrm>
            <a:off x="633413" y="2041525"/>
            <a:ext cx="2790825" cy="2505075"/>
            <a:chOff x="509" y="1252"/>
            <a:chExt cx="1758" cy="1578"/>
          </a:xfrm>
        </p:grpSpPr>
        <p:sp>
          <p:nvSpPr>
            <p:cNvPr id="190486" name="Freeform 7"/>
            <p:cNvSpPr>
              <a:spLocks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87" name="Freeform 8"/>
            <p:cNvSpPr>
              <a:spLocks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88" name="Freeform 9"/>
            <p:cNvSpPr>
              <a:spLocks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89" name="Freeform 10"/>
            <p:cNvSpPr>
              <a:spLocks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90" name="Freeform 11"/>
            <p:cNvSpPr>
              <a:spLocks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91" name="Freeform 12"/>
            <p:cNvSpPr>
              <a:spLocks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92" name="Rectangle 13"/>
            <p:cNvSpPr>
              <a:spLocks noChangeArrowheads="1"/>
            </p:cNvSpPr>
            <p:nvPr/>
          </p:nvSpPr>
          <p:spPr bwMode="auto">
            <a:xfrm>
              <a:off x="1908" y="125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3" name="Rectangle 14"/>
            <p:cNvSpPr>
              <a:spLocks noChangeArrowheads="1"/>
            </p:cNvSpPr>
            <p:nvPr/>
          </p:nvSpPr>
          <p:spPr bwMode="auto">
            <a:xfrm>
              <a:off x="1163" y="183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4" name="Rectangle 15"/>
            <p:cNvSpPr>
              <a:spLocks noChangeArrowheads="1"/>
            </p:cNvSpPr>
            <p:nvPr/>
          </p:nvSpPr>
          <p:spPr bwMode="auto">
            <a:xfrm>
              <a:off x="1732" y="212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5" name="Rectangle 16"/>
            <p:cNvSpPr>
              <a:spLocks noChangeArrowheads="1"/>
            </p:cNvSpPr>
            <p:nvPr/>
          </p:nvSpPr>
          <p:spPr bwMode="auto">
            <a:xfrm>
              <a:off x="1379" y="2638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6" name="Rectangle 17"/>
            <p:cNvSpPr>
              <a:spLocks noChangeArrowheads="1"/>
            </p:cNvSpPr>
            <p:nvPr/>
          </p:nvSpPr>
          <p:spPr bwMode="auto">
            <a:xfrm>
              <a:off x="631" y="1719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7" name="Rectangle 18"/>
            <p:cNvSpPr>
              <a:spLocks noChangeArrowheads="1"/>
            </p:cNvSpPr>
            <p:nvPr/>
          </p:nvSpPr>
          <p:spPr bwMode="auto">
            <a:xfrm>
              <a:off x="2187" y="2173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2230438" y="3327400"/>
            <a:ext cx="1301750" cy="833438"/>
            <a:chOff x="1515" y="2062"/>
            <a:chExt cx="820" cy="525"/>
          </a:xfrm>
        </p:grpSpPr>
        <p:sp>
          <p:nvSpPr>
            <p:cNvPr id="190484" name="Freeform 20"/>
            <p:cNvSpPr>
              <a:spLocks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485" name="Rectangle 21"/>
            <p:cNvSpPr>
              <a:spLocks noChangeArrowheads="1"/>
            </p:cNvSpPr>
            <p:nvPr/>
          </p:nvSpPr>
          <p:spPr bwMode="auto">
            <a:xfrm>
              <a:off x="1855" y="2395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542925" y="2436813"/>
            <a:ext cx="1323975" cy="985837"/>
            <a:chOff x="452" y="1501"/>
            <a:chExt cx="834" cy="621"/>
          </a:xfrm>
        </p:grpSpPr>
        <p:sp>
          <p:nvSpPr>
            <p:cNvPr id="190482" name="Freeform 23"/>
            <p:cNvSpPr>
              <a:spLocks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483" name="Rectangle 24"/>
            <p:cNvSpPr>
              <a:spLocks noChangeArrowheads="1"/>
            </p:cNvSpPr>
            <p:nvPr/>
          </p:nvSpPr>
          <p:spPr bwMode="auto">
            <a:xfrm>
              <a:off x="944" y="150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28600" y="1676400"/>
            <a:ext cx="3659188" cy="3460750"/>
            <a:chOff x="254" y="1022"/>
            <a:chExt cx="2305" cy="2180"/>
          </a:xfrm>
        </p:grpSpPr>
        <p:sp>
          <p:nvSpPr>
            <p:cNvPr id="190480" name="Rectangle 26"/>
            <p:cNvSpPr>
              <a:spLocks noChangeArrowheads="1"/>
            </p:cNvSpPr>
            <p:nvPr/>
          </p:nvSpPr>
          <p:spPr bwMode="auto">
            <a:xfrm>
              <a:off x="564" y="1148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81" name="Freeform 27"/>
            <p:cNvSpPr>
              <a:spLocks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1730375" y="3101975"/>
            <a:ext cx="1800225" cy="1665288"/>
            <a:chOff x="1217" y="1954"/>
            <a:chExt cx="1134" cy="1049"/>
          </a:xfrm>
        </p:grpSpPr>
        <p:sp>
          <p:nvSpPr>
            <p:cNvPr id="190478" name="Rectangle 29"/>
            <p:cNvSpPr>
              <a:spLocks noChangeArrowheads="1"/>
            </p:cNvSpPr>
            <p:nvPr/>
          </p:nvSpPr>
          <p:spPr bwMode="auto">
            <a:xfrm>
              <a:off x="1665" y="281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79" name="Freeform 30"/>
            <p:cNvSpPr>
              <a:spLocks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1719263" y="1976438"/>
            <a:ext cx="1933575" cy="3097212"/>
            <a:chOff x="1193" y="1211"/>
            <a:chExt cx="1218" cy="1951"/>
          </a:xfrm>
        </p:grpSpPr>
        <p:sp>
          <p:nvSpPr>
            <p:cNvPr id="190476" name="Rectangle 32"/>
            <p:cNvSpPr>
              <a:spLocks noChangeArrowheads="1"/>
            </p:cNvSpPr>
            <p:nvPr/>
          </p:nvSpPr>
          <p:spPr bwMode="auto">
            <a:xfrm>
              <a:off x="1602" y="121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77" name="Freeform 33"/>
            <p:cNvSpPr>
              <a:spLocks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524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Clustering: Group Average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defRPr/>
            </a:pPr>
            <a:r>
              <a:rPr lang="en-US" sz="3500" smtClean="0"/>
              <a:t>Compromise between Single and Complete Link</a:t>
            </a:r>
          </a:p>
          <a:p>
            <a:pPr marL="533400" indent="-533400" eaLnBrk="1" hangingPunct="1">
              <a:defRPr/>
            </a:pPr>
            <a:r>
              <a:rPr lang="en-US" sz="3500" smtClean="0"/>
              <a:t>Strengths</a:t>
            </a:r>
          </a:p>
          <a:p>
            <a:pPr marL="914400" lvl="1" indent="-457200" eaLnBrk="1" hangingPunct="1">
              <a:defRPr/>
            </a:pPr>
            <a:r>
              <a:rPr lang="en-US" sz="3200" smtClean="0"/>
              <a:t>Less susceptible to noise and outliers</a:t>
            </a:r>
          </a:p>
          <a:p>
            <a:pPr marL="533400" indent="-533400" eaLnBrk="1" hangingPunct="1">
              <a:defRPr/>
            </a:pPr>
            <a:endParaRPr lang="en-US" sz="3500" smtClean="0"/>
          </a:p>
          <a:p>
            <a:pPr marL="533400" indent="-533400" eaLnBrk="1" hangingPunct="1">
              <a:defRPr/>
            </a:pPr>
            <a:r>
              <a:rPr lang="en-US" sz="3500" smtClean="0"/>
              <a:t>Limitations</a:t>
            </a:r>
          </a:p>
          <a:p>
            <a:pPr marL="914400" lvl="1" indent="-457200" eaLnBrk="1" hangingPunct="1">
              <a:defRPr/>
            </a:pPr>
            <a:r>
              <a:rPr lang="en-US" sz="3200" smtClean="0"/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108012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Cluster Similarity: Ward’s Method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30725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mtClean="0">
                <a:effectLst/>
              </a:rPr>
              <a:t>Similarity of two clusters is based on the increase in squared error when two clusters are merged</a:t>
            </a:r>
          </a:p>
          <a:p>
            <a:pPr lvl="1" eaLnBrk="1" hangingPunct="1"/>
            <a:r>
              <a:rPr lang="en-US" altLang="en-US" smtClean="0">
                <a:effectLst/>
              </a:rPr>
              <a:t>Similar to group average if distance between points is distance squared</a:t>
            </a:r>
          </a:p>
          <a:p>
            <a:pPr eaLnBrk="1" hangingPunct="1"/>
            <a:r>
              <a:rPr lang="en-US" altLang="en-US" smtClean="0">
                <a:effectLst/>
              </a:rPr>
              <a:t>Less susceptible to noise and outliers</a:t>
            </a:r>
          </a:p>
          <a:p>
            <a:pPr lvl="4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Biased towards globular clusters</a:t>
            </a:r>
          </a:p>
          <a:p>
            <a:pPr lvl="4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Hierarchical analogue of K-means</a:t>
            </a:r>
          </a:p>
          <a:p>
            <a:pPr lvl="1" eaLnBrk="1" hangingPunct="1"/>
            <a:r>
              <a:rPr lang="en-US" altLang="en-US" smtClean="0">
                <a:effectLst/>
              </a:rPr>
              <a:t>Can be used to initialize K-means</a:t>
            </a:r>
          </a:p>
        </p:txBody>
      </p:sp>
    </p:spTree>
    <p:extLst>
      <p:ext uri="{BB962C8B-B14F-4D97-AF65-F5344CB8AC3E}">
        <p14:creationId xmlns:p14="http://schemas.microsoft.com/office/powerpoint/2010/main" val="201627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smtClean="0"/>
              <a:t>Hierarchical Clustering: Comparison</a:t>
            </a:r>
          </a:p>
        </p:txBody>
      </p:sp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3048000" y="50292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Group Average</a:t>
            </a:r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4530725" y="45720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Ward’s Method</a:t>
            </a:r>
          </a:p>
        </p:txBody>
      </p:sp>
      <p:grpSp>
        <p:nvGrpSpPr>
          <p:cNvPr id="196613" name="Group 5"/>
          <p:cNvGrpSpPr>
            <a:grpSpLocks noChangeAspect="1"/>
          </p:cNvGrpSpPr>
          <p:nvPr/>
        </p:nvGrpSpPr>
        <p:grpSpPr bwMode="auto">
          <a:xfrm>
            <a:off x="858838" y="4067175"/>
            <a:ext cx="1858962" cy="1693863"/>
            <a:chOff x="509" y="1253"/>
            <a:chExt cx="1776" cy="1618"/>
          </a:xfrm>
        </p:grpSpPr>
        <p:sp>
          <p:nvSpPr>
            <p:cNvPr id="196715" name="Freeform 6"/>
            <p:cNvSpPr>
              <a:spLocks noChangeAspect="1"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6" name="Freeform 7"/>
            <p:cNvSpPr>
              <a:spLocks noChangeAspect="1"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7" name="Freeform 8"/>
            <p:cNvSpPr>
              <a:spLocks noChangeAspect="1"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8" name="Freeform 9"/>
            <p:cNvSpPr>
              <a:spLocks noChangeAspect="1"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9" name="Freeform 10"/>
            <p:cNvSpPr>
              <a:spLocks noChangeAspect="1"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20" name="Freeform 11"/>
            <p:cNvSpPr>
              <a:spLocks noChangeAspect="1"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21" name="Rectangle 12"/>
            <p:cNvSpPr>
              <a:spLocks noChangeAspect="1" noChangeArrowheads="1"/>
            </p:cNvSpPr>
            <p:nvPr/>
          </p:nvSpPr>
          <p:spPr bwMode="auto">
            <a:xfrm>
              <a:off x="1909" y="125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2" name="Rectangle 13"/>
            <p:cNvSpPr>
              <a:spLocks noChangeAspect="1" noChangeArrowheads="1"/>
            </p:cNvSpPr>
            <p:nvPr/>
          </p:nvSpPr>
          <p:spPr bwMode="auto">
            <a:xfrm>
              <a:off x="1163" y="183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3" name="Rectangle 14"/>
            <p:cNvSpPr>
              <a:spLocks noChangeAspect="1" noChangeArrowheads="1"/>
            </p:cNvSpPr>
            <p:nvPr/>
          </p:nvSpPr>
          <p:spPr bwMode="auto">
            <a:xfrm>
              <a:off x="1733" y="212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4" name="Rectangle 15"/>
            <p:cNvSpPr>
              <a:spLocks noChangeAspect="1" noChangeArrowheads="1"/>
            </p:cNvSpPr>
            <p:nvPr/>
          </p:nvSpPr>
          <p:spPr bwMode="auto">
            <a:xfrm>
              <a:off x="1379" y="263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5" name="Rectangle 16"/>
            <p:cNvSpPr>
              <a:spLocks noChangeAspect="1" noChangeArrowheads="1"/>
            </p:cNvSpPr>
            <p:nvPr/>
          </p:nvSpPr>
          <p:spPr bwMode="auto">
            <a:xfrm>
              <a:off x="630" y="1720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6" name="Rectangle 17"/>
            <p:cNvSpPr>
              <a:spLocks noChangeAspect="1" noChangeArrowheads="1"/>
            </p:cNvSpPr>
            <p:nvPr/>
          </p:nvSpPr>
          <p:spPr bwMode="auto">
            <a:xfrm>
              <a:off x="2188" y="217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8"/>
          <p:cNvGrpSpPr>
            <a:grpSpLocks noChangeAspect="1"/>
          </p:cNvGrpSpPr>
          <p:nvPr/>
        </p:nvGrpSpPr>
        <p:grpSpPr bwMode="auto">
          <a:xfrm>
            <a:off x="1912938" y="4914900"/>
            <a:ext cx="857250" cy="592138"/>
            <a:chOff x="1515" y="2062"/>
            <a:chExt cx="820" cy="566"/>
          </a:xfrm>
        </p:grpSpPr>
        <p:sp>
          <p:nvSpPr>
            <p:cNvPr id="196713" name="Freeform 19"/>
            <p:cNvSpPr>
              <a:spLocks noChangeAspect="1"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14" name="Rectangle 20"/>
            <p:cNvSpPr>
              <a:spLocks noChangeAspect="1" noChangeArrowheads="1"/>
            </p:cNvSpPr>
            <p:nvPr/>
          </p:nvSpPr>
          <p:spPr bwMode="auto">
            <a:xfrm>
              <a:off x="1855" y="2394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1"/>
          <p:cNvGrpSpPr>
            <a:grpSpLocks noChangeAspect="1"/>
          </p:cNvGrpSpPr>
          <p:nvPr/>
        </p:nvGrpSpPr>
        <p:grpSpPr bwMode="auto">
          <a:xfrm>
            <a:off x="800100" y="4327525"/>
            <a:ext cx="873125" cy="649288"/>
            <a:chOff x="452" y="1501"/>
            <a:chExt cx="834" cy="621"/>
          </a:xfrm>
        </p:grpSpPr>
        <p:sp>
          <p:nvSpPr>
            <p:cNvPr id="196711" name="Freeform 22"/>
            <p:cNvSpPr>
              <a:spLocks noChangeAspect="1"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12" name="Rectangle 23"/>
            <p:cNvSpPr>
              <a:spLocks noChangeAspect="1" noChangeArrowheads="1"/>
            </p:cNvSpPr>
            <p:nvPr/>
          </p:nvSpPr>
          <p:spPr bwMode="auto">
            <a:xfrm>
              <a:off x="943" y="1501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4"/>
          <p:cNvGrpSpPr>
            <a:grpSpLocks noChangeAspect="1"/>
          </p:cNvGrpSpPr>
          <p:nvPr/>
        </p:nvGrpSpPr>
        <p:grpSpPr bwMode="auto">
          <a:xfrm>
            <a:off x="592138" y="3825875"/>
            <a:ext cx="2413000" cy="2281238"/>
            <a:chOff x="254" y="1022"/>
            <a:chExt cx="2305" cy="2180"/>
          </a:xfrm>
        </p:grpSpPr>
        <p:sp>
          <p:nvSpPr>
            <p:cNvPr id="196709" name="Rectangle 25"/>
            <p:cNvSpPr>
              <a:spLocks noChangeAspect="1" noChangeArrowheads="1"/>
            </p:cNvSpPr>
            <p:nvPr/>
          </p:nvSpPr>
          <p:spPr bwMode="auto">
            <a:xfrm>
              <a:off x="563" y="1148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10" name="Freeform 26"/>
            <p:cNvSpPr>
              <a:spLocks noChangeAspect="1"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7"/>
          <p:cNvGrpSpPr>
            <a:grpSpLocks noChangeAspect="1"/>
          </p:cNvGrpSpPr>
          <p:nvPr/>
        </p:nvGrpSpPr>
        <p:grpSpPr bwMode="auto">
          <a:xfrm>
            <a:off x="1600200" y="4800600"/>
            <a:ext cx="1187450" cy="1141413"/>
            <a:chOff x="1217" y="1954"/>
            <a:chExt cx="1134" cy="1090"/>
          </a:xfrm>
        </p:grpSpPr>
        <p:sp>
          <p:nvSpPr>
            <p:cNvPr id="196707" name="Rectangle 28"/>
            <p:cNvSpPr>
              <a:spLocks noChangeAspect="1" noChangeArrowheads="1"/>
            </p:cNvSpPr>
            <p:nvPr/>
          </p:nvSpPr>
          <p:spPr bwMode="auto">
            <a:xfrm>
              <a:off x="1666" y="2811"/>
              <a:ext cx="1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8" name="Freeform 29"/>
            <p:cNvSpPr>
              <a:spLocks noChangeAspect="1"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0"/>
          <p:cNvGrpSpPr>
            <a:grpSpLocks noChangeAspect="1"/>
          </p:cNvGrpSpPr>
          <p:nvPr/>
        </p:nvGrpSpPr>
        <p:grpSpPr bwMode="auto">
          <a:xfrm>
            <a:off x="1574800" y="4024313"/>
            <a:ext cx="1274763" cy="2041525"/>
            <a:chOff x="1193" y="1212"/>
            <a:chExt cx="1218" cy="1950"/>
          </a:xfrm>
        </p:grpSpPr>
        <p:sp>
          <p:nvSpPr>
            <p:cNvPr id="196705" name="Rectangle 31"/>
            <p:cNvSpPr>
              <a:spLocks noChangeAspect="1" noChangeArrowheads="1"/>
            </p:cNvSpPr>
            <p:nvPr/>
          </p:nvSpPr>
          <p:spPr bwMode="auto">
            <a:xfrm>
              <a:off x="1603" y="1212"/>
              <a:ext cx="10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6" name="Freeform 32"/>
            <p:cNvSpPr>
              <a:spLocks noChangeAspect="1"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619" name="Text Box 33"/>
          <p:cNvSpPr txBox="1">
            <a:spLocks noChangeArrowheads="1"/>
          </p:cNvSpPr>
          <p:nvPr/>
        </p:nvSpPr>
        <p:spPr bwMode="auto">
          <a:xfrm>
            <a:off x="3387725" y="2133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MIN</a:t>
            </a:r>
          </a:p>
        </p:txBody>
      </p:sp>
      <p:sp>
        <p:nvSpPr>
          <p:cNvPr id="196620" name="Text Box 34"/>
          <p:cNvSpPr txBox="1">
            <a:spLocks noChangeArrowheads="1"/>
          </p:cNvSpPr>
          <p:nvPr/>
        </p:nvSpPr>
        <p:spPr bwMode="auto">
          <a:xfrm>
            <a:off x="5292725" y="21336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MAX</a:t>
            </a:r>
          </a:p>
        </p:txBody>
      </p:sp>
      <p:grpSp>
        <p:nvGrpSpPr>
          <p:cNvPr id="196621" name="Group 35"/>
          <p:cNvGrpSpPr>
            <a:grpSpLocks noChangeAspect="1"/>
          </p:cNvGrpSpPr>
          <p:nvPr/>
        </p:nvGrpSpPr>
        <p:grpSpPr bwMode="auto">
          <a:xfrm>
            <a:off x="6353175" y="4219575"/>
            <a:ext cx="1978025" cy="1795463"/>
            <a:chOff x="438" y="1309"/>
            <a:chExt cx="1937" cy="1757"/>
          </a:xfrm>
        </p:grpSpPr>
        <p:sp>
          <p:nvSpPr>
            <p:cNvPr id="196693" name="Freeform 36"/>
            <p:cNvSpPr>
              <a:spLocks noChangeAspect="1"/>
            </p:cNvSpPr>
            <p:nvPr/>
          </p:nvSpPr>
          <p:spPr bwMode="auto">
            <a:xfrm>
              <a:off x="1038" y="2002"/>
              <a:ext cx="88" cy="87"/>
            </a:xfrm>
            <a:custGeom>
              <a:avLst/>
              <a:gdLst>
                <a:gd name="T0" fmla="*/ 0 w 88"/>
                <a:gd name="T1" fmla="*/ 43 h 87"/>
                <a:gd name="T2" fmla="*/ 4 w 88"/>
                <a:gd name="T3" fmla="*/ 26 h 87"/>
                <a:gd name="T4" fmla="*/ 13 w 88"/>
                <a:gd name="T5" fmla="*/ 13 h 87"/>
                <a:gd name="T6" fmla="*/ 28 w 88"/>
                <a:gd name="T7" fmla="*/ 2 h 87"/>
                <a:gd name="T8" fmla="*/ 45 w 88"/>
                <a:gd name="T9" fmla="*/ 0 h 87"/>
                <a:gd name="T10" fmla="*/ 62 w 88"/>
                <a:gd name="T11" fmla="*/ 2 h 87"/>
                <a:gd name="T12" fmla="*/ 75 w 88"/>
                <a:gd name="T13" fmla="*/ 13 h 87"/>
                <a:gd name="T14" fmla="*/ 86 w 88"/>
                <a:gd name="T15" fmla="*/ 26 h 87"/>
                <a:gd name="T16" fmla="*/ 88 w 88"/>
                <a:gd name="T17" fmla="*/ 43 h 87"/>
                <a:gd name="T18" fmla="*/ 86 w 88"/>
                <a:gd name="T19" fmla="*/ 61 h 87"/>
                <a:gd name="T20" fmla="*/ 75 w 88"/>
                <a:gd name="T21" fmla="*/ 74 h 87"/>
                <a:gd name="T22" fmla="*/ 62 w 88"/>
                <a:gd name="T23" fmla="*/ 84 h 87"/>
                <a:gd name="T24" fmla="*/ 45 w 88"/>
                <a:gd name="T25" fmla="*/ 87 h 87"/>
                <a:gd name="T26" fmla="*/ 28 w 88"/>
                <a:gd name="T27" fmla="*/ 84 h 87"/>
                <a:gd name="T28" fmla="*/ 13 w 88"/>
                <a:gd name="T29" fmla="*/ 74 h 87"/>
                <a:gd name="T30" fmla="*/ 4 w 88"/>
                <a:gd name="T31" fmla="*/ 61 h 87"/>
                <a:gd name="T32" fmla="*/ 0 w 88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7"/>
                <a:gd name="T53" fmla="*/ 88 w 88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6" y="26"/>
                  </a:lnTo>
                  <a:lnTo>
                    <a:pt x="88" y="43"/>
                  </a:lnTo>
                  <a:lnTo>
                    <a:pt x="86" y="61"/>
                  </a:lnTo>
                  <a:lnTo>
                    <a:pt x="75" y="74"/>
                  </a:lnTo>
                  <a:lnTo>
                    <a:pt x="62" y="84"/>
                  </a:lnTo>
                  <a:lnTo>
                    <a:pt x="45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4" name="Freeform 37"/>
            <p:cNvSpPr>
              <a:spLocks noChangeAspect="1"/>
            </p:cNvSpPr>
            <p:nvPr/>
          </p:nvSpPr>
          <p:spPr bwMode="auto">
            <a:xfrm>
              <a:off x="1860" y="1361"/>
              <a:ext cx="89" cy="88"/>
            </a:xfrm>
            <a:custGeom>
              <a:avLst/>
              <a:gdLst>
                <a:gd name="T0" fmla="*/ 0 w 89"/>
                <a:gd name="T1" fmla="*/ 43 h 88"/>
                <a:gd name="T2" fmla="*/ 4 w 89"/>
                <a:gd name="T3" fmla="*/ 26 h 88"/>
                <a:gd name="T4" fmla="*/ 13 w 89"/>
                <a:gd name="T5" fmla="*/ 13 h 88"/>
                <a:gd name="T6" fmla="*/ 28 w 89"/>
                <a:gd name="T7" fmla="*/ 2 h 88"/>
                <a:gd name="T8" fmla="*/ 45 w 89"/>
                <a:gd name="T9" fmla="*/ 0 h 88"/>
                <a:gd name="T10" fmla="*/ 63 w 89"/>
                <a:gd name="T11" fmla="*/ 2 h 88"/>
                <a:gd name="T12" fmla="*/ 76 w 89"/>
                <a:gd name="T13" fmla="*/ 13 h 88"/>
                <a:gd name="T14" fmla="*/ 86 w 89"/>
                <a:gd name="T15" fmla="*/ 26 h 88"/>
                <a:gd name="T16" fmla="*/ 89 w 89"/>
                <a:gd name="T17" fmla="*/ 43 h 88"/>
                <a:gd name="T18" fmla="*/ 86 w 89"/>
                <a:gd name="T19" fmla="*/ 60 h 88"/>
                <a:gd name="T20" fmla="*/ 76 w 89"/>
                <a:gd name="T21" fmla="*/ 76 h 88"/>
                <a:gd name="T22" fmla="*/ 63 w 89"/>
                <a:gd name="T23" fmla="*/ 84 h 88"/>
                <a:gd name="T24" fmla="*/ 45 w 89"/>
                <a:gd name="T25" fmla="*/ 88 h 88"/>
                <a:gd name="T26" fmla="*/ 28 w 89"/>
                <a:gd name="T27" fmla="*/ 84 h 88"/>
                <a:gd name="T28" fmla="*/ 13 w 89"/>
                <a:gd name="T29" fmla="*/ 76 h 88"/>
                <a:gd name="T30" fmla="*/ 4 w 89"/>
                <a:gd name="T31" fmla="*/ 60 h 88"/>
                <a:gd name="T32" fmla="*/ 0 w 89"/>
                <a:gd name="T33" fmla="*/ 43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6" y="26"/>
                  </a:lnTo>
                  <a:lnTo>
                    <a:pt x="89" y="43"/>
                  </a:lnTo>
                  <a:lnTo>
                    <a:pt x="86" y="60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8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5" name="Freeform 38"/>
            <p:cNvSpPr>
              <a:spLocks noChangeAspect="1"/>
            </p:cNvSpPr>
            <p:nvPr/>
          </p:nvSpPr>
          <p:spPr bwMode="auto">
            <a:xfrm>
              <a:off x="1260" y="2875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2 h 88"/>
                <a:gd name="T6" fmla="*/ 29 w 89"/>
                <a:gd name="T7" fmla="*/ 4 h 88"/>
                <a:gd name="T8" fmla="*/ 46 w 89"/>
                <a:gd name="T9" fmla="*/ 0 h 88"/>
                <a:gd name="T10" fmla="*/ 63 w 89"/>
                <a:gd name="T11" fmla="*/ 4 h 88"/>
                <a:gd name="T12" fmla="*/ 76 w 89"/>
                <a:gd name="T13" fmla="*/ 12 h 88"/>
                <a:gd name="T14" fmla="*/ 87 w 89"/>
                <a:gd name="T15" fmla="*/ 28 h 88"/>
                <a:gd name="T16" fmla="*/ 89 w 89"/>
                <a:gd name="T17" fmla="*/ 45 h 88"/>
                <a:gd name="T18" fmla="*/ 87 w 89"/>
                <a:gd name="T19" fmla="*/ 62 h 88"/>
                <a:gd name="T20" fmla="*/ 76 w 89"/>
                <a:gd name="T21" fmla="*/ 75 h 88"/>
                <a:gd name="T22" fmla="*/ 63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2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3" y="4"/>
                  </a:lnTo>
                  <a:lnTo>
                    <a:pt x="76" y="12"/>
                  </a:lnTo>
                  <a:lnTo>
                    <a:pt x="87" y="28"/>
                  </a:lnTo>
                  <a:lnTo>
                    <a:pt x="89" y="45"/>
                  </a:lnTo>
                  <a:lnTo>
                    <a:pt x="87" y="62"/>
                  </a:lnTo>
                  <a:lnTo>
                    <a:pt x="76" y="75"/>
                  </a:lnTo>
                  <a:lnTo>
                    <a:pt x="63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6" name="Freeform 39"/>
            <p:cNvSpPr>
              <a:spLocks noChangeAspect="1"/>
            </p:cNvSpPr>
            <p:nvPr/>
          </p:nvSpPr>
          <p:spPr bwMode="auto">
            <a:xfrm>
              <a:off x="438" y="1875"/>
              <a:ext cx="87" cy="88"/>
            </a:xfrm>
            <a:custGeom>
              <a:avLst/>
              <a:gdLst>
                <a:gd name="T0" fmla="*/ 0 w 87"/>
                <a:gd name="T1" fmla="*/ 45 h 88"/>
                <a:gd name="T2" fmla="*/ 2 w 87"/>
                <a:gd name="T3" fmla="*/ 28 h 88"/>
                <a:gd name="T4" fmla="*/ 11 w 87"/>
                <a:gd name="T5" fmla="*/ 13 h 88"/>
                <a:gd name="T6" fmla="*/ 26 w 87"/>
                <a:gd name="T7" fmla="*/ 4 h 88"/>
                <a:gd name="T8" fmla="*/ 44 w 87"/>
                <a:gd name="T9" fmla="*/ 0 h 88"/>
                <a:gd name="T10" fmla="*/ 61 w 87"/>
                <a:gd name="T11" fmla="*/ 4 h 88"/>
                <a:gd name="T12" fmla="*/ 74 w 87"/>
                <a:gd name="T13" fmla="*/ 13 h 88"/>
                <a:gd name="T14" fmla="*/ 85 w 87"/>
                <a:gd name="T15" fmla="*/ 28 h 88"/>
                <a:gd name="T16" fmla="*/ 87 w 87"/>
                <a:gd name="T17" fmla="*/ 45 h 88"/>
                <a:gd name="T18" fmla="*/ 85 w 87"/>
                <a:gd name="T19" fmla="*/ 62 h 88"/>
                <a:gd name="T20" fmla="*/ 74 w 87"/>
                <a:gd name="T21" fmla="*/ 75 h 88"/>
                <a:gd name="T22" fmla="*/ 61 w 87"/>
                <a:gd name="T23" fmla="*/ 86 h 88"/>
                <a:gd name="T24" fmla="*/ 44 w 87"/>
                <a:gd name="T25" fmla="*/ 88 h 88"/>
                <a:gd name="T26" fmla="*/ 26 w 87"/>
                <a:gd name="T27" fmla="*/ 86 h 88"/>
                <a:gd name="T28" fmla="*/ 11 w 87"/>
                <a:gd name="T29" fmla="*/ 75 h 88"/>
                <a:gd name="T30" fmla="*/ 2 w 87"/>
                <a:gd name="T31" fmla="*/ 62 h 88"/>
                <a:gd name="T32" fmla="*/ 0 w 87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8"/>
                <a:gd name="T53" fmla="*/ 87 w 87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8">
                  <a:moveTo>
                    <a:pt x="0" y="45"/>
                  </a:moveTo>
                  <a:lnTo>
                    <a:pt x="2" y="28"/>
                  </a:lnTo>
                  <a:lnTo>
                    <a:pt x="11" y="13"/>
                  </a:lnTo>
                  <a:lnTo>
                    <a:pt x="26" y="4"/>
                  </a:lnTo>
                  <a:lnTo>
                    <a:pt x="44" y="0"/>
                  </a:lnTo>
                  <a:lnTo>
                    <a:pt x="61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5"/>
                  </a:lnTo>
                  <a:lnTo>
                    <a:pt x="61" y="86"/>
                  </a:lnTo>
                  <a:lnTo>
                    <a:pt x="44" y="88"/>
                  </a:lnTo>
                  <a:lnTo>
                    <a:pt x="26" y="86"/>
                  </a:lnTo>
                  <a:lnTo>
                    <a:pt x="11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7" name="Freeform 40"/>
            <p:cNvSpPr>
              <a:spLocks noChangeAspect="1"/>
            </p:cNvSpPr>
            <p:nvPr/>
          </p:nvSpPr>
          <p:spPr bwMode="auto">
            <a:xfrm>
              <a:off x="1617" y="2309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3 h 88"/>
                <a:gd name="T6" fmla="*/ 29 w 89"/>
                <a:gd name="T7" fmla="*/ 4 h 88"/>
                <a:gd name="T8" fmla="*/ 46 w 89"/>
                <a:gd name="T9" fmla="*/ 0 h 88"/>
                <a:gd name="T10" fmla="*/ 61 w 89"/>
                <a:gd name="T11" fmla="*/ 4 h 88"/>
                <a:gd name="T12" fmla="*/ 76 w 89"/>
                <a:gd name="T13" fmla="*/ 13 h 88"/>
                <a:gd name="T14" fmla="*/ 85 w 89"/>
                <a:gd name="T15" fmla="*/ 28 h 88"/>
                <a:gd name="T16" fmla="*/ 89 w 89"/>
                <a:gd name="T17" fmla="*/ 45 h 88"/>
                <a:gd name="T18" fmla="*/ 85 w 89"/>
                <a:gd name="T19" fmla="*/ 62 h 88"/>
                <a:gd name="T20" fmla="*/ 76 w 89"/>
                <a:gd name="T21" fmla="*/ 75 h 88"/>
                <a:gd name="T22" fmla="*/ 61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3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1" y="4"/>
                  </a:lnTo>
                  <a:lnTo>
                    <a:pt x="76" y="13"/>
                  </a:lnTo>
                  <a:lnTo>
                    <a:pt x="85" y="28"/>
                  </a:lnTo>
                  <a:lnTo>
                    <a:pt x="89" y="45"/>
                  </a:lnTo>
                  <a:lnTo>
                    <a:pt x="85" y="62"/>
                  </a:lnTo>
                  <a:lnTo>
                    <a:pt x="76" y="75"/>
                  </a:lnTo>
                  <a:lnTo>
                    <a:pt x="61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8" name="Freeform 41"/>
            <p:cNvSpPr>
              <a:spLocks noChangeAspect="1"/>
            </p:cNvSpPr>
            <p:nvPr/>
          </p:nvSpPr>
          <p:spPr bwMode="auto">
            <a:xfrm>
              <a:off x="2100" y="2369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5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5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9" name="Rectangle 42"/>
            <p:cNvSpPr>
              <a:spLocks noChangeAspect="1" noChangeArrowheads="1"/>
            </p:cNvSpPr>
            <p:nvPr/>
          </p:nvSpPr>
          <p:spPr bwMode="auto">
            <a:xfrm>
              <a:off x="1971" y="1309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0" name="Rectangle 43"/>
            <p:cNvSpPr>
              <a:spLocks noChangeAspect="1" noChangeArrowheads="1"/>
            </p:cNvSpPr>
            <p:nvPr/>
          </p:nvSpPr>
          <p:spPr bwMode="auto">
            <a:xfrm>
              <a:off x="1155" y="1945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1" name="Rectangle 44"/>
            <p:cNvSpPr>
              <a:spLocks noChangeAspect="1" noChangeArrowheads="1"/>
            </p:cNvSpPr>
            <p:nvPr/>
          </p:nvSpPr>
          <p:spPr bwMode="auto">
            <a:xfrm>
              <a:off x="1775" y="2262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2" name="Rectangle 45"/>
            <p:cNvSpPr>
              <a:spLocks noChangeAspect="1" noChangeArrowheads="1"/>
            </p:cNvSpPr>
            <p:nvPr/>
          </p:nvSpPr>
          <p:spPr bwMode="auto">
            <a:xfrm>
              <a:off x="1388" y="282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3" name="Rectangle 46"/>
            <p:cNvSpPr>
              <a:spLocks noChangeAspect="1" noChangeArrowheads="1"/>
            </p:cNvSpPr>
            <p:nvPr/>
          </p:nvSpPr>
          <p:spPr bwMode="auto">
            <a:xfrm>
              <a:off x="572" y="181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4" name="Rectangle 47"/>
            <p:cNvSpPr>
              <a:spLocks noChangeAspect="1" noChangeArrowheads="1"/>
            </p:cNvSpPr>
            <p:nvPr/>
          </p:nvSpPr>
          <p:spPr bwMode="auto">
            <a:xfrm>
              <a:off x="2275" y="2316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48"/>
          <p:cNvGrpSpPr>
            <a:grpSpLocks noChangeAspect="1"/>
          </p:cNvGrpSpPr>
          <p:nvPr/>
        </p:nvGrpSpPr>
        <p:grpSpPr bwMode="auto">
          <a:xfrm>
            <a:off x="7475538" y="5126038"/>
            <a:ext cx="917575" cy="617537"/>
            <a:chOff x="1537" y="2197"/>
            <a:chExt cx="898" cy="604"/>
          </a:xfrm>
        </p:grpSpPr>
        <p:sp>
          <p:nvSpPr>
            <p:cNvPr id="196691" name="Freeform 49"/>
            <p:cNvSpPr>
              <a:spLocks noChangeAspect="1"/>
            </p:cNvSpPr>
            <p:nvPr/>
          </p:nvSpPr>
          <p:spPr bwMode="auto">
            <a:xfrm>
              <a:off x="1537" y="2197"/>
              <a:ext cx="898" cy="375"/>
            </a:xfrm>
            <a:custGeom>
              <a:avLst/>
              <a:gdLst>
                <a:gd name="T0" fmla="*/ 450 w 898"/>
                <a:gd name="T1" fmla="*/ 0 h 375"/>
                <a:gd name="T2" fmla="*/ 511 w 898"/>
                <a:gd name="T3" fmla="*/ 2 h 375"/>
                <a:gd name="T4" fmla="*/ 572 w 898"/>
                <a:gd name="T5" fmla="*/ 6 h 375"/>
                <a:gd name="T6" fmla="*/ 630 w 898"/>
                <a:gd name="T7" fmla="*/ 15 h 375"/>
                <a:gd name="T8" fmla="*/ 684 w 898"/>
                <a:gd name="T9" fmla="*/ 28 h 375"/>
                <a:gd name="T10" fmla="*/ 734 w 898"/>
                <a:gd name="T11" fmla="*/ 43 h 375"/>
                <a:gd name="T12" fmla="*/ 779 w 898"/>
                <a:gd name="T13" fmla="*/ 60 h 375"/>
                <a:gd name="T14" fmla="*/ 818 w 898"/>
                <a:gd name="T15" fmla="*/ 79 h 375"/>
                <a:gd name="T16" fmla="*/ 851 w 898"/>
                <a:gd name="T17" fmla="*/ 101 h 375"/>
                <a:gd name="T18" fmla="*/ 875 w 898"/>
                <a:gd name="T19" fmla="*/ 125 h 375"/>
                <a:gd name="T20" fmla="*/ 892 w 898"/>
                <a:gd name="T21" fmla="*/ 149 h 375"/>
                <a:gd name="T22" fmla="*/ 898 w 898"/>
                <a:gd name="T23" fmla="*/ 174 h 375"/>
                <a:gd name="T24" fmla="*/ 898 w 898"/>
                <a:gd name="T25" fmla="*/ 200 h 375"/>
                <a:gd name="T26" fmla="*/ 892 w 898"/>
                <a:gd name="T27" fmla="*/ 226 h 375"/>
                <a:gd name="T28" fmla="*/ 875 w 898"/>
                <a:gd name="T29" fmla="*/ 250 h 375"/>
                <a:gd name="T30" fmla="*/ 851 w 898"/>
                <a:gd name="T31" fmla="*/ 274 h 375"/>
                <a:gd name="T32" fmla="*/ 818 w 898"/>
                <a:gd name="T33" fmla="*/ 295 h 375"/>
                <a:gd name="T34" fmla="*/ 779 w 898"/>
                <a:gd name="T35" fmla="*/ 315 h 375"/>
                <a:gd name="T36" fmla="*/ 734 w 898"/>
                <a:gd name="T37" fmla="*/ 332 h 375"/>
                <a:gd name="T38" fmla="*/ 684 w 898"/>
                <a:gd name="T39" fmla="*/ 347 h 375"/>
                <a:gd name="T40" fmla="*/ 630 w 898"/>
                <a:gd name="T41" fmla="*/ 360 h 375"/>
                <a:gd name="T42" fmla="*/ 572 w 898"/>
                <a:gd name="T43" fmla="*/ 369 h 375"/>
                <a:gd name="T44" fmla="*/ 511 w 898"/>
                <a:gd name="T45" fmla="*/ 373 h 375"/>
                <a:gd name="T46" fmla="*/ 450 w 898"/>
                <a:gd name="T47" fmla="*/ 375 h 375"/>
                <a:gd name="T48" fmla="*/ 390 w 898"/>
                <a:gd name="T49" fmla="*/ 373 h 375"/>
                <a:gd name="T50" fmla="*/ 329 w 898"/>
                <a:gd name="T51" fmla="*/ 369 h 375"/>
                <a:gd name="T52" fmla="*/ 271 w 898"/>
                <a:gd name="T53" fmla="*/ 360 h 375"/>
                <a:gd name="T54" fmla="*/ 217 w 898"/>
                <a:gd name="T55" fmla="*/ 347 h 375"/>
                <a:gd name="T56" fmla="*/ 167 w 898"/>
                <a:gd name="T57" fmla="*/ 332 h 375"/>
                <a:gd name="T58" fmla="*/ 122 w 898"/>
                <a:gd name="T59" fmla="*/ 315 h 375"/>
                <a:gd name="T60" fmla="*/ 83 w 898"/>
                <a:gd name="T61" fmla="*/ 295 h 375"/>
                <a:gd name="T62" fmla="*/ 50 w 898"/>
                <a:gd name="T63" fmla="*/ 274 h 375"/>
                <a:gd name="T64" fmla="*/ 26 w 898"/>
                <a:gd name="T65" fmla="*/ 250 h 375"/>
                <a:gd name="T66" fmla="*/ 9 w 898"/>
                <a:gd name="T67" fmla="*/ 226 h 375"/>
                <a:gd name="T68" fmla="*/ 0 w 898"/>
                <a:gd name="T69" fmla="*/ 200 h 375"/>
                <a:gd name="T70" fmla="*/ 0 w 898"/>
                <a:gd name="T71" fmla="*/ 174 h 375"/>
                <a:gd name="T72" fmla="*/ 9 w 898"/>
                <a:gd name="T73" fmla="*/ 149 h 375"/>
                <a:gd name="T74" fmla="*/ 26 w 898"/>
                <a:gd name="T75" fmla="*/ 125 h 375"/>
                <a:gd name="T76" fmla="*/ 50 w 898"/>
                <a:gd name="T77" fmla="*/ 101 h 375"/>
                <a:gd name="T78" fmla="*/ 83 w 898"/>
                <a:gd name="T79" fmla="*/ 79 h 375"/>
                <a:gd name="T80" fmla="*/ 122 w 898"/>
                <a:gd name="T81" fmla="*/ 60 h 375"/>
                <a:gd name="T82" fmla="*/ 167 w 898"/>
                <a:gd name="T83" fmla="*/ 43 h 375"/>
                <a:gd name="T84" fmla="*/ 217 w 898"/>
                <a:gd name="T85" fmla="*/ 28 h 375"/>
                <a:gd name="T86" fmla="*/ 271 w 898"/>
                <a:gd name="T87" fmla="*/ 15 h 375"/>
                <a:gd name="T88" fmla="*/ 329 w 898"/>
                <a:gd name="T89" fmla="*/ 6 h 375"/>
                <a:gd name="T90" fmla="*/ 390 w 898"/>
                <a:gd name="T91" fmla="*/ 2 h 375"/>
                <a:gd name="T92" fmla="*/ 450 w 898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8"/>
                <a:gd name="T142" fmla="*/ 0 h 375"/>
                <a:gd name="T143" fmla="*/ 898 w 898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8" h="375">
                  <a:moveTo>
                    <a:pt x="450" y="0"/>
                  </a:moveTo>
                  <a:lnTo>
                    <a:pt x="511" y="2"/>
                  </a:lnTo>
                  <a:lnTo>
                    <a:pt x="572" y="6"/>
                  </a:lnTo>
                  <a:lnTo>
                    <a:pt x="630" y="15"/>
                  </a:lnTo>
                  <a:lnTo>
                    <a:pt x="684" y="28"/>
                  </a:lnTo>
                  <a:lnTo>
                    <a:pt x="734" y="43"/>
                  </a:lnTo>
                  <a:lnTo>
                    <a:pt x="779" y="60"/>
                  </a:lnTo>
                  <a:lnTo>
                    <a:pt x="818" y="79"/>
                  </a:lnTo>
                  <a:lnTo>
                    <a:pt x="851" y="101"/>
                  </a:lnTo>
                  <a:lnTo>
                    <a:pt x="875" y="125"/>
                  </a:lnTo>
                  <a:lnTo>
                    <a:pt x="892" y="149"/>
                  </a:lnTo>
                  <a:lnTo>
                    <a:pt x="898" y="174"/>
                  </a:lnTo>
                  <a:lnTo>
                    <a:pt x="898" y="200"/>
                  </a:lnTo>
                  <a:lnTo>
                    <a:pt x="892" y="226"/>
                  </a:lnTo>
                  <a:lnTo>
                    <a:pt x="875" y="250"/>
                  </a:lnTo>
                  <a:lnTo>
                    <a:pt x="851" y="274"/>
                  </a:lnTo>
                  <a:lnTo>
                    <a:pt x="818" y="295"/>
                  </a:lnTo>
                  <a:lnTo>
                    <a:pt x="779" y="315"/>
                  </a:lnTo>
                  <a:lnTo>
                    <a:pt x="734" y="332"/>
                  </a:lnTo>
                  <a:lnTo>
                    <a:pt x="684" y="347"/>
                  </a:lnTo>
                  <a:lnTo>
                    <a:pt x="630" y="360"/>
                  </a:lnTo>
                  <a:lnTo>
                    <a:pt x="572" y="369"/>
                  </a:lnTo>
                  <a:lnTo>
                    <a:pt x="511" y="373"/>
                  </a:lnTo>
                  <a:lnTo>
                    <a:pt x="450" y="375"/>
                  </a:lnTo>
                  <a:lnTo>
                    <a:pt x="390" y="373"/>
                  </a:lnTo>
                  <a:lnTo>
                    <a:pt x="329" y="369"/>
                  </a:lnTo>
                  <a:lnTo>
                    <a:pt x="271" y="360"/>
                  </a:lnTo>
                  <a:lnTo>
                    <a:pt x="217" y="347"/>
                  </a:lnTo>
                  <a:lnTo>
                    <a:pt x="167" y="332"/>
                  </a:lnTo>
                  <a:lnTo>
                    <a:pt x="122" y="315"/>
                  </a:lnTo>
                  <a:lnTo>
                    <a:pt x="83" y="295"/>
                  </a:lnTo>
                  <a:lnTo>
                    <a:pt x="50" y="274"/>
                  </a:lnTo>
                  <a:lnTo>
                    <a:pt x="26" y="250"/>
                  </a:lnTo>
                  <a:lnTo>
                    <a:pt x="9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9" y="149"/>
                  </a:lnTo>
                  <a:lnTo>
                    <a:pt x="26" y="125"/>
                  </a:lnTo>
                  <a:lnTo>
                    <a:pt x="50" y="101"/>
                  </a:lnTo>
                  <a:lnTo>
                    <a:pt x="83" y="79"/>
                  </a:lnTo>
                  <a:lnTo>
                    <a:pt x="122" y="60"/>
                  </a:lnTo>
                  <a:lnTo>
                    <a:pt x="167" y="43"/>
                  </a:lnTo>
                  <a:lnTo>
                    <a:pt x="217" y="28"/>
                  </a:lnTo>
                  <a:lnTo>
                    <a:pt x="271" y="15"/>
                  </a:lnTo>
                  <a:lnTo>
                    <a:pt x="329" y="6"/>
                  </a:lnTo>
                  <a:lnTo>
                    <a:pt x="390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92" name="Rectangle 50"/>
            <p:cNvSpPr>
              <a:spLocks noChangeAspect="1" noChangeArrowheads="1"/>
            </p:cNvSpPr>
            <p:nvPr/>
          </p:nvSpPr>
          <p:spPr bwMode="auto">
            <a:xfrm>
              <a:off x="1910" y="2562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51"/>
          <p:cNvGrpSpPr>
            <a:grpSpLocks noChangeAspect="1"/>
          </p:cNvGrpSpPr>
          <p:nvPr/>
        </p:nvGrpSpPr>
        <p:grpSpPr bwMode="auto">
          <a:xfrm>
            <a:off x="6292850" y="4497388"/>
            <a:ext cx="1035050" cy="582612"/>
            <a:chOff x="380" y="1581"/>
            <a:chExt cx="1012" cy="570"/>
          </a:xfrm>
        </p:grpSpPr>
        <p:sp>
          <p:nvSpPr>
            <p:cNvPr id="196689" name="Freeform 52"/>
            <p:cNvSpPr>
              <a:spLocks noChangeAspect="1"/>
            </p:cNvSpPr>
            <p:nvPr/>
          </p:nvSpPr>
          <p:spPr bwMode="auto">
            <a:xfrm>
              <a:off x="380" y="1760"/>
              <a:ext cx="1012" cy="391"/>
            </a:xfrm>
            <a:custGeom>
              <a:avLst/>
              <a:gdLst>
                <a:gd name="T0" fmla="*/ 523 w 1012"/>
                <a:gd name="T1" fmla="*/ 5 h 391"/>
                <a:gd name="T2" fmla="*/ 586 w 1012"/>
                <a:gd name="T3" fmla="*/ 11 h 391"/>
                <a:gd name="T4" fmla="*/ 649 w 1012"/>
                <a:gd name="T5" fmla="*/ 22 h 391"/>
                <a:gd name="T6" fmla="*/ 707 w 1012"/>
                <a:gd name="T7" fmla="*/ 35 h 391"/>
                <a:gd name="T8" fmla="*/ 766 w 1012"/>
                <a:gd name="T9" fmla="*/ 50 h 391"/>
                <a:gd name="T10" fmla="*/ 818 w 1012"/>
                <a:gd name="T11" fmla="*/ 67 h 391"/>
                <a:gd name="T12" fmla="*/ 865 w 1012"/>
                <a:gd name="T13" fmla="*/ 87 h 391"/>
                <a:gd name="T14" fmla="*/ 906 w 1012"/>
                <a:gd name="T15" fmla="*/ 108 h 391"/>
                <a:gd name="T16" fmla="*/ 943 w 1012"/>
                <a:gd name="T17" fmla="*/ 130 h 391"/>
                <a:gd name="T18" fmla="*/ 971 w 1012"/>
                <a:gd name="T19" fmla="*/ 154 h 391"/>
                <a:gd name="T20" fmla="*/ 993 w 1012"/>
                <a:gd name="T21" fmla="*/ 180 h 391"/>
                <a:gd name="T22" fmla="*/ 1006 w 1012"/>
                <a:gd name="T23" fmla="*/ 203 h 391"/>
                <a:gd name="T24" fmla="*/ 1012 w 1012"/>
                <a:gd name="T25" fmla="*/ 227 h 391"/>
                <a:gd name="T26" fmla="*/ 1010 w 1012"/>
                <a:gd name="T27" fmla="*/ 251 h 391"/>
                <a:gd name="T28" fmla="*/ 999 w 1012"/>
                <a:gd name="T29" fmla="*/ 275 h 391"/>
                <a:gd name="T30" fmla="*/ 982 w 1012"/>
                <a:gd name="T31" fmla="*/ 296 h 391"/>
                <a:gd name="T32" fmla="*/ 956 w 1012"/>
                <a:gd name="T33" fmla="*/ 318 h 391"/>
                <a:gd name="T34" fmla="*/ 924 w 1012"/>
                <a:gd name="T35" fmla="*/ 335 h 391"/>
                <a:gd name="T36" fmla="*/ 885 w 1012"/>
                <a:gd name="T37" fmla="*/ 352 h 391"/>
                <a:gd name="T38" fmla="*/ 842 w 1012"/>
                <a:gd name="T39" fmla="*/ 365 h 391"/>
                <a:gd name="T40" fmla="*/ 790 w 1012"/>
                <a:gd name="T41" fmla="*/ 376 h 391"/>
                <a:gd name="T42" fmla="*/ 736 w 1012"/>
                <a:gd name="T43" fmla="*/ 385 h 391"/>
                <a:gd name="T44" fmla="*/ 677 w 1012"/>
                <a:gd name="T45" fmla="*/ 389 h 391"/>
                <a:gd name="T46" fmla="*/ 616 w 1012"/>
                <a:gd name="T47" fmla="*/ 391 h 391"/>
                <a:gd name="T48" fmla="*/ 554 w 1012"/>
                <a:gd name="T49" fmla="*/ 391 h 391"/>
                <a:gd name="T50" fmla="*/ 489 w 1012"/>
                <a:gd name="T51" fmla="*/ 387 h 391"/>
                <a:gd name="T52" fmla="*/ 426 w 1012"/>
                <a:gd name="T53" fmla="*/ 380 h 391"/>
                <a:gd name="T54" fmla="*/ 363 w 1012"/>
                <a:gd name="T55" fmla="*/ 370 h 391"/>
                <a:gd name="T56" fmla="*/ 305 w 1012"/>
                <a:gd name="T57" fmla="*/ 357 h 391"/>
                <a:gd name="T58" fmla="*/ 249 w 1012"/>
                <a:gd name="T59" fmla="*/ 342 h 391"/>
                <a:gd name="T60" fmla="*/ 195 w 1012"/>
                <a:gd name="T61" fmla="*/ 324 h 391"/>
                <a:gd name="T62" fmla="*/ 147 w 1012"/>
                <a:gd name="T63" fmla="*/ 305 h 391"/>
                <a:gd name="T64" fmla="*/ 106 w 1012"/>
                <a:gd name="T65" fmla="*/ 283 h 391"/>
                <a:gd name="T66" fmla="*/ 69 w 1012"/>
                <a:gd name="T67" fmla="*/ 262 h 391"/>
                <a:gd name="T68" fmla="*/ 41 w 1012"/>
                <a:gd name="T69" fmla="*/ 238 h 391"/>
                <a:gd name="T70" fmla="*/ 19 w 1012"/>
                <a:gd name="T71" fmla="*/ 212 h 391"/>
                <a:gd name="T72" fmla="*/ 6 w 1012"/>
                <a:gd name="T73" fmla="*/ 188 h 391"/>
                <a:gd name="T74" fmla="*/ 0 w 1012"/>
                <a:gd name="T75" fmla="*/ 164 h 391"/>
                <a:gd name="T76" fmla="*/ 2 w 1012"/>
                <a:gd name="T77" fmla="*/ 139 h 391"/>
                <a:gd name="T78" fmla="*/ 13 w 1012"/>
                <a:gd name="T79" fmla="*/ 117 h 391"/>
                <a:gd name="T80" fmla="*/ 30 w 1012"/>
                <a:gd name="T81" fmla="*/ 95 h 391"/>
                <a:gd name="T82" fmla="*/ 56 w 1012"/>
                <a:gd name="T83" fmla="*/ 74 h 391"/>
                <a:gd name="T84" fmla="*/ 89 w 1012"/>
                <a:gd name="T85" fmla="*/ 57 h 391"/>
                <a:gd name="T86" fmla="*/ 128 w 1012"/>
                <a:gd name="T87" fmla="*/ 39 h 391"/>
                <a:gd name="T88" fmla="*/ 171 w 1012"/>
                <a:gd name="T89" fmla="*/ 26 h 391"/>
                <a:gd name="T90" fmla="*/ 223 w 1012"/>
                <a:gd name="T91" fmla="*/ 16 h 391"/>
                <a:gd name="T92" fmla="*/ 277 w 1012"/>
                <a:gd name="T93" fmla="*/ 7 h 391"/>
                <a:gd name="T94" fmla="*/ 335 w 1012"/>
                <a:gd name="T95" fmla="*/ 3 h 391"/>
                <a:gd name="T96" fmla="*/ 396 w 1012"/>
                <a:gd name="T97" fmla="*/ 0 h 391"/>
                <a:gd name="T98" fmla="*/ 459 w 1012"/>
                <a:gd name="T99" fmla="*/ 0 h 391"/>
                <a:gd name="T100" fmla="*/ 523 w 1012"/>
                <a:gd name="T101" fmla="*/ 5 h 39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12"/>
                <a:gd name="T154" fmla="*/ 0 h 391"/>
                <a:gd name="T155" fmla="*/ 1012 w 1012"/>
                <a:gd name="T156" fmla="*/ 391 h 39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12" h="391">
                  <a:moveTo>
                    <a:pt x="523" y="5"/>
                  </a:moveTo>
                  <a:lnTo>
                    <a:pt x="586" y="11"/>
                  </a:lnTo>
                  <a:lnTo>
                    <a:pt x="649" y="22"/>
                  </a:lnTo>
                  <a:lnTo>
                    <a:pt x="707" y="35"/>
                  </a:lnTo>
                  <a:lnTo>
                    <a:pt x="766" y="50"/>
                  </a:lnTo>
                  <a:lnTo>
                    <a:pt x="818" y="67"/>
                  </a:lnTo>
                  <a:lnTo>
                    <a:pt x="865" y="87"/>
                  </a:lnTo>
                  <a:lnTo>
                    <a:pt x="906" y="108"/>
                  </a:lnTo>
                  <a:lnTo>
                    <a:pt x="943" y="130"/>
                  </a:lnTo>
                  <a:lnTo>
                    <a:pt x="971" y="154"/>
                  </a:lnTo>
                  <a:lnTo>
                    <a:pt x="993" y="180"/>
                  </a:lnTo>
                  <a:lnTo>
                    <a:pt x="1006" y="203"/>
                  </a:lnTo>
                  <a:lnTo>
                    <a:pt x="1012" y="227"/>
                  </a:lnTo>
                  <a:lnTo>
                    <a:pt x="1010" y="251"/>
                  </a:lnTo>
                  <a:lnTo>
                    <a:pt x="999" y="275"/>
                  </a:lnTo>
                  <a:lnTo>
                    <a:pt x="982" y="296"/>
                  </a:lnTo>
                  <a:lnTo>
                    <a:pt x="956" y="318"/>
                  </a:lnTo>
                  <a:lnTo>
                    <a:pt x="924" y="335"/>
                  </a:lnTo>
                  <a:lnTo>
                    <a:pt x="885" y="352"/>
                  </a:lnTo>
                  <a:lnTo>
                    <a:pt x="842" y="365"/>
                  </a:lnTo>
                  <a:lnTo>
                    <a:pt x="790" y="376"/>
                  </a:lnTo>
                  <a:lnTo>
                    <a:pt x="736" y="385"/>
                  </a:lnTo>
                  <a:lnTo>
                    <a:pt x="677" y="389"/>
                  </a:lnTo>
                  <a:lnTo>
                    <a:pt x="616" y="391"/>
                  </a:lnTo>
                  <a:lnTo>
                    <a:pt x="554" y="391"/>
                  </a:lnTo>
                  <a:lnTo>
                    <a:pt x="489" y="387"/>
                  </a:lnTo>
                  <a:lnTo>
                    <a:pt x="426" y="380"/>
                  </a:lnTo>
                  <a:lnTo>
                    <a:pt x="363" y="370"/>
                  </a:lnTo>
                  <a:lnTo>
                    <a:pt x="305" y="357"/>
                  </a:lnTo>
                  <a:lnTo>
                    <a:pt x="249" y="342"/>
                  </a:lnTo>
                  <a:lnTo>
                    <a:pt x="195" y="324"/>
                  </a:lnTo>
                  <a:lnTo>
                    <a:pt x="147" y="305"/>
                  </a:lnTo>
                  <a:lnTo>
                    <a:pt x="106" y="283"/>
                  </a:lnTo>
                  <a:lnTo>
                    <a:pt x="69" y="262"/>
                  </a:lnTo>
                  <a:lnTo>
                    <a:pt x="41" y="238"/>
                  </a:lnTo>
                  <a:lnTo>
                    <a:pt x="19" y="212"/>
                  </a:lnTo>
                  <a:lnTo>
                    <a:pt x="6" y="188"/>
                  </a:lnTo>
                  <a:lnTo>
                    <a:pt x="0" y="164"/>
                  </a:lnTo>
                  <a:lnTo>
                    <a:pt x="2" y="139"/>
                  </a:lnTo>
                  <a:lnTo>
                    <a:pt x="13" y="117"/>
                  </a:lnTo>
                  <a:lnTo>
                    <a:pt x="30" y="95"/>
                  </a:lnTo>
                  <a:lnTo>
                    <a:pt x="56" y="74"/>
                  </a:lnTo>
                  <a:lnTo>
                    <a:pt x="89" y="57"/>
                  </a:lnTo>
                  <a:lnTo>
                    <a:pt x="128" y="39"/>
                  </a:lnTo>
                  <a:lnTo>
                    <a:pt x="171" y="26"/>
                  </a:lnTo>
                  <a:lnTo>
                    <a:pt x="223" y="16"/>
                  </a:lnTo>
                  <a:lnTo>
                    <a:pt x="277" y="7"/>
                  </a:lnTo>
                  <a:lnTo>
                    <a:pt x="335" y="3"/>
                  </a:lnTo>
                  <a:lnTo>
                    <a:pt x="396" y="0"/>
                  </a:lnTo>
                  <a:lnTo>
                    <a:pt x="459" y="0"/>
                  </a:lnTo>
                  <a:lnTo>
                    <a:pt x="523" y="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90" name="Rectangle 53"/>
            <p:cNvSpPr>
              <a:spLocks noChangeAspect="1" noChangeArrowheads="1"/>
            </p:cNvSpPr>
            <p:nvPr/>
          </p:nvSpPr>
          <p:spPr bwMode="auto">
            <a:xfrm>
              <a:off x="914" y="158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54"/>
          <p:cNvGrpSpPr>
            <a:grpSpLocks noChangeAspect="1"/>
          </p:cNvGrpSpPr>
          <p:nvPr/>
        </p:nvGrpSpPr>
        <p:grpSpPr bwMode="auto">
          <a:xfrm>
            <a:off x="6067425" y="4060825"/>
            <a:ext cx="2578100" cy="2286000"/>
            <a:chOff x="159" y="1154"/>
            <a:chExt cx="2523" cy="2237"/>
          </a:xfrm>
        </p:grpSpPr>
        <p:sp>
          <p:nvSpPr>
            <p:cNvPr id="196687" name="Rectangle 55"/>
            <p:cNvSpPr>
              <a:spLocks noChangeAspect="1" noChangeArrowheads="1"/>
            </p:cNvSpPr>
            <p:nvPr/>
          </p:nvSpPr>
          <p:spPr bwMode="auto">
            <a:xfrm>
              <a:off x="2186" y="1166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8" name="Freeform 56"/>
            <p:cNvSpPr>
              <a:spLocks noChangeAspect="1"/>
            </p:cNvSpPr>
            <p:nvPr/>
          </p:nvSpPr>
          <p:spPr bwMode="auto">
            <a:xfrm>
              <a:off x="159" y="1154"/>
              <a:ext cx="2523" cy="2237"/>
            </a:xfrm>
            <a:custGeom>
              <a:avLst/>
              <a:gdLst>
                <a:gd name="T0" fmla="*/ 1363 w 2523"/>
                <a:gd name="T1" fmla="*/ 2 h 2237"/>
                <a:gd name="T2" fmla="*/ 1569 w 2523"/>
                <a:gd name="T3" fmla="*/ 32 h 2237"/>
                <a:gd name="T4" fmla="*/ 1766 w 2523"/>
                <a:gd name="T5" fmla="*/ 93 h 2237"/>
                <a:gd name="T6" fmla="*/ 1950 w 2523"/>
                <a:gd name="T7" fmla="*/ 179 h 2237"/>
                <a:gd name="T8" fmla="*/ 2114 w 2523"/>
                <a:gd name="T9" fmla="*/ 293 h 2237"/>
                <a:gd name="T10" fmla="*/ 2255 w 2523"/>
                <a:gd name="T11" fmla="*/ 429 h 2237"/>
                <a:gd name="T12" fmla="*/ 2369 w 2523"/>
                <a:gd name="T13" fmla="*/ 583 h 2237"/>
                <a:gd name="T14" fmla="*/ 2454 w 2523"/>
                <a:gd name="T15" fmla="*/ 753 h 2237"/>
                <a:gd name="T16" fmla="*/ 2506 w 2523"/>
                <a:gd name="T17" fmla="*/ 930 h 2237"/>
                <a:gd name="T18" fmla="*/ 2523 w 2523"/>
                <a:gd name="T19" fmla="*/ 1116 h 2237"/>
                <a:gd name="T20" fmla="*/ 2506 w 2523"/>
                <a:gd name="T21" fmla="*/ 1299 h 2237"/>
                <a:gd name="T22" fmla="*/ 2454 w 2523"/>
                <a:gd name="T23" fmla="*/ 1479 h 2237"/>
                <a:gd name="T24" fmla="*/ 2372 w 2523"/>
                <a:gd name="T25" fmla="*/ 1647 h 2237"/>
                <a:gd name="T26" fmla="*/ 2257 w 2523"/>
                <a:gd name="T27" fmla="*/ 1803 h 2237"/>
                <a:gd name="T28" fmla="*/ 2116 w 2523"/>
                <a:gd name="T29" fmla="*/ 1939 h 2237"/>
                <a:gd name="T30" fmla="*/ 1952 w 2523"/>
                <a:gd name="T31" fmla="*/ 2053 h 2237"/>
                <a:gd name="T32" fmla="*/ 1770 w 2523"/>
                <a:gd name="T33" fmla="*/ 2142 h 2237"/>
                <a:gd name="T34" fmla="*/ 1573 w 2523"/>
                <a:gd name="T35" fmla="*/ 2202 h 2237"/>
                <a:gd name="T36" fmla="*/ 1368 w 2523"/>
                <a:gd name="T37" fmla="*/ 2232 h 2237"/>
                <a:gd name="T38" fmla="*/ 1160 w 2523"/>
                <a:gd name="T39" fmla="*/ 2232 h 2237"/>
                <a:gd name="T40" fmla="*/ 954 w 2523"/>
                <a:gd name="T41" fmla="*/ 2202 h 2237"/>
                <a:gd name="T42" fmla="*/ 757 w 2523"/>
                <a:gd name="T43" fmla="*/ 2144 h 2237"/>
                <a:gd name="T44" fmla="*/ 574 w 2523"/>
                <a:gd name="T45" fmla="*/ 2055 h 2237"/>
                <a:gd name="T46" fmla="*/ 409 w 2523"/>
                <a:gd name="T47" fmla="*/ 1943 h 2237"/>
                <a:gd name="T48" fmla="*/ 268 w 2523"/>
                <a:gd name="T49" fmla="*/ 1807 h 2237"/>
                <a:gd name="T50" fmla="*/ 154 w 2523"/>
                <a:gd name="T51" fmla="*/ 1651 h 2237"/>
                <a:gd name="T52" fmla="*/ 69 w 2523"/>
                <a:gd name="T53" fmla="*/ 1483 h 2237"/>
                <a:gd name="T54" fmla="*/ 17 w 2523"/>
                <a:gd name="T55" fmla="*/ 1304 h 2237"/>
                <a:gd name="T56" fmla="*/ 0 w 2523"/>
                <a:gd name="T57" fmla="*/ 1120 h 2237"/>
                <a:gd name="T58" fmla="*/ 17 w 2523"/>
                <a:gd name="T59" fmla="*/ 935 h 2237"/>
                <a:gd name="T60" fmla="*/ 69 w 2523"/>
                <a:gd name="T61" fmla="*/ 755 h 2237"/>
                <a:gd name="T62" fmla="*/ 152 w 2523"/>
                <a:gd name="T63" fmla="*/ 587 h 2237"/>
                <a:gd name="T64" fmla="*/ 266 w 2523"/>
                <a:gd name="T65" fmla="*/ 431 h 2237"/>
                <a:gd name="T66" fmla="*/ 407 w 2523"/>
                <a:gd name="T67" fmla="*/ 295 h 2237"/>
                <a:gd name="T68" fmla="*/ 571 w 2523"/>
                <a:gd name="T69" fmla="*/ 183 h 2237"/>
                <a:gd name="T70" fmla="*/ 753 w 2523"/>
                <a:gd name="T71" fmla="*/ 95 h 2237"/>
                <a:gd name="T72" fmla="*/ 950 w 2523"/>
                <a:gd name="T73" fmla="*/ 34 h 2237"/>
                <a:gd name="T74" fmla="*/ 1156 w 2523"/>
                <a:gd name="T75" fmla="*/ 4 h 223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3"/>
                <a:gd name="T115" fmla="*/ 0 h 2237"/>
                <a:gd name="T116" fmla="*/ 2523 w 2523"/>
                <a:gd name="T117" fmla="*/ 2237 h 223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3" h="2237">
                  <a:moveTo>
                    <a:pt x="1259" y="0"/>
                  </a:moveTo>
                  <a:lnTo>
                    <a:pt x="1363" y="2"/>
                  </a:lnTo>
                  <a:lnTo>
                    <a:pt x="1467" y="15"/>
                  </a:lnTo>
                  <a:lnTo>
                    <a:pt x="1569" y="32"/>
                  </a:lnTo>
                  <a:lnTo>
                    <a:pt x="1668" y="58"/>
                  </a:lnTo>
                  <a:lnTo>
                    <a:pt x="1766" y="93"/>
                  </a:lnTo>
                  <a:lnTo>
                    <a:pt x="1861" y="134"/>
                  </a:lnTo>
                  <a:lnTo>
                    <a:pt x="1950" y="179"/>
                  </a:lnTo>
                  <a:lnTo>
                    <a:pt x="2034" y="233"/>
                  </a:lnTo>
                  <a:lnTo>
                    <a:pt x="2114" y="293"/>
                  </a:lnTo>
                  <a:lnTo>
                    <a:pt x="2188" y="358"/>
                  </a:lnTo>
                  <a:lnTo>
                    <a:pt x="2255" y="429"/>
                  </a:lnTo>
                  <a:lnTo>
                    <a:pt x="2315" y="505"/>
                  </a:lnTo>
                  <a:lnTo>
                    <a:pt x="2369" y="583"/>
                  </a:lnTo>
                  <a:lnTo>
                    <a:pt x="2415" y="667"/>
                  </a:lnTo>
                  <a:lnTo>
                    <a:pt x="2454" y="753"/>
                  </a:lnTo>
                  <a:lnTo>
                    <a:pt x="2484" y="842"/>
                  </a:lnTo>
                  <a:lnTo>
                    <a:pt x="2506" y="930"/>
                  </a:lnTo>
                  <a:lnTo>
                    <a:pt x="2519" y="1023"/>
                  </a:lnTo>
                  <a:lnTo>
                    <a:pt x="2523" y="1116"/>
                  </a:lnTo>
                  <a:lnTo>
                    <a:pt x="2519" y="1209"/>
                  </a:lnTo>
                  <a:lnTo>
                    <a:pt x="2506" y="1299"/>
                  </a:lnTo>
                  <a:lnTo>
                    <a:pt x="2484" y="1390"/>
                  </a:lnTo>
                  <a:lnTo>
                    <a:pt x="2454" y="1479"/>
                  </a:lnTo>
                  <a:lnTo>
                    <a:pt x="2417" y="1565"/>
                  </a:lnTo>
                  <a:lnTo>
                    <a:pt x="2372" y="1647"/>
                  </a:lnTo>
                  <a:lnTo>
                    <a:pt x="2317" y="1727"/>
                  </a:lnTo>
                  <a:lnTo>
                    <a:pt x="2257" y="1803"/>
                  </a:lnTo>
                  <a:lnTo>
                    <a:pt x="2190" y="1874"/>
                  </a:lnTo>
                  <a:lnTo>
                    <a:pt x="2116" y="1939"/>
                  </a:lnTo>
                  <a:lnTo>
                    <a:pt x="2038" y="1999"/>
                  </a:lnTo>
                  <a:lnTo>
                    <a:pt x="1952" y="2053"/>
                  </a:lnTo>
                  <a:lnTo>
                    <a:pt x="1863" y="2101"/>
                  </a:lnTo>
                  <a:lnTo>
                    <a:pt x="1770" y="2142"/>
                  </a:lnTo>
                  <a:lnTo>
                    <a:pt x="1673" y="2174"/>
                  </a:lnTo>
                  <a:lnTo>
                    <a:pt x="1573" y="2202"/>
                  </a:lnTo>
                  <a:lnTo>
                    <a:pt x="1471" y="2221"/>
                  </a:lnTo>
                  <a:lnTo>
                    <a:pt x="1368" y="2232"/>
                  </a:lnTo>
                  <a:lnTo>
                    <a:pt x="1264" y="2237"/>
                  </a:lnTo>
                  <a:lnTo>
                    <a:pt x="1160" y="2232"/>
                  </a:lnTo>
                  <a:lnTo>
                    <a:pt x="1056" y="2221"/>
                  </a:lnTo>
                  <a:lnTo>
                    <a:pt x="954" y="2202"/>
                  </a:lnTo>
                  <a:lnTo>
                    <a:pt x="855" y="2176"/>
                  </a:lnTo>
                  <a:lnTo>
                    <a:pt x="757" y="2144"/>
                  </a:lnTo>
                  <a:lnTo>
                    <a:pt x="662" y="2103"/>
                  </a:lnTo>
                  <a:lnTo>
                    <a:pt x="574" y="2055"/>
                  </a:lnTo>
                  <a:lnTo>
                    <a:pt x="489" y="2001"/>
                  </a:lnTo>
                  <a:lnTo>
                    <a:pt x="409" y="1943"/>
                  </a:lnTo>
                  <a:lnTo>
                    <a:pt x="336" y="1876"/>
                  </a:lnTo>
                  <a:lnTo>
                    <a:pt x="268" y="1807"/>
                  </a:lnTo>
                  <a:lnTo>
                    <a:pt x="208" y="1731"/>
                  </a:lnTo>
                  <a:lnTo>
                    <a:pt x="154" y="1651"/>
                  </a:lnTo>
                  <a:lnTo>
                    <a:pt x="108" y="1569"/>
                  </a:lnTo>
                  <a:lnTo>
                    <a:pt x="69" y="1483"/>
                  </a:lnTo>
                  <a:lnTo>
                    <a:pt x="39" y="1394"/>
                  </a:lnTo>
                  <a:lnTo>
                    <a:pt x="17" y="1304"/>
                  </a:lnTo>
                  <a:lnTo>
                    <a:pt x="4" y="1213"/>
                  </a:lnTo>
                  <a:lnTo>
                    <a:pt x="0" y="1120"/>
                  </a:lnTo>
                  <a:lnTo>
                    <a:pt x="4" y="1027"/>
                  </a:lnTo>
                  <a:lnTo>
                    <a:pt x="17" y="935"/>
                  </a:lnTo>
                  <a:lnTo>
                    <a:pt x="39" y="846"/>
                  </a:lnTo>
                  <a:lnTo>
                    <a:pt x="69" y="755"/>
                  </a:lnTo>
                  <a:lnTo>
                    <a:pt x="106" y="671"/>
                  </a:lnTo>
                  <a:lnTo>
                    <a:pt x="152" y="587"/>
                  </a:lnTo>
                  <a:lnTo>
                    <a:pt x="206" y="507"/>
                  </a:lnTo>
                  <a:lnTo>
                    <a:pt x="266" y="431"/>
                  </a:lnTo>
                  <a:lnTo>
                    <a:pt x="333" y="362"/>
                  </a:lnTo>
                  <a:lnTo>
                    <a:pt x="407" y="295"/>
                  </a:lnTo>
                  <a:lnTo>
                    <a:pt x="485" y="237"/>
                  </a:lnTo>
                  <a:lnTo>
                    <a:pt x="571" y="183"/>
                  </a:lnTo>
                  <a:lnTo>
                    <a:pt x="660" y="136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50" y="34"/>
                  </a:lnTo>
                  <a:lnTo>
                    <a:pt x="1052" y="15"/>
                  </a:lnTo>
                  <a:lnTo>
                    <a:pt x="1156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57"/>
          <p:cNvGrpSpPr>
            <a:grpSpLocks noChangeAspect="1"/>
          </p:cNvGrpSpPr>
          <p:nvPr/>
        </p:nvGrpSpPr>
        <p:grpSpPr bwMode="auto">
          <a:xfrm>
            <a:off x="7064375" y="5011738"/>
            <a:ext cx="1357313" cy="1052512"/>
            <a:chOff x="1135" y="2084"/>
            <a:chExt cx="1328" cy="1030"/>
          </a:xfrm>
        </p:grpSpPr>
        <p:sp>
          <p:nvSpPr>
            <p:cNvPr id="196685" name="Rectangle 58"/>
            <p:cNvSpPr>
              <a:spLocks noChangeAspect="1" noChangeArrowheads="1"/>
            </p:cNvSpPr>
            <p:nvPr/>
          </p:nvSpPr>
          <p:spPr bwMode="auto">
            <a:xfrm>
              <a:off x="1135" y="245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6" name="Freeform 59"/>
            <p:cNvSpPr>
              <a:spLocks noChangeAspect="1"/>
            </p:cNvSpPr>
            <p:nvPr/>
          </p:nvSpPr>
          <p:spPr bwMode="auto">
            <a:xfrm>
              <a:off x="1178" y="2084"/>
              <a:ext cx="1285" cy="1030"/>
            </a:xfrm>
            <a:custGeom>
              <a:avLst/>
              <a:gdLst>
                <a:gd name="T0" fmla="*/ 422 w 1285"/>
                <a:gd name="T1" fmla="*/ 162 h 1030"/>
                <a:gd name="T2" fmla="*/ 487 w 1285"/>
                <a:gd name="T3" fmla="*/ 123 h 1030"/>
                <a:gd name="T4" fmla="*/ 556 w 1285"/>
                <a:gd name="T5" fmla="*/ 89 h 1030"/>
                <a:gd name="T6" fmla="*/ 626 w 1285"/>
                <a:gd name="T7" fmla="*/ 61 h 1030"/>
                <a:gd name="T8" fmla="*/ 695 w 1285"/>
                <a:gd name="T9" fmla="*/ 37 h 1030"/>
                <a:gd name="T10" fmla="*/ 764 w 1285"/>
                <a:gd name="T11" fmla="*/ 18 h 1030"/>
                <a:gd name="T12" fmla="*/ 831 w 1285"/>
                <a:gd name="T13" fmla="*/ 7 h 1030"/>
                <a:gd name="T14" fmla="*/ 896 w 1285"/>
                <a:gd name="T15" fmla="*/ 0 h 1030"/>
                <a:gd name="T16" fmla="*/ 959 w 1285"/>
                <a:gd name="T17" fmla="*/ 0 h 1030"/>
                <a:gd name="T18" fmla="*/ 1017 w 1285"/>
                <a:gd name="T19" fmla="*/ 7 h 1030"/>
                <a:gd name="T20" fmla="*/ 1071 w 1285"/>
                <a:gd name="T21" fmla="*/ 18 h 1030"/>
                <a:gd name="T22" fmla="*/ 1121 w 1285"/>
                <a:gd name="T23" fmla="*/ 35 h 1030"/>
                <a:gd name="T24" fmla="*/ 1164 w 1285"/>
                <a:gd name="T25" fmla="*/ 59 h 1030"/>
                <a:gd name="T26" fmla="*/ 1203 w 1285"/>
                <a:gd name="T27" fmla="*/ 87 h 1030"/>
                <a:gd name="T28" fmla="*/ 1234 w 1285"/>
                <a:gd name="T29" fmla="*/ 121 h 1030"/>
                <a:gd name="T30" fmla="*/ 1257 w 1285"/>
                <a:gd name="T31" fmla="*/ 160 h 1030"/>
                <a:gd name="T32" fmla="*/ 1275 w 1285"/>
                <a:gd name="T33" fmla="*/ 201 h 1030"/>
                <a:gd name="T34" fmla="*/ 1283 w 1285"/>
                <a:gd name="T35" fmla="*/ 249 h 1030"/>
                <a:gd name="T36" fmla="*/ 1285 w 1285"/>
                <a:gd name="T37" fmla="*/ 298 h 1030"/>
                <a:gd name="T38" fmla="*/ 1279 w 1285"/>
                <a:gd name="T39" fmla="*/ 350 h 1030"/>
                <a:gd name="T40" fmla="*/ 1266 w 1285"/>
                <a:gd name="T41" fmla="*/ 404 h 1030"/>
                <a:gd name="T42" fmla="*/ 1247 w 1285"/>
                <a:gd name="T43" fmla="*/ 458 h 1030"/>
                <a:gd name="T44" fmla="*/ 1218 w 1285"/>
                <a:gd name="T45" fmla="*/ 514 h 1030"/>
                <a:gd name="T46" fmla="*/ 1184 w 1285"/>
                <a:gd name="T47" fmla="*/ 570 h 1030"/>
                <a:gd name="T48" fmla="*/ 1145 w 1285"/>
                <a:gd name="T49" fmla="*/ 624 h 1030"/>
                <a:gd name="T50" fmla="*/ 1097 w 1285"/>
                <a:gd name="T51" fmla="*/ 678 h 1030"/>
                <a:gd name="T52" fmla="*/ 1045 w 1285"/>
                <a:gd name="T53" fmla="*/ 730 h 1030"/>
                <a:gd name="T54" fmla="*/ 989 w 1285"/>
                <a:gd name="T55" fmla="*/ 780 h 1030"/>
                <a:gd name="T56" fmla="*/ 928 w 1285"/>
                <a:gd name="T57" fmla="*/ 827 h 1030"/>
                <a:gd name="T58" fmla="*/ 866 w 1285"/>
                <a:gd name="T59" fmla="*/ 870 h 1030"/>
                <a:gd name="T60" fmla="*/ 799 w 1285"/>
                <a:gd name="T61" fmla="*/ 907 h 1030"/>
                <a:gd name="T62" fmla="*/ 729 w 1285"/>
                <a:gd name="T63" fmla="*/ 942 h 1030"/>
                <a:gd name="T64" fmla="*/ 660 w 1285"/>
                <a:gd name="T65" fmla="*/ 972 h 1030"/>
                <a:gd name="T66" fmla="*/ 591 w 1285"/>
                <a:gd name="T67" fmla="*/ 996 h 1030"/>
                <a:gd name="T68" fmla="*/ 522 w 1285"/>
                <a:gd name="T69" fmla="*/ 1013 h 1030"/>
                <a:gd name="T70" fmla="*/ 455 w 1285"/>
                <a:gd name="T71" fmla="*/ 1026 h 1030"/>
                <a:gd name="T72" fmla="*/ 390 w 1285"/>
                <a:gd name="T73" fmla="*/ 1030 h 1030"/>
                <a:gd name="T74" fmla="*/ 327 w 1285"/>
                <a:gd name="T75" fmla="*/ 1030 h 1030"/>
                <a:gd name="T76" fmla="*/ 269 w 1285"/>
                <a:gd name="T77" fmla="*/ 1026 h 1030"/>
                <a:gd name="T78" fmla="*/ 214 w 1285"/>
                <a:gd name="T79" fmla="*/ 1013 h 1030"/>
                <a:gd name="T80" fmla="*/ 165 w 1285"/>
                <a:gd name="T81" fmla="*/ 996 h 1030"/>
                <a:gd name="T82" fmla="*/ 121 w 1285"/>
                <a:gd name="T83" fmla="*/ 972 h 1030"/>
                <a:gd name="T84" fmla="*/ 85 w 1285"/>
                <a:gd name="T85" fmla="*/ 944 h 1030"/>
                <a:gd name="T86" fmla="*/ 52 w 1285"/>
                <a:gd name="T87" fmla="*/ 909 h 1030"/>
                <a:gd name="T88" fmla="*/ 28 w 1285"/>
                <a:gd name="T89" fmla="*/ 873 h 1030"/>
                <a:gd name="T90" fmla="*/ 13 w 1285"/>
                <a:gd name="T91" fmla="*/ 829 h 1030"/>
                <a:gd name="T92" fmla="*/ 2 w 1285"/>
                <a:gd name="T93" fmla="*/ 784 h 1030"/>
                <a:gd name="T94" fmla="*/ 0 w 1285"/>
                <a:gd name="T95" fmla="*/ 734 h 1030"/>
                <a:gd name="T96" fmla="*/ 7 w 1285"/>
                <a:gd name="T97" fmla="*/ 683 h 1030"/>
                <a:gd name="T98" fmla="*/ 20 w 1285"/>
                <a:gd name="T99" fmla="*/ 629 h 1030"/>
                <a:gd name="T100" fmla="*/ 39 w 1285"/>
                <a:gd name="T101" fmla="*/ 572 h 1030"/>
                <a:gd name="T102" fmla="*/ 67 w 1285"/>
                <a:gd name="T103" fmla="*/ 516 h 1030"/>
                <a:gd name="T104" fmla="*/ 102 w 1285"/>
                <a:gd name="T105" fmla="*/ 462 h 1030"/>
                <a:gd name="T106" fmla="*/ 143 w 1285"/>
                <a:gd name="T107" fmla="*/ 406 h 1030"/>
                <a:gd name="T108" fmla="*/ 188 w 1285"/>
                <a:gd name="T109" fmla="*/ 352 h 1030"/>
                <a:gd name="T110" fmla="*/ 240 w 1285"/>
                <a:gd name="T111" fmla="*/ 300 h 1030"/>
                <a:gd name="T112" fmla="*/ 297 w 1285"/>
                <a:gd name="T113" fmla="*/ 251 h 1030"/>
                <a:gd name="T114" fmla="*/ 357 w 1285"/>
                <a:gd name="T115" fmla="*/ 205 h 1030"/>
                <a:gd name="T116" fmla="*/ 422 w 1285"/>
                <a:gd name="T117" fmla="*/ 162 h 103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285"/>
                <a:gd name="T178" fmla="*/ 0 h 1030"/>
                <a:gd name="T179" fmla="*/ 1285 w 1285"/>
                <a:gd name="T180" fmla="*/ 1030 h 103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285" h="1030">
                  <a:moveTo>
                    <a:pt x="422" y="162"/>
                  </a:moveTo>
                  <a:lnTo>
                    <a:pt x="487" y="123"/>
                  </a:lnTo>
                  <a:lnTo>
                    <a:pt x="556" y="89"/>
                  </a:lnTo>
                  <a:lnTo>
                    <a:pt x="626" y="61"/>
                  </a:lnTo>
                  <a:lnTo>
                    <a:pt x="695" y="37"/>
                  </a:lnTo>
                  <a:lnTo>
                    <a:pt x="764" y="18"/>
                  </a:lnTo>
                  <a:lnTo>
                    <a:pt x="831" y="7"/>
                  </a:lnTo>
                  <a:lnTo>
                    <a:pt x="896" y="0"/>
                  </a:lnTo>
                  <a:lnTo>
                    <a:pt x="959" y="0"/>
                  </a:lnTo>
                  <a:lnTo>
                    <a:pt x="1017" y="7"/>
                  </a:lnTo>
                  <a:lnTo>
                    <a:pt x="1071" y="18"/>
                  </a:lnTo>
                  <a:lnTo>
                    <a:pt x="1121" y="35"/>
                  </a:lnTo>
                  <a:lnTo>
                    <a:pt x="1164" y="59"/>
                  </a:lnTo>
                  <a:lnTo>
                    <a:pt x="1203" y="87"/>
                  </a:lnTo>
                  <a:lnTo>
                    <a:pt x="1234" y="121"/>
                  </a:lnTo>
                  <a:lnTo>
                    <a:pt x="1257" y="160"/>
                  </a:lnTo>
                  <a:lnTo>
                    <a:pt x="1275" y="201"/>
                  </a:lnTo>
                  <a:lnTo>
                    <a:pt x="1283" y="249"/>
                  </a:lnTo>
                  <a:lnTo>
                    <a:pt x="1285" y="298"/>
                  </a:lnTo>
                  <a:lnTo>
                    <a:pt x="1279" y="350"/>
                  </a:lnTo>
                  <a:lnTo>
                    <a:pt x="1266" y="404"/>
                  </a:lnTo>
                  <a:lnTo>
                    <a:pt x="1247" y="458"/>
                  </a:lnTo>
                  <a:lnTo>
                    <a:pt x="1218" y="514"/>
                  </a:lnTo>
                  <a:lnTo>
                    <a:pt x="1184" y="570"/>
                  </a:lnTo>
                  <a:lnTo>
                    <a:pt x="1145" y="624"/>
                  </a:lnTo>
                  <a:lnTo>
                    <a:pt x="1097" y="678"/>
                  </a:lnTo>
                  <a:lnTo>
                    <a:pt x="1045" y="730"/>
                  </a:lnTo>
                  <a:lnTo>
                    <a:pt x="989" y="780"/>
                  </a:lnTo>
                  <a:lnTo>
                    <a:pt x="928" y="827"/>
                  </a:lnTo>
                  <a:lnTo>
                    <a:pt x="866" y="870"/>
                  </a:lnTo>
                  <a:lnTo>
                    <a:pt x="799" y="907"/>
                  </a:lnTo>
                  <a:lnTo>
                    <a:pt x="729" y="942"/>
                  </a:lnTo>
                  <a:lnTo>
                    <a:pt x="660" y="972"/>
                  </a:lnTo>
                  <a:lnTo>
                    <a:pt x="591" y="996"/>
                  </a:lnTo>
                  <a:lnTo>
                    <a:pt x="522" y="1013"/>
                  </a:lnTo>
                  <a:lnTo>
                    <a:pt x="455" y="1026"/>
                  </a:lnTo>
                  <a:lnTo>
                    <a:pt x="390" y="1030"/>
                  </a:lnTo>
                  <a:lnTo>
                    <a:pt x="327" y="1030"/>
                  </a:lnTo>
                  <a:lnTo>
                    <a:pt x="269" y="1026"/>
                  </a:lnTo>
                  <a:lnTo>
                    <a:pt x="214" y="1013"/>
                  </a:lnTo>
                  <a:lnTo>
                    <a:pt x="165" y="996"/>
                  </a:lnTo>
                  <a:lnTo>
                    <a:pt x="121" y="972"/>
                  </a:lnTo>
                  <a:lnTo>
                    <a:pt x="85" y="944"/>
                  </a:lnTo>
                  <a:lnTo>
                    <a:pt x="52" y="909"/>
                  </a:lnTo>
                  <a:lnTo>
                    <a:pt x="28" y="873"/>
                  </a:lnTo>
                  <a:lnTo>
                    <a:pt x="13" y="829"/>
                  </a:lnTo>
                  <a:lnTo>
                    <a:pt x="2" y="784"/>
                  </a:lnTo>
                  <a:lnTo>
                    <a:pt x="0" y="734"/>
                  </a:lnTo>
                  <a:lnTo>
                    <a:pt x="7" y="683"/>
                  </a:lnTo>
                  <a:lnTo>
                    <a:pt x="20" y="629"/>
                  </a:lnTo>
                  <a:lnTo>
                    <a:pt x="39" y="572"/>
                  </a:lnTo>
                  <a:lnTo>
                    <a:pt x="67" y="516"/>
                  </a:lnTo>
                  <a:lnTo>
                    <a:pt x="102" y="462"/>
                  </a:lnTo>
                  <a:lnTo>
                    <a:pt x="143" y="406"/>
                  </a:lnTo>
                  <a:lnTo>
                    <a:pt x="188" y="352"/>
                  </a:lnTo>
                  <a:lnTo>
                    <a:pt x="240" y="300"/>
                  </a:lnTo>
                  <a:lnTo>
                    <a:pt x="297" y="251"/>
                  </a:lnTo>
                  <a:lnTo>
                    <a:pt x="357" y="205"/>
                  </a:lnTo>
                  <a:lnTo>
                    <a:pt x="422" y="1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60"/>
          <p:cNvGrpSpPr>
            <a:grpSpLocks noChangeAspect="1"/>
          </p:cNvGrpSpPr>
          <p:nvPr/>
        </p:nvGrpSpPr>
        <p:grpSpPr bwMode="auto">
          <a:xfrm>
            <a:off x="6096000" y="4343400"/>
            <a:ext cx="2432050" cy="1789113"/>
            <a:chOff x="187" y="1430"/>
            <a:chExt cx="2380" cy="1751"/>
          </a:xfrm>
        </p:grpSpPr>
        <p:sp>
          <p:nvSpPr>
            <p:cNvPr id="196683" name="Rectangle 61"/>
            <p:cNvSpPr>
              <a:spLocks noChangeAspect="1" noChangeArrowheads="1"/>
            </p:cNvSpPr>
            <p:nvPr/>
          </p:nvSpPr>
          <p:spPr bwMode="auto">
            <a:xfrm>
              <a:off x="417" y="2643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4" name="Freeform 62"/>
            <p:cNvSpPr>
              <a:spLocks noChangeAspect="1"/>
            </p:cNvSpPr>
            <p:nvPr/>
          </p:nvSpPr>
          <p:spPr bwMode="auto">
            <a:xfrm>
              <a:off x="187" y="1430"/>
              <a:ext cx="2380" cy="1751"/>
            </a:xfrm>
            <a:custGeom>
              <a:avLst/>
              <a:gdLst>
                <a:gd name="T0" fmla="*/ 1275 w 2380"/>
                <a:gd name="T1" fmla="*/ 0 h 1751"/>
                <a:gd name="T2" fmla="*/ 1474 w 2380"/>
                <a:gd name="T3" fmla="*/ 22 h 1751"/>
                <a:gd name="T4" fmla="*/ 1664 w 2380"/>
                <a:gd name="T5" fmla="*/ 67 h 1751"/>
                <a:gd name="T6" fmla="*/ 1842 w 2380"/>
                <a:gd name="T7" fmla="*/ 136 h 1751"/>
                <a:gd name="T8" fmla="*/ 2002 w 2380"/>
                <a:gd name="T9" fmla="*/ 227 h 1751"/>
                <a:gd name="T10" fmla="*/ 2138 w 2380"/>
                <a:gd name="T11" fmla="*/ 335 h 1751"/>
                <a:gd name="T12" fmla="*/ 2246 w 2380"/>
                <a:gd name="T13" fmla="*/ 460 h 1751"/>
                <a:gd name="T14" fmla="*/ 2324 w 2380"/>
                <a:gd name="T15" fmla="*/ 596 h 1751"/>
                <a:gd name="T16" fmla="*/ 2370 w 2380"/>
                <a:gd name="T17" fmla="*/ 741 h 1751"/>
                <a:gd name="T18" fmla="*/ 2380 w 2380"/>
                <a:gd name="T19" fmla="*/ 887 h 1751"/>
                <a:gd name="T20" fmla="*/ 2359 w 2380"/>
                <a:gd name="T21" fmla="*/ 1036 h 1751"/>
                <a:gd name="T22" fmla="*/ 2302 w 2380"/>
                <a:gd name="T23" fmla="*/ 1179 h 1751"/>
                <a:gd name="T24" fmla="*/ 2214 w 2380"/>
                <a:gd name="T25" fmla="*/ 1313 h 1751"/>
                <a:gd name="T26" fmla="*/ 2097 w 2380"/>
                <a:gd name="T27" fmla="*/ 1436 h 1751"/>
                <a:gd name="T28" fmla="*/ 1954 w 2380"/>
                <a:gd name="T29" fmla="*/ 1542 h 1751"/>
                <a:gd name="T30" fmla="*/ 1787 w 2380"/>
                <a:gd name="T31" fmla="*/ 1628 h 1751"/>
                <a:gd name="T32" fmla="*/ 1606 w 2380"/>
                <a:gd name="T33" fmla="*/ 1693 h 1751"/>
                <a:gd name="T34" fmla="*/ 1411 w 2380"/>
                <a:gd name="T35" fmla="*/ 1736 h 1751"/>
                <a:gd name="T36" fmla="*/ 1210 w 2380"/>
                <a:gd name="T37" fmla="*/ 1751 h 1751"/>
                <a:gd name="T38" fmla="*/ 1009 w 2380"/>
                <a:gd name="T39" fmla="*/ 1742 h 1751"/>
                <a:gd name="T40" fmla="*/ 812 w 2380"/>
                <a:gd name="T41" fmla="*/ 1710 h 1751"/>
                <a:gd name="T42" fmla="*/ 626 w 2380"/>
                <a:gd name="T43" fmla="*/ 1652 h 1751"/>
                <a:gd name="T44" fmla="*/ 457 w 2380"/>
                <a:gd name="T45" fmla="*/ 1572 h 1751"/>
                <a:gd name="T46" fmla="*/ 310 w 2380"/>
                <a:gd name="T47" fmla="*/ 1473 h 1751"/>
                <a:gd name="T48" fmla="*/ 186 w 2380"/>
                <a:gd name="T49" fmla="*/ 1356 h 1751"/>
                <a:gd name="T50" fmla="*/ 93 w 2380"/>
                <a:gd name="T51" fmla="*/ 1226 h 1751"/>
                <a:gd name="T52" fmla="*/ 31 w 2380"/>
                <a:gd name="T53" fmla="*/ 1084 h 1751"/>
                <a:gd name="T54" fmla="*/ 2 w 2380"/>
                <a:gd name="T55" fmla="*/ 937 h 1751"/>
                <a:gd name="T56" fmla="*/ 9 w 2380"/>
                <a:gd name="T57" fmla="*/ 788 h 1751"/>
                <a:gd name="T58" fmla="*/ 48 w 2380"/>
                <a:gd name="T59" fmla="*/ 643 h 1751"/>
                <a:gd name="T60" fmla="*/ 119 w 2380"/>
                <a:gd name="T61" fmla="*/ 503 h 1751"/>
                <a:gd name="T62" fmla="*/ 223 w 2380"/>
                <a:gd name="T63" fmla="*/ 374 h 1751"/>
                <a:gd name="T64" fmla="*/ 355 w 2380"/>
                <a:gd name="T65" fmla="*/ 259 h 1751"/>
                <a:gd name="T66" fmla="*/ 509 w 2380"/>
                <a:gd name="T67" fmla="*/ 164 h 1751"/>
                <a:gd name="T68" fmla="*/ 684 w 2380"/>
                <a:gd name="T69" fmla="*/ 86 h 1751"/>
                <a:gd name="T70" fmla="*/ 874 w 2380"/>
                <a:gd name="T71" fmla="*/ 35 h 1751"/>
                <a:gd name="T72" fmla="*/ 1071 w 2380"/>
                <a:gd name="T73" fmla="*/ 4 h 17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0"/>
                <a:gd name="T112" fmla="*/ 0 h 1751"/>
                <a:gd name="T113" fmla="*/ 2380 w 2380"/>
                <a:gd name="T114" fmla="*/ 1751 h 175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0" h="1751">
                  <a:moveTo>
                    <a:pt x="1173" y="0"/>
                  </a:moveTo>
                  <a:lnTo>
                    <a:pt x="1275" y="0"/>
                  </a:lnTo>
                  <a:lnTo>
                    <a:pt x="1374" y="9"/>
                  </a:lnTo>
                  <a:lnTo>
                    <a:pt x="1474" y="22"/>
                  </a:lnTo>
                  <a:lnTo>
                    <a:pt x="1571" y="41"/>
                  </a:lnTo>
                  <a:lnTo>
                    <a:pt x="1664" y="67"/>
                  </a:lnTo>
                  <a:lnTo>
                    <a:pt x="1755" y="99"/>
                  </a:lnTo>
                  <a:lnTo>
                    <a:pt x="1842" y="136"/>
                  </a:lnTo>
                  <a:lnTo>
                    <a:pt x="1924" y="179"/>
                  </a:lnTo>
                  <a:lnTo>
                    <a:pt x="2002" y="227"/>
                  </a:lnTo>
                  <a:lnTo>
                    <a:pt x="2073" y="279"/>
                  </a:lnTo>
                  <a:lnTo>
                    <a:pt x="2138" y="335"/>
                  </a:lnTo>
                  <a:lnTo>
                    <a:pt x="2194" y="395"/>
                  </a:lnTo>
                  <a:lnTo>
                    <a:pt x="2246" y="460"/>
                  </a:lnTo>
                  <a:lnTo>
                    <a:pt x="2289" y="527"/>
                  </a:lnTo>
                  <a:lnTo>
                    <a:pt x="2324" y="596"/>
                  </a:lnTo>
                  <a:lnTo>
                    <a:pt x="2350" y="667"/>
                  </a:lnTo>
                  <a:lnTo>
                    <a:pt x="2370" y="741"/>
                  </a:lnTo>
                  <a:lnTo>
                    <a:pt x="2380" y="814"/>
                  </a:lnTo>
                  <a:lnTo>
                    <a:pt x="2380" y="887"/>
                  </a:lnTo>
                  <a:lnTo>
                    <a:pt x="2374" y="963"/>
                  </a:lnTo>
                  <a:lnTo>
                    <a:pt x="2359" y="1036"/>
                  </a:lnTo>
                  <a:lnTo>
                    <a:pt x="2335" y="1108"/>
                  </a:lnTo>
                  <a:lnTo>
                    <a:pt x="2302" y="1179"/>
                  </a:lnTo>
                  <a:lnTo>
                    <a:pt x="2261" y="1248"/>
                  </a:lnTo>
                  <a:lnTo>
                    <a:pt x="2214" y="1313"/>
                  </a:lnTo>
                  <a:lnTo>
                    <a:pt x="2160" y="1378"/>
                  </a:lnTo>
                  <a:lnTo>
                    <a:pt x="2097" y="1436"/>
                  </a:lnTo>
                  <a:lnTo>
                    <a:pt x="2028" y="1492"/>
                  </a:lnTo>
                  <a:lnTo>
                    <a:pt x="1954" y="1542"/>
                  </a:lnTo>
                  <a:lnTo>
                    <a:pt x="1872" y="1587"/>
                  </a:lnTo>
                  <a:lnTo>
                    <a:pt x="1787" y="1628"/>
                  </a:lnTo>
                  <a:lnTo>
                    <a:pt x="1699" y="1665"/>
                  </a:lnTo>
                  <a:lnTo>
                    <a:pt x="1606" y="1693"/>
                  </a:lnTo>
                  <a:lnTo>
                    <a:pt x="1508" y="1717"/>
                  </a:lnTo>
                  <a:lnTo>
                    <a:pt x="1411" y="1736"/>
                  </a:lnTo>
                  <a:lnTo>
                    <a:pt x="1309" y="1747"/>
                  </a:lnTo>
                  <a:lnTo>
                    <a:pt x="1210" y="1751"/>
                  </a:lnTo>
                  <a:lnTo>
                    <a:pt x="1108" y="1751"/>
                  </a:lnTo>
                  <a:lnTo>
                    <a:pt x="1009" y="1742"/>
                  </a:lnTo>
                  <a:lnTo>
                    <a:pt x="909" y="1730"/>
                  </a:lnTo>
                  <a:lnTo>
                    <a:pt x="812" y="1710"/>
                  </a:lnTo>
                  <a:lnTo>
                    <a:pt x="719" y="1684"/>
                  </a:lnTo>
                  <a:lnTo>
                    <a:pt x="626" y="1652"/>
                  </a:lnTo>
                  <a:lnTo>
                    <a:pt x="539" y="1615"/>
                  </a:lnTo>
                  <a:lnTo>
                    <a:pt x="457" y="1572"/>
                  </a:lnTo>
                  <a:lnTo>
                    <a:pt x="381" y="1524"/>
                  </a:lnTo>
                  <a:lnTo>
                    <a:pt x="310" y="1473"/>
                  </a:lnTo>
                  <a:lnTo>
                    <a:pt x="245" y="1416"/>
                  </a:lnTo>
                  <a:lnTo>
                    <a:pt x="186" y="1356"/>
                  </a:lnTo>
                  <a:lnTo>
                    <a:pt x="137" y="1291"/>
                  </a:lnTo>
                  <a:lnTo>
                    <a:pt x="93" y="1226"/>
                  </a:lnTo>
                  <a:lnTo>
                    <a:pt x="59" y="1155"/>
                  </a:lnTo>
                  <a:lnTo>
                    <a:pt x="31" y="1084"/>
                  </a:lnTo>
                  <a:lnTo>
                    <a:pt x="13" y="1011"/>
                  </a:lnTo>
                  <a:lnTo>
                    <a:pt x="2" y="937"/>
                  </a:lnTo>
                  <a:lnTo>
                    <a:pt x="0" y="864"/>
                  </a:lnTo>
                  <a:lnTo>
                    <a:pt x="9" y="788"/>
                  </a:lnTo>
                  <a:lnTo>
                    <a:pt x="24" y="715"/>
                  </a:lnTo>
                  <a:lnTo>
                    <a:pt x="48" y="643"/>
                  </a:lnTo>
                  <a:lnTo>
                    <a:pt x="80" y="572"/>
                  </a:lnTo>
                  <a:lnTo>
                    <a:pt x="119" y="503"/>
                  </a:lnTo>
                  <a:lnTo>
                    <a:pt x="167" y="438"/>
                  </a:lnTo>
                  <a:lnTo>
                    <a:pt x="223" y="374"/>
                  </a:lnTo>
                  <a:lnTo>
                    <a:pt x="286" y="315"/>
                  </a:lnTo>
                  <a:lnTo>
                    <a:pt x="355" y="259"/>
                  </a:lnTo>
                  <a:lnTo>
                    <a:pt x="429" y="209"/>
                  </a:lnTo>
                  <a:lnTo>
                    <a:pt x="509" y="164"/>
                  </a:lnTo>
                  <a:lnTo>
                    <a:pt x="595" y="123"/>
                  </a:lnTo>
                  <a:lnTo>
                    <a:pt x="684" y="86"/>
                  </a:lnTo>
                  <a:lnTo>
                    <a:pt x="777" y="58"/>
                  </a:lnTo>
                  <a:lnTo>
                    <a:pt x="874" y="35"/>
                  </a:lnTo>
                  <a:lnTo>
                    <a:pt x="972" y="15"/>
                  </a:lnTo>
                  <a:lnTo>
                    <a:pt x="1071" y="4"/>
                  </a:lnTo>
                  <a:lnTo>
                    <a:pt x="117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627" name="Group 63"/>
          <p:cNvGrpSpPr>
            <a:grpSpLocks noChangeAspect="1"/>
          </p:cNvGrpSpPr>
          <p:nvPr/>
        </p:nvGrpSpPr>
        <p:grpSpPr bwMode="auto">
          <a:xfrm>
            <a:off x="6157913" y="1452563"/>
            <a:ext cx="1979612" cy="1797050"/>
            <a:chOff x="383" y="1437"/>
            <a:chExt cx="1902" cy="1727"/>
          </a:xfrm>
        </p:grpSpPr>
        <p:sp>
          <p:nvSpPr>
            <p:cNvPr id="196671" name="Freeform 64"/>
            <p:cNvSpPr>
              <a:spLocks noChangeAspect="1"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2" name="Freeform 65"/>
            <p:cNvSpPr>
              <a:spLocks noChangeAspect="1"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3" name="Freeform 66"/>
            <p:cNvSpPr>
              <a:spLocks noChangeAspect="1"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4" name="Freeform 67"/>
            <p:cNvSpPr>
              <a:spLocks noChangeAspect="1"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5" name="Freeform 68"/>
            <p:cNvSpPr>
              <a:spLocks noChangeAspect="1"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6" name="Freeform 69"/>
            <p:cNvSpPr>
              <a:spLocks noChangeAspect="1"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7" name="Rectangle 70"/>
            <p:cNvSpPr>
              <a:spLocks noChangeAspect="1" noChangeArrowheads="1"/>
            </p:cNvSpPr>
            <p:nvPr/>
          </p:nvSpPr>
          <p:spPr bwMode="auto">
            <a:xfrm>
              <a:off x="1890" y="1437"/>
              <a:ext cx="97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78" name="Rectangle 71"/>
            <p:cNvSpPr>
              <a:spLocks noChangeAspect="1" noChangeArrowheads="1"/>
            </p:cNvSpPr>
            <p:nvPr/>
          </p:nvSpPr>
          <p:spPr bwMode="auto">
            <a:xfrm>
              <a:off x="1089" y="2061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79" name="Rectangle 72"/>
            <p:cNvSpPr>
              <a:spLocks noChangeAspect="1" noChangeArrowheads="1"/>
            </p:cNvSpPr>
            <p:nvPr/>
          </p:nvSpPr>
          <p:spPr bwMode="auto">
            <a:xfrm>
              <a:off x="1699" y="2374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0" name="Rectangle 73"/>
            <p:cNvSpPr>
              <a:spLocks noChangeAspect="1" noChangeArrowheads="1"/>
            </p:cNvSpPr>
            <p:nvPr/>
          </p:nvSpPr>
          <p:spPr bwMode="auto">
            <a:xfrm>
              <a:off x="1319" y="29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1" name="Rectangle 74"/>
            <p:cNvSpPr>
              <a:spLocks noChangeAspect="1" noChangeArrowheads="1"/>
            </p:cNvSpPr>
            <p:nvPr/>
          </p:nvSpPr>
          <p:spPr bwMode="auto">
            <a:xfrm>
              <a:off x="517" y="1940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2" name="Rectangle 75"/>
            <p:cNvSpPr>
              <a:spLocks noChangeAspect="1" noChangeArrowheads="1"/>
            </p:cNvSpPr>
            <p:nvPr/>
          </p:nvSpPr>
          <p:spPr bwMode="auto">
            <a:xfrm>
              <a:off x="2187" y="24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Group 76"/>
          <p:cNvGrpSpPr>
            <a:grpSpLocks noChangeAspect="1"/>
          </p:cNvGrpSpPr>
          <p:nvPr/>
        </p:nvGrpSpPr>
        <p:grpSpPr bwMode="auto">
          <a:xfrm>
            <a:off x="7285038" y="2360613"/>
            <a:ext cx="919162" cy="617537"/>
            <a:chOff x="1465" y="2309"/>
            <a:chExt cx="883" cy="594"/>
          </a:xfrm>
        </p:grpSpPr>
        <p:sp>
          <p:nvSpPr>
            <p:cNvPr id="196669" name="Freeform 77"/>
            <p:cNvSpPr>
              <a:spLocks noChangeAspect="1"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70" name="Rectangle 78"/>
            <p:cNvSpPr>
              <a:spLocks noChangeAspect="1" noChangeArrowheads="1"/>
            </p:cNvSpPr>
            <p:nvPr/>
          </p:nvSpPr>
          <p:spPr bwMode="auto">
            <a:xfrm>
              <a:off x="1831" y="2668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79"/>
          <p:cNvGrpSpPr>
            <a:grpSpLocks noChangeAspect="1"/>
          </p:cNvGrpSpPr>
          <p:nvPr/>
        </p:nvGrpSpPr>
        <p:grpSpPr bwMode="auto">
          <a:xfrm>
            <a:off x="6100763" y="1730375"/>
            <a:ext cx="1036637" cy="584200"/>
            <a:chOff x="328" y="1704"/>
            <a:chExt cx="995" cy="561"/>
          </a:xfrm>
        </p:grpSpPr>
        <p:sp>
          <p:nvSpPr>
            <p:cNvPr id="196667" name="Freeform 80"/>
            <p:cNvSpPr>
              <a:spLocks noChangeAspect="1"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68" name="Rectangle 81"/>
            <p:cNvSpPr>
              <a:spLocks noChangeAspect="1" noChangeArrowheads="1"/>
            </p:cNvSpPr>
            <p:nvPr/>
          </p:nvSpPr>
          <p:spPr bwMode="auto">
            <a:xfrm>
              <a:off x="85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82"/>
          <p:cNvGrpSpPr>
            <a:grpSpLocks noChangeAspect="1"/>
          </p:cNvGrpSpPr>
          <p:nvPr/>
        </p:nvGrpSpPr>
        <p:grpSpPr bwMode="auto">
          <a:xfrm>
            <a:off x="5875338" y="1293813"/>
            <a:ext cx="2582862" cy="2287587"/>
            <a:chOff x="111" y="1285"/>
            <a:chExt cx="2481" cy="2197"/>
          </a:xfrm>
        </p:grpSpPr>
        <p:sp>
          <p:nvSpPr>
            <p:cNvPr id="196665" name="Rectangle 83"/>
            <p:cNvSpPr>
              <a:spLocks noChangeAspect="1" noChangeArrowheads="1"/>
            </p:cNvSpPr>
            <p:nvPr/>
          </p:nvSpPr>
          <p:spPr bwMode="auto">
            <a:xfrm>
              <a:off x="248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6" name="Freeform 84"/>
            <p:cNvSpPr>
              <a:spLocks noChangeAspect="1"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85"/>
          <p:cNvGrpSpPr>
            <a:grpSpLocks noChangeAspect="1"/>
          </p:cNvGrpSpPr>
          <p:nvPr/>
        </p:nvGrpSpPr>
        <p:grpSpPr bwMode="auto">
          <a:xfrm>
            <a:off x="6873875" y="2211388"/>
            <a:ext cx="1416050" cy="1084262"/>
            <a:chOff x="1070" y="2167"/>
            <a:chExt cx="1361" cy="1041"/>
          </a:xfrm>
        </p:grpSpPr>
        <p:sp>
          <p:nvSpPr>
            <p:cNvPr id="196663" name="Rectangle 86"/>
            <p:cNvSpPr>
              <a:spLocks noChangeAspect="1" noChangeArrowheads="1"/>
            </p:cNvSpPr>
            <p:nvPr/>
          </p:nvSpPr>
          <p:spPr bwMode="auto">
            <a:xfrm>
              <a:off x="1070" y="256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4" name="Freeform 87"/>
            <p:cNvSpPr>
              <a:spLocks noChangeAspect="1"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88"/>
          <p:cNvGrpSpPr>
            <a:grpSpLocks noChangeAspect="1"/>
          </p:cNvGrpSpPr>
          <p:nvPr/>
        </p:nvGrpSpPr>
        <p:grpSpPr bwMode="auto">
          <a:xfrm>
            <a:off x="6043613" y="1384300"/>
            <a:ext cx="1905000" cy="996950"/>
            <a:chOff x="272" y="1372"/>
            <a:chExt cx="1831" cy="958"/>
          </a:xfrm>
        </p:grpSpPr>
        <p:sp>
          <p:nvSpPr>
            <p:cNvPr id="196661" name="Rectangle 89"/>
            <p:cNvSpPr>
              <a:spLocks noChangeAspect="1" noChangeArrowheads="1"/>
            </p:cNvSpPr>
            <p:nvPr/>
          </p:nvSpPr>
          <p:spPr bwMode="auto">
            <a:xfrm>
              <a:off x="1165" y="138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2" name="Freeform 90"/>
            <p:cNvSpPr>
              <a:spLocks noChangeAspect="1"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633" name="Group 91"/>
          <p:cNvGrpSpPr>
            <a:grpSpLocks noChangeAspect="1"/>
          </p:cNvGrpSpPr>
          <p:nvPr/>
        </p:nvGrpSpPr>
        <p:grpSpPr bwMode="auto">
          <a:xfrm>
            <a:off x="1009650" y="1362075"/>
            <a:ext cx="1990725" cy="1806575"/>
            <a:chOff x="471" y="1117"/>
            <a:chExt cx="1935" cy="1755"/>
          </a:xfrm>
        </p:grpSpPr>
        <p:sp>
          <p:nvSpPr>
            <p:cNvPr id="196649" name="Freeform 92"/>
            <p:cNvSpPr>
              <a:spLocks noChangeAspect="1"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0" name="Freeform 93"/>
            <p:cNvSpPr>
              <a:spLocks noChangeAspect="1"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1" name="Freeform 94"/>
            <p:cNvSpPr>
              <a:spLocks noChangeAspect="1"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2" name="Freeform 95"/>
            <p:cNvSpPr>
              <a:spLocks noChangeAspect="1"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3" name="Freeform 96"/>
            <p:cNvSpPr>
              <a:spLocks noChangeAspect="1"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4" name="Freeform 97"/>
            <p:cNvSpPr>
              <a:spLocks noChangeAspect="1"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5" name="Rectangle 98"/>
            <p:cNvSpPr>
              <a:spLocks noChangeAspect="1" noChangeArrowheads="1"/>
            </p:cNvSpPr>
            <p:nvPr/>
          </p:nvSpPr>
          <p:spPr bwMode="auto">
            <a:xfrm>
              <a:off x="2033" y="1117"/>
              <a:ext cx="9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6" name="Rectangle 99"/>
            <p:cNvSpPr>
              <a:spLocks noChangeAspect="1" noChangeArrowheads="1"/>
            </p:cNvSpPr>
            <p:nvPr/>
          </p:nvSpPr>
          <p:spPr bwMode="auto">
            <a:xfrm>
              <a:off x="1256" y="1765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7" name="Rectangle 100"/>
            <p:cNvSpPr>
              <a:spLocks noChangeAspect="1" noChangeArrowheads="1"/>
            </p:cNvSpPr>
            <p:nvPr/>
          </p:nvSpPr>
          <p:spPr bwMode="auto">
            <a:xfrm>
              <a:off x="1810" y="2069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8" name="Rectangle 101"/>
            <p:cNvSpPr>
              <a:spLocks noChangeAspect="1" noChangeArrowheads="1"/>
            </p:cNvSpPr>
            <p:nvPr/>
          </p:nvSpPr>
          <p:spPr bwMode="auto">
            <a:xfrm>
              <a:off x="1422" y="2635"/>
              <a:ext cx="98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9" name="Rectangle 102"/>
            <p:cNvSpPr>
              <a:spLocks noChangeAspect="1" noChangeArrowheads="1"/>
            </p:cNvSpPr>
            <p:nvPr/>
          </p:nvSpPr>
          <p:spPr bwMode="auto">
            <a:xfrm>
              <a:off x="648" y="16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0" name="Rectangle 103"/>
            <p:cNvSpPr>
              <a:spLocks noChangeAspect="1" noChangeArrowheads="1"/>
            </p:cNvSpPr>
            <p:nvPr/>
          </p:nvSpPr>
          <p:spPr bwMode="auto">
            <a:xfrm>
              <a:off x="2307" y="21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104"/>
          <p:cNvGrpSpPr>
            <a:grpSpLocks noChangeAspect="1"/>
          </p:cNvGrpSpPr>
          <p:nvPr/>
        </p:nvGrpSpPr>
        <p:grpSpPr bwMode="auto">
          <a:xfrm>
            <a:off x="2141538" y="2070100"/>
            <a:ext cx="923925" cy="592138"/>
            <a:chOff x="1572" y="1805"/>
            <a:chExt cx="897" cy="575"/>
          </a:xfrm>
        </p:grpSpPr>
        <p:sp>
          <p:nvSpPr>
            <p:cNvPr id="196647" name="Freeform 105"/>
            <p:cNvSpPr>
              <a:spLocks noChangeAspect="1"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8" name="Rectangle 106"/>
            <p:cNvSpPr>
              <a:spLocks noChangeAspect="1" noChangeArrowheads="1"/>
            </p:cNvSpPr>
            <p:nvPr/>
          </p:nvSpPr>
          <p:spPr bwMode="auto">
            <a:xfrm>
              <a:off x="1943" y="1805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oup 107"/>
          <p:cNvGrpSpPr>
            <a:grpSpLocks noChangeAspect="1"/>
          </p:cNvGrpSpPr>
          <p:nvPr/>
        </p:nvGrpSpPr>
        <p:grpSpPr bwMode="auto">
          <a:xfrm>
            <a:off x="865188" y="1825625"/>
            <a:ext cx="1125537" cy="742950"/>
            <a:chOff x="332" y="1568"/>
            <a:chExt cx="1093" cy="721"/>
          </a:xfrm>
        </p:grpSpPr>
        <p:sp>
          <p:nvSpPr>
            <p:cNvPr id="196645" name="Freeform 108"/>
            <p:cNvSpPr>
              <a:spLocks noChangeAspect="1"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6" name="Rectangle 109"/>
            <p:cNvSpPr>
              <a:spLocks noChangeAspect="1" noChangeArrowheads="1"/>
            </p:cNvSpPr>
            <p:nvPr/>
          </p:nvSpPr>
          <p:spPr bwMode="auto">
            <a:xfrm>
              <a:off x="949" y="2052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Group 110"/>
          <p:cNvGrpSpPr>
            <a:grpSpLocks noChangeAspect="1"/>
          </p:cNvGrpSpPr>
          <p:nvPr/>
        </p:nvGrpSpPr>
        <p:grpSpPr bwMode="auto">
          <a:xfrm>
            <a:off x="812800" y="1555750"/>
            <a:ext cx="2382838" cy="1358900"/>
            <a:chOff x="280" y="1305"/>
            <a:chExt cx="2315" cy="1321"/>
          </a:xfrm>
        </p:grpSpPr>
        <p:sp>
          <p:nvSpPr>
            <p:cNvPr id="196643" name="Freeform 111"/>
            <p:cNvSpPr>
              <a:spLocks noChangeAspect="1"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4" name="Rectangle 112"/>
            <p:cNvSpPr>
              <a:spLocks noChangeAspect="1" noChangeArrowheads="1"/>
            </p:cNvSpPr>
            <p:nvPr/>
          </p:nvSpPr>
          <p:spPr bwMode="auto">
            <a:xfrm>
              <a:off x="1390" y="1305"/>
              <a:ext cx="1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4" name="Group 113"/>
          <p:cNvGrpSpPr>
            <a:grpSpLocks noChangeAspect="1"/>
          </p:cNvGrpSpPr>
          <p:nvPr/>
        </p:nvGrpSpPr>
        <p:grpSpPr bwMode="auto">
          <a:xfrm>
            <a:off x="771525" y="1477963"/>
            <a:ext cx="2462213" cy="1887537"/>
            <a:chOff x="241" y="1229"/>
            <a:chExt cx="2391" cy="1834"/>
          </a:xfrm>
        </p:grpSpPr>
        <p:sp>
          <p:nvSpPr>
            <p:cNvPr id="196641" name="Freeform 114"/>
            <p:cNvSpPr>
              <a:spLocks noChangeAspect="1"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2" name="Rectangle 115"/>
            <p:cNvSpPr>
              <a:spLocks noChangeAspect="1" noChangeArrowheads="1"/>
            </p:cNvSpPr>
            <p:nvPr/>
          </p:nvSpPr>
          <p:spPr bwMode="auto">
            <a:xfrm>
              <a:off x="1238" y="2826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116"/>
          <p:cNvGrpSpPr>
            <a:grpSpLocks noChangeAspect="1"/>
          </p:cNvGrpSpPr>
          <p:nvPr/>
        </p:nvGrpSpPr>
        <p:grpSpPr bwMode="auto">
          <a:xfrm>
            <a:off x="723900" y="1216025"/>
            <a:ext cx="2595563" cy="2289175"/>
            <a:chOff x="194" y="975"/>
            <a:chExt cx="2522" cy="2224"/>
          </a:xfrm>
        </p:grpSpPr>
        <p:sp>
          <p:nvSpPr>
            <p:cNvPr id="196639" name="Rectangle 117"/>
            <p:cNvSpPr>
              <a:spLocks noChangeAspect="1" noChangeArrowheads="1"/>
            </p:cNvSpPr>
            <p:nvPr/>
          </p:nvSpPr>
          <p:spPr bwMode="auto">
            <a:xfrm>
              <a:off x="2138" y="975"/>
              <a:ext cx="109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40" name="Freeform 118"/>
            <p:cNvSpPr>
              <a:spLocks noChangeAspect="1"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05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Hierarchical Clustering:  Time and Space requirements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4530725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O(N</a:t>
            </a:r>
            <a:r>
              <a:rPr lang="en-US" altLang="en-US" baseline="30000" smtClean="0">
                <a:effectLst/>
              </a:rPr>
              <a:t>2</a:t>
            </a:r>
            <a:r>
              <a:rPr lang="en-US" altLang="en-US" smtClean="0">
                <a:effectLst/>
              </a:rPr>
              <a:t>) space since it uses the proximity matrix.  </a:t>
            </a:r>
          </a:p>
          <a:p>
            <a:pPr lvl="1" eaLnBrk="1" hangingPunct="1"/>
            <a:r>
              <a:rPr lang="en-US" altLang="en-US" smtClean="0">
                <a:effectLst/>
              </a:rPr>
              <a:t>N is the number of points.</a:t>
            </a:r>
          </a:p>
          <a:p>
            <a:pPr lvl="1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O(N</a:t>
            </a:r>
            <a:r>
              <a:rPr lang="en-US" altLang="en-US" baseline="30000" smtClean="0">
                <a:effectLst/>
              </a:rPr>
              <a:t>3</a:t>
            </a:r>
            <a:r>
              <a:rPr lang="en-US" altLang="en-US" smtClean="0">
                <a:effectLst/>
              </a:rPr>
              <a:t>) time in many cases</a:t>
            </a:r>
          </a:p>
          <a:p>
            <a:pPr lvl="1" eaLnBrk="1" hangingPunct="1"/>
            <a:r>
              <a:rPr lang="en-US" altLang="en-US" smtClean="0">
                <a:effectLst/>
              </a:rPr>
              <a:t>There are N steps and at each step the size, N</a:t>
            </a:r>
            <a:r>
              <a:rPr lang="en-US" altLang="en-US" baseline="30000" smtClean="0">
                <a:effectLst/>
              </a:rPr>
              <a:t>2</a:t>
            </a:r>
            <a:r>
              <a:rPr lang="en-US" altLang="en-US" smtClean="0">
                <a:effectLst/>
              </a:rPr>
              <a:t>, proximity matrix must be updated and searched</a:t>
            </a:r>
          </a:p>
          <a:p>
            <a:pPr lvl="1" eaLnBrk="1" hangingPunct="1"/>
            <a:r>
              <a:rPr lang="en-US" altLang="en-US" smtClean="0">
                <a:effectLst/>
              </a:rPr>
              <a:t>Complexity can be reduced to O(N</a:t>
            </a:r>
            <a:r>
              <a:rPr lang="en-US" altLang="en-US" baseline="30000" smtClean="0">
                <a:effectLst/>
              </a:rPr>
              <a:t>2</a:t>
            </a:r>
            <a:r>
              <a:rPr lang="en-US" altLang="en-US" smtClean="0">
                <a:effectLst/>
              </a:rPr>
              <a:t> log(N) ) time for some approaches</a:t>
            </a:r>
          </a:p>
        </p:txBody>
      </p:sp>
    </p:spTree>
    <p:extLst>
      <p:ext uri="{BB962C8B-B14F-4D97-AF65-F5344CB8AC3E}">
        <p14:creationId xmlns:p14="http://schemas.microsoft.com/office/powerpoint/2010/main" val="402593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dirty="0" smtClean="0"/>
              <a:t>Hierarchical Clustering: Problems and Limitations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5334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Once a decision is made to combine two clusters, it cannot be undone</a:t>
            </a:r>
          </a:p>
          <a:p>
            <a:pPr lvl="4" eaLnBrk="1" hangingPunct="1">
              <a:defRPr/>
            </a:pPr>
            <a:endParaRPr lang="en-US" sz="800" dirty="0" smtClean="0"/>
          </a:p>
          <a:p>
            <a:pPr eaLnBrk="1" hangingPunct="1">
              <a:defRPr/>
            </a:pPr>
            <a:r>
              <a:rPr lang="en-US" dirty="0" smtClean="0"/>
              <a:t>No objective function is directly minimized</a:t>
            </a:r>
          </a:p>
          <a:p>
            <a:pPr lvl="4" eaLnBrk="1" hangingPunct="1">
              <a:defRPr/>
            </a:pPr>
            <a:endParaRPr lang="en-US" sz="800" dirty="0" smtClean="0"/>
          </a:p>
          <a:p>
            <a:pPr eaLnBrk="1" hangingPunct="1">
              <a:defRPr/>
            </a:pPr>
            <a:r>
              <a:rPr lang="en-US" dirty="0" smtClean="0"/>
              <a:t>Different schemes have problems with one or more of the following:</a:t>
            </a:r>
          </a:p>
          <a:p>
            <a:pPr lvl="1" eaLnBrk="1" hangingPunct="1">
              <a:defRPr/>
            </a:pPr>
            <a:r>
              <a:rPr lang="en-US" dirty="0" smtClean="0"/>
              <a:t>Sensitivity to noise and outliers</a:t>
            </a:r>
          </a:p>
          <a:p>
            <a:pPr lvl="1" eaLnBrk="1" hangingPunct="1">
              <a:defRPr/>
            </a:pPr>
            <a:r>
              <a:rPr lang="en-US" dirty="0" smtClean="0"/>
              <a:t>Difficulty handling different sized clusters and convex shapes</a:t>
            </a:r>
          </a:p>
          <a:p>
            <a:pPr lvl="1" eaLnBrk="1" hangingPunct="1">
              <a:defRPr/>
            </a:pPr>
            <a:r>
              <a:rPr lang="en-US" dirty="0" smtClean="0"/>
              <a:t>Breaking large clusters</a:t>
            </a:r>
          </a:p>
        </p:txBody>
      </p:sp>
    </p:spTree>
    <p:extLst>
      <p:ext uri="{BB962C8B-B14F-4D97-AF65-F5344CB8AC3E}">
        <p14:creationId xmlns:p14="http://schemas.microsoft.com/office/powerpoint/2010/main" val="319676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</TotalTime>
  <Words>4105</Words>
  <Application>Microsoft Office PowerPoint</Application>
  <PresentationFormat>On-screen Show (4:3)</PresentationFormat>
  <Paragraphs>1489</Paragraphs>
  <Slides>101</Slides>
  <Notes>54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6</vt:i4>
      </vt:variant>
      <vt:variant>
        <vt:lpstr>Slide Titles</vt:lpstr>
      </vt:variant>
      <vt:variant>
        <vt:i4>101</vt:i4>
      </vt:variant>
    </vt:vector>
  </HeadingPairs>
  <TitlesOfParts>
    <vt:vector size="126" baseType="lpstr">
      <vt:lpstr>굴림</vt:lpstr>
      <vt:lpstr>굴림</vt:lpstr>
      <vt:lpstr>ＭＳ Ｐゴシック</vt:lpstr>
      <vt:lpstr>宋体</vt:lpstr>
      <vt:lpstr>宋体</vt:lpstr>
      <vt:lpstr>Arial</vt:lpstr>
      <vt:lpstr>Calibri</vt:lpstr>
      <vt:lpstr>Cambria Math</vt:lpstr>
      <vt:lpstr>Century Gothic</vt:lpstr>
      <vt:lpstr>Comic Sans MS</vt:lpstr>
      <vt:lpstr>Garamond (W1)</vt:lpstr>
      <vt:lpstr>Monotype Sorts</vt:lpstr>
      <vt:lpstr>PMingLiU</vt:lpstr>
      <vt:lpstr>Small Fonts</vt:lpstr>
      <vt:lpstr>Symbol</vt:lpstr>
      <vt:lpstr>Tahoma</vt:lpstr>
      <vt:lpstr>Times New Roman</vt:lpstr>
      <vt:lpstr>Wingdings</vt:lpstr>
      <vt:lpstr>Office Theme</vt:lpstr>
      <vt:lpstr>Worksheet</vt:lpstr>
      <vt:lpstr>Equation</vt:lpstr>
      <vt:lpstr>MSPhotoEd.3</vt:lpstr>
      <vt:lpstr>Visio</vt:lpstr>
      <vt:lpstr>Bitmap Image</vt:lpstr>
      <vt:lpstr>VISIO</vt:lpstr>
      <vt:lpstr>Clustering</vt:lpstr>
      <vt:lpstr>k-Medoids Clustering Method</vt:lpstr>
      <vt:lpstr>PowerPoint Presentation</vt:lpstr>
      <vt:lpstr>PAM</vt:lpstr>
      <vt:lpstr>PAM: Basic Strategy</vt:lpstr>
      <vt:lpstr>Typical k-medoids algorithm (PAM)</vt:lpstr>
      <vt:lpstr>PAM (Partitioning Around Medoids)</vt:lpstr>
      <vt:lpstr>What is the problem with PAM?</vt:lpstr>
      <vt:lpstr>PowerPoint Presentation</vt:lpstr>
      <vt:lpstr>PAM or K-Medoids: 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CLARA (Clustering Large Applications) (1990)</vt:lpstr>
      <vt:lpstr>CLARA - Algorithm</vt:lpstr>
      <vt:lpstr>CLARANS (“Randomized” CLARA) (1994)</vt:lpstr>
      <vt:lpstr>Graph Abstraction</vt:lpstr>
      <vt:lpstr>Graph Abstraction: CLARANS</vt:lpstr>
      <vt:lpstr>CLARANS</vt:lpstr>
      <vt:lpstr>CLARANS - Algorithm</vt:lpstr>
      <vt:lpstr>Density-Based Clustering</vt:lpstr>
      <vt:lpstr>DBSCAN</vt:lpstr>
      <vt:lpstr>PowerPoint Presentation</vt:lpstr>
      <vt:lpstr>DBSCAN: Core, Border, and Noise Points</vt:lpstr>
      <vt:lpstr>PowerPoint Presentation</vt:lpstr>
      <vt:lpstr>PowerPoint Presentation</vt:lpstr>
      <vt:lpstr>PowerPoint Presentation</vt:lpstr>
      <vt:lpstr>PowerPoint Presentation</vt:lpstr>
      <vt:lpstr>DBSCAN Algorithm</vt:lpstr>
      <vt:lpstr>DBSCAN: Core, Border and Noise Points</vt:lpstr>
      <vt:lpstr>When DBSCAN Works Well</vt:lpstr>
      <vt:lpstr>DBSCAN: Determining EPS and MinPts</vt:lpstr>
      <vt:lpstr>PowerPoint Presentation</vt:lpstr>
      <vt:lpstr>When DBSCAN Does NOT Work Well</vt:lpstr>
      <vt:lpstr>Hierarchical Clustering</vt:lpstr>
      <vt:lpstr>Agglomerative Clustering Algorithm</vt:lpstr>
      <vt:lpstr>Starting Situation </vt:lpstr>
      <vt:lpstr>Intermediate Situation</vt:lpstr>
      <vt:lpstr>Intermediate Situation</vt:lpstr>
      <vt:lpstr>After Merging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Single Linkage Clustering</vt:lpstr>
      <vt:lpstr>Algorithm</vt:lpstr>
      <vt:lpstr>  Interpreting Dendrograms</vt:lpstr>
      <vt:lpstr>PowerPoint Presentation</vt:lpstr>
      <vt:lpstr>Advantages</vt:lpstr>
      <vt:lpstr>Problems</vt:lpstr>
      <vt:lpstr> </vt:lpstr>
      <vt:lpstr>Deciding where to cut the Dendrogram can be difficult</vt:lpstr>
      <vt:lpstr>Comparing two Dendrograms is not straightforward</vt:lpstr>
      <vt:lpstr>Agglomerative Example</vt:lpstr>
      <vt:lpstr>MST Example</vt:lpstr>
      <vt:lpstr>Agglomerative Algorithm</vt:lpstr>
      <vt:lpstr>Single Link</vt:lpstr>
      <vt:lpstr>MST Single Link Algorithm</vt:lpstr>
      <vt:lpstr>Single Link Clustering</vt:lpstr>
      <vt:lpstr>PowerPoint Presentation</vt:lpstr>
      <vt:lpstr>PowerPoint Presentation</vt:lpstr>
      <vt:lpstr>Hierarchical: Single Link</vt:lpstr>
      <vt:lpstr>Example: single link</vt:lpstr>
      <vt:lpstr>Example: single link</vt:lpstr>
      <vt:lpstr>Example: single link</vt:lpstr>
      <vt:lpstr>Hierarchical: Complete Link</vt:lpstr>
      <vt:lpstr>Example: complete link</vt:lpstr>
      <vt:lpstr>Example: complete link</vt:lpstr>
      <vt:lpstr>Example: complete link</vt:lpstr>
      <vt:lpstr>Hierarchical: Average Link</vt:lpstr>
      <vt:lpstr>Example: average link</vt:lpstr>
      <vt:lpstr>Example: average link</vt:lpstr>
      <vt:lpstr>Example: average link</vt:lpstr>
      <vt:lpstr>PowerPoint Presentation</vt:lpstr>
      <vt:lpstr>Hierarchical Clustering </vt:lpstr>
      <vt:lpstr>Strengths of Hierarchical Clustering</vt:lpstr>
      <vt:lpstr>Cluster Similarity: MIN or Single Link </vt:lpstr>
      <vt:lpstr>Hierarchical Clustering: MIN</vt:lpstr>
      <vt:lpstr>Strength of MIN</vt:lpstr>
      <vt:lpstr>Limitations of MIN</vt:lpstr>
      <vt:lpstr>Cluster Similarity: MAX or Complete Linkage</vt:lpstr>
      <vt:lpstr>Hierarchical Clustering: MAX</vt:lpstr>
      <vt:lpstr>Strength of MAX</vt:lpstr>
      <vt:lpstr>Limitations of MAX</vt:lpstr>
      <vt:lpstr>Cluster Similarity: Group Average</vt:lpstr>
      <vt:lpstr>Hierarchical Clustering: Group Average</vt:lpstr>
      <vt:lpstr>Hierarchical Clustering: Group Average</vt:lpstr>
      <vt:lpstr>Cluster Similarity: Ward’s Method</vt:lpstr>
      <vt:lpstr>Hierarchical Clustering: Comparison</vt:lpstr>
      <vt:lpstr>Hierarchical Clustering:  Time and Space requirements</vt:lpstr>
      <vt:lpstr>Hierarchical Clustering: Problems and Limitations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User</cp:lastModifiedBy>
  <cp:revision>50</cp:revision>
  <dcterms:created xsi:type="dcterms:W3CDTF">2016-03-31T23:17:38Z</dcterms:created>
  <dcterms:modified xsi:type="dcterms:W3CDTF">2018-04-11T10:27:02Z</dcterms:modified>
</cp:coreProperties>
</file>