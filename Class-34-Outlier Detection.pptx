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505" r:id="rId2"/>
    <p:sldId id="506" r:id="rId3"/>
    <p:sldId id="507" r:id="rId4"/>
    <p:sldId id="508" r:id="rId5"/>
    <p:sldId id="492" r:id="rId6"/>
    <p:sldId id="493" r:id="rId7"/>
    <p:sldId id="509" r:id="rId8"/>
    <p:sldId id="526" r:id="rId9"/>
    <p:sldId id="544" r:id="rId10"/>
    <p:sldId id="545" r:id="rId11"/>
    <p:sldId id="546" r:id="rId12"/>
    <p:sldId id="527" r:id="rId13"/>
    <p:sldId id="528" r:id="rId14"/>
    <p:sldId id="529" r:id="rId15"/>
    <p:sldId id="530" r:id="rId16"/>
    <p:sldId id="496" r:id="rId17"/>
    <p:sldId id="497" r:id="rId18"/>
    <p:sldId id="533" r:id="rId19"/>
    <p:sldId id="510" r:id="rId20"/>
    <p:sldId id="499" r:id="rId21"/>
    <p:sldId id="500" r:id="rId22"/>
    <p:sldId id="534" r:id="rId23"/>
    <p:sldId id="501" r:id="rId24"/>
    <p:sldId id="535" r:id="rId25"/>
    <p:sldId id="502" r:id="rId26"/>
    <p:sldId id="511" r:id="rId27"/>
    <p:sldId id="512" r:id="rId28"/>
    <p:sldId id="513" r:id="rId29"/>
    <p:sldId id="514" r:id="rId30"/>
    <p:sldId id="516" r:id="rId31"/>
    <p:sldId id="515" r:id="rId32"/>
    <p:sldId id="536" r:id="rId33"/>
    <p:sldId id="537" r:id="rId34"/>
    <p:sldId id="540" r:id="rId35"/>
    <p:sldId id="520" r:id="rId36"/>
    <p:sldId id="538" r:id="rId37"/>
    <p:sldId id="504" r:id="rId38"/>
    <p:sldId id="539" r:id="rId39"/>
    <p:sldId id="541" r:id="rId40"/>
    <p:sldId id="542" r:id="rId41"/>
    <p:sldId id="543" r:id="rId42"/>
    <p:sldId id="517" r:id="rId43"/>
    <p:sldId id="518" r:id="rId44"/>
    <p:sldId id="519" r:id="rId45"/>
    <p:sldId id="521" r:id="rId46"/>
    <p:sldId id="522" r:id="rId47"/>
    <p:sldId id="523" r:id="rId48"/>
    <p:sldId id="524" r:id="rId49"/>
    <p:sldId id="525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B36DB-C3DA-49BB-AA53-5DF52F722C4A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4CDF2-A126-45BB-BED0-2A856D79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AF1EE6-E9B6-4BE9-A427-EB615700F905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84213"/>
            <a:ext cx="4573587" cy="343058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1420" tIns="45710" rIns="91420" bIns="45710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41009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2BFD97-FBF0-4FA7-B4BA-5CC64D77F29C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84213"/>
            <a:ext cx="4573587" cy="343058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1420" tIns="45710" rIns="91420" bIns="45710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18451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01213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BD9878-6A14-48F0-A2D5-4C53EF1D7491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81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05489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29448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718630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92091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24697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0807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24D72-B2D7-4304-9FFF-2618F8F6EC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49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17-Apr-18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81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1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7B745-B939-4367-9798-1F14DB30F90E}" type="datetimeFigureOut">
              <a:rPr lang="en-US" smtClean="0"/>
              <a:t>17-Apr-18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ANOMALY DETECTION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6172200"/>
            <a:ext cx="510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Most of the material in this presentation taken from Text Book slides (Tan et. al.)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7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Outliers</a:t>
            </a:r>
          </a:p>
          <a:p>
            <a:r>
              <a:rPr lang="en-US" dirty="0" smtClean="0"/>
              <a:t>Deviation detection</a:t>
            </a:r>
          </a:p>
          <a:p>
            <a:r>
              <a:rPr lang="en-US" dirty="0" smtClean="0"/>
              <a:t>Exception mining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Read the book “Outliers” by Malcolm </a:t>
            </a:r>
            <a:r>
              <a:rPr lang="en-US" dirty="0" err="1" smtClean="0"/>
              <a:t>Gladwell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Anomaly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50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74280C5C-140D-4079-84D8-1B0D5DD322F4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226300" cy="498475"/>
          </a:xfrm>
        </p:spPr>
        <p:txBody>
          <a:bodyPr>
            <a:normAutofit fontScale="90000"/>
          </a:bodyPr>
          <a:lstStyle/>
          <a:p>
            <a:r>
              <a:rPr lang="en-US" sz="4000" smtClean="0"/>
              <a:t>Anomaly/Outlier Analysis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458200" cy="4800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sz="3600" dirty="0" smtClean="0"/>
              <a:t>What are outliers?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sz="2700" dirty="0" smtClean="0"/>
              <a:t>Outlier (noun) : something that is situated away from or classed differently from a main or related body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sz="2700" dirty="0" smtClean="0"/>
              <a:t>A statistical observation that is markedly different in value from the others of the sample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None/>
            </a:pPr>
            <a:endParaRPr lang="en-US" sz="2700" dirty="0" smtClean="0"/>
          </a:p>
          <a:p>
            <a:pPr>
              <a:lnSpc>
                <a:spcPct val="90000"/>
              </a:lnSpc>
            </a:pPr>
            <a:r>
              <a:rPr lang="en-US" sz="2700" dirty="0" smtClean="0"/>
              <a:t>The set of objects are considerably dissimilar from the remainder of the data</a:t>
            </a:r>
          </a:p>
          <a:p>
            <a:pPr>
              <a:lnSpc>
                <a:spcPct val="90000"/>
              </a:lnSpc>
              <a:buNone/>
            </a:pPr>
            <a:endParaRPr lang="en-US" sz="2700" dirty="0" smtClean="0"/>
          </a:p>
          <a:p>
            <a:pPr>
              <a:lnSpc>
                <a:spcPct val="90000"/>
              </a:lnSpc>
            </a:pPr>
            <a:r>
              <a:rPr lang="en-US" sz="2700" dirty="0" smtClean="0"/>
              <a:t>Example:  Sports: Michael Jordon, </a:t>
            </a:r>
            <a:r>
              <a:rPr lang="en-US" sz="2700" dirty="0" err="1" smtClean="0"/>
              <a:t>Sachin</a:t>
            </a:r>
            <a:r>
              <a:rPr lang="en-US" sz="2700" dirty="0" smtClean="0"/>
              <a:t> </a:t>
            </a:r>
            <a:r>
              <a:rPr lang="en-US" sz="2700" dirty="0" err="1" smtClean="0"/>
              <a:t>Tendulkar</a:t>
            </a:r>
            <a:r>
              <a:rPr lang="en-US" sz="2700" dirty="0" smtClean="0"/>
              <a:t>, Tiger Woods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00118638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3D8F5E98-73EF-46D9-A7C5-64F35E0C5249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226300" cy="498475"/>
          </a:xfrm>
        </p:spPr>
        <p:txBody>
          <a:bodyPr>
            <a:normAutofit fontScale="90000"/>
          </a:bodyPr>
          <a:lstStyle/>
          <a:p>
            <a:r>
              <a:rPr lang="en-US" sz="4000" smtClean="0"/>
              <a:t>Anomaly/Outlier Analysis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458200" cy="4800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 smtClean="0"/>
              <a:t>Telecom fraud detection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 smtClean="0"/>
              <a:t>Terrorism Prevention</a:t>
            </a:r>
          </a:p>
          <a:p>
            <a:r>
              <a:rPr lang="en-US" dirty="0" smtClean="0"/>
              <a:t>An error/defect in a 6</a:t>
            </a:r>
            <a:r>
              <a:rPr lang="el-GR" dirty="0" smtClean="0"/>
              <a:t>σ</a:t>
            </a:r>
            <a:r>
              <a:rPr lang="en-US" dirty="0" smtClean="0"/>
              <a:t> company </a:t>
            </a:r>
          </a:p>
          <a:p>
            <a:pPr>
              <a:buNone/>
            </a:pPr>
            <a:r>
              <a:rPr lang="en-US" dirty="0" smtClean="0"/>
              <a:t>	(Mumbai’s </a:t>
            </a:r>
            <a:r>
              <a:rPr lang="en-US" dirty="0" err="1" smtClean="0"/>
              <a:t>Dabbawallas</a:t>
            </a:r>
            <a:r>
              <a:rPr lang="en-US" dirty="0" smtClean="0"/>
              <a:t>)</a:t>
            </a:r>
          </a:p>
          <a:p>
            <a:r>
              <a:rPr lang="en-US" dirty="0" smtClean="0"/>
              <a:t>Fraud</a:t>
            </a:r>
          </a:p>
          <a:p>
            <a:r>
              <a:rPr lang="en-US" dirty="0" smtClean="0"/>
              <a:t>Intrusion</a:t>
            </a:r>
          </a:p>
          <a:p>
            <a:r>
              <a:rPr lang="en-US" dirty="0" smtClean="0"/>
              <a:t>Earthquake or Tsunami</a:t>
            </a:r>
          </a:p>
          <a:p>
            <a:r>
              <a:rPr lang="en-US" dirty="0" smtClean="0"/>
              <a:t>Outbreak of a disease</a:t>
            </a:r>
          </a:p>
          <a:p>
            <a:r>
              <a:rPr lang="en-US" dirty="0" smtClean="0"/>
              <a:t>Rare disease</a:t>
            </a:r>
          </a:p>
          <a:p>
            <a:r>
              <a:rPr lang="en-US" dirty="0" smtClean="0"/>
              <a:t>Exceptionally talented </a:t>
            </a:r>
            <a:r>
              <a:rPr lang="en-US" dirty="0" smtClean="0"/>
              <a:t>athletes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988546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Anomaly/Outlier Detection</a:t>
            </a:r>
          </a:p>
        </p:txBody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75" y="1143000"/>
            <a:ext cx="9067800" cy="54102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/>
              <a:t>What are anomalies/outliers?</a:t>
            </a:r>
          </a:p>
          <a:p>
            <a:pPr lvl="1" eaLnBrk="1" hangingPunct="1">
              <a:defRPr/>
            </a:pPr>
            <a:r>
              <a:rPr lang="en-US" sz="2000" dirty="0" smtClean="0"/>
              <a:t>The set of data points that are considerably different than the remainder of the data</a:t>
            </a:r>
          </a:p>
          <a:p>
            <a:pPr eaLnBrk="1" hangingPunct="1">
              <a:defRPr/>
            </a:pPr>
            <a:r>
              <a:rPr lang="en-US" sz="2400" dirty="0" smtClean="0"/>
              <a:t>Variants of Anomaly/Outlier Detection Problems</a:t>
            </a:r>
          </a:p>
          <a:p>
            <a:pPr lvl="1" eaLnBrk="1" hangingPunct="1">
              <a:defRPr/>
            </a:pPr>
            <a:r>
              <a:rPr lang="en-US" sz="2000" dirty="0" smtClean="0"/>
              <a:t>Given a database D, find all the data points </a:t>
            </a:r>
            <a:r>
              <a:rPr lang="en-US" sz="2000" b="1" dirty="0" smtClean="0"/>
              <a:t>x</a:t>
            </a:r>
            <a:r>
              <a:rPr lang="en-US" sz="2000" dirty="0" smtClean="0"/>
              <a:t> </a:t>
            </a:r>
            <a:r>
              <a:rPr lang="en-US" sz="2000" dirty="0" smtClean="0">
                <a:sym typeface="Symbol" pitchFamily="18" charset="2"/>
              </a:rPr>
              <a:t> D </a:t>
            </a:r>
            <a:r>
              <a:rPr lang="en-US" sz="2000" dirty="0" smtClean="0"/>
              <a:t>with anomaly scores greater than some threshold t</a:t>
            </a:r>
          </a:p>
          <a:p>
            <a:pPr lvl="1" eaLnBrk="1" hangingPunct="1">
              <a:defRPr/>
            </a:pPr>
            <a:r>
              <a:rPr lang="en-US" sz="2000" dirty="0" smtClean="0"/>
              <a:t>Given a database D, find all the data points </a:t>
            </a:r>
            <a:r>
              <a:rPr lang="en-US" sz="2000" b="1" dirty="0" smtClean="0"/>
              <a:t>x</a:t>
            </a:r>
            <a:r>
              <a:rPr lang="en-US" sz="2000" dirty="0" smtClean="0"/>
              <a:t> </a:t>
            </a:r>
            <a:r>
              <a:rPr lang="en-US" sz="2000" dirty="0" smtClean="0">
                <a:sym typeface="Symbol" pitchFamily="18" charset="2"/>
              </a:rPr>
              <a:t> D </a:t>
            </a:r>
            <a:r>
              <a:rPr lang="en-US" sz="2000" dirty="0" smtClean="0"/>
              <a:t>having the top-n largest anomaly scores f(</a:t>
            </a:r>
            <a:r>
              <a:rPr lang="en-US" sz="2000" b="1" dirty="0" smtClean="0"/>
              <a:t>x</a:t>
            </a:r>
            <a:r>
              <a:rPr lang="en-US" sz="2000" dirty="0" smtClean="0"/>
              <a:t>)</a:t>
            </a:r>
          </a:p>
          <a:p>
            <a:pPr lvl="1" eaLnBrk="1" hangingPunct="1">
              <a:defRPr/>
            </a:pPr>
            <a:r>
              <a:rPr lang="en-US" sz="2000" dirty="0" smtClean="0"/>
              <a:t>Given a database D, containing mostly normal (but unlabeled) data points, and a test point </a:t>
            </a:r>
            <a:r>
              <a:rPr lang="en-US" sz="2000" b="1" dirty="0" smtClean="0"/>
              <a:t>x</a:t>
            </a:r>
            <a:r>
              <a:rPr lang="en-US" sz="2000" dirty="0" smtClean="0"/>
              <a:t>, compute the anomaly score of </a:t>
            </a:r>
            <a:r>
              <a:rPr lang="en-US" sz="2000" b="1" dirty="0" smtClean="0"/>
              <a:t>x</a:t>
            </a:r>
            <a:r>
              <a:rPr lang="en-US" sz="2000" dirty="0" smtClean="0"/>
              <a:t> with respect to D</a:t>
            </a:r>
          </a:p>
          <a:p>
            <a:pPr>
              <a:defRPr/>
            </a:pPr>
            <a:r>
              <a:rPr lang="en-US" sz="2400" dirty="0"/>
              <a:t>Applications: </a:t>
            </a:r>
          </a:p>
          <a:p>
            <a:pPr lvl="1">
              <a:defRPr/>
            </a:pPr>
            <a:r>
              <a:rPr lang="en-US" sz="2000" dirty="0"/>
              <a:t>Credit card fraud detection, telecommunication fraud detection, network intrusion detection, fault detection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92505655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Importance of Anomaly Detection</a:t>
            </a: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143000"/>
            <a:ext cx="4648200" cy="5334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smtClean="0">
                <a:solidFill>
                  <a:srgbClr val="FF3300"/>
                </a:solidFill>
                <a:latin typeface="Calibri" pitchFamily="34" charset="0"/>
                <a:cs typeface="Calibri" pitchFamily="34" charset="0"/>
              </a:rPr>
              <a:t>Ozone Depletion History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In 1985 three researchers (Farman,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Gardinar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and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Shanklin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 were puzzled by data gathered by the British Antarctic Survey showing that ozone levels for Antarctica had dropped 10% below normal levels</a:t>
            </a:r>
          </a:p>
          <a:p>
            <a:pPr lvl="4" eaLnBrk="1" hangingPunct="1">
              <a:lnSpc>
                <a:spcPct val="90000"/>
              </a:lnSpc>
              <a:defRPr/>
            </a:pPr>
            <a:endParaRPr lang="en-US" sz="1400" dirty="0" smtClean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Why did the Nimbus 7 satellite, which had instruments aboard for recording ozone levels, not record similarly low ozone concentrations? </a:t>
            </a:r>
          </a:p>
          <a:p>
            <a:pPr lvl="4" eaLnBrk="1" hangingPunct="1">
              <a:lnSpc>
                <a:spcPct val="90000"/>
              </a:lnSpc>
              <a:defRPr/>
            </a:pPr>
            <a:endParaRPr lang="en-US" sz="1400" dirty="0" smtClean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The ozone concentrations recorded by the satellite were so low they were being treated as outliers by a computer program and discarded!</a:t>
            </a: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4724400" y="5257800"/>
            <a:ext cx="43434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lang="en-US" altLang="en-US" sz="1400" dirty="0"/>
              <a:t>Sources: </a:t>
            </a:r>
            <a:br>
              <a:rPr lang="en-US" altLang="en-US" sz="1400" dirty="0"/>
            </a:br>
            <a:r>
              <a:rPr lang="en-US" altLang="en-US" sz="1400" dirty="0" smtClean="0"/>
              <a:t>http</a:t>
            </a:r>
            <a:r>
              <a:rPr lang="en-US" altLang="en-US" sz="1400" dirty="0"/>
              <a:t>://exploringdata.cqu.edu.au/ozone.html </a:t>
            </a:r>
            <a:r>
              <a:rPr lang="en-US" altLang="en-US" sz="1400" dirty="0" smtClean="0"/>
              <a:t>  </a:t>
            </a:r>
            <a:r>
              <a:rPr lang="en-US" altLang="en-US" sz="1400" dirty="0"/>
              <a:t>http://www.epa.gov/ozone/science/hole/size.html</a:t>
            </a:r>
          </a:p>
        </p:txBody>
      </p:sp>
      <p:pic>
        <p:nvPicPr>
          <p:cNvPr id="48133" name="Picture 5" descr="holesiz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1447800"/>
            <a:ext cx="3084513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78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Anomaly Detection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4873625" cy="4495800"/>
          </a:xfrm>
        </p:spPr>
        <p:txBody>
          <a:bodyPr>
            <a:normAutofit fontScale="92500" lnSpcReduction="10000"/>
          </a:bodyPr>
          <a:lstStyle/>
          <a:p>
            <a:r>
              <a:rPr lang="en-US" sz="2800" smtClean="0"/>
              <a:t>Challenges</a:t>
            </a:r>
          </a:p>
          <a:p>
            <a:pPr lvl="1"/>
            <a:r>
              <a:rPr lang="en-US" sz="2400" smtClean="0"/>
              <a:t>How many outliers are there in the data?</a:t>
            </a:r>
          </a:p>
          <a:p>
            <a:pPr lvl="1"/>
            <a:r>
              <a:rPr lang="en-US" sz="2400" smtClean="0"/>
              <a:t>Method is unsupervised</a:t>
            </a:r>
          </a:p>
          <a:p>
            <a:pPr lvl="2"/>
            <a:r>
              <a:rPr lang="en-US" sz="2000" smtClean="0"/>
              <a:t> Validation can be quite challenging (just like for clustering)</a:t>
            </a:r>
          </a:p>
          <a:p>
            <a:pPr lvl="1"/>
            <a:r>
              <a:rPr lang="en-US" sz="2400" smtClean="0"/>
              <a:t>Finding needle in a haystack</a:t>
            </a:r>
          </a:p>
          <a:p>
            <a:r>
              <a:rPr lang="en-US" sz="2800" smtClean="0"/>
              <a:t>Working assumption:</a:t>
            </a:r>
          </a:p>
          <a:p>
            <a:pPr lvl="1"/>
            <a:r>
              <a:rPr lang="en-US" sz="2400" smtClean="0"/>
              <a:t>There are considerably more “normal” observations than “abnormal” observations (outliers/anomalies) in the data</a:t>
            </a:r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133600"/>
            <a:ext cx="35496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62000" y="6324600"/>
            <a:ext cx="7772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Picture Source: Presentation slides of Prof. </a:t>
            </a:r>
            <a:r>
              <a:rPr lang="en-US" dirty="0" err="1" smtClean="0"/>
              <a:t>Jaideep</a:t>
            </a:r>
            <a:r>
              <a:rPr lang="en-US" dirty="0" smtClean="0"/>
              <a:t> </a:t>
            </a:r>
            <a:r>
              <a:rPr lang="en-US" dirty="0" err="1" smtClean="0"/>
              <a:t>Srivastava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62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Causes of Anomalies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from</a:t>
            </a:r>
            <a:r>
              <a:rPr lang="en-US" dirty="0"/>
              <a:t> </a:t>
            </a:r>
            <a:r>
              <a:rPr lang="en-US" dirty="0" smtClean="0"/>
              <a:t>different</a:t>
            </a:r>
            <a:r>
              <a:rPr lang="en-US" dirty="0"/>
              <a:t> </a:t>
            </a:r>
            <a:r>
              <a:rPr lang="en-US" dirty="0" smtClean="0"/>
              <a:t>classes</a:t>
            </a:r>
            <a:endParaRPr lang="en-US" dirty="0"/>
          </a:p>
          <a:p>
            <a:pPr lvl="1"/>
            <a:r>
              <a:rPr lang="en-US" dirty="0" smtClean="0"/>
              <a:t>Measuring the weights of oranges, but a few grapefruit are mixed in</a:t>
            </a:r>
            <a:endParaRPr lang="en-US" dirty="0"/>
          </a:p>
          <a:p>
            <a:r>
              <a:rPr lang="en-US" dirty="0" smtClean="0"/>
              <a:t>Natural variation</a:t>
            </a:r>
            <a:endParaRPr lang="en-US" dirty="0"/>
          </a:p>
          <a:p>
            <a:pPr lvl="1"/>
            <a:r>
              <a:rPr lang="en-US" dirty="0" smtClean="0"/>
              <a:t>Unusually tall people</a:t>
            </a:r>
            <a:endParaRPr lang="en-US" dirty="0"/>
          </a:p>
          <a:p>
            <a:r>
              <a:rPr lang="en-US" dirty="0" smtClean="0"/>
              <a:t>Data errors</a:t>
            </a:r>
            <a:endParaRPr lang="en-US" dirty="0"/>
          </a:p>
          <a:p>
            <a:pPr lvl="1"/>
            <a:r>
              <a:rPr lang="en-US" dirty="0" smtClean="0"/>
              <a:t>200 pound 2 year old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870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025" y="3048000"/>
            <a:ext cx="4371975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1875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Anomaly Detection Schemes </a:t>
            </a:r>
          </a:p>
        </p:txBody>
      </p:sp>
      <p:sp>
        <p:nvSpPr>
          <p:cNvPr id="5918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-228600" y="1066800"/>
            <a:ext cx="9372600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smtClean="0"/>
              <a:t>General Steps</a:t>
            </a:r>
          </a:p>
          <a:p>
            <a:pPr lvl="1" eaLnBrk="1" hangingPunct="1">
              <a:defRPr/>
            </a:pPr>
            <a:r>
              <a:rPr lang="en-US" sz="2400" smtClean="0"/>
              <a:t>Build a profile of the “normal” behavior</a:t>
            </a:r>
          </a:p>
          <a:p>
            <a:pPr lvl="2" eaLnBrk="1" hangingPunct="1">
              <a:defRPr/>
            </a:pPr>
            <a:r>
              <a:rPr lang="en-US" sz="2000" smtClean="0"/>
              <a:t>Profile can be patterns or summary statistics for the overall population</a:t>
            </a:r>
          </a:p>
          <a:p>
            <a:pPr lvl="1" eaLnBrk="1" hangingPunct="1">
              <a:defRPr/>
            </a:pPr>
            <a:r>
              <a:rPr lang="en-US" sz="2400" smtClean="0"/>
              <a:t>Use the “normal” profile to detect anomalies</a:t>
            </a:r>
          </a:p>
          <a:p>
            <a:pPr lvl="2" eaLnBrk="1" hangingPunct="1">
              <a:defRPr/>
            </a:pPr>
            <a:r>
              <a:rPr lang="en-US" sz="2000" smtClean="0"/>
              <a:t>Anomalies are observations whose characteristics</a:t>
            </a:r>
            <a:br>
              <a:rPr lang="en-US" sz="2000" smtClean="0"/>
            </a:br>
            <a:r>
              <a:rPr lang="en-US" sz="2000" smtClean="0"/>
              <a:t>differ significantly from the normal profile</a:t>
            </a:r>
          </a:p>
          <a:p>
            <a:pPr lvl="1" eaLnBrk="1" hangingPunct="1">
              <a:defRPr/>
            </a:pPr>
            <a:endParaRPr lang="en-US" sz="2400" smtClean="0"/>
          </a:p>
          <a:p>
            <a:pPr eaLnBrk="1" hangingPunct="1">
              <a:defRPr/>
            </a:pPr>
            <a:r>
              <a:rPr lang="en-US" sz="2800" smtClean="0"/>
              <a:t>Types of anomaly detection </a:t>
            </a:r>
            <a:br>
              <a:rPr lang="en-US" sz="2800" smtClean="0"/>
            </a:br>
            <a:r>
              <a:rPr lang="en-US" sz="2800" smtClean="0"/>
              <a:t>schemes</a:t>
            </a:r>
          </a:p>
          <a:p>
            <a:pPr lvl="1" eaLnBrk="1" hangingPunct="1">
              <a:defRPr/>
            </a:pPr>
            <a:r>
              <a:rPr lang="en-US" sz="2400" smtClean="0"/>
              <a:t>Graphical &amp; Statistical-based</a:t>
            </a:r>
          </a:p>
          <a:p>
            <a:pPr lvl="1" eaLnBrk="1" hangingPunct="1">
              <a:defRPr/>
            </a:pPr>
            <a:r>
              <a:rPr lang="en-US" sz="2400" smtClean="0"/>
              <a:t>Distance-based</a:t>
            </a:r>
          </a:p>
          <a:p>
            <a:pPr lvl="1" eaLnBrk="1" hangingPunct="1">
              <a:defRPr/>
            </a:pPr>
            <a:r>
              <a:rPr lang="en-US" sz="2400" smtClean="0"/>
              <a:t>Model-based</a:t>
            </a:r>
          </a:p>
        </p:txBody>
      </p:sp>
      <p:sp>
        <p:nvSpPr>
          <p:cNvPr id="50181" name="Oval 5"/>
          <p:cNvSpPr>
            <a:spLocks noChangeArrowheads="1"/>
          </p:cNvSpPr>
          <p:nvPr/>
        </p:nvSpPr>
        <p:spPr bwMode="auto">
          <a:xfrm>
            <a:off x="5321300" y="4537075"/>
            <a:ext cx="177800" cy="161925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0182" name="Oval 6"/>
          <p:cNvSpPr>
            <a:spLocks noChangeArrowheads="1"/>
          </p:cNvSpPr>
          <p:nvPr/>
        </p:nvSpPr>
        <p:spPr bwMode="auto">
          <a:xfrm>
            <a:off x="7467600" y="4252913"/>
            <a:ext cx="381000" cy="3810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0183" name="Oval 7"/>
          <p:cNvSpPr>
            <a:spLocks noChangeArrowheads="1"/>
          </p:cNvSpPr>
          <p:nvPr/>
        </p:nvSpPr>
        <p:spPr bwMode="auto">
          <a:xfrm>
            <a:off x="8851900" y="5764213"/>
            <a:ext cx="177800" cy="161925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0184" name="Oval 8"/>
          <p:cNvSpPr>
            <a:spLocks noChangeArrowheads="1"/>
          </p:cNvSpPr>
          <p:nvPr/>
        </p:nvSpPr>
        <p:spPr bwMode="auto">
          <a:xfrm>
            <a:off x="6157913" y="5916613"/>
            <a:ext cx="177800" cy="161925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0185" name="Oval 9"/>
          <p:cNvSpPr>
            <a:spLocks noChangeArrowheads="1"/>
          </p:cNvSpPr>
          <p:nvPr/>
        </p:nvSpPr>
        <p:spPr bwMode="auto">
          <a:xfrm>
            <a:off x="5002213" y="4011613"/>
            <a:ext cx="177800" cy="161925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87176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Model‐Based Anomaly</a:t>
            </a:r>
            <a:br>
              <a:rPr lang="en-US" b="1" dirty="0"/>
            </a:br>
            <a:r>
              <a:rPr lang="en-US" b="1" dirty="0"/>
              <a:t>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Build a model for the data and see</a:t>
            </a:r>
          </a:p>
          <a:p>
            <a:pPr lvl="1"/>
            <a:r>
              <a:rPr lang="en-US" dirty="0" smtClean="0"/>
              <a:t>Unsupervised</a:t>
            </a:r>
            <a:endParaRPr lang="en-US" dirty="0"/>
          </a:p>
          <a:p>
            <a:pPr lvl="2"/>
            <a:r>
              <a:rPr lang="en-US" dirty="0" smtClean="0"/>
              <a:t>Anomalies </a:t>
            </a:r>
            <a:r>
              <a:rPr lang="en-US" dirty="0"/>
              <a:t>are those points that don’t fit well</a:t>
            </a:r>
          </a:p>
          <a:p>
            <a:pPr lvl="2"/>
            <a:r>
              <a:rPr lang="en-US" dirty="0" smtClean="0"/>
              <a:t>Anomalies </a:t>
            </a:r>
            <a:r>
              <a:rPr lang="en-US" dirty="0"/>
              <a:t>are those points that distort the model</a:t>
            </a:r>
          </a:p>
          <a:p>
            <a:pPr lvl="2"/>
            <a:r>
              <a:rPr lang="en-US" dirty="0" smtClean="0"/>
              <a:t>Examples</a:t>
            </a:r>
            <a:r>
              <a:rPr lang="en-US" dirty="0"/>
              <a:t>:</a:t>
            </a:r>
          </a:p>
          <a:p>
            <a:pPr lvl="3"/>
            <a:r>
              <a:rPr lang="en-US" dirty="0" smtClean="0"/>
              <a:t>Statistical </a:t>
            </a:r>
            <a:r>
              <a:rPr lang="en-US" dirty="0"/>
              <a:t>distribution</a:t>
            </a:r>
          </a:p>
          <a:p>
            <a:pPr lvl="3"/>
            <a:r>
              <a:rPr lang="en-US" dirty="0" smtClean="0"/>
              <a:t>Clusters</a:t>
            </a:r>
            <a:endParaRPr lang="en-US" dirty="0"/>
          </a:p>
          <a:p>
            <a:pPr lvl="3"/>
            <a:r>
              <a:rPr lang="en-US" dirty="0" smtClean="0"/>
              <a:t>Regression</a:t>
            </a:r>
            <a:endParaRPr lang="en-US" dirty="0"/>
          </a:p>
          <a:p>
            <a:pPr lvl="3"/>
            <a:r>
              <a:rPr lang="en-US" dirty="0" smtClean="0"/>
              <a:t>Geometric</a:t>
            </a:r>
            <a:endParaRPr lang="en-US" dirty="0"/>
          </a:p>
          <a:p>
            <a:pPr lvl="3"/>
            <a:r>
              <a:rPr lang="en-US" dirty="0" smtClean="0"/>
              <a:t>Graph</a:t>
            </a:r>
            <a:endParaRPr lang="en-US" dirty="0"/>
          </a:p>
          <a:p>
            <a:pPr lvl="1"/>
            <a:r>
              <a:rPr lang="en-US" dirty="0" smtClean="0"/>
              <a:t>Supervised</a:t>
            </a:r>
            <a:endParaRPr lang="en-US" dirty="0"/>
          </a:p>
          <a:p>
            <a:pPr lvl="2"/>
            <a:r>
              <a:rPr lang="en-US" dirty="0" smtClean="0"/>
              <a:t>Anomalies </a:t>
            </a:r>
            <a:r>
              <a:rPr lang="en-US" dirty="0"/>
              <a:t>are regarded as a rare class</a:t>
            </a:r>
          </a:p>
          <a:p>
            <a:pPr lvl="2"/>
            <a:r>
              <a:rPr lang="en-US" dirty="0" smtClean="0"/>
              <a:t>Need </a:t>
            </a:r>
            <a:r>
              <a:rPr lang="en-US" dirty="0"/>
              <a:t>to have training data</a:t>
            </a:r>
          </a:p>
        </p:txBody>
      </p:sp>
    </p:spTree>
    <p:extLst>
      <p:ext uri="{BB962C8B-B14F-4D97-AF65-F5344CB8AC3E}">
        <p14:creationId xmlns:p14="http://schemas.microsoft.com/office/powerpoint/2010/main" val="2172217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Additional Anomaly Detection</a:t>
            </a:r>
            <a:br>
              <a:rPr lang="en-US" b="1" dirty="0"/>
            </a:br>
            <a:r>
              <a:rPr lang="en-US" b="1" dirty="0"/>
              <a:t>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Proximity‐based</a:t>
            </a:r>
          </a:p>
          <a:p>
            <a:pPr lvl="1"/>
            <a:r>
              <a:rPr lang="en-US" dirty="0" smtClean="0"/>
              <a:t>Anomalies </a:t>
            </a:r>
            <a:r>
              <a:rPr lang="en-US" dirty="0"/>
              <a:t>are points far away from other points</a:t>
            </a:r>
          </a:p>
          <a:p>
            <a:pPr lvl="1"/>
            <a:r>
              <a:rPr lang="en-US" dirty="0" smtClean="0"/>
              <a:t>Can </a:t>
            </a:r>
            <a:r>
              <a:rPr lang="en-US" dirty="0"/>
              <a:t>detect this graphically in some cases</a:t>
            </a:r>
          </a:p>
          <a:p>
            <a:r>
              <a:rPr lang="en-US" dirty="0" smtClean="0"/>
              <a:t>Density‐based</a:t>
            </a:r>
            <a:endParaRPr lang="en-US" dirty="0"/>
          </a:p>
          <a:p>
            <a:pPr lvl="1"/>
            <a:r>
              <a:rPr lang="en-US" dirty="0" smtClean="0"/>
              <a:t>Low </a:t>
            </a:r>
            <a:r>
              <a:rPr lang="en-US" dirty="0"/>
              <a:t>density points are outliers</a:t>
            </a:r>
          </a:p>
          <a:p>
            <a:r>
              <a:rPr lang="en-US" dirty="0" smtClean="0"/>
              <a:t>Pattern </a:t>
            </a:r>
            <a:r>
              <a:rPr lang="en-US" dirty="0"/>
              <a:t>matching</a:t>
            </a:r>
          </a:p>
          <a:p>
            <a:pPr lvl="1"/>
            <a:r>
              <a:rPr lang="en-US" dirty="0" smtClean="0"/>
              <a:t>Create </a:t>
            </a:r>
            <a:r>
              <a:rPr lang="en-US" dirty="0"/>
              <a:t>profiles or templates of atypical but important events </a:t>
            </a:r>
            <a:r>
              <a:rPr lang="en-US" dirty="0" smtClean="0"/>
              <a:t>or objects</a:t>
            </a:r>
            <a:endParaRPr lang="en-US" dirty="0"/>
          </a:p>
          <a:p>
            <a:pPr lvl="1"/>
            <a:r>
              <a:rPr lang="en-US" dirty="0" smtClean="0"/>
              <a:t>Algorithms </a:t>
            </a:r>
            <a:r>
              <a:rPr lang="en-US" dirty="0"/>
              <a:t>to detect these patterns are usually simple and efficient</a:t>
            </a:r>
          </a:p>
        </p:txBody>
      </p:sp>
    </p:spTree>
    <p:extLst>
      <p:ext uri="{BB962C8B-B14F-4D97-AF65-F5344CB8AC3E}">
        <p14:creationId xmlns:p14="http://schemas.microsoft.com/office/powerpoint/2010/main" val="2608070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527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Distinction Between Noise and Anomalies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49069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Noise is erroneous, perhaps random, values or contaminating objects</a:t>
            </a:r>
          </a:p>
          <a:p>
            <a:pPr lvl="1"/>
            <a:r>
              <a:rPr lang="en-US" dirty="0" smtClean="0"/>
              <a:t>Weight recorded incorrectly </a:t>
            </a:r>
          </a:p>
          <a:p>
            <a:pPr lvl="1"/>
            <a:r>
              <a:rPr lang="en-US" dirty="0" smtClean="0"/>
              <a:t>Grapefruit mixed in with the oranges</a:t>
            </a:r>
          </a:p>
          <a:p>
            <a:pPr lvl="1"/>
            <a:endParaRPr lang="en-US" dirty="0"/>
          </a:p>
          <a:p>
            <a:r>
              <a:rPr lang="en-US" dirty="0" smtClean="0"/>
              <a:t>Noise doesn’t necessarily produce unusual values or objects</a:t>
            </a:r>
          </a:p>
          <a:p>
            <a:endParaRPr lang="en-US" dirty="0"/>
          </a:p>
          <a:p>
            <a:r>
              <a:rPr lang="en-US" dirty="0" smtClean="0"/>
              <a:t>Noise is not interesting 	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Anomalies may be interesting if they are not a result of  noise</a:t>
            </a:r>
            <a:endParaRPr lang="en-US" dirty="0"/>
          </a:p>
          <a:p>
            <a:r>
              <a:rPr lang="en-US" dirty="0" smtClean="0"/>
              <a:t>Noise and anomalies are related but distinct concepts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653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General Issues: Number of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Many anomalies are defined in terms of a single attribute</a:t>
            </a:r>
          </a:p>
          <a:p>
            <a:pPr lvl="1"/>
            <a:r>
              <a:rPr lang="en-US" dirty="0" smtClean="0"/>
              <a:t>Height</a:t>
            </a:r>
            <a:endParaRPr lang="en-US" dirty="0"/>
          </a:p>
          <a:p>
            <a:pPr lvl="1"/>
            <a:r>
              <a:rPr lang="en-US" dirty="0" smtClean="0"/>
              <a:t>Shape</a:t>
            </a:r>
            <a:endParaRPr lang="en-US" dirty="0"/>
          </a:p>
          <a:p>
            <a:pPr lvl="1"/>
            <a:r>
              <a:rPr lang="en-US" dirty="0" smtClean="0"/>
              <a:t>Color</a:t>
            </a:r>
            <a:endParaRPr lang="en-US" dirty="0"/>
          </a:p>
          <a:p>
            <a:r>
              <a:rPr lang="en-US" dirty="0" smtClean="0"/>
              <a:t>Can </a:t>
            </a:r>
            <a:r>
              <a:rPr lang="en-US" dirty="0"/>
              <a:t>be hard to find an anomaly using all attributes</a:t>
            </a:r>
          </a:p>
          <a:p>
            <a:pPr lvl="1"/>
            <a:r>
              <a:rPr lang="en-US" dirty="0" smtClean="0"/>
              <a:t>Noisy </a:t>
            </a:r>
            <a:r>
              <a:rPr lang="en-US" dirty="0"/>
              <a:t>or irrelevant attributes</a:t>
            </a:r>
          </a:p>
          <a:p>
            <a:pPr lvl="1"/>
            <a:r>
              <a:rPr lang="en-US" dirty="0" smtClean="0"/>
              <a:t>Object </a:t>
            </a:r>
            <a:r>
              <a:rPr lang="en-US" dirty="0"/>
              <a:t>is only anomalous with respect to some </a:t>
            </a:r>
            <a:r>
              <a:rPr lang="en-US" dirty="0" smtClean="0"/>
              <a:t>attributes</a:t>
            </a:r>
          </a:p>
          <a:p>
            <a:r>
              <a:rPr lang="en-US" dirty="0" smtClean="0"/>
              <a:t>However, an object may be anomalous  even if none of its attribute values are individually anomalous.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321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 Issues: Anomaly Scoring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Many anomaly detection techniques provide only </a:t>
            </a:r>
            <a:r>
              <a:rPr lang="en-US" dirty="0" smtClean="0"/>
              <a:t>a binary </a:t>
            </a:r>
            <a:r>
              <a:rPr lang="en-US" dirty="0"/>
              <a:t>categorization</a:t>
            </a:r>
          </a:p>
          <a:p>
            <a:pPr lvl="1"/>
            <a:r>
              <a:rPr lang="en-US" dirty="0" smtClean="0"/>
              <a:t>An </a:t>
            </a:r>
            <a:r>
              <a:rPr lang="en-US" dirty="0"/>
              <a:t>object is an anomaly or it isn’t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is especially true of classification‐based approaches</a:t>
            </a:r>
          </a:p>
          <a:p>
            <a:r>
              <a:rPr lang="en-US" dirty="0" smtClean="0"/>
              <a:t>Other </a:t>
            </a:r>
            <a:r>
              <a:rPr lang="en-US" dirty="0"/>
              <a:t>approaches assign a score to all points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score measures the degree to which an object is an anomaly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allows objects to be ranked</a:t>
            </a:r>
          </a:p>
          <a:p>
            <a:r>
              <a:rPr lang="en-US" dirty="0" smtClean="0"/>
              <a:t>In </a:t>
            </a:r>
            <a:r>
              <a:rPr lang="en-US" dirty="0"/>
              <a:t>the end, you often need a binary decision</a:t>
            </a:r>
          </a:p>
          <a:p>
            <a:pPr lvl="1"/>
            <a:r>
              <a:rPr lang="en-US" dirty="0" smtClean="0"/>
              <a:t>Should </a:t>
            </a:r>
            <a:r>
              <a:rPr lang="en-US" dirty="0"/>
              <a:t>this credit card transaction be flagged?</a:t>
            </a:r>
          </a:p>
          <a:p>
            <a:pPr lvl="1"/>
            <a:r>
              <a:rPr lang="en-US" dirty="0" smtClean="0"/>
              <a:t>Still </a:t>
            </a:r>
            <a:r>
              <a:rPr lang="en-US" dirty="0"/>
              <a:t>useful to have a score</a:t>
            </a:r>
          </a:p>
          <a:p>
            <a:r>
              <a:rPr lang="en-US" dirty="0" smtClean="0"/>
              <a:t>How </a:t>
            </a:r>
            <a:r>
              <a:rPr lang="en-US" dirty="0"/>
              <a:t>many anomalies are there?</a:t>
            </a:r>
          </a:p>
        </p:txBody>
      </p:sp>
    </p:spTree>
    <p:extLst>
      <p:ext uri="{BB962C8B-B14F-4D97-AF65-F5344CB8AC3E}">
        <p14:creationId xmlns:p14="http://schemas.microsoft.com/office/powerpoint/2010/main" val="3253781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Other Issues for Anomaly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Find all anomalies at once or one at a time</a:t>
            </a:r>
          </a:p>
          <a:p>
            <a:pPr lvl="1"/>
            <a:r>
              <a:rPr lang="en-US" dirty="0" smtClean="0"/>
              <a:t>Swamping</a:t>
            </a:r>
            <a:endParaRPr lang="en-US" dirty="0"/>
          </a:p>
          <a:p>
            <a:pPr lvl="1"/>
            <a:r>
              <a:rPr lang="en-US" dirty="0" smtClean="0"/>
              <a:t>Masking</a:t>
            </a:r>
            <a:endParaRPr lang="en-US" dirty="0"/>
          </a:p>
          <a:p>
            <a:r>
              <a:rPr lang="en-US" dirty="0" smtClean="0"/>
              <a:t>Evaluation</a:t>
            </a:r>
            <a:endParaRPr lang="en-US" dirty="0"/>
          </a:p>
          <a:p>
            <a:pPr lvl="1"/>
            <a:r>
              <a:rPr lang="en-US" dirty="0" smtClean="0"/>
              <a:t>How </a:t>
            </a:r>
            <a:r>
              <a:rPr lang="en-US" dirty="0"/>
              <a:t>do you measure performance?</a:t>
            </a:r>
          </a:p>
          <a:p>
            <a:pPr lvl="1"/>
            <a:r>
              <a:rPr lang="en-US" dirty="0" smtClean="0"/>
              <a:t>Supervised </a:t>
            </a:r>
            <a:r>
              <a:rPr lang="en-US" dirty="0"/>
              <a:t>vs. unsupervised situations</a:t>
            </a:r>
          </a:p>
          <a:p>
            <a:r>
              <a:rPr lang="en-US" dirty="0" smtClean="0"/>
              <a:t>Efficiency</a:t>
            </a:r>
            <a:endParaRPr lang="en-US" dirty="0"/>
          </a:p>
          <a:p>
            <a:r>
              <a:rPr lang="en-US" dirty="0" smtClean="0"/>
              <a:t>Context</a:t>
            </a:r>
            <a:endParaRPr lang="en-US" dirty="0"/>
          </a:p>
          <a:p>
            <a:pPr lvl="1"/>
            <a:r>
              <a:rPr lang="en-US" dirty="0" smtClean="0"/>
              <a:t>Professional </a:t>
            </a:r>
            <a:r>
              <a:rPr lang="en-US" dirty="0"/>
              <a:t>basketball team</a:t>
            </a:r>
          </a:p>
        </p:txBody>
      </p:sp>
    </p:spTree>
    <p:extLst>
      <p:ext uri="{BB962C8B-B14F-4D97-AF65-F5344CB8AC3E}">
        <p14:creationId xmlns:p14="http://schemas.microsoft.com/office/powerpoint/2010/main" val="1112214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Graphical Approaches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Boxplot (1-D), Scatter plot (2-D), Spin plot (3-D)</a:t>
            </a:r>
          </a:p>
          <a:p>
            <a:pPr eaLnBrk="1" hangingPunct="1">
              <a:defRPr/>
            </a:pPr>
            <a:r>
              <a:rPr lang="en-US" sz="2800" dirty="0" smtClean="0"/>
              <a:t>Limitations</a:t>
            </a:r>
          </a:p>
          <a:p>
            <a:pPr lvl="1" eaLnBrk="1" hangingPunct="1">
              <a:defRPr/>
            </a:pPr>
            <a:r>
              <a:rPr lang="en-US" sz="2400" dirty="0" smtClean="0"/>
              <a:t>Time consuming</a:t>
            </a:r>
          </a:p>
        </p:txBody>
      </p:sp>
      <p:pic>
        <p:nvPicPr>
          <p:cNvPr id="51204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30738" y="2595563"/>
            <a:ext cx="3473450" cy="2986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99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Convex Hull Method</a:t>
            </a:r>
          </a:p>
        </p:txBody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638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Extreme points are assumed to be outliers</a:t>
            </a:r>
          </a:p>
          <a:p>
            <a:pPr eaLnBrk="1" hangingPunct="1">
              <a:defRPr/>
            </a:pPr>
            <a:r>
              <a:rPr lang="en-US" dirty="0" smtClean="0"/>
              <a:t>Use convex hull method to detect extreme values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sz="800" dirty="0" smtClean="0"/>
          </a:p>
          <a:p>
            <a:pPr eaLnBrk="1" hangingPunct="1">
              <a:defRPr/>
            </a:pPr>
            <a:r>
              <a:rPr lang="en-US" dirty="0" smtClean="0"/>
              <a:t>What if the outlier occurs in the middle of the data?</a:t>
            </a:r>
          </a:p>
        </p:txBody>
      </p:sp>
      <p:pic>
        <p:nvPicPr>
          <p:cNvPr id="52228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2587625"/>
            <a:ext cx="6554788" cy="2593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44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Statistical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820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Probabilistic definition of an outlier: </a:t>
            </a:r>
            <a:r>
              <a:rPr lang="en-US" dirty="0"/>
              <a:t>An outlier is an object </a:t>
            </a:r>
            <a:r>
              <a:rPr lang="en-US" dirty="0" smtClean="0"/>
              <a:t>that has </a:t>
            </a:r>
            <a:r>
              <a:rPr lang="en-US" dirty="0"/>
              <a:t>a low probability with respect to a probability </a:t>
            </a:r>
            <a:r>
              <a:rPr lang="en-US" dirty="0" smtClean="0"/>
              <a:t>distribution model </a:t>
            </a:r>
            <a:r>
              <a:rPr lang="en-US" dirty="0"/>
              <a:t>of the data.</a:t>
            </a:r>
          </a:p>
          <a:p>
            <a:r>
              <a:rPr lang="en-US" dirty="0" smtClean="0"/>
              <a:t>Usually </a:t>
            </a:r>
            <a:r>
              <a:rPr lang="en-US" dirty="0"/>
              <a:t>assume a parametric model describing the </a:t>
            </a:r>
            <a:r>
              <a:rPr lang="en-US" dirty="0" smtClean="0"/>
              <a:t>distribution of </a:t>
            </a:r>
            <a:r>
              <a:rPr lang="en-US" dirty="0"/>
              <a:t>the data (e.g., normal distribution)</a:t>
            </a:r>
          </a:p>
          <a:p>
            <a:r>
              <a:rPr lang="en-US" dirty="0" smtClean="0"/>
              <a:t>Apply </a:t>
            </a:r>
            <a:r>
              <a:rPr lang="en-US" dirty="0"/>
              <a:t>a statistical test that depends on</a:t>
            </a:r>
          </a:p>
          <a:p>
            <a:pPr lvl="1"/>
            <a:r>
              <a:rPr lang="en-US" dirty="0" smtClean="0"/>
              <a:t>Data </a:t>
            </a:r>
            <a:r>
              <a:rPr lang="en-US" dirty="0"/>
              <a:t>distribution</a:t>
            </a:r>
          </a:p>
          <a:p>
            <a:pPr lvl="1"/>
            <a:r>
              <a:rPr lang="en-US" dirty="0" smtClean="0"/>
              <a:t>Parameters </a:t>
            </a:r>
            <a:r>
              <a:rPr lang="en-US" dirty="0"/>
              <a:t>of distribution (e.g., mean, variance)</a:t>
            </a:r>
          </a:p>
          <a:p>
            <a:pPr lvl="1"/>
            <a:r>
              <a:rPr lang="en-US" dirty="0" smtClean="0"/>
              <a:t>Number </a:t>
            </a:r>
            <a:r>
              <a:rPr lang="en-US" dirty="0"/>
              <a:t>of expected outliers (confidence limit)</a:t>
            </a:r>
          </a:p>
          <a:p>
            <a:r>
              <a:rPr lang="en-US" dirty="0" smtClean="0"/>
              <a:t>Issues</a:t>
            </a:r>
            <a:endParaRPr lang="en-US" dirty="0"/>
          </a:p>
          <a:p>
            <a:pPr lvl="1"/>
            <a:r>
              <a:rPr lang="en-US" dirty="0" smtClean="0"/>
              <a:t>Identifying </a:t>
            </a:r>
            <a:r>
              <a:rPr lang="en-US" dirty="0"/>
              <a:t>the distribution of a data set</a:t>
            </a:r>
          </a:p>
          <a:p>
            <a:pPr lvl="2"/>
            <a:r>
              <a:rPr lang="en-US" dirty="0" smtClean="0"/>
              <a:t>Heavy </a:t>
            </a:r>
            <a:r>
              <a:rPr lang="en-US" dirty="0"/>
              <a:t>tailed distribution</a:t>
            </a:r>
          </a:p>
          <a:p>
            <a:pPr lvl="1"/>
            <a:r>
              <a:rPr lang="en-US" dirty="0" smtClean="0"/>
              <a:t>Number </a:t>
            </a:r>
            <a:r>
              <a:rPr lang="en-US" dirty="0"/>
              <a:t>of attributes</a:t>
            </a:r>
          </a:p>
          <a:p>
            <a:pPr lvl="1"/>
            <a:r>
              <a:rPr lang="en-US" dirty="0" smtClean="0"/>
              <a:t>Is </a:t>
            </a:r>
            <a:r>
              <a:rPr lang="en-US" dirty="0"/>
              <a:t>the data a mixture of distributions?</a:t>
            </a:r>
          </a:p>
        </p:txBody>
      </p:sp>
    </p:spTree>
    <p:extLst>
      <p:ext uri="{BB962C8B-B14F-4D97-AF65-F5344CB8AC3E}">
        <p14:creationId xmlns:p14="http://schemas.microsoft.com/office/powerpoint/2010/main" val="715198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41782EA-56D8-44A1-BCE4-970E0CC52853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4648200" cy="11430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Outlier Discovery: Statistical Approaches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590800"/>
            <a:ext cx="8077200" cy="3810000"/>
          </a:xfrm>
        </p:spPr>
        <p:txBody>
          <a:bodyPr>
            <a:normAutofit lnSpcReduction="10000"/>
          </a:bodyPr>
          <a:lstStyle/>
          <a:p>
            <a:pPr>
              <a:buFont typeface="Monotype Sorts" pitchFamily="2" charset="2"/>
              <a:buChar char="f"/>
            </a:pPr>
            <a:r>
              <a:rPr lang="en-US" sz="2400" smtClean="0">
                <a:solidFill>
                  <a:srgbClr val="170981"/>
                </a:solidFill>
              </a:rPr>
              <a:t>Assume a model underlying distribution that generates data set (e.g. normal distribution) </a:t>
            </a:r>
          </a:p>
          <a:p>
            <a:r>
              <a:rPr lang="en-US" sz="2400" smtClean="0"/>
              <a:t>Use discordancy tests depending on </a:t>
            </a:r>
          </a:p>
          <a:p>
            <a:pPr lvl="1"/>
            <a:r>
              <a:rPr lang="en-US" sz="2400" smtClean="0"/>
              <a:t>data distribution</a:t>
            </a:r>
          </a:p>
          <a:p>
            <a:pPr lvl="1"/>
            <a:r>
              <a:rPr lang="en-US" sz="2400" smtClean="0"/>
              <a:t>distribution parameter (e.g., mean, variance)</a:t>
            </a:r>
          </a:p>
          <a:p>
            <a:pPr lvl="1"/>
            <a:r>
              <a:rPr lang="en-US" sz="2400" smtClean="0"/>
              <a:t>number of expected outliers</a:t>
            </a:r>
          </a:p>
          <a:p>
            <a:r>
              <a:rPr lang="en-US" sz="2400" smtClean="0"/>
              <a:t>Drawbacks</a:t>
            </a:r>
          </a:p>
          <a:p>
            <a:pPr lvl="1"/>
            <a:r>
              <a:rPr lang="en-US" sz="2400" smtClean="0"/>
              <a:t>most tests are for single attribute</a:t>
            </a:r>
          </a:p>
          <a:p>
            <a:pPr lvl="1"/>
            <a:r>
              <a:rPr lang="en-US" sz="2400" smtClean="0"/>
              <a:t>In many cases, data distribution may not be known</a:t>
            </a:r>
          </a:p>
        </p:txBody>
      </p:sp>
      <p:pic>
        <p:nvPicPr>
          <p:cNvPr id="26629" name="Picture 4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0"/>
            <a:ext cx="4572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98174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Grubbs’ Test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915400" cy="5638800"/>
          </a:xfrm>
        </p:spPr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Detect outliers in univariate data</a:t>
            </a:r>
          </a:p>
          <a:p>
            <a:pPr eaLnBrk="1" hangingPunct="1"/>
            <a:r>
              <a:rPr lang="en-US" altLang="en-US" smtClean="0">
                <a:effectLst/>
              </a:rPr>
              <a:t>Assume data comes from normal distribution</a:t>
            </a:r>
          </a:p>
          <a:p>
            <a:pPr eaLnBrk="1" hangingPunct="1"/>
            <a:r>
              <a:rPr lang="en-US" altLang="en-US" smtClean="0">
                <a:effectLst/>
              </a:rPr>
              <a:t>Detects one outlier at a time, remove the outlier, and repeat</a:t>
            </a:r>
          </a:p>
          <a:p>
            <a:pPr lvl="1" eaLnBrk="1" hangingPunct="1"/>
            <a:r>
              <a:rPr lang="en-US" altLang="en-US" smtClean="0">
                <a:effectLst/>
              </a:rPr>
              <a:t>H</a:t>
            </a:r>
            <a:r>
              <a:rPr lang="en-US" altLang="en-US" baseline="-25000" smtClean="0">
                <a:effectLst/>
              </a:rPr>
              <a:t>0</a:t>
            </a:r>
            <a:r>
              <a:rPr lang="en-US" altLang="en-US" smtClean="0">
                <a:effectLst/>
              </a:rPr>
              <a:t>: There is no outlier in data</a:t>
            </a:r>
          </a:p>
          <a:p>
            <a:pPr lvl="1" eaLnBrk="1" hangingPunct="1"/>
            <a:r>
              <a:rPr lang="en-US" altLang="en-US" smtClean="0">
                <a:effectLst/>
              </a:rPr>
              <a:t>H</a:t>
            </a:r>
            <a:r>
              <a:rPr lang="en-US" altLang="en-US" baseline="-25000" smtClean="0">
                <a:effectLst/>
              </a:rPr>
              <a:t>A</a:t>
            </a:r>
            <a:r>
              <a:rPr lang="en-US" altLang="en-US" smtClean="0">
                <a:effectLst/>
              </a:rPr>
              <a:t>: There is at least one outlier</a:t>
            </a:r>
          </a:p>
          <a:p>
            <a:pPr eaLnBrk="1" hangingPunct="1"/>
            <a:r>
              <a:rPr lang="en-US" altLang="en-US" smtClean="0">
                <a:effectLst/>
              </a:rPr>
              <a:t>Grubbs’ test statistic: </a:t>
            </a:r>
          </a:p>
          <a:p>
            <a:pPr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Reject H</a:t>
            </a:r>
            <a:r>
              <a:rPr lang="en-US" altLang="en-US" baseline="-25000" smtClean="0">
                <a:effectLst/>
              </a:rPr>
              <a:t>0</a:t>
            </a:r>
            <a:r>
              <a:rPr lang="en-US" altLang="en-US" smtClean="0">
                <a:effectLst/>
              </a:rPr>
              <a:t> if:</a:t>
            </a:r>
          </a:p>
        </p:txBody>
      </p:sp>
      <p:graphicFrame>
        <p:nvGraphicFramePr>
          <p:cNvPr id="54276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334000" y="4343400"/>
          <a:ext cx="22860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2" name="Equation" r:id="rId3" imgW="1054100" imgH="469900" progId="Equation.3">
                  <p:embed/>
                </p:oleObj>
              </mc:Choice>
              <mc:Fallback>
                <p:oleObj name="Equation" r:id="rId3" imgW="10541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343400"/>
                        <a:ext cx="2286000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048000" y="5410200"/>
          <a:ext cx="3886200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3" name="Equation" r:id="rId5" imgW="1828800" imgH="571500" progId="Equation.3">
                  <p:embed/>
                </p:oleObj>
              </mc:Choice>
              <mc:Fallback>
                <p:oleObj name="Equation" r:id="rId5" imgW="18288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410200"/>
                        <a:ext cx="3886200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010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Statistical-based–Likelihood Approach</a:t>
            </a:r>
          </a:p>
        </p:txBody>
      </p:sp>
      <p:sp>
        <p:nvSpPr>
          <p:cNvPr id="182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Assume the data set D contains samples from a mixture of two probability distributions:</a:t>
            </a:r>
            <a:r>
              <a:rPr lang="en-US" dirty="0" smtClean="0"/>
              <a:t> </a:t>
            </a:r>
          </a:p>
          <a:p>
            <a:pPr lvl="1" eaLnBrk="1" hangingPunct="1">
              <a:defRPr/>
            </a:pPr>
            <a:r>
              <a:rPr lang="en-US" sz="2400" dirty="0" smtClean="0"/>
              <a:t>M (majority distribution) </a:t>
            </a:r>
          </a:p>
          <a:p>
            <a:pPr lvl="1" eaLnBrk="1" hangingPunct="1">
              <a:defRPr/>
            </a:pPr>
            <a:r>
              <a:rPr lang="en-US" sz="2400" dirty="0" smtClean="0"/>
              <a:t>A (anomalous distribution)</a:t>
            </a:r>
          </a:p>
          <a:p>
            <a:pPr eaLnBrk="1" hangingPunct="1">
              <a:defRPr/>
            </a:pPr>
            <a:r>
              <a:rPr lang="en-US" sz="2800" dirty="0" smtClean="0"/>
              <a:t>General Approach:</a:t>
            </a:r>
          </a:p>
          <a:p>
            <a:pPr lvl="1" eaLnBrk="1" hangingPunct="1">
              <a:defRPr/>
            </a:pPr>
            <a:r>
              <a:rPr lang="en-US" sz="2400" dirty="0" smtClean="0"/>
              <a:t>Initially, assume all the data points belong to M</a:t>
            </a:r>
          </a:p>
          <a:p>
            <a:pPr lvl="1" eaLnBrk="1" hangingPunct="1">
              <a:defRPr/>
            </a:pPr>
            <a:r>
              <a:rPr lang="en-US" sz="2400" dirty="0" smtClean="0"/>
              <a:t>Let L</a:t>
            </a:r>
            <a:r>
              <a:rPr lang="en-US" sz="2400" baseline="-25000" dirty="0" smtClean="0"/>
              <a:t>t</a:t>
            </a:r>
            <a:r>
              <a:rPr lang="en-US" sz="2400" dirty="0" smtClean="0"/>
              <a:t>(D) be the log likelihood of D at time t</a:t>
            </a:r>
          </a:p>
          <a:p>
            <a:pPr lvl="1" eaLnBrk="1" hangingPunct="1">
              <a:defRPr/>
            </a:pPr>
            <a:r>
              <a:rPr lang="en-US" sz="2400" dirty="0" smtClean="0"/>
              <a:t>For each point </a:t>
            </a:r>
            <a:r>
              <a:rPr lang="en-US" sz="2400" dirty="0" err="1" smtClean="0"/>
              <a:t>x</a:t>
            </a:r>
            <a:r>
              <a:rPr lang="en-US" sz="2400" baseline="-25000" dirty="0" err="1" smtClean="0"/>
              <a:t>t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 pitchFamily="18" charset="2"/>
              </a:rPr>
              <a:t>that belongs to M, move it to A</a:t>
            </a:r>
            <a:endParaRPr lang="en-US" sz="2400" dirty="0" smtClean="0"/>
          </a:p>
          <a:p>
            <a:pPr lvl="2" eaLnBrk="1" hangingPunct="1">
              <a:defRPr/>
            </a:pPr>
            <a:r>
              <a:rPr lang="en-US" dirty="0" smtClean="0"/>
              <a:t> </a:t>
            </a:r>
            <a:r>
              <a:rPr lang="en-US" sz="2000" dirty="0" smtClean="0"/>
              <a:t>Let L</a:t>
            </a:r>
            <a:r>
              <a:rPr lang="en-US" sz="2000" baseline="-25000" dirty="0" smtClean="0"/>
              <a:t>t+1</a:t>
            </a:r>
            <a:r>
              <a:rPr lang="en-US" sz="2000" dirty="0" smtClean="0"/>
              <a:t> (D) be the new log likelihood.</a:t>
            </a:r>
          </a:p>
          <a:p>
            <a:pPr lvl="2" eaLnBrk="1" hangingPunct="1">
              <a:defRPr/>
            </a:pPr>
            <a:r>
              <a:rPr lang="en-US" sz="2000" dirty="0" smtClean="0"/>
              <a:t> Compute the difference, </a:t>
            </a:r>
            <a:r>
              <a:rPr lang="en-US" sz="2000" dirty="0" smtClean="0">
                <a:sym typeface="Symbol" pitchFamily="18" charset="2"/>
              </a:rPr>
              <a:t> = </a:t>
            </a:r>
            <a:r>
              <a:rPr lang="en-US" sz="2000" dirty="0" smtClean="0"/>
              <a:t>L</a:t>
            </a:r>
            <a:r>
              <a:rPr lang="en-US" sz="2000" baseline="-25000" dirty="0" smtClean="0"/>
              <a:t>t</a:t>
            </a:r>
            <a:r>
              <a:rPr lang="en-US" sz="2000" dirty="0" smtClean="0"/>
              <a:t>(D) – L</a:t>
            </a:r>
            <a:r>
              <a:rPr lang="en-US" sz="2000" baseline="-25000" dirty="0" smtClean="0"/>
              <a:t>t+1</a:t>
            </a:r>
            <a:r>
              <a:rPr lang="en-US" sz="2000" dirty="0" smtClean="0"/>
              <a:t> (D)</a:t>
            </a:r>
          </a:p>
          <a:p>
            <a:pPr lvl="2" eaLnBrk="1" hangingPunct="1">
              <a:defRPr/>
            </a:pPr>
            <a:r>
              <a:rPr lang="en-US" sz="2000" dirty="0" smtClean="0"/>
              <a:t> If </a:t>
            </a:r>
            <a:r>
              <a:rPr lang="en-US" sz="2000" dirty="0" smtClean="0">
                <a:sym typeface="Symbol" pitchFamily="18" charset="2"/>
              </a:rPr>
              <a:t></a:t>
            </a:r>
            <a:r>
              <a:rPr lang="en-US" sz="2000" dirty="0" smtClean="0"/>
              <a:t> &gt; c  (some threshold), then </a:t>
            </a:r>
            <a:r>
              <a:rPr lang="en-US" sz="2000" dirty="0" err="1" smtClean="0"/>
              <a:t>x</a:t>
            </a:r>
            <a:r>
              <a:rPr lang="en-US" sz="2000" baseline="-25000" dirty="0" err="1" smtClean="0"/>
              <a:t>t</a:t>
            </a:r>
            <a:r>
              <a:rPr lang="en-US" sz="2000" dirty="0" smtClean="0"/>
              <a:t> is declared as an anomaly and moved permanently from M to A</a:t>
            </a:r>
          </a:p>
        </p:txBody>
      </p:sp>
    </p:spTree>
    <p:extLst>
      <p:ext uri="{BB962C8B-B14F-4D97-AF65-F5344CB8AC3E}">
        <p14:creationId xmlns:p14="http://schemas.microsoft.com/office/powerpoint/2010/main" val="121534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Statistical‐based – Likelihood</a:t>
            </a:r>
            <a:br>
              <a:rPr lang="en-US" b="1" dirty="0"/>
            </a:br>
            <a:r>
              <a:rPr lang="en-US" b="1" dirty="0"/>
              <a:t>Approach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600200"/>
            <a:ext cx="8493026" cy="494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99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Strengths/Weaknesses of Statistical</a:t>
            </a:r>
            <a:br>
              <a:rPr lang="en-US" b="1" dirty="0"/>
            </a:br>
            <a:r>
              <a:rPr lang="en-US" b="1" dirty="0"/>
              <a:t>Approaches</a:t>
            </a:r>
            <a:endParaRPr lang="en-US" dirty="0" smtClean="0"/>
          </a:p>
        </p:txBody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Firm mathematical foundation</a:t>
            </a:r>
          </a:p>
          <a:p>
            <a:r>
              <a:rPr lang="en-US" dirty="0" smtClean="0"/>
              <a:t>Can </a:t>
            </a:r>
            <a:r>
              <a:rPr lang="en-US" dirty="0"/>
              <a:t>be very efficient</a:t>
            </a:r>
          </a:p>
          <a:p>
            <a:r>
              <a:rPr lang="en-US" dirty="0" smtClean="0"/>
              <a:t>Good </a:t>
            </a:r>
            <a:r>
              <a:rPr lang="en-US" dirty="0"/>
              <a:t>results if distribution is known</a:t>
            </a:r>
          </a:p>
          <a:p>
            <a:r>
              <a:rPr lang="en-US" dirty="0" smtClean="0"/>
              <a:t>In </a:t>
            </a:r>
            <a:r>
              <a:rPr lang="en-US" dirty="0"/>
              <a:t>many cases, data distribution may not be known</a:t>
            </a:r>
          </a:p>
          <a:p>
            <a:r>
              <a:rPr lang="en-US" dirty="0" smtClean="0"/>
              <a:t>For </a:t>
            </a:r>
            <a:r>
              <a:rPr lang="en-US" dirty="0"/>
              <a:t>high dimensional data, it may be difficult to </a:t>
            </a:r>
            <a:r>
              <a:rPr lang="en-US" dirty="0" smtClean="0"/>
              <a:t>estimate the </a:t>
            </a:r>
            <a:r>
              <a:rPr lang="en-US" dirty="0"/>
              <a:t>true distribution</a:t>
            </a:r>
          </a:p>
          <a:p>
            <a:r>
              <a:rPr lang="en-US" dirty="0" smtClean="0"/>
              <a:t>Anomalies </a:t>
            </a:r>
            <a:r>
              <a:rPr lang="en-US" dirty="0"/>
              <a:t>can distort the parameters of the distribution</a:t>
            </a: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Most of the tests are for a single attribute</a:t>
            </a:r>
          </a:p>
          <a:p>
            <a:pPr lvl="3"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699049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Distance‐Based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Several different techniques</a:t>
            </a:r>
          </a:p>
          <a:p>
            <a:r>
              <a:rPr lang="en-US" dirty="0" smtClean="0"/>
              <a:t>An </a:t>
            </a:r>
            <a:r>
              <a:rPr lang="en-US" dirty="0"/>
              <a:t>object is an outlier if a specified fraction of </a:t>
            </a:r>
            <a:r>
              <a:rPr lang="en-US" dirty="0" smtClean="0"/>
              <a:t>the objects </a:t>
            </a:r>
            <a:r>
              <a:rPr lang="en-US" dirty="0"/>
              <a:t>is more than a specified distance away (</a:t>
            </a:r>
            <a:r>
              <a:rPr lang="en-US" dirty="0" smtClean="0"/>
              <a:t>Knorr, Ng </a:t>
            </a:r>
            <a:r>
              <a:rPr lang="en-US" dirty="0"/>
              <a:t>1998)</a:t>
            </a:r>
          </a:p>
          <a:p>
            <a:pPr lvl="1"/>
            <a:r>
              <a:rPr lang="en-US" dirty="0" smtClean="0"/>
              <a:t>Some </a:t>
            </a:r>
            <a:r>
              <a:rPr lang="en-US" dirty="0"/>
              <a:t>statistical definitions are special cases of this</a:t>
            </a:r>
          </a:p>
          <a:p>
            <a:r>
              <a:rPr lang="en-US" dirty="0" smtClean="0"/>
              <a:t>The </a:t>
            </a:r>
            <a:r>
              <a:rPr lang="en-US" dirty="0"/>
              <a:t>outlier score of an object is the distance to its </a:t>
            </a:r>
            <a:r>
              <a:rPr lang="en-US" dirty="0" smtClean="0"/>
              <a:t>kth nearest </a:t>
            </a:r>
            <a:r>
              <a:rPr lang="en-US" dirty="0"/>
              <a:t>neighbor</a:t>
            </a:r>
          </a:p>
        </p:txBody>
      </p:sp>
    </p:spTree>
    <p:extLst>
      <p:ext uri="{BB962C8B-B14F-4D97-AF65-F5344CB8AC3E}">
        <p14:creationId xmlns:p14="http://schemas.microsoft.com/office/powerpoint/2010/main" val="215700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Distance-based Approaches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Data is represented as a vector of features</a:t>
            </a:r>
          </a:p>
          <a:p>
            <a:pPr lvl="4"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Three major approaches</a:t>
            </a:r>
          </a:p>
          <a:p>
            <a:pPr lvl="1" eaLnBrk="1" hangingPunct="1">
              <a:defRPr/>
            </a:pPr>
            <a:r>
              <a:rPr lang="en-US" smtClean="0"/>
              <a:t>Nearest-neighbor based</a:t>
            </a:r>
          </a:p>
          <a:p>
            <a:pPr lvl="1" eaLnBrk="1" hangingPunct="1">
              <a:defRPr/>
            </a:pPr>
            <a:r>
              <a:rPr lang="en-US" smtClean="0"/>
              <a:t>Density based</a:t>
            </a:r>
          </a:p>
          <a:p>
            <a:pPr lvl="1" eaLnBrk="1" hangingPunct="1">
              <a:defRPr/>
            </a:pPr>
            <a:r>
              <a:rPr lang="en-US" smtClean="0"/>
              <a:t>Clustering based</a:t>
            </a:r>
          </a:p>
          <a:p>
            <a:pPr lvl="4" eaLnBrk="1" hangingPunct="1">
              <a:buFont typeface="Wingdings" panose="05000000000000000000" pitchFamily="2" charset="2"/>
              <a:buNone/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8211323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Nearest-Neighbor Based Approach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495800"/>
          </a:xfrm>
        </p:spPr>
        <p:txBody>
          <a:bodyPr>
            <a:normAutofit fontScale="92500" lnSpcReduction="20000"/>
          </a:bodyPr>
          <a:lstStyle/>
          <a:p>
            <a:pPr marL="342900" indent="-342900"/>
            <a:r>
              <a:rPr lang="en-US" dirty="0" smtClean="0"/>
              <a:t>Approach:</a:t>
            </a:r>
          </a:p>
          <a:p>
            <a:pPr marL="742950" lvl="1" indent="-285750"/>
            <a:r>
              <a:rPr lang="en-US" dirty="0" smtClean="0"/>
              <a:t>Compute the distance between every pair of data points</a:t>
            </a:r>
          </a:p>
          <a:p>
            <a:pPr lvl="4"/>
            <a:r>
              <a:rPr lang="en-US" dirty="0" smtClean="0"/>
              <a:t>Outlier score of an object is given by the distance to its k-nearest neighbor</a:t>
            </a:r>
          </a:p>
          <a:p>
            <a:pPr marL="742950" lvl="1" indent="-285750"/>
            <a:r>
              <a:rPr lang="en-US" dirty="0" smtClean="0"/>
              <a:t>There are various ways to define outliers:</a:t>
            </a:r>
          </a:p>
          <a:p>
            <a:pPr marL="1143000" lvl="2"/>
            <a:r>
              <a:rPr lang="en-US" dirty="0" smtClean="0"/>
              <a:t>Data points for which there are fewer than </a:t>
            </a:r>
            <a:r>
              <a:rPr lang="en-US" i="1" dirty="0" smtClean="0"/>
              <a:t>p</a:t>
            </a:r>
            <a:r>
              <a:rPr lang="en-US" dirty="0" smtClean="0"/>
              <a:t> neighboring points within a distance </a:t>
            </a:r>
            <a:r>
              <a:rPr lang="en-US" i="1" dirty="0" smtClean="0"/>
              <a:t>D</a:t>
            </a:r>
          </a:p>
          <a:p>
            <a:pPr lvl="4"/>
            <a:endParaRPr lang="en-US" dirty="0" smtClean="0"/>
          </a:p>
          <a:p>
            <a:pPr marL="1143000" lvl="2"/>
            <a:r>
              <a:rPr lang="en-US" u="sng" dirty="0" smtClean="0"/>
              <a:t>The top n data points whose distance to the </a:t>
            </a:r>
            <a:r>
              <a:rPr lang="en-US" u="sng" dirty="0" err="1" smtClean="0"/>
              <a:t>kth</a:t>
            </a:r>
            <a:r>
              <a:rPr lang="en-US" u="sng" dirty="0" smtClean="0"/>
              <a:t> nearest neighbor is greatest</a:t>
            </a:r>
          </a:p>
          <a:p>
            <a:pPr lvl="4"/>
            <a:endParaRPr lang="en-US" dirty="0" smtClean="0"/>
          </a:p>
          <a:p>
            <a:pPr marL="1143000" lvl="2"/>
            <a:r>
              <a:rPr lang="en-US" dirty="0" smtClean="0"/>
              <a:t>The top n data points whose average distance to the k nearest neighbors is greatest </a:t>
            </a:r>
          </a:p>
          <a:p>
            <a:pPr marL="1143000" lvl="2">
              <a:buFont typeface="Wingdings" pitchFamily="2" charset="2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8125077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Nearest-Neighbor Based Approach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1676400"/>
            <a:ext cx="4194175" cy="46720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09600" y="19050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K=5</a:t>
            </a:r>
          </a:p>
        </p:txBody>
      </p:sp>
    </p:spTree>
    <p:extLst>
      <p:ext uri="{BB962C8B-B14F-4D97-AF65-F5344CB8AC3E}">
        <p14:creationId xmlns:p14="http://schemas.microsoft.com/office/powerpoint/2010/main" val="49159160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Nearest-Neighbor Based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1295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Approach highly sensitive to choice of K</a:t>
            </a:r>
          </a:p>
          <a:p>
            <a:r>
              <a:rPr lang="en-US" dirty="0" smtClean="0"/>
              <a:t>K=1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1676400"/>
            <a:ext cx="4152900" cy="46831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6110877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Nearest-Neighbor Based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1"/>
            <a:ext cx="1295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Approach highly sensitive to choice of K</a:t>
            </a:r>
          </a:p>
          <a:p>
            <a:r>
              <a:rPr lang="en-US" dirty="0" smtClean="0"/>
              <a:t>K=5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1752600"/>
            <a:ext cx="4402137" cy="48402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609600" y="3505200"/>
            <a:ext cx="1295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All points in smaller cluster have high Outlier Score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457200" y="533400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to reduce sensitivity on K?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621166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Complexity?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20049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Nearest-Neighbor Based Approach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1676400"/>
            <a:ext cx="4110037" cy="4714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6461248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Nearest-Neighbor Based Approach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495800"/>
          </a:xfrm>
        </p:spPr>
        <p:txBody>
          <a:bodyPr>
            <a:normAutofit/>
          </a:bodyPr>
          <a:lstStyle/>
          <a:p>
            <a:pPr marL="342900" indent="-342900"/>
            <a:r>
              <a:rPr lang="en-US" dirty="0" smtClean="0"/>
              <a:t>Strengths &amp; Weaknesses</a:t>
            </a:r>
          </a:p>
          <a:p>
            <a:pPr lvl="1" indent="-342900">
              <a:buNone/>
            </a:pPr>
            <a:r>
              <a:rPr lang="en-US" dirty="0" smtClean="0"/>
              <a:t>+ simple </a:t>
            </a:r>
          </a:p>
          <a:p>
            <a:pPr lvl="1" indent="-342900">
              <a:buFontTx/>
              <a:buChar char="-"/>
            </a:pPr>
            <a:r>
              <a:rPr lang="en-US" dirty="0" smtClean="0"/>
              <a:t>Complexity O(m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</a:p>
          <a:p>
            <a:pPr lvl="1" indent="-342900">
              <a:buFontTx/>
              <a:buChar char="-"/>
            </a:pPr>
            <a:r>
              <a:rPr lang="en-US" dirty="0" smtClean="0"/>
              <a:t>Sensitive to choice of parameters</a:t>
            </a:r>
          </a:p>
          <a:p>
            <a:pPr lvl="1" indent="-342900">
              <a:buFontTx/>
              <a:buChar char="-"/>
            </a:pPr>
            <a:r>
              <a:rPr lang="en-US" dirty="0" smtClean="0"/>
              <a:t>Wide density variations not handles properly (global thresholds are used)</a:t>
            </a:r>
          </a:p>
          <a:p>
            <a:pPr lvl="1"/>
            <a:r>
              <a:rPr lang="en-US" dirty="0"/>
              <a:t>Distance becomes less meaningful in </a:t>
            </a:r>
            <a:r>
              <a:rPr lang="en-US" dirty="0" smtClean="0"/>
              <a:t>high dimensional space</a:t>
            </a:r>
          </a:p>
          <a:p>
            <a:pPr marL="1143000" lvl="2">
              <a:buFont typeface="Wingdings" pitchFamily="2" charset="2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6004255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Density‐Based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Density‐based Outlier: </a:t>
            </a:r>
            <a:r>
              <a:rPr lang="en-US" dirty="0"/>
              <a:t>The outlier score of an </a:t>
            </a:r>
            <a:r>
              <a:rPr lang="en-US" dirty="0" smtClean="0"/>
              <a:t>object is </a:t>
            </a:r>
            <a:r>
              <a:rPr lang="en-US" dirty="0"/>
              <a:t>the inverse of the density around the object.</a:t>
            </a:r>
          </a:p>
          <a:p>
            <a:pPr lvl="1"/>
            <a:r>
              <a:rPr lang="en-US" dirty="0" smtClean="0"/>
              <a:t>Can </a:t>
            </a:r>
            <a:r>
              <a:rPr lang="en-US" dirty="0"/>
              <a:t>be defined in terms of the k nearest neighbors</a:t>
            </a:r>
          </a:p>
          <a:p>
            <a:pPr lvl="1"/>
            <a:r>
              <a:rPr lang="en-US" dirty="0" smtClean="0"/>
              <a:t>One </a:t>
            </a:r>
            <a:r>
              <a:rPr lang="en-US" dirty="0"/>
              <a:t>definition: Inverse of distance to kth neighbor</a:t>
            </a:r>
          </a:p>
          <a:p>
            <a:pPr lvl="1"/>
            <a:r>
              <a:rPr lang="en-US" dirty="0" smtClean="0"/>
              <a:t>Another </a:t>
            </a:r>
            <a:r>
              <a:rPr lang="en-US" dirty="0"/>
              <a:t>definition: Inverse of the average distance to k neighbors</a:t>
            </a:r>
          </a:p>
          <a:p>
            <a:pPr lvl="1"/>
            <a:r>
              <a:rPr lang="en-US" dirty="0" smtClean="0"/>
              <a:t>DBSCAN </a:t>
            </a:r>
            <a:r>
              <a:rPr lang="en-US" dirty="0"/>
              <a:t>definition</a:t>
            </a:r>
          </a:p>
          <a:p>
            <a:r>
              <a:rPr lang="en-US" dirty="0" smtClean="0"/>
              <a:t>If </a:t>
            </a:r>
            <a:r>
              <a:rPr lang="en-US" dirty="0"/>
              <a:t>there are regions of different density, this </a:t>
            </a:r>
            <a:r>
              <a:rPr lang="en-US" dirty="0" smtClean="0"/>
              <a:t>approach can </a:t>
            </a:r>
            <a:r>
              <a:rPr lang="en-US" dirty="0"/>
              <a:t>have problems</a:t>
            </a:r>
          </a:p>
        </p:txBody>
      </p:sp>
    </p:spTree>
    <p:extLst>
      <p:ext uri="{BB962C8B-B14F-4D97-AF65-F5344CB8AC3E}">
        <p14:creationId xmlns:p14="http://schemas.microsoft.com/office/powerpoint/2010/main" val="2508340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Relative Density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318" y="1143000"/>
            <a:ext cx="8229600" cy="4525963"/>
          </a:xfrm>
        </p:spPr>
        <p:txBody>
          <a:bodyPr/>
          <a:lstStyle/>
          <a:p>
            <a:r>
              <a:rPr lang="en-US" dirty="0"/>
              <a:t>Consider the density of a point relative to that of its </a:t>
            </a:r>
            <a:r>
              <a:rPr lang="en-US" dirty="0" smtClean="0"/>
              <a:t>k nearest </a:t>
            </a:r>
            <a:r>
              <a:rPr lang="en-US" dirty="0"/>
              <a:t>neighbors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19" y="2286000"/>
            <a:ext cx="8943881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696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744538"/>
            <a:ext cx="7939087" cy="536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89396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Density-based: LOF approach</a:t>
            </a:r>
          </a:p>
        </p:txBody>
      </p:sp>
      <p:sp>
        <p:nvSpPr>
          <p:cNvPr id="1815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763000" cy="2133600"/>
          </a:xfrm>
        </p:spPr>
        <p:txBody>
          <a:bodyPr/>
          <a:lstStyle/>
          <a:p>
            <a:pPr marL="342900" indent="-342900"/>
            <a:r>
              <a:rPr lang="en-US" sz="2400" dirty="0"/>
              <a:t>For each point, compute the density of its local neighborhood</a:t>
            </a:r>
          </a:p>
          <a:p>
            <a:pPr marL="342900" indent="-342900"/>
            <a:r>
              <a:rPr lang="en-US" sz="2400" dirty="0"/>
              <a:t>Compute local outlier factor (LOF) of a sample </a:t>
            </a:r>
            <a:r>
              <a:rPr lang="en-US" sz="2400" i="1" dirty="0"/>
              <a:t>p</a:t>
            </a:r>
            <a:r>
              <a:rPr lang="en-US" sz="2400" dirty="0"/>
              <a:t> as the average of the ratios of the density of sample </a:t>
            </a:r>
            <a:r>
              <a:rPr lang="en-US" sz="2400" i="1" dirty="0"/>
              <a:t>p</a:t>
            </a:r>
            <a:r>
              <a:rPr lang="en-US" sz="2400" dirty="0"/>
              <a:t> and the density of its nearest neighbors</a:t>
            </a:r>
          </a:p>
          <a:p>
            <a:pPr marL="342900" indent="-342900"/>
            <a:r>
              <a:rPr lang="en-US" sz="2400" dirty="0"/>
              <a:t>Outliers are points with largest LOF value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533400" y="3505200"/>
            <a:ext cx="3505200" cy="3001962"/>
            <a:chOff x="1626" y="1932"/>
            <a:chExt cx="3476" cy="2930"/>
          </a:xfrm>
        </p:grpSpPr>
        <p:pic>
          <p:nvPicPr>
            <p:cNvPr id="1815557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626" y="1932"/>
              <a:ext cx="3476" cy="2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15558" name="Text Box 6"/>
            <p:cNvSpPr txBox="1">
              <a:spLocks noChangeAspect="1" noChangeArrowheads="1"/>
            </p:cNvSpPr>
            <p:nvPr/>
          </p:nvSpPr>
          <p:spPr bwMode="auto">
            <a:xfrm>
              <a:off x="2460" y="3978"/>
              <a:ext cx="300" cy="48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i="1">
                  <a:solidFill>
                    <a:schemeClr val="hlink"/>
                  </a:solidFill>
                  <a:latin typeface="Times New Roman" pitchFamily="18" charset="0"/>
                </a:rPr>
                <a:t>  p</a:t>
              </a:r>
              <a:r>
                <a:rPr lang="en-US" i="1" baseline="-25000">
                  <a:solidFill>
                    <a:schemeClr val="hlink"/>
                  </a:solidFill>
                  <a:latin typeface="Times New Roman" pitchFamily="18" charset="0"/>
                </a:rPr>
                <a:t>2</a:t>
              </a:r>
              <a:endParaRPr lang="en-US" i="1">
                <a:solidFill>
                  <a:schemeClr val="hlink"/>
                </a:solidFill>
                <a:latin typeface="Times New Roman" pitchFamily="18" charset="0"/>
              </a:endParaRPr>
            </a:p>
            <a:p>
              <a:r>
                <a:rPr lang="en-US" sz="1000">
                  <a:solidFill>
                    <a:schemeClr val="hlink"/>
                  </a:solidFill>
                  <a:latin typeface="Times New Roman" pitchFamily="18" charset="0"/>
                  <a:sym typeface="Symbol" pitchFamily="18" charset="2"/>
                </a:rPr>
                <a:t></a:t>
              </a:r>
              <a:endParaRPr lang="en-US" sz="16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sp>
          <p:nvSpPr>
            <p:cNvPr id="1815559" name="Text Box 7"/>
            <p:cNvSpPr txBox="1">
              <a:spLocks noChangeAspect="1" noChangeArrowheads="1"/>
            </p:cNvSpPr>
            <p:nvPr/>
          </p:nvSpPr>
          <p:spPr bwMode="auto">
            <a:xfrm>
              <a:off x="3582" y="4194"/>
              <a:ext cx="438" cy="5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i="1">
                  <a:solidFill>
                    <a:schemeClr val="hlink"/>
                  </a:solidFill>
                  <a:latin typeface="Times New Roman" pitchFamily="18" charset="0"/>
                </a:rPr>
                <a:t>  p</a:t>
              </a:r>
              <a:r>
                <a:rPr lang="en-US" i="1" baseline="-25000">
                  <a:solidFill>
                    <a:schemeClr val="hlink"/>
                  </a:solidFill>
                  <a:latin typeface="Times New Roman" pitchFamily="18" charset="0"/>
                </a:rPr>
                <a:t>1</a:t>
              </a:r>
              <a:endParaRPr lang="en-US" i="1">
                <a:solidFill>
                  <a:schemeClr val="hlink"/>
                </a:solidFill>
                <a:latin typeface="Times New Roman" pitchFamily="18" charset="0"/>
              </a:endParaRPr>
            </a:p>
            <a:p>
              <a:r>
                <a:rPr lang="en-US" sz="1000">
                  <a:solidFill>
                    <a:schemeClr val="hlink"/>
                  </a:solidFill>
                  <a:latin typeface="Times New Roman" pitchFamily="18" charset="0"/>
                  <a:sym typeface="Symbol" pitchFamily="18" charset="2"/>
                </a:rPr>
                <a:t></a:t>
              </a:r>
              <a:endParaRPr lang="en-US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</p:grpSp>
      <p:sp>
        <p:nvSpPr>
          <p:cNvPr id="1815560" name="Text Box 8"/>
          <p:cNvSpPr txBox="1">
            <a:spLocks noChangeArrowheads="1"/>
          </p:cNvSpPr>
          <p:nvPr/>
        </p:nvSpPr>
        <p:spPr bwMode="auto">
          <a:xfrm>
            <a:off x="5181600" y="4114800"/>
            <a:ext cx="3352800" cy="13112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Tahoma" pitchFamily="34" charset="0"/>
              </a:rPr>
              <a:t>In the NN approach, p</a:t>
            </a:r>
            <a:r>
              <a:rPr lang="en-US" sz="2000" b="0" baseline="-25000">
                <a:latin typeface="Tahoma" pitchFamily="34" charset="0"/>
              </a:rPr>
              <a:t>2</a:t>
            </a:r>
            <a:r>
              <a:rPr lang="en-US" sz="2000" b="0">
                <a:latin typeface="Tahoma" pitchFamily="34" charset="0"/>
              </a:rPr>
              <a:t> is not considered as outlier, while LOF approach find both p</a:t>
            </a:r>
            <a:r>
              <a:rPr lang="en-US" sz="2000" b="0" baseline="-25000">
                <a:latin typeface="Tahoma" pitchFamily="34" charset="0"/>
              </a:rPr>
              <a:t>1</a:t>
            </a:r>
            <a:r>
              <a:rPr lang="en-US" sz="2000" b="0">
                <a:latin typeface="Tahoma" pitchFamily="34" charset="0"/>
              </a:rPr>
              <a:t> and p</a:t>
            </a:r>
            <a:r>
              <a:rPr lang="en-US" sz="2000" b="0" baseline="-25000">
                <a:latin typeface="Tahoma" pitchFamily="34" charset="0"/>
              </a:rPr>
              <a:t>2 </a:t>
            </a:r>
            <a:r>
              <a:rPr lang="en-US" sz="2000" b="0">
                <a:latin typeface="Tahoma" pitchFamily="34" charset="0"/>
              </a:rPr>
              <a:t>as outliers</a:t>
            </a:r>
          </a:p>
        </p:txBody>
      </p:sp>
    </p:spTree>
    <p:extLst>
      <p:ext uri="{BB962C8B-B14F-4D97-AF65-F5344CB8AC3E}">
        <p14:creationId xmlns:p14="http://schemas.microsoft.com/office/powerpoint/2010/main" val="2028147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Strengths/Weaknesses of Density‐Based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</a:t>
            </a:r>
          </a:p>
          <a:p>
            <a:r>
              <a:rPr lang="pt-BR" dirty="0" smtClean="0"/>
              <a:t>Expensive </a:t>
            </a:r>
            <a:r>
              <a:rPr lang="pt-BR" dirty="0"/>
              <a:t>– O(n2)</a:t>
            </a:r>
          </a:p>
          <a:p>
            <a:r>
              <a:rPr lang="en-US" dirty="0" smtClean="0"/>
              <a:t>Sensitive </a:t>
            </a:r>
            <a:r>
              <a:rPr lang="en-US" dirty="0"/>
              <a:t>to parameters</a:t>
            </a:r>
          </a:p>
          <a:p>
            <a:r>
              <a:rPr lang="en-US" dirty="0" smtClean="0"/>
              <a:t>Density </a:t>
            </a:r>
            <a:r>
              <a:rPr lang="en-US" dirty="0"/>
              <a:t>becomes less meaningful in </a:t>
            </a:r>
            <a:r>
              <a:rPr lang="en-US" dirty="0" smtClean="0"/>
              <a:t>high dimensional 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2181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ea typeface="SimSun" pitchFamily="2" charset="-122"/>
              </a:rPr>
              <a:t>Clustering-Based</a:t>
            </a:r>
          </a:p>
        </p:txBody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5257800" cy="453072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zh-CN" smtClean="0">
                <a:ea typeface="SimSun" pitchFamily="2" charset="-122"/>
              </a:rPr>
              <a:t>Basic idea:</a:t>
            </a:r>
          </a:p>
          <a:p>
            <a:pPr lvl="1" eaLnBrk="1" hangingPunct="1">
              <a:defRPr/>
            </a:pPr>
            <a:r>
              <a:rPr lang="en-US" altLang="zh-CN" smtClean="0">
                <a:ea typeface="SimSun" pitchFamily="2" charset="-122"/>
              </a:rPr>
              <a:t>Cluster the data into groups of different density</a:t>
            </a:r>
          </a:p>
          <a:p>
            <a:pPr lvl="1" eaLnBrk="1" hangingPunct="1">
              <a:defRPr/>
            </a:pPr>
            <a:r>
              <a:rPr lang="en-US" altLang="zh-CN" smtClean="0">
                <a:ea typeface="SimSun" pitchFamily="2" charset="-122"/>
              </a:rPr>
              <a:t>Choose points in small cluster as </a:t>
            </a:r>
            <a:r>
              <a:rPr lang="en-US" altLang="zh-CN" smtClean="0">
                <a:ea typeface="SimSun" pitchFamily="2" charset="-122"/>
                <a:sym typeface="Wingdings" pitchFamily="2" charset="2"/>
              </a:rPr>
              <a:t>candidate outliers</a:t>
            </a:r>
            <a:endParaRPr lang="en-US" altLang="zh-CN" smtClean="0">
              <a:ea typeface="SimSun" pitchFamily="2" charset="-122"/>
            </a:endParaRPr>
          </a:p>
          <a:p>
            <a:pPr lvl="1" eaLnBrk="1" hangingPunct="1">
              <a:defRPr/>
            </a:pPr>
            <a:r>
              <a:rPr lang="en-US" altLang="zh-CN" smtClean="0">
                <a:ea typeface="SimSun" pitchFamily="2" charset="-122"/>
              </a:rPr>
              <a:t>Compute the distance between candidate points and non-candidate clusters. </a:t>
            </a:r>
          </a:p>
          <a:p>
            <a:pPr lvl="2" eaLnBrk="1" hangingPunct="1">
              <a:defRPr/>
            </a:pPr>
            <a:r>
              <a:rPr lang="en-US" altLang="zh-CN" smtClean="0">
                <a:ea typeface="SimSun" pitchFamily="2" charset="-122"/>
              </a:rPr>
              <a:t>If candidate points are far from all other non-candidate points, they are outliers</a:t>
            </a:r>
          </a:p>
        </p:txBody>
      </p: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5410200" y="1905000"/>
            <a:ext cx="3733800" cy="3074988"/>
            <a:chOff x="3264" y="1231"/>
            <a:chExt cx="2352" cy="1937"/>
          </a:xfrm>
        </p:grpSpPr>
        <p:pic>
          <p:nvPicPr>
            <p:cNvPr id="59397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1231"/>
              <a:ext cx="2352" cy="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398" name="Oval 6"/>
            <p:cNvSpPr>
              <a:spLocks noChangeArrowheads="1"/>
            </p:cNvSpPr>
            <p:nvPr/>
          </p:nvSpPr>
          <p:spPr bwMode="auto">
            <a:xfrm>
              <a:off x="3552" y="2011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399" name="Oval 7"/>
            <p:cNvSpPr>
              <a:spLocks noChangeArrowheads="1"/>
            </p:cNvSpPr>
            <p:nvPr/>
          </p:nvSpPr>
          <p:spPr bwMode="auto">
            <a:xfrm>
              <a:off x="4752" y="1957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400" name="Oval 8"/>
            <p:cNvSpPr>
              <a:spLocks noChangeArrowheads="1"/>
            </p:cNvSpPr>
            <p:nvPr/>
          </p:nvSpPr>
          <p:spPr bwMode="auto">
            <a:xfrm>
              <a:off x="5424" y="2683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401" name="Oval 9"/>
            <p:cNvSpPr>
              <a:spLocks noChangeArrowheads="1"/>
            </p:cNvSpPr>
            <p:nvPr/>
          </p:nvSpPr>
          <p:spPr bwMode="auto">
            <a:xfrm>
              <a:off x="4016" y="2779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402" name="Oval 10"/>
            <p:cNvSpPr>
              <a:spLocks noChangeArrowheads="1"/>
            </p:cNvSpPr>
            <p:nvPr/>
          </p:nvSpPr>
          <p:spPr bwMode="auto">
            <a:xfrm>
              <a:off x="3392" y="1771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403" name="Line 11"/>
            <p:cNvSpPr>
              <a:spLocks noChangeShapeType="1"/>
            </p:cNvSpPr>
            <p:nvPr/>
          </p:nvSpPr>
          <p:spPr bwMode="auto">
            <a:xfrm flipH="1">
              <a:off x="4224" y="2011"/>
              <a:ext cx="576" cy="96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4" name="Line 12"/>
            <p:cNvSpPr>
              <a:spLocks noChangeShapeType="1"/>
            </p:cNvSpPr>
            <p:nvPr/>
          </p:nvSpPr>
          <p:spPr bwMode="auto">
            <a:xfrm>
              <a:off x="4800" y="2011"/>
              <a:ext cx="48" cy="768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5" name="Line 13"/>
            <p:cNvSpPr>
              <a:spLocks noChangeShapeType="1"/>
            </p:cNvSpPr>
            <p:nvPr/>
          </p:nvSpPr>
          <p:spPr bwMode="auto">
            <a:xfrm flipV="1">
              <a:off x="4800" y="1627"/>
              <a:ext cx="384" cy="384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6" name="Line 14"/>
            <p:cNvSpPr>
              <a:spLocks noChangeShapeType="1"/>
            </p:cNvSpPr>
            <p:nvPr/>
          </p:nvSpPr>
          <p:spPr bwMode="auto">
            <a:xfrm>
              <a:off x="4800" y="2011"/>
              <a:ext cx="672" cy="720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7" name="Line 15"/>
            <p:cNvSpPr>
              <a:spLocks noChangeShapeType="1"/>
            </p:cNvSpPr>
            <p:nvPr/>
          </p:nvSpPr>
          <p:spPr bwMode="auto">
            <a:xfrm flipH="1">
              <a:off x="3744" y="2011"/>
              <a:ext cx="1056" cy="336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44254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Clustering‐Based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Clustering‐based Outlier: </a:t>
            </a:r>
            <a:r>
              <a:rPr lang="en-US" dirty="0" smtClean="0"/>
              <a:t>An object </a:t>
            </a:r>
            <a:r>
              <a:rPr lang="en-US" dirty="0"/>
              <a:t>is a cluster‐based outlier </a:t>
            </a:r>
            <a:r>
              <a:rPr lang="en-US" dirty="0" smtClean="0"/>
              <a:t>if it </a:t>
            </a:r>
            <a:r>
              <a:rPr lang="en-US" dirty="0"/>
              <a:t>does not strongly belong to </a:t>
            </a:r>
            <a:r>
              <a:rPr lang="en-US" dirty="0" smtClean="0"/>
              <a:t>any cluster</a:t>
            </a:r>
            <a:endParaRPr lang="en-US" dirty="0"/>
          </a:p>
          <a:p>
            <a:pPr lvl="1"/>
            <a:r>
              <a:rPr lang="en-US" dirty="0" smtClean="0"/>
              <a:t>For </a:t>
            </a:r>
            <a:r>
              <a:rPr lang="en-US" dirty="0"/>
              <a:t>prototype‐based clusters, </a:t>
            </a:r>
            <a:r>
              <a:rPr lang="en-US" dirty="0" smtClean="0"/>
              <a:t>an object </a:t>
            </a:r>
            <a:r>
              <a:rPr lang="en-US" dirty="0"/>
              <a:t>is an outlier if it is not </a:t>
            </a:r>
            <a:r>
              <a:rPr lang="en-US" dirty="0" smtClean="0"/>
              <a:t>close enough </a:t>
            </a:r>
            <a:r>
              <a:rPr lang="en-US" dirty="0"/>
              <a:t>to a cluster center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density‐based clusters, an </a:t>
            </a:r>
            <a:r>
              <a:rPr lang="en-US" dirty="0" smtClean="0"/>
              <a:t>object is </a:t>
            </a:r>
            <a:r>
              <a:rPr lang="en-US" dirty="0"/>
              <a:t>an outlier if its density is too low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graph‐based clusters, an object </a:t>
            </a:r>
            <a:r>
              <a:rPr lang="en-US" dirty="0" smtClean="0"/>
              <a:t>is an </a:t>
            </a:r>
            <a:r>
              <a:rPr lang="en-US" dirty="0"/>
              <a:t>outlier if it is not well connected</a:t>
            </a:r>
          </a:p>
          <a:p>
            <a:r>
              <a:rPr lang="en-US" dirty="0" smtClean="0"/>
              <a:t>Other </a:t>
            </a:r>
            <a:r>
              <a:rPr lang="en-US" dirty="0"/>
              <a:t>issues include the impact </a:t>
            </a:r>
            <a:r>
              <a:rPr lang="en-US" dirty="0" smtClean="0"/>
              <a:t>of outliers </a:t>
            </a:r>
            <a:r>
              <a:rPr lang="en-US" dirty="0"/>
              <a:t>on the clusters and </a:t>
            </a:r>
            <a:r>
              <a:rPr lang="en-US" dirty="0" smtClean="0"/>
              <a:t>the number </a:t>
            </a:r>
            <a:r>
              <a:rPr lang="en-US" dirty="0"/>
              <a:t>of clusters</a:t>
            </a:r>
          </a:p>
        </p:txBody>
      </p:sp>
    </p:spTree>
    <p:extLst>
      <p:ext uri="{BB962C8B-B14F-4D97-AF65-F5344CB8AC3E}">
        <p14:creationId xmlns:p14="http://schemas.microsoft.com/office/powerpoint/2010/main" val="41631355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88" y="744538"/>
            <a:ext cx="7107237" cy="536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28785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581025"/>
            <a:ext cx="7065963" cy="569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15484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Strengths/Weaknesses of Cluster‐Based Approaches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</a:t>
            </a:r>
          </a:p>
          <a:p>
            <a:r>
              <a:rPr lang="en-US" dirty="0" smtClean="0"/>
              <a:t>Many </a:t>
            </a:r>
            <a:r>
              <a:rPr lang="en-US" dirty="0"/>
              <a:t>clustering techniques can be used</a:t>
            </a:r>
          </a:p>
          <a:p>
            <a:r>
              <a:rPr lang="en-US" dirty="0" smtClean="0"/>
              <a:t>Can </a:t>
            </a:r>
            <a:r>
              <a:rPr lang="en-US" dirty="0"/>
              <a:t>be difficult to decide on a clustering technique</a:t>
            </a:r>
          </a:p>
          <a:p>
            <a:r>
              <a:rPr lang="en-US" dirty="0" smtClean="0"/>
              <a:t>Can </a:t>
            </a:r>
            <a:r>
              <a:rPr lang="en-US" dirty="0"/>
              <a:t>be difficult to decide on number of clusters</a:t>
            </a:r>
          </a:p>
          <a:p>
            <a:r>
              <a:rPr lang="en-US" dirty="0" smtClean="0"/>
              <a:t>Outliers </a:t>
            </a:r>
            <a:r>
              <a:rPr lang="en-US" dirty="0"/>
              <a:t>can distort the clusters</a:t>
            </a:r>
          </a:p>
        </p:txBody>
      </p:sp>
    </p:spTree>
    <p:extLst>
      <p:ext uri="{BB962C8B-B14F-4D97-AF65-F5344CB8AC3E}">
        <p14:creationId xmlns:p14="http://schemas.microsoft.com/office/powerpoint/2010/main" val="4570314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87630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Outliers in Lower Dimensional Projection</a:t>
            </a:r>
          </a:p>
        </p:txBody>
      </p:sp>
      <p:sp>
        <p:nvSpPr>
          <p:cNvPr id="1818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dirty="0"/>
              <a:t>In high-dimensional space, data is sparse and notion of proximity becomes meaningless</a:t>
            </a:r>
          </a:p>
          <a:p>
            <a:pPr marL="742950" lvl="1" indent="-285750"/>
            <a:r>
              <a:rPr lang="en-US" dirty="0"/>
              <a:t>Every point is an almost equally good outlier from the perspective of proximity-based definitions</a:t>
            </a:r>
          </a:p>
          <a:p>
            <a:pPr marL="742950" lvl="1" indent="-285750"/>
            <a:endParaRPr lang="en-US" dirty="0"/>
          </a:p>
          <a:p>
            <a:pPr marL="342900" indent="-342900"/>
            <a:r>
              <a:rPr lang="en-US" dirty="0"/>
              <a:t>Lower-dimensional projection methods</a:t>
            </a:r>
          </a:p>
          <a:p>
            <a:pPr marL="742950" lvl="1" indent="-285750"/>
            <a:r>
              <a:rPr lang="en-US" dirty="0"/>
              <a:t>A point is an outlier if in some lower dimensional projection, it is present in a local region of abnormally low density</a:t>
            </a:r>
          </a:p>
        </p:txBody>
      </p:sp>
    </p:spTree>
    <p:extLst>
      <p:ext uri="{BB962C8B-B14F-4D97-AF65-F5344CB8AC3E}">
        <p14:creationId xmlns:p14="http://schemas.microsoft.com/office/powerpoint/2010/main" val="38311699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87630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Outliers in Lower Dimensional Projection</a:t>
            </a:r>
          </a:p>
        </p:txBody>
      </p:sp>
      <p:sp>
        <p:nvSpPr>
          <p:cNvPr id="183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/>
              <a:t>Divide each attribute into </a:t>
            </a:r>
            <a:r>
              <a:rPr lang="en-US">
                <a:sym typeface="Symbol" pitchFamily="18" charset="2"/>
              </a:rPr>
              <a:t> equal-depth intervals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Symbol" pitchFamily="18" charset="2"/>
              </a:rPr>
              <a:t>Each interval contains a fraction f = 1/ of the records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pitchFamily="18" charset="2"/>
              </a:rPr>
              <a:t>Consider a k-dimensional cube created by picking grid ranges from k different dimensions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Symbol" pitchFamily="18" charset="2"/>
              </a:rPr>
              <a:t>If attributes are independent, we expect region to contain a fraction f</a:t>
            </a:r>
            <a:r>
              <a:rPr lang="en-US" baseline="30000">
                <a:sym typeface="Symbol" pitchFamily="18" charset="2"/>
              </a:rPr>
              <a:t>k</a:t>
            </a:r>
            <a:r>
              <a:rPr lang="en-US">
                <a:sym typeface="Symbol" pitchFamily="18" charset="2"/>
              </a:rPr>
              <a:t> of the records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Symbol" pitchFamily="18" charset="2"/>
              </a:rPr>
              <a:t>If there are N points, we can measure sparsity of a cube D as:</a:t>
            </a:r>
          </a:p>
          <a:p>
            <a:pPr lvl="1">
              <a:lnSpc>
                <a:spcPct val="90000"/>
              </a:lnSpc>
            </a:pPr>
            <a:endParaRPr lang="en-US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endParaRPr lang="en-US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>
                <a:sym typeface="Symbol" pitchFamily="18" charset="2"/>
              </a:rPr>
              <a:t>Negative sparsity indicates cube contains smaller number of points than expected</a:t>
            </a:r>
          </a:p>
        </p:txBody>
      </p:sp>
      <p:pic>
        <p:nvPicPr>
          <p:cNvPr id="1830916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048000" y="4167188"/>
            <a:ext cx="3657600" cy="862012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265638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2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84628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N=100, </a:t>
            </a:r>
            <a:r>
              <a:rPr lang="en-US">
                <a:sym typeface="Symbol" pitchFamily="18" charset="2"/>
              </a:rPr>
              <a:t> = 5, f = 1/5 = 0.2, N  f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 = 4</a:t>
            </a:r>
          </a:p>
        </p:txBody>
      </p:sp>
      <p:pic>
        <p:nvPicPr>
          <p:cNvPr id="1846286" name="Picture 1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 l="11197" t="4977" r="6688" b="7932"/>
          <a:stretch>
            <a:fillRect/>
          </a:stretch>
        </p:blipFill>
        <p:spPr>
          <a:xfrm>
            <a:off x="1600200" y="2209800"/>
            <a:ext cx="5562600" cy="44243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226825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Base Rate Fallacy</a:t>
            </a:r>
          </a:p>
        </p:txBody>
      </p:sp>
      <p:sp>
        <p:nvSpPr>
          <p:cNvPr id="18339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4083050" cy="5181600"/>
          </a:xfrm>
        </p:spPr>
        <p:txBody>
          <a:bodyPr/>
          <a:lstStyle/>
          <a:p>
            <a:r>
              <a:rPr lang="en-US" sz="2400" dirty="0" err="1"/>
              <a:t>Bayes</a:t>
            </a:r>
            <a:r>
              <a:rPr lang="en-US" sz="2400" dirty="0"/>
              <a:t> theorem: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More generally: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833988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057400" y="3886200"/>
            <a:ext cx="6248400" cy="1468438"/>
          </a:xfrm>
          <a:noFill/>
          <a:ln/>
        </p:spPr>
      </p:pic>
      <p:pic>
        <p:nvPicPr>
          <p:cNvPr id="1833990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209800" y="1828800"/>
            <a:ext cx="3886200" cy="11985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290048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 Rate Fallacy (Axelsson, 1999)</a:t>
            </a:r>
          </a:p>
        </p:txBody>
      </p:sp>
      <p:pic>
        <p:nvPicPr>
          <p:cNvPr id="183706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62000" y="1447800"/>
            <a:ext cx="7543800" cy="4389438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54606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 Rate Fallacy</a:t>
            </a:r>
          </a:p>
        </p:txBody>
      </p:sp>
      <p:sp>
        <p:nvSpPr>
          <p:cNvPr id="184013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525963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Even though the test is 99% certain, your chance of having the disease is 1/100, because the population of healthy people is much larger than sick people</a:t>
            </a:r>
          </a:p>
        </p:txBody>
      </p:sp>
      <p:pic>
        <p:nvPicPr>
          <p:cNvPr id="1840132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324600" cy="1017588"/>
          </a:xfrm>
          <a:noFill/>
          <a:ln/>
        </p:spPr>
      </p:pic>
      <p:pic>
        <p:nvPicPr>
          <p:cNvPr id="1840134" name="Picture 6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066800" y="3048000"/>
            <a:ext cx="7086600" cy="1601788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74955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>
            <a:normAutofit fontScale="90000"/>
          </a:bodyPr>
          <a:lstStyle/>
          <a:p>
            <a:r>
              <a:rPr lang="en-US"/>
              <a:t>Base Rate Fallacy in Intrusion Detection</a:t>
            </a:r>
          </a:p>
        </p:txBody>
      </p:sp>
      <p:sp>
        <p:nvSpPr>
          <p:cNvPr id="185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     I: intrusive behavior, </a:t>
            </a:r>
            <a:br>
              <a:rPr lang="en-US"/>
            </a:br>
            <a:r>
              <a:rPr lang="en-US"/>
              <a:t>  </a:t>
            </a:r>
            <a:r>
              <a:rPr lang="en-US">
                <a:sym typeface="Symbol" pitchFamily="18" charset="2"/>
              </a:rPr>
              <a:t>I: non-intrusive behavior</a:t>
            </a:r>
            <a:br>
              <a:rPr lang="en-US">
                <a:sym typeface="Symbol" pitchFamily="18" charset="2"/>
              </a:rPr>
            </a:br>
            <a:r>
              <a:rPr lang="en-US">
                <a:sym typeface="Symbol" pitchFamily="18" charset="2"/>
              </a:rPr>
              <a:t>   A: alarm</a:t>
            </a:r>
            <a:br>
              <a:rPr lang="en-US">
                <a:sym typeface="Symbol" pitchFamily="18" charset="2"/>
              </a:rPr>
            </a:br>
            <a:r>
              <a:rPr lang="en-US">
                <a:sym typeface="Symbol" pitchFamily="18" charset="2"/>
              </a:rPr>
              <a:t> A: no alarm</a:t>
            </a:r>
          </a:p>
          <a:p>
            <a:pPr lvl="4"/>
            <a:endParaRPr lang="en-US">
              <a:sym typeface="Symbol" pitchFamily="18" charset="2"/>
            </a:endParaRPr>
          </a:p>
          <a:p>
            <a:r>
              <a:rPr lang="en-US">
                <a:sym typeface="Symbol" pitchFamily="18" charset="2"/>
              </a:rPr>
              <a:t>Detection rate (true positive rate): P(A|I)</a:t>
            </a:r>
          </a:p>
          <a:p>
            <a:r>
              <a:rPr lang="en-US">
                <a:sym typeface="Symbol" pitchFamily="18" charset="2"/>
              </a:rPr>
              <a:t>False alarm rate: P(A|I)</a:t>
            </a:r>
          </a:p>
          <a:p>
            <a:pPr lvl="4"/>
            <a:endParaRPr lang="en-US">
              <a:sym typeface="Symbol" pitchFamily="18" charset="2"/>
            </a:endParaRPr>
          </a:p>
          <a:p>
            <a:r>
              <a:rPr lang="en-US">
                <a:sym typeface="Symbol" pitchFamily="18" charset="2"/>
              </a:rPr>
              <a:t>Goal is to maximize both</a:t>
            </a:r>
          </a:p>
          <a:p>
            <a:pPr lvl="1"/>
            <a:r>
              <a:rPr lang="en-US">
                <a:sym typeface="Symbol" pitchFamily="18" charset="2"/>
              </a:rPr>
              <a:t>Bayesian detection rate, P(I|A) </a:t>
            </a:r>
          </a:p>
          <a:p>
            <a:pPr lvl="1"/>
            <a:r>
              <a:rPr lang="en-US">
                <a:sym typeface="Symbol" pitchFamily="18" charset="2"/>
              </a:rPr>
              <a:t>P(I|A) </a:t>
            </a:r>
          </a:p>
        </p:txBody>
      </p:sp>
    </p:spTree>
    <p:extLst>
      <p:ext uri="{BB962C8B-B14F-4D97-AF65-F5344CB8AC3E}">
        <p14:creationId xmlns:p14="http://schemas.microsoft.com/office/powerpoint/2010/main" val="256581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Detection Rate vs False Alarm Rate</a:t>
            </a:r>
          </a:p>
        </p:txBody>
      </p:sp>
      <p:sp>
        <p:nvSpPr>
          <p:cNvPr id="1855498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525963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Suppose:</a:t>
            </a:r>
          </a:p>
          <a:p>
            <a:endParaRPr lang="en-US" dirty="0"/>
          </a:p>
          <a:p>
            <a:r>
              <a:rPr lang="en-US" dirty="0"/>
              <a:t>Then: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False alarm rate becomes more dominant if P(I) is very low</a:t>
            </a:r>
          </a:p>
        </p:txBody>
      </p:sp>
      <p:pic>
        <p:nvPicPr>
          <p:cNvPr id="1855492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05000" y="1524000"/>
            <a:ext cx="5867400" cy="992188"/>
          </a:xfrm>
          <a:noFill/>
          <a:ln/>
        </p:spPr>
      </p:pic>
      <p:pic>
        <p:nvPicPr>
          <p:cNvPr id="1855494" name="Picture 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352800" y="2590800"/>
            <a:ext cx="3276600" cy="981075"/>
          </a:xfrm>
          <a:noFill/>
          <a:ln/>
        </p:spPr>
      </p:pic>
      <p:pic>
        <p:nvPicPr>
          <p:cNvPr id="1855496" name="Picture 8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2057400" y="3581400"/>
            <a:ext cx="5486400" cy="1050925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17760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2057</TotalTime>
  <Words>2022</Words>
  <Application>Microsoft Office PowerPoint</Application>
  <PresentationFormat>On-screen Show (4:3)</PresentationFormat>
  <Paragraphs>338</Paragraphs>
  <Slides>49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SimSun</vt:lpstr>
      <vt:lpstr>Arial</vt:lpstr>
      <vt:lpstr>Calibri</vt:lpstr>
      <vt:lpstr>Monotype Sorts</vt:lpstr>
      <vt:lpstr>Symbol</vt:lpstr>
      <vt:lpstr>Tahoma</vt:lpstr>
      <vt:lpstr>Times New Roman</vt:lpstr>
      <vt:lpstr>Wingdings</vt:lpstr>
      <vt:lpstr>Office Theme</vt:lpstr>
      <vt:lpstr>Equation</vt:lpstr>
      <vt:lpstr>ANOMALY DETECTION</vt:lpstr>
      <vt:lpstr>Anomaly</vt:lpstr>
      <vt:lpstr>Anomaly/Outlier Analysis</vt:lpstr>
      <vt:lpstr>Anomaly/Outlier Analysis</vt:lpstr>
      <vt:lpstr>Anomaly/Outlier Detection</vt:lpstr>
      <vt:lpstr>Importance of Anomaly Detection</vt:lpstr>
      <vt:lpstr>Anomaly Detection</vt:lpstr>
      <vt:lpstr>Causes of Anomalies </vt:lpstr>
      <vt:lpstr>Anomaly Detection Schemes </vt:lpstr>
      <vt:lpstr>Model‐Based Anomaly Detection</vt:lpstr>
      <vt:lpstr>Additional Anomaly Detection Techniques</vt:lpstr>
      <vt:lpstr>Distinction Between Noise and Anomalies </vt:lpstr>
      <vt:lpstr>General Issues: Number of Attributes</vt:lpstr>
      <vt:lpstr>General Issues: Anomaly Scoring</vt:lpstr>
      <vt:lpstr>Other Issues for Anomaly Detection</vt:lpstr>
      <vt:lpstr>Graphical Approaches</vt:lpstr>
      <vt:lpstr>Convex Hull Method</vt:lpstr>
      <vt:lpstr>Statistical Approaches</vt:lpstr>
      <vt:lpstr>Outlier Discovery: Statistical Approaches</vt:lpstr>
      <vt:lpstr>Grubbs’ Test</vt:lpstr>
      <vt:lpstr>Statistical-based–Likelihood Approach</vt:lpstr>
      <vt:lpstr>Statistical‐based – Likelihood Approach</vt:lpstr>
      <vt:lpstr>Strengths/Weaknesses of Statistical Approaches</vt:lpstr>
      <vt:lpstr>Distance‐Based Approaches</vt:lpstr>
      <vt:lpstr>Distance-based Approaches</vt:lpstr>
      <vt:lpstr>Nearest-Neighbor Based Approach</vt:lpstr>
      <vt:lpstr>Nearest-Neighbor Based Approach</vt:lpstr>
      <vt:lpstr>Nearest-Neighbor Based Approach</vt:lpstr>
      <vt:lpstr>Nearest-Neighbor Based Approach</vt:lpstr>
      <vt:lpstr>Nearest-Neighbor Based Approach</vt:lpstr>
      <vt:lpstr>Nearest-Neighbor Based Approach</vt:lpstr>
      <vt:lpstr>Density‐Based Approaches</vt:lpstr>
      <vt:lpstr>Relative Density</vt:lpstr>
      <vt:lpstr>PowerPoint Presentation</vt:lpstr>
      <vt:lpstr>Density-based: LOF approach</vt:lpstr>
      <vt:lpstr>Strengths/Weaknesses of Density‐Based Approaches</vt:lpstr>
      <vt:lpstr>Clustering-Based</vt:lpstr>
      <vt:lpstr>Clustering‐Based Approaches</vt:lpstr>
      <vt:lpstr>PowerPoint Presentation</vt:lpstr>
      <vt:lpstr>PowerPoint Presentation</vt:lpstr>
      <vt:lpstr>Strengths/Weaknesses of Cluster‐Based Approaches</vt:lpstr>
      <vt:lpstr>Outliers in Lower Dimensional Projection</vt:lpstr>
      <vt:lpstr>Outliers in Lower Dimensional Projection</vt:lpstr>
      <vt:lpstr>Example</vt:lpstr>
      <vt:lpstr>Base Rate Fallacy</vt:lpstr>
      <vt:lpstr>Base Rate Fallacy (Axelsson, 1999)</vt:lpstr>
      <vt:lpstr>Base Rate Fallacy</vt:lpstr>
      <vt:lpstr>Base Rate Fallacy in Intrusion Detection</vt:lpstr>
      <vt:lpstr>Detection Rate vs False Alarm Rate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User</cp:lastModifiedBy>
  <cp:revision>68</cp:revision>
  <dcterms:created xsi:type="dcterms:W3CDTF">2016-03-31T23:17:38Z</dcterms:created>
  <dcterms:modified xsi:type="dcterms:W3CDTF">2018-04-17T11:11:16Z</dcterms:modified>
</cp:coreProperties>
</file>