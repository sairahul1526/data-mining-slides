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82"/>
  </p:notesMasterIdLst>
  <p:handoutMasterIdLst>
    <p:handoutMasterId r:id="rId83"/>
  </p:handoutMasterIdLst>
  <p:sldIdLst>
    <p:sldId id="256" r:id="rId2"/>
    <p:sldId id="286" r:id="rId3"/>
    <p:sldId id="457" r:id="rId4"/>
    <p:sldId id="458" r:id="rId5"/>
    <p:sldId id="459" r:id="rId6"/>
    <p:sldId id="460" r:id="rId7"/>
    <p:sldId id="394" r:id="rId8"/>
    <p:sldId id="395" r:id="rId9"/>
    <p:sldId id="396" r:id="rId10"/>
    <p:sldId id="440" r:id="rId11"/>
    <p:sldId id="449" r:id="rId12"/>
    <p:sldId id="454" r:id="rId13"/>
    <p:sldId id="455" r:id="rId14"/>
    <p:sldId id="450" r:id="rId15"/>
    <p:sldId id="451" r:id="rId16"/>
    <p:sldId id="452" r:id="rId17"/>
    <p:sldId id="453" r:id="rId18"/>
    <p:sldId id="441" r:id="rId19"/>
    <p:sldId id="442" r:id="rId20"/>
    <p:sldId id="443" r:id="rId21"/>
    <p:sldId id="444" r:id="rId22"/>
    <p:sldId id="445" r:id="rId23"/>
    <p:sldId id="446" r:id="rId24"/>
    <p:sldId id="456" r:id="rId25"/>
    <p:sldId id="447" r:id="rId26"/>
    <p:sldId id="448" r:id="rId27"/>
    <p:sldId id="384" r:id="rId28"/>
    <p:sldId id="461" r:id="rId29"/>
    <p:sldId id="462" r:id="rId30"/>
    <p:sldId id="438" r:id="rId31"/>
    <p:sldId id="439" r:id="rId32"/>
    <p:sldId id="385" r:id="rId33"/>
    <p:sldId id="386" r:id="rId34"/>
    <p:sldId id="387" r:id="rId35"/>
    <p:sldId id="388" r:id="rId36"/>
    <p:sldId id="389" r:id="rId37"/>
    <p:sldId id="390" r:id="rId38"/>
    <p:sldId id="391" r:id="rId39"/>
    <p:sldId id="392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  <p:sldId id="409" r:id="rId53"/>
    <p:sldId id="410" r:id="rId54"/>
    <p:sldId id="411" r:id="rId55"/>
    <p:sldId id="412" r:id="rId56"/>
    <p:sldId id="413" r:id="rId57"/>
    <p:sldId id="414" r:id="rId58"/>
    <p:sldId id="415" r:id="rId59"/>
    <p:sldId id="416" r:id="rId60"/>
    <p:sldId id="417" r:id="rId61"/>
    <p:sldId id="418" r:id="rId62"/>
    <p:sldId id="419" r:id="rId63"/>
    <p:sldId id="420" r:id="rId64"/>
    <p:sldId id="421" r:id="rId65"/>
    <p:sldId id="422" r:id="rId66"/>
    <p:sldId id="423" r:id="rId67"/>
    <p:sldId id="424" r:id="rId68"/>
    <p:sldId id="425" r:id="rId69"/>
    <p:sldId id="426" r:id="rId70"/>
    <p:sldId id="427" r:id="rId71"/>
    <p:sldId id="428" r:id="rId72"/>
    <p:sldId id="429" r:id="rId73"/>
    <p:sldId id="430" r:id="rId74"/>
    <p:sldId id="431" r:id="rId75"/>
    <p:sldId id="432" r:id="rId76"/>
    <p:sldId id="433" r:id="rId77"/>
    <p:sldId id="434" r:id="rId78"/>
    <p:sldId id="435" r:id="rId79"/>
    <p:sldId id="436" r:id="rId80"/>
    <p:sldId id="437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67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png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29-Jan-18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29-Jan-18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CE268480-B186-4615-83AC-243B0A815DBC}" type="slidenum">
              <a:rPr lang="tr-TR" altLang="en-US" sz="1300">
                <a:latin typeface="Arial" panose="020B0604020202020204" pitchFamily="34" charset="0"/>
              </a:rPr>
              <a:pPr eaLnBrk="1" hangingPunct="1"/>
              <a:t>3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027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24C4AA7E-4871-4FD2-9E3D-4211CA707EF8}" type="slidenum">
              <a:rPr lang="tr-TR" altLang="en-US" sz="1300">
                <a:latin typeface="Arial" panose="020B0604020202020204" pitchFamily="34" charset="0"/>
              </a:rPr>
              <a:pPr eaLnBrk="1" hangingPunct="1"/>
              <a:t>4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60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F9ACE401-96B9-4407-9EB2-DF8D569E2881}" type="slidenum">
              <a:rPr lang="tr-TR" altLang="en-US" sz="1300">
                <a:latin typeface="Arial" panose="020B0604020202020204" pitchFamily="34" charset="0"/>
              </a:rPr>
              <a:pPr eaLnBrk="1" hangingPunct="1"/>
              <a:t>5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446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AD7E1F3B-4186-490F-A060-15876D988205}" type="slidenum">
              <a:rPr lang="tr-TR" altLang="en-US" sz="1300">
                <a:latin typeface="Arial" panose="020B0604020202020204" pitchFamily="34" charset="0"/>
              </a:rPr>
              <a:pPr eaLnBrk="1" hangingPunct="1"/>
              <a:t>6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831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214305-8173-4E22-A2D8-9CD01784AC2A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4697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AFD699AA-94C9-4152-B146-C81669604614}" type="slidenum">
              <a:rPr lang="tr-TR" altLang="en-US" sz="1300">
                <a:latin typeface="Arial" panose="020B0604020202020204" pitchFamily="34" charset="0"/>
              </a:rPr>
              <a:pPr eaLnBrk="1" hangingPunct="1"/>
              <a:t>12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760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3A318BB1-E5BA-4CC9-B190-3B6D973BA74F}" type="slidenum">
              <a:rPr lang="tr-TR" altLang="en-US" sz="1300">
                <a:latin typeface="Arial" panose="020B0604020202020204" pitchFamily="34" charset="0"/>
              </a:rPr>
              <a:pPr eaLnBrk="1" hangingPunct="1"/>
              <a:t>13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145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C8309CF9-3452-41A3-9169-280FB235FC08}" type="slidenum">
              <a:rPr lang="tr-TR" altLang="en-US" sz="1300">
                <a:latin typeface="Arial" panose="020B0604020202020204" pitchFamily="34" charset="0"/>
              </a:rPr>
              <a:pPr eaLnBrk="1" hangingPunct="1"/>
              <a:t>15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846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922159B8-F6EA-407C-A760-8DAB9D495924}" type="slidenum">
              <a:rPr lang="tr-TR" altLang="en-US" sz="1300">
                <a:latin typeface="Arial" panose="020B0604020202020204" pitchFamily="34" charset="0"/>
              </a:rPr>
              <a:pPr eaLnBrk="1" hangingPunct="1"/>
              <a:t>16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22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BBE28F52-DFC3-4EFC-9A5F-7009E2B2E2B0}" type="slidenum">
              <a:rPr lang="tr-TR" altLang="en-US" sz="1300">
                <a:latin typeface="Arial" panose="020B0604020202020204" pitchFamily="34" charset="0"/>
              </a:rPr>
              <a:pPr eaLnBrk="1" hangingPunct="1"/>
              <a:t>17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13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B145125-B75A-47F0-A823-DF561350555A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18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6837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85C071-EEC7-495B-A387-4DB4DB7DC258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22490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260E781-85EB-4161-BE57-A1AB3A46F7E7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68010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FCF0B4-39AE-47D9-88B3-04234DB3E5CA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91405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A39394A-8F64-45E3-A590-440149CA5ABE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6503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04DEAC0-5895-479F-A51D-D1AA867AFB4A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5304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D2292769-AE34-40FF-A701-92FF1B372A0E}" type="slidenum">
              <a:rPr lang="tr-TR" altLang="en-US" sz="1300">
                <a:latin typeface="Arial" panose="020B0604020202020204" pitchFamily="34" charset="0"/>
              </a:rPr>
              <a:pPr eaLnBrk="1" hangingPunct="1"/>
              <a:t>24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804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1CE151-0B8D-46CC-86BF-C23E874D0754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21006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F4B6D9-22D6-4446-B819-C06BDD74C427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26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84539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4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325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7CF81383-3D45-4420-AE8C-8A4F92205F0A}" type="slidenum">
              <a:rPr lang="tr-TR" altLang="en-US" sz="1300">
                <a:latin typeface="Arial" panose="020B0604020202020204" pitchFamily="34" charset="0"/>
              </a:rPr>
              <a:pPr eaLnBrk="1" hangingPunct="1"/>
              <a:t>28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9189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E3C39F81-6F83-4DE0-857B-823D3BAF3D37}" type="slidenum">
              <a:rPr lang="tr-TR" altLang="en-US" sz="1300">
                <a:latin typeface="Arial" panose="020B0604020202020204" pitchFamily="34" charset="0"/>
              </a:rPr>
              <a:pPr eaLnBrk="1" hangingPunct="1"/>
              <a:t>29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28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2251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4162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347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2510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366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3DD6FA-A1AA-43C6-8C9B-FC82E12F185F}" type="slidenum">
              <a:rPr lang="en-US" altLang="en-US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33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29-Jan-18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29-Jan-18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29-Jan-18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29-Jan-18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29-Jan-18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22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274638"/>
            <a:ext cx="965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EF4FB-81B2-4331-BFDE-03EF6835E27C}" type="datetime5">
              <a:rPr lang="en-US" altLang="en-US" smtClean="0"/>
              <a:t>29-Jan-18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43FC3-610D-4B8C-82C8-1CDCD047E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8970518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867" y="76201"/>
            <a:ext cx="11362267" cy="701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1217" y="1066800"/>
            <a:ext cx="5571067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5" y="1066800"/>
            <a:ext cx="5573183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5" y="3771900"/>
            <a:ext cx="5573183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75542-AC61-4E09-ABFE-7BDFE771A4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59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8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2.png"/><Relationship Id="rId4" Type="http://schemas.openxmlformats.org/officeDocument/2006/relationships/image" Target="../media/image41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2.png"/><Relationship Id="rId4" Type="http://schemas.openxmlformats.org/officeDocument/2006/relationships/image" Target="../media/image4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2.png"/><Relationship Id="rId4" Type="http://schemas.openxmlformats.org/officeDocument/2006/relationships/image" Target="../media/image4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52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6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9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60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3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32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33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35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7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74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Data Preprocessing</a:t>
            </a:r>
          </a:p>
          <a:p>
            <a:pPr lvl="1"/>
            <a:r>
              <a:rPr lang="en-US" sz="3600" dirty="0" smtClean="0"/>
              <a:t>Dimensionality Reduction</a:t>
            </a:r>
          </a:p>
          <a:p>
            <a:pPr lvl="1"/>
            <a:r>
              <a:rPr lang="en-US" sz="3600" dirty="0" smtClean="0"/>
              <a:t>Feature Selection and Creation</a:t>
            </a:r>
          </a:p>
          <a:p>
            <a:pPr lvl="1"/>
            <a:r>
              <a:rPr lang="en-US" sz="3600" dirty="0" smtClean="0"/>
              <a:t>Discretization and </a:t>
            </a:r>
            <a:r>
              <a:rPr lang="en-US" sz="3600" dirty="0" err="1" smtClean="0"/>
              <a:t>Binarization</a:t>
            </a:r>
            <a:endParaRPr lang="en-US" sz="3600" dirty="0" smtClean="0"/>
          </a:p>
          <a:p>
            <a:pPr lvl="1"/>
            <a:r>
              <a:rPr lang="en-US" sz="3600" dirty="0" smtClean="0"/>
              <a:t>Variable Transformation</a:t>
            </a:r>
            <a:endParaRPr lang="en-US" sz="36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Dimensionality of 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DE810B98-AC4B-424B-B241-6CC0FBEB2771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079500" y="1219200"/>
            <a:ext cx="9740900" cy="51371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Number of Observables (e.g. age and income)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If number of observables is increased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More time to compute 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More  memory to store inputs and intermediate results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More complicated explanations (knowledge from learning) </a:t>
            </a:r>
          </a:p>
          <a:p>
            <a:pPr lvl="2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Regression from 100 vs. 2 parameters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 No simple visualization</a:t>
            </a:r>
          </a:p>
          <a:p>
            <a:pPr lvl="2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2D vs. 10D graph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b="1" dirty="0" smtClean="0"/>
              <a:t> Need much more data (curse of dimensionality</a:t>
            </a:r>
            <a:r>
              <a:rPr lang="en-US" b="1" dirty="0" smtClean="0"/>
              <a:t>)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29530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Dimensionality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5B1BCA90-96D8-4EC9-9023-BD4CB30AF221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4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01700" y="1117600"/>
            <a:ext cx="9388475" cy="4978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Some features (dimensions) bear little or nor useful information (e.g. color of hair for a car selection)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Can drop some features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Have to estimate which features can be dropped from data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Several features can be combined together without loss or even with gain of information (e.g. income of all family members for loan application)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Some features can be combined together</a:t>
            </a:r>
          </a:p>
          <a:p>
            <a:pPr marL="708660" lvl="1" indent="-342900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Have to estimate which features to combine from data</a:t>
            </a:r>
          </a:p>
        </p:txBody>
      </p:sp>
    </p:spTree>
    <p:extLst>
      <p:ext uri="{BB962C8B-B14F-4D97-AF65-F5344CB8AC3E}">
        <p14:creationId xmlns:p14="http://schemas.microsoft.com/office/powerpoint/2010/main" val="203225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tr-TR" altLang="en-US" smtClean="0"/>
              <a:t>Feature Selection vs Extraction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EA866A89-FC15-4A9F-83F8-8C5497C435A8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5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2396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55700" y="1219200"/>
            <a:ext cx="9134475" cy="4876800"/>
          </a:xfrm>
        </p:spPr>
        <p:txBody>
          <a:bodyPr/>
          <a:lstStyle/>
          <a:p>
            <a:pPr eaLnBrk="1" hangingPunct="1"/>
            <a:r>
              <a:rPr lang="tr-TR" altLang="en-US" dirty="0" smtClean="0"/>
              <a:t>Feature selection: Choosing </a:t>
            </a:r>
            <a:r>
              <a:rPr lang="tr-TR" altLang="en-US" i="1" dirty="0" smtClean="0"/>
              <a:t>k</a:t>
            </a:r>
            <a:r>
              <a:rPr lang="tr-TR" altLang="en-US" dirty="0" smtClean="0"/>
              <a:t>&lt;</a:t>
            </a:r>
            <a:r>
              <a:rPr lang="tr-TR" altLang="en-US" i="1" dirty="0" smtClean="0"/>
              <a:t>d</a:t>
            </a:r>
            <a:r>
              <a:rPr lang="tr-TR" altLang="en-US" dirty="0" smtClean="0"/>
              <a:t> important features, ignoring the remaining </a:t>
            </a:r>
            <a:r>
              <a:rPr lang="tr-TR" altLang="en-US" i="1" dirty="0" smtClean="0"/>
              <a:t>d</a:t>
            </a:r>
            <a:r>
              <a:rPr lang="tr-TR" altLang="en-US" dirty="0" smtClean="0"/>
              <a:t> – </a:t>
            </a:r>
            <a:r>
              <a:rPr lang="tr-TR" altLang="en-US" i="1" dirty="0" smtClean="0"/>
              <a:t>k</a:t>
            </a:r>
            <a:endParaRPr lang="tr-TR" altLang="en-US" dirty="0" smtClean="0"/>
          </a:p>
          <a:p>
            <a:pPr lvl="1" eaLnBrk="1" hangingPunct="1"/>
            <a:r>
              <a:rPr lang="tr-TR" altLang="en-US" dirty="0" smtClean="0"/>
              <a:t>Subset selection </a:t>
            </a:r>
            <a:r>
              <a:rPr lang="tr-TR" altLang="en-US" dirty="0" smtClean="0"/>
              <a:t>algorithms</a:t>
            </a:r>
            <a:endParaRPr lang="en-US" altLang="en-US" dirty="0" smtClean="0"/>
          </a:p>
          <a:p>
            <a:pPr lvl="1" eaLnBrk="1" hangingPunct="1"/>
            <a:endParaRPr lang="tr-TR" altLang="en-US" dirty="0" smtClean="0"/>
          </a:p>
          <a:p>
            <a:pPr eaLnBrk="1" hangingPunct="1"/>
            <a:r>
              <a:rPr lang="tr-TR" altLang="en-US" dirty="0" smtClean="0"/>
              <a:t>Feature extraction</a:t>
            </a:r>
            <a:r>
              <a:rPr lang="tr-TR" altLang="en-US" dirty="0" smtClean="0">
                <a:solidFill>
                  <a:schemeClr val="bg2"/>
                </a:solidFill>
              </a:rPr>
              <a:t>:</a:t>
            </a:r>
            <a:r>
              <a:rPr lang="tr-TR" altLang="en-US" dirty="0" smtClean="0"/>
              <a:t> Project the </a:t>
            </a:r>
            <a:r>
              <a:rPr lang="en-US" altLang="en-US" dirty="0" smtClean="0"/>
              <a:t> </a:t>
            </a:r>
            <a:r>
              <a:rPr lang="tr-TR" altLang="en-US" dirty="0" smtClean="0"/>
              <a:t>original </a:t>
            </a:r>
            <a:r>
              <a:rPr lang="tr-TR" altLang="en-US" i="1" dirty="0" smtClean="0"/>
              <a:t>x</a:t>
            </a:r>
            <a:r>
              <a:rPr lang="tr-TR" altLang="en-US" i="1" baseline="-25000" dirty="0" smtClean="0"/>
              <a:t>i</a:t>
            </a:r>
            <a:r>
              <a:rPr lang="tr-TR" altLang="en-US" dirty="0" smtClean="0"/>
              <a:t> , </a:t>
            </a:r>
            <a:r>
              <a:rPr lang="tr-TR" altLang="en-US" i="1" dirty="0" smtClean="0"/>
              <a:t>i </a:t>
            </a:r>
            <a:r>
              <a:rPr lang="tr-TR" altLang="en-US" dirty="0" smtClean="0"/>
              <a:t>=1,...,</a:t>
            </a:r>
            <a:r>
              <a:rPr lang="tr-TR" altLang="en-US" i="1" dirty="0" smtClean="0"/>
              <a:t>d</a:t>
            </a:r>
            <a:r>
              <a:rPr lang="tr-TR" altLang="en-US" dirty="0" smtClean="0"/>
              <a:t> dimensions to </a:t>
            </a:r>
            <a:r>
              <a:rPr lang="en-US" altLang="en-US" dirty="0" smtClean="0"/>
              <a:t> </a:t>
            </a:r>
            <a:r>
              <a:rPr lang="tr-TR" altLang="en-US" dirty="0" smtClean="0"/>
              <a:t>new </a:t>
            </a:r>
            <a:r>
              <a:rPr lang="tr-TR" altLang="en-US" i="1" dirty="0" smtClean="0"/>
              <a:t>k</a:t>
            </a:r>
            <a:r>
              <a:rPr lang="tr-TR" altLang="en-US" dirty="0" smtClean="0"/>
              <a:t>&lt;</a:t>
            </a:r>
            <a:r>
              <a:rPr lang="tr-TR" altLang="en-US" i="1" dirty="0" smtClean="0"/>
              <a:t>d</a:t>
            </a:r>
            <a:r>
              <a:rPr lang="tr-TR" altLang="en-US" dirty="0" smtClean="0"/>
              <a:t> dimensions, </a:t>
            </a:r>
            <a:r>
              <a:rPr lang="tr-TR" altLang="en-US" i="1" dirty="0" smtClean="0"/>
              <a:t>z</a:t>
            </a:r>
            <a:r>
              <a:rPr lang="tr-TR" altLang="en-US" i="1" baseline="-25000" dirty="0" smtClean="0"/>
              <a:t>j</a:t>
            </a:r>
            <a:r>
              <a:rPr lang="tr-TR" altLang="en-US" dirty="0" smtClean="0"/>
              <a:t> , </a:t>
            </a:r>
            <a:r>
              <a:rPr lang="tr-TR" altLang="en-US" i="1" dirty="0" smtClean="0"/>
              <a:t>j </a:t>
            </a:r>
            <a:r>
              <a:rPr lang="tr-TR" altLang="en-US" dirty="0" smtClean="0"/>
              <a:t>=1,...,</a:t>
            </a:r>
            <a:r>
              <a:rPr lang="tr-TR" altLang="en-US" i="1" dirty="0" smtClean="0"/>
              <a:t>k</a:t>
            </a:r>
          </a:p>
          <a:p>
            <a:pPr lvl="1" eaLnBrk="1" hangingPunct="1"/>
            <a:r>
              <a:rPr lang="tr-TR" altLang="en-US" dirty="0" smtClean="0"/>
              <a:t>Principal </a:t>
            </a:r>
            <a:r>
              <a:rPr lang="en-US" altLang="en-US" dirty="0" smtClean="0"/>
              <a:t>C</a:t>
            </a:r>
            <a:r>
              <a:rPr lang="tr-TR" altLang="en-US" dirty="0" smtClean="0"/>
              <a:t>omponents </a:t>
            </a:r>
            <a:r>
              <a:rPr lang="en-US" altLang="en-US" dirty="0" smtClean="0"/>
              <a:t>A</a:t>
            </a:r>
            <a:r>
              <a:rPr lang="tr-TR" altLang="en-US" dirty="0" smtClean="0"/>
              <a:t>nalysis (PCA)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L</a:t>
            </a:r>
            <a:r>
              <a:rPr lang="tr-TR" altLang="en-US" dirty="0" smtClean="0"/>
              <a:t>inear </a:t>
            </a:r>
            <a:r>
              <a:rPr lang="en-US" altLang="en-US" dirty="0" smtClean="0"/>
              <a:t>D</a:t>
            </a:r>
            <a:r>
              <a:rPr lang="tr-TR" altLang="en-US" dirty="0" smtClean="0"/>
              <a:t>iscriminant </a:t>
            </a:r>
            <a:r>
              <a:rPr lang="en-US" altLang="en-US" dirty="0" smtClean="0"/>
              <a:t>A</a:t>
            </a:r>
            <a:r>
              <a:rPr lang="tr-TR" altLang="en-US" dirty="0" smtClean="0"/>
              <a:t>nalysis (LDA)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F</a:t>
            </a:r>
            <a:r>
              <a:rPr lang="tr-TR" altLang="en-US" dirty="0" smtClean="0"/>
              <a:t>actor </a:t>
            </a:r>
            <a:r>
              <a:rPr lang="en-US" altLang="en-US" dirty="0" smtClean="0"/>
              <a:t>A</a:t>
            </a:r>
            <a:r>
              <a:rPr lang="tr-TR" altLang="en-US" dirty="0" smtClean="0"/>
              <a:t>nalysis (FA)</a:t>
            </a:r>
          </a:p>
        </p:txBody>
      </p:sp>
    </p:spTree>
    <p:extLst>
      <p:ext uri="{BB962C8B-B14F-4D97-AF65-F5344CB8AC3E}">
        <p14:creationId xmlns:p14="http://schemas.microsoft.com/office/powerpoint/2010/main" val="273236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Usage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1F7579B5-F235-4659-A49D-322FCFA703DA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6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168400" y="1219200"/>
            <a:ext cx="9385300" cy="51371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Have data of dimension d</a:t>
            </a:r>
          </a:p>
          <a:p>
            <a:pPr eaLnBrk="1" hangingPunct="1"/>
            <a:r>
              <a:rPr lang="en-US" altLang="en-US" dirty="0" smtClean="0"/>
              <a:t>Reduce dimensionality to k&lt;d</a:t>
            </a:r>
          </a:p>
          <a:p>
            <a:pPr lvl="1" eaLnBrk="1" hangingPunct="1"/>
            <a:r>
              <a:rPr lang="en-US" altLang="en-US" dirty="0" smtClean="0"/>
              <a:t>Discard unimportant features</a:t>
            </a:r>
          </a:p>
          <a:p>
            <a:pPr lvl="1" eaLnBrk="1" hangingPunct="1"/>
            <a:r>
              <a:rPr lang="en-US" altLang="en-US" dirty="0" smtClean="0"/>
              <a:t>Combine several features in one</a:t>
            </a:r>
          </a:p>
          <a:p>
            <a:pPr eaLnBrk="1" hangingPunct="1"/>
            <a:r>
              <a:rPr lang="en-US" altLang="en-US" dirty="0" smtClean="0"/>
              <a:t>Use resulting k-dimensional data set for</a:t>
            </a:r>
          </a:p>
          <a:p>
            <a:pPr lvl="1" eaLnBrk="1" hangingPunct="1"/>
            <a:r>
              <a:rPr lang="en-US" altLang="en-US" dirty="0" smtClean="0"/>
              <a:t>Learning for classification problem (e.g. parameters of probabilities P(</a:t>
            </a:r>
            <a:r>
              <a:rPr lang="en-US" altLang="en-US" dirty="0" err="1" smtClean="0"/>
              <a:t>x|C</a:t>
            </a:r>
            <a:r>
              <a:rPr lang="en-US" altLang="en-US" dirty="0" smtClean="0"/>
              <a:t>)</a:t>
            </a:r>
          </a:p>
          <a:p>
            <a:pPr lvl="1" eaLnBrk="1" hangingPunct="1"/>
            <a:r>
              <a:rPr lang="en-US" altLang="en-US" dirty="0" smtClean="0"/>
              <a:t>Learning for regression problem (e.g. parameters for model y=g(</a:t>
            </a:r>
            <a:r>
              <a:rPr lang="en-US" altLang="en-US" dirty="0" err="1" smtClean="0"/>
              <a:t>x|Thetha</a:t>
            </a:r>
            <a:r>
              <a:rPr lang="en-US" altLang="en-US" dirty="0" smtClean="0"/>
              <a:t>)</a:t>
            </a:r>
          </a:p>
          <a:p>
            <a:pPr lvl="1"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252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CFC02C-9026-4CEC-9302-6F2776DDE15B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12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Dimensionality Reduction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447800" y="1549400"/>
            <a:ext cx="9017000" cy="490220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Significant improvements can be achieved by first mapping the data into a </a:t>
            </a:r>
            <a:r>
              <a:rPr lang="en-US" sz="2400" i="1" dirty="0">
                <a:solidFill>
                  <a:srgbClr val="FF0000"/>
                </a:solidFill>
                <a:latin typeface="Arial" pitchFamily="34" charset="0"/>
              </a:rPr>
              <a:t>lower-dimensional</a:t>
            </a:r>
            <a:r>
              <a:rPr lang="en-US" sz="2400" i="1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space.</a:t>
            </a:r>
          </a:p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400" kern="0" dirty="0">
                <a:solidFill>
                  <a:srgbClr val="000000"/>
                </a:solidFill>
                <a:latin typeface="Arial"/>
              </a:rPr>
              <a:t>Dimensionality can be reduced by: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−"/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Combining features using a 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linear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 or 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non-linear </a:t>
            </a:r>
            <a:r>
              <a:rPr lang="en-US" sz="2000" kern="0" dirty="0">
                <a:latin typeface="Arial"/>
              </a:rPr>
              <a:t>transformations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−"/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Selecting a subset of features (i.e., 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feature selection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).</a:t>
            </a:r>
            <a:endParaRPr lang="en-US" sz="2800" kern="0" dirty="0">
              <a:solidFill>
                <a:srgbClr val="000000"/>
              </a:solidFill>
              <a:latin typeface="Arial"/>
            </a:endParaRP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endParaRPr lang="en-US" sz="2400" kern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93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1" y="2514601"/>
            <a:ext cx="5978525" cy="1216025"/>
          </a:xfrm>
        </p:spPr>
      </p:pic>
    </p:spTree>
    <p:extLst>
      <p:ext uri="{BB962C8B-B14F-4D97-AF65-F5344CB8AC3E}">
        <p14:creationId xmlns:p14="http://schemas.microsoft.com/office/powerpoint/2010/main" val="334548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Dimensionality Reduction (cont’d)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eaLnBrk="1" hangingPunct="1">
              <a:defRPr/>
            </a:pPr>
            <a:endParaRPr lang="en-US" altLang="en-US" sz="2400" dirty="0">
              <a:latin typeface="NimbusSanL-Regu"/>
            </a:endParaRPr>
          </a:p>
          <a:p>
            <a:pPr eaLnBrk="1" hangingPunct="1">
              <a:defRPr/>
            </a:pPr>
            <a:r>
              <a:rPr lang="en-US" sz="2400" dirty="0">
                <a:solidFill>
                  <a:srgbClr val="FF0000"/>
                </a:solidFill>
              </a:rPr>
              <a:t>Linear</a:t>
            </a:r>
            <a:r>
              <a:rPr lang="en-US" sz="2400" dirty="0">
                <a:solidFill>
                  <a:srgbClr val="000000"/>
                </a:solidFill>
              </a:rPr>
              <a:t> combinations are particularly attractive because they are simple to compute and analytically tractable.</a:t>
            </a:r>
            <a:endParaRPr lang="en-US" altLang="en-US" sz="2400" u="sng" dirty="0">
              <a:solidFill>
                <a:srgbClr val="FF0000"/>
              </a:solidFill>
              <a:latin typeface="NimbusSanL-Regu"/>
            </a:endParaRPr>
          </a:p>
          <a:p>
            <a:pPr eaLnBrk="1" hangingPunct="1">
              <a:defRPr/>
            </a:pPr>
            <a:endParaRPr lang="en-US" altLang="en-US" sz="2400" u="sng" dirty="0">
              <a:solidFill>
                <a:srgbClr val="FF0000"/>
              </a:solidFill>
              <a:latin typeface="NimbusSanL-Regu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NimbusSanL-Regu"/>
              </a:rPr>
              <a:t>Given 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x</a:t>
            </a:r>
            <a:r>
              <a:rPr lang="en-US" altLang="en-US" sz="2400" dirty="0">
                <a:latin typeface="CMBX12"/>
              </a:rPr>
              <a:t> </a:t>
            </a:r>
            <a:r>
              <a:rPr lang="el-GR" altLang="en-US" sz="2400" dirty="0">
                <a:latin typeface="CMBX12"/>
              </a:rPr>
              <a:t>ϵ</a:t>
            </a:r>
            <a:r>
              <a:rPr lang="en-US" altLang="en-US" sz="2400" dirty="0">
                <a:latin typeface="CMBX12"/>
              </a:rPr>
              <a:t> </a:t>
            </a:r>
            <a:r>
              <a:rPr lang="en-US" altLang="en-US" sz="2400" dirty="0">
                <a:latin typeface="MSBM10"/>
              </a:rPr>
              <a:t>R</a:t>
            </a:r>
            <a:r>
              <a:rPr lang="en-US" altLang="en-US" sz="2400" baseline="30000" dirty="0">
                <a:latin typeface="MSBM10"/>
              </a:rPr>
              <a:t>N</a:t>
            </a:r>
            <a:r>
              <a:rPr lang="en-US" altLang="en-US" sz="2400" dirty="0">
                <a:latin typeface="NimbusSanL-Regu"/>
              </a:rPr>
              <a:t>, the goal is to find an N x K matrix </a:t>
            </a:r>
            <a:r>
              <a:rPr lang="en-US" altLang="en-US" sz="2400" dirty="0">
                <a:solidFill>
                  <a:srgbClr val="FF0000"/>
                </a:solidFill>
                <a:latin typeface="NimbusSanL-Regu"/>
              </a:rPr>
              <a:t>U</a:t>
            </a:r>
            <a:r>
              <a:rPr lang="en-US" altLang="en-US" sz="2400" dirty="0">
                <a:latin typeface="CMBX12"/>
              </a:rPr>
              <a:t> </a:t>
            </a:r>
            <a:r>
              <a:rPr lang="en-US" altLang="en-US" sz="2400" dirty="0">
                <a:latin typeface="NimbusSanL-Regu"/>
              </a:rPr>
              <a:t>such that: </a:t>
            </a:r>
          </a:p>
          <a:p>
            <a:pPr eaLnBrk="1" hangingPunct="1">
              <a:defRPr/>
            </a:pPr>
            <a:endParaRPr lang="en-US" altLang="en-US" sz="2400" dirty="0">
              <a:solidFill>
                <a:srgbClr val="FF0000"/>
              </a:solidFill>
              <a:latin typeface="NimbusSanL-Regu"/>
            </a:endParaRPr>
          </a:p>
          <a:p>
            <a:pPr marL="0" indent="0"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NimbusSanL-Regu"/>
              </a:rPr>
              <a:t>                           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y </a:t>
            </a:r>
            <a:r>
              <a:rPr lang="en-US" altLang="en-US" sz="2400" dirty="0">
                <a:solidFill>
                  <a:srgbClr val="FF0000"/>
                </a:solidFill>
                <a:latin typeface="CMR12"/>
              </a:rPr>
              <a:t>= 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U</a:t>
            </a:r>
            <a:r>
              <a:rPr lang="en-US" altLang="en-US" sz="2400" baseline="30000" dirty="0">
                <a:solidFill>
                  <a:srgbClr val="FF0000"/>
                </a:solidFill>
                <a:latin typeface="CMBX12"/>
              </a:rPr>
              <a:t>T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x  </a:t>
            </a:r>
            <a:r>
              <a:rPr lang="el-GR" altLang="en-US" sz="2400" dirty="0">
                <a:latin typeface="CMBX12"/>
              </a:rPr>
              <a:t>ϵ</a:t>
            </a:r>
            <a:r>
              <a:rPr lang="en-US" altLang="en-US" sz="2400" dirty="0">
                <a:latin typeface="CMSY10"/>
              </a:rPr>
              <a:t> </a:t>
            </a:r>
            <a:r>
              <a:rPr lang="en-US" altLang="en-US" sz="2400" dirty="0">
                <a:latin typeface="MSBM10"/>
              </a:rPr>
              <a:t>R</a:t>
            </a:r>
            <a:r>
              <a:rPr lang="en-US" altLang="en-US" sz="2400" baseline="30000" dirty="0">
                <a:latin typeface="MSBM10"/>
              </a:rPr>
              <a:t>K</a:t>
            </a:r>
            <a:r>
              <a:rPr lang="en-US" altLang="en-US" sz="2400" dirty="0">
                <a:latin typeface="CMSY6"/>
              </a:rPr>
              <a:t> </a:t>
            </a:r>
            <a:r>
              <a:rPr lang="en-US" altLang="en-US" sz="2400" dirty="0">
                <a:latin typeface="NimbusSanL-Regu"/>
              </a:rPr>
              <a:t>where </a:t>
            </a:r>
            <a:r>
              <a:rPr lang="en-US" altLang="en-US" sz="2400" dirty="0">
                <a:latin typeface="CMMI12"/>
              </a:rPr>
              <a:t>K&lt;&lt;N 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D3715E-DC5A-44CF-867B-8F9278B0619E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pic>
        <p:nvPicPr>
          <p:cNvPr id="1434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5029201"/>
            <a:ext cx="5827712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86401" y="5029201"/>
            <a:ext cx="5318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400" kern="0" dirty="0">
                <a:solidFill>
                  <a:srgbClr val="FF0000"/>
                </a:solidFill>
                <a:latin typeface="CMBX12"/>
              </a:rPr>
              <a:t>U</a:t>
            </a:r>
            <a:r>
              <a:rPr lang="en-US" altLang="en-US" sz="2400" kern="0" baseline="30000" dirty="0">
                <a:solidFill>
                  <a:srgbClr val="FF0000"/>
                </a:solidFill>
                <a:latin typeface="CMBX12"/>
              </a:rPr>
              <a:t>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9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Dimensionality Reduction (cont’d)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206500"/>
            <a:ext cx="10515600" cy="4970463"/>
          </a:xfrm>
        </p:spPr>
        <p:txBody>
          <a:bodyPr/>
          <a:lstStyle/>
          <a:p>
            <a:pPr eaLnBrk="1" hangingPunct="1"/>
            <a:endParaRPr lang="en-US" altLang="en-US" sz="2400" u="sng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sz="2400" u="sng" dirty="0">
                <a:solidFill>
                  <a:srgbClr val="000000"/>
                </a:solidFill>
              </a:rPr>
              <a:t>Idea:</a:t>
            </a:r>
            <a:r>
              <a:rPr lang="en-US" altLang="en-US" sz="2400" dirty="0">
                <a:solidFill>
                  <a:srgbClr val="000000"/>
                </a:solidFill>
              </a:rPr>
              <a:t> represent data in terms of </a:t>
            </a:r>
            <a:r>
              <a:rPr lang="en-US" altLang="en-US" sz="2400" dirty="0">
                <a:solidFill>
                  <a:srgbClr val="FF0000"/>
                </a:solidFill>
              </a:rPr>
              <a:t>basis vectors </a:t>
            </a:r>
            <a:r>
              <a:rPr lang="en-US" altLang="en-US" sz="2400" dirty="0">
                <a:solidFill>
                  <a:srgbClr val="000000"/>
                </a:solidFill>
              </a:rPr>
              <a:t>in a lower dimensional space (embedded within the original space).</a:t>
            </a:r>
            <a:endParaRPr lang="en-US" altLang="en-US" sz="2400" dirty="0">
              <a:latin typeface="NimbusSanL-Regu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61CF02-E14E-497E-A760-14E4956E52BA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pic>
        <p:nvPicPr>
          <p:cNvPr id="1536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67100"/>
            <a:ext cx="4648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752600" y="2781300"/>
            <a:ext cx="861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	(1) </a:t>
            </a:r>
            <a:r>
              <a:rPr lang="en-US" altLang="en-US" sz="1800">
                <a:solidFill>
                  <a:srgbClr val="FF0000"/>
                </a:solidFill>
              </a:rPr>
              <a:t>Higher-dimensional </a:t>
            </a:r>
            <a:r>
              <a:rPr lang="en-US" altLang="en-US" sz="1800">
                <a:solidFill>
                  <a:srgbClr val="000000"/>
                </a:solidFill>
              </a:rPr>
              <a:t>space representation: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1752600" y="4533900"/>
            <a:ext cx="861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	(2) </a:t>
            </a:r>
            <a:r>
              <a:rPr lang="en-US" altLang="en-US" sz="1800">
                <a:solidFill>
                  <a:srgbClr val="FF0000"/>
                </a:solidFill>
              </a:rPr>
              <a:t>Lower-dimensional</a:t>
            </a:r>
            <a:r>
              <a:rPr lang="en-US" altLang="en-US" sz="1800">
                <a:solidFill>
                  <a:srgbClr val="000000"/>
                </a:solidFill>
              </a:rPr>
              <a:t> sub-space representation:</a:t>
            </a:r>
          </a:p>
        </p:txBody>
      </p:sp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32"/>
          <a:stretch>
            <a:fillRect/>
          </a:stretch>
        </p:blipFill>
        <p:spPr bwMode="auto">
          <a:xfrm>
            <a:off x="2286000" y="5143501"/>
            <a:ext cx="59436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79"/>
          <a:stretch>
            <a:fillRect/>
          </a:stretch>
        </p:blipFill>
        <p:spPr bwMode="auto">
          <a:xfrm>
            <a:off x="8642350" y="3008314"/>
            <a:ext cx="1066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2" r="15202"/>
          <a:stretch>
            <a:fillRect/>
          </a:stretch>
        </p:blipFill>
        <p:spPr bwMode="auto">
          <a:xfrm>
            <a:off x="8696325" y="4876800"/>
            <a:ext cx="114300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84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Dimensionality Reduction (cont’d)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2400" dirty="0">
              <a:latin typeface="NimbusSanL-Regu"/>
            </a:endParaRPr>
          </a:p>
          <a:p>
            <a:pPr eaLnBrk="1" hangingPunct="1"/>
            <a:r>
              <a:rPr lang="en-US" altLang="en-US" dirty="0">
                <a:latin typeface="NimbusSanL-Regu"/>
              </a:rPr>
              <a:t>Classical approaches for finding an </a:t>
            </a:r>
            <a:r>
              <a:rPr lang="en-US" altLang="en-US" dirty="0">
                <a:solidFill>
                  <a:srgbClr val="FF0000"/>
                </a:solidFill>
                <a:latin typeface="NimbusSanL-Regu"/>
              </a:rPr>
              <a:t>optimal</a:t>
            </a:r>
            <a:r>
              <a:rPr lang="en-US" altLang="en-US" dirty="0">
                <a:latin typeface="NimbusSanL-Regu"/>
              </a:rPr>
              <a:t> linear transformation:</a:t>
            </a:r>
          </a:p>
          <a:p>
            <a:pPr eaLnBrk="1" hangingPunct="1"/>
            <a:endParaRPr lang="en-US" altLang="en-US" dirty="0">
              <a:latin typeface="NimbusSanL-Regu"/>
            </a:endParaRPr>
          </a:p>
          <a:p>
            <a:pPr lvl="1" eaLnBrk="1" hangingPunct="1"/>
            <a:r>
              <a:rPr lang="en-US" altLang="en-US" dirty="0">
                <a:solidFill>
                  <a:srgbClr val="FF0000"/>
                </a:solidFill>
                <a:latin typeface="NimbusSanL-ReguItal"/>
              </a:rPr>
              <a:t>Principal Components Analysis (PCA): </a:t>
            </a:r>
            <a:r>
              <a:rPr lang="en-US" altLang="en-US" dirty="0">
                <a:latin typeface="NimbusSanL-Regu"/>
              </a:rPr>
              <a:t>Seeks a projection that preserves as much </a:t>
            </a:r>
            <a:r>
              <a:rPr lang="en-US" altLang="en-US" b="1" dirty="0">
                <a:solidFill>
                  <a:srgbClr val="00B0F0"/>
                </a:solidFill>
                <a:latin typeface="NimbusSanL-Regu"/>
              </a:rPr>
              <a:t>information</a:t>
            </a:r>
            <a:r>
              <a:rPr lang="en-US" altLang="en-US" dirty="0">
                <a:latin typeface="NimbusSanL-Regu"/>
              </a:rPr>
              <a:t> in the data as possible (in a least-squares sense).</a:t>
            </a:r>
          </a:p>
          <a:p>
            <a:pPr lvl="1" eaLnBrk="1" hangingPunct="1"/>
            <a:endParaRPr lang="en-US" altLang="en-US" dirty="0">
              <a:solidFill>
                <a:srgbClr val="FF0000"/>
              </a:solidFill>
              <a:latin typeface="NimbusSanL-ReguItal"/>
            </a:endParaRPr>
          </a:p>
          <a:p>
            <a:pPr lvl="1" eaLnBrk="1" hangingPunct="1"/>
            <a:r>
              <a:rPr lang="en-US" altLang="en-US" dirty="0">
                <a:solidFill>
                  <a:srgbClr val="FF0000"/>
                </a:solidFill>
                <a:latin typeface="NimbusSanL-ReguItal"/>
              </a:rPr>
              <a:t>Linear Discriminant Analysis (LDA):</a:t>
            </a:r>
            <a:r>
              <a:rPr lang="en-US" altLang="en-US" dirty="0">
                <a:latin typeface="NimbusSanL-ReguItal"/>
              </a:rPr>
              <a:t> </a:t>
            </a:r>
            <a:r>
              <a:rPr lang="en-US" altLang="en-US" dirty="0">
                <a:latin typeface="NimbusSanL-Regu"/>
              </a:rPr>
              <a:t>Seeks a projection that best </a:t>
            </a:r>
            <a:r>
              <a:rPr lang="en-US" altLang="en-US" b="1" dirty="0">
                <a:solidFill>
                  <a:srgbClr val="00B0F0"/>
                </a:solidFill>
                <a:latin typeface="NimbusSanL-Regu"/>
              </a:rPr>
              <a:t>separates</a:t>
            </a:r>
            <a:r>
              <a:rPr lang="en-US" altLang="en-US" dirty="0">
                <a:solidFill>
                  <a:srgbClr val="00B0F0"/>
                </a:solidFill>
                <a:latin typeface="NimbusSanL-Regu"/>
              </a:rPr>
              <a:t> </a:t>
            </a:r>
            <a:r>
              <a:rPr lang="en-US" altLang="en-US" dirty="0">
                <a:latin typeface="NimbusSanL-Regu"/>
              </a:rPr>
              <a:t>the data (in a least-squares sense).</a:t>
            </a: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0A3AE0-D84E-40F2-8E9B-FC148E110D68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9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556018-571B-421B-9E9B-46C85071ECC4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301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Principal Component Analysis </a:t>
            </a:r>
          </a:p>
        </p:txBody>
      </p:sp>
      <p:sp>
        <p:nvSpPr>
          <p:cNvPr id="4301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Given N data vectors from k-dimensions, find </a:t>
            </a:r>
            <a:r>
              <a:rPr lang="en-US" altLang="en-US" b="1" i="1" dirty="0"/>
              <a:t>c</a:t>
            </a:r>
            <a:r>
              <a:rPr lang="en-US" altLang="en-US" dirty="0"/>
              <a:t> ≤  k  orthogonal vectors that can be best used to represent data 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The original data set is reduced to one consisting of N data vectors on c principal components (reduced dimensions) </a:t>
            </a:r>
            <a:endParaRPr lang="en-US" altLang="en-US" dirty="0"/>
          </a:p>
          <a:p>
            <a:pPr eaLnBrk="1" hangingPunct="1"/>
            <a:r>
              <a:rPr lang="en-US" altLang="en-US" dirty="0"/>
              <a:t>Each data vector is a linear combination of the </a:t>
            </a:r>
            <a:r>
              <a:rPr lang="en-US" altLang="en-US" b="1" i="1" dirty="0"/>
              <a:t>c</a:t>
            </a:r>
            <a:r>
              <a:rPr lang="en-US" altLang="en-US" dirty="0"/>
              <a:t> principal component vectors</a:t>
            </a:r>
          </a:p>
          <a:p>
            <a:pPr eaLnBrk="1" hangingPunct="1"/>
            <a:r>
              <a:rPr lang="en-US" altLang="en-US" dirty="0"/>
              <a:t>Works for numeric data only</a:t>
            </a:r>
          </a:p>
          <a:p>
            <a:pPr eaLnBrk="1" hangingPunct="1"/>
            <a:r>
              <a:rPr lang="en-US" altLang="en-US" dirty="0"/>
              <a:t>Used when the number of dimensions is large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6E32-F846-4FC1-A4B0-FB4D3A35F1D7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1259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PCA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ECD17BDB-FFDF-474A-AC3F-980769965AE0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12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28677" name="Content Placeholder 4"/>
          <p:cNvSpPr>
            <a:spLocks noGrp="1"/>
          </p:cNvSpPr>
          <p:nvPr>
            <p:ph sz="quarter" idx="1"/>
          </p:nvPr>
        </p:nvSpPr>
        <p:spPr>
          <a:xfrm>
            <a:off x="901700" y="1219200"/>
            <a:ext cx="9388475" cy="4876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d-dimensional feature space</a:t>
            </a:r>
          </a:p>
          <a:p>
            <a:pPr eaLnBrk="1" hangingPunct="1"/>
            <a:r>
              <a:rPr lang="en-US" altLang="en-US" sz="3200" dirty="0" smtClean="0"/>
              <a:t>d by d symmetric covariance matrix estimated from samples </a:t>
            </a:r>
          </a:p>
          <a:p>
            <a:pPr eaLnBrk="1" hangingPunct="1"/>
            <a:r>
              <a:rPr lang="en-US" altLang="en-US" sz="3200" dirty="0" smtClean="0"/>
              <a:t> Select k largest eigenvalue of  the covariance matrix and associated k eigenvectors</a:t>
            </a:r>
          </a:p>
          <a:p>
            <a:pPr eaLnBrk="1" hangingPunct="1"/>
            <a:r>
              <a:rPr lang="en-US" altLang="en-US" sz="3200" dirty="0" smtClean="0"/>
              <a:t>The first eigenvector will be a direction with largest variance</a:t>
            </a:r>
          </a:p>
        </p:txBody>
      </p:sp>
      <p:pic>
        <p:nvPicPr>
          <p:cNvPr id="2867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2" y="2209800"/>
            <a:ext cx="1716087" cy="56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4490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tr-TR" altLang="en-US" smtClean="0"/>
              <a:t>What PCA does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D80A4A90-4DFD-4008-B7B3-605BF9189FFD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13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19288" y="1484313"/>
            <a:ext cx="8229600" cy="3886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 b="1" i="1" smtClean="0"/>
              <a:t>			z </a:t>
            </a:r>
            <a:r>
              <a:rPr lang="tr-TR" altLang="en-US" smtClean="0"/>
              <a:t>= </a:t>
            </a:r>
            <a:r>
              <a:rPr lang="tr-TR" altLang="en-US" b="1" smtClean="0"/>
              <a:t>W</a:t>
            </a:r>
            <a:r>
              <a:rPr lang="tr-TR" altLang="en-US" i="1" baseline="30000" smtClean="0"/>
              <a:t>T</a:t>
            </a:r>
            <a:r>
              <a:rPr lang="tr-TR" altLang="en-US" smtClean="0"/>
              <a:t>(</a:t>
            </a:r>
            <a:r>
              <a:rPr lang="tr-TR" altLang="en-US" b="1" i="1" smtClean="0"/>
              <a:t>x</a:t>
            </a:r>
            <a:r>
              <a:rPr lang="tr-TR" altLang="en-US" smtClean="0"/>
              <a:t> – </a:t>
            </a:r>
            <a:r>
              <a:rPr lang="tr-TR" altLang="en-US" b="1" i="1" smtClean="0"/>
              <a:t>m</a:t>
            </a:r>
            <a:r>
              <a:rPr lang="tr-TR" altLang="en-US" smtClean="0"/>
              <a:t>)</a:t>
            </a:r>
            <a:endParaRPr lang="tr-TR" altLang="en-US" baseline="-25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 smtClean="0"/>
              <a:t>	where the columns of </a:t>
            </a:r>
            <a:r>
              <a:rPr lang="tr-TR" altLang="en-US" b="1" smtClean="0"/>
              <a:t>W</a:t>
            </a:r>
            <a:r>
              <a:rPr lang="tr-TR" altLang="en-US" smtClean="0"/>
              <a:t> are the eigenvectors of </a:t>
            </a:r>
            <a:r>
              <a:rPr lang="tr-TR" altLang="en-US" b="1" smtClean="0"/>
              <a:t>∑</a:t>
            </a:r>
            <a:r>
              <a:rPr lang="tr-TR" altLang="en-US" smtClean="0"/>
              <a:t>, and </a:t>
            </a:r>
            <a:r>
              <a:rPr lang="tr-TR" altLang="en-US" b="1" i="1" smtClean="0"/>
              <a:t>m</a:t>
            </a:r>
            <a:r>
              <a:rPr lang="tr-TR" altLang="en-US" smtClean="0"/>
              <a:t> is sample mean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 smtClean="0"/>
              <a:t>	Centers the data at the origin and rotates the axes</a:t>
            </a:r>
            <a:endParaRPr lang="tr-TR" altLang="en-US" b="1" smtClean="0"/>
          </a:p>
        </p:txBody>
      </p:sp>
      <p:pic>
        <p:nvPicPr>
          <p:cNvPr id="29702" name="Picture 5" descr="Drpca-c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3573463"/>
            <a:ext cx="7516812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157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120" name="Rectangle 32"/>
          <p:cNvSpPr>
            <a:spLocks noGrp="1" noChangeArrowheads="1"/>
          </p:cNvSpPr>
          <p:nvPr>
            <p:ph type="title"/>
          </p:nvPr>
        </p:nvSpPr>
        <p:spPr>
          <a:xfrm>
            <a:off x="768351" y="100011"/>
            <a:ext cx="10515600" cy="60325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Dimensionality Reduction: PCA</a:t>
            </a:r>
          </a:p>
        </p:txBody>
      </p:sp>
      <p:sp>
        <p:nvSpPr>
          <p:cNvPr id="857121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685800" y="703262"/>
            <a:ext cx="10668000" cy="5473702"/>
          </a:xfrm>
        </p:spPr>
        <p:txBody>
          <a:bodyPr/>
          <a:lstStyle/>
          <a:p>
            <a:r>
              <a:rPr lang="en-US" altLang="en-US" dirty="0"/>
              <a:t>Goal is to find a projection that captures the largest  amount of variation in data</a:t>
            </a:r>
          </a:p>
          <a:p>
            <a:endParaRPr lang="en-US" altLang="en-US" dirty="0"/>
          </a:p>
        </p:txBody>
      </p:sp>
      <p:sp>
        <p:nvSpPr>
          <p:cNvPr id="857123" name="Line 35"/>
          <p:cNvSpPr>
            <a:spLocks noChangeShapeType="1"/>
          </p:cNvSpPr>
          <p:nvPr/>
        </p:nvSpPr>
        <p:spPr bwMode="auto">
          <a:xfrm flipV="1">
            <a:off x="4413250" y="2641600"/>
            <a:ext cx="0" cy="262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4" name="Line 36"/>
          <p:cNvSpPr>
            <a:spLocks noChangeShapeType="1"/>
          </p:cNvSpPr>
          <p:nvPr/>
        </p:nvSpPr>
        <p:spPr bwMode="auto">
          <a:xfrm>
            <a:off x="4413250" y="5270500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5" name="Line 37"/>
          <p:cNvSpPr>
            <a:spLocks noChangeShapeType="1"/>
          </p:cNvSpPr>
          <p:nvPr/>
        </p:nvSpPr>
        <p:spPr bwMode="auto">
          <a:xfrm flipV="1">
            <a:off x="4425950" y="3856039"/>
            <a:ext cx="2590800" cy="1400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7" name="Oval 39"/>
          <p:cNvSpPr>
            <a:spLocks noChangeArrowheads="1"/>
          </p:cNvSpPr>
          <p:nvPr/>
        </p:nvSpPr>
        <p:spPr bwMode="auto">
          <a:xfrm>
            <a:off x="4959351" y="4676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8" name="Oval 40"/>
          <p:cNvSpPr>
            <a:spLocks noChangeArrowheads="1"/>
          </p:cNvSpPr>
          <p:nvPr/>
        </p:nvSpPr>
        <p:spPr bwMode="auto">
          <a:xfrm>
            <a:off x="5238751" y="445293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9" name="Oval 41"/>
          <p:cNvSpPr>
            <a:spLocks noChangeArrowheads="1"/>
          </p:cNvSpPr>
          <p:nvPr/>
        </p:nvSpPr>
        <p:spPr bwMode="auto">
          <a:xfrm>
            <a:off x="4768851" y="496728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0" name="Oval 42"/>
          <p:cNvSpPr>
            <a:spLocks noChangeArrowheads="1"/>
          </p:cNvSpPr>
          <p:nvPr/>
        </p:nvSpPr>
        <p:spPr bwMode="auto">
          <a:xfrm>
            <a:off x="5378451" y="4559300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1" name="Oval 43"/>
          <p:cNvSpPr>
            <a:spLocks noChangeArrowheads="1"/>
          </p:cNvSpPr>
          <p:nvPr/>
        </p:nvSpPr>
        <p:spPr bwMode="auto">
          <a:xfrm>
            <a:off x="5226051" y="46640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2" name="Oval 44"/>
          <p:cNvSpPr>
            <a:spLocks noChangeArrowheads="1"/>
          </p:cNvSpPr>
          <p:nvPr/>
        </p:nvSpPr>
        <p:spPr bwMode="auto">
          <a:xfrm>
            <a:off x="5797551" y="46513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3" name="Oval 45"/>
          <p:cNvSpPr>
            <a:spLocks noChangeArrowheads="1"/>
          </p:cNvSpPr>
          <p:nvPr/>
        </p:nvSpPr>
        <p:spPr bwMode="auto">
          <a:xfrm>
            <a:off x="5670551" y="4981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4" name="Oval 46"/>
          <p:cNvSpPr>
            <a:spLocks noChangeArrowheads="1"/>
          </p:cNvSpPr>
          <p:nvPr/>
        </p:nvSpPr>
        <p:spPr bwMode="auto">
          <a:xfrm>
            <a:off x="5441951" y="487521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5" name="Oval 47"/>
          <p:cNvSpPr>
            <a:spLocks noChangeArrowheads="1"/>
          </p:cNvSpPr>
          <p:nvPr/>
        </p:nvSpPr>
        <p:spPr bwMode="auto">
          <a:xfrm>
            <a:off x="5632451" y="43338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6" name="Oval 48"/>
          <p:cNvSpPr>
            <a:spLocks noChangeArrowheads="1"/>
          </p:cNvSpPr>
          <p:nvPr/>
        </p:nvSpPr>
        <p:spPr bwMode="auto">
          <a:xfrm>
            <a:off x="6229351" y="445293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7" name="Oval 49"/>
          <p:cNvSpPr>
            <a:spLocks noChangeArrowheads="1"/>
          </p:cNvSpPr>
          <p:nvPr/>
        </p:nvSpPr>
        <p:spPr bwMode="auto">
          <a:xfrm>
            <a:off x="6610351" y="3937000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8" name="Oval 50"/>
          <p:cNvSpPr>
            <a:spLocks noChangeArrowheads="1"/>
          </p:cNvSpPr>
          <p:nvPr/>
        </p:nvSpPr>
        <p:spPr bwMode="auto">
          <a:xfrm>
            <a:off x="5073651" y="50069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9" name="Oval 51"/>
          <p:cNvSpPr>
            <a:spLocks noChangeArrowheads="1"/>
          </p:cNvSpPr>
          <p:nvPr/>
        </p:nvSpPr>
        <p:spPr bwMode="auto">
          <a:xfrm>
            <a:off x="5899151" y="430688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0" name="Oval 52"/>
          <p:cNvSpPr>
            <a:spLocks noChangeArrowheads="1"/>
          </p:cNvSpPr>
          <p:nvPr/>
        </p:nvSpPr>
        <p:spPr bwMode="auto">
          <a:xfrm>
            <a:off x="6178551" y="40163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1" name="Oval 53"/>
          <p:cNvSpPr>
            <a:spLocks noChangeArrowheads="1"/>
          </p:cNvSpPr>
          <p:nvPr/>
        </p:nvSpPr>
        <p:spPr bwMode="auto">
          <a:xfrm>
            <a:off x="5416551" y="4346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2" name="Oval 54"/>
          <p:cNvSpPr>
            <a:spLocks noChangeArrowheads="1"/>
          </p:cNvSpPr>
          <p:nvPr/>
        </p:nvSpPr>
        <p:spPr bwMode="auto">
          <a:xfrm>
            <a:off x="6026151" y="4149725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3" name="Oval 55"/>
          <p:cNvSpPr>
            <a:spLocks noChangeArrowheads="1"/>
          </p:cNvSpPr>
          <p:nvPr/>
        </p:nvSpPr>
        <p:spPr bwMode="auto">
          <a:xfrm>
            <a:off x="6140451" y="469106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4" name="Freeform 56"/>
          <p:cNvSpPr>
            <a:spLocks/>
          </p:cNvSpPr>
          <p:nvPr/>
        </p:nvSpPr>
        <p:spPr bwMode="auto">
          <a:xfrm>
            <a:off x="4584700" y="3824289"/>
            <a:ext cx="2312988" cy="1597025"/>
          </a:xfrm>
          <a:custGeom>
            <a:avLst/>
            <a:gdLst>
              <a:gd name="T0" fmla="*/ 4 w 1457"/>
              <a:gd name="T1" fmla="*/ 796 h 968"/>
              <a:gd name="T2" fmla="*/ 212 w 1457"/>
              <a:gd name="T3" fmla="*/ 388 h 968"/>
              <a:gd name="T4" fmla="*/ 716 w 1457"/>
              <a:gd name="T5" fmla="*/ 132 h 968"/>
              <a:gd name="T6" fmla="*/ 1356 w 1457"/>
              <a:gd name="T7" fmla="*/ 20 h 968"/>
              <a:gd name="T8" fmla="*/ 1324 w 1457"/>
              <a:gd name="T9" fmla="*/ 252 h 968"/>
              <a:gd name="T10" fmla="*/ 940 w 1457"/>
              <a:gd name="T11" fmla="*/ 700 h 968"/>
              <a:gd name="T12" fmla="*/ 188 w 1457"/>
              <a:gd name="T13" fmla="*/ 948 h 968"/>
              <a:gd name="T14" fmla="*/ 4 w 1457"/>
              <a:gd name="T15" fmla="*/ 796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57" h="968">
                <a:moveTo>
                  <a:pt x="4" y="796"/>
                </a:moveTo>
                <a:cubicBezTo>
                  <a:pt x="8" y="703"/>
                  <a:pt x="93" y="499"/>
                  <a:pt x="212" y="388"/>
                </a:cubicBezTo>
                <a:cubicBezTo>
                  <a:pt x="331" y="277"/>
                  <a:pt x="525" y="193"/>
                  <a:pt x="716" y="132"/>
                </a:cubicBezTo>
                <a:cubicBezTo>
                  <a:pt x="907" y="71"/>
                  <a:pt x="1255" y="0"/>
                  <a:pt x="1356" y="20"/>
                </a:cubicBezTo>
                <a:cubicBezTo>
                  <a:pt x="1457" y="40"/>
                  <a:pt x="1393" y="139"/>
                  <a:pt x="1324" y="252"/>
                </a:cubicBezTo>
                <a:cubicBezTo>
                  <a:pt x="1255" y="365"/>
                  <a:pt x="1129" y="584"/>
                  <a:pt x="940" y="700"/>
                </a:cubicBezTo>
                <a:cubicBezTo>
                  <a:pt x="751" y="816"/>
                  <a:pt x="344" y="928"/>
                  <a:pt x="188" y="948"/>
                </a:cubicBezTo>
                <a:cubicBezTo>
                  <a:pt x="32" y="968"/>
                  <a:pt x="0" y="889"/>
                  <a:pt x="4" y="796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5" name="Oval 57"/>
          <p:cNvSpPr>
            <a:spLocks noChangeArrowheads="1"/>
          </p:cNvSpPr>
          <p:nvPr/>
        </p:nvSpPr>
        <p:spPr bwMode="auto">
          <a:xfrm>
            <a:off x="4895851" y="519271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9" name="Text Box 61"/>
          <p:cNvSpPr txBox="1">
            <a:spLocks noChangeArrowheads="1"/>
          </p:cNvSpPr>
          <p:nvPr/>
        </p:nvSpPr>
        <p:spPr bwMode="auto">
          <a:xfrm>
            <a:off x="3902075" y="2590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57150" name="Text Box 62"/>
          <p:cNvSpPr txBox="1">
            <a:spLocks noChangeArrowheads="1"/>
          </p:cNvSpPr>
          <p:nvPr/>
        </p:nvSpPr>
        <p:spPr bwMode="auto">
          <a:xfrm>
            <a:off x="7010400" y="53340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57151" name="Text Box 63"/>
          <p:cNvSpPr txBox="1">
            <a:spLocks noChangeArrowheads="1"/>
          </p:cNvSpPr>
          <p:nvPr/>
        </p:nvSpPr>
        <p:spPr bwMode="auto">
          <a:xfrm>
            <a:off x="7086600" y="35052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e</a:t>
            </a:r>
            <a:endParaRPr lang="en-US" altLang="en-US" sz="2400" baseline="-250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1B92-17CC-4047-9E1D-F46F36327978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14</a:t>
            </a:fld>
            <a:endParaRPr lang="en-US"/>
          </a:p>
        </p:txBody>
      </p:sp>
      <p:sp>
        <p:nvSpPr>
          <p:cNvPr id="32" name="Content Placeholder 4"/>
          <p:cNvSpPr txBox="1">
            <a:spLocks/>
          </p:cNvSpPr>
          <p:nvPr/>
        </p:nvSpPr>
        <p:spPr>
          <a:xfrm>
            <a:off x="508000" y="1550986"/>
            <a:ext cx="10642600" cy="1252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 Find a projection matrix w from d-dimensional to k-dimensional vectors that keeps error low</a:t>
            </a:r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8763"/>
            <a:ext cx="2160588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657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PCA: Motivation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9F051421-E3C0-4D3D-817C-62BF475FF784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15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838200" y="1219200"/>
            <a:ext cx="9451975" cy="4876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 Assume that  d observables are linear combination of k&lt;d vectors</a:t>
            </a:r>
          </a:p>
          <a:p>
            <a:pPr eaLnBrk="1" hangingPunct="1"/>
            <a:r>
              <a:rPr lang="en-US" altLang="en-US" dirty="0" smtClean="0"/>
              <a:t> </a:t>
            </a:r>
            <a:r>
              <a:rPr lang="en-US" altLang="en-US" dirty="0" err="1" smtClean="0"/>
              <a:t>z</a:t>
            </a:r>
            <a:r>
              <a:rPr lang="en-US" altLang="en-US" baseline="-25000" dirty="0" err="1" smtClean="0"/>
              <a:t>i</a:t>
            </a:r>
            <a:r>
              <a:rPr lang="en-US" altLang="en-US" dirty="0" smtClean="0"/>
              <a:t>=w</a:t>
            </a:r>
            <a:r>
              <a:rPr lang="en-US" altLang="en-US" baseline="-25000" dirty="0" smtClean="0"/>
              <a:t>i1</a:t>
            </a:r>
            <a:r>
              <a:rPr lang="en-US" altLang="en-US" dirty="0" smtClean="0"/>
              <a:t>x</a:t>
            </a:r>
            <a:r>
              <a:rPr lang="en-US" altLang="en-US" baseline="-25000" dirty="0" smtClean="0"/>
              <a:t>i1</a:t>
            </a:r>
            <a:r>
              <a:rPr lang="en-US" altLang="en-US" dirty="0" smtClean="0"/>
              <a:t>+…+</a:t>
            </a:r>
            <a:r>
              <a:rPr lang="en-US" altLang="en-US" dirty="0" err="1" smtClean="0"/>
              <a:t>w</a:t>
            </a:r>
            <a:r>
              <a:rPr lang="en-US" altLang="en-US" baseline="-25000" dirty="0" err="1" smtClean="0"/>
              <a:t>ik</a:t>
            </a:r>
            <a:r>
              <a:rPr lang="en-US" altLang="en-US" dirty="0" err="1" smtClean="0"/>
              <a:t>x</a:t>
            </a:r>
            <a:r>
              <a:rPr lang="en-US" altLang="en-US" baseline="-25000" dirty="0" err="1" smtClean="0"/>
              <a:t>id</a:t>
            </a:r>
            <a:endParaRPr lang="en-US" altLang="en-US" baseline="-25000" dirty="0" smtClean="0"/>
          </a:p>
          <a:p>
            <a:pPr eaLnBrk="1" hangingPunct="1"/>
            <a:r>
              <a:rPr lang="en-US" altLang="en-US" dirty="0" smtClean="0"/>
              <a:t> We would like to work with basis as it has lesser dimension and have all(almost) required information</a:t>
            </a:r>
          </a:p>
          <a:p>
            <a:pPr eaLnBrk="1" hangingPunct="1"/>
            <a:r>
              <a:rPr lang="en-US" altLang="en-US" dirty="0" smtClean="0"/>
              <a:t>What we expect from such basis</a:t>
            </a:r>
          </a:p>
          <a:p>
            <a:pPr lvl="1" eaLnBrk="1" hangingPunct="1"/>
            <a:r>
              <a:rPr lang="en-US" altLang="en-US" dirty="0" smtClean="0"/>
              <a:t>Uncorrelated or otherwise can be reduced further</a:t>
            </a:r>
          </a:p>
          <a:p>
            <a:pPr lvl="1" eaLnBrk="1" hangingPunct="1"/>
            <a:r>
              <a:rPr lang="en-US" altLang="en-US" dirty="0" smtClean="0"/>
              <a:t>Have large variance (e.g. w</a:t>
            </a:r>
            <a:r>
              <a:rPr lang="en-US" altLang="en-US" baseline="-25000" dirty="0" smtClean="0"/>
              <a:t>i1</a:t>
            </a:r>
            <a:r>
              <a:rPr lang="en-US" altLang="en-US" dirty="0" smtClean="0"/>
              <a:t> have large variation) or otherwise bear no information</a:t>
            </a:r>
          </a:p>
        </p:txBody>
      </p:sp>
    </p:spTree>
    <p:extLst>
      <p:ext uri="{BB962C8B-B14F-4D97-AF65-F5344CB8AC3E}">
        <p14:creationId xmlns:p14="http://schemas.microsoft.com/office/powerpoint/2010/main" val="306298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PCA: Motivation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7A9D947A-B5D3-460F-864B-A4D7D7FF7A63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16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pic>
        <p:nvPicPr>
          <p:cNvPr id="25605" name="Picture 2" descr="PCA pl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13404"/>
            <a:ext cx="7240589" cy="505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378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PCA: Motivation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B962DA5B-3B87-4DB2-B687-EC6966B95FF0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17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mtClean="0"/>
              <a:t> Choose directions such that a total variance of data will be maximum</a:t>
            </a:r>
          </a:p>
          <a:p>
            <a:pPr lvl="1" eaLnBrk="1" hangingPunct="1"/>
            <a:r>
              <a:rPr lang="en-US" altLang="en-US" smtClean="0"/>
              <a:t>Maximize Total Variance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Choose directions that are orthogonal </a:t>
            </a:r>
          </a:p>
          <a:p>
            <a:pPr lvl="1" eaLnBrk="1" hangingPunct="1"/>
            <a:r>
              <a:rPr lang="en-US" altLang="en-US" smtClean="0"/>
              <a:t>Minimize correlation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Choose k&lt;d orthogonal directions which maximize total variance</a:t>
            </a:r>
          </a:p>
        </p:txBody>
      </p:sp>
    </p:spTree>
    <p:extLst>
      <p:ext uri="{BB962C8B-B14F-4D97-AF65-F5344CB8AC3E}">
        <p14:creationId xmlns:p14="http://schemas.microsoft.com/office/powerpoint/2010/main" val="155870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AF6DC2-4CD5-4A8B-8A7F-C46C0C12EF31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Principal Component Analysis (PCA)</a:t>
            </a:r>
          </a:p>
        </p:txBody>
      </p:sp>
      <p:pic>
        <p:nvPicPr>
          <p:cNvPr id="17412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68" t="10323" r="28154" b="-2"/>
          <a:stretch>
            <a:fillRect/>
          </a:stretch>
        </p:blipFill>
        <p:spPr>
          <a:xfrm>
            <a:off x="3886201" y="2717801"/>
            <a:ext cx="1000125" cy="441325"/>
          </a:xfrm>
        </p:spPr>
      </p:pic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752600" y="1143000"/>
            <a:ext cx="8610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00"/>
                </a:solidFill>
              </a:rPr>
              <a:t>Dimensionality reduction implies </a:t>
            </a:r>
            <a:r>
              <a:rPr lang="en-US" altLang="en-US" sz="2400">
                <a:solidFill>
                  <a:srgbClr val="FF0000"/>
                </a:solidFill>
              </a:rPr>
              <a:t>information loss</a:t>
            </a:r>
            <a:r>
              <a:rPr lang="en-US" altLang="en-US" sz="2400">
                <a:solidFill>
                  <a:srgbClr val="000000"/>
                </a:solidFill>
              </a:rPr>
              <a:t>; PCA preserves as much information as possible by </a:t>
            </a:r>
            <a:r>
              <a:rPr lang="en-US" altLang="en-US" sz="2400">
                <a:solidFill>
                  <a:srgbClr val="FF0000"/>
                </a:solidFill>
              </a:rPr>
              <a:t>minimizing</a:t>
            </a:r>
            <a:r>
              <a:rPr lang="en-US" altLang="en-US" sz="2400">
                <a:solidFill>
                  <a:srgbClr val="000000"/>
                </a:solidFill>
              </a:rPr>
              <a:t> the reconstruction error: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752600" y="3581400"/>
            <a:ext cx="853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How should we determine the “best” lower dimensional space?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08226" y="4648200"/>
            <a:ext cx="7902575" cy="1570038"/>
          </a:xfrm>
          <a:prstGeom prst="rect">
            <a:avLst/>
          </a:prstGeom>
          <a:solidFill>
            <a:srgbClr val="FFFF99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dirty="0"/>
              <a:t>The “best” low-dimensional space can be determined by the “best” eigenvectors of the </a:t>
            </a:r>
            <a:r>
              <a:rPr lang="en-US" sz="2400" dirty="0">
                <a:solidFill>
                  <a:srgbClr val="FF0000"/>
                </a:solidFill>
              </a:rPr>
              <a:t>covariance matrix </a:t>
            </a:r>
            <a:r>
              <a:rPr lang="en-US" sz="2400" dirty="0"/>
              <a:t>of the data (i.e., the eigenvectors corresponding to the “largest” eigenvalues – also called “</a:t>
            </a:r>
            <a:r>
              <a:rPr lang="en-US" sz="2400" dirty="0">
                <a:solidFill>
                  <a:srgbClr val="FF0000"/>
                </a:solidFill>
              </a:rPr>
              <a:t>principal components</a:t>
            </a:r>
            <a:r>
              <a:rPr lang="en-US" sz="2400" dirty="0"/>
              <a:t>”).</a:t>
            </a:r>
          </a:p>
        </p:txBody>
      </p:sp>
      <p:pic>
        <p:nvPicPr>
          <p:cNvPr id="174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8"/>
          <a:stretch>
            <a:fillRect/>
          </a:stretch>
        </p:blipFill>
        <p:spPr bwMode="auto">
          <a:xfrm>
            <a:off x="5410200" y="2443164"/>
            <a:ext cx="46482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73" t="-1701" b="66248"/>
          <a:stretch>
            <a:fillRect/>
          </a:stretch>
        </p:blipFill>
        <p:spPr bwMode="auto">
          <a:xfrm>
            <a:off x="6019801" y="2971800"/>
            <a:ext cx="3971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39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47134E-AB55-4E7C-AF82-149D7FB1BC3F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43821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PCA - Steps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739900" y="966849"/>
            <a:ext cx="861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Suppose </a:t>
            </a:r>
            <a:r>
              <a:rPr lang="en-US" altLang="en-US" i="1" dirty="0">
                <a:solidFill>
                  <a:srgbClr val="000000"/>
                </a:solidFill>
              </a:rPr>
              <a:t>x</a:t>
            </a:r>
            <a:r>
              <a:rPr lang="en-US" altLang="en-US" baseline="-25000" dirty="0">
                <a:solidFill>
                  <a:srgbClr val="000000"/>
                </a:solidFill>
              </a:rPr>
              <a:t>1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  <a:r>
              <a:rPr lang="en-US" altLang="en-US" i="1" dirty="0">
                <a:solidFill>
                  <a:srgbClr val="000000"/>
                </a:solidFill>
              </a:rPr>
              <a:t>x</a:t>
            </a:r>
            <a:r>
              <a:rPr lang="en-US" altLang="en-US" baseline="-25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</a:rPr>
              <a:t>, ..., </a:t>
            </a:r>
            <a:r>
              <a:rPr lang="en-US" altLang="en-US" i="1" dirty="0" err="1">
                <a:solidFill>
                  <a:srgbClr val="000000"/>
                </a:solidFill>
              </a:rPr>
              <a:t>x</a:t>
            </a:r>
            <a:r>
              <a:rPr lang="en-US" altLang="en-US" i="1" baseline="-25000" dirty="0" err="1">
                <a:solidFill>
                  <a:srgbClr val="FF0000"/>
                </a:solidFill>
              </a:rPr>
              <a:t>M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are </a:t>
            </a:r>
            <a:r>
              <a:rPr lang="en-US" altLang="en-US" i="1" dirty="0">
                <a:solidFill>
                  <a:srgbClr val="FF0000"/>
                </a:solidFill>
              </a:rPr>
              <a:t>N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x 1 vectors</a:t>
            </a:r>
          </a:p>
        </p:txBody>
      </p:sp>
      <p:pic>
        <p:nvPicPr>
          <p:cNvPr id="1946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6000" y="1447100"/>
            <a:ext cx="9944100" cy="5109566"/>
          </a:xfrm>
        </p:spPr>
      </p:pic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6918325" y="40036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463" name="Object 2"/>
          <p:cNvGraphicFramePr>
            <a:graphicFrameLocks noChangeAspect="1"/>
          </p:cNvGraphicFramePr>
          <p:nvPr/>
        </p:nvGraphicFramePr>
        <p:xfrm>
          <a:off x="6781801" y="4114800"/>
          <a:ext cx="354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5" imgW="228501" imgH="393529" progId="Equation.DSMT4">
                  <p:embed/>
                </p:oleObj>
              </mc:Choice>
              <mc:Fallback>
                <p:oleObj name="Equation" r:id="rId5" imgW="228501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4114800"/>
                        <a:ext cx="3540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Box 1"/>
          <p:cNvSpPr txBox="1">
            <a:spLocks noChangeArrowheads="1"/>
          </p:cNvSpPr>
          <p:nvPr/>
        </p:nvSpPr>
        <p:spPr bwMode="auto">
          <a:xfrm>
            <a:off x="6477000" y="2959100"/>
            <a:ext cx="22175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(i.e., center at zero)</a:t>
            </a:r>
          </a:p>
        </p:txBody>
      </p:sp>
    </p:spTree>
    <p:extLst>
      <p:ext uri="{BB962C8B-B14F-4D97-AF65-F5344CB8AC3E}">
        <p14:creationId xmlns:p14="http://schemas.microsoft.com/office/powerpoint/2010/main" val="346116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81A9BA-99F9-4244-89FB-ADCEBA883609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09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PCA – Steps (cont’d)</a:t>
            </a:r>
          </a:p>
        </p:txBody>
      </p:sp>
      <p:pic>
        <p:nvPicPr>
          <p:cNvPr id="21508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3300" y="1331823"/>
            <a:ext cx="8369300" cy="1644741"/>
          </a:xfrm>
        </p:spPr>
      </p:pic>
      <p:pic>
        <p:nvPicPr>
          <p:cNvPr id="21509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800" y="3227389"/>
            <a:ext cx="9486900" cy="3338634"/>
          </a:xfrm>
        </p:spPr>
      </p:pic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17388" y="3227070"/>
            <a:ext cx="1157224" cy="365760"/>
          </a:xfrm>
          <a:prstGeom prst="rect">
            <a:avLst/>
          </a:prstGeom>
          <a:blipFill rotWithShape="1">
            <a:blip r:embed="rId6" cstate="print"/>
            <a:stretch>
              <a:fillRect l="-1053" r="-6842" b="-21667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 sz="2400">
                <a:noFill/>
              </a:rPr>
              <a:t> </a:t>
            </a:r>
          </a:p>
        </p:txBody>
      </p:sp>
      <p:graphicFrame>
        <p:nvGraphicFramePr>
          <p:cNvPr id="21511" name="Object 2"/>
          <p:cNvGraphicFramePr>
            <a:graphicFrameLocks noChangeAspect="1"/>
          </p:cNvGraphicFramePr>
          <p:nvPr/>
        </p:nvGraphicFramePr>
        <p:xfrm>
          <a:off x="8902701" y="2241550"/>
          <a:ext cx="14192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7" imgW="876300" imgH="469900" progId="Equation.DSMT4">
                  <p:embed/>
                </p:oleObj>
              </mc:Choice>
              <mc:Fallback>
                <p:oleObj name="Equation" r:id="rId7" imgW="8763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2701" y="2241550"/>
                        <a:ext cx="14192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Box 2"/>
          <p:cNvSpPr txBox="1">
            <a:spLocks noChangeArrowheads="1"/>
          </p:cNvSpPr>
          <p:nvPr/>
        </p:nvSpPr>
        <p:spPr bwMode="auto">
          <a:xfrm>
            <a:off x="5662155" y="985430"/>
            <a:ext cx="20249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1800" dirty="0">
                <a:solidFill>
                  <a:srgbClr val="FF0000"/>
                </a:solidFill>
                <a:latin typeface="+mn-lt"/>
              </a:rPr>
              <a:t>an orthogonal basis</a:t>
            </a:r>
          </a:p>
        </p:txBody>
      </p:sp>
      <p:cxnSp>
        <p:nvCxnSpPr>
          <p:cNvPr id="21513" name="Straight Connector 4"/>
          <p:cNvCxnSpPr>
            <a:cxnSpLocks noChangeShapeType="1"/>
          </p:cNvCxnSpPr>
          <p:nvPr/>
        </p:nvCxnSpPr>
        <p:spPr bwMode="auto">
          <a:xfrm>
            <a:off x="6273800" y="1511300"/>
            <a:ext cx="609600" cy="0"/>
          </a:xfrm>
          <a:prstGeom prst="line">
            <a:avLst/>
          </a:prstGeom>
          <a:noFill/>
          <a:ln w="38100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14" name="TextBox 6"/>
          <p:cNvSpPr txBox="1">
            <a:spLocks noChangeArrowheads="1"/>
          </p:cNvSpPr>
          <p:nvPr/>
        </p:nvSpPr>
        <p:spPr bwMode="auto">
          <a:xfrm>
            <a:off x="8153400" y="2438400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230996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678AAC-75D3-49AD-B7C1-08AEA7391F08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PCA – Linear Transformation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752600" y="2667000"/>
            <a:ext cx="861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00"/>
                </a:solidFill>
              </a:rPr>
              <a:t>The linear transformation </a:t>
            </a:r>
            <a:r>
              <a:rPr lang="en-US" altLang="en-US" sz="2400" i="1">
                <a:solidFill>
                  <a:srgbClr val="000000"/>
                </a:solidFill>
              </a:rPr>
              <a:t>R</a:t>
            </a:r>
            <a:r>
              <a:rPr lang="en-US" altLang="en-US" sz="2400" i="1" baseline="30000">
                <a:solidFill>
                  <a:srgbClr val="000000"/>
                </a:solidFill>
              </a:rPr>
              <a:t>N</a:t>
            </a:r>
            <a:r>
              <a:rPr lang="en-US" altLang="en-US" sz="2400" i="1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2400" i="1">
                <a:solidFill>
                  <a:srgbClr val="000000"/>
                </a:solidFill>
              </a:rPr>
              <a:t>R</a:t>
            </a:r>
            <a:r>
              <a:rPr lang="en-US" altLang="en-US" sz="2400" i="1" baseline="30000">
                <a:solidFill>
                  <a:srgbClr val="000000"/>
                </a:solidFill>
              </a:rPr>
              <a:t>K</a:t>
            </a:r>
            <a:r>
              <a:rPr lang="en-US" altLang="en-US" sz="2400" i="1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000000"/>
                </a:solidFill>
              </a:rPr>
              <a:t>that performs the dimensionality reduction is:</a:t>
            </a:r>
          </a:p>
        </p:txBody>
      </p:sp>
      <p:pic>
        <p:nvPicPr>
          <p:cNvPr id="2355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03601" y="3990976"/>
            <a:ext cx="5146676" cy="2007317"/>
          </a:xfrm>
        </p:spPr>
      </p:pic>
      <p:graphicFrame>
        <p:nvGraphicFramePr>
          <p:cNvPr id="23558" name="Object 1"/>
          <p:cNvGraphicFramePr>
            <a:graphicFrameLocks noChangeAspect="1"/>
          </p:cNvGraphicFramePr>
          <p:nvPr/>
        </p:nvGraphicFramePr>
        <p:xfrm>
          <a:off x="5105400" y="1374775"/>
          <a:ext cx="307498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5" imgW="1549400" imgH="469900" progId="Equation.DSMT4">
                  <p:embed/>
                </p:oleObj>
              </mc:Choice>
              <mc:Fallback>
                <p:oleObj name="Equation" r:id="rId5" imgW="15494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374775"/>
                        <a:ext cx="3074988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38401" y="1701800"/>
            <a:ext cx="22342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000" dirty="0"/>
              <a:t>If </a:t>
            </a:r>
            <a:r>
              <a:rPr lang="en-US" sz="2000" dirty="0" err="1"/>
              <a:t>u</a:t>
            </a:r>
            <a:r>
              <a:rPr lang="en-US" sz="2000" baseline="-25000" dirty="0" err="1"/>
              <a:t>i</a:t>
            </a:r>
            <a:r>
              <a:rPr lang="en-US" sz="2000" dirty="0"/>
              <a:t> has unit length:</a:t>
            </a:r>
          </a:p>
        </p:txBody>
      </p:sp>
    </p:spTree>
    <p:extLst>
      <p:ext uri="{BB962C8B-B14F-4D97-AF65-F5344CB8AC3E}">
        <p14:creationId xmlns:p14="http://schemas.microsoft.com/office/powerpoint/2010/main" val="154970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7CACA5-4670-45D0-BCE7-60EE4A5684F0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69851"/>
            <a:ext cx="8521700" cy="708025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Geometric interpretation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752600" y="990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990600" y="990600"/>
            <a:ext cx="9372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PCA projects the data along the directions where the data varies most.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These directions are determined by the eigenvectors of the covariance matrix corresponding to the largest eigenvalues.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The magnitude of the eigenvalues corresponds to the variance of the data along the eigenvector directions.</a:t>
            </a:r>
          </a:p>
        </p:txBody>
      </p:sp>
      <p:pic>
        <p:nvPicPr>
          <p:cNvPr id="25606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5500" y="3537107"/>
            <a:ext cx="4178300" cy="2924019"/>
          </a:xfrm>
        </p:spPr>
      </p:pic>
    </p:spTree>
    <p:extLst>
      <p:ext uri="{BB962C8B-B14F-4D97-AF65-F5344CB8AC3E}">
        <p14:creationId xmlns:p14="http://schemas.microsoft.com/office/powerpoint/2010/main" val="272945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F7544C-AA8B-4C29-AAFD-FA95EFFF7562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"/>
            <a:ext cx="8521700" cy="708025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How to choose K?</a:t>
            </a:r>
          </a:p>
        </p:txBody>
      </p:sp>
      <p:pic>
        <p:nvPicPr>
          <p:cNvPr id="27652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1400" y="2362200"/>
            <a:ext cx="4495800" cy="1670050"/>
          </a:xfrm>
        </p:spPr>
      </p:pic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1752600" y="990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1752600" y="16002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</a:rPr>
              <a:t>Choose </a:t>
            </a:r>
            <a:r>
              <a:rPr lang="en-US" altLang="en-US" sz="2400" i="1" dirty="0">
                <a:solidFill>
                  <a:srgbClr val="000000"/>
                </a:solidFill>
              </a:rPr>
              <a:t>K</a:t>
            </a:r>
            <a:r>
              <a:rPr lang="en-US" altLang="en-US" sz="2400" dirty="0">
                <a:solidFill>
                  <a:srgbClr val="000000"/>
                </a:solidFill>
              </a:rPr>
              <a:t> using the following </a:t>
            </a:r>
            <a:r>
              <a:rPr lang="en-US" altLang="en-US" sz="2400" dirty="0" smtClean="0">
                <a:solidFill>
                  <a:srgbClr val="000000"/>
                </a:solidFill>
              </a:rPr>
              <a:t>criterion : </a:t>
            </a:r>
            <a:r>
              <a:rPr lang="tr-TR" altLang="en-US" sz="2400" dirty="0" smtClean="0">
                <a:solidFill>
                  <a:srgbClr val="FF0000"/>
                </a:solidFill>
              </a:rPr>
              <a:t>Proportion </a:t>
            </a:r>
            <a:r>
              <a:rPr lang="tr-TR" altLang="en-US" sz="2400" dirty="0">
                <a:solidFill>
                  <a:srgbClr val="FF0000"/>
                </a:solidFill>
              </a:rPr>
              <a:t>of Variance (PoV) </a:t>
            </a:r>
            <a:endParaRPr lang="en-US" altLang="en-US" sz="2400" i="1" dirty="0">
              <a:solidFill>
                <a:srgbClr val="FF0000"/>
              </a:solidFill>
            </a:endParaRP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1828800" y="4419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In this case, we say that we “preserve” 90% or 95% of the  information (variance) in the data.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</a:rPr>
              <a:t>If </a:t>
            </a:r>
            <a:r>
              <a:rPr lang="en-US" altLang="en-US" sz="2400" dirty="0">
                <a:solidFill>
                  <a:srgbClr val="000000"/>
                </a:solidFill>
              </a:rPr>
              <a:t>K=N, then we “preserve” 100% of the information in the data</a:t>
            </a:r>
            <a:r>
              <a:rPr lang="en-US" altLang="en-US" sz="2400" dirty="0" smtClean="0">
                <a:solidFill>
                  <a:srgbClr val="000000"/>
                </a:solidFill>
              </a:rPr>
              <a:t>.</a:t>
            </a:r>
          </a:p>
          <a:p>
            <a:r>
              <a:rPr lang="tr-TR" altLang="en-US" sz="2400" dirty="0">
                <a:solidFill>
                  <a:schemeClr val="tx1"/>
                </a:solidFill>
              </a:rPr>
              <a:t>Scree graph plots of PoV vs </a:t>
            </a:r>
            <a:r>
              <a:rPr lang="tr-TR" altLang="en-US" sz="2400" i="1" dirty="0">
                <a:solidFill>
                  <a:schemeClr val="tx1"/>
                </a:solidFill>
              </a:rPr>
              <a:t>k</a:t>
            </a:r>
            <a:r>
              <a:rPr lang="tr-TR" altLang="en-US" sz="2400" dirty="0">
                <a:solidFill>
                  <a:schemeClr val="tx1"/>
                </a:solidFill>
              </a:rPr>
              <a:t>, stop at “elbow”</a:t>
            </a:r>
            <a:endParaRPr lang="tr-TR" altLang="en-US" sz="2400" i="1" dirty="0">
              <a:solidFill>
                <a:schemeClr val="tx1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sz="20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82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36E4E8D3-54C2-4DF8-80E1-052E19AF6209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24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pic>
        <p:nvPicPr>
          <p:cNvPr id="3072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59785"/>
            <a:ext cx="7716839" cy="6207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191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95DF26-F257-4657-832A-4AD23EF7057D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69851"/>
            <a:ext cx="8915400" cy="708025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en-US" smtClean="0">
                <a:solidFill>
                  <a:srgbClr val="FF0000"/>
                </a:solidFill>
              </a:rPr>
              <a:t>Error</a:t>
            </a:r>
            <a:r>
              <a:rPr lang="en-US" altLang="en-US" smtClean="0">
                <a:solidFill>
                  <a:srgbClr val="000000"/>
                </a:solidFill>
              </a:rPr>
              <a:t> due to dimensionality reduction</a:t>
            </a:r>
          </a:p>
        </p:txBody>
      </p:sp>
      <p:pic>
        <p:nvPicPr>
          <p:cNvPr id="29700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2209800"/>
            <a:ext cx="4267200" cy="876300"/>
          </a:xfrm>
        </p:spPr>
      </p:pic>
      <p:pic>
        <p:nvPicPr>
          <p:cNvPr id="29701" name="Picture 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1" y="3733800"/>
            <a:ext cx="1935163" cy="609600"/>
          </a:xfrm>
        </p:spPr>
      </p:pic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1752600" y="990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1752600" y="1447800"/>
            <a:ext cx="861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00"/>
                </a:solidFill>
              </a:rPr>
              <a:t>The original vector </a:t>
            </a:r>
            <a:r>
              <a:rPr lang="en-US" altLang="en-US" sz="2400" i="1">
                <a:solidFill>
                  <a:srgbClr val="000000"/>
                </a:solidFill>
              </a:rPr>
              <a:t>x </a:t>
            </a:r>
            <a:r>
              <a:rPr lang="en-US" altLang="en-US" sz="2400">
                <a:solidFill>
                  <a:srgbClr val="000000"/>
                </a:solidFill>
              </a:rPr>
              <a:t>can be reconstructed using its principal components:</a:t>
            </a:r>
          </a:p>
        </p:txBody>
      </p:sp>
      <p:sp>
        <p:nvSpPr>
          <p:cNvPr id="29704" name="Rectangle 7"/>
          <p:cNvSpPr>
            <a:spLocks noChangeArrowheads="1"/>
          </p:cNvSpPr>
          <p:nvPr/>
        </p:nvSpPr>
        <p:spPr bwMode="auto">
          <a:xfrm>
            <a:off x="1752600" y="3171825"/>
            <a:ext cx="861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00"/>
                </a:solidFill>
              </a:rPr>
              <a:t>PCA minimizes the reconstruction error:</a:t>
            </a:r>
          </a:p>
        </p:txBody>
      </p:sp>
      <p:sp>
        <p:nvSpPr>
          <p:cNvPr id="29705" name="Rectangle 8"/>
          <p:cNvSpPr>
            <a:spLocks noChangeArrowheads="1"/>
          </p:cNvSpPr>
          <p:nvPr/>
        </p:nvSpPr>
        <p:spPr bwMode="auto">
          <a:xfrm>
            <a:off x="1752600" y="4572000"/>
            <a:ext cx="861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00"/>
                </a:solidFill>
              </a:rPr>
              <a:t>It can be shown that the reconstruction </a:t>
            </a:r>
            <a:r>
              <a:rPr lang="en-US" altLang="en-US" sz="2400">
                <a:solidFill>
                  <a:srgbClr val="FF0000"/>
                </a:solidFill>
              </a:rPr>
              <a:t>error</a:t>
            </a:r>
            <a:r>
              <a:rPr lang="en-US" altLang="en-US" sz="2400">
                <a:solidFill>
                  <a:srgbClr val="000000"/>
                </a:solidFill>
              </a:rPr>
              <a:t> is:</a:t>
            </a:r>
          </a:p>
        </p:txBody>
      </p:sp>
      <p:pic>
        <p:nvPicPr>
          <p:cNvPr id="29706" name="Picture 9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5257800"/>
            <a:ext cx="2171700" cy="946150"/>
          </a:xfrm>
        </p:spPr>
      </p:pic>
    </p:spTree>
    <p:extLst>
      <p:ext uri="{BB962C8B-B14F-4D97-AF65-F5344CB8AC3E}">
        <p14:creationId xmlns:p14="http://schemas.microsoft.com/office/powerpoint/2010/main" val="124418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27DCA7-3420-4D23-89F8-0AE9A2DAF193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69851"/>
            <a:ext cx="8521700" cy="708025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Normalization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752600" y="990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1752600" y="1524000"/>
            <a:ext cx="8610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The principal components are dependent on the </a:t>
            </a:r>
            <a:r>
              <a:rPr lang="en-US" altLang="en-US" sz="2400" i="1" dirty="0">
                <a:solidFill>
                  <a:srgbClr val="000000"/>
                </a:solidFill>
              </a:rPr>
              <a:t>units </a:t>
            </a:r>
            <a:r>
              <a:rPr lang="en-US" altLang="en-US" sz="2400" dirty="0">
                <a:solidFill>
                  <a:srgbClr val="000000"/>
                </a:solidFill>
              </a:rPr>
              <a:t>used to measure the original variables as well as on the </a:t>
            </a:r>
            <a:r>
              <a:rPr lang="en-US" altLang="en-US" sz="2400" i="1" dirty="0">
                <a:solidFill>
                  <a:srgbClr val="000000"/>
                </a:solidFill>
              </a:rPr>
              <a:t>range </a:t>
            </a:r>
            <a:r>
              <a:rPr lang="en-US" altLang="en-US" sz="2400" dirty="0">
                <a:solidFill>
                  <a:srgbClr val="000000"/>
                </a:solidFill>
              </a:rPr>
              <a:t>of values they assume.</a:t>
            </a: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Data should always be normalized prior to using PCA.</a:t>
            </a: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</a:rPr>
              <a:t>A common normalization method is to transform all the data to have </a:t>
            </a:r>
            <a:r>
              <a:rPr lang="en-US" altLang="en-US" sz="2400" dirty="0">
                <a:solidFill>
                  <a:srgbClr val="FF0000"/>
                </a:solidFill>
              </a:rPr>
              <a:t>zero mean </a:t>
            </a:r>
            <a:r>
              <a:rPr lang="en-US" altLang="en-US" sz="2400" dirty="0">
                <a:solidFill>
                  <a:srgbClr val="000000"/>
                </a:solidFill>
              </a:rPr>
              <a:t>and </a:t>
            </a:r>
            <a:r>
              <a:rPr lang="en-US" altLang="en-US" sz="2400" dirty="0">
                <a:solidFill>
                  <a:srgbClr val="FF0000"/>
                </a:solidFill>
              </a:rPr>
              <a:t>unit standard deviation</a:t>
            </a:r>
            <a:r>
              <a:rPr lang="en-US" altLang="en-US" sz="2400" dirty="0">
                <a:solidFill>
                  <a:srgbClr val="000000"/>
                </a:solidFill>
              </a:rPr>
              <a:t>:</a:t>
            </a:r>
          </a:p>
        </p:txBody>
      </p:sp>
      <p:pic>
        <p:nvPicPr>
          <p:cNvPr id="31750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0" y="5334000"/>
            <a:ext cx="7323138" cy="838200"/>
          </a:xfrm>
        </p:spPr>
      </p:pic>
    </p:spTree>
    <p:extLst>
      <p:ext uri="{BB962C8B-B14F-4D97-AF65-F5344CB8AC3E}">
        <p14:creationId xmlns:p14="http://schemas.microsoft.com/office/powerpoint/2010/main" val="173605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 Subset Selection</a:t>
            </a:r>
          </a:p>
        </p:txBody>
      </p:sp>
      <p:sp>
        <p:nvSpPr>
          <p:cNvPr id="8427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Another way to reduce dimensionality of data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Redundant features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 much or all of the information contained in one or more other attributes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purchase price of a product and the amount of sales tax paid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Irrelevant features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contain no information that is useful for the data mining task at hand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students' ID is often irrelevant to the task of predicting students' GPA</a:t>
            </a:r>
          </a:p>
        </p:txBody>
      </p:sp>
      <p:sp>
        <p:nvSpPr>
          <p:cNvPr id="842756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2757" name="Rectangle 5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7FCE-B178-4729-B202-22FC11F90396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64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Subset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4D225FAD-76D5-41C8-B0BD-50FB0BA34F1B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28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mtClean="0"/>
              <a:t>Have initial set of features of size d</a:t>
            </a:r>
          </a:p>
          <a:p>
            <a:pPr eaLnBrk="1" hangingPunct="1"/>
            <a:r>
              <a:rPr lang="en-US" altLang="en-US" smtClean="0"/>
              <a:t>There are 2^d  possible subsets</a:t>
            </a:r>
          </a:p>
          <a:p>
            <a:pPr eaLnBrk="1" hangingPunct="1"/>
            <a:r>
              <a:rPr lang="en-US" altLang="en-US" smtClean="0"/>
              <a:t>Need a criteria to decide which subset is the best</a:t>
            </a:r>
          </a:p>
          <a:p>
            <a:pPr eaLnBrk="1" hangingPunct="1"/>
            <a:r>
              <a:rPr lang="en-US" altLang="en-US" smtClean="0"/>
              <a:t>A way to search over the possible subsets</a:t>
            </a:r>
          </a:p>
          <a:p>
            <a:pPr eaLnBrk="1" hangingPunct="1"/>
            <a:r>
              <a:rPr lang="en-US" altLang="en-US" smtClean="0"/>
              <a:t>Can’t go over all 2^d possibilities </a:t>
            </a:r>
          </a:p>
          <a:p>
            <a:pPr eaLnBrk="1" hangingPunct="1"/>
            <a:r>
              <a:rPr lang="en-US" altLang="en-US" smtClean="0"/>
              <a:t>Need some heuristics</a:t>
            </a:r>
          </a:p>
        </p:txBody>
      </p:sp>
    </p:spTree>
    <p:extLst>
      <p:ext uri="{BB962C8B-B14F-4D97-AF65-F5344CB8AC3E}">
        <p14:creationId xmlns:p14="http://schemas.microsoft.com/office/powerpoint/2010/main" val="254752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“Goodness” of feature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03224FE4-5D72-470E-9BC6-337DFF4B6079}" type="slidenum">
              <a:rPr lang="tr-TR" altLang="en-US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29</a:t>
            </a:fld>
            <a:endParaRPr lang="tr-TR" altLang="en-US" sz="1200">
              <a:solidFill>
                <a:srgbClr val="FFFF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mtClean="0"/>
              <a:t> Supervised</a:t>
            </a:r>
          </a:p>
          <a:p>
            <a:pPr lvl="1" eaLnBrk="1" hangingPunct="1"/>
            <a:r>
              <a:rPr lang="en-US" altLang="en-US" smtClean="0"/>
              <a:t>Train using selected subset</a:t>
            </a:r>
          </a:p>
          <a:p>
            <a:pPr lvl="1" eaLnBrk="1" hangingPunct="1"/>
            <a:r>
              <a:rPr lang="en-US" altLang="en-US" smtClean="0"/>
              <a:t>Estimate error on validation data set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Unsupervised</a:t>
            </a:r>
          </a:p>
          <a:p>
            <a:pPr lvl="1" eaLnBrk="1" hangingPunct="1"/>
            <a:r>
              <a:rPr lang="en-US" altLang="en-US" smtClean="0"/>
              <a:t>Look at input only(e.g. age, income and savings) </a:t>
            </a:r>
          </a:p>
          <a:p>
            <a:pPr lvl="1" eaLnBrk="1" hangingPunct="1"/>
            <a:r>
              <a:rPr lang="en-US" altLang="en-US" smtClean="0"/>
              <a:t>Select subset of 2 that bear most of the information about the person </a:t>
            </a:r>
          </a:p>
        </p:txBody>
      </p:sp>
    </p:spTree>
    <p:extLst>
      <p:ext uri="{BB962C8B-B14F-4D97-AF65-F5344CB8AC3E}">
        <p14:creationId xmlns:p14="http://schemas.microsoft.com/office/powerpoint/2010/main" val="59281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F26C10-2B4E-4F1F-AB7D-561B2207563A}" type="slidenum">
              <a:rPr lang="en-US" altLang="en-US"/>
              <a:pPr/>
              <a:t>30</a:t>
            </a:fld>
            <a:endParaRPr lang="en-US" altLang="en-US" dirty="0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2317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Dimensionality Reduction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016000"/>
            <a:ext cx="10515600" cy="5160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Feature selection (i.e., attribute subset selection):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Select a minimum set of features </a:t>
            </a:r>
            <a:r>
              <a:rPr lang="en-US" altLang="en-US" dirty="0">
                <a:sym typeface="Symbol" panose="05050102010706020507" pitchFamily="18" charset="2"/>
              </a:rPr>
              <a:t>such that the probability distribution of different classes given the values for those features is as close as possible to the original distribution given the values of all features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reduce # of patterns in the patterns, easier to </a:t>
            </a:r>
            <a:r>
              <a:rPr lang="en-US" altLang="en-US" dirty="0" smtClean="0">
                <a:sym typeface="Symbol" panose="05050102010706020507" pitchFamily="18" charset="2"/>
              </a:rPr>
              <a:t>understand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Heuristic methods (due to exponential # of choices):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step-wise forward selection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step-wise backward elimination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combining forward selection and backward elimination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decision-tree induction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2730-91A1-419D-9491-7BF5BCB10550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8851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2530C2-EFEE-48B7-9DC3-A1CE32EEBBE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Heuristic Feature Selection Methods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There are 2</a:t>
            </a:r>
            <a:r>
              <a:rPr lang="en-US" altLang="en-US" baseline="30000" dirty="0"/>
              <a:t>d</a:t>
            </a:r>
            <a:r>
              <a:rPr lang="en-US" altLang="en-US" dirty="0"/>
              <a:t> possible sub-features of </a:t>
            </a:r>
            <a:r>
              <a:rPr lang="en-US" altLang="en-US" b="1" i="1" dirty="0"/>
              <a:t>d</a:t>
            </a:r>
            <a:r>
              <a:rPr lang="en-US" altLang="en-US" dirty="0"/>
              <a:t> features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Several heuristic feature selection methods: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Best single features under the feature independence assumption: choose by significance tests.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Best step-wise feature selection: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The best single-feature is picked first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Then next best feature condition to the first, ...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Step-wise feature elimination: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Repeatedly eliminate the worst feature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Best combined feature selection and elimination: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Optimal branch and bound: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Use feature elimination and backtracking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73C7C-3B30-49C3-92FD-27154930025C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0628"/>
      </p:ext>
    </p:extLst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Feature Subset Selection</a:t>
            </a:r>
          </a:p>
        </p:txBody>
      </p:sp>
      <p:sp>
        <p:nvSpPr>
          <p:cNvPr id="83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04900"/>
            <a:ext cx="9677401" cy="521970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Techniques:</a:t>
            </a:r>
          </a:p>
          <a:p>
            <a:pPr lvl="1"/>
            <a:r>
              <a:rPr lang="en-US" altLang="en-US" sz="2800" dirty="0"/>
              <a:t>Brute-force </a:t>
            </a:r>
            <a:r>
              <a:rPr lang="en-US" altLang="en-US" sz="2800" dirty="0" smtClean="0"/>
              <a:t>approach:</a:t>
            </a:r>
            <a:endParaRPr lang="en-US" altLang="en-US" sz="2800" dirty="0"/>
          </a:p>
          <a:p>
            <a:pPr lvl="2"/>
            <a:r>
              <a:rPr lang="en-US" altLang="en-US" sz="2400" dirty="0"/>
              <a:t>Try all possible feature subsets as input to data mining algorithm</a:t>
            </a:r>
          </a:p>
          <a:p>
            <a:pPr lvl="1"/>
            <a:r>
              <a:rPr lang="en-US" altLang="en-US" sz="2800" dirty="0"/>
              <a:t>Embedded approaches:</a:t>
            </a:r>
          </a:p>
          <a:p>
            <a:pPr lvl="2"/>
            <a:r>
              <a:rPr lang="en-US" altLang="en-US" sz="2400" dirty="0"/>
              <a:t> Feature selection occurs naturally as part of the data mining algorithm</a:t>
            </a:r>
          </a:p>
          <a:p>
            <a:pPr lvl="1"/>
            <a:r>
              <a:rPr lang="en-US" altLang="en-US" sz="2800" dirty="0"/>
              <a:t>Filter approaches:</a:t>
            </a:r>
          </a:p>
          <a:p>
            <a:pPr lvl="2"/>
            <a:r>
              <a:rPr lang="en-US" altLang="en-US" sz="2400" dirty="0"/>
              <a:t> Features are selected before data mining algorithm is run</a:t>
            </a:r>
          </a:p>
          <a:p>
            <a:pPr lvl="1"/>
            <a:r>
              <a:rPr lang="en-US" altLang="en-US" sz="2800" dirty="0"/>
              <a:t>Wrapper approaches:</a:t>
            </a:r>
          </a:p>
          <a:p>
            <a:pPr lvl="2"/>
            <a:r>
              <a:rPr lang="en-US" altLang="en-US" sz="2400" dirty="0"/>
              <a:t> Use the data mining algorithm as a black box to find best subset of attributes</a:t>
            </a:r>
          </a:p>
          <a:p>
            <a:pPr lvl="1"/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4E8C-88E8-47AA-AEA9-61DF6029C357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12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3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71576"/>
            <a:ext cx="9790593" cy="5330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38200" y="365125"/>
            <a:ext cx="10515600" cy="61277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/>
              <a:t>Feature Subset Selection Process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FE14-0FAB-4829-BDFF-149DE5C3AC0E}" type="datetime5">
              <a:rPr lang="en-US" smtClean="0"/>
              <a:t>29-Jan-18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02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 Creation</a:t>
            </a:r>
          </a:p>
        </p:txBody>
      </p:sp>
      <p:sp>
        <p:nvSpPr>
          <p:cNvPr id="85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409700"/>
            <a:ext cx="10922000" cy="4767263"/>
          </a:xfrm>
        </p:spPr>
        <p:txBody>
          <a:bodyPr/>
          <a:lstStyle/>
          <a:p>
            <a:r>
              <a:rPr lang="en-US" altLang="en-US" dirty="0"/>
              <a:t>Create new attributes that can capture the important information in a data set much more efficiently than the original attributes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Three general methodologies:</a:t>
            </a:r>
          </a:p>
          <a:p>
            <a:pPr lvl="1"/>
            <a:r>
              <a:rPr lang="en-US" altLang="en-US" dirty="0"/>
              <a:t>Feature Extraction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sz="2200" dirty="0"/>
              <a:t>domain-specific</a:t>
            </a:r>
          </a:p>
          <a:p>
            <a:pPr lvl="1"/>
            <a:r>
              <a:rPr lang="en-US" altLang="en-US" dirty="0"/>
              <a:t>Mapping Data to New Space</a:t>
            </a:r>
          </a:p>
          <a:p>
            <a:pPr lvl="1"/>
            <a:r>
              <a:rPr lang="en-US" altLang="en-US" dirty="0"/>
              <a:t>Feature Construction</a:t>
            </a:r>
          </a:p>
          <a:p>
            <a:pPr lvl="2"/>
            <a:r>
              <a:rPr lang="en-US" altLang="en-US" sz="2200" dirty="0"/>
              <a:t> combining features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9512-2925-48A8-9A3A-467E93736A44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79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97" y="533401"/>
            <a:ext cx="11650557" cy="568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4F65-83CE-4270-B289-129A88C0509D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0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9B5F3F-1BC2-4E9E-BBB1-66F08D65883D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282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Data Integration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22300" y="838200"/>
            <a:ext cx="10731500" cy="53387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integration: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combines data from multiple sources into a coherent store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Schema integration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integrate metadata from different sources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Entity identification problem: identify real world entities from multiple data sources, e.g., </a:t>
            </a:r>
            <a:r>
              <a:rPr lang="en-US" altLang="en-US" dirty="0" err="1"/>
              <a:t>A.cust</a:t>
            </a:r>
            <a:r>
              <a:rPr lang="en-US" altLang="en-US" dirty="0"/>
              <a:t>-id </a:t>
            </a:r>
            <a:r>
              <a:rPr lang="en-US" altLang="en-US" dirty="0">
                <a:sym typeface="Symbol" panose="05050102010706020507" pitchFamily="18" charset="2"/>
              </a:rPr>
              <a:t> </a:t>
            </a:r>
            <a:r>
              <a:rPr lang="en-US" altLang="en-US" dirty="0" err="1">
                <a:sym typeface="Symbol" panose="05050102010706020507" pitchFamily="18" charset="2"/>
              </a:rPr>
              <a:t>B.</a:t>
            </a:r>
            <a:r>
              <a:rPr lang="en-US" altLang="en-US" dirty="0" err="1"/>
              <a:t>cust</a:t>
            </a:r>
            <a:r>
              <a:rPr lang="en-US" altLang="en-US" dirty="0"/>
              <a:t>-#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Detecting and resolving data value conflicts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for the same real world entity, attribute values from different sources are different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possible reasons: different representations, different scales, e.g., metric vs. British units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D6FE-962E-4A7D-A887-56A11D22FC2F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0497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6943A9-0431-441C-AF56-9FB83F02F170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Handling Redundancy in Data Integration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Redundant data occur often when integration of multiple 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 same attribute may have different names in different 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One attribute may be a “derived” attribute in another table, e.g., annual revenue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Redundant data may be able to be detected by correlational analysis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Careful integration of the data from multiple sources may help reduce/avoid redundancies and inconsistencies and improve mining speed and quality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EB21C-E27A-46ED-9914-B27F830164D5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4038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Mapping Data to a New Space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4324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24325" name="Rectangle 5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8243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93"/>
          <a:stretch>
            <a:fillRect/>
          </a:stretch>
        </p:blipFill>
        <p:spPr bwMode="auto">
          <a:xfrm>
            <a:off x="7315200" y="2362201"/>
            <a:ext cx="4038600" cy="3302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32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/>
          <a:stretch>
            <a:fillRect/>
          </a:stretch>
        </p:blipFill>
        <p:spPr bwMode="auto">
          <a:xfrm>
            <a:off x="1524001" y="2362201"/>
            <a:ext cx="4128475" cy="330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3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" r="6209"/>
          <a:stretch>
            <a:fillRect/>
          </a:stretch>
        </p:blipFill>
        <p:spPr bwMode="auto">
          <a:xfrm>
            <a:off x="4571999" y="2362201"/>
            <a:ext cx="3763241" cy="330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4329" name="Text Box 9"/>
          <p:cNvSpPr txBox="1">
            <a:spLocks noChangeArrowheads="1"/>
          </p:cNvSpPr>
          <p:nvPr/>
        </p:nvSpPr>
        <p:spPr bwMode="auto">
          <a:xfrm>
            <a:off x="2381541" y="5726668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Two Sine Waves</a:t>
            </a:r>
          </a:p>
        </p:txBody>
      </p:sp>
      <p:sp>
        <p:nvSpPr>
          <p:cNvPr id="824330" name="Text Box 10"/>
          <p:cNvSpPr txBox="1">
            <a:spLocks noChangeArrowheads="1"/>
          </p:cNvSpPr>
          <p:nvPr/>
        </p:nvSpPr>
        <p:spPr bwMode="auto">
          <a:xfrm>
            <a:off x="5067300" y="5795803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Two Sine Waves + Noise</a:t>
            </a:r>
          </a:p>
        </p:txBody>
      </p:sp>
      <p:sp>
        <p:nvSpPr>
          <p:cNvPr id="824331" name="Text Box 11"/>
          <p:cNvSpPr txBox="1">
            <a:spLocks noChangeArrowheads="1"/>
          </p:cNvSpPr>
          <p:nvPr/>
        </p:nvSpPr>
        <p:spPr bwMode="auto">
          <a:xfrm>
            <a:off x="9080500" y="5802869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Frequency</a:t>
            </a:r>
          </a:p>
        </p:txBody>
      </p:sp>
      <p:sp>
        <p:nvSpPr>
          <p:cNvPr id="824332" name="Rectangle 12"/>
          <p:cNvSpPr>
            <a:spLocks noChangeArrowheads="1"/>
          </p:cNvSpPr>
          <p:nvPr/>
        </p:nvSpPr>
        <p:spPr bwMode="auto">
          <a:xfrm>
            <a:off x="1822450" y="1143000"/>
            <a:ext cx="83947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tabLst>
                <a:tab pos="1198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tabLst>
                <a:tab pos="1198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tabLst>
                <a:tab pos="1198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</a:t>
            </a:r>
          </a:p>
          <a:p>
            <a:pPr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690C-C33F-4F13-B63A-428CBBA97632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49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7630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Discretization Without Using Class Labels </a:t>
            </a:r>
          </a:p>
        </p:txBody>
      </p:sp>
      <p:pic>
        <p:nvPicPr>
          <p:cNvPr id="8745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32" y="633055"/>
            <a:ext cx="5083368" cy="254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45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51946"/>
            <a:ext cx="5463285" cy="262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45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79" y="3613666"/>
            <a:ext cx="4510571" cy="235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4503" name="Text Box 7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4504" name="Text Box 8"/>
          <p:cNvSpPr txBox="1">
            <a:spLocks noChangeArrowheads="1"/>
          </p:cNvSpPr>
          <p:nvPr/>
        </p:nvSpPr>
        <p:spPr bwMode="auto">
          <a:xfrm>
            <a:off x="2895600" y="3244334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Data</a:t>
            </a:r>
          </a:p>
        </p:txBody>
      </p:sp>
      <p:sp>
        <p:nvSpPr>
          <p:cNvPr id="874505" name="Text Box 9"/>
          <p:cNvSpPr txBox="1">
            <a:spLocks noChangeArrowheads="1"/>
          </p:cNvSpPr>
          <p:nvPr/>
        </p:nvSpPr>
        <p:spPr bwMode="auto">
          <a:xfrm>
            <a:off x="7494142" y="3244334"/>
            <a:ext cx="23356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Equal interval width</a:t>
            </a:r>
          </a:p>
        </p:txBody>
      </p:sp>
      <p:sp>
        <p:nvSpPr>
          <p:cNvPr id="874506" name="Text Box 10"/>
          <p:cNvSpPr txBox="1">
            <a:spLocks noChangeArrowheads="1"/>
          </p:cNvSpPr>
          <p:nvPr/>
        </p:nvSpPr>
        <p:spPr bwMode="auto">
          <a:xfrm>
            <a:off x="2362200" y="5987916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Equal frequency</a:t>
            </a:r>
          </a:p>
        </p:txBody>
      </p:sp>
      <p:sp>
        <p:nvSpPr>
          <p:cNvPr id="874507" name="Text Box 11"/>
          <p:cNvSpPr txBox="1">
            <a:spLocks noChangeArrowheads="1"/>
          </p:cNvSpPr>
          <p:nvPr/>
        </p:nvSpPr>
        <p:spPr bwMode="auto">
          <a:xfrm>
            <a:off x="7391400" y="6019800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K-means</a:t>
            </a:r>
          </a:p>
        </p:txBody>
      </p:sp>
      <p:pic>
        <p:nvPicPr>
          <p:cNvPr id="874508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142" y="3673268"/>
            <a:ext cx="4824858" cy="222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1240-4196-45BA-9325-2D50CA168D4C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17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DFCA32-0C5B-4039-958F-7256AF2FAD2D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Entropy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altLang="zh-TW" dirty="0">
                <a:ea typeface="新細明體" charset="-120"/>
              </a:rPr>
              <a:t>Formula for computing the entropy:</a:t>
            </a:r>
          </a:p>
          <a:p>
            <a:pPr marL="342900" indent="-342900"/>
            <a:endParaRPr lang="en-US" altLang="zh-TW" dirty="0" smtClean="0">
              <a:ea typeface="新細明體" charset="-120"/>
            </a:endParaRPr>
          </a:p>
          <a:p>
            <a:pPr marL="342900" indent="-342900"/>
            <a:endParaRPr lang="en-US" altLang="zh-TW" dirty="0">
              <a:ea typeface="新細明體" charset="-120"/>
            </a:endParaRPr>
          </a:p>
          <a:p>
            <a:pPr marL="342900" indent="-342900"/>
            <a:endParaRPr lang="en-US" altLang="zh-TW" dirty="0" smtClean="0">
              <a:ea typeface="新細明體" charset="-120"/>
            </a:endParaRPr>
          </a:p>
          <a:p>
            <a:pPr marL="342900" indent="-342900"/>
            <a:endParaRPr lang="en-US" altLang="zh-TW" dirty="0">
              <a:ea typeface="新細明體" charset="-120"/>
            </a:endParaRPr>
          </a:p>
          <a:p>
            <a:pPr marL="342900" indent="-342900"/>
            <a:endParaRPr lang="en-US" altLang="zh-TW" dirty="0">
              <a:ea typeface="新細明體" charset="-120"/>
            </a:endParaRPr>
          </a:p>
        </p:txBody>
      </p:sp>
      <p:graphicFrame>
        <p:nvGraphicFramePr>
          <p:cNvPr id="182276" name="Object 4"/>
          <p:cNvGraphicFramePr>
            <a:graphicFrameLocks noChangeAspect="1"/>
          </p:cNvGraphicFramePr>
          <p:nvPr/>
        </p:nvGraphicFramePr>
        <p:xfrm>
          <a:off x="2286000" y="2230438"/>
          <a:ext cx="8001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6781680" imgH="380880" progId="Equation.3">
                  <p:embed/>
                </p:oleObj>
              </mc:Choice>
              <mc:Fallback>
                <p:oleObj name="Equation" r:id="rId3" imgW="67816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30438"/>
                        <a:ext cx="8001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/>
          </p:nvPr>
        </p:nvGraphicFramePr>
        <p:xfrm>
          <a:off x="3079750" y="3065463"/>
          <a:ext cx="537368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5" imgW="1778000" imgH="368300" progId="Equation.DSMT4">
                  <p:embed/>
                </p:oleObj>
              </mc:Choice>
              <mc:Fallback>
                <p:oleObj name="Equation" r:id="rId5" imgW="17780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3065463"/>
                        <a:ext cx="5373688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95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876800" y="6553200"/>
            <a:ext cx="1244600" cy="304800"/>
          </a:xfrm>
          <a:prstGeom prst="rect">
            <a:avLst/>
          </a:prstGeom>
        </p:spPr>
        <p:txBody>
          <a:bodyPr/>
          <a:lstStyle/>
          <a:p>
            <a:fld id="{5919A77A-284D-442E-9EFC-51E4A744A8AB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新細明體" charset="-120"/>
              </a:rPr>
              <a:t>Example: fair coin throw 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066800"/>
            <a:ext cx="4953000" cy="4724400"/>
          </a:xfrm>
        </p:spPr>
        <p:txBody>
          <a:bodyPr/>
          <a:lstStyle/>
          <a:p>
            <a:pPr marL="342900" indent="-342900"/>
            <a:r>
              <a:rPr lang="en-US" altLang="zh-TW" sz="2400" dirty="0">
                <a:ea typeface="新細明體" charset="-120"/>
              </a:rPr>
              <a:t>P (head)  = 0.5</a:t>
            </a:r>
          </a:p>
          <a:p>
            <a:pPr marL="342900" indent="-342900"/>
            <a:r>
              <a:rPr lang="en-US" altLang="zh-TW" sz="2400" dirty="0">
                <a:ea typeface="新細明體" charset="-120"/>
              </a:rPr>
              <a:t>P (tail) = 0.5</a:t>
            </a:r>
          </a:p>
          <a:p>
            <a:pPr marL="342900" indent="-342900"/>
            <a:endParaRPr lang="en-US" altLang="zh-TW" sz="2400" dirty="0">
              <a:ea typeface="新細明體" charset="-120"/>
            </a:endParaRPr>
          </a:p>
          <a:p>
            <a:pPr marL="342900" indent="-342900"/>
            <a:endParaRPr lang="en-US" altLang="zh-TW" sz="2400" dirty="0">
              <a:ea typeface="新細明體" charset="-120"/>
            </a:endParaRPr>
          </a:p>
          <a:p>
            <a:pPr marL="342900" indent="-342900"/>
            <a:endParaRPr lang="en-US" altLang="zh-TW" sz="2400" dirty="0">
              <a:ea typeface="新細明體" charset="-120"/>
            </a:endParaRPr>
          </a:p>
          <a:p>
            <a:pPr marL="342900" indent="-342900"/>
            <a:endParaRPr lang="en-US" altLang="zh-TW" sz="2400" dirty="0">
              <a:ea typeface="新細明體" charset="-120"/>
            </a:endParaRPr>
          </a:p>
        </p:txBody>
      </p:sp>
      <p:graphicFrame>
        <p:nvGraphicFramePr>
          <p:cNvPr id="183300" name="Object 4"/>
          <p:cNvGraphicFramePr>
            <a:graphicFrameLocks noChangeAspect="1"/>
          </p:cNvGraphicFramePr>
          <p:nvPr>
            <p:extLst/>
          </p:nvPr>
        </p:nvGraphicFramePr>
        <p:xfrm>
          <a:off x="5041900" y="3369467"/>
          <a:ext cx="533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3" imgW="1206360" imgH="177480" progId="Equation.3">
                  <p:embed/>
                </p:oleObj>
              </mc:Choice>
              <mc:Fallback>
                <p:oleObj name="Equation" r:id="rId3" imgW="1206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3369467"/>
                        <a:ext cx="5334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ChangeAspect="1"/>
          </p:cNvGraphicFramePr>
          <p:nvPr>
            <p:extLst/>
          </p:nvPr>
        </p:nvGraphicFramePr>
        <p:xfrm>
          <a:off x="5029200" y="1829592"/>
          <a:ext cx="39624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5" imgW="1155600" imgH="203040" progId="Equation.3">
                  <p:embed/>
                </p:oleObj>
              </mc:Choice>
              <mc:Fallback>
                <p:oleObj name="Equation" r:id="rId5" imgW="1155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829592"/>
                        <a:ext cx="39624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6"/>
          <p:cNvGraphicFramePr>
            <a:graphicFrameLocks noChangeAspect="1"/>
          </p:cNvGraphicFramePr>
          <p:nvPr>
            <p:extLst/>
          </p:nvPr>
        </p:nvGraphicFramePr>
        <p:xfrm>
          <a:off x="4522789" y="2545554"/>
          <a:ext cx="68548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7" imgW="1917360" imgH="215640" progId="Equation.3">
                  <p:embed/>
                </p:oleObj>
              </mc:Choice>
              <mc:Fallback>
                <p:oleObj name="Equation" r:id="rId7" imgW="1917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9" y="2545554"/>
                        <a:ext cx="685482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25450" y="387760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/>
              <a:t>Example:  Coin Flip</a:t>
            </a:r>
          </a:p>
          <a:p>
            <a:pPr lvl="1"/>
            <a:r>
              <a:rPr lang="en-US" altLang="en-US" sz="2400" i="1" dirty="0"/>
              <a:t>A</a:t>
            </a:r>
            <a:r>
              <a:rPr lang="en-US" altLang="en-US" sz="2400" i="1" baseline="-25000" dirty="0"/>
              <a:t>X</a:t>
            </a:r>
            <a:r>
              <a:rPr lang="en-US" altLang="en-US" sz="2400" i="1" dirty="0"/>
              <a:t> = {heads, tails}</a:t>
            </a:r>
            <a:endParaRPr lang="en-US" altLang="en-US" sz="2400" dirty="0"/>
          </a:p>
          <a:p>
            <a:pPr lvl="1"/>
            <a:r>
              <a:rPr lang="en-US" altLang="en-US" sz="2400" i="1" dirty="0"/>
              <a:t>P(heads) = P(tails) =</a:t>
            </a:r>
            <a:r>
              <a:rPr lang="en-US" altLang="en-US" sz="2400" dirty="0"/>
              <a:t> ½</a:t>
            </a:r>
          </a:p>
          <a:p>
            <a:pPr lvl="1"/>
            <a:r>
              <a:rPr lang="en-US" altLang="en-US" sz="2400" i="1" dirty="0"/>
              <a:t>½ </a:t>
            </a:r>
            <a:r>
              <a:rPr lang="en-US" altLang="en-US" sz="2400" dirty="0"/>
              <a:t>log</a:t>
            </a:r>
            <a:r>
              <a:rPr lang="en-US" altLang="en-US" sz="2400" i="1" baseline="-25000" dirty="0"/>
              <a:t>2</a:t>
            </a:r>
            <a:r>
              <a:rPr lang="en-US" altLang="en-US" sz="2400" i="1" dirty="0"/>
              <a:t>(½) = ½ * - 1</a:t>
            </a:r>
          </a:p>
          <a:p>
            <a:pPr lvl="1"/>
            <a:r>
              <a:rPr lang="en-US" altLang="en-US" sz="2400" i="1" dirty="0"/>
              <a:t>H(X) = 1</a:t>
            </a:r>
          </a:p>
        </p:txBody>
      </p:sp>
    </p:spTree>
    <p:extLst>
      <p:ext uri="{BB962C8B-B14F-4D97-AF65-F5344CB8AC3E}">
        <p14:creationId xmlns:p14="http://schemas.microsoft.com/office/powerpoint/2010/main" val="17553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 smtClean="0"/>
              <a:t>CS F415</a:t>
            </a:r>
            <a:endParaRPr lang="en-US" altLang="en-US" dirty="0"/>
          </a:p>
        </p:txBody>
      </p:sp>
      <p:sp>
        <p:nvSpPr>
          <p:cNvPr id="604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45EC02-F1C0-4D2B-84EE-69D603535D0D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70000"/>
            <a:ext cx="10515600" cy="490696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What </a:t>
            </a:r>
            <a:r>
              <a:rPr lang="en-US" altLang="en-US" dirty="0"/>
              <a:t>about a two-headed coin?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 smtClean="0"/>
              <a:t>Conditional </a:t>
            </a:r>
            <a:r>
              <a:rPr lang="en-US" altLang="en-US" dirty="0"/>
              <a:t>Entropy:</a:t>
            </a:r>
          </a:p>
        </p:txBody>
      </p:sp>
      <p:graphicFrame>
        <p:nvGraphicFramePr>
          <p:cNvPr id="674821" name="Object 5"/>
          <p:cNvGraphicFramePr>
            <a:graphicFrameLocks noChangeAspect="1"/>
          </p:cNvGraphicFramePr>
          <p:nvPr>
            <p:extLst/>
          </p:nvPr>
        </p:nvGraphicFramePr>
        <p:xfrm>
          <a:off x="2755900" y="5419725"/>
          <a:ext cx="47244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3" imgW="1828800" imgH="368280" progId="Equation.DSMT4">
                  <p:embed/>
                </p:oleObj>
              </mc:Choice>
              <mc:Fallback>
                <p:oleObj name="Equation" r:id="rId3" imgW="18288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5419725"/>
                        <a:ext cx="47244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4F424-8254-445E-9F83-7D4796851F36}" type="datetime5">
              <a:rPr lang="en-US" smtClean="0"/>
              <a:t>29-Jan-18</a:t>
            </a:fld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9800" y="161926"/>
            <a:ext cx="11074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ea typeface="新細明體" charset="-120"/>
              </a:rPr>
              <a:t>Example: biased coin throw </a:t>
            </a:r>
            <a:endParaRPr lang="en-US" altLang="zh-TW" dirty="0">
              <a:ea typeface="新細明體" charset="-120"/>
            </a:endParaRPr>
          </a:p>
        </p:txBody>
      </p:sp>
      <p:graphicFrame>
        <p:nvGraphicFramePr>
          <p:cNvPr id="11" name="Group 3"/>
          <p:cNvGraphicFramePr>
            <a:graphicFrameLocks/>
          </p:cNvGraphicFramePr>
          <p:nvPr/>
        </p:nvGraphicFramePr>
        <p:xfrm>
          <a:off x="3276600" y="1905001"/>
          <a:ext cx="5181600" cy="2843213"/>
        </p:xfrm>
        <a:graphic>
          <a:graphicData uri="http://schemas.openxmlformats.org/drawingml/2006/table">
            <a:tbl>
              <a:tblPr/>
              <a:tblGrid>
                <a:gridCol w="1336675"/>
                <a:gridCol w="706438"/>
                <a:gridCol w="1046162"/>
                <a:gridCol w="1046163"/>
                <a:gridCol w="1046162"/>
              </a:tblGrid>
              <a:tr h="838200"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P(head)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P(tail)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213"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0.469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76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7D80FF-841B-4B57-B398-E9BF9993072E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Entropy of a split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zh-TW">
                <a:ea typeface="新細明體" charset="-120"/>
              </a:rPr>
              <a:t>Information in a split with </a:t>
            </a:r>
            <a:r>
              <a:rPr lang="en-US" altLang="zh-TW" b="1" i="1">
                <a:ea typeface="新細明體" charset="-120"/>
              </a:rPr>
              <a:t>x</a:t>
            </a:r>
            <a:r>
              <a:rPr lang="en-US" altLang="zh-TW">
                <a:ea typeface="新細明體" charset="-120"/>
              </a:rPr>
              <a:t> items of one class, </a:t>
            </a:r>
            <a:r>
              <a:rPr lang="en-US" altLang="zh-TW" b="1" i="1">
                <a:ea typeface="新細明體" charset="-120"/>
              </a:rPr>
              <a:t>y</a:t>
            </a:r>
            <a:r>
              <a:rPr lang="en-US" altLang="zh-TW">
                <a:ea typeface="新細明體" charset="-120"/>
              </a:rPr>
              <a:t> items of the second class</a:t>
            </a: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2286000" y="2590801"/>
          <a:ext cx="6630988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3" imgW="2158920" imgH="419040" progId="Equation.3">
                  <p:embed/>
                </p:oleObj>
              </mc:Choice>
              <mc:Fallback>
                <p:oleObj name="Equation" r:id="rId3" imgW="2158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1"/>
                        <a:ext cx="6630988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2438400" y="4038601"/>
          <a:ext cx="66294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5" imgW="2412720" imgH="419040" progId="Equation.3">
                  <p:embed/>
                </p:oleObj>
              </mc:Choice>
              <mc:Fallback>
                <p:oleObj name="Equation" r:id="rId5" imgW="24127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038601"/>
                        <a:ext cx="66294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310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876800" y="6553200"/>
            <a:ext cx="1244600" cy="304800"/>
          </a:xfrm>
          <a:prstGeom prst="rect">
            <a:avLst/>
          </a:prstGeom>
        </p:spPr>
        <p:txBody>
          <a:bodyPr/>
          <a:lstStyle/>
          <a:p>
            <a:fld id="{AE6848A7-DC67-4F8D-B6F2-39885B4276BE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新細明體" charset="-120"/>
              </a:rPr>
              <a:t>Example: attribute “Outlook” 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066800"/>
            <a:ext cx="4953000" cy="4724400"/>
          </a:xfrm>
        </p:spPr>
        <p:txBody>
          <a:bodyPr/>
          <a:lstStyle/>
          <a:p>
            <a:pPr marL="342900" indent="-342900"/>
            <a:r>
              <a:rPr lang="zh-TW" altLang="en-US" sz="2400">
                <a:ea typeface="新細明體" charset="-120"/>
              </a:rPr>
              <a:t>“</a:t>
            </a:r>
            <a:r>
              <a:rPr lang="en-US" altLang="zh-TW" sz="2400">
                <a:ea typeface="新細明體" charset="-120"/>
              </a:rPr>
              <a:t>Outlook” = “Sunny”: 2 and 3 split</a:t>
            </a:r>
          </a:p>
          <a:p>
            <a:pPr marL="342900" indent="-342900"/>
            <a:endParaRPr lang="en-US" altLang="zh-TW" sz="2400">
              <a:ea typeface="新細明體" charset="-120"/>
            </a:endParaRPr>
          </a:p>
          <a:p>
            <a:pPr marL="342900" indent="-342900"/>
            <a:endParaRPr lang="en-US" altLang="zh-TW" sz="2400">
              <a:ea typeface="新細明體" charset="-120"/>
            </a:endParaRPr>
          </a:p>
          <a:p>
            <a:pPr marL="342900" indent="-342900"/>
            <a:endParaRPr lang="en-US" altLang="zh-TW" sz="2400">
              <a:ea typeface="新細明體" charset="-120"/>
            </a:endParaRPr>
          </a:p>
          <a:p>
            <a:pPr marL="342900" indent="-342900"/>
            <a:endParaRPr lang="en-US" altLang="zh-TW" sz="2400">
              <a:ea typeface="新細明體" charset="-120"/>
            </a:endParaRP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2057400" y="1600200"/>
          <a:ext cx="8153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3" imgW="3987720" imgH="393480" progId="Equation.3">
                  <p:embed/>
                </p:oleObj>
              </mc:Choice>
              <mc:Fallback>
                <p:oleObj name="Equation" r:id="rId3" imgW="3987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8153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637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667000"/>
            <a:ext cx="4076700" cy="288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2819400" y="3886200"/>
            <a:ext cx="1295400" cy="190500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9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6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876800" y="6553200"/>
            <a:ext cx="1244600" cy="304800"/>
          </a:xfrm>
          <a:prstGeom prst="rect">
            <a:avLst/>
          </a:prstGeom>
        </p:spPr>
        <p:txBody>
          <a:bodyPr/>
          <a:lstStyle/>
          <a:p>
            <a:fld id="{7B949793-BD60-4B8C-9576-3A41DE39027D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新細明體" charset="-120"/>
              </a:rPr>
              <a:t>Outlook = Overcast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066800"/>
            <a:ext cx="4953000" cy="4724400"/>
          </a:xfrm>
        </p:spPr>
        <p:txBody>
          <a:bodyPr/>
          <a:lstStyle/>
          <a:p>
            <a:pPr marL="342900" indent="-342900"/>
            <a:r>
              <a:rPr lang="en-US" altLang="zh-TW" sz="2400">
                <a:ea typeface="新細明體" charset="-120"/>
              </a:rPr>
              <a:t>“Outlook” = “Overcast”: 4/0 split</a:t>
            </a:r>
          </a:p>
          <a:p>
            <a:pPr marL="342900" indent="-342900"/>
            <a:endParaRPr lang="en-US" altLang="zh-TW" sz="2400">
              <a:ea typeface="新細明體" charset="-120"/>
            </a:endParaRPr>
          </a:p>
        </p:txBody>
      </p:sp>
      <p:grpSp>
        <p:nvGrpSpPr>
          <p:cNvPr id="187396" name="Group 4"/>
          <p:cNvGrpSpPr>
            <a:grpSpLocks/>
          </p:cNvGrpSpPr>
          <p:nvPr/>
        </p:nvGrpSpPr>
        <p:grpSpPr bwMode="auto">
          <a:xfrm>
            <a:off x="1752600" y="1752600"/>
            <a:ext cx="8763000" cy="1200150"/>
            <a:chOff x="144" y="1536"/>
            <a:chExt cx="5520" cy="756"/>
          </a:xfrm>
        </p:grpSpPr>
        <p:graphicFrame>
          <p:nvGraphicFramePr>
            <p:cNvPr id="187397" name="Object 5"/>
            <p:cNvGraphicFramePr>
              <a:graphicFrameLocks noChangeAspect="1"/>
            </p:cNvGraphicFramePr>
            <p:nvPr/>
          </p:nvGraphicFramePr>
          <p:xfrm>
            <a:off x="144" y="1776"/>
            <a:ext cx="414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3" imgW="6578280" imgH="342720" progId="Equation.3">
                    <p:embed/>
                  </p:oleObj>
                </mc:Choice>
                <mc:Fallback>
                  <p:oleObj name="Equation" r:id="rId3" imgW="6578280" imgH="342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776"/>
                          <a:ext cx="414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398" name="AutoShape 6"/>
            <p:cNvSpPr>
              <a:spLocks noChangeArrowheads="1"/>
            </p:cNvSpPr>
            <p:nvPr/>
          </p:nvSpPr>
          <p:spPr bwMode="auto">
            <a:xfrm flipH="1">
              <a:off x="3360" y="1636"/>
              <a:ext cx="1008" cy="327"/>
            </a:xfrm>
            <a:custGeom>
              <a:avLst/>
              <a:gdLst>
                <a:gd name="G0" fmla="+- -2097096 0 0"/>
                <a:gd name="G1" fmla="+- -8374990 0 0"/>
                <a:gd name="G2" fmla="+- -2097096 0 -8374990"/>
                <a:gd name="G3" fmla="+- 10800 0 0"/>
                <a:gd name="G4" fmla="+- 0 0 -2097096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9728 0 0"/>
                <a:gd name="G9" fmla="+- 0 0 -8374990"/>
                <a:gd name="G10" fmla="+- 9728 0 2700"/>
                <a:gd name="G11" fmla="cos G10 -2097096"/>
                <a:gd name="G12" fmla="sin G10 -2097096"/>
                <a:gd name="G13" fmla="cos 13500 -2097096"/>
                <a:gd name="G14" fmla="sin 13500 -2097096"/>
                <a:gd name="G15" fmla="+- G11 10800 0"/>
                <a:gd name="G16" fmla="+- G12 10800 0"/>
                <a:gd name="G17" fmla="+- G13 10800 0"/>
                <a:gd name="G18" fmla="+- G14 10800 0"/>
                <a:gd name="G19" fmla="*/ 9728 1 2"/>
                <a:gd name="G20" fmla="+- G19 5400 0"/>
                <a:gd name="G21" fmla="cos G20 -2097096"/>
                <a:gd name="G22" fmla="sin G20 -2097096"/>
                <a:gd name="G23" fmla="+- G21 10800 0"/>
                <a:gd name="G24" fmla="+- G12 G23 G22"/>
                <a:gd name="G25" fmla="+- G22 G23 G11"/>
                <a:gd name="G26" fmla="cos 10800 -2097096"/>
                <a:gd name="G27" fmla="sin 10800 -2097096"/>
                <a:gd name="G28" fmla="cos 9728 -2097096"/>
                <a:gd name="G29" fmla="sin 9728 -2097096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374990"/>
                <a:gd name="G36" fmla="sin G34 -8374990"/>
                <a:gd name="G37" fmla="+/ -8374990 -2097096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9728 G39"/>
                <a:gd name="G43" fmla="sin 97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12694 w 21600"/>
                <a:gd name="T5" fmla="*/ 167 h 21600"/>
                <a:gd name="T6" fmla="*/ 4510 w 21600"/>
                <a:gd name="T7" fmla="*/ 2688 h 21600"/>
                <a:gd name="T8" fmla="*/ 12506 w 21600"/>
                <a:gd name="T9" fmla="*/ 1222 h 21600"/>
                <a:gd name="T10" fmla="*/ 22248 w 21600"/>
                <a:gd name="T11" fmla="*/ 3646 h 21600"/>
                <a:gd name="T12" fmla="*/ 21218 w 21600"/>
                <a:gd name="T13" fmla="*/ 8105 h 21600"/>
                <a:gd name="T14" fmla="*/ 16760 w 21600"/>
                <a:gd name="T15" fmla="*/ 7075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9049" y="5645"/>
                  </a:moveTo>
                  <a:cubicBezTo>
                    <a:pt x="17272" y="2800"/>
                    <a:pt x="14154" y="1072"/>
                    <a:pt x="10800" y="1072"/>
                  </a:cubicBezTo>
                  <a:cubicBezTo>
                    <a:pt x="8641" y="1072"/>
                    <a:pt x="6544" y="1789"/>
                    <a:pt x="4838" y="3112"/>
                  </a:cubicBezTo>
                  <a:lnTo>
                    <a:pt x="4181" y="2265"/>
                  </a:lnTo>
                  <a:cubicBezTo>
                    <a:pt x="6075" y="796"/>
                    <a:pt x="8403" y="0"/>
                    <a:pt x="10800" y="0"/>
                  </a:cubicBezTo>
                  <a:cubicBezTo>
                    <a:pt x="14524" y="0"/>
                    <a:pt x="17985" y="1918"/>
                    <a:pt x="19959" y="5077"/>
                  </a:cubicBezTo>
                  <a:lnTo>
                    <a:pt x="22248" y="3646"/>
                  </a:lnTo>
                  <a:lnTo>
                    <a:pt x="21218" y="8105"/>
                  </a:lnTo>
                  <a:lnTo>
                    <a:pt x="16760" y="7075"/>
                  </a:lnTo>
                  <a:lnTo>
                    <a:pt x="19049" y="56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7399" name="Text Box 7"/>
            <p:cNvSpPr txBox="1">
              <a:spLocks noChangeArrowheads="1"/>
            </p:cNvSpPr>
            <p:nvPr/>
          </p:nvSpPr>
          <p:spPr bwMode="auto">
            <a:xfrm>
              <a:off x="4224" y="1536"/>
              <a:ext cx="144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TW" b="1" i="1" dirty="0">
                  <a:solidFill>
                    <a:schemeClr val="folHlink"/>
                  </a:solidFill>
                  <a:ea typeface="新細明體" charset="-120"/>
                </a:rPr>
                <a:t>Note: log(0) is not defined, but we evaluate 0*log(0) as zero</a:t>
              </a:r>
            </a:p>
          </p:txBody>
        </p:sp>
      </p:grpSp>
      <p:pic>
        <p:nvPicPr>
          <p:cNvPr id="187400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2971800"/>
            <a:ext cx="4076700" cy="2882900"/>
          </a:xfrm>
          <a:ln/>
        </p:spPr>
      </p:pic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4267200" y="4267200"/>
            <a:ext cx="1295400" cy="190500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9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1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2A6FC-C6C7-4CDF-84E9-1568CA2E4849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Outlook = Rainy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4495800"/>
          </a:xfrm>
        </p:spPr>
        <p:txBody>
          <a:bodyPr/>
          <a:lstStyle/>
          <a:p>
            <a:pPr marL="342900" indent="-342900"/>
            <a:r>
              <a:rPr lang="en-US" altLang="zh-TW">
                <a:ea typeface="新細明體" charset="-120"/>
              </a:rPr>
              <a:t>“Outlook” = “Rainy”:</a:t>
            </a:r>
          </a:p>
          <a:p>
            <a:pPr marL="342900" indent="-342900"/>
            <a:endParaRPr lang="en-US" altLang="zh-TW">
              <a:ea typeface="新細明體" charset="-120"/>
            </a:endParaRPr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981200" y="1981200"/>
          <a:ext cx="8153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3" imgW="3987720" imgH="393480" progId="Equation.3">
                  <p:embed/>
                </p:oleObj>
              </mc:Choice>
              <mc:Fallback>
                <p:oleObj name="Equation" r:id="rId3" imgW="3987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1200"/>
                        <a:ext cx="8153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842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971800"/>
            <a:ext cx="40767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2" name="Rectangle 6"/>
          <p:cNvSpPr>
            <a:spLocks noChangeArrowheads="1"/>
          </p:cNvSpPr>
          <p:nvPr/>
        </p:nvSpPr>
        <p:spPr bwMode="auto">
          <a:xfrm>
            <a:off x="5867400" y="4267200"/>
            <a:ext cx="1295400" cy="190500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9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8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5C7EF-8E5E-4A99-A19F-457E4FCD4C51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Expected Information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4495800"/>
          </a:xfrm>
        </p:spPr>
        <p:txBody>
          <a:bodyPr/>
          <a:lstStyle/>
          <a:p>
            <a:pPr marL="342900" indent="-342900">
              <a:buNone/>
            </a:pPr>
            <a:r>
              <a:rPr lang="en-US" altLang="zh-TW">
                <a:ea typeface="新細明體" charset="-120"/>
              </a:rPr>
              <a:t>Expected information for attribute:</a:t>
            </a:r>
          </a:p>
        </p:txBody>
      </p:sp>
      <p:graphicFrame>
        <p:nvGraphicFramePr>
          <p:cNvPr id="189444" name="Object 4"/>
          <p:cNvGraphicFramePr>
            <a:graphicFrameLocks noChangeAspect="1"/>
          </p:cNvGraphicFramePr>
          <p:nvPr/>
        </p:nvGraphicFramePr>
        <p:xfrm>
          <a:off x="1905000" y="2667000"/>
          <a:ext cx="805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3" imgW="8051760" imgH="342720" progId="Equation.3">
                  <p:embed/>
                </p:oleObj>
              </mc:Choice>
              <mc:Fallback>
                <p:oleObj name="Equation" r:id="rId3" imgW="80517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67000"/>
                        <a:ext cx="805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5" name="Object 5"/>
          <p:cNvGraphicFramePr>
            <a:graphicFrameLocks noChangeAspect="1"/>
          </p:cNvGraphicFramePr>
          <p:nvPr/>
        </p:nvGraphicFramePr>
        <p:xfrm>
          <a:off x="4419600" y="3810000"/>
          <a:ext cx="1447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5" imgW="1447560" imgH="279360" progId="Equation.3">
                  <p:embed/>
                </p:oleObj>
              </mc:Choice>
              <mc:Fallback>
                <p:oleObj name="Equation" r:id="rId5" imgW="144756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810000"/>
                        <a:ext cx="1447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637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0D1739-BDFF-4F01-8A8B-A40B9235218F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Computing the information gain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47800"/>
            <a:ext cx="8305800" cy="4876800"/>
          </a:xfrm>
        </p:spPr>
        <p:txBody>
          <a:bodyPr/>
          <a:lstStyle/>
          <a:p>
            <a:pPr marL="342900" indent="-342900"/>
            <a:r>
              <a:rPr lang="en-US" altLang="zh-TW">
                <a:ea typeface="新細明體" charset="-120"/>
              </a:rPr>
              <a:t>Information gain: </a:t>
            </a:r>
          </a:p>
          <a:p>
            <a:pPr marL="342900" indent="-342900">
              <a:buNone/>
            </a:pPr>
            <a:r>
              <a:rPr lang="en-US" altLang="zh-TW">
                <a:ea typeface="新細明體" charset="-120"/>
              </a:rPr>
              <a:t>(information before split) – (information after split)</a:t>
            </a:r>
          </a:p>
          <a:p>
            <a:pPr marL="342900" indent="-342900"/>
            <a:endParaRPr lang="en-US" altLang="zh-TW">
              <a:ea typeface="新細明體" charset="-120"/>
            </a:endParaRPr>
          </a:p>
          <a:p>
            <a:pPr marL="342900" indent="-342900"/>
            <a:endParaRPr lang="en-US" altLang="zh-TW">
              <a:ea typeface="新細明體" charset="-120"/>
            </a:endParaRPr>
          </a:p>
          <a:p>
            <a:pPr marL="342900" indent="-342900"/>
            <a:r>
              <a:rPr lang="en-US" altLang="zh-TW">
                <a:ea typeface="新細明體" charset="-120"/>
              </a:rPr>
              <a:t>Information gain for attributes from weather data:</a:t>
            </a:r>
          </a:p>
        </p:txBody>
      </p:sp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1828800" y="2819401"/>
          <a:ext cx="8610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quation" r:id="rId3" imgW="4203360" imgH="203040" progId="Equation.3">
                  <p:embed/>
                </p:oleObj>
              </mc:Choice>
              <mc:Fallback>
                <p:oleObj name="Equation" r:id="rId3" imgW="4203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19401"/>
                        <a:ext cx="8610600" cy="415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4114800" y="3276600"/>
          <a:ext cx="146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Equation" r:id="rId5" imgW="1460160" imgH="279360" progId="Equation.3">
                  <p:embed/>
                </p:oleObj>
              </mc:Choice>
              <mc:Fallback>
                <p:oleObj name="Equation" r:id="rId5" imgW="146016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76600"/>
                        <a:ext cx="1460500" cy="279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3962400" y="4572000"/>
          <a:ext cx="353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7" imgW="3530520" imgH="342720" progId="Equation.3">
                  <p:embed/>
                </p:oleObj>
              </mc:Choice>
              <mc:Fallback>
                <p:oleObj name="Equation" r:id="rId7" imgW="353052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72000"/>
                        <a:ext cx="353060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3962400" y="5029200"/>
          <a:ext cx="38798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9" imgW="4076640" imgH="342720" progId="Equation.3">
                  <p:embed/>
                </p:oleObj>
              </mc:Choice>
              <mc:Fallback>
                <p:oleObj name="Equation" r:id="rId9" imgW="40766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029200"/>
                        <a:ext cx="387985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3962400" y="5486400"/>
          <a:ext cx="369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Equation" r:id="rId11" imgW="3695400" imgH="342720" progId="Equation.3">
                  <p:embed/>
                </p:oleObj>
              </mc:Choice>
              <mc:Fallback>
                <p:oleObj name="Equation" r:id="rId11" imgW="36954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486400"/>
                        <a:ext cx="369570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3962400" y="5943600"/>
          <a:ext cx="335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13" imgW="3352680" imgH="342720" progId="Equation.3">
                  <p:embed/>
                </p:oleObj>
              </mc:Choice>
              <mc:Fallback>
                <p:oleObj name="Equation" r:id="rId13" imgW="335268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943600"/>
                        <a:ext cx="335280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662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Discretization Using Class Labels</a:t>
            </a:r>
          </a:p>
        </p:txBody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Entropy based approach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2452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2453" name="Text Box 5"/>
          <p:cNvSpPr txBox="1">
            <a:spLocks noChangeArrowheads="1"/>
          </p:cNvSpPr>
          <p:nvPr/>
        </p:nvSpPr>
        <p:spPr bwMode="auto">
          <a:xfrm>
            <a:off x="2362200" y="5715000"/>
            <a:ext cx="32639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3 categories for both x and y</a:t>
            </a:r>
          </a:p>
        </p:txBody>
      </p:sp>
      <p:pic>
        <p:nvPicPr>
          <p:cNvPr id="8724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1"/>
            <a:ext cx="4872038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2455" name="Rectangle 7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2456" name="Text Box 8"/>
          <p:cNvSpPr txBox="1">
            <a:spLocks noChangeArrowheads="1"/>
          </p:cNvSpPr>
          <p:nvPr/>
        </p:nvSpPr>
        <p:spPr bwMode="auto">
          <a:xfrm>
            <a:off x="6934200" y="5715000"/>
            <a:ext cx="3403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5 categories for both x and y</a:t>
            </a:r>
          </a:p>
        </p:txBody>
      </p:sp>
      <p:pic>
        <p:nvPicPr>
          <p:cNvPr id="87245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4"/>
          <a:stretch>
            <a:fillRect/>
          </a:stretch>
        </p:blipFill>
        <p:spPr bwMode="auto">
          <a:xfrm>
            <a:off x="6019800" y="1905001"/>
            <a:ext cx="4648200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2968-6DBB-4E94-91C1-C6771067A68A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01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046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3603626"/>
            <a:ext cx="5156200" cy="3102877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85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587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Attribute Transformation</a:t>
            </a:r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7600" y="952500"/>
            <a:ext cx="9136063" cy="529590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 function that maps the entire set of values of a given attribute to a new set of replacement values such that each old value can be identified with one of the new values</a:t>
            </a:r>
          </a:p>
          <a:p>
            <a:pPr lvl="1"/>
            <a:r>
              <a:rPr lang="en-US" altLang="en-US" sz="2800" dirty="0"/>
              <a:t>Simple functions: </a:t>
            </a:r>
            <a:r>
              <a:rPr lang="en-US" altLang="en-US" sz="2800" dirty="0" err="1"/>
              <a:t>x</a:t>
            </a:r>
            <a:r>
              <a:rPr lang="en-US" altLang="en-US" sz="2800" baseline="30000" dirty="0" err="1"/>
              <a:t>k</a:t>
            </a:r>
            <a:r>
              <a:rPr lang="en-US" altLang="en-US" sz="2800" dirty="0"/>
              <a:t>, log(x), e</a:t>
            </a:r>
            <a:r>
              <a:rPr lang="en-US" altLang="en-US" sz="2800" baseline="30000" dirty="0"/>
              <a:t>x</a:t>
            </a:r>
            <a:r>
              <a:rPr lang="en-US" altLang="en-US" sz="2800" dirty="0"/>
              <a:t>, |x|</a:t>
            </a:r>
          </a:p>
          <a:p>
            <a:pPr lvl="1"/>
            <a:r>
              <a:rPr lang="en-US" altLang="en-US" sz="2800" dirty="0"/>
              <a:t>Standardization and Normalization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BE39-35D9-43D0-A125-C6CC58E2B10E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42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B869DC-1B98-451B-865C-CB61596B5A24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Numerosity Reduction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/>
              <a:t>Parametric methods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/>
              <a:t>Assume the data fits some model, estimate model parameters, store only the parameters, and discard the data (except possible outliers)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/>
              <a:t>Log-linear models: obtain value at a point in m-D space as the product on appropriate marginal subspaces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Non-parametric methods</a:t>
            </a:r>
            <a:r>
              <a:rPr lang="en-US" altLang="en-US" smtClean="0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Do not assume models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Major families: histograms, clustering, sampling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ABAB-2FDA-4BD8-AC72-D62D103AC2B4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6779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6197FB-9626-4C46-976D-8F67C503335F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Regression and Log-Linear Models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Linear regression: Data are modeled to fit a straight 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Often uses the least-square method to fit the line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Multiple regression: allows a response variable Y to be modeled as a linear function of multidimensional feature vector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Log-linear model: approximates discrete multidimensional probability distributions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A278F-F663-4803-8E96-74373F3A751E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972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 Analysis and Log-Linear Models</a:t>
            </a:r>
          </a:p>
        </p:txBody>
      </p:sp>
      <p:sp>
        <p:nvSpPr>
          <p:cNvPr id="4710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Linear regression: </a:t>
            </a:r>
            <a:r>
              <a:rPr lang="en-US" altLang="en-US" i="1"/>
              <a:t>Y = </a:t>
            </a:r>
            <a:r>
              <a:rPr lang="en-US" altLang="en-US" i="1">
                <a:sym typeface="Symbol" panose="05050102010706020507" pitchFamily="18" charset="2"/>
              </a:rPr>
              <a:t> +  X</a:t>
            </a:r>
            <a:endParaRPr lang="en-US" altLang="en-US" i="1"/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Two parameters , </a:t>
            </a:r>
            <a:r>
              <a:rPr lang="en-US" altLang="en-US" i="1">
                <a:sym typeface="Symbol" panose="05050102010706020507" pitchFamily="18" charset="2"/>
              </a:rPr>
              <a:t></a:t>
            </a:r>
            <a:r>
              <a:rPr lang="en-US" altLang="en-US">
                <a:sym typeface="Symbol" panose="05050102010706020507" pitchFamily="18" charset="2"/>
              </a:rPr>
              <a:t> and </a:t>
            </a:r>
            <a:r>
              <a:rPr lang="en-US" altLang="en-US" i="1">
                <a:sym typeface="Symbol" panose="05050102010706020507" pitchFamily="18" charset="2"/>
              </a:rPr>
              <a:t></a:t>
            </a:r>
            <a:r>
              <a:rPr lang="en-US" altLang="en-US"/>
              <a:t> specify the line and are to be estimated by using the data at hand.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using the least squares criterion to the known values of </a:t>
            </a:r>
            <a:r>
              <a:rPr lang="en-US" altLang="en-US" i="1"/>
              <a:t>Y1, Y2, …, X1, X2, ….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Multiple regression: </a:t>
            </a:r>
            <a:r>
              <a:rPr lang="en-US" altLang="en-US" i="1"/>
              <a:t>Y = b0 + b1 X1 + b2 X2</a:t>
            </a:r>
            <a:r>
              <a:rPr lang="en-US" altLang="en-US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Many nonlinear functions can be transformed into the above.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Log-linear models: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 multi-way table of joint probabilities is approximated by a product of lower-order tables.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Probability:  </a:t>
            </a:r>
            <a:r>
              <a:rPr lang="en-US" altLang="en-US" i="1"/>
              <a:t>p(a, b, c, d) = </a:t>
            </a:r>
            <a:r>
              <a:rPr lang="en-US" altLang="en-US" i="1">
                <a:sym typeface="Symbol" panose="05050102010706020507" pitchFamily="18" charset="2"/>
              </a:rPr>
              <a:t>ab acad bcd</a:t>
            </a:r>
            <a:endParaRPr lang="en-US" altLang="en-US" i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1034-5F49-4D28-ABCF-043205833F1A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3536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9155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39B7F4-569F-41D0-8E5B-6676BCF1CC9D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Histograms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popular data reduction technique</a:t>
            </a:r>
          </a:p>
          <a:p>
            <a:pPr eaLnBrk="1" hangingPunct="1"/>
            <a:r>
              <a:rPr lang="en-US" altLang="en-US" sz="2400"/>
              <a:t>Divide data into buckets and store average (sum) for each bucket</a:t>
            </a:r>
          </a:p>
          <a:p>
            <a:pPr eaLnBrk="1" hangingPunct="1"/>
            <a:r>
              <a:rPr lang="en-US" altLang="en-US" sz="2400"/>
              <a:t>Can be constructed optimally in one dimension using dynamic programming</a:t>
            </a:r>
            <a:endParaRPr lang="en-US" altLang="en-US"/>
          </a:p>
          <a:p>
            <a:pPr eaLnBrk="1" hangingPunct="1"/>
            <a:r>
              <a:rPr lang="en-US" altLang="en-US" sz="2400"/>
              <a:t>Related to quantization problems.</a:t>
            </a:r>
          </a:p>
        </p:txBody>
      </p:sp>
      <p:graphicFrame>
        <p:nvGraphicFramePr>
          <p:cNvPr id="49158" name="Object 4"/>
          <p:cNvGraphicFramePr>
            <a:graphicFrameLocks noGrp="1"/>
          </p:cNvGraphicFramePr>
          <p:nvPr>
            <p:ph sz="half" idx="2"/>
          </p:nvPr>
        </p:nvGraphicFramePr>
        <p:xfrm>
          <a:off x="6169026" y="1671639"/>
          <a:ext cx="4449763" cy="441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Chart" r:id="rId3" imgW="7505655" imgH="7448499" progId="MSGraph.Chart.8">
                  <p:embed followColorScheme="full"/>
                </p:oleObj>
              </mc:Choice>
              <mc:Fallback>
                <p:oleObj name="Chart" r:id="rId3" imgW="7505655" imgH="7448499" progId="MSGraph.Chart.8">
                  <p:embed followColorScheme="full"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6" y="1671639"/>
                        <a:ext cx="4449763" cy="441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8673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FA7BF4-5BA9-4A71-98F1-B8F82C8BD2FE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Clustering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/>
              <a:t>Partition data set into clusters, and one can store cluster representation only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Can be very effective if data is clustered but not if data is “smeared”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Can have hierarchical clustering and be stored in multi-dimensional index tree structures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There are many choices of clustering definitions and clustering algorithms, further detailed in Chapter 8</a:t>
            </a:r>
            <a:endParaRPr lang="en-US" altLang="en-US" smtClean="0">
              <a:sym typeface="Symbol" panose="05050102010706020507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F2271-7590-461E-BD17-E0E641B68CE8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3197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CF077A-7987-4F8C-833C-F9AA2DE29EB5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460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Data Compression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84200" y="1081087"/>
            <a:ext cx="10769600" cy="52752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String 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There are extensive theories and well-tuned algorithms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Typically lossless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But only limited manipulation is possible without expansion</a:t>
            </a: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Audio/video 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Typically </a:t>
            </a:r>
            <a:r>
              <a:rPr lang="en-US" altLang="en-US" dirty="0" err="1">
                <a:sym typeface="Symbol" panose="05050102010706020507" pitchFamily="18" charset="2"/>
              </a:rPr>
              <a:t>lossy</a:t>
            </a:r>
            <a:r>
              <a:rPr lang="en-US" altLang="en-US" dirty="0">
                <a:sym typeface="Symbol" panose="05050102010706020507" pitchFamily="18" charset="2"/>
              </a:rPr>
              <a:t> compression, with progressive refinement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Sometimes small fragments of signal can be reconstructed without reconstructing the whole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Time sequence is not audio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Typically short and vary slowly with time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E6A-1AAF-4126-8BF5-52551607F22D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7880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60F9F2-DFF0-49D2-83B3-060744B9EAD4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39940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Compression</a:t>
            </a:r>
          </a:p>
        </p:txBody>
      </p:sp>
      <p:sp>
        <p:nvSpPr>
          <p:cNvPr id="39941" name="AutoShape 3"/>
          <p:cNvSpPr>
            <a:spLocks noChangeArrowheads="1"/>
          </p:cNvSpPr>
          <p:nvPr/>
        </p:nvSpPr>
        <p:spPr bwMode="auto">
          <a:xfrm>
            <a:off x="2362201" y="1625601"/>
            <a:ext cx="3446463" cy="2595563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Original Data</a:t>
            </a:r>
          </a:p>
        </p:txBody>
      </p:sp>
      <p:sp>
        <p:nvSpPr>
          <p:cNvPr id="39942" name="AutoShape 4"/>
          <p:cNvSpPr>
            <a:spLocks noChangeArrowheads="1"/>
          </p:cNvSpPr>
          <p:nvPr/>
        </p:nvSpPr>
        <p:spPr bwMode="auto">
          <a:xfrm>
            <a:off x="7699376" y="2249489"/>
            <a:ext cx="2182813" cy="1608137"/>
          </a:xfrm>
          <a:prstGeom prst="cube">
            <a:avLst>
              <a:gd name="adj" fmla="val 25000"/>
            </a:avLst>
          </a:prstGeom>
          <a:solidFill>
            <a:srgbClr val="F6E6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Compressed 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39943" name="Line 5"/>
          <p:cNvSpPr>
            <a:spLocks noChangeShapeType="1"/>
          </p:cNvSpPr>
          <p:nvPr/>
        </p:nvSpPr>
        <p:spPr bwMode="auto">
          <a:xfrm>
            <a:off x="5843589" y="3005138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Line 6"/>
          <p:cNvSpPr>
            <a:spLocks noChangeShapeType="1"/>
          </p:cNvSpPr>
          <p:nvPr/>
        </p:nvSpPr>
        <p:spPr bwMode="auto">
          <a:xfrm flipH="1">
            <a:off x="5843589" y="3579813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5" name="Text Box 7"/>
          <p:cNvSpPr txBox="1">
            <a:spLocks noChangeArrowheads="1"/>
          </p:cNvSpPr>
          <p:nvPr/>
        </p:nvSpPr>
        <p:spPr bwMode="auto">
          <a:xfrm>
            <a:off x="6161088" y="3665538"/>
            <a:ext cx="1116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lossless</a:t>
            </a:r>
          </a:p>
        </p:txBody>
      </p:sp>
      <p:sp>
        <p:nvSpPr>
          <p:cNvPr id="39946" name="AutoShape 8"/>
          <p:cNvSpPr>
            <a:spLocks noChangeArrowheads="1"/>
          </p:cNvSpPr>
          <p:nvPr/>
        </p:nvSpPr>
        <p:spPr bwMode="auto">
          <a:xfrm>
            <a:off x="2474914" y="4367213"/>
            <a:ext cx="3286125" cy="2184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Original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Approximated </a:t>
            </a:r>
          </a:p>
        </p:txBody>
      </p:sp>
      <p:sp>
        <p:nvSpPr>
          <p:cNvPr id="39947" name="Line 9"/>
          <p:cNvSpPr>
            <a:spLocks noChangeShapeType="1"/>
          </p:cNvSpPr>
          <p:nvPr/>
        </p:nvSpPr>
        <p:spPr bwMode="auto">
          <a:xfrm flipH="1">
            <a:off x="5776913" y="3875089"/>
            <a:ext cx="2743200" cy="180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8" name="Text Box 10"/>
          <p:cNvSpPr txBox="1">
            <a:spLocks noChangeArrowheads="1"/>
          </p:cNvSpPr>
          <p:nvPr/>
        </p:nvSpPr>
        <p:spPr bwMode="auto">
          <a:xfrm rot="-1797028">
            <a:off x="6751638" y="4783138"/>
            <a:ext cx="811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lossy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9BED-1F80-420B-A9DC-2DB0D55015F5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1846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20A0CE-C25A-46FD-9C72-9A95782DAFBE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40964" name="Rectangle 19"/>
          <p:cNvSpPr>
            <a:spLocks noGrp="1" noChangeArrowheads="1"/>
          </p:cNvSpPr>
          <p:nvPr>
            <p:ph type="title"/>
          </p:nvPr>
        </p:nvSpPr>
        <p:spPr>
          <a:xfrm>
            <a:off x="2971800" y="274638"/>
            <a:ext cx="4953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Wavelet Transformation </a:t>
            </a:r>
          </a:p>
        </p:txBody>
      </p:sp>
      <p:sp>
        <p:nvSpPr>
          <p:cNvPr id="40965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Discrete wavelet transform (DWT): linear signal processing, </a:t>
            </a:r>
            <a:r>
              <a:rPr lang="en-US" altLang="en-US" sz="2400" dirty="0" err="1"/>
              <a:t>multiresolutional</a:t>
            </a:r>
            <a:r>
              <a:rPr lang="en-US" altLang="en-US" sz="2400" dirty="0"/>
              <a:t> analysis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Compressed approximation: store only a small fraction of the strongest of the wavelet coefficients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Similar to discrete Fourier transform (DFT), but better </a:t>
            </a:r>
            <a:r>
              <a:rPr lang="en-US" altLang="en-US" sz="2400" dirty="0" err="1"/>
              <a:t>lossy</a:t>
            </a:r>
            <a:r>
              <a:rPr lang="en-US" altLang="en-US" sz="2400" dirty="0"/>
              <a:t> compression, localized in space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Method: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Length, L, must be an integer power of 2 (padding with 0s, when necessary)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Each transform has 2 functions: smoothing, difference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Applies to pairs of data, resulting in two set of data of length L/2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Applies two functions recursively, until reaches the desired length</a:t>
            </a:r>
          </a:p>
        </p:txBody>
      </p:sp>
      <p:grpSp>
        <p:nvGrpSpPr>
          <p:cNvPr id="40966" name="Group 4"/>
          <p:cNvGrpSpPr>
            <a:grpSpLocks/>
          </p:cNvGrpSpPr>
          <p:nvPr/>
        </p:nvGrpSpPr>
        <p:grpSpPr bwMode="auto">
          <a:xfrm>
            <a:off x="7924800" y="152401"/>
            <a:ext cx="2590800" cy="1579563"/>
            <a:chOff x="3936" y="96"/>
            <a:chExt cx="1632" cy="995"/>
          </a:xfrm>
        </p:grpSpPr>
        <p:sp>
          <p:nvSpPr>
            <p:cNvPr id="40967" name="Rectangle 5"/>
            <p:cNvSpPr>
              <a:spLocks noChangeArrowheads="1"/>
            </p:cNvSpPr>
            <p:nvPr/>
          </p:nvSpPr>
          <p:spPr bwMode="auto">
            <a:xfrm>
              <a:off x="3936" y="96"/>
              <a:ext cx="1632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latin typeface="Tahoma" panose="020B0604030504040204" pitchFamily="34" charset="0"/>
                </a:rPr>
                <a:t> </a:t>
              </a:r>
              <a:endParaRPr lang="en-US" altLang="en-US" sz="1600">
                <a:latin typeface="Tahoma" panose="020B0604030504040204" pitchFamily="34" charset="0"/>
              </a:endParaRPr>
            </a:p>
            <a:p>
              <a:pPr algn="ctr" eaLnBrk="1" hangingPunct="1"/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0968" name="Line 6"/>
            <p:cNvSpPr>
              <a:spLocks noChangeShapeType="1"/>
            </p:cNvSpPr>
            <p:nvPr/>
          </p:nvSpPr>
          <p:spPr bwMode="auto">
            <a:xfrm>
              <a:off x="3984" y="8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69" name="Line 7"/>
            <p:cNvSpPr>
              <a:spLocks noChangeShapeType="1"/>
            </p:cNvSpPr>
            <p:nvPr/>
          </p:nvSpPr>
          <p:spPr bwMode="auto">
            <a:xfrm flipH="1" flipV="1">
              <a:off x="4128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0" name="Line 8"/>
            <p:cNvSpPr>
              <a:spLocks noChangeShapeType="1"/>
            </p:cNvSpPr>
            <p:nvPr/>
          </p:nvSpPr>
          <p:spPr bwMode="auto">
            <a:xfrm>
              <a:off x="4128" y="28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1" name="Line 9"/>
            <p:cNvSpPr>
              <a:spLocks noChangeShapeType="1"/>
            </p:cNvSpPr>
            <p:nvPr/>
          </p:nvSpPr>
          <p:spPr bwMode="auto">
            <a:xfrm>
              <a:off x="4416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2" name="Line 10"/>
            <p:cNvSpPr>
              <a:spLocks noChangeShapeType="1"/>
            </p:cNvSpPr>
            <p:nvPr/>
          </p:nvSpPr>
          <p:spPr bwMode="auto">
            <a:xfrm>
              <a:off x="4416" y="8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3" name="Line 11"/>
            <p:cNvSpPr>
              <a:spLocks noChangeShapeType="1"/>
            </p:cNvSpPr>
            <p:nvPr/>
          </p:nvSpPr>
          <p:spPr bwMode="auto">
            <a:xfrm>
              <a:off x="4848" y="86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4" name="Line 12"/>
            <p:cNvSpPr>
              <a:spLocks noChangeShapeType="1"/>
            </p:cNvSpPr>
            <p:nvPr/>
          </p:nvSpPr>
          <p:spPr bwMode="auto">
            <a:xfrm flipV="1">
              <a:off x="4944" y="336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5" name="Line 13"/>
            <p:cNvSpPr>
              <a:spLocks noChangeShapeType="1"/>
            </p:cNvSpPr>
            <p:nvPr/>
          </p:nvSpPr>
          <p:spPr bwMode="auto">
            <a:xfrm>
              <a:off x="5136" y="3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6" name="Line 14"/>
            <p:cNvSpPr>
              <a:spLocks noChangeShapeType="1"/>
            </p:cNvSpPr>
            <p:nvPr/>
          </p:nvSpPr>
          <p:spPr bwMode="auto">
            <a:xfrm>
              <a:off x="5232" y="6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7" name="Line 15"/>
            <p:cNvSpPr>
              <a:spLocks noChangeShapeType="1"/>
            </p:cNvSpPr>
            <p:nvPr/>
          </p:nvSpPr>
          <p:spPr bwMode="auto">
            <a:xfrm flipV="1">
              <a:off x="5328" y="864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8" name="Line 16"/>
            <p:cNvSpPr>
              <a:spLocks noChangeShapeType="1"/>
            </p:cNvSpPr>
            <p:nvPr/>
          </p:nvSpPr>
          <p:spPr bwMode="auto">
            <a:xfrm>
              <a:off x="5424" y="86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9" name="Rectangle 17"/>
            <p:cNvSpPr>
              <a:spLocks noChangeArrowheads="1"/>
            </p:cNvSpPr>
            <p:nvPr/>
          </p:nvSpPr>
          <p:spPr bwMode="auto">
            <a:xfrm>
              <a:off x="4080" y="864"/>
              <a:ext cx="4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Tahoma" panose="020B0604030504040204" pitchFamily="34" charset="0"/>
                </a:rPr>
                <a:t>Haar2</a:t>
              </a:r>
            </a:p>
          </p:txBody>
        </p:sp>
        <p:sp>
          <p:nvSpPr>
            <p:cNvPr id="40980" name="Rectangle 18"/>
            <p:cNvSpPr>
              <a:spLocks noChangeArrowheads="1"/>
            </p:cNvSpPr>
            <p:nvPr/>
          </p:nvSpPr>
          <p:spPr bwMode="auto">
            <a:xfrm>
              <a:off x="4752" y="864"/>
              <a:ext cx="775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Daubechie4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0DD-BB5C-476A-B768-E25EC6661D9B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3862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198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02334C-8AFE-4E89-95D4-4A3F9ADD25AF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DWT for Image Compression</a:t>
            </a:r>
          </a:p>
        </p:txBody>
      </p:sp>
      <p:pic>
        <p:nvPicPr>
          <p:cNvPr id="41989" name="Picture 4" descr="Lin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1213" y="1676400"/>
            <a:ext cx="4476750" cy="4495800"/>
          </a:xfrm>
        </p:spPr>
      </p:pic>
      <p:sp>
        <p:nvSpPr>
          <p:cNvPr id="4199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79576" y="1600200"/>
            <a:ext cx="4111625" cy="4343400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</a:pPr>
            <a:r>
              <a:rPr lang="en-US" altLang="en-US"/>
              <a:t>Image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altLang="en-US"/>
          </a:p>
          <a:p>
            <a:pPr algn="r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  </a:t>
            </a:r>
            <a:r>
              <a:rPr lang="en-US" altLang="en-US" sz="2400"/>
              <a:t>Low Pass       High Pass</a:t>
            </a:r>
          </a:p>
          <a:p>
            <a:pPr algn="r" eaLnBrk="1" hangingPunct="1">
              <a:lnSpc>
                <a:spcPct val="11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400"/>
              <a:t>     Low Pass       High Pass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400"/>
              <a:t>Low Pass    High Pass</a:t>
            </a:r>
          </a:p>
        </p:txBody>
      </p:sp>
      <p:sp>
        <p:nvSpPr>
          <p:cNvPr id="41991" name="Line 5"/>
          <p:cNvSpPr>
            <a:spLocks noChangeShapeType="1"/>
          </p:cNvSpPr>
          <p:nvPr/>
        </p:nvSpPr>
        <p:spPr bwMode="auto">
          <a:xfrm flipH="1">
            <a:off x="3279775" y="22098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2" name="Line 6"/>
          <p:cNvSpPr>
            <a:spLocks noChangeShapeType="1"/>
          </p:cNvSpPr>
          <p:nvPr/>
        </p:nvSpPr>
        <p:spPr bwMode="auto">
          <a:xfrm>
            <a:off x="3889375" y="22098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3" name="Line 7"/>
          <p:cNvSpPr>
            <a:spLocks noChangeShapeType="1"/>
          </p:cNvSpPr>
          <p:nvPr/>
        </p:nvSpPr>
        <p:spPr bwMode="auto">
          <a:xfrm flipH="1">
            <a:off x="2898775" y="3352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4" name="Line 8"/>
          <p:cNvSpPr>
            <a:spLocks noChangeShapeType="1"/>
          </p:cNvSpPr>
          <p:nvPr/>
        </p:nvSpPr>
        <p:spPr bwMode="auto">
          <a:xfrm>
            <a:off x="3508375" y="33528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5" name="Line 9"/>
          <p:cNvSpPr>
            <a:spLocks noChangeShapeType="1"/>
          </p:cNvSpPr>
          <p:nvPr/>
        </p:nvSpPr>
        <p:spPr bwMode="auto">
          <a:xfrm flipH="1">
            <a:off x="2593975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6" name="Line 10"/>
          <p:cNvSpPr>
            <a:spLocks noChangeShapeType="1"/>
          </p:cNvSpPr>
          <p:nvPr/>
        </p:nvSpPr>
        <p:spPr bwMode="auto">
          <a:xfrm>
            <a:off x="3203575" y="4191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5D0A-56C4-47F7-B5F2-B9E609899589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7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63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BA57D-8FAB-40ED-81A7-90B9B0391829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Discretization</a:t>
            </a: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Three types of attributes: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Nominal — values from an unordered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Ordinal — values from an ordered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Continuous — real numbers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Discretization: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divide the range of a continuous attribute into intervals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Some classification algorithms only accept categorical attributes.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Reduce data size by discretization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Prepare for further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D32A-118D-446A-ACD7-B0EF5B7AEE94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3970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293EB5-18A7-471C-A382-F8042CD2CCAD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Discretization and Concept hierachy</a:t>
            </a: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tx2"/>
                </a:solidFill>
              </a:rPr>
              <a:t>Discretization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reduce the number of values for a given continuous attribute by dividing the range of the attribute into intervals. Interval labels can then be used to replace actual data values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tx2"/>
                </a:solidFill>
              </a:rPr>
              <a:t>Concept hierarchies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reduce the data by collecting and replacing low level concepts (such as numeric values for the attribute age) by higher level concepts (such as young, middle-aged, or senior)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484C-C623-4A94-B67B-EA2243B6C79C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7682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645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DA144D-D7AE-46E4-B6C3-16F51A972191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Concept Hierarchy Generation for Categorical Data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a partial ordering of attributes explicitly at the schema level by users or experts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street&lt;city&lt;state&lt;country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a portion of a hierarchy by explicit data grouping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{Urbana, Champaign, Chicago}&lt;Illinois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a set of attributes.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System automatically generates partial ordering by analysis of the number of distinct values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E.g., street &lt; city &lt;state &lt; country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only a partial set of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E.g., only street &lt; city, not others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2237-5812-4A2E-90D3-F044BFDFF145}" type="datetime5">
              <a:rPr lang="en-US" smtClean="0"/>
              <a:t>29-Jan-18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7290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6553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391E6E-D20A-49CA-AB6B-749391E97C39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274638"/>
            <a:ext cx="9652000" cy="5127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Automatic Concept Hierarchy Generation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168400"/>
            <a:ext cx="11150600" cy="26177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Some concept hierarchies can be automatically generated based on the analysis of the number of distinct values per attribute in the given data set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 attribute with the most distinct values is placed at the lowest level of the hierarchy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Note: Exception—weekday, month, quarter, year</a:t>
            </a:r>
          </a:p>
        </p:txBody>
      </p:sp>
      <p:sp>
        <p:nvSpPr>
          <p:cNvPr id="65542" name="Oval 4"/>
          <p:cNvSpPr>
            <a:spLocks noChangeArrowheads="1"/>
          </p:cNvSpPr>
          <p:nvPr/>
        </p:nvSpPr>
        <p:spPr bwMode="auto">
          <a:xfrm>
            <a:off x="2609850" y="37687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6E6EA"/>
                </a:solidFill>
                <a:latin typeface="Times New Roman" panose="02020603050405020304" pitchFamily="18" charset="0"/>
              </a:rPr>
              <a:t>country</a:t>
            </a:r>
          </a:p>
        </p:txBody>
      </p:sp>
      <p:sp>
        <p:nvSpPr>
          <p:cNvPr id="65543" name="Oval 5"/>
          <p:cNvSpPr>
            <a:spLocks noChangeArrowheads="1"/>
          </p:cNvSpPr>
          <p:nvPr/>
        </p:nvSpPr>
        <p:spPr bwMode="auto">
          <a:xfrm>
            <a:off x="2667000" y="44926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AE2F6"/>
                </a:solidFill>
                <a:latin typeface="Times New Roman" panose="02020603050405020304" pitchFamily="18" charset="0"/>
              </a:rPr>
              <a:t>province_or_ state</a:t>
            </a:r>
          </a:p>
        </p:txBody>
      </p:sp>
      <p:sp>
        <p:nvSpPr>
          <p:cNvPr id="65544" name="Oval 6"/>
          <p:cNvSpPr>
            <a:spLocks noChangeArrowheads="1"/>
          </p:cNvSpPr>
          <p:nvPr/>
        </p:nvSpPr>
        <p:spPr bwMode="auto">
          <a:xfrm>
            <a:off x="2743200" y="52927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AE2F6"/>
                </a:solidFill>
                <a:latin typeface="Times New Roman" panose="02020603050405020304" pitchFamily="18" charset="0"/>
              </a:rPr>
              <a:t>city</a:t>
            </a:r>
          </a:p>
        </p:txBody>
      </p:sp>
      <p:sp>
        <p:nvSpPr>
          <p:cNvPr id="65545" name="Oval 7"/>
          <p:cNvSpPr>
            <a:spLocks noChangeArrowheads="1"/>
          </p:cNvSpPr>
          <p:nvPr/>
        </p:nvSpPr>
        <p:spPr bwMode="auto">
          <a:xfrm>
            <a:off x="2724150" y="60547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AE2F6"/>
                </a:solidFill>
                <a:latin typeface="Times New Roman" panose="02020603050405020304" pitchFamily="18" charset="0"/>
              </a:rPr>
              <a:t>street</a:t>
            </a:r>
          </a:p>
        </p:txBody>
      </p:sp>
      <p:sp>
        <p:nvSpPr>
          <p:cNvPr id="65546" name="Line 8"/>
          <p:cNvSpPr>
            <a:spLocks noChangeShapeType="1"/>
          </p:cNvSpPr>
          <p:nvPr/>
        </p:nvSpPr>
        <p:spPr bwMode="auto">
          <a:xfrm flipH="1">
            <a:off x="4457700" y="4149725"/>
            <a:ext cx="0" cy="381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Line 9"/>
          <p:cNvSpPr>
            <a:spLocks noChangeShapeType="1"/>
          </p:cNvSpPr>
          <p:nvPr/>
        </p:nvSpPr>
        <p:spPr bwMode="auto">
          <a:xfrm>
            <a:off x="4457700" y="4721225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8" name="Line 10"/>
          <p:cNvSpPr>
            <a:spLocks noChangeShapeType="1"/>
          </p:cNvSpPr>
          <p:nvPr/>
        </p:nvSpPr>
        <p:spPr bwMode="auto">
          <a:xfrm>
            <a:off x="4457700" y="5540375"/>
            <a:ext cx="0" cy="5524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9" name="Text Box 11"/>
          <p:cNvSpPr txBox="1">
            <a:spLocks noChangeArrowheads="1"/>
          </p:cNvSpPr>
          <p:nvPr/>
        </p:nvSpPr>
        <p:spPr bwMode="auto">
          <a:xfrm>
            <a:off x="7165976" y="3676650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15 distinct values</a:t>
            </a:r>
          </a:p>
        </p:txBody>
      </p:sp>
      <p:sp>
        <p:nvSpPr>
          <p:cNvPr id="65550" name="Text Box 12"/>
          <p:cNvSpPr txBox="1">
            <a:spLocks noChangeArrowheads="1"/>
          </p:cNvSpPr>
          <p:nvPr/>
        </p:nvSpPr>
        <p:spPr bwMode="auto">
          <a:xfrm>
            <a:off x="7280276" y="4476750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65 distinct values</a:t>
            </a:r>
          </a:p>
        </p:txBody>
      </p:sp>
      <p:sp>
        <p:nvSpPr>
          <p:cNvPr id="65551" name="Text Box 13"/>
          <p:cNvSpPr txBox="1">
            <a:spLocks noChangeArrowheads="1"/>
          </p:cNvSpPr>
          <p:nvPr/>
        </p:nvSpPr>
        <p:spPr bwMode="auto">
          <a:xfrm>
            <a:off x="7051676" y="5219700"/>
            <a:ext cx="261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3567 distinct values</a:t>
            </a:r>
          </a:p>
        </p:txBody>
      </p:sp>
      <p:sp>
        <p:nvSpPr>
          <p:cNvPr id="65552" name="Text Box 14"/>
          <p:cNvSpPr txBox="1">
            <a:spLocks noChangeArrowheads="1"/>
          </p:cNvSpPr>
          <p:nvPr/>
        </p:nvSpPr>
        <p:spPr bwMode="auto">
          <a:xfrm>
            <a:off x="6765926" y="5943600"/>
            <a:ext cx="300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674,339 distinct values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021ACB-3F86-4E15-8597-FF16DA41BBB6}" type="datetime5">
              <a:rPr lang="en-US" altLang="en-US" smtClean="0"/>
              <a:t>29-Jan-18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37458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746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Similarity and Dissimilarity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39800"/>
            <a:ext cx="10744200" cy="5237163"/>
          </a:xfrm>
        </p:spPr>
        <p:txBody>
          <a:bodyPr/>
          <a:lstStyle/>
          <a:p>
            <a:r>
              <a:rPr lang="en-US" altLang="en-US" dirty="0"/>
              <a:t>Similarity</a:t>
            </a:r>
          </a:p>
          <a:p>
            <a:pPr lvl="1"/>
            <a:r>
              <a:rPr lang="en-US" altLang="en-US" dirty="0"/>
              <a:t>Numerical measure of how alike two data objects are.</a:t>
            </a:r>
          </a:p>
          <a:p>
            <a:pPr lvl="1"/>
            <a:r>
              <a:rPr lang="en-US" altLang="en-US" dirty="0"/>
              <a:t>Is higher when objects are more alike.</a:t>
            </a:r>
          </a:p>
          <a:p>
            <a:pPr lvl="1"/>
            <a:r>
              <a:rPr lang="en-US" altLang="en-US" dirty="0"/>
              <a:t>Often falls in the range [0,1]</a:t>
            </a:r>
          </a:p>
          <a:p>
            <a:r>
              <a:rPr lang="en-US" altLang="en-US" dirty="0"/>
              <a:t>Dissimilarity</a:t>
            </a:r>
          </a:p>
          <a:p>
            <a:pPr lvl="1"/>
            <a:r>
              <a:rPr lang="en-US" altLang="en-US" dirty="0"/>
              <a:t>Numerical measure of how different are two data objects</a:t>
            </a:r>
          </a:p>
          <a:p>
            <a:pPr lvl="1"/>
            <a:r>
              <a:rPr lang="en-US" altLang="en-US" dirty="0"/>
              <a:t>Lower when objects are more alike</a:t>
            </a:r>
          </a:p>
          <a:p>
            <a:pPr lvl="1"/>
            <a:r>
              <a:rPr lang="en-US" altLang="en-US" dirty="0"/>
              <a:t>Minimum dissimilarity is often 0</a:t>
            </a:r>
          </a:p>
          <a:p>
            <a:pPr lvl="1"/>
            <a:r>
              <a:rPr lang="en-US" altLang="en-US" dirty="0"/>
              <a:t>Upper limit varies</a:t>
            </a:r>
          </a:p>
          <a:p>
            <a:r>
              <a:rPr lang="en-US" altLang="en-US" dirty="0"/>
              <a:t>Proximity refers to a similarity or dissimilarity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BA35-2529-455C-A0DE-4FC95DA4F083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3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/>
          <a:lstStyle/>
          <a:p>
            <a:r>
              <a:rPr lang="en-US" altLang="en-US" sz="2800" dirty="0"/>
              <a:t>Similarity/Dissimilarity for Simple Attributes</a:t>
            </a:r>
          </a:p>
        </p:txBody>
      </p:sp>
      <p:pic>
        <p:nvPicPr>
          <p:cNvPr id="8796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35197" r="7114" b="10513"/>
          <a:stretch>
            <a:fillRect/>
          </a:stretch>
        </p:blipFill>
        <p:spPr bwMode="auto">
          <a:xfrm>
            <a:off x="579332" y="1439565"/>
            <a:ext cx="10406167" cy="4744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9620" name="Text Box 4"/>
          <p:cNvSpPr txBox="1">
            <a:spLocks noChangeArrowheads="1"/>
          </p:cNvSpPr>
          <p:nvPr/>
        </p:nvSpPr>
        <p:spPr bwMode="auto">
          <a:xfrm>
            <a:off x="2311400" y="977900"/>
            <a:ext cx="693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 are the attribute values for two data objects.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9BB4-E94B-4F7D-9E06-3ADE0BE0E480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Autofit/>
          </a:bodyPr>
          <a:lstStyle/>
          <a:p>
            <a:r>
              <a:rPr lang="en-US" altLang="en-US" sz="4000" b="1" dirty="0"/>
              <a:t>Euclidean Distance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3" y="704850"/>
            <a:ext cx="8001000" cy="750888"/>
          </a:xfr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sz="2400" dirty="0"/>
              <a:t>Euclidean Distance</a:t>
            </a:r>
          </a:p>
          <a:p>
            <a:pPr marL="742950" lvl="1" indent="-285750">
              <a:spcBef>
                <a:spcPct val="20000"/>
              </a:spcBef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 smtClean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 smtClean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dirty="0"/>
              <a:t>   Where </a:t>
            </a:r>
            <a:r>
              <a:rPr lang="en-US" altLang="en-US" i="1" dirty="0"/>
              <a:t>n</a:t>
            </a:r>
            <a:r>
              <a:rPr lang="en-US" altLang="en-US" dirty="0"/>
              <a:t> is the number of dimensions (attributes) and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and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are, respectively, the k</a:t>
            </a:r>
            <a:r>
              <a:rPr lang="en-US" altLang="en-US" baseline="30000" dirty="0"/>
              <a:t>th</a:t>
            </a:r>
            <a:r>
              <a:rPr lang="en-US" altLang="en-US" dirty="0"/>
              <a:t> attributes (components) or data objects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</a:t>
            </a:r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342900" indent="-342900">
              <a:spcBef>
                <a:spcPct val="20000"/>
              </a:spcBef>
            </a:pPr>
            <a:r>
              <a:rPr lang="en-US" altLang="en-US" sz="2400" dirty="0"/>
              <a:t>Standardization is necessary, if scales differ.</a:t>
            </a:r>
          </a:p>
        </p:txBody>
      </p:sp>
      <p:graphicFrame>
        <p:nvGraphicFramePr>
          <p:cNvPr id="880644" name="Object 4"/>
          <p:cNvGraphicFramePr>
            <a:graphicFrameLocks noChangeAspect="1"/>
          </p:cNvGraphicFramePr>
          <p:nvPr>
            <p:extLst/>
          </p:nvPr>
        </p:nvGraphicFramePr>
        <p:xfrm>
          <a:off x="2682875" y="1455738"/>
          <a:ext cx="38544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3" imgW="1346040" imgH="444240" progId="Equation.3">
                  <p:embed/>
                </p:oleObj>
              </mc:Choice>
              <mc:Fallback>
                <p:oleObj name="Equation" r:id="rId3" imgW="1346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1455738"/>
                        <a:ext cx="385445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1B659-DF87-4DEA-9151-E1E6EFAF9761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Euclidean Distance</a:t>
            </a:r>
          </a:p>
        </p:txBody>
      </p:sp>
      <p:graphicFrame>
        <p:nvGraphicFramePr>
          <p:cNvPr id="881667" name="Object 3"/>
          <p:cNvGraphicFramePr>
            <a:graphicFrameLocks noChangeAspect="1"/>
          </p:cNvGraphicFramePr>
          <p:nvPr/>
        </p:nvGraphicFramePr>
        <p:xfrm>
          <a:off x="1905001" y="1295400"/>
          <a:ext cx="3635375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VISIO" r:id="rId3" imgW="3636000" imgH="2653920" progId="Visio.Drawing.6">
                  <p:embed/>
                </p:oleObj>
              </mc:Choice>
              <mc:Fallback>
                <p:oleObj name="VISIO" r:id="rId3" imgW="3636000" imgH="2653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295400"/>
                        <a:ext cx="3635375" cy="265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668" name="Object 4"/>
          <p:cNvGraphicFramePr>
            <a:graphicFrameLocks noChangeAspect="1"/>
          </p:cNvGraphicFramePr>
          <p:nvPr/>
        </p:nvGraphicFramePr>
        <p:xfrm>
          <a:off x="6172201" y="1828801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Worksheet" r:id="rId5" imgW="1836725" imgH="846287" progId="Excel.Sheet.8">
                  <p:embed/>
                </p:oleObj>
              </mc:Choice>
              <mc:Fallback>
                <p:oleObj name="Worksheet" r:id="rId5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1828801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1669" name="Text Box 5"/>
          <p:cNvSpPr txBox="1">
            <a:spLocks noChangeArrowheads="1"/>
          </p:cNvSpPr>
          <p:nvPr/>
        </p:nvSpPr>
        <p:spPr bwMode="auto">
          <a:xfrm>
            <a:off x="4724400" y="56388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Distance Matrix</a:t>
            </a:r>
          </a:p>
        </p:txBody>
      </p:sp>
      <p:graphicFrame>
        <p:nvGraphicFramePr>
          <p:cNvPr id="881670" name="Object 6"/>
          <p:cNvGraphicFramePr>
            <a:graphicFrameLocks noChangeAspect="1"/>
          </p:cNvGraphicFramePr>
          <p:nvPr/>
        </p:nvGraphicFramePr>
        <p:xfrm>
          <a:off x="3429000" y="4038600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038600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A54A3-E0D1-4B70-A96D-E2E990F51186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Minkowski Distance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750888"/>
          </a:xfr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dirty="0" err="1"/>
              <a:t>Minkowski</a:t>
            </a:r>
            <a:r>
              <a:rPr lang="en-US" altLang="en-US" dirty="0"/>
              <a:t> Distance is a generalization of Euclidean Distance</a:t>
            </a:r>
          </a:p>
          <a:p>
            <a:pPr marL="742950" lvl="1" indent="-285750">
              <a:spcBef>
                <a:spcPct val="20000"/>
              </a:spcBef>
            </a:pPr>
            <a:endParaRPr lang="en-US" altLang="en-US" sz="2800" dirty="0"/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sz="2800" dirty="0"/>
              <a:t>   </a:t>
            </a:r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sz="2800" dirty="0"/>
              <a:t>   Where </a:t>
            </a:r>
            <a:r>
              <a:rPr lang="en-US" altLang="en-US" sz="2800" i="1" dirty="0"/>
              <a:t>r</a:t>
            </a:r>
            <a:r>
              <a:rPr lang="en-US" altLang="en-US" sz="2800" dirty="0"/>
              <a:t> is a parameter, </a:t>
            </a:r>
            <a:r>
              <a:rPr lang="en-US" altLang="en-US" sz="2800" i="1" dirty="0"/>
              <a:t>n</a:t>
            </a:r>
            <a:r>
              <a:rPr lang="en-US" altLang="en-US" sz="2800" dirty="0"/>
              <a:t> is the number of dimensions (attributes) and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k</a:t>
            </a:r>
            <a:r>
              <a:rPr lang="en-US" altLang="en-US" sz="2800" dirty="0"/>
              <a:t> and </a:t>
            </a:r>
            <a:r>
              <a:rPr lang="en-US" altLang="en-US" sz="2800" i="1" dirty="0" err="1"/>
              <a:t>q</a:t>
            </a:r>
            <a:r>
              <a:rPr lang="en-US" altLang="en-US" sz="2800" i="1" baseline="-25000" dirty="0" err="1"/>
              <a:t>k</a:t>
            </a:r>
            <a:r>
              <a:rPr lang="en-US" altLang="en-US" sz="2800" dirty="0"/>
              <a:t> are, respectively, the kth attributes (components) or data objects </a:t>
            </a:r>
            <a:r>
              <a:rPr lang="en-US" altLang="en-US" sz="2800" i="1" dirty="0"/>
              <a:t>p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q</a:t>
            </a:r>
            <a:r>
              <a:rPr lang="en-US" altLang="en-US" sz="2800" dirty="0"/>
              <a:t>.</a:t>
            </a:r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</p:txBody>
      </p:sp>
      <p:graphicFrame>
        <p:nvGraphicFramePr>
          <p:cNvPr id="882692" name="Object 4"/>
          <p:cNvGraphicFramePr>
            <a:graphicFrameLocks noChangeAspect="1"/>
          </p:cNvGraphicFramePr>
          <p:nvPr/>
        </p:nvGraphicFramePr>
        <p:xfrm>
          <a:off x="2817814" y="1922463"/>
          <a:ext cx="4314825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3" imgW="1396800" imgH="482400" progId="Equation.3">
                  <p:embed/>
                </p:oleObj>
              </mc:Choice>
              <mc:Fallback>
                <p:oleObj name="Equation" r:id="rId3" imgW="1396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4" y="1922463"/>
                        <a:ext cx="4314825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20A6-DAF5-4A14-9A93-5254777FEE51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Minkowski Distance: Examples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801100" cy="4978400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= 1.  City block (Manhattan, taxicab, L</a:t>
            </a:r>
            <a:r>
              <a:rPr lang="en-US" altLang="en-US" baseline="-30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norm) distance.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en-US" sz="2800" dirty="0">
                <a:cs typeface="Times New Roman" panose="02020603050405020304" pitchFamily="18" charset="0"/>
              </a:rPr>
              <a:t>A common example of this is the Hamming distance, which is just the number of bits that are different between two binary vectors</a:t>
            </a:r>
          </a:p>
          <a:p>
            <a:pPr lvl="4">
              <a:lnSpc>
                <a:spcPct val="90000"/>
              </a:lnSpc>
            </a:pPr>
            <a:endParaRPr lang="en-US" altLang="en-US" sz="2400" b="1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= 2.  Euclidean distance</a:t>
            </a:r>
          </a:p>
          <a:p>
            <a:pPr lvl="4">
              <a:lnSpc>
                <a:spcPct val="90000"/>
              </a:lnSpc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dirty="0">
                <a:cs typeface="Times New Roman" panose="02020603050405020304" pitchFamily="18" charset="0"/>
              </a:rPr>
              <a:t>.  “supremum” (</a:t>
            </a:r>
            <a:r>
              <a:rPr lang="en-US" altLang="en-US" dirty="0" err="1">
                <a:cs typeface="Times New Roman" panose="02020603050405020304" pitchFamily="18" charset="0"/>
              </a:rPr>
              <a:t>L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max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norm, L</a:t>
            </a:r>
            <a:r>
              <a:rPr lang="en-US" altLang="en-US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norm) distance.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This is the maximum difference between any component of the vectors</a:t>
            </a:r>
          </a:p>
          <a:p>
            <a:pPr lvl="4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Do not confuse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with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, i.e., all these distances are defined for all numbers of dimensions.</a:t>
            </a:r>
            <a:endParaRPr lang="en-US" altLang="en-US" i="1" dirty="0">
              <a:cs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352B-BA68-4B9E-B11C-CA284B6A7FDE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6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Minkowski Distance</a:t>
            </a:r>
          </a:p>
        </p:txBody>
      </p:sp>
      <p:sp>
        <p:nvSpPr>
          <p:cNvPr id="884739" name="Text Box 3"/>
          <p:cNvSpPr txBox="1">
            <a:spLocks noChangeArrowheads="1"/>
          </p:cNvSpPr>
          <p:nvPr/>
        </p:nvSpPr>
        <p:spPr bwMode="auto">
          <a:xfrm>
            <a:off x="6400800" y="58674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Distance Matrix</a:t>
            </a:r>
          </a:p>
        </p:txBody>
      </p:sp>
      <p:graphicFrame>
        <p:nvGraphicFramePr>
          <p:cNvPr id="884740" name="Object 4"/>
          <p:cNvGraphicFramePr>
            <a:graphicFrameLocks noChangeAspect="1"/>
          </p:cNvGraphicFramePr>
          <p:nvPr/>
        </p:nvGraphicFramePr>
        <p:xfrm>
          <a:off x="1828801" y="2587626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Worksheet" r:id="rId3" imgW="1836725" imgH="846287" progId="Excel.Sheet.8">
                  <p:embed/>
                </p:oleObj>
              </mc:Choice>
              <mc:Fallback>
                <p:oleObj name="Worksheet" r:id="rId3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587626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1" name="Object 5"/>
          <p:cNvGraphicFramePr>
            <a:graphicFrameLocks noChangeAspect="1"/>
          </p:cNvGraphicFramePr>
          <p:nvPr/>
        </p:nvGraphicFramePr>
        <p:xfrm>
          <a:off x="5334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Worksheet" r:id="rId5" imgW="3055925" imgH="846287" progId="Excel.Sheet.8">
                  <p:embed/>
                </p:oleObj>
              </mc:Choice>
              <mc:Fallback>
                <p:oleObj name="Worksheet" r:id="rId5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2" name="Object 6"/>
          <p:cNvGraphicFramePr>
            <a:graphicFrameLocks noChangeAspect="1"/>
          </p:cNvGraphicFramePr>
          <p:nvPr/>
        </p:nvGraphicFramePr>
        <p:xfrm>
          <a:off x="5334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3" name="Object 7"/>
          <p:cNvGraphicFramePr>
            <a:graphicFrameLocks noChangeAspect="1"/>
          </p:cNvGraphicFramePr>
          <p:nvPr/>
        </p:nvGraphicFramePr>
        <p:xfrm>
          <a:off x="5334000" y="4340226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Worksheet" r:id="rId9" imgW="3055925" imgH="861243" progId="Excel.Sheet.8">
                  <p:embed/>
                </p:oleObj>
              </mc:Choice>
              <mc:Fallback>
                <p:oleObj name="Worksheet" r:id="rId9" imgW="3055925" imgH="861243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0226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02EE-F151-4766-8294-738FEA3B0B64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6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35001"/>
          </a:xfrm>
        </p:spPr>
        <p:txBody>
          <a:bodyPr>
            <a:noAutofit/>
          </a:bodyPr>
          <a:lstStyle/>
          <a:p>
            <a:r>
              <a:rPr lang="en-US" altLang="en-US" sz="4000" dirty="0" err="1"/>
              <a:t>Mahalanobis</a:t>
            </a:r>
            <a:r>
              <a:rPr lang="en-US" altLang="en-US" sz="4000" dirty="0"/>
              <a:t> Distance</a:t>
            </a:r>
          </a:p>
        </p:txBody>
      </p:sp>
      <p:pic>
        <p:nvPicPr>
          <p:cNvPr id="885763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3238" r="7315"/>
          <a:stretch>
            <a:fillRect/>
          </a:stretch>
        </p:blipFill>
        <p:spPr>
          <a:xfrm>
            <a:off x="1752600" y="2209801"/>
            <a:ext cx="5105400" cy="3605213"/>
          </a:xfrm>
        </p:spPr>
      </p:pic>
      <p:graphicFrame>
        <p:nvGraphicFramePr>
          <p:cNvPr id="885764" name="Object 4"/>
          <p:cNvGraphicFramePr>
            <a:graphicFrameLocks noChangeAspect="1"/>
          </p:cNvGraphicFramePr>
          <p:nvPr/>
        </p:nvGraphicFramePr>
        <p:xfrm>
          <a:off x="2362200" y="1066800"/>
          <a:ext cx="73152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4" imgW="2552400" imgH="253800" progId="Equation.3">
                  <p:embed/>
                </p:oleObj>
              </mc:Choice>
              <mc:Fallback>
                <p:oleObj name="Equation" r:id="rId4" imgW="2552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066800"/>
                        <a:ext cx="73152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765" name="Text Box 5"/>
          <p:cNvSpPr txBox="1">
            <a:spLocks noChangeArrowheads="1"/>
          </p:cNvSpPr>
          <p:nvPr/>
        </p:nvSpPr>
        <p:spPr bwMode="auto">
          <a:xfrm>
            <a:off x="2133600" y="5881688"/>
            <a:ext cx="9537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For red points, the Euclidean distance is 14.7, </a:t>
            </a:r>
            <a:r>
              <a:rPr lang="en-US" altLang="en-US" sz="2400" dirty="0" err="1"/>
              <a:t>Mahalanobis</a:t>
            </a:r>
            <a:r>
              <a:rPr lang="en-US" altLang="en-US" sz="2400" dirty="0"/>
              <a:t> distance is 6.</a:t>
            </a:r>
          </a:p>
        </p:txBody>
      </p:sp>
      <p:sp>
        <p:nvSpPr>
          <p:cNvPr id="885766" name="Text Box 6"/>
          <p:cNvSpPr txBox="1">
            <a:spLocks noChangeArrowheads="1"/>
          </p:cNvSpPr>
          <p:nvPr/>
        </p:nvSpPr>
        <p:spPr bwMode="auto">
          <a:xfrm>
            <a:off x="7086600" y="2178050"/>
            <a:ext cx="4102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 is the </a:t>
            </a:r>
            <a:r>
              <a:rPr lang="en-US" altLang="en-US" sz="2000" dirty="0"/>
              <a:t>covariance matrix of the input data </a:t>
            </a:r>
            <a:r>
              <a:rPr lang="en-US" altLang="en-US" sz="2000" i="1" dirty="0"/>
              <a:t>X</a:t>
            </a:r>
          </a:p>
        </p:txBody>
      </p:sp>
      <p:graphicFrame>
        <p:nvGraphicFramePr>
          <p:cNvPr id="885767" name="Object 7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7162800" y="2971800"/>
          <a:ext cx="439947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6" imgW="2209680" imgH="431640" progId="Equation.3">
                  <p:embed/>
                </p:oleObj>
              </mc:Choice>
              <mc:Fallback>
                <p:oleObj name="Equation" r:id="rId6" imgW="2209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971800"/>
                        <a:ext cx="439947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FAC-D446-4DB1-AD5B-709E59D152D7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4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Mahalanobis</a:t>
            </a:r>
            <a:r>
              <a:rPr lang="en-US" altLang="en-US" dirty="0"/>
              <a:t> Distance</a:t>
            </a:r>
          </a:p>
        </p:txBody>
      </p:sp>
      <p:grpSp>
        <p:nvGrpSpPr>
          <p:cNvPr id="886787" name="Group 3"/>
          <p:cNvGrpSpPr>
            <a:grpSpLocks/>
          </p:cNvGrpSpPr>
          <p:nvPr/>
        </p:nvGrpSpPr>
        <p:grpSpPr bwMode="auto">
          <a:xfrm>
            <a:off x="1752600" y="1219200"/>
            <a:ext cx="6477000" cy="4857750"/>
            <a:chOff x="144" y="768"/>
            <a:chExt cx="4080" cy="3060"/>
          </a:xfrm>
        </p:grpSpPr>
        <p:pic>
          <p:nvPicPr>
            <p:cNvPr id="88678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6789" name="Line 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6790" name="Line 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6791" name="Text Box 7"/>
          <p:cNvSpPr txBox="1">
            <a:spLocks noChangeArrowheads="1"/>
          </p:cNvSpPr>
          <p:nvPr/>
        </p:nvSpPr>
        <p:spPr bwMode="auto">
          <a:xfrm>
            <a:off x="8153400" y="1295401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Covariance Matrix:</a:t>
            </a:r>
          </a:p>
        </p:txBody>
      </p:sp>
      <p:graphicFrame>
        <p:nvGraphicFramePr>
          <p:cNvPr id="886792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458200" y="1752601"/>
          <a:ext cx="20574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4" imgW="939600" imgH="457200" progId="Equation.3">
                  <p:embed/>
                </p:oleObj>
              </mc:Choice>
              <mc:Fallback>
                <p:oleObj name="Equation" r:id="rId4" imgW="939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752601"/>
                        <a:ext cx="20574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6793" name="Text Box 9"/>
          <p:cNvSpPr txBox="1">
            <a:spLocks noChangeArrowheads="1"/>
          </p:cNvSpPr>
          <p:nvPr/>
        </p:nvSpPr>
        <p:spPr bwMode="auto">
          <a:xfrm>
            <a:off x="2971800" y="33528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886794" name="Text Box 10"/>
          <p:cNvSpPr txBox="1">
            <a:spLocks noChangeArrowheads="1"/>
          </p:cNvSpPr>
          <p:nvPr/>
        </p:nvSpPr>
        <p:spPr bwMode="auto">
          <a:xfrm>
            <a:off x="3962400" y="40528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886795" name="Text Box 11"/>
          <p:cNvSpPr txBox="1">
            <a:spLocks noChangeArrowheads="1"/>
          </p:cNvSpPr>
          <p:nvPr/>
        </p:nvSpPr>
        <p:spPr bwMode="auto">
          <a:xfrm>
            <a:off x="5867400" y="25908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</a:t>
            </a:r>
          </a:p>
        </p:txBody>
      </p:sp>
      <p:sp>
        <p:nvSpPr>
          <p:cNvPr id="886796" name="Text Box 12"/>
          <p:cNvSpPr txBox="1">
            <a:spLocks noChangeArrowheads="1"/>
          </p:cNvSpPr>
          <p:nvPr/>
        </p:nvSpPr>
        <p:spPr bwMode="auto">
          <a:xfrm>
            <a:off x="8458200" y="3284538"/>
            <a:ext cx="1981200" cy="243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A: (0.5, 0.5)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B: (0, 1)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C: (1.5, 1.5)</a:t>
            </a:r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r>
              <a:rPr lang="en-US" altLang="en-US"/>
              <a:t>Mahal(A,B) = 5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Mahal(A,C) = 4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7A94C-25CD-4848-BA66-ECE036B7F600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332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Common Properties of a Distance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0" y="876300"/>
            <a:ext cx="9339263" cy="5373688"/>
          </a:xfrm>
        </p:spPr>
        <p:txBody>
          <a:bodyPr/>
          <a:lstStyle/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Distances, such as the Euclidean distance, have some well known properties.</a:t>
            </a:r>
          </a:p>
          <a:p>
            <a:pPr marL="533400" indent="-533400">
              <a:spcBef>
                <a:spcPct val="20000"/>
              </a:spcBef>
            </a:pPr>
            <a:endParaRPr lang="en-US" altLang="en-US" sz="1400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i="1" dirty="0"/>
              <a:t>d(p, q) </a:t>
            </a:r>
            <a:r>
              <a:rPr lang="en-US" altLang="en-US" sz="2200" i="1" dirty="0">
                <a:sym typeface="Symbol" panose="05050102010706020507" pitchFamily="18" charset="2"/>
              </a:rPr>
              <a:t></a:t>
            </a:r>
            <a:r>
              <a:rPr lang="en-US" altLang="en-US" sz="2200" i="1" dirty="0"/>
              <a:t> 0</a:t>
            </a:r>
            <a:r>
              <a:rPr lang="en-US" altLang="en-US" sz="2200" dirty="0"/>
              <a:t>   for all </a:t>
            </a:r>
            <a:r>
              <a:rPr lang="en-US" altLang="en-US" sz="2200" i="1" dirty="0"/>
              <a:t>p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q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d(p, q) = 0</a:t>
            </a:r>
            <a:r>
              <a:rPr lang="en-US" altLang="en-US" sz="2200" dirty="0"/>
              <a:t> only if </a:t>
            </a:r>
            <a:br>
              <a:rPr lang="en-US" altLang="en-US" sz="2200" dirty="0"/>
            </a:br>
            <a:r>
              <a:rPr lang="en-US" altLang="en-US" sz="2200" i="1" dirty="0"/>
              <a:t>p</a:t>
            </a:r>
            <a:r>
              <a:rPr lang="en-US" altLang="en-US" sz="2200" dirty="0"/>
              <a:t> </a:t>
            </a:r>
            <a:r>
              <a:rPr lang="en-US" altLang="en-US" sz="2200" i="1" dirty="0"/>
              <a:t>= q</a:t>
            </a:r>
            <a:r>
              <a:rPr lang="en-US" altLang="en-US" sz="2200" dirty="0"/>
              <a:t>. (Positive definiteness)</a:t>
            </a:r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i="1" dirty="0"/>
              <a:t>d(p, q) = d(q, p)</a:t>
            </a:r>
            <a:r>
              <a:rPr lang="en-US" altLang="en-US" sz="2200" dirty="0"/>
              <a:t>   for all </a:t>
            </a:r>
            <a:r>
              <a:rPr lang="en-US" altLang="en-US" sz="2200" i="1" dirty="0"/>
              <a:t>p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q</a:t>
            </a:r>
            <a:r>
              <a:rPr lang="en-US" altLang="en-US" sz="2200" dirty="0"/>
              <a:t>. (Symmetry)</a:t>
            </a:r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dirty="0"/>
              <a:t>d</a:t>
            </a:r>
            <a:r>
              <a:rPr lang="en-US" altLang="en-US" sz="2200" i="1" dirty="0"/>
              <a:t>(p, r) </a:t>
            </a:r>
            <a:r>
              <a:rPr lang="en-US" altLang="en-US" sz="2200" i="1" dirty="0">
                <a:sym typeface="Symbol" panose="05050102010706020507" pitchFamily="18" charset="2"/>
              </a:rPr>
              <a:t></a:t>
            </a:r>
            <a:r>
              <a:rPr lang="en-US" altLang="en-US" sz="2200" i="1" dirty="0"/>
              <a:t> d(p, q) + d(q, r)</a:t>
            </a:r>
            <a:r>
              <a:rPr lang="en-US" altLang="en-US" sz="2200" dirty="0"/>
              <a:t>   for all points </a:t>
            </a:r>
            <a:r>
              <a:rPr lang="en-US" altLang="en-US" sz="2200" i="1" dirty="0"/>
              <a:t>p</a:t>
            </a:r>
            <a:r>
              <a:rPr lang="en-US" altLang="en-US" sz="2200" dirty="0"/>
              <a:t>, </a:t>
            </a:r>
            <a:r>
              <a:rPr lang="en-US" altLang="en-US" sz="2200" i="1" dirty="0"/>
              <a:t>q</a:t>
            </a:r>
            <a:r>
              <a:rPr lang="en-US" altLang="en-US" sz="2200" dirty="0"/>
              <a:t>, and </a:t>
            </a:r>
            <a:r>
              <a:rPr lang="en-US" altLang="en-US" sz="2200" i="1" dirty="0"/>
              <a:t>r</a:t>
            </a:r>
            <a:r>
              <a:rPr lang="en-US" altLang="en-US" sz="2200" dirty="0"/>
              <a:t>.  </a:t>
            </a:r>
            <a:br>
              <a:rPr lang="en-US" altLang="en-US" sz="2200" dirty="0"/>
            </a:br>
            <a:r>
              <a:rPr lang="en-US" altLang="en-US" sz="2200" dirty="0"/>
              <a:t>(Triangle Inequality)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/>
              <a:t>	where </a:t>
            </a:r>
            <a:r>
              <a:rPr lang="en-US" altLang="en-US" sz="2400" i="1" dirty="0"/>
              <a:t>d(p, q)</a:t>
            </a:r>
            <a:r>
              <a:rPr lang="en-US" altLang="en-US" sz="2400" dirty="0"/>
              <a:t> is the distance (dissimilarity) between points (data objects),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.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1400" dirty="0"/>
          </a:p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A distance that satisfies these properties is a </a:t>
            </a:r>
            <a:r>
              <a:rPr lang="en-US" altLang="en-US" dirty="0">
                <a:solidFill>
                  <a:srgbClr val="FF0000"/>
                </a:solidFill>
              </a:rPr>
              <a:t>metric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9E4F-B4BF-47ED-AF60-505BB9CB5BCB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5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Common Properties of a Similarity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>
            <a:normAutofit/>
          </a:bodyPr>
          <a:lstStyle/>
          <a:p>
            <a:pPr marL="533400" indent="-533400">
              <a:spcBef>
                <a:spcPct val="20000"/>
              </a:spcBef>
            </a:pPr>
            <a:r>
              <a:rPr lang="en-US" altLang="en-US" sz="3200" dirty="0"/>
              <a:t>Similarities, also have some well known properties.</a:t>
            </a:r>
          </a:p>
          <a:p>
            <a:pPr marL="533400" indent="-533400">
              <a:spcBef>
                <a:spcPct val="20000"/>
              </a:spcBef>
            </a:pPr>
            <a:endParaRPr lang="en-US" altLang="en-US" sz="1600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i="1" dirty="0"/>
              <a:t>s(p, q) = 1 </a:t>
            </a:r>
            <a:r>
              <a:rPr lang="en-US" altLang="en-US" dirty="0"/>
              <a:t>(or maximum similarity) only if </a:t>
            </a:r>
            <a:r>
              <a:rPr lang="en-US" altLang="en-US" i="1" dirty="0"/>
              <a:t>p</a:t>
            </a:r>
            <a:r>
              <a:rPr lang="en-US" altLang="en-US" dirty="0"/>
              <a:t> </a:t>
            </a:r>
            <a:r>
              <a:rPr lang="en-US" altLang="en-US" i="1" dirty="0"/>
              <a:t>= q</a:t>
            </a:r>
            <a:r>
              <a:rPr lang="en-US" altLang="en-US" dirty="0"/>
              <a:t>. </a:t>
            </a:r>
            <a:br>
              <a:rPr lang="en-US" altLang="en-US" dirty="0"/>
            </a:br>
            <a:endParaRPr lang="en-US" altLang="en-US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i="1" dirty="0"/>
              <a:t>s(p, q) = s(q, p)</a:t>
            </a:r>
            <a:r>
              <a:rPr lang="en-US" altLang="en-US" dirty="0"/>
              <a:t>   for all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 (Symmetry)</a:t>
            </a:r>
            <a:br>
              <a:rPr lang="en-US" altLang="en-US" dirty="0"/>
            </a:br>
            <a:endParaRPr lang="en-US" altLang="en-US" dirty="0"/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dirty="0"/>
              <a:t>	where </a:t>
            </a:r>
            <a:r>
              <a:rPr lang="en-US" altLang="en-US" i="1" dirty="0"/>
              <a:t>s(p, q)</a:t>
            </a:r>
            <a:r>
              <a:rPr lang="en-US" altLang="en-US" dirty="0"/>
              <a:t> is the similarity between points (data objects),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00C2-662D-49B4-99A6-C68ABE60A023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Similarity Between Binary Vectors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Common situation is that objects,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, have only binary attributes</a:t>
            </a:r>
          </a:p>
          <a:p>
            <a:pPr marL="2171700" lvl="4" indent="-342900">
              <a:lnSpc>
                <a:spcPct val="80000"/>
              </a:lnSpc>
            </a:pPr>
            <a:endParaRPr lang="en-US" altLang="en-US" sz="8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Compute similarities using the following quantities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1800" dirty="0">
                <a:latin typeface="CMMI10" pitchFamily="34" charset="0"/>
              </a:rPr>
              <a:t>	</a:t>
            </a: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10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00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11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en-US" sz="900" dirty="0">
              <a:latin typeface="CMMI10" pitchFamily="34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Simple Matching and </a:t>
            </a:r>
            <a:r>
              <a:rPr lang="en-US" altLang="en-US" sz="2400" dirty="0" err="1"/>
              <a:t>Jaccard</a:t>
            </a:r>
            <a:r>
              <a:rPr lang="en-US" altLang="en-US" sz="2400" dirty="0"/>
              <a:t> Coefficients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1400" dirty="0">
                <a:cs typeface="Times New Roman" panose="02020603050405020304" pitchFamily="18" charset="0"/>
              </a:rPr>
              <a:t>	</a:t>
            </a:r>
            <a:r>
              <a:rPr lang="en-US" altLang="en-US" sz="2000" dirty="0">
                <a:cs typeface="Times New Roman" panose="02020603050405020304" pitchFamily="18" charset="0"/>
              </a:rPr>
              <a:t>SMC =  number of matches / number of attributes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        		 =  (M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000" dirty="0">
                <a:cs typeface="Times New Roman" panose="02020603050405020304" pitchFamily="18" charset="0"/>
              </a:rPr>
              <a:t>) / (M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000" dirty="0"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J = number of 11 matches / number of not-both-zero attributes values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	  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/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949F-8AA9-4A02-8241-25910FD668E9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SMC versus Jaccard: Example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143000"/>
            <a:ext cx="8869363" cy="5106988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cs typeface="Times New Roman" panose="02020603050405020304" pitchFamily="18" charset="0"/>
              </a:rPr>
              <a:t> =  1 0 0 0 0 0 0 0 0 0    	</a:t>
            </a:r>
            <a:r>
              <a:rPr lang="en-US" altLang="en-US" sz="2400" i="1" dirty="0">
                <a:cs typeface="Times New Roman" panose="02020603050405020304" pitchFamily="18" charset="0"/>
              </a:rPr>
              <a:t>	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cs typeface="Times New Roman" panose="02020603050405020304" pitchFamily="18" charset="0"/>
              </a:rPr>
              <a:t> =  0 0 0 0 0 0 1 0 0 1</a:t>
            </a:r>
            <a:r>
              <a:rPr lang="en-US" altLang="en-US" sz="2400" i="1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2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10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1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7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11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0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1)</a:t>
            </a:r>
            <a:endParaRPr lang="en-US" altLang="en-US" sz="2000" dirty="0">
              <a:latin typeface="CMMI10" pitchFamily="34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	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SMC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400" dirty="0">
                <a:cs typeface="Times New Roman" panose="02020603050405020304" pitchFamily="18" charset="0"/>
              </a:rPr>
              <a:t>)/(M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400" dirty="0">
                <a:cs typeface="Times New Roman" panose="02020603050405020304" pitchFamily="18" charset="0"/>
              </a:rPr>
              <a:t>) = (0+7) / (2+1+0+7) = 0.7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J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/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= 0 / (2 + 1 + 0) = 0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DD67-43B4-4A29-A6B2-6BE9367AC5D6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2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Cosine Similarity</a:t>
            </a:r>
          </a:p>
        </p:txBody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901700"/>
            <a:ext cx="9720263" cy="5348288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2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 If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are two document vectors, then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          cos(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i="1" dirty="0">
                <a:cs typeface="Times New Roman" panose="02020603050405020304" pitchFamily="18" charset="0"/>
              </a:rPr>
              <a:t>, 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) =  (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) /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||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|| , 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where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indicates vector dot product and || </a:t>
            </a:r>
            <a:r>
              <a:rPr lang="en-US" altLang="en-US" sz="1800" i="1" dirty="0">
                <a:cs typeface="Times New Roman" panose="02020603050405020304" pitchFamily="18" charset="0"/>
              </a:rPr>
              <a:t>d </a:t>
            </a:r>
            <a:r>
              <a:rPr lang="en-US" altLang="en-US" sz="1800" dirty="0">
                <a:cs typeface="Times New Roman" panose="02020603050405020304" pitchFamily="18" charset="0"/>
              </a:rPr>
              <a:t>|| is  the   length of vector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  <a:r>
              <a:rPr lang="en-US" altLang="en-US" sz="2400" dirty="0">
                <a:cs typeface="Times New Roman" panose="02020603050405020304" pitchFamily="18" charset="0"/>
              </a:rPr>
              <a:t>  </a:t>
            </a:r>
          </a:p>
          <a:p>
            <a:pPr marL="2514600" lvl="4" indent="-342900" algn="just"/>
            <a:endParaRPr lang="en-US" altLang="en-US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 Example: </a:t>
            </a:r>
          </a:p>
          <a:p>
            <a:pPr marL="0" indent="0" algn="just">
              <a:spcBef>
                <a:spcPct val="20000"/>
              </a:spcBef>
              <a:buNone/>
            </a:pPr>
            <a:endParaRPr lang="en-US" altLang="en-US" sz="105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  	</a:t>
            </a:r>
            <a:r>
              <a:rPr lang="en-US" altLang="en-US" sz="2000" i="1" dirty="0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Times New Roman" panose="02020603050405020304" pitchFamily="18" charset="0"/>
              </a:rPr>
              <a:t>=  3 2 0 5 0 0 0 2 0 0 	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000" i="1" dirty="0">
                <a:cs typeface="Times New Roman" panose="02020603050405020304" pitchFamily="18" charset="0"/>
              </a:rPr>
              <a:t>   	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cs typeface="Times New Roman" panose="02020603050405020304" pitchFamily="18" charset="0"/>
              </a:rPr>
              <a:t> =  1 0 0 0 0 0 0 1 0 2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1800" i="1" dirty="0">
                <a:cs typeface="Times New Roman" panose="02020603050405020304" pitchFamily="18" charset="0"/>
              </a:rPr>
              <a:t>    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=  3*1 + 2*0 + 0*0 + 5*0 + 0*0 + 0*0 + 0*0 + 2*1 + 0*0 + 0*2 = 5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</a:t>
            </a:r>
            <a:r>
              <a:rPr lang="en-US" altLang="en-US" sz="1800" dirty="0">
                <a:cs typeface="Times New Roman" panose="02020603050405020304" pitchFamily="18" charset="0"/>
              </a:rPr>
              <a:t>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|| = (3*3+2*2+0*0+5*5+0*0+0*0+0*0+2*2+0*0+0*0)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 (42)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6.481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 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|| = (1*1+0*0+0*0+0*0+0*0+0*0+0*0+1*1+0*0+2*2)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</a:rPr>
              <a:t>= (6)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2.245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   	cos( </a:t>
            </a:r>
            <a:r>
              <a:rPr lang="en-US" altLang="en-US" sz="2000" i="1" dirty="0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cs typeface="Times New Roman" panose="02020603050405020304" pitchFamily="18" charset="0"/>
              </a:rPr>
              <a:t>, 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cs typeface="Times New Roman" panose="02020603050405020304" pitchFamily="18" charset="0"/>
              </a:rPr>
              <a:t> ) = .3150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3F477-8FC2-4934-904D-D3B8DFA29B62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Extended Jaccard Coefficient (Tanimoto)</a:t>
            </a:r>
          </a:p>
        </p:txBody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Variation of </a:t>
            </a:r>
            <a:r>
              <a:rPr lang="en-US" altLang="en-US" dirty="0" err="1"/>
              <a:t>Jaccard</a:t>
            </a:r>
            <a:r>
              <a:rPr lang="en-US" altLang="en-US" dirty="0"/>
              <a:t> for continuous or count attributes</a:t>
            </a:r>
          </a:p>
          <a:p>
            <a:pPr lvl="1"/>
            <a:r>
              <a:rPr lang="en-US" altLang="en-US" dirty="0"/>
              <a:t>Reduces to </a:t>
            </a:r>
            <a:r>
              <a:rPr lang="en-US" altLang="en-US" dirty="0" err="1"/>
              <a:t>Jaccard</a:t>
            </a:r>
            <a:r>
              <a:rPr lang="en-US" altLang="en-US" dirty="0"/>
              <a:t> for binary attributes</a:t>
            </a:r>
          </a:p>
        </p:txBody>
      </p:sp>
      <p:graphicFrame>
        <p:nvGraphicFramePr>
          <p:cNvPr id="892932" name="Object 4"/>
          <p:cNvGraphicFramePr>
            <a:graphicFrameLocks noChangeAspect="1"/>
          </p:cNvGraphicFramePr>
          <p:nvPr/>
        </p:nvGraphicFramePr>
        <p:xfrm>
          <a:off x="3505200" y="3048001"/>
          <a:ext cx="3810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Bitmap Image" r:id="rId3" imgW="4145639" imgH="838095" progId="Paint.Picture">
                  <p:embed/>
                </p:oleObj>
              </mc:Choice>
              <mc:Fallback>
                <p:oleObj name="Bitmap Image" r:id="rId3" imgW="4145639" imgH="83809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12" r="16032"/>
                      <a:stretch>
                        <a:fillRect/>
                      </a:stretch>
                    </p:blipFill>
                    <p:spPr bwMode="auto">
                      <a:xfrm>
                        <a:off x="3505200" y="3048001"/>
                        <a:ext cx="3810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7BFD-034B-4ED3-9478-44CAC9CFA834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1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196851"/>
            <a:ext cx="10515600" cy="730250"/>
          </a:xfrm>
        </p:spPr>
        <p:txBody>
          <a:bodyPr/>
          <a:lstStyle/>
          <a:p>
            <a:r>
              <a:rPr lang="en-US" altLang="en-US" dirty="0"/>
              <a:t>Correlation</a:t>
            </a:r>
          </a:p>
        </p:txBody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1079500"/>
            <a:ext cx="10655300" cy="5097463"/>
          </a:xfrm>
        </p:spPr>
        <p:txBody>
          <a:bodyPr/>
          <a:lstStyle/>
          <a:p>
            <a:r>
              <a:rPr lang="en-US" altLang="en-US"/>
              <a:t>Correlation measures the linear relationship between objects</a:t>
            </a:r>
          </a:p>
          <a:p>
            <a:r>
              <a:rPr lang="en-US" altLang="en-US"/>
              <a:t>To compute correlation, we standardize data objects, p and q, and then take their dot product</a:t>
            </a:r>
          </a:p>
        </p:txBody>
      </p:sp>
      <p:graphicFrame>
        <p:nvGraphicFramePr>
          <p:cNvPr id="893956" name="Object 4"/>
          <p:cNvGraphicFramePr>
            <a:graphicFrameLocks noChangeAspect="1"/>
          </p:cNvGraphicFramePr>
          <p:nvPr/>
        </p:nvGraphicFramePr>
        <p:xfrm>
          <a:off x="3098800" y="3443288"/>
          <a:ext cx="551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3" imgW="1841400" imgH="228600" progId="Equation.3">
                  <p:embed/>
                </p:oleObj>
              </mc:Choice>
              <mc:Fallback>
                <p:oleObj name="Equation" r:id="rId3" imgW="1841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3443288"/>
                        <a:ext cx="551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7" name="Object 5"/>
          <p:cNvGraphicFramePr>
            <a:graphicFrameLocks noChangeAspect="1"/>
          </p:cNvGraphicFramePr>
          <p:nvPr/>
        </p:nvGraphicFramePr>
        <p:xfrm>
          <a:off x="3175001" y="4357689"/>
          <a:ext cx="52562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5" imgW="1752480" imgH="228600" progId="Equation.3">
                  <p:embed/>
                </p:oleObj>
              </mc:Choice>
              <mc:Fallback>
                <p:oleObj name="Equation" r:id="rId5" imgW="1752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1" y="4357689"/>
                        <a:ext cx="52562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8" name="Object 6"/>
          <p:cNvGraphicFramePr>
            <a:graphicFrameLocks noChangeAspect="1"/>
          </p:cNvGraphicFramePr>
          <p:nvPr/>
        </p:nvGraphicFramePr>
        <p:xfrm>
          <a:off x="3152775" y="5348288"/>
          <a:ext cx="46434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7" imgW="1587240" imgH="203040" progId="Equation.3">
                  <p:embed/>
                </p:oleObj>
              </mc:Choice>
              <mc:Fallback>
                <p:oleObj name="Equation" r:id="rId7" imgW="1587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5348288"/>
                        <a:ext cx="46434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37FE-7E23-4C95-AB1F-71E0D42598CE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4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General Approach for Combining Similarities</a:t>
            </a:r>
          </a:p>
        </p:txBody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901701"/>
            <a:ext cx="9224963" cy="1217614"/>
          </a:xfrm>
        </p:spPr>
        <p:txBody>
          <a:bodyPr/>
          <a:lstStyle/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Sometimes attributes are of many different types, but an overall similarity is needed.</a:t>
            </a:r>
          </a:p>
        </p:txBody>
      </p:sp>
      <p:graphicFrame>
        <p:nvGraphicFramePr>
          <p:cNvPr id="896004" name="Object 4"/>
          <p:cNvGraphicFramePr>
            <a:graphicFrameLocks noChangeAspect="1"/>
          </p:cNvGraphicFramePr>
          <p:nvPr>
            <p:extLst/>
          </p:nvPr>
        </p:nvGraphicFramePr>
        <p:xfrm>
          <a:off x="939799" y="1939459"/>
          <a:ext cx="10840887" cy="4207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Bitmap Image" r:id="rId3" imgW="7056732" imgH="2591025" progId="Paint.Picture">
                  <p:embed/>
                </p:oleObj>
              </mc:Choice>
              <mc:Fallback>
                <p:oleObj name="Bitmap Image" r:id="rId3" imgW="7056732" imgH="259102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799" y="1939459"/>
                        <a:ext cx="10840887" cy="4207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B1EC7-B739-4107-A541-0F638A6F249A}" type="datetime5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9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1975</TotalTime>
  <Words>3537</Words>
  <Application>Microsoft Office PowerPoint</Application>
  <PresentationFormat>Widescreen</PresentationFormat>
  <Paragraphs>735</Paragraphs>
  <Slides>80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80</vt:i4>
      </vt:variant>
    </vt:vector>
  </HeadingPairs>
  <TitlesOfParts>
    <vt:vector size="108" baseType="lpstr">
      <vt:lpstr>Arial</vt:lpstr>
      <vt:lpstr>Calibri</vt:lpstr>
      <vt:lpstr>Calibri Light</vt:lpstr>
      <vt:lpstr>CMBX12</vt:lpstr>
      <vt:lpstr>CMMI10</vt:lpstr>
      <vt:lpstr>CMMI12</vt:lpstr>
      <vt:lpstr>cmr10</vt:lpstr>
      <vt:lpstr>CMR12</vt:lpstr>
      <vt:lpstr>CMR7</vt:lpstr>
      <vt:lpstr>CMSY10</vt:lpstr>
      <vt:lpstr>CMSY6</vt:lpstr>
      <vt:lpstr>Monotype Sorts</vt:lpstr>
      <vt:lpstr>MSBM10</vt:lpstr>
      <vt:lpstr>NimbusSanL-Regu</vt:lpstr>
      <vt:lpstr>NimbusSanL-ReguItal</vt:lpstr>
      <vt:lpstr>Palatino Linotype</vt:lpstr>
      <vt:lpstr>新細明體</vt:lpstr>
      <vt:lpstr>Symbol</vt:lpstr>
      <vt:lpstr>Tahoma</vt:lpstr>
      <vt:lpstr>Times New Roman</vt:lpstr>
      <vt:lpstr>Wingdings</vt:lpstr>
      <vt:lpstr>Office Theme</vt:lpstr>
      <vt:lpstr>Equation</vt:lpstr>
      <vt:lpstr>Chart</vt:lpstr>
      <vt:lpstr>VISIO</vt:lpstr>
      <vt:lpstr>Worksheet</vt:lpstr>
      <vt:lpstr>Bitmap Image</vt:lpstr>
      <vt:lpstr>MathType 5.0 Equation</vt:lpstr>
      <vt:lpstr>CS F415: Data Mining</vt:lpstr>
      <vt:lpstr>Today’s Outline</vt:lpstr>
      <vt:lpstr>Dimensionality of input</vt:lpstr>
      <vt:lpstr>Dimensionality reduction</vt:lpstr>
      <vt:lpstr>Feature Selection vs Extraction</vt:lpstr>
      <vt:lpstr>Usage</vt:lpstr>
      <vt:lpstr>Dimensionality Reduction</vt:lpstr>
      <vt:lpstr>Dimensionality Reduction (cont’d)</vt:lpstr>
      <vt:lpstr>Dimensionality Reduction (cont’d)</vt:lpstr>
      <vt:lpstr>Dimensionality Reduction (cont’d)</vt:lpstr>
      <vt:lpstr>Principal Component Analysis </vt:lpstr>
      <vt:lpstr>PCA</vt:lpstr>
      <vt:lpstr>What PCA does</vt:lpstr>
      <vt:lpstr>Dimensionality Reduction: PCA</vt:lpstr>
      <vt:lpstr>PCA: Motivation</vt:lpstr>
      <vt:lpstr>PCA: Motivation</vt:lpstr>
      <vt:lpstr>PCA: Motivation</vt:lpstr>
      <vt:lpstr>Principal Component Analysis (PCA)</vt:lpstr>
      <vt:lpstr>PCA - Steps</vt:lpstr>
      <vt:lpstr>PCA – Steps (cont’d)</vt:lpstr>
      <vt:lpstr>PCA – Linear Transformation</vt:lpstr>
      <vt:lpstr>Geometric interpretation</vt:lpstr>
      <vt:lpstr>How to choose K?</vt:lpstr>
      <vt:lpstr>PowerPoint Presentation</vt:lpstr>
      <vt:lpstr>Error due to dimensionality reduction</vt:lpstr>
      <vt:lpstr>Normalization</vt:lpstr>
      <vt:lpstr>Feature Subset Selection</vt:lpstr>
      <vt:lpstr>Subset selection</vt:lpstr>
      <vt:lpstr>“Goodness” of feature set</vt:lpstr>
      <vt:lpstr>Dimensionality Reduction</vt:lpstr>
      <vt:lpstr>Heuristic Feature Selection Methods</vt:lpstr>
      <vt:lpstr>Feature Subset Selection</vt:lpstr>
      <vt:lpstr>PowerPoint Presentation</vt:lpstr>
      <vt:lpstr>Feature Creation</vt:lpstr>
      <vt:lpstr>PowerPoint Presentation</vt:lpstr>
      <vt:lpstr>Data Integration</vt:lpstr>
      <vt:lpstr>Handling Redundancy in Data Integration</vt:lpstr>
      <vt:lpstr>Mapping Data to a New Space</vt:lpstr>
      <vt:lpstr>Discretization Without Using Class Labels </vt:lpstr>
      <vt:lpstr>Entropy</vt:lpstr>
      <vt:lpstr>Example: fair coin throw </vt:lpstr>
      <vt:lpstr>PowerPoint Presentation</vt:lpstr>
      <vt:lpstr>Entropy of a split</vt:lpstr>
      <vt:lpstr>Example: attribute “Outlook” </vt:lpstr>
      <vt:lpstr>Outlook = Overcast</vt:lpstr>
      <vt:lpstr>Outlook = Rainy</vt:lpstr>
      <vt:lpstr>Expected Information</vt:lpstr>
      <vt:lpstr>Computing the information gain</vt:lpstr>
      <vt:lpstr>Discretization Using Class Labels</vt:lpstr>
      <vt:lpstr>Attribute Transformation</vt:lpstr>
      <vt:lpstr>Numerosity Reduction</vt:lpstr>
      <vt:lpstr>Regression and Log-Linear Models</vt:lpstr>
      <vt:lpstr>Regress Analysis and Log-Linear Models</vt:lpstr>
      <vt:lpstr>Histograms</vt:lpstr>
      <vt:lpstr>Clustering</vt:lpstr>
      <vt:lpstr>Data Compression</vt:lpstr>
      <vt:lpstr>Data Compression</vt:lpstr>
      <vt:lpstr>Wavelet Transformation </vt:lpstr>
      <vt:lpstr>DWT for Image Compression</vt:lpstr>
      <vt:lpstr>Discretization</vt:lpstr>
      <vt:lpstr>Discretization and Concept hierachy</vt:lpstr>
      <vt:lpstr>Concept Hierarchy Generation for Categorical Data</vt:lpstr>
      <vt:lpstr>Automatic Concept Hierarchy Generation</vt:lpstr>
      <vt:lpstr>Similarity and Dissimilarity</vt:lpstr>
      <vt:lpstr>Similarity/Dissimilarity for Simple Attributes</vt:lpstr>
      <vt:lpstr>Euclidean Distance</vt:lpstr>
      <vt:lpstr>Euclidean Distance</vt:lpstr>
      <vt:lpstr>Minkowski Distance</vt:lpstr>
      <vt:lpstr>Minkowski Distance: Examples</vt:lpstr>
      <vt:lpstr>Minkowski Distance</vt:lpstr>
      <vt:lpstr>Mahalanobis Distance</vt:lpstr>
      <vt:lpstr>Mahalanobis Distance</vt:lpstr>
      <vt:lpstr>Common Properties of a Distance</vt:lpstr>
      <vt:lpstr>Common Properties of a Similarity</vt:lpstr>
      <vt:lpstr>Similarity Between Binary Vectors</vt:lpstr>
      <vt:lpstr>SMC versus Jaccard: Example</vt:lpstr>
      <vt:lpstr>Cosine Similarity</vt:lpstr>
      <vt:lpstr>Extended Jaccard Coefficient (Tanimoto)</vt:lpstr>
      <vt:lpstr>Correlation</vt:lpstr>
      <vt:lpstr>General Approach for Combining Similarities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44</cp:revision>
  <dcterms:created xsi:type="dcterms:W3CDTF">2016-01-15T03:52:31Z</dcterms:created>
  <dcterms:modified xsi:type="dcterms:W3CDTF">2018-01-29T10:18:30Z</dcterms:modified>
</cp:coreProperties>
</file>