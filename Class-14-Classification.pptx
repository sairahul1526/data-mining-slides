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49"/>
  </p:notesMasterIdLst>
  <p:sldIdLst>
    <p:sldId id="256" r:id="rId2"/>
    <p:sldId id="363" r:id="rId3"/>
    <p:sldId id="398" r:id="rId4"/>
    <p:sldId id="399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400" r:id="rId13"/>
    <p:sldId id="372" r:id="rId14"/>
    <p:sldId id="373" r:id="rId15"/>
    <p:sldId id="374" r:id="rId16"/>
    <p:sldId id="378" r:id="rId17"/>
    <p:sldId id="375" r:id="rId18"/>
    <p:sldId id="376" r:id="rId19"/>
    <p:sldId id="401" r:id="rId20"/>
    <p:sldId id="417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415" r:id="rId35"/>
    <p:sldId id="416" r:id="rId36"/>
    <p:sldId id="418" r:id="rId37"/>
    <p:sldId id="419" r:id="rId38"/>
    <p:sldId id="420" r:id="rId39"/>
    <p:sldId id="421" r:id="rId40"/>
    <p:sldId id="422" r:id="rId41"/>
    <p:sldId id="423" r:id="rId42"/>
    <p:sldId id="424" r:id="rId43"/>
    <p:sldId id="425" r:id="rId44"/>
    <p:sldId id="426" r:id="rId45"/>
    <p:sldId id="427" r:id="rId46"/>
    <p:sldId id="428" r:id="rId47"/>
    <p:sldId id="429" r:id="rId48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73C8962-733B-4300-AF0B-A989DD98ABCD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4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4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996572B-9B28-4AAC-91D2-862257C49084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2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4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50947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dirty="0" err="1" smtClean="0"/>
              <a:t>Underfitting</a:t>
            </a:r>
            <a:r>
              <a:rPr lang="en-US" altLang="en-US" sz="1200" b="0" dirty="0" smtClean="0"/>
              <a:t>: when model is too simple, both training and test errors are large. TE &amp; GE are large when the size of the tree is very small.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b="0" dirty="0" smtClean="0">
                <a:sym typeface="Symbol" panose="05050102010706020507" pitchFamily="18" charset="2"/>
              </a:rPr>
              <a:t>It occurs because the model is yet to learn the true structure of the data and as a result it performs poorly on both training and test sets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CBCB5-AD2F-4B40-865E-77C0A819D52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424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558AC20-257B-4F31-BC44-F711A155A2B2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6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6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CC79639-6E7D-4C28-9B24-6B53AAE2CF17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6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83863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56421AF-E378-4A6C-B81F-51C1AE861840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7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7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64AD46C-23E0-4A80-BE95-5AAB735FBEFD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72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5595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92769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BB355C3-9BF9-4922-AB00-376E034BA033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9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9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1ED7206-BE4D-471B-90AA-C6C2FA8499A0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9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09574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BA9E68D-61F8-4C2A-BE52-79D59BE6028E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0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0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5613CBF-98F3-4CFA-B9DF-2B761E5EAA70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0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52035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13EE31-4E08-4A69-B26A-5C0627C4D8B9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13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13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336ACC1-006C-4367-A228-58749FF71565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13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71289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6846121-85C9-4D97-AEF8-46774522F6A9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2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2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0566C37-50F8-42AC-833B-320A242AE813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13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2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43417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0C2C5-F3D6-498B-84C7-C31ADDFC2C28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2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2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7D88196-1B38-4C45-B4EC-104467C9E9D3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14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2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0008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52CD14D-B32B-4431-B0CF-DFE57EEC6825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33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33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2520F9A-8EB6-4292-BD35-6CC906DA8E25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33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25838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02601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B7F89E8-694A-44F2-A5D4-AF1302A4BB62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4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4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6AB9EB-7D3F-4049-912B-A9161CF134EC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4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2489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D0ABDDE-C3D1-4D3B-8F83-28DDB257B9BD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54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54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91EB8F2-B770-45FC-9609-96935D3087B0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54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22779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39D2464-CC7E-4125-ACE7-1EA7B6B8D1A7}" type="slidenum">
              <a:rPr lang="en-US" altLang="en-US" smtClean="0">
                <a:latin typeface="Arial" panose="020B0604020202020204" pitchFamily="34" charset="0"/>
              </a:rPr>
              <a:pPr/>
              <a:t>22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3663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4F05FE0-D104-47DB-AF9C-61EDD21154F7}" type="slidenum">
              <a:rPr lang="en-US" altLang="en-US" smtClean="0">
                <a:latin typeface="Arial" panose="020B0604020202020204" pitchFamily="34" charset="0"/>
              </a:rPr>
              <a:pPr/>
              <a:t>23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98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4087914-0137-4FDC-828A-AF5807FD6293}" type="slidenum">
              <a:rPr lang="en-US" altLang="en-US" smtClean="0">
                <a:latin typeface="Arial" panose="020B0604020202020204" pitchFamily="34" charset="0"/>
              </a:rPr>
              <a:pPr/>
              <a:t>24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272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94495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08629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E502EBC-928F-41F0-956C-9303E9E1C5EF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0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0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380861F-7466-4E0E-88E1-5415802CECAA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29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0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26952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8CCC25C-20E9-44E0-A4F7-718BFCD7B297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1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1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664518-7C00-40A2-86ED-C5ACA18CC991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1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863328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0373884-7B47-465A-AF69-DD50979AD065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12-Feb-18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3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3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9714A6-84BE-4498-87C2-07EB1F5AFD5C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3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63769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FB16FDC-EEAB-4655-B348-079C3C18915C}" type="slidenum">
              <a:rPr lang="en-US" altLang="en-US" smtClean="0">
                <a:latin typeface="Arial" panose="020B0604020202020204" pitchFamily="34" charset="0"/>
              </a:rPr>
              <a:pPr/>
              <a:t>44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720725"/>
            <a:ext cx="4791075" cy="3592513"/>
          </a:xfrm>
          <a:ln w="12700" cap="flat"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209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Model </a:t>
            </a:r>
            <a:r>
              <a:rPr lang="en-US" dirty="0" smtClean="0"/>
              <a:t>Overfitting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1143000" y="152400"/>
            <a:ext cx="7543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 the Data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0" y="1524000"/>
            <a:ext cx="8839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8001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A classification model commits two kinds of errors: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Training </a:t>
            </a:r>
            <a:r>
              <a:rPr kumimoji="1" lang="en-US" altLang="en-US" sz="2400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Error </a:t>
            </a: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(TE) (</a:t>
            </a:r>
            <a:r>
              <a:rPr kumimoji="1" lang="en-US" altLang="en-US" sz="2400" b="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resubstitution</a:t>
            </a:r>
            <a:r>
              <a:rPr kumimoji="1" lang="en-US" altLang="en-US" sz="2400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 error , </a:t>
            </a: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apparent </a:t>
            </a:r>
            <a:r>
              <a:rPr kumimoji="1" lang="en-US" altLang="en-US" sz="2400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error)</a:t>
            </a:r>
            <a:endParaRPr kumimoji="1" lang="en-US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Generalization Errors (GE)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A good classification model must have low TE as well as low GE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A model that fits the training data too well can have high GE than a model with high TE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This problem is known as </a:t>
            </a:r>
            <a:r>
              <a:rPr kumimoji="1"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model overfitting</a:t>
            </a:r>
          </a:p>
        </p:txBody>
      </p:sp>
    </p:spTree>
    <p:extLst>
      <p:ext uri="{BB962C8B-B14F-4D97-AF65-F5344CB8AC3E}">
        <p14:creationId xmlns:p14="http://schemas.microsoft.com/office/powerpoint/2010/main" val="265833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Underfitting and Overfitting (Example)</a:t>
            </a:r>
          </a:p>
        </p:txBody>
      </p:sp>
      <p:pic>
        <p:nvPicPr>
          <p:cNvPr id="937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9" t="5307" r="5814" b="5804"/>
          <a:stretch>
            <a:fillRect/>
          </a:stretch>
        </p:blipFill>
        <p:spPr bwMode="auto">
          <a:xfrm>
            <a:off x="304800" y="1600200"/>
            <a:ext cx="5638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7988" name="Text Box 4"/>
          <p:cNvSpPr txBox="1">
            <a:spLocks noChangeArrowheads="1"/>
          </p:cNvSpPr>
          <p:nvPr/>
        </p:nvSpPr>
        <p:spPr bwMode="auto">
          <a:xfrm>
            <a:off x="6172200" y="2362200"/>
            <a:ext cx="2743200" cy="35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500 circular and 500 triangular data points.</a:t>
            </a:r>
          </a:p>
          <a:p>
            <a:pPr>
              <a:spcBef>
                <a:spcPct val="50000"/>
              </a:spcBef>
            </a:pPr>
            <a:endParaRPr lang="en-US" sz="1800"/>
          </a:p>
          <a:p>
            <a:pPr>
              <a:spcBef>
                <a:spcPct val="50000"/>
              </a:spcBef>
            </a:pPr>
            <a:r>
              <a:rPr lang="en-US" sz="1800"/>
              <a:t>Circular points:</a:t>
            </a:r>
          </a:p>
          <a:p>
            <a:pPr>
              <a:spcBef>
                <a:spcPct val="50000"/>
              </a:spcBef>
            </a:pPr>
            <a:r>
              <a:rPr lang="en-US" sz="1800"/>
              <a:t>0.5 </a:t>
            </a:r>
            <a:r>
              <a:rPr lang="en-US" sz="1800">
                <a:sym typeface="Symbol" pitchFamily="18" charset="2"/>
              </a:rPr>
              <a:t> 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 1</a:t>
            </a:r>
            <a:endParaRPr lang="en-US" sz="1800"/>
          </a:p>
          <a:p>
            <a:pPr>
              <a:spcBef>
                <a:spcPct val="50000"/>
              </a:spcBef>
            </a:pPr>
            <a:endParaRPr lang="en-US" sz="1800"/>
          </a:p>
          <a:p>
            <a:pPr>
              <a:spcBef>
                <a:spcPct val="50000"/>
              </a:spcBef>
            </a:pPr>
            <a:r>
              <a:rPr lang="en-US" sz="1800"/>
              <a:t>Triangular points:</a:t>
            </a:r>
          </a:p>
          <a:p>
            <a:pPr>
              <a:spcBef>
                <a:spcPct val="50000"/>
              </a:spcBef>
            </a:pPr>
            <a:r>
              <a:rPr lang="en-US" sz="1800">
                <a:sym typeface="Symbol" pitchFamily="18" charset="2"/>
              </a:rPr>
              <a:t>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&gt; 0.5 or</a:t>
            </a:r>
          </a:p>
          <a:p>
            <a:pPr>
              <a:spcBef>
                <a:spcPct val="50000"/>
              </a:spcBef>
            </a:pPr>
            <a:r>
              <a:rPr lang="en-US" sz="1800">
                <a:sym typeface="Symbol" pitchFamily="18" charset="2"/>
              </a:rPr>
              <a:t>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&lt; 1</a:t>
            </a:r>
          </a:p>
        </p:txBody>
      </p:sp>
    </p:spTree>
    <p:extLst>
      <p:ext uri="{BB962C8B-B14F-4D97-AF65-F5344CB8AC3E}">
        <p14:creationId xmlns:p14="http://schemas.microsoft.com/office/powerpoint/2010/main" val="16534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25262"/>
            <a:ext cx="8229600" cy="990600"/>
          </a:xfrm>
        </p:spPr>
        <p:txBody>
          <a:bodyPr/>
          <a:lstStyle/>
          <a:p>
            <a:r>
              <a:rPr lang="en-US"/>
              <a:t>Underfitting and Overfitting</a:t>
            </a:r>
          </a:p>
        </p:txBody>
      </p:sp>
      <p:pic>
        <p:nvPicPr>
          <p:cNvPr id="939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56388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9012" name="Line 4"/>
          <p:cNvSpPr>
            <a:spLocks noChangeShapeType="1"/>
          </p:cNvSpPr>
          <p:nvPr/>
        </p:nvSpPr>
        <p:spPr bwMode="auto">
          <a:xfrm>
            <a:off x="4222811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013" name="Text Box 5"/>
          <p:cNvSpPr txBox="1">
            <a:spLocks noChangeArrowheads="1"/>
          </p:cNvSpPr>
          <p:nvPr/>
        </p:nvSpPr>
        <p:spPr bwMode="auto">
          <a:xfrm>
            <a:off x="4318247" y="190687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Overfitting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39014" name="Text Box 6"/>
          <p:cNvSpPr txBox="1">
            <a:spLocks noChangeArrowheads="1"/>
          </p:cNvSpPr>
          <p:nvPr/>
        </p:nvSpPr>
        <p:spPr bwMode="auto">
          <a:xfrm>
            <a:off x="419100" y="5782438"/>
            <a:ext cx="845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rgbClr val="0070C0"/>
                </a:solidFill>
              </a:rPr>
              <a:t>Underfitting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simple</a:t>
            </a:r>
            <a:r>
              <a:rPr lang="en-US" sz="1800" b="0" dirty="0"/>
              <a:t>, both training and test errors are large </a:t>
            </a:r>
            <a:endParaRPr lang="en-US" sz="1800" b="0" dirty="0">
              <a:sym typeface="Symbol" pitchFamily="18" charset="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743200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828800" y="1889099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 smtClean="0"/>
              <a:t>Underfitting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54611" y="6149150"/>
            <a:ext cx="845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 smtClean="0">
                <a:solidFill>
                  <a:srgbClr val="0070C0"/>
                </a:solidFill>
              </a:rPr>
              <a:t>Ove</a:t>
            </a:r>
            <a:r>
              <a:rPr lang="en-US" sz="1800" dirty="0" err="1" smtClean="0">
                <a:solidFill>
                  <a:srgbClr val="0070C0"/>
                </a:solidFill>
              </a:rPr>
              <a:t>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</a:t>
            </a:r>
            <a:r>
              <a:rPr lang="en-US" sz="1800" b="0" dirty="0" smtClean="0">
                <a:solidFill>
                  <a:schemeClr val="accent6">
                    <a:lumMod val="75000"/>
                  </a:schemeClr>
                </a:solidFill>
              </a:rPr>
              <a:t>complex </a:t>
            </a:r>
            <a:r>
              <a:rPr lang="en-US" sz="1800" b="0" dirty="0" smtClean="0"/>
              <a:t>it models the details of the training set and fails on the test set </a:t>
            </a:r>
            <a:endParaRPr lang="en-US" sz="1800" b="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6476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1143000" y="152400"/>
            <a:ext cx="7543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 the Data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0" y="1905000"/>
            <a:ext cx="8839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When a decision tree is built, many of the branches may reflect anomalies in the training data due to noise or outliers.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We may grow the tree just deeply enough to perfectly classify the training data set.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This problem is known as overfitting the data.</a:t>
            </a:r>
          </a:p>
        </p:txBody>
      </p:sp>
    </p:spTree>
    <p:extLst>
      <p:ext uri="{BB962C8B-B14F-4D97-AF65-F5344CB8AC3E}">
        <p14:creationId xmlns:p14="http://schemas.microsoft.com/office/powerpoint/2010/main" val="170127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1143000" y="152400"/>
            <a:ext cx="7543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 the Data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447800"/>
            <a:ext cx="8839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TE of a model can be reduced by increasing the model complexity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Leaf nodes of the tree can be expanded until it perfectly fits the training data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TE for such a complex tree = 0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GE can be large because the tree may accidently fit noise points in the training set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Overfitting &amp; </a:t>
            </a:r>
            <a:r>
              <a:rPr kumimoji="1" lang="en-US" altLang="en-US" sz="3200" b="0" dirty="0" err="1">
                <a:solidFill>
                  <a:schemeClr val="tx1"/>
                </a:solidFill>
                <a:latin typeface="Arial" panose="020B0604020202020204" pitchFamily="34" charset="0"/>
              </a:rPr>
              <a:t>underfitting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are two pathologies that are related to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160071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7" y="762000"/>
            <a:ext cx="8323423" cy="500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575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 dirty="0" smtClean="0"/>
              <a:t>Occam’s Razor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82000" cy="49530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en-US" sz="3200" dirty="0" smtClean="0"/>
              <a:t>Given two models of similar generalization errors,  one should prefer the simpler model over the more complex model</a:t>
            </a:r>
          </a:p>
          <a:p>
            <a:r>
              <a:rPr lang="en-US" altLang="en-US" sz="3200" dirty="0" smtClean="0"/>
              <a:t> For complex models, there is a greater chance that it was fitted accidentally by errors in data</a:t>
            </a:r>
          </a:p>
          <a:p>
            <a:r>
              <a:rPr lang="en-US" altLang="en-US" sz="3200" dirty="0" smtClean="0"/>
              <a:t> Therefore, one should include model complexity when evaluating a model</a:t>
            </a:r>
          </a:p>
        </p:txBody>
      </p:sp>
    </p:spTree>
    <p:extLst>
      <p:ext uri="{BB962C8B-B14F-4D97-AF65-F5344CB8AC3E}">
        <p14:creationId xmlns:p14="http://schemas.microsoft.com/office/powerpoint/2010/main" val="341006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1143000" y="381000"/>
            <a:ext cx="7086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Definition</a:t>
            </a: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0" y="1905000"/>
            <a:ext cx="8991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  A decision tree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is said to </a:t>
            </a:r>
            <a:r>
              <a:rPr kumimoji="1" lang="en-US" altLang="en-US" sz="3200" b="0" dirty="0" err="1">
                <a:solidFill>
                  <a:schemeClr val="tx1"/>
                </a:solidFill>
                <a:latin typeface="Arial" panose="020B0604020202020204" pitchFamily="34" charset="0"/>
              </a:rPr>
              <a:t>overfit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the training data if there exists some other tree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T’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which is a simplification of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, such that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has smaller error than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T’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over the training set but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T’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 has a smaller error than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over the entire distribution of the instances.</a:t>
            </a:r>
          </a:p>
        </p:txBody>
      </p:sp>
    </p:spTree>
    <p:extLst>
      <p:ext uri="{BB962C8B-B14F-4D97-AF65-F5344CB8AC3E}">
        <p14:creationId xmlns:p14="http://schemas.microsoft.com/office/powerpoint/2010/main" val="279149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7620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Problems of Overfitting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Overfitting can lead to many difficulties: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Overfitted</a:t>
            </a: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models are incorrect.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Require more space and more computational resources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Require collection of unnecessary features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They are more difficult to comprehend</a:t>
            </a:r>
          </a:p>
        </p:txBody>
      </p:sp>
    </p:spTree>
    <p:extLst>
      <p:ext uri="{BB962C8B-B14F-4D97-AF65-F5344CB8AC3E}">
        <p14:creationId xmlns:p14="http://schemas.microsoft.com/office/powerpoint/2010/main" val="328611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7620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sz="2400" b="0" dirty="0" err="1">
                <a:latin typeface="Arial" charset="0"/>
              </a:rPr>
              <a:t>Overfitting</a:t>
            </a:r>
            <a:r>
              <a:rPr kumimoji="1" lang="en-US" sz="2400" b="0" dirty="0">
                <a:latin typeface="Arial" charset="0"/>
              </a:rPr>
              <a:t> can be due to: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+mj-lt"/>
              <a:buAutoNum type="arabicPeriod"/>
              <a:defRPr/>
            </a:pPr>
            <a:r>
              <a:rPr kumimoji="1" lang="en-US" sz="2400" b="0" dirty="0">
                <a:latin typeface="Arial" charset="0"/>
              </a:rPr>
              <a:t>Presence of Noise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+mj-lt"/>
              <a:buAutoNum type="arabicPeriod"/>
              <a:defRPr/>
            </a:pPr>
            <a:r>
              <a:rPr kumimoji="1" lang="en-US" sz="2400" b="0" dirty="0">
                <a:latin typeface="Arial" charset="0"/>
              </a:rPr>
              <a:t>Lack of representative samples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32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3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Overfitting due to Noise </a:t>
            </a:r>
          </a:p>
        </p:txBody>
      </p:sp>
      <p:pic>
        <p:nvPicPr>
          <p:cNvPr id="940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 b="3615"/>
          <a:stretch>
            <a:fillRect/>
          </a:stretch>
        </p:blipFill>
        <p:spPr bwMode="auto">
          <a:xfrm>
            <a:off x="1295400" y="1614487"/>
            <a:ext cx="6324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40036" name="Text Box 4"/>
          <p:cNvSpPr txBox="1">
            <a:spLocks noChangeArrowheads="1"/>
          </p:cNvSpPr>
          <p:nvPr/>
        </p:nvSpPr>
        <p:spPr bwMode="auto">
          <a:xfrm>
            <a:off x="1676400" y="6262687"/>
            <a:ext cx="579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Decision boundary is distorted by noise point</a:t>
            </a:r>
            <a:endParaRPr lang="en-US" sz="180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1470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Presence of </a:t>
            </a:r>
            <a:r>
              <a:rPr kumimoji="1" lang="en-US" dirty="0" smtClean="0">
                <a:latin typeface="Arial" charset="0"/>
              </a:rPr>
              <a:t>Noise: Training </a:t>
            </a:r>
            <a:r>
              <a:rPr kumimoji="1" lang="en-US" dirty="0">
                <a:latin typeface="Arial" charset="0"/>
              </a:rPr>
              <a:t>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74638" y="1957388"/>
          <a:ext cx="8610600" cy="434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676400"/>
                <a:gridCol w="1219200"/>
                <a:gridCol w="1143000"/>
                <a:gridCol w="1524000"/>
                <a:gridCol w="1524000"/>
              </a:tblGrid>
              <a:tr h="6400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Body Temperature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Gives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Birth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4-legged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Hibernates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Label</a:t>
                      </a:r>
                    </a:p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(mammal)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Porcupine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Cat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Warm Blooded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Bat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N*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Whale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N*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Salamander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Komodo Dragon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Python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Salmon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Eagle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Guppy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938" name="TextBox 4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 dirty="0" smtClean="0"/>
              <a:t>*mislabeled records</a:t>
            </a:r>
            <a:endParaRPr lang="en-US" alt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98692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Presence of </a:t>
            </a:r>
            <a:r>
              <a:rPr kumimoji="1" lang="en-US" dirty="0" err="1">
                <a:latin typeface="Arial" charset="0"/>
              </a:rPr>
              <a:t>Noise:Test</a:t>
            </a:r>
            <a:r>
              <a:rPr kumimoji="1" lang="en-US" dirty="0">
                <a:latin typeface="Arial" charset="0"/>
              </a:rPr>
              <a:t> 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 smtClean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sp>
        <p:nvSpPr>
          <p:cNvPr id="68698" name="TextBox 4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Table taken from text book (Tan, Steinbach, Kumar)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74638" y="1957388"/>
          <a:ext cx="8610600" cy="434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676400"/>
                <a:gridCol w="1219200"/>
                <a:gridCol w="1143000"/>
                <a:gridCol w="1524000"/>
                <a:gridCol w="1524000"/>
              </a:tblGrid>
              <a:tr h="640033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Body Temperature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Gives</a:t>
                      </a:r>
                      <a:r>
                        <a:rPr lang="en-US" sz="1800" b="0" baseline="0" dirty="0" smtClean="0">
                          <a:solidFill>
                            <a:schemeClr val="tx1"/>
                          </a:solidFill>
                        </a:rPr>
                        <a:t> Birth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4-legged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Hibernates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1800" b="0" baseline="0" dirty="0" smtClean="0">
                          <a:solidFill>
                            <a:schemeClr val="tx1"/>
                          </a:solidFill>
                        </a:rPr>
                        <a:t> Label</a:t>
                      </a:r>
                    </a:p>
                    <a:p>
                      <a:pPr algn="ctr"/>
                      <a:r>
                        <a:rPr lang="en-US" sz="1800" b="0" baseline="0" dirty="0" smtClean="0">
                          <a:solidFill>
                            <a:schemeClr val="tx1"/>
                          </a:solidFill>
                        </a:rPr>
                        <a:t>(mammal)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Human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Pigeon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Warm Blooded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Elephant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Leopard Shark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Turtle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Penguin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Eel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Dolphin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Spiny Anteater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Gila Monster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1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Presence of Noise: Models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grpSp>
        <p:nvGrpSpPr>
          <p:cNvPr id="69636" name="Group 65"/>
          <p:cNvGrpSpPr>
            <a:grpSpLocks/>
          </p:cNvGrpSpPr>
          <p:nvPr/>
        </p:nvGrpSpPr>
        <p:grpSpPr bwMode="auto">
          <a:xfrm>
            <a:off x="533400" y="1981200"/>
            <a:ext cx="3949700" cy="3810000"/>
            <a:chOff x="381000" y="2667000"/>
            <a:chExt cx="3949608" cy="3810000"/>
          </a:xfrm>
        </p:grpSpPr>
        <p:grpSp>
          <p:nvGrpSpPr>
            <p:cNvPr id="69655" name="Group 4"/>
            <p:cNvGrpSpPr>
              <a:grpSpLocks/>
            </p:cNvGrpSpPr>
            <p:nvPr/>
          </p:nvGrpSpPr>
          <p:grpSpPr bwMode="auto">
            <a:xfrm>
              <a:off x="381000" y="2667000"/>
              <a:ext cx="3048000" cy="3810000"/>
              <a:chOff x="192" y="2016"/>
              <a:chExt cx="1920" cy="2016"/>
            </a:xfrm>
          </p:grpSpPr>
          <p:sp>
            <p:nvSpPr>
              <p:cNvPr id="69660" name="Oval 5"/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912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Body Temp</a:t>
                </a:r>
              </a:p>
            </p:txBody>
          </p:sp>
          <p:sp>
            <p:nvSpPr>
              <p:cNvPr id="69661" name="Line 6"/>
              <p:cNvSpPr>
                <a:spLocks noChangeShapeType="1"/>
              </p:cNvSpPr>
              <p:nvPr/>
            </p:nvSpPr>
            <p:spPr bwMode="auto">
              <a:xfrm flipH="1">
                <a:off x="1056" y="2352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2" name="Line 7"/>
              <p:cNvSpPr>
                <a:spLocks noChangeShapeType="1"/>
              </p:cNvSpPr>
              <p:nvPr/>
            </p:nvSpPr>
            <p:spPr bwMode="auto">
              <a:xfrm>
                <a:off x="1680" y="2379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3" name="Oval 8"/>
              <p:cNvSpPr>
                <a:spLocks noChangeArrowheads="1"/>
              </p:cNvSpPr>
              <p:nvPr/>
            </p:nvSpPr>
            <p:spPr bwMode="auto">
              <a:xfrm>
                <a:off x="576" y="3216"/>
                <a:ext cx="816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4-legged</a:t>
                </a:r>
              </a:p>
            </p:txBody>
          </p:sp>
          <p:sp>
            <p:nvSpPr>
              <p:cNvPr id="69664" name="Line 9"/>
              <p:cNvSpPr>
                <a:spLocks noChangeShapeType="1"/>
              </p:cNvSpPr>
              <p:nvPr/>
            </p:nvSpPr>
            <p:spPr bwMode="auto">
              <a:xfrm flipH="1">
                <a:off x="576" y="3552"/>
                <a:ext cx="192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5" name="Line 10"/>
              <p:cNvSpPr>
                <a:spLocks noChangeShapeType="1"/>
              </p:cNvSpPr>
              <p:nvPr/>
            </p:nvSpPr>
            <p:spPr bwMode="auto">
              <a:xfrm>
                <a:off x="1248" y="3552"/>
                <a:ext cx="144" cy="23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6" name="Rectangle 11"/>
              <p:cNvSpPr>
                <a:spLocks noChangeArrowheads="1"/>
              </p:cNvSpPr>
              <p:nvPr/>
            </p:nvSpPr>
            <p:spPr bwMode="auto">
              <a:xfrm>
                <a:off x="240" y="3792"/>
                <a:ext cx="768" cy="24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Mammals</a:t>
                </a:r>
              </a:p>
            </p:txBody>
          </p:sp>
          <p:sp>
            <p:nvSpPr>
              <p:cNvPr id="69667" name="Rectangle 12"/>
              <p:cNvSpPr>
                <a:spLocks noChangeArrowheads="1"/>
              </p:cNvSpPr>
              <p:nvPr/>
            </p:nvSpPr>
            <p:spPr bwMode="auto">
              <a:xfrm>
                <a:off x="1200" y="3790"/>
                <a:ext cx="912" cy="242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Non-mammals</a:t>
                </a:r>
                <a:endParaRPr lang="en-US" altLang="en-US" sz="2400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668" name="Text Box 15"/>
              <p:cNvSpPr txBox="1">
                <a:spLocks noChangeArrowheads="1"/>
              </p:cNvSpPr>
              <p:nvPr/>
            </p:nvSpPr>
            <p:spPr bwMode="auto">
              <a:xfrm>
                <a:off x="422" y="3480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  <p:sp>
            <p:nvSpPr>
              <p:cNvPr id="69669" name="Text Box 18"/>
              <p:cNvSpPr txBox="1">
                <a:spLocks noChangeArrowheads="1"/>
              </p:cNvSpPr>
              <p:nvPr/>
            </p:nvSpPr>
            <p:spPr bwMode="auto">
              <a:xfrm>
                <a:off x="192" y="2339"/>
                <a:ext cx="973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Warm blooded</a:t>
                </a:r>
              </a:p>
            </p:txBody>
          </p:sp>
          <p:sp>
            <p:nvSpPr>
              <p:cNvPr id="69670" name="Oval 19"/>
              <p:cNvSpPr>
                <a:spLocks noChangeArrowheads="1"/>
              </p:cNvSpPr>
              <p:nvPr/>
            </p:nvSpPr>
            <p:spPr bwMode="auto">
              <a:xfrm>
                <a:off x="720" y="2640"/>
                <a:ext cx="768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Gives Birth</a:t>
                </a:r>
              </a:p>
            </p:txBody>
          </p:sp>
          <p:sp>
            <p:nvSpPr>
              <p:cNvPr id="69671" name="Line 20"/>
              <p:cNvSpPr>
                <a:spLocks noChangeShapeType="1"/>
              </p:cNvSpPr>
              <p:nvPr/>
            </p:nvSpPr>
            <p:spPr bwMode="auto">
              <a:xfrm flipH="1">
                <a:off x="816" y="3024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72" name="Line 2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240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73" name="Text Box 22"/>
              <p:cNvSpPr txBox="1">
                <a:spLocks noChangeArrowheads="1"/>
              </p:cNvSpPr>
              <p:nvPr/>
            </p:nvSpPr>
            <p:spPr bwMode="auto">
              <a:xfrm>
                <a:off x="1488" y="2880"/>
                <a:ext cx="294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</a:t>
                </a:r>
              </a:p>
            </p:txBody>
          </p:sp>
          <p:sp>
            <p:nvSpPr>
              <p:cNvPr id="69674" name="Text Box 23"/>
              <p:cNvSpPr txBox="1">
                <a:spLocks noChangeArrowheads="1"/>
              </p:cNvSpPr>
              <p:nvPr/>
            </p:nvSpPr>
            <p:spPr bwMode="auto">
              <a:xfrm>
                <a:off x="528" y="2928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</p:grpSp>
        <p:sp>
          <p:nvSpPr>
            <p:cNvPr id="69656" name="Text Box 23"/>
            <p:cNvSpPr txBox="1">
              <a:spLocks noChangeArrowheads="1"/>
            </p:cNvSpPr>
            <p:nvPr/>
          </p:nvSpPr>
          <p:spPr bwMode="auto">
            <a:xfrm>
              <a:off x="2209800" y="5410200"/>
              <a:ext cx="463550" cy="436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69657" name="Rectangle 42"/>
            <p:cNvSpPr>
              <a:spLocks noChangeArrowheads="1"/>
            </p:cNvSpPr>
            <p:nvPr/>
          </p:nvSpPr>
          <p:spPr bwMode="auto">
            <a:xfrm>
              <a:off x="2362200" y="48006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69658" name="Rectangle 43"/>
            <p:cNvSpPr>
              <a:spLocks noChangeArrowheads="1"/>
            </p:cNvSpPr>
            <p:nvPr/>
          </p:nvSpPr>
          <p:spPr bwMode="auto">
            <a:xfrm>
              <a:off x="2514600" y="38100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69659" name="Text Box 18"/>
            <p:cNvSpPr txBox="1">
              <a:spLocks noChangeArrowheads="1"/>
            </p:cNvSpPr>
            <p:nvPr/>
          </p:nvSpPr>
          <p:spPr bwMode="auto">
            <a:xfrm>
              <a:off x="2895600" y="3276600"/>
              <a:ext cx="14350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Cold blooded</a:t>
              </a:r>
            </a:p>
          </p:txBody>
        </p:sp>
      </p:grpSp>
      <p:grpSp>
        <p:nvGrpSpPr>
          <p:cNvPr id="69637" name="Group 66"/>
          <p:cNvGrpSpPr>
            <a:grpSpLocks/>
          </p:cNvGrpSpPr>
          <p:nvPr/>
        </p:nvGrpSpPr>
        <p:grpSpPr bwMode="auto">
          <a:xfrm>
            <a:off x="4953000" y="2209800"/>
            <a:ext cx="3873500" cy="2744788"/>
            <a:chOff x="4953000" y="2666999"/>
            <a:chExt cx="3873408" cy="2744107"/>
          </a:xfrm>
        </p:grpSpPr>
        <p:grpSp>
          <p:nvGrpSpPr>
            <p:cNvPr id="69641" name="Group 45"/>
            <p:cNvGrpSpPr>
              <a:grpSpLocks/>
            </p:cNvGrpSpPr>
            <p:nvPr/>
          </p:nvGrpSpPr>
          <p:grpSpPr bwMode="auto">
            <a:xfrm>
              <a:off x="4953000" y="2666999"/>
              <a:ext cx="3048000" cy="2744107"/>
              <a:chOff x="192" y="2016"/>
              <a:chExt cx="1920" cy="1452"/>
            </a:xfrm>
          </p:grpSpPr>
          <p:sp>
            <p:nvSpPr>
              <p:cNvPr id="69644" name="Oval 46"/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912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Body Temp</a:t>
                </a:r>
              </a:p>
            </p:txBody>
          </p:sp>
          <p:sp>
            <p:nvSpPr>
              <p:cNvPr id="69645" name="Line 6"/>
              <p:cNvSpPr>
                <a:spLocks noChangeShapeType="1"/>
              </p:cNvSpPr>
              <p:nvPr/>
            </p:nvSpPr>
            <p:spPr bwMode="auto">
              <a:xfrm flipH="1">
                <a:off x="1056" y="2352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46" name="Line 7"/>
              <p:cNvSpPr>
                <a:spLocks noChangeShapeType="1"/>
              </p:cNvSpPr>
              <p:nvPr/>
            </p:nvSpPr>
            <p:spPr bwMode="auto">
              <a:xfrm>
                <a:off x="1680" y="2379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47" name="Rectangle 52"/>
              <p:cNvSpPr>
                <a:spLocks noChangeArrowheads="1"/>
              </p:cNvSpPr>
              <p:nvPr/>
            </p:nvSpPr>
            <p:spPr bwMode="auto">
              <a:xfrm>
                <a:off x="336" y="3226"/>
                <a:ext cx="768" cy="24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Mammals</a:t>
                </a:r>
              </a:p>
            </p:txBody>
          </p:sp>
          <p:sp>
            <p:nvSpPr>
              <p:cNvPr id="69648" name="Rectangle 53"/>
              <p:cNvSpPr>
                <a:spLocks noChangeArrowheads="1"/>
              </p:cNvSpPr>
              <p:nvPr/>
            </p:nvSpPr>
            <p:spPr bwMode="auto">
              <a:xfrm>
                <a:off x="1200" y="3226"/>
                <a:ext cx="912" cy="242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Non-mammals</a:t>
                </a:r>
                <a:endParaRPr lang="en-US" altLang="en-US" sz="2400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649" name="Text Box 18"/>
              <p:cNvSpPr txBox="1">
                <a:spLocks noChangeArrowheads="1"/>
              </p:cNvSpPr>
              <p:nvPr/>
            </p:nvSpPr>
            <p:spPr bwMode="auto">
              <a:xfrm>
                <a:off x="192" y="2339"/>
                <a:ext cx="973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Warm blooded</a:t>
                </a:r>
              </a:p>
            </p:txBody>
          </p:sp>
          <p:sp>
            <p:nvSpPr>
              <p:cNvPr id="69650" name="Oval 56"/>
              <p:cNvSpPr>
                <a:spLocks noChangeArrowheads="1"/>
              </p:cNvSpPr>
              <p:nvPr/>
            </p:nvSpPr>
            <p:spPr bwMode="auto">
              <a:xfrm>
                <a:off x="720" y="2640"/>
                <a:ext cx="768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Gives Birth</a:t>
                </a:r>
              </a:p>
            </p:txBody>
          </p:sp>
          <p:sp>
            <p:nvSpPr>
              <p:cNvPr id="69651" name="Line 20"/>
              <p:cNvSpPr>
                <a:spLocks noChangeShapeType="1"/>
              </p:cNvSpPr>
              <p:nvPr/>
            </p:nvSpPr>
            <p:spPr bwMode="auto">
              <a:xfrm flipH="1">
                <a:off x="816" y="3024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52" name="Line 2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192" cy="25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53" name="Text Box 22"/>
              <p:cNvSpPr txBox="1">
                <a:spLocks noChangeArrowheads="1"/>
              </p:cNvSpPr>
              <p:nvPr/>
            </p:nvSpPr>
            <p:spPr bwMode="auto">
              <a:xfrm>
                <a:off x="1488" y="2880"/>
                <a:ext cx="294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</a:t>
                </a:r>
              </a:p>
            </p:txBody>
          </p:sp>
          <p:sp>
            <p:nvSpPr>
              <p:cNvPr id="69654" name="Text Box 23"/>
              <p:cNvSpPr txBox="1">
                <a:spLocks noChangeArrowheads="1"/>
              </p:cNvSpPr>
              <p:nvPr/>
            </p:nvSpPr>
            <p:spPr bwMode="auto">
              <a:xfrm>
                <a:off x="528" y="2928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</p:grpSp>
        <p:sp>
          <p:nvSpPr>
            <p:cNvPr id="69642" name="Text Box 18"/>
            <p:cNvSpPr txBox="1">
              <a:spLocks noChangeArrowheads="1"/>
            </p:cNvSpPr>
            <p:nvPr/>
          </p:nvSpPr>
          <p:spPr bwMode="auto">
            <a:xfrm>
              <a:off x="7391400" y="3276600"/>
              <a:ext cx="14350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Cold blooded</a:t>
              </a:r>
            </a:p>
          </p:txBody>
        </p:sp>
        <p:sp>
          <p:nvSpPr>
            <p:cNvPr id="69643" name="Rectangle 62"/>
            <p:cNvSpPr>
              <a:spLocks noChangeArrowheads="1"/>
            </p:cNvSpPr>
            <p:nvPr/>
          </p:nvSpPr>
          <p:spPr bwMode="auto">
            <a:xfrm>
              <a:off x="7239000" y="38100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</p:grpSp>
      <p:sp>
        <p:nvSpPr>
          <p:cNvPr id="69638" name="Text Box 18"/>
          <p:cNvSpPr txBox="1">
            <a:spLocks noChangeArrowheads="1"/>
          </p:cNvSpPr>
          <p:nvPr/>
        </p:nvSpPr>
        <p:spPr bwMode="auto">
          <a:xfrm>
            <a:off x="685800" y="5791200"/>
            <a:ext cx="3387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Model M1</a:t>
            </a:r>
          </a:p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TE = 0%, GE=30% Find out why?</a:t>
            </a:r>
          </a:p>
        </p:txBody>
      </p:sp>
      <p:sp>
        <p:nvSpPr>
          <p:cNvPr id="69639" name="Text Box 18"/>
          <p:cNvSpPr txBox="1">
            <a:spLocks noChangeArrowheads="1"/>
          </p:cNvSpPr>
          <p:nvPr/>
        </p:nvSpPr>
        <p:spPr bwMode="auto">
          <a:xfrm>
            <a:off x="5715000" y="4953000"/>
            <a:ext cx="21113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Model M2</a:t>
            </a:r>
          </a:p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TE = 20%, GE=10%</a:t>
            </a:r>
          </a:p>
          <a:p>
            <a:pPr eaLnBrk="1" hangingPunct="1"/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69640" name="TextBox 41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Figure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172927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610600" cy="533400"/>
          </a:xfrm>
        </p:spPr>
        <p:txBody>
          <a:bodyPr>
            <a:normAutofit fontScale="90000"/>
          </a:bodyPr>
          <a:lstStyle/>
          <a:p>
            <a:r>
              <a:rPr lang="en-US" altLang="en-US" sz="3600" smtClean="0"/>
              <a:t>Overfitting due to Insufficient Examples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609600" y="4724400"/>
            <a:ext cx="76200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sym typeface="Symbol" panose="05050102010706020507" pitchFamily="18" charset="2"/>
              </a:rPr>
              <a:t>Lack of data points in the lower half of the diagram makes it difficult to predict correctly the class labels of that region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/>
              <a:t>- Insufficient number of training records in the region causes the decision tree to predict the test examples using other training records that are irrelevant to the classification task</a:t>
            </a:r>
            <a:endParaRPr lang="en-US" altLang="en-US" sz="1800">
              <a:sym typeface="Symbol" panose="05050102010706020507" pitchFamily="18" charset="2"/>
            </a:endParaRPr>
          </a:p>
        </p:txBody>
      </p:sp>
      <p:pic>
        <p:nvPicPr>
          <p:cNvPr id="737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4857" r="5357" b="4857"/>
          <a:stretch>
            <a:fillRect/>
          </a:stretch>
        </p:blipFill>
        <p:spPr>
          <a:xfrm>
            <a:off x="1828800" y="1295400"/>
            <a:ext cx="4470400" cy="3454400"/>
          </a:xfrm>
          <a:noFill/>
        </p:spPr>
      </p:pic>
      <p:sp>
        <p:nvSpPr>
          <p:cNvPr id="73733" name="TextBox 25"/>
          <p:cNvSpPr txBox="1">
            <a:spLocks noChangeArrowheads="1"/>
          </p:cNvSpPr>
          <p:nvPr/>
        </p:nvSpPr>
        <p:spPr bwMode="auto">
          <a:xfrm>
            <a:off x="1219200" y="62484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Figure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219032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Lack of representative samples: Training 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8600" y="2286000"/>
          <a:ext cx="8610600" cy="2452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676400"/>
                <a:gridCol w="1219200"/>
                <a:gridCol w="1143000"/>
                <a:gridCol w="1524000"/>
                <a:gridCol w="1524000"/>
              </a:tblGrid>
              <a:tr h="6402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Body Temperature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Gives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Birth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4-legged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Hibernates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Label</a:t>
                      </a:r>
                    </a:p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(mammal)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Salamander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Eagle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Guppy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697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Poorwill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</a:t>
                      </a:r>
                      <a:r>
                        <a:rPr lang="en-US" sz="1400" baseline="0" dirty="0" smtClean="0"/>
                        <a:t>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Platypus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711" name="TextBox 4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Table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102585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3048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Lack of representative samples: Training 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solidFill>
                <a:schemeClr val="bg2"/>
              </a:solidFill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solidFill>
                <a:schemeClr val="bg2"/>
              </a:solidFill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solidFill>
                <a:schemeClr val="bg2"/>
              </a:solidFill>
              <a:latin typeface="Arial" charset="0"/>
            </a:endParaRPr>
          </a:p>
        </p:txBody>
      </p:sp>
      <p:grpSp>
        <p:nvGrpSpPr>
          <p:cNvPr id="71684" name="Group 4"/>
          <p:cNvGrpSpPr>
            <a:grpSpLocks/>
          </p:cNvGrpSpPr>
          <p:nvPr/>
        </p:nvGrpSpPr>
        <p:grpSpPr bwMode="auto">
          <a:xfrm>
            <a:off x="533400" y="2362200"/>
            <a:ext cx="3949700" cy="3810000"/>
            <a:chOff x="381000" y="2667000"/>
            <a:chExt cx="3949608" cy="3810000"/>
          </a:xfrm>
        </p:grpSpPr>
        <p:grpSp>
          <p:nvGrpSpPr>
            <p:cNvPr id="71687" name="Group 4"/>
            <p:cNvGrpSpPr>
              <a:grpSpLocks/>
            </p:cNvGrpSpPr>
            <p:nvPr/>
          </p:nvGrpSpPr>
          <p:grpSpPr bwMode="auto">
            <a:xfrm>
              <a:off x="381000" y="2666998"/>
              <a:ext cx="3048000" cy="3809998"/>
              <a:chOff x="192" y="2016"/>
              <a:chExt cx="1920" cy="2016"/>
            </a:xfrm>
          </p:grpSpPr>
          <p:sp>
            <p:nvSpPr>
              <p:cNvPr id="71692" name="Oval 10"/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912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Body Temp</a:t>
                </a:r>
              </a:p>
            </p:txBody>
          </p:sp>
          <p:sp>
            <p:nvSpPr>
              <p:cNvPr id="71693" name="Line 6"/>
              <p:cNvSpPr>
                <a:spLocks noChangeShapeType="1"/>
              </p:cNvSpPr>
              <p:nvPr/>
            </p:nvSpPr>
            <p:spPr bwMode="auto">
              <a:xfrm flipH="1">
                <a:off x="1056" y="2352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4" name="Line 7"/>
              <p:cNvSpPr>
                <a:spLocks noChangeShapeType="1"/>
              </p:cNvSpPr>
              <p:nvPr/>
            </p:nvSpPr>
            <p:spPr bwMode="auto">
              <a:xfrm>
                <a:off x="1680" y="2379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5" name="Oval 13"/>
              <p:cNvSpPr>
                <a:spLocks noChangeArrowheads="1"/>
              </p:cNvSpPr>
              <p:nvPr/>
            </p:nvSpPr>
            <p:spPr bwMode="auto">
              <a:xfrm>
                <a:off x="576" y="3216"/>
                <a:ext cx="816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4-legged</a:t>
                </a:r>
              </a:p>
            </p:txBody>
          </p:sp>
          <p:sp>
            <p:nvSpPr>
              <p:cNvPr id="71696" name="Line 9"/>
              <p:cNvSpPr>
                <a:spLocks noChangeShapeType="1"/>
              </p:cNvSpPr>
              <p:nvPr/>
            </p:nvSpPr>
            <p:spPr bwMode="auto">
              <a:xfrm flipH="1">
                <a:off x="576" y="3552"/>
                <a:ext cx="192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7" name="Line 10"/>
              <p:cNvSpPr>
                <a:spLocks noChangeShapeType="1"/>
              </p:cNvSpPr>
              <p:nvPr/>
            </p:nvSpPr>
            <p:spPr bwMode="auto">
              <a:xfrm>
                <a:off x="1248" y="3552"/>
                <a:ext cx="144" cy="23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8" name="Rectangle 16"/>
              <p:cNvSpPr>
                <a:spLocks noChangeArrowheads="1"/>
              </p:cNvSpPr>
              <p:nvPr/>
            </p:nvSpPr>
            <p:spPr bwMode="auto">
              <a:xfrm>
                <a:off x="240" y="3792"/>
                <a:ext cx="768" cy="24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Mammals</a:t>
                </a:r>
              </a:p>
            </p:txBody>
          </p:sp>
          <p:sp>
            <p:nvSpPr>
              <p:cNvPr id="71699" name="Rectangle 17"/>
              <p:cNvSpPr>
                <a:spLocks noChangeArrowheads="1"/>
              </p:cNvSpPr>
              <p:nvPr/>
            </p:nvSpPr>
            <p:spPr bwMode="auto">
              <a:xfrm>
                <a:off x="1200" y="3790"/>
                <a:ext cx="912" cy="242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Non-mammals</a:t>
                </a:r>
                <a:endParaRPr lang="en-US" altLang="en-US" sz="2400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00" name="Text Box 15"/>
              <p:cNvSpPr txBox="1">
                <a:spLocks noChangeArrowheads="1"/>
              </p:cNvSpPr>
              <p:nvPr/>
            </p:nvSpPr>
            <p:spPr bwMode="auto">
              <a:xfrm>
                <a:off x="422" y="3480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  <p:sp>
            <p:nvSpPr>
              <p:cNvPr id="71701" name="Text Box 18"/>
              <p:cNvSpPr txBox="1">
                <a:spLocks noChangeArrowheads="1"/>
              </p:cNvSpPr>
              <p:nvPr/>
            </p:nvSpPr>
            <p:spPr bwMode="auto">
              <a:xfrm>
                <a:off x="192" y="2339"/>
                <a:ext cx="973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Warm blooded</a:t>
                </a:r>
              </a:p>
            </p:txBody>
          </p:sp>
          <p:sp>
            <p:nvSpPr>
              <p:cNvPr id="71702" name="Oval 20"/>
              <p:cNvSpPr>
                <a:spLocks noChangeArrowheads="1"/>
              </p:cNvSpPr>
              <p:nvPr/>
            </p:nvSpPr>
            <p:spPr bwMode="auto">
              <a:xfrm>
                <a:off x="720" y="2640"/>
                <a:ext cx="768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Hibernates</a:t>
                </a:r>
              </a:p>
            </p:txBody>
          </p:sp>
          <p:sp>
            <p:nvSpPr>
              <p:cNvPr id="71703" name="Line 20"/>
              <p:cNvSpPr>
                <a:spLocks noChangeShapeType="1"/>
              </p:cNvSpPr>
              <p:nvPr/>
            </p:nvSpPr>
            <p:spPr bwMode="auto">
              <a:xfrm flipH="1">
                <a:off x="816" y="3024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704" name="Line 2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240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705" name="Text Box 22"/>
              <p:cNvSpPr txBox="1">
                <a:spLocks noChangeArrowheads="1"/>
              </p:cNvSpPr>
              <p:nvPr/>
            </p:nvSpPr>
            <p:spPr bwMode="auto">
              <a:xfrm>
                <a:off x="1488" y="2880"/>
                <a:ext cx="294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</a:t>
                </a:r>
              </a:p>
            </p:txBody>
          </p:sp>
          <p:sp>
            <p:nvSpPr>
              <p:cNvPr id="71706" name="Text Box 23"/>
              <p:cNvSpPr txBox="1">
                <a:spLocks noChangeArrowheads="1"/>
              </p:cNvSpPr>
              <p:nvPr/>
            </p:nvSpPr>
            <p:spPr bwMode="auto">
              <a:xfrm>
                <a:off x="528" y="2928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</p:grpSp>
        <p:sp>
          <p:nvSpPr>
            <p:cNvPr id="71688" name="Text Box 23"/>
            <p:cNvSpPr txBox="1">
              <a:spLocks noChangeArrowheads="1"/>
            </p:cNvSpPr>
            <p:nvPr/>
          </p:nvSpPr>
          <p:spPr bwMode="auto">
            <a:xfrm>
              <a:off x="2209800" y="5410200"/>
              <a:ext cx="463550" cy="436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1689" name="Rectangle 7"/>
            <p:cNvSpPr>
              <a:spLocks noChangeArrowheads="1"/>
            </p:cNvSpPr>
            <p:nvPr/>
          </p:nvSpPr>
          <p:spPr bwMode="auto">
            <a:xfrm>
              <a:off x="2362200" y="48006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71690" name="Rectangle 8"/>
            <p:cNvSpPr>
              <a:spLocks noChangeArrowheads="1"/>
            </p:cNvSpPr>
            <p:nvPr/>
          </p:nvSpPr>
          <p:spPr bwMode="auto">
            <a:xfrm>
              <a:off x="2514600" y="38100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71691" name="Text Box 18"/>
            <p:cNvSpPr txBox="1">
              <a:spLocks noChangeArrowheads="1"/>
            </p:cNvSpPr>
            <p:nvPr/>
          </p:nvSpPr>
          <p:spPr bwMode="auto">
            <a:xfrm>
              <a:off x="2895600" y="3276600"/>
              <a:ext cx="14350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Cold blooded</a:t>
              </a:r>
            </a:p>
          </p:txBody>
        </p:sp>
      </p:grpSp>
      <p:sp>
        <p:nvSpPr>
          <p:cNvPr id="71685" name="Text Box 18"/>
          <p:cNvSpPr txBox="1">
            <a:spLocks noChangeArrowheads="1"/>
          </p:cNvSpPr>
          <p:nvPr/>
        </p:nvSpPr>
        <p:spPr bwMode="auto">
          <a:xfrm>
            <a:off x="5105400" y="3581400"/>
            <a:ext cx="3387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Model M3</a:t>
            </a:r>
          </a:p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TE = 0%, GE=30% Find out why?</a:t>
            </a:r>
          </a:p>
        </p:txBody>
      </p:sp>
      <p:sp>
        <p:nvSpPr>
          <p:cNvPr id="71686" name="TextBox 25"/>
          <p:cNvSpPr txBox="1">
            <a:spLocks noChangeArrowheads="1"/>
          </p:cNvSpPr>
          <p:nvPr/>
        </p:nvSpPr>
        <p:spPr bwMode="auto">
          <a:xfrm>
            <a:off x="1219200" y="62484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Figure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413793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Estimating Generalization Errors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Re-substitution errors:</a:t>
            </a:r>
            <a:r>
              <a:rPr lang="en-US" altLang="en-US" sz="2800" dirty="0" smtClean="0">
                <a:effectLst/>
              </a:rPr>
              <a:t> error on training (</a:t>
            </a:r>
            <a:r>
              <a:rPr lang="en-US" altLang="en-US" sz="2800" dirty="0" smtClean="0">
                <a:effectLst/>
                <a:sym typeface="Symbol" panose="05050102010706020507" pitchFamily="18" charset="2"/>
              </a:rPr>
              <a:t> </a:t>
            </a:r>
            <a:r>
              <a:rPr lang="en-US" altLang="en-US" sz="2800" dirty="0" smtClean="0">
                <a:effectLst/>
              </a:rPr>
              <a:t>e(t))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Generalization errors:</a:t>
            </a:r>
            <a:r>
              <a:rPr lang="en-US" altLang="en-US" sz="2800" dirty="0" smtClean="0">
                <a:effectLst/>
              </a:rPr>
              <a:t>  error on testing (</a:t>
            </a:r>
            <a:r>
              <a:rPr lang="en-US" altLang="en-US" sz="2800" dirty="0" smtClean="0">
                <a:effectLst/>
                <a:sym typeface="Symbol" panose="05050102010706020507" pitchFamily="18" charset="2"/>
              </a:rPr>
              <a:t></a:t>
            </a:r>
            <a:r>
              <a:rPr lang="en-US" altLang="en-US" sz="2800" dirty="0" smtClean="0">
                <a:effectLst/>
              </a:rPr>
              <a:t> e’(t))</a:t>
            </a:r>
          </a:p>
          <a:p>
            <a:pPr lvl="4" eaLnBrk="1" hangingPunct="1">
              <a:lnSpc>
                <a:spcPct val="80000"/>
              </a:lnSpc>
            </a:pPr>
            <a:endParaRPr lang="en-US" altLang="en-US" sz="600" dirty="0" smtClean="0">
              <a:effectLst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effectLst/>
              </a:rPr>
              <a:t>Methods for estimating generalization errors: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FF0000"/>
                </a:solidFill>
                <a:effectLst/>
              </a:rPr>
              <a:t>Optimistic approach:</a:t>
            </a:r>
            <a:r>
              <a:rPr lang="en-US" altLang="en-US" sz="2400" dirty="0" smtClean="0">
                <a:effectLst/>
              </a:rPr>
              <a:t>  e’(t) = e(t)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FF0000"/>
                </a:solidFill>
                <a:effectLst/>
              </a:rPr>
              <a:t>Pessimistic approach:</a:t>
            </a:r>
            <a:r>
              <a:rPr lang="en-US" altLang="en-US" sz="2400" dirty="0" smtClean="0">
                <a:effectLst/>
              </a:rPr>
              <a:t>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>
                <a:effectLst/>
              </a:rPr>
              <a:t>  For each leaf node: e’(t) = (e(t)+0.5)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>
                <a:effectLst/>
              </a:rPr>
              <a:t>  Total errors: e’(T) = </a:t>
            </a:r>
            <a:r>
              <a:rPr lang="en-US" altLang="en-US" sz="2000" dirty="0" smtClean="0">
                <a:effectLst/>
                <a:sym typeface="Symbol" panose="05050102010706020507" pitchFamily="18" charset="2"/>
              </a:rPr>
              <a:t>e(T) + N  0.5 (N: number of leaf nodes)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>
                <a:effectLst/>
                <a:sym typeface="Symbol" panose="05050102010706020507" pitchFamily="18" charset="2"/>
              </a:rPr>
              <a:t>  For a tree with 30 leaf nodes and 10 errors on training </a:t>
            </a:r>
            <a:br>
              <a:rPr lang="en-US" altLang="en-US" sz="2000" dirty="0" smtClean="0">
                <a:effectLst/>
                <a:sym typeface="Symbol" panose="05050102010706020507" pitchFamily="18" charset="2"/>
              </a:rPr>
            </a:br>
            <a:r>
              <a:rPr lang="en-US" altLang="en-US" sz="2000" dirty="0" smtClean="0">
                <a:effectLst/>
                <a:sym typeface="Symbol" panose="05050102010706020507" pitchFamily="18" charset="2"/>
              </a:rPr>
              <a:t>    (out of 1000 instances):</a:t>
            </a:r>
            <a:br>
              <a:rPr lang="en-US" altLang="en-US" sz="2000" dirty="0" smtClean="0">
                <a:effectLst/>
                <a:sym typeface="Symbol" panose="05050102010706020507" pitchFamily="18" charset="2"/>
              </a:rPr>
            </a:br>
            <a:r>
              <a:rPr lang="en-US" altLang="en-US" sz="2000" dirty="0" smtClean="0">
                <a:effectLst/>
                <a:sym typeface="Symbol" panose="05050102010706020507" pitchFamily="18" charset="2"/>
              </a:rPr>
              <a:t>          Training error = 10/1000 = 1%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 smtClean="0">
                <a:effectLst/>
                <a:sym typeface="Symbol" panose="05050102010706020507" pitchFamily="18" charset="2"/>
              </a:rPr>
              <a:t>          Generalization error = (10 + 300.5)/1000 = 2.5%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Reduced error pruning (REP):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 smtClean="0">
                <a:effectLst/>
                <a:sym typeface="Symbol" panose="05050102010706020507" pitchFamily="18" charset="2"/>
              </a:rPr>
              <a:t> uses validation data set to estimate generalization</a:t>
            </a:r>
            <a:br>
              <a:rPr lang="en-US" altLang="en-US" sz="2000" dirty="0" smtClean="0">
                <a:effectLst/>
                <a:sym typeface="Symbol" panose="05050102010706020507" pitchFamily="18" charset="2"/>
              </a:rPr>
            </a:br>
            <a:r>
              <a:rPr lang="en-US" altLang="en-US" sz="2000" dirty="0" smtClean="0">
                <a:effectLst/>
                <a:sym typeface="Symbol" panose="05050102010706020507" pitchFamily="18" charset="2"/>
              </a:rPr>
              <a:t>    error</a:t>
            </a:r>
          </a:p>
        </p:txBody>
      </p:sp>
    </p:spTree>
    <p:extLst>
      <p:ext uri="{BB962C8B-B14F-4D97-AF65-F5344CB8AC3E}">
        <p14:creationId xmlns:p14="http://schemas.microsoft.com/office/powerpoint/2010/main" val="178407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1214438"/>
            <a:ext cx="7232650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4597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Minimum Description Length (MDL)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78288"/>
            <a:ext cx="8259763" cy="26273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0000"/>
                </a:solidFill>
                <a:effectLst/>
              </a:rPr>
              <a:t>Cost(Model,Data) = Cost(Data|Model) + Cost(Model)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effectLst/>
              </a:rPr>
              <a:t>Cost is the number of bits needed for encoding.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effectLst/>
              </a:rPr>
              <a:t>Search for the least costly model.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effectLst/>
              </a:rPr>
              <a:t>Cost(Data|Model) encodes the misclassification errors.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effectLst/>
              </a:rPr>
              <a:t>Cost(Model) uses node encoding (number of children) plus splitting condition encoding.</a:t>
            </a: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2209800" y="1371600"/>
          <a:ext cx="4392613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8" name="VISIO" r:id="rId3" imgW="6348984" imgH="3473196" progId="Visio.Drawing.6">
                  <p:embed/>
                </p:oleObj>
              </mc:Choice>
              <mc:Fallback>
                <p:oleObj name="VISIO" r:id="rId3" imgW="6348984" imgH="347319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71600"/>
                        <a:ext cx="4392613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685800" y="12192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9" name="Worksheet" r:id="rId5" imgW="1229106" imgH="2314854" progId="Excel.Sheet.8">
                  <p:embed/>
                </p:oleObj>
              </mc:Choice>
              <mc:Fallback>
                <p:oleObj name="Worksheet" r:id="rId5" imgW="1229106" imgH="231485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92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7239000" y="13716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0" name="Worksheet" r:id="rId7" imgW="1229106" imgH="2314854" progId="Excel.Sheet.8">
                  <p:embed/>
                </p:oleObj>
              </mc:Choice>
              <mc:Fallback>
                <p:oleObj name="Worksheet" r:id="rId7" imgW="1229106" imgH="231485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3716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665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04800" y="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/>
              <a:t>Minimum Description Length Algorithm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58200" cy="5029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solidFill>
                  <a:srgbClr val="FF3300"/>
                </a:solidFill>
                <a:effectLst/>
              </a:rPr>
              <a:t>Cost of Encoding Tree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</a:rPr>
              <a:t>The cost of encoding the tree comprises of three costs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rgbClr val="FF3300"/>
                </a:solidFill>
                <a:effectLst/>
              </a:rPr>
              <a:t>The cost of the encoding the structure of the tree:</a:t>
            </a:r>
            <a:r>
              <a:rPr lang="en-US" altLang="en-US" sz="2800" smtClean="0">
                <a:effectLst/>
              </a:rPr>
              <a:t>  structure can be encoded by single bit in order to specify whether a node is internal or leaf node. Non-leaf</a:t>
            </a:r>
            <a:r>
              <a:rPr lang="en-US" altLang="en-US" sz="2800" smtClean="0">
                <a:effectLst/>
                <a:latin typeface="Wingdings" panose="05000000000000000000" pitchFamily="2" charset="2"/>
              </a:rPr>
              <a:t>à</a:t>
            </a:r>
            <a:r>
              <a:rPr lang="en-US" altLang="en-US" sz="2800" smtClean="0">
                <a:effectLst/>
              </a:rPr>
              <a:t>1, leaf</a:t>
            </a:r>
            <a:r>
              <a:rPr lang="en-US" altLang="en-US" sz="2800" smtClean="0">
                <a:effectLst/>
                <a:latin typeface="Wingdings" panose="05000000000000000000" pitchFamily="2" charset="2"/>
              </a:rPr>
              <a:t>à</a:t>
            </a:r>
            <a:r>
              <a:rPr lang="en-US" altLang="en-US" sz="2800" smtClean="0">
                <a:effectLst/>
              </a:rPr>
              <a:t>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rgbClr val="FF3300"/>
                </a:solidFill>
                <a:effectLst/>
              </a:rPr>
              <a:t>The cost of encoding the each split:</a:t>
            </a:r>
            <a:r>
              <a:rPr lang="en-US" altLang="en-US" sz="2800" smtClean="0">
                <a:effectLst/>
              </a:rPr>
              <a:t> involves specifying the attribute that is used to split the node and the value for the attribute. </a:t>
            </a:r>
            <a:endParaRPr lang="en-US" altLang="en-US" sz="2800" smtClean="0">
              <a:solidFill>
                <a:srgbClr val="3333FF"/>
              </a:solidFill>
              <a:effectLst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solidFill>
                  <a:srgbClr val="3333FF"/>
                </a:solidFill>
                <a:effectLst/>
              </a:rPr>
              <a:t>	</a:t>
            </a:r>
            <a:r>
              <a:rPr lang="en-US" altLang="en-US" sz="2800" smtClean="0">
                <a:effectLst/>
              </a:rPr>
              <a:t>splitting attribute can be encoded </a:t>
            </a:r>
            <a:r>
              <a:rPr lang="en-US" altLang="en-US" sz="2800" smtClean="0">
                <a:effectLst/>
                <a:latin typeface="Wingdings" panose="05000000000000000000" pitchFamily="2" charset="2"/>
              </a:rPr>
              <a:t>à</a:t>
            </a:r>
            <a:r>
              <a:rPr lang="en-US" altLang="en-US" sz="2800" smtClean="0">
                <a:effectLst/>
              </a:rPr>
              <a:t> log </a:t>
            </a:r>
            <a:r>
              <a:rPr lang="en-US" altLang="en-US" sz="2800" i="1" smtClean="0">
                <a:effectLst/>
              </a:rPr>
              <a:t>a </a:t>
            </a:r>
            <a:r>
              <a:rPr lang="en-US" altLang="en-US" sz="2800" smtClean="0">
                <a:effectLst/>
              </a:rPr>
              <a:t>bits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 smtClean="0">
                <a:effectLst/>
              </a:rPr>
              <a:t>	</a:t>
            </a:r>
            <a:r>
              <a:rPr lang="en-US" altLang="en-US" sz="2800" smtClean="0">
                <a:effectLst/>
              </a:rPr>
              <a:t>where total number of splitting pts are </a:t>
            </a:r>
            <a:r>
              <a:rPr lang="en-US" altLang="en-US" sz="2800" i="1" smtClean="0">
                <a:effectLst/>
              </a:rPr>
              <a:t>a </a:t>
            </a:r>
          </a:p>
        </p:txBody>
      </p:sp>
    </p:spTree>
    <p:extLst>
      <p:ext uri="{BB962C8B-B14F-4D97-AF65-F5344CB8AC3E}">
        <p14:creationId xmlns:p14="http://schemas.microsoft.com/office/powerpoint/2010/main" val="132032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762000" y="0"/>
            <a:ext cx="5562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/>
              <a:t>MDL Algorithm……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295400"/>
            <a:ext cx="9067800" cy="5181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solidFill>
                  <a:srgbClr val="FF3300"/>
                </a:solidFill>
                <a:effectLst/>
              </a:rPr>
              <a:t>Cost of Encoding Tree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</a:rPr>
              <a:t>For categorical attribute 2</a:t>
            </a:r>
            <a:r>
              <a:rPr lang="en-US" altLang="en-US" sz="2800" baseline="30000" smtClean="0">
                <a:effectLst/>
                <a:latin typeface="Symbol" panose="05050102010706020507" pitchFamily="18" charset="2"/>
              </a:rPr>
              <a:t>n</a:t>
            </a:r>
            <a:r>
              <a:rPr lang="en-US" altLang="en-US" sz="2800" baseline="30000" smtClean="0">
                <a:effectLst/>
              </a:rPr>
              <a:t> </a:t>
            </a:r>
            <a:r>
              <a:rPr lang="en-US" altLang="en-US" sz="2800" smtClean="0">
                <a:effectLst/>
              </a:rPr>
              <a:t>different subsets of values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</a:rPr>
              <a:t>	cost encoding the split is  C</a:t>
            </a:r>
            <a:r>
              <a:rPr lang="en-US" altLang="en-US" sz="2800" baseline="-25000" smtClean="0">
                <a:effectLst/>
              </a:rPr>
              <a:t>split</a:t>
            </a:r>
            <a:r>
              <a:rPr lang="en-US" altLang="en-US" sz="2800" smtClean="0">
                <a:effectLst/>
              </a:rPr>
              <a:t>(n)=log(2</a:t>
            </a:r>
            <a:r>
              <a:rPr lang="en-US" altLang="en-US" sz="2800" baseline="30000" smtClean="0">
                <a:effectLst/>
                <a:latin typeface="Symbol" panose="05050102010706020507" pitchFamily="18" charset="2"/>
              </a:rPr>
              <a:t>n</a:t>
            </a:r>
            <a:r>
              <a:rPr lang="en-US" altLang="en-US" sz="2800" smtClean="0">
                <a:effectLst/>
              </a:rPr>
              <a:t>-2) bits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</a:rPr>
              <a:t>For numeric attribute the cost of encoding the split is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</a:rPr>
              <a:t>		 C</a:t>
            </a:r>
            <a:r>
              <a:rPr lang="en-US" altLang="en-US" sz="2800" baseline="-25000" smtClean="0">
                <a:effectLst/>
              </a:rPr>
              <a:t>split</a:t>
            </a:r>
            <a:r>
              <a:rPr lang="en-US" altLang="en-US" sz="2800" smtClean="0">
                <a:effectLst/>
              </a:rPr>
              <a:t>(n) =log(</a:t>
            </a:r>
            <a:r>
              <a:rPr lang="en-US" altLang="en-US" sz="2800" smtClean="0">
                <a:effectLst/>
                <a:latin typeface="Symbol" panose="05050102010706020507" pitchFamily="18" charset="2"/>
              </a:rPr>
              <a:t>n</a:t>
            </a:r>
            <a:r>
              <a:rPr lang="en-US" altLang="en-US" sz="2800" smtClean="0">
                <a:effectLst/>
              </a:rPr>
              <a:t>-1) with </a:t>
            </a:r>
            <a:r>
              <a:rPr lang="en-US" altLang="en-US" sz="2800" smtClean="0">
                <a:effectLst/>
                <a:latin typeface="Symbol" panose="05050102010706020507" pitchFamily="18" charset="2"/>
              </a:rPr>
              <a:t>n</a:t>
            </a:r>
            <a:r>
              <a:rPr lang="en-US" altLang="en-US" sz="2800" smtClean="0">
                <a:effectLst/>
              </a:rPr>
              <a:t> distinct values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rgbClr val="FF3300"/>
                </a:solidFill>
                <a:effectLst/>
              </a:rPr>
              <a:t>The cost of encoding the classes of data records in each leaf of the tree:</a:t>
            </a:r>
            <a:r>
              <a:rPr lang="en-US" altLang="en-US" sz="2800" smtClean="0">
                <a:effectLst/>
              </a:rPr>
              <a:t> </a:t>
            </a:r>
            <a:r>
              <a:rPr lang="en-US" altLang="en-US" sz="2400" smtClean="0">
                <a:effectLst/>
              </a:rPr>
              <a:t>for the cost of encoding the classes of data records the following equation is used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smtClean="0">
                <a:effectLst/>
              </a:rPr>
              <a:t>	</a:t>
            </a:r>
            <a:r>
              <a:rPr lang="en-US" altLang="en-US" sz="2400" smtClean="0">
                <a:effectLst/>
              </a:rPr>
              <a:t>C(T)=</a:t>
            </a:r>
            <a:r>
              <a:rPr lang="en-US" altLang="en-US" sz="2400" smtClean="0">
                <a:effectLst/>
                <a:latin typeface="Symbol" panose="05050102010706020507" pitchFamily="18" charset="2"/>
              </a:rPr>
              <a:t>S</a:t>
            </a:r>
            <a:r>
              <a:rPr lang="en-US" altLang="en-US" sz="2400" baseline="-25000" smtClean="0">
                <a:effectLst/>
              </a:rPr>
              <a:t>i</a:t>
            </a:r>
            <a:r>
              <a:rPr lang="en-US" altLang="en-US" sz="2400" smtClean="0">
                <a:effectLst/>
              </a:rPr>
              <a:t> n</a:t>
            </a:r>
            <a:r>
              <a:rPr lang="en-US" altLang="en-US" sz="2400" baseline="-25000" smtClean="0">
                <a:effectLst/>
              </a:rPr>
              <a:t>i </a:t>
            </a:r>
            <a:r>
              <a:rPr lang="en-US" altLang="en-US" sz="2400" smtClean="0">
                <a:effectLst/>
              </a:rPr>
              <a:t>log(n/n</a:t>
            </a:r>
            <a:r>
              <a:rPr lang="en-US" altLang="en-US" sz="2400" baseline="-25000" smtClean="0">
                <a:effectLst/>
              </a:rPr>
              <a:t>i </a:t>
            </a:r>
            <a:r>
              <a:rPr lang="en-US" altLang="en-US" sz="2400" smtClean="0">
                <a:effectLst/>
              </a:rPr>
              <a:t>)+((m-1)/2) log(n/2)+log(</a:t>
            </a:r>
            <a:r>
              <a:rPr lang="en-US" altLang="en-US" sz="2400" smtClean="0">
                <a:effectLst/>
                <a:latin typeface="Symbol" panose="05050102010706020507" pitchFamily="18" charset="2"/>
              </a:rPr>
              <a:t>p</a:t>
            </a:r>
            <a:r>
              <a:rPr lang="en-US" altLang="en-US" sz="2400" baseline="30000" smtClean="0">
                <a:effectLst/>
              </a:rPr>
              <a:t>m/2</a:t>
            </a:r>
            <a:r>
              <a:rPr lang="en-US" altLang="en-US" sz="2400" smtClean="0">
                <a:effectLst/>
              </a:rPr>
              <a:t>/</a:t>
            </a:r>
            <a:r>
              <a:rPr lang="el-GR" altLang="en-US" sz="2400" smtClean="0">
                <a:effectLst/>
                <a:cs typeface="Tahoma" panose="020B0604030504040204" pitchFamily="34" charset="0"/>
              </a:rPr>
              <a:t>Γ</a:t>
            </a:r>
            <a:r>
              <a:rPr lang="en-US" altLang="en-US" sz="2400" smtClean="0">
                <a:effectLst/>
              </a:rPr>
              <a:t>(m/2))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</a:rPr>
              <a:t>	</a:t>
            </a:r>
            <a:r>
              <a:rPr lang="en-US" altLang="en-US" sz="2400" smtClean="0">
                <a:effectLst/>
              </a:rPr>
              <a:t>where m is the number of the classes, n</a:t>
            </a:r>
            <a:r>
              <a:rPr lang="en-US" altLang="en-US" sz="2400" baseline="-25000" smtClean="0">
                <a:effectLst/>
              </a:rPr>
              <a:t>i</a:t>
            </a:r>
            <a:r>
              <a:rPr lang="en-US" altLang="en-US" sz="2400" smtClean="0">
                <a:effectLst/>
              </a:rPr>
              <a:t> number of the records of T in class i and n is the total number of the records</a:t>
            </a:r>
          </a:p>
        </p:txBody>
      </p:sp>
    </p:spTree>
    <p:extLst>
      <p:ext uri="{BB962C8B-B14F-4D97-AF65-F5344CB8AC3E}">
        <p14:creationId xmlns:p14="http://schemas.microsoft.com/office/powerpoint/2010/main" val="197876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1295400" y="0"/>
            <a:ext cx="6172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/>
              <a:t>MDL Algorithm……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839200" cy="55626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FF3300"/>
                </a:solidFill>
                <a:effectLst/>
              </a:rPr>
              <a:t>Minimum Cost subtree rooted at a node</a:t>
            </a:r>
          </a:p>
          <a:p>
            <a:pPr eaLnBrk="1" hangingPunct="1"/>
            <a:r>
              <a:rPr lang="en-US" altLang="en-US" sz="2400" smtClean="0">
                <a:effectLst/>
              </a:rPr>
              <a:t>Let S be the set of records associated with a node n. </a:t>
            </a:r>
          </a:p>
          <a:p>
            <a:pPr eaLnBrk="1" hangingPunct="1"/>
            <a:r>
              <a:rPr lang="en-US" altLang="en-US" sz="2400" smtClean="0">
                <a:effectLst/>
              </a:rPr>
              <a:t>If n is a leaf node then minimum cost subtree rooted at n is simply n and cost is given by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>
                <a:effectLst/>
              </a:rPr>
              <a:t>			min_cost(n)=C(S)+1</a:t>
            </a:r>
          </a:p>
          <a:p>
            <a:pPr eaLnBrk="1" hangingPunct="1"/>
            <a:r>
              <a:rPr lang="en-US" altLang="en-US" sz="2400" smtClean="0">
                <a:effectLst/>
              </a:rPr>
              <a:t>If n is an internal node in the tree with children n</a:t>
            </a:r>
            <a:r>
              <a:rPr lang="en-US" altLang="en-US" sz="2400" baseline="-25000" smtClean="0">
                <a:effectLst/>
              </a:rPr>
              <a:t>1</a:t>
            </a:r>
            <a:r>
              <a:rPr lang="en-US" altLang="en-US" sz="2400" smtClean="0">
                <a:effectLst/>
              </a:rPr>
              <a:t> and n</a:t>
            </a:r>
            <a:r>
              <a:rPr lang="en-US" altLang="en-US" sz="2400" baseline="-25000" smtClean="0">
                <a:effectLst/>
              </a:rPr>
              <a:t>2</a:t>
            </a:r>
            <a:r>
              <a:rPr lang="en-US" altLang="en-US" sz="2400" smtClean="0">
                <a:effectLst/>
              </a:rPr>
              <a:t>, the minimum cost subtree is either the node itself or the node n along with children n</a:t>
            </a:r>
            <a:r>
              <a:rPr lang="en-US" altLang="en-US" sz="2400" baseline="-25000" smtClean="0">
                <a:effectLst/>
              </a:rPr>
              <a:t>1</a:t>
            </a:r>
            <a:r>
              <a:rPr lang="en-US" altLang="en-US" sz="2400" smtClean="0">
                <a:effectLst/>
              </a:rPr>
              <a:t> and n</a:t>
            </a:r>
            <a:r>
              <a:rPr lang="en-US" altLang="en-US" sz="2400" baseline="-25000" smtClean="0">
                <a:effectLst/>
              </a:rPr>
              <a:t>2</a:t>
            </a:r>
            <a:r>
              <a:rPr lang="en-US" altLang="en-US" sz="2400" smtClean="0">
                <a:effectLst/>
              </a:rPr>
              <a:t> and minimum cost subtree rooted at n</a:t>
            </a:r>
            <a:r>
              <a:rPr lang="en-US" altLang="en-US" sz="2400" baseline="-25000" smtClean="0">
                <a:effectLst/>
              </a:rPr>
              <a:t>1</a:t>
            </a:r>
            <a:r>
              <a:rPr lang="en-US" altLang="en-US" sz="2400" smtClean="0">
                <a:effectLst/>
              </a:rPr>
              <a:t> and n</a:t>
            </a:r>
            <a:r>
              <a:rPr lang="en-US" altLang="en-US" sz="2400" baseline="-25000" smtClean="0">
                <a:effectLst/>
              </a:rPr>
              <a:t>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>
                <a:effectLst/>
              </a:rPr>
              <a:t>min_cost(n)=min[C(S)+1, 				                             		C</a:t>
            </a:r>
            <a:r>
              <a:rPr lang="en-US" altLang="en-US" sz="2400" baseline="-25000" smtClean="0">
                <a:effectLst/>
              </a:rPr>
              <a:t>split</a:t>
            </a:r>
            <a:r>
              <a:rPr lang="en-US" altLang="en-US" sz="2400" smtClean="0">
                <a:effectLst/>
              </a:rPr>
              <a:t>(n)+1+min_cost(n</a:t>
            </a:r>
            <a:r>
              <a:rPr lang="en-US" altLang="en-US" sz="2400" baseline="-25000" smtClean="0">
                <a:effectLst/>
              </a:rPr>
              <a:t>1</a:t>
            </a:r>
            <a:r>
              <a:rPr lang="en-US" altLang="en-US" sz="2400" smtClean="0">
                <a:effectLst/>
              </a:rPr>
              <a:t>)+min_cost(n</a:t>
            </a:r>
            <a:r>
              <a:rPr lang="en-US" altLang="en-US" sz="2400" baseline="-25000" smtClean="0">
                <a:effectLst/>
              </a:rPr>
              <a:t>2</a:t>
            </a:r>
            <a:r>
              <a:rPr lang="en-US" altLang="en-US" sz="2400" smtClean="0">
                <a:effectLst/>
              </a:rPr>
              <a:t>)]</a:t>
            </a:r>
          </a:p>
          <a:p>
            <a:pPr eaLnBrk="1" hangingPunct="1"/>
            <a:r>
              <a:rPr lang="en-US" altLang="en-US" sz="2400" smtClean="0">
                <a:effectLst/>
              </a:rPr>
              <a:t>If min_cost= C(S)+1, then prune the child nodes n</a:t>
            </a:r>
            <a:r>
              <a:rPr lang="en-US" altLang="en-US" sz="2400" baseline="-25000" smtClean="0">
                <a:effectLst/>
              </a:rPr>
              <a:t>1</a:t>
            </a:r>
            <a:r>
              <a:rPr lang="en-US" altLang="en-US" sz="2400" smtClean="0">
                <a:effectLst/>
              </a:rPr>
              <a:t> and n</a:t>
            </a:r>
            <a:r>
              <a:rPr lang="en-US" altLang="en-US" sz="2400" baseline="-25000" smtClean="0">
                <a:effectLst/>
              </a:rPr>
              <a:t>2</a:t>
            </a:r>
            <a:r>
              <a:rPr lang="en-US" altLang="en-US" sz="2400" smtClean="0"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150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Notes on Overfitting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Overfitting results in decision trees that are more complex than necessary</a:t>
            </a:r>
          </a:p>
          <a:p>
            <a:pPr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Training error no longer provides a good estimate of how well the tree will perform on previously unseen records</a:t>
            </a:r>
          </a:p>
          <a:p>
            <a:pPr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Need new ways for estimating errors</a:t>
            </a:r>
          </a:p>
        </p:txBody>
      </p:sp>
    </p:spTree>
    <p:extLst>
      <p:ext uri="{BB962C8B-B14F-4D97-AF65-F5344CB8AC3E}">
        <p14:creationId xmlns:p14="http://schemas.microsoft.com/office/powerpoint/2010/main" val="401781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/>
              <a:t>How to Address Overfitting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763000" cy="51816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Pre-Pruning (Early Stopping Rule)</a:t>
            </a:r>
          </a:p>
          <a:p>
            <a:pPr lvl="1"/>
            <a:r>
              <a:rPr lang="en-US" altLang="en-US" sz="2400" smtClean="0"/>
              <a:t>Stop the algorithm before it becomes a fully-grown tree</a:t>
            </a:r>
          </a:p>
          <a:p>
            <a:pPr lvl="1"/>
            <a:r>
              <a:rPr lang="en-US" altLang="en-US" sz="2400" smtClean="0"/>
              <a:t>Typical stopping conditions for a node:</a:t>
            </a:r>
          </a:p>
          <a:p>
            <a:pPr lvl="2"/>
            <a:r>
              <a:rPr lang="en-US" altLang="en-US" sz="2000" smtClean="0"/>
              <a:t> Stop if all instances belong to the same class</a:t>
            </a:r>
          </a:p>
          <a:p>
            <a:pPr lvl="2"/>
            <a:r>
              <a:rPr lang="en-US" altLang="en-US" sz="2000" smtClean="0"/>
              <a:t> Stop if all the attribute values are the same</a:t>
            </a:r>
          </a:p>
          <a:p>
            <a:pPr lvl="1"/>
            <a:r>
              <a:rPr lang="en-US" altLang="en-US" sz="2400" smtClean="0"/>
              <a:t>More restrictive conditions:</a:t>
            </a:r>
          </a:p>
          <a:p>
            <a:pPr lvl="2"/>
            <a:r>
              <a:rPr lang="en-US" altLang="en-US" sz="2000" smtClean="0"/>
              <a:t> Stop if number of instances is less than some user-specified threshold</a:t>
            </a:r>
          </a:p>
          <a:p>
            <a:pPr lvl="2"/>
            <a:r>
              <a:rPr lang="en-US" altLang="en-US" sz="2000" smtClean="0"/>
              <a:t> Stop if class distribution of instances are independent of the available features (e.g., using </a:t>
            </a:r>
            <a:r>
              <a:rPr lang="en-US" altLang="en-US" sz="2000" smtClean="0">
                <a:sym typeface="Symbol" panose="05050102010706020507" pitchFamily="18" charset="2"/>
              </a:rPr>
              <a:t></a:t>
            </a:r>
            <a:r>
              <a:rPr lang="en-US" altLang="en-US" sz="2000" baseline="30000" smtClean="0">
                <a:sym typeface="Symbol" panose="05050102010706020507" pitchFamily="18" charset="2"/>
              </a:rPr>
              <a:t> 2</a:t>
            </a:r>
            <a:r>
              <a:rPr lang="en-US" altLang="en-US" sz="2000" smtClean="0">
                <a:sym typeface="Symbol" panose="05050102010706020507" pitchFamily="18" charset="2"/>
              </a:rPr>
              <a:t> test)</a:t>
            </a:r>
            <a:endParaRPr lang="en-US" altLang="en-US" sz="2000" baseline="30000" smtClean="0"/>
          </a:p>
          <a:p>
            <a:pPr lvl="2"/>
            <a:r>
              <a:rPr lang="en-US" altLang="en-US" sz="2000" smtClean="0"/>
              <a:t> Stop if expanding the current node does not improve impurity</a:t>
            </a:r>
            <a:br>
              <a:rPr lang="en-US" altLang="en-US" sz="2000" smtClean="0"/>
            </a:br>
            <a:r>
              <a:rPr lang="en-US" altLang="en-US" sz="2000" smtClean="0"/>
              <a:t>    measures (e.g., Gini or information gain).</a:t>
            </a:r>
          </a:p>
        </p:txBody>
      </p:sp>
    </p:spTree>
    <p:extLst>
      <p:ext uri="{BB962C8B-B14F-4D97-AF65-F5344CB8AC3E}">
        <p14:creationId xmlns:p14="http://schemas.microsoft.com/office/powerpoint/2010/main" val="16891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8153400" cy="874713"/>
          </a:xfrm>
        </p:spPr>
        <p:txBody>
          <a:bodyPr/>
          <a:lstStyle/>
          <a:p>
            <a:pPr algn="l"/>
            <a:r>
              <a:rPr lang="en-US" altLang="en-US" b="1" dirty="0" smtClean="0"/>
              <a:t>How to Address Overfitting…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7543800" cy="49530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rgbClr val="FF0000"/>
                </a:solidFill>
              </a:rPr>
              <a:t>Post-pruning</a:t>
            </a:r>
          </a:p>
          <a:p>
            <a:pPr lvl="1"/>
            <a:r>
              <a:rPr lang="en-US" altLang="en-US" sz="2400" dirty="0" smtClean="0"/>
              <a:t>Grow decision tree to its entirety</a:t>
            </a:r>
          </a:p>
          <a:p>
            <a:pPr lvl="1"/>
            <a:r>
              <a:rPr lang="en-US" altLang="en-US" sz="2400" dirty="0" smtClean="0"/>
              <a:t>Trim the nodes of the decision tree in a bottom-up fashion</a:t>
            </a:r>
          </a:p>
          <a:p>
            <a:pPr lvl="1"/>
            <a:r>
              <a:rPr lang="en-US" altLang="en-US" sz="2400" dirty="0" smtClean="0"/>
              <a:t>If generalization error improves after trimming, replace sub-tree by a leaf node.</a:t>
            </a:r>
          </a:p>
          <a:p>
            <a:pPr lvl="1"/>
            <a:r>
              <a:rPr lang="en-US" altLang="en-US" sz="2400" dirty="0" smtClean="0"/>
              <a:t>Class label of leaf node is determined from majority class of instances in the sub-tree</a:t>
            </a:r>
          </a:p>
          <a:p>
            <a:pPr lvl="1"/>
            <a:r>
              <a:rPr lang="en-US" altLang="en-US" sz="2400" dirty="0" smtClean="0"/>
              <a:t>Can use MDL for post-pruning</a:t>
            </a:r>
          </a:p>
        </p:txBody>
      </p:sp>
    </p:spTree>
    <p:extLst>
      <p:ext uri="{BB962C8B-B14F-4D97-AF65-F5344CB8AC3E}">
        <p14:creationId xmlns:p14="http://schemas.microsoft.com/office/powerpoint/2010/main" val="32943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Example of Post-Pruning</a:t>
            </a:r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524000" y="3124200"/>
          <a:ext cx="4953000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" name="VISIO" r:id="rId3" imgW="4689544" imgH="2395148" progId="Visio.Drawing.6">
                  <p:embed/>
                </p:oleObj>
              </mc:Choice>
              <mc:Fallback>
                <p:oleObj name="VISIO" r:id="rId3" imgW="4689544" imgH="23951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24200"/>
                        <a:ext cx="4953000" cy="252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35" name="Group 71"/>
          <p:cNvGraphicFramePr>
            <a:graphicFrameLocks noGrp="1"/>
          </p:cNvGraphicFramePr>
          <p:nvPr/>
        </p:nvGraphicFramePr>
        <p:xfrm>
          <a:off x="762000" y="1524000"/>
          <a:ext cx="2057400" cy="1249366"/>
        </p:xfrm>
        <a:graphic>
          <a:graphicData uri="http://schemas.openxmlformats.org/drawingml/2006/table">
            <a:tbl>
              <a:tblPr/>
              <a:tblGrid>
                <a:gridCol w="1563688"/>
                <a:gridCol w="493712"/>
              </a:tblGrid>
              <a:tr h="4569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Error = 10/30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4495800" y="1295400"/>
            <a:ext cx="4648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Training Error (Before splitting) = 10/30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Pessimistic error = (10 + 0.5)/30 = 10.5/30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Training Error (After splitting) = 9/30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Pessimistic error (After splitting)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	= (9 + 4 </a:t>
            </a:r>
            <a:r>
              <a:rPr lang="en-US" altLang="en-US" sz="1800" b="1" dirty="0">
                <a:latin typeface="Arial" panose="020B0604020202020204" pitchFamily="34" charset="0"/>
                <a:sym typeface="Symbol" panose="05050102010706020507" pitchFamily="18" charset="2"/>
              </a:rPr>
              <a:t> 0.5)/30 = 11/30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PRUNE!</a:t>
            </a:r>
          </a:p>
        </p:txBody>
      </p:sp>
      <p:graphicFrame>
        <p:nvGraphicFramePr>
          <p:cNvPr id="241736" name="Group 72"/>
          <p:cNvGraphicFramePr>
            <a:graphicFrameLocks noGrp="1"/>
          </p:cNvGraphicFramePr>
          <p:nvPr/>
        </p:nvGraphicFramePr>
        <p:xfrm>
          <a:off x="228600" y="5638800"/>
          <a:ext cx="1981200" cy="746126"/>
        </p:xfrm>
        <a:graphic>
          <a:graphicData uri="http://schemas.openxmlformats.org/drawingml/2006/table">
            <a:tbl>
              <a:tblPr/>
              <a:tblGrid>
                <a:gridCol w="1465263"/>
                <a:gridCol w="515937"/>
              </a:tblGrid>
              <a:tr h="365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8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1746" name="Group 82"/>
          <p:cNvGraphicFramePr>
            <a:graphicFrameLocks noGrp="1"/>
          </p:cNvGraphicFramePr>
          <p:nvPr/>
        </p:nvGraphicFramePr>
        <p:xfrm>
          <a:off x="2252663" y="5640388"/>
          <a:ext cx="1905000" cy="731838"/>
        </p:xfrm>
        <a:graphic>
          <a:graphicData uri="http://schemas.openxmlformats.org/drawingml/2006/table">
            <a:tbl>
              <a:tblPr/>
              <a:tblGrid>
                <a:gridCol w="1408112"/>
                <a:gridCol w="496888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1745" name="Group 81"/>
          <p:cNvGraphicFramePr>
            <a:graphicFrameLocks noGrp="1"/>
          </p:cNvGraphicFramePr>
          <p:nvPr/>
        </p:nvGraphicFramePr>
        <p:xfrm>
          <a:off x="4191000" y="5638800"/>
          <a:ext cx="1905000" cy="731838"/>
        </p:xfrm>
        <a:graphic>
          <a:graphicData uri="http://schemas.openxmlformats.org/drawingml/2006/table">
            <a:tbl>
              <a:tblPr/>
              <a:tblGrid>
                <a:gridCol w="1408113"/>
                <a:gridCol w="496887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1747" name="Group 83"/>
          <p:cNvGraphicFramePr>
            <a:graphicFrameLocks noGrp="1"/>
          </p:cNvGraphicFramePr>
          <p:nvPr/>
        </p:nvGraphicFramePr>
        <p:xfrm>
          <a:off x="6248400" y="5638800"/>
          <a:ext cx="1981200" cy="746126"/>
        </p:xfrm>
        <a:graphic>
          <a:graphicData uri="http://schemas.openxmlformats.org/drawingml/2006/table">
            <a:tbl>
              <a:tblPr/>
              <a:tblGrid>
                <a:gridCol w="1463675"/>
                <a:gridCol w="517525"/>
              </a:tblGrid>
              <a:tr h="365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5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27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4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4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48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48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1066800" y="381000"/>
            <a:ext cx="7086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Post-pruning 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-228600" y="1905000"/>
            <a:ext cx="9372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Post-pruning approach-</a:t>
            </a: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removes branches of a fully grown tree.</a:t>
            </a:r>
            <a:endParaRPr kumimoji="1" lang="en-US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2895600"/>
            <a:ext cx="7848600" cy="838200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r>
              <a:rPr lang="en-US" altLang="en-US" sz="2800" smtClean="0"/>
              <a:t>Subtree replacement replaces a subtree with a single leaf node</a:t>
            </a:r>
          </a:p>
        </p:txBody>
      </p:sp>
      <p:sp>
        <p:nvSpPr>
          <p:cNvPr id="76805" name="Oval 5"/>
          <p:cNvSpPr>
            <a:spLocks noChangeArrowheads="1"/>
          </p:cNvSpPr>
          <p:nvPr/>
        </p:nvSpPr>
        <p:spPr bwMode="auto">
          <a:xfrm>
            <a:off x="1905000" y="4038600"/>
            <a:ext cx="1447800" cy="609600"/>
          </a:xfrm>
          <a:prstGeom prst="ellipse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Alt</a:t>
            </a:r>
          </a:p>
        </p:txBody>
      </p:sp>
      <p:sp>
        <p:nvSpPr>
          <p:cNvPr id="76806" name="Line 6"/>
          <p:cNvSpPr>
            <a:spLocks noChangeShapeType="1"/>
          </p:cNvSpPr>
          <p:nvPr/>
        </p:nvSpPr>
        <p:spPr bwMode="auto">
          <a:xfrm flipH="1">
            <a:off x="1981200" y="4572000"/>
            <a:ext cx="228600" cy="4572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>
            <a:off x="3124200" y="4572000"/>
            <a:ext cx="22860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08" name="Oval 8"/>
          <p:cNvSpPr>
            <a:spLocks noChangeArrowheads="1"/>
          </p:cNvSpPr>
          <p:nvPr/>
        </p:nvSpPr>
        <p:spPr bwMode="auto">
          <a:xfrm>
            <a:off x="1447800" y="5029200"/>
            <a:ext cx="1295400" cy="609600"/>
          </a:xfrm>
          <a:prstGeom prst="ellipse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Price</a:t>
            </a: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 flipH="1">
            <a:off x="1447800" y="5562600"/>
            <a:ext cx="30480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>
            <a:off x="2514600" y="5562600"/>
            <a:ext cx="228600" cy="3048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11" name="Rectangle 11"/>
          <p:cNvSpPr>
            <a:spLocks noChangeArrowheads="1"/>
          </p:cNvSpPr>
          <p:nvPr/>
        </p:nvSpPr>
        <p:spPr bwMode="auto">
          <a:xfrm>
            <a:off x="1143000" y="59436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12" name="Rectangle 12"/>
          <p:cNvSpPr>
            <a:spLocks noChangeArrowheads="1"/>
          </p:cNvSpPr>
          <p:nvPr/>
        </p:nvSpPr>
        <p:spPr bwMode="auto">
          <a:xfrm>
            <a:off x="1828800" y="59436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13" name="Rectangle 13"/>
          <p:cNvSpPr>
            <a:spLocks noChangeArrowheads="1"/>
          </p:cNvSpPr>
          <p:nvPr/>
        </p:nvSpPr>
        <p:spPr bwMode="auto">
          <a:xfrm>
            <a:off x="2590800" y="58674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No</a:t>
            </a:r>
          </a:p>
        </p:txBody>
      </p:sp>
      <p:sp>
        <p:nvSpPr>
          <p:cNvPr id="76814" name="Line 14"/>
          <p:cNvSpPr>
            <a:spLocks noChangeShapeType="1"/>
          </p:cNvSpPr>
          <p:nvPr/>
        </p:nvSpPr>
        <p:spPr bwMode="auto">
          <a:xfrm>
            <a:off x="2057400" y="5638800"/>
            <a:ext cx="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1203325" y="54483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$</a:t>
            </a:r>
          </a:p>
        </p:txBody>
      </p:sp>
      <p:sp>
        <p:nvSpPr>
          <p:cNvPr id="76816" name="Text Box 16"/>
          <p:cNvSpPr txBox="1">
            <a:spLocks noChangeArrowheads="1"/>
          </p:cNvSpPr>
          <p:nvPr/>
        </p:nvSpPr>
        <p:spPr bwMode="auto">
          <a:xfrm>
            <a:off x="1682750" y="56007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$$</a:t>
            </a:r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2590800" y="5410200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$$$</a:t>
            </a:r>
          </a:p>
        </p:txBody>
      </p:sp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1524000" y="45720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19" name="Line 19"/>
          <p:cNvSpPr>
            <a:spLocks noChangeShapeType="1"/>
          </p:cNvSpPr>
          <p:nvPr/>
        </p:nvSpPr>
        <p:spPr bwMode="auto">
          <a:xfrm>
            <a:off x="3962400" y="5105400"/>
            <a:ext cx="1828800" cy="0"/>
          </a:xfrm>
          <a:prstGeom prst="line">
            <a:avLst/>
          </a:prstGeom>
          <a:noFill/>
          <a:ln w="762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20" name="Oval 20"/>
          <p:cNvSpPr>
            <a:spLocks noChangeArrowheads="1"/>
          </p:cNvSpPr>
          <p:nvPr/>
        </p:nvSpPr>
        <p:spPr bwMode="auto">
          <a:xfrm>
            <a:off x="6858000" y="3962400"/>
            <a:ext cx="1447800" cy="609600"/>
          </a:xfrm>
          <a:prstGeom prst="ellipse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Alt</a:t>
            </a:r>
          </a:p>
        </p:txBody>
      </p:sp>
      <p:sp>
        <p:nvSpPr>
          <p:cNvPr id="76821" name="Line 21"/>
          <p:cNvSpPr>
            <a:spLocks noChangeShapeType="1"/>
          </p:cNvSpPr>
          <p:nvPr/>
        </p:nvSpPr>
        <p:spPr bwMode="auto">
          <a:xfrm flipH="1">
            <a:off x="6934200" y="4495800"/>
            <a:ext cx="228600" cy="4572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22" name="Line 22"/>
          <p:cNvSpPr>
            <a:spLocks noChangeShapeType="1"/>
          </p:cNvSpPr>
          <p:nvPr/>
        </p:nvSpPr>
        <p:spPr bwMode="auto">
          <a:xfrm>
            <a:off x="8077200" y="4495800"/>
            <a:ext cx="22860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23" name="Text Box 23"/>
          <p:cNvSpPr txBox="1">
            <a:spLocks noChangeArrowheads="1"/>
          </p:cNvSpPr>
          <p:nvPr/>
        </p:nvSpPr>
        <p:spPr bwMode="auto">
          <a:xfrm>
            <a:off x="6477000" y="44958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24" name="Rectangle 24"/>
          <p:cNvSpPr>
            <a:spLocks noChangeArrowheads="1"/>
          </p:cNvSpPr>
          <p:nvPr/>
        </p:nvSpPr>
        <p:spPr bwMode="auto">
          <a:xfrm>
            <a:off x="6629400" y="49530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25750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1143000" y="0"/>
            <a:ext cx="6858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Post-pruning</a:t>
            </a:r>
            <a:r>
              <a:rPr kumimoji="1" lang="en-US" altLang="en-US" sz="4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001000" cy="1066800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i="1" smtClean="0"/>
              <a:t>Subtree raising</a:t>
            </a:r>
            <a:r>
              <a:rPr lang="en-US" altLang="en-US" sz="2800" smtClean="0"/>
              <a:t> moves a subtree to a higher level in the decision tree, subsuming its parent</a:t>
            </a:r>
          </a:p>
        </p:txBody>
      </p:sp>
      <p:grpSp>
        <p:nvGrpSpPr>
          <p:cNvPr id="77828" name="Group 40"/>
          <p:cNvGrpSpPr>
            <a:grpSpLocks/>
          </p:cNvGrpSpPr>
          <p:nvPr/>
        </p:nvGrpSpPr>
        <p:grpSpPr bwMode="auto">
          <a:xfrm>
            <a:off x="762000" y="2895600"/>
            <a:ext cx="7467600" cy="3810000"/>
            <a:chOff x="384" y="2016"/>
            <a:chExt cx="4704" cy="2016"/>
          </a:xfrm>
        </p:grpSpPr>
        <p:sp>
          <p:nvSpPr>
            <p:cNvPr id="77829" name="Oval 41"/>
            <p:cNvSpPr>
              <a:spLocks noChangeArrowheads="1"/>
            </p:cNvSpPr>
            <p:nvPr/>
          </p:nvSpPr>
          <p:spPr bwMode="auto">
            <a:xfrm>
              <a:off x="1008" y="2016"/>
              <a:ext cx="912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Alt</a:t>
              </a:r>
            </a:p>
          </p:txBody>
        </p:sp>
        <p:sp>
          <p:nvSpPr>
            <p:cNvPr id="77830" name="Line 6"/>
            <p:cNvSpPr>
              <a:spLocks noChangeShapeType="1"/>
            </p:cNvSpPr>
            <p:nvPr/>
          </p:nvSpPr>
          <p:spPr bwMode="auto">
            <a:xfrm flipH="1">
              <a:off x="1056" y="2352"/>
              <a:ext cx="144" cy="28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1" name="Line 7"/>
            <p:cNvSpPr>
              <a:spLocks noChangeShapeType="1"/>
            </p:cNvSpPr>
            <p:nvPr/>
          </p:nvSpPr>
          <p:spPr bwMode="auto">
            <a:xfrm>
              <a:off x="1776" y="2352"/>
              <a:ext cx="144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2" name="Oval 44"/>
            <p:cNvSpPr>
              <a:spLocks noChangeArrowheads="1"/>
            </p:cNvSpPr>
            <p:nvPr/>
          </p:nvSpPr>
          <p:spPr bwMode="auto">
            <a:xfrm>
              <a:off x="576" y="3216"/>
              <a:ext cx="816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Price</a:t>
              </a:r>
            </a:p>
          </p:txBody>
        </p:sp>
        <p:sp>
          <p:nvSpPr>
            <p:cNvPr id="77833" name="Line 9"/>
            <p:cNvSpPr>
              <a:spLocks noChangeShapeType="1"/>
            </p:cNvSpPr>
            <p:nvPr/>
          </p:nvSpPr>
          <p:spPr bwMode="auto">
            <a:xfrm flipH="1">
              <a:off x="576" y="3552"/>
              <a:ext cx="192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4" name="Line 10"/>
            <p:cNvSpPr>
              <a:spLocks noChangeShapeType="1"/>
            </p:cNvSpPr>
            <p:nvPr/>
          </p:nvSpPr>
          <p:spPr bwMode="auto">
            <a:xfrm>
              <a:off x="1248" y="3552"/>
              <a:ext cx="144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5" name="Rectangle 47"/>
            <p:cNvSpPr>
              <a:spLocks noChangeArrowheads="1"/>
            </p:cNvSpPr>
            <p:nvPr/>
          </p:nvSpPr>
          <p:spPr bwMode="auto">
            <a:xfrm>
              <a:off x="384" y="3792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36" name="Rectangle 48"/>
            <p:cNvSpPr>
              <a:spLocks noChangeArrowheads="1"/>
            </p:cNvSpPr>
            <p:nvPr/>
          </p:nvSpPr>
          <p:spPr bwMode="auto">
            <a:xfrm>
              <a:off x="816" y="3792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37" name="Rectangle 49"/>
            <p:cNvSpPr>
              <a:spLocks noChangeArrowheads="1"/>
            </p:cNvSpPr>
            <p:nvPr/>
          </p:nvSpPr>
          <p:spPr bwMode="auto">
            <a:xfrm>
              <a:off x="1296" y="3744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38" name="Line 14"/>
            <p:cNvSpPr>
              <a:spLocks noChangeShapeType="1"/>
            </p:cNvSpPr>
            <p:nvPr/>
          </p:nvSpPr>
          <p:spPr bwMode="auto">
            <a:xfrm>
              <a:off x="960" y="3600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9" name="Text Box 15"/>
            <p:cNvSpPr txBox="1">
              <a:spLocks noChangeArrowheads="1"/>
            </p:cNvSpPr>
            <p:nvPr/>
          </p:nvSpPr>
          <p:spPr bwMode="auto">
            <a:xfrm>
              <a:off x="422" y="348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</a:t>
              </a:r>
            </a:p>
          </p:txBody>
        </p:sp>
        <p:sp>
          <p:nvSpPr>
            <p:cNvPr id="77840" name="Text Box 16"/>
            <p:cNvSpPr txBox="1">
              <a:spLocks noChangeArrowheads="1"/>
            </p:cNvSpPr>
            <p:nvPr/>
          </p:nvSpPr>
          <p:spPr bwMode="auto">
            <a:xfrm>
              <a:off x="724" y="3576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</a:t>
              </a:r>
            </a:p>
          </p:txBody>
        </p:sp>
        <p:sp>
          <p:nvSpPr>
            <p:cNvPr id="77841" name="Text Box 17"/>
            <p:cNvSpPr txBox="1">
              <a:spLocks noChangeArrowheads="1"/>
            </p:cNvSpPr>
            <p:nvPr/>
          </p:nvSpPr>
          <p:spPr bwMode="auto">
            <a:xfrm>
              <a:off x="1296" y="3456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$$$</a:t>
              </a:r>
            </a:p>
          </p:txBody>
        </p:sp>
        <p:sp>
          <p:nvSpPr>
            <p:cNvPr id="77842" name="Text Box 18"/>
            <p:cNvSpPr txBox="1">
              <a:spLocks noChangeArrowheads="1"/>
            </p:cNvSpPr>
            <p:nvPr/>
          </p:nvSpPr>
          <p:spPr bwMode="auto">
            <a:xfrm>
              <a:off x="768" y="2352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43" name="Oval 55"/>
            <p:cNvSpPr>
              <a:spLocks noChangeArrowheads="1"/>
            </p:cNvSpPr>
            <p:nvPr/>
          </p:nvSpPr>
          <p:spPr bwMode="auto">
            <a:xfrm>
              <a:off x="720" y="2640"/>
              <a:ext cx="768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Res</a:t>
              </a:r>
            </a:p>
          </p:txBody>
        </p:sp>
        <p:sp>
          <p:nvSpPr>
            <p:cNvPr id="77844" name="Line 20"/>
            <p:cNvSpPr>
              <a:spLocks noChangeShapeType="1"/>
            </p:cNvSpPr>
            <p:nvPr/>
          </p:nvSpPr>
          <p:spPr bwMode="auto">
            <a:xfrm flipH="1">
              <a:off x="816" y="3024"/>
              <a:ext cx="192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45" name="Line 21"/>
            <p:cNvSpPr>
              <a:spLocks noChangeShapeType="1"/>
            </p:cNvSpPr>
            <p:nvPr/>
          </p:nvSpPr>
          <p:spPr bwMode="auto">
            <a:xfrm>
              <a:off x="1344" y="2976"/>
              <a:ext cx="240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46" name="Text Box 22"/>
            <p:cNvSpPr txBox="1">
              <a:spLocks noChangeArrowheads="1"/>
            </p:cNvSpPr>
            <p:nvPr/>
          </p:nvSpPr>
          <p:spPr bwMode="auto">
            <a:xfrm>
              <a:off x="1488" y="2880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47" name="Text Box 23"/>
            <p:cNvSpPr txBox="1">
              <a:spLocks noChangeArrowheads="1"/>
            </p:cNvSpPr>
            <p:nvPr/>
          </p:nvSpPr>
          <p:spPr bwMode="auto">
            <a:xfrm>
              <a:off x="528" y="292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48" name="Rectangle 60"/>
            <p:cNvSpPr>
              <a:spLocks noChangeArrowheads="1"/>
            </p:cNvSpPr>
            <p:nvPr/>
          </p:nvSpPr>
          <p:spPr bwMode="auto">
            <a:xfrm>
              <a:off x="1536" y="3168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49" name="Text Box 25"/>
            <p:cNvSpPr txBox="1">
              <a:spLocks noChangeArrowheads="1"/>
            </p:cNvSpPr>
            <p:nvPr/>
          </p:nvSpPr>
          <p:spPr bwMode="auto">
            <a:xfrm>
              <a:off x="1636" y="3360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4/4</a:t>
              </a:r>
            </a:p>
          </p:txBody>
        </p:sp>
        <p:sp>
          <p:nvSpPr>
            <p:cNvPr id="77850" name="Line 26"/>
            <p:cNvSpPr>
              <a:spLocks noChangeShapeType="1"/>
            </p:cNvSpPr>
            <p:nvPr/>
          </p:nvSpPr>
          <p:spPr bwMode="auto">
            <a:xfrm>
              <a:off x="2304" y="2688"/>
              <a:ext cx="1152" cy="0"/>
            </a:xfrm>
            <a:prstGeom prst="line">
              <a:avLst/>
            </a:prstGeom>
            <a:noFill/>
            <a:ln w="76200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1" name="Oval 63"/>
            <p:cNvSpPr>
              <a:spLocks noChangeArrowheads="1"/>
            </p:cNvSpPr>
            <p:nvPr/>
          </p:nvSpPr>
          <p:spPr bwMode="auto">
            <a:xfrm>
              <a:off x="4176" y="2160"/>
              <a:ext cx="912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Alt</a:t>
              </a:r>
            </a:p>
          </p:txBody>
        </p:sp>
        <p:sp>
          <p:nvSpPr>
            <p:cNvPr id="77852" name="Line 28"/>
            <p:cNvSpPr>
              <a:spLocks noChangeShapeType="1"/>
            </p:cNvSpPr>
            <p:nvPr/>
          </p:nvSpPr>
          <p:spPr bwMode="auto">
            <a:xfrm flipH="1">
              <a:off x="4224" y="2496"/>
              <a:ext cx="144" cy="28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3" name="Line 29"/>
            <p:cNvSpPr>
              <a:spLocks noChangeShapeType="1"/>
            </p:cNvSpPr>
            <p:nvPr/>
          </p:nvSpPr>
          <p:spPr bwMode="auto">
            <a:xfrm>
              <a:off x="4944" y="2496"/>
              <a:ext cx="144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4" name="Oval 66"/>
            <p:cNvSpPr>
              <a:spLocks noChangeArrowheads="1"/>
            </p:cNvSpPr>
            <p:nvPr/>
          </p:nvSpPr>
          <p:spPr bwMode="auto">
            <a:xfrm>
              <a:off x="3744" y="2784"/>
              <a:ext cx="816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Price</a:t>
              </a:r>
            </a:p>
          </p:txBody>
        </p:sp>
        <p:sp>
          <p:nvSpPr>
            <p:cNvPr id="77855" name="Line 31"/>
            <p:cNvSpPr>
              <a:spLocks noChangeShapeType="1"/>
            </p:cNvSpPr>
            <p:nvPr/>
          </p:nvSpPr>
          <p:spPr bwMode="auto">
            <a:xfrm flipH="1">
              <a:off x="3744" y="3120"/>
              <a:ext cx="192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6" name="Line 32"/>
            <p:cNvSpPr>
              <a:spLocks noChangeShapeType="1"/>
            </p:cNvSpPr>
            <p:nvPr/>
          </p:nvSpPr>
          <p:spPr bwMode="auto">
            <a:xfrm>
              <a:off x="4416" y="3120"/>
              <a:ext cx="144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7" name="Rectangle 69"/>
            <p:cNvSpPr>
              <a:spLocks noChangeArrowheads="1"/>
            </p:cNvSpPr>
            <p:nvPr/>
          </p:nvSpPr>
          <p:spPr bwMode="auto">
            <a:xfrm>
              <a:off x="3552" y="3360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58" name="Rectangle 70"/>
            <p:cNvSpPr>
              <a:spLocks noChangeArrowheads="1"/>
            </p:cNvSpPr>
            <p:nvPr/>
          </p:nvSpPr>
          <p:spPr bwMode="auto">
            <a:xfrm>
              <a:off x="3984" y="3360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59" name="Rectangle 71"/>
            <p:cNvSpPr>
              <a:spLocks noChangeArrowheads="1"/>
            </p:cNvSpPr>
            <p:nvPr/>
          </p:nvSpPr>
          <p:spPr bwMode="auto">
            <a:xfrm>
              <a:off x="4464" y="3312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60" name="Line 36"/>
            <p:cNvSpPr>
              <a:spLocks noChangeShapeType="1"/>
            </p:cNvSpPr>
            <p:nvPr/>
          </p:nvSpPr>
          <p:spPr bwMode="auto">
            <a:xfrm>
              <a:off x="4128" y="3168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61" name="Text Box 37"/>
            <p:cNvSpPr txBox="1">
              <a:spLocks noChangeArrowheads="1"/>
            </p:cNvSpPr>
            <p:nvPr/>
          </p:nvSpPr>
          <p:spPr bwMode="auto">
            <a:xfrm>
              <a:off x="3590" y="304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</a:t>
              </a:r>
            </a:p>
          </p:txBody>
        </p:sp>
        <p:sp>
          <p:nvSpPr>
            <p:cNvPr id="77862" name="Text Box 38"/>
            <p:cNvSpPr txBox="1">
              <a:spLocks noChangeArrowheads="1"/>
            </p:cNvSpPr>
            <p:nvPr/>
          </p:nvSpPr>
          <p:spPr bwMode="auto">
            <a:xfrm>
              <a:off x="3892" y="3144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</a:t>
              </a:r>
            </a:p>
          </p:txBody>
        </p:sp>
        <p:sp>
          <p:nvSpPr>
            <p:cNvPr id="77863" name="Text Box 39"/>
            <p:cNvSpPr txBox="1">
              <a:spLocks noChangeArrowheads="1"/>
            </p:cNvSpPr>
            <p:nvPr/>
          </p:nvSpPr>
          <p:spPr bwMode="auto">
            <a:xfrm>
              <a:off x="4464" y="3024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$$$</a:t>
              </a:r>
            </a:p>
          </p:txBody>
        </p:sp>
        <p:sp>
          <p:nvSpPr>
            <p:cNvPr id="77864" name="Text Box 40"/>
            <p:cNvSpPr txBox="1">
              <a:spLocks noChangeArrowheads="1"/>
            </p:cNvSpPr>
            <p:nvPr/>
          </p:nvSpPr>
          <p:spPr bwMode="auto">
            <a:xfrm>
              <a:off x="3936" y="2496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821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1143000" y="381000"/>
            <a:ext cx="7543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Post-pruning: Techniques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839200" cy="3124200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r>
              <a:rPr lang="en-US" altLang="en-US" sz="2800" b="1" smtClean="0">
                <a:solidFill>
                  <a:srgbClr val="000066"/>
                </a:solidFill>
              </a:rPr>
              <a:t>Cost Complexity pruning Algorithm:</a:t>
            </a:r>
            <a:r>
              <a:rPr lang="en-US" altLang="en-US" sz="2800" smtClean="0"/>
              <a:t> pruning operation is performed if it does not increase the estimated error rate.</a:t>
            </a:r>
          </a:p>
          <a:p>
            <a:pPr lvl="1">
              <a:buClr>
                <a:srgbClr val="000066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smtClean="0"/>
              <a:t>Of course, error on the training data is not the useful estimator (would result in almost no pruning)</a:t>
            </a:r>
          </a:p>
          <a:p>
            <a:r>
              <a:rPr lang="en-US" altLang="en-US" sz="2800" b="1" smtClean="0">
                <a:solidFill>
                  <a:srgbClr val="000066"/>
                </a:solidFill>
              </a:rPr>
              <a:t>Minimum Description Length Algorithm:</a:t>
            </a:r>
            <a:r>
              <a:rPr lang="en-US" altLang="en-US" sz="2800" smtClean="0"/>
              <a:t> states that the best tree is the one that can be encoded using the fewest number of bits.</a:t>
            </a:r>
          </a:p>
          <a:p>
            <a:pPr lvl="1">
              <a:buClr>
                <a:srgbClr val="000066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smtClean="0"/>
              <a:t>The challenge for the pruning phase is to find the subtree that can be encoded with the least number of bits.</a:t>
            </a:r>
          </a:p>
        </p:txBody>
      </p:sp>
    </p:spTree>
    <p:extLst>
      <p:ext uri="{BB962C8B-B14F-4D97-AF65-F5344CB8AC3E}">
        <p14:creationId xmlns:p14="http://schemas.microsoft.com/office/powerpoint/2010/main" val="308139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Handling Missing Attribute Values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Missing values affect decision tree construction in three different ways:</a:t>
            </a:r>
          </a:p>
          <a:p>
            <a:pPr lvl="1" eaLnBrk="1" hangingPunct="1"/>
            <a:r>
              <a:rPr lang="en-US" altLang="en-US" smtClean="0">
                <a:effectLst/>
              </a:rPr>
              <a:t>Affects how impurity measures are computed</a:t>
            </a:r>
          </a:p>
          <a:p>
            <a:pPr lvl="1" eaLnBrk="1" hangingPunct="1"/>
            <a:r>
              <a:rPr lang="en-US" altLang="en-US" smtClean="0">
                <a:effectLst/>
              </a:rPr>
              <a:t>Affects how to distribute instance with missing value to child nodes</a:t>
            </a:r>
          </a:p>
          <a:p>
            <a:pPr lvl="1" eaLnBrk="1" hangingPunct="1"/>
            <a:r>
              <a:rPr lang="en-US" altLang="en-US" smtClean="0">
                <a:effectLst/>
              </a:rPr>
              <a:t>Affects how a test instance with missing value is classified</a:t>
            </a:r>
          </a:p>
        </p:txBody>
      </p:sp>
    </p:spTree>
    <p:extLst>
      <p:ext uri="{BB962C8B-B14F-4D97-AF65-F5344CB8AC3E}">
        <p14:creationId xmlns:p14="http://schemas.microsoft.com/office/powerpoint/2010/main" val="277326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Computing Impurity Measure</a:t>
            </a:r>
          </a:p>
        </p:txBody>
      </p:sp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533400" y="1143000"/>
          <a:ext cx="3894138" cy="417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4" name="Document" r:id="rId3" imgW="5423570" imgH="5776579" progId="Word.Document.8">
                  <p:embed/>
                </p:oleObj>
              </mc:Choice>
              <mc:Fallback>
                <p:oleObj name="Document" r:id="rId3" imgW="5423570" imgH="57765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3894138" cy="417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5334000" y="2209800"/>
          <a:ext cx="3200400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5" name="Document" r:id="rId5" imgW="6365748" imgH="3406140" progId="Word.Document.8">
                  <p:embed/>
                </p:oleObj>
              </mc:Choice>
              <mc:Fallback>
                <p:oleObj name="Document" r:id="rId5" imgW="6365748" imgH="34061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09800"/>
                        <a:ext cx="3200400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4343400" y="3733800"/>
            <a:ext cx="464820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Split on Refund: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    Entropy(Refund=Yes) = 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    Entropy(Refund=No) </a:t>
            </a:r>
            <a:br>
              <a:rPr lang="en-US" altLang="en-US" sz="1800" b="1">
                <a:latin typeface="Arial" panose="020B0604020202020204" pitchFamily="34" charset="0"/>
              </a:rPr>
            </a:br>
            <a:r>
              <a:rPr lang="en-US" altLang="en-US" sz="1800" b="1">
                <a:latin typeface="Arial" panose="020B0604020202020204" pitchFamily="34" charset="0"/>
              </a:rPr>
              <a:t>    = -(2/6)log(2/6) – (4/6)log(4/6) = 0.9183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    Entropy(Children) </a:t>
            </a:r>
            <a:br>
              <a:rPr lang="en-US" altLang="en-US" sz="1800" b="1">
                <a:latin typeface="Arial" panose="020B0604020202020204" pitchFamily="34" charset="0"/>
              </a:rPr>
            </a:br>
            <a:r>
              <a:rPr lang="en-US" altLang="en-US" sz="1800" b="1">
                <a:latin typeface="Arial" panose="020B0604020202020204" pitchFamily="34" charset="0"/>
              </a:rPr>
              <a:t>    = 0.3 (0) + 0.6 (0.9183) = 0.551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Gain = 0.9 </a:t>
            </a:r>
            <a:r>
              <a:rPr lang="en-US" altLang="en-US" sz="1800" b="1">
                <a:latin typeface="Arial" panose="020B0604020202020204" pitchFamily="34" charset="0"/>
                <a:sym typeface="Symbol" panose="05050102010706020507" pitchFamily="18" charset="2"/>
              </a:rPr>
              <a:t> 0.8813 – 0.551 = 0.2422</a:t>
            </a:r>
            <a:endParaRPr lang="en-US" altLang="en-US" sz="1800" b="1">
              <a:latin typeface="Arial" panose="020B0604020202020204" pitchFamily="34" charset="0"/>
            </a:endParaRPr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1143000" y="5181600"/>
            <a:ext cx="457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1676400" y="54102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Missing value</a:t>
            </a:r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4419600" y="1066800"/>
            <a:ext cx="44958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Before Splitting:</a:t>
            </a:r>
            <a:b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800" b="1">
                <a:latin typeface="Arial" panose="020B0604020202020204" pitchFamily="34" charset="0"/>
              </a:rPr>
              <a:t>Entropy(Parent) </a:t>
            </a:r>
            <a:br>
              <a:rPr lang="en-US" altLang="en-US" sz="1800" b="1">
                <a:latin typeface="Arial" panose="020B0604020202020204" pitchFamily="34" charset="0"/>
              </a:rPr>
            </a:br>
            <a:r>
              <a:rPr lang="en-US" altLang="en-US" sz="1800" b="1">
                <a:latin typeface="Arial" panose="020B0604020202020204" pitchFamily="34" charset="0"/>
              </a:rPr>
              <a:t>    = -0.3 log(0.3)-(0.7)log(0.7) = 0.8813</a:t>
            </a:r>
          </a:p>
        </p:txBody>
      </p:sp>
    </p:spTree>
    <p:extLst>
      <p:ext uri="{BB962C8B-B14F-4D97-AF65-F5344CB8AC3E}">
        <p14:creationId xmlns:p14="http://schemas.microsoft.com/office/powerpoint/2010/main" val="201136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Distribute Instances</a:t>
            </a:r>
          </a:p>
        </p:txBody>
      </p:sp>
      <p:graphicFrame>
        <p:nvGraphicFramePr>
          <p:cNvPr id="79875" name="Object 3"/>
          <p:cNvGraphicFramePr>
            <a:graphicFrameLocks noChangeAspect="1"/>
          </p:cNvGraphicFramePr>
          <p:nvPr/>
        </p:nvGraphicFramePr>
        <p:xfrm>
          <a:off x="381000" y="1219200"/>
          <a:ext cx="3511550" cy="338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6" name="Document" r:id="rId3" imgW="5442690" imgH="5295737" progId="Word.Document.8">
                  <p:embed/>
                </p:oleObj>
              </mc:Choice>
              <mc:Fallback>
                <p:oleObj name="Document" r:id="rId3" imgW="5442690" imgH="52957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3511550" cy="338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" name="Line 4"/>
          <p:cNvSpPr>
            <a:spLocks noChangeShapeType="1"/>
          </p:cNvSpPr>
          <p:nvPr/>
        </p:nvSpPr>
        <p:spPr bwMode="auto">
          <a:xfrm>
            <a:off x="2689225" y="4911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 flipH="1">
            <a:off x="1316038" y="4911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1833563" y="4648200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2D1993"/>
                </a:solidFill>
                <a:latin typeface="Arial" panose="020B0604020202020204" pitchFamily="34" charset="0"/>
              </a:rPr>
              <a:t>Refund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1069975" y="48768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Yes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3051175" y="48768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No</a:t>
            </a:r>
          </a:p>
        </p:txBody>
      </p:sp>
      <p:graphicFrame>
        <p:nvGraphicFramePr>
          <p:cNvPr id="79881" name="Object 9"/>
          <p:cNvGraphicFramePr>
            <a:graphicFrameLocks noChangeAspect="1"/>
          </p:cNvGraphicFramePr>
          <p:nvPr/>
        </p:nvGraphicFramePr>
        <p:xfrm>
          <a:off x="0" y="5495925"/>
          <a:ext cx="18081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7" name="Document" r:id="rId5" imgW="4408049" imgH="1653433" progId="Word.Document.8">
                  <p:embed/>
                </p:oleObj>
              </mc:Choice>
              <mc:Fallback>
                <p:oleObj name="Document" r:id="rId5" imgW="4408049" imgH="16534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95925"/>
                        <a:ext cx="18081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Object 10"/>
          <p:cNvGraphicFramePr>
            <a:graphicFrameLocks noChangeAspect="1"/>
          </p:cNvGraphicFramePr>
          <p:nvPr/>
        </p:nvGraphicFramePr>
        <p:xfrm>
          <a:off x="2062163" y="5486400"/>
          <a:ext cx="19304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8" name="Document" r:id="rId7" imgW="4687993" imgH="1653433" progId="Word.Document.8">
                  <p:embed/>
                </p:oleObj>
              </mc:Choice>
              <mc:Fallback>
                <p:oleObj name="Document" r:id="rId7" imgW="4687993" imgH="16534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5486400"/>
                        <a:ext cx="19304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3" name="Line 11"/>
          <p:cNvSpPr>
            <a:spLocks noChangeShapeType="1"/>
          </p:cNvSpPr>
          <p:nvPr/>
        </p:nvSpPr>
        <p:spPr bwMode="auto">
          <a:xfrm>
            <a:off x="6875463" y="3006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4" name="Line 12"/>
          <p:cNvSpPr>
            <a:spLocks noChangeShapeType="1"/>
          </p:cNvSpPr>
          <p:nvPr/>
        </p:nvSpPr>
        <p:spPr bwMode="auto">
          <a:xfrm flipH="1">
            <a:off x="5502275" y="3006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6019800" y="2743200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2D1993"/>
                </a:solidFill>
                <a:latin typeface="Arial" panose="020B0604020202020204" pitchFamily="34" charset="0"/>
              </a:rPr>
              <a:t>Refund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5256213" y="29718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Yes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9887" name="Object 15"/>
          <p:cNvGraphicFramePr>
            <a:graphicFrameLocks noChangeAspect="1"/>
          </p:cNvGraphicFramePr>
          <p:nvPr/>
        </p:nvGraphicFramePr>
        <p:xfrm>
          <a:off x="4800600" y="1600200"/>
          <a:ext cx="36512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9" name="Document" r:id="rId9" imgW="5102860" imgH="1450803" progId="Word.Document.8">
                  <p:embed/>
                </p:oleObj>
              </mc:Choice>
              <mc:Fallback>
                <p:oleObj name="Document" r:id="rId9" imgW="5102860" imgH="14508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00200"/>
                        <a:ext cx="36512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7237413" y="29718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No</a:t>
            </a:r>
          </a:p>
        </p:txBody>
      </p:sp>
      <p:graphicFrame>
        <p:nvGraphicFramePr>
          <p:cNvPr id="79889" name="Object 17"/>
          <p:cNvGraphicFramePr>
            <a:graphicFrameLocks noChangeAspect="1"/>
          </p:cNvGraphicFramePr>
          <p:nvPr/>
        </p:nvGraphicFramePr>
        <p:xfrm>
          <a:off x="6629400" y="3505200"/>
          <a:ext cx="1989138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0" name="Document" r:id="rId11" imgW="4790087" imgH="1653433" progId="Word.Document.8">
                  <p:embed/>
                </p:oleObj>
              </mc:Choice>
              <mc:Fallback>
                <p:oleObj name="Document" r:id="rId11" imgW="4790087" imgH="16534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505200"/>
                        <a:ext cx="1989138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0" name="Text Box 18"/>
          <p:cNvSpPr txBox="1">
            <a:spLocks noChangeArrowheads="1"/>
          </p:cNvSpPr>
          <p:nvPr/>
        </p:nvSpPr>
        <p:spPr bwMode="auto">
          <a:xfrm>
            <a:off x="4572000" y="4343400"/>
            <a:ext cx="403860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Probability that Refund=Yes is 3/9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Probability that Refund=No is 6/9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Assign record to the left child with weight = 3/9 and to the right child with weight = 6/9</a:t>
            </a:r>
          </a:p>
        </p:txBody>
      </p:sp>
      <p:graphicFrame>
        <p:nvGraphicFramePr>
          <p:cNvPr id="79891" name="Object 19"/>
          <p:cNvGraphicFramePr>
            <a:graphicFrameLocks noGrp="1" noChangeAspect="1"/>
          </p:cNvGraphicFramePr>
          <p:nvPr>
            <p:ph idx="1"/>
          </p:nvPr>
        </p:nvGraphicFramePr>
        <p:xfrm>
          <a:off x="4573588" y="3665538"/>
          <a:ext cx="18891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1" name="Document" r:id="rId13" imgW="4790087" imgH="1653433" progId="Word.Document.8">
                  <p:embed/>
                </p:oleObj>
              </mc:Choice>
              <mc:Fallback>
                <p:oleObj name="Document" r:id="rId13" imgW="4790087" imgH="16534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3665538"/>
                        <a:ext cx="188912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511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Classify Instances</a:t>
            </a:r>
          </a:p>
        </p:txBody>
      </p:sp>
      <p:sp>
        <p:nvSpPr>
          <p:cNvPr id="80899" name="Line 3"/>
          <p:cNvSpPr>
            <a:spLocks noChangeShapeType="1"/>
          </p:cNvSpPr>
          <p:nvPr/>
        </p:nvSpPr>
        <p:spPr bwMode="auto">
          <a:xfrm>
            <a:off x="2187575" y="491807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0" name="Line 4"/>
          <p:cNvSpPr>
            <a:spLocks noChangeShapeType="1"/>
          </p:cNvSpPr>
          <p:nvPr/>
        </p:nvSpPr>
        <p:spPr bwMode="auto">
          <a:xfrm flipH="1">
            <a:off x="1057275" y="491807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1" name="Line 5"/>
          <p:cNvSpPr>
            <a:spLocks noChangeShapeType="1"/>
          </p:cNvSpPr>
          <p:nvPr/>
        </p:nvSpPr>
        <p:spPr bwMode="auto">
          <a:xfrm flipH="1">
            <a:off x="1703388" y="412432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2" name="Line 6"/>
          <p:cNvSpPr>
            <a:spLocks noChangeShapeType="1"/>
          </p:cNvSpPr>
          <p:nvPr/>
        </p:nvSpPr>
        <p:spPr bwMode="auto">
          <a:xfrm>
            <a:off x="2914650" y="412432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>
            <a:off x="1865313" y="33972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 flipH="1">
            <a:off x="492125" y="33972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1009650" y="313372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2D1993"/>
                </a:solidFill>
                <a:latin typeface="Arial" panose="020B0604020202020204" pitchFamily="34" charset="0"/>
              </a:rPr>
              <a:t>Refund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06" name="Text Box 10"/>
          <p:cNvSpPr txBox="1">
            <a:spLocks noChangeArrowheads="1"/>
          </p:cNvSpPr>
          <p:nvPr/>
        </p:nvSpPr>
        <p:spPr bwMode="auto">
          <a:xfrm>
            <a:off x="2025650" y="386080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2D1993"/>
                </a:solidFill>
                <a:latin typeface="Arial" panose="020B0604020202020204" pitchFamily="34" charset="0"/>
              </a:rPr>
              <a:t>MarSt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1300163" y="465296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2D1993"/>
                </a:solidFill>
                <a:latin typeface="Arial" panose="020B0604020202020204" pitchFamily="34" charset="0"/>
              </a:rPr>
              <a:t>TaxInc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08" name="AutoShape 12"/>
          <p:cNvSpPr>
            <a:spLocks noChangeArrowheads="1"/>
          </p:cNvSpPr>
          <p:nvPr/>
        </p:nvSpPr>
        <p:spPr bwMode="auto">
          <a:xfrm>
            <a:off x="2227263" y="5441950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2151063" y="544195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800000"/>
                </a:solidFill>
                <a:latin typeface="Arial" panose="020B0604020202020204" pitchFamily="34" charset="0"/>
              </a:rPr>
              <a:t>YES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10" name="AutoShape 14"/>
          <p:cNvSpPr>
            <a:spLocks noChangeArrowheads="1"/>
          </p:cNvSpPr>
          <p:nvPr/>
        </p:nvSpPr>
        <p:spPr bwMode="auto">
          <a:xfrm>
            <a:off x="735013" y="5459413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831850" y="544512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800000"/>
                </a:solidFill>
                <a:latin typeface="Arial" panose="020B0604020202020204" pitchFamily="34" charset="0"/>
              </a:rPr>
              <a:t>NO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12" name="AutoShape 16"/>
          <p:cNvSpPr>
            <a:spLocks noChangeArrowheads="1"/>
          </p:cNvSpPr>
          <p:nvPr/>
        </p:nvSpPr>
        <p:spPr bwMode="auto">
          <a:xfrm>
            <a:off x="169863" y="387508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0913" name="Text Box 17"/>
          <p:cNvSpPr txBox="1">
            <a:spLocks noChangeArrowheads="1"/>
          </p:cNvSpPr>
          <p:nvPr/>
        </p:nvSpPr>
        <p:spPr bwMode="auto">
          <a:xfrm>
            <a:off x="265113" y="386080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800000"/>
                </a:solidFill>
                <a:latin typeface="Arial" panose="020B0604020202020204" pitchFamily="34" charset="0"/>
              </a:rPr>
              <a:t>NO</a:t>
            </a:r>
            <a:endParaRPr lang="en-US" altLang="en-US" sz="1600">
              <a:solidFill>
                <a:srgbClr val="00FFFF"/>
              </a:solidFill>
              <a:latin typeface="Arial" panose="020B0604020202020204" pitchFamily="34" charset="0"/>
            </a:endParaRPr>
          </a:p>
        </p:txBody>
      </p:sp>
      <p:sp>
        <p:nvSpPr>
          <p:cNvPr id="80914" name="AutoShape 18"/>
          <p:cNvSpPr>
            <a:spLocks noChangeArrowheads="1"/>
          </p:cNvSpPr>
          <p:nvPr/>
        </p:nvSpPr>
        <p:spPr bwMode="auto">
          <a:xfrm>
            <a:off x="3065463" y="467995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0915" name="Text Box 19"/>
          <p:cNvSpPr txBox="1">
            <a:spLocks noChangeArrowheads="1"/>
          </p:cNvSpPr>
          <p:nvPr/>
        </p:nvSpPr>
        <p:spPr bwMode="auto">
          <a:xfrm>
            <a:off x="3141663" y="46799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b="1">
                <a:solidFill>
                  <a:srgbClr val="800000"/>
                </a:solidFill>
                <a:latin typeface="Arial" panose="020B0604020202020204" pitchFamily="34" charset="0"/>
              </a:rPr>
              <a:t>NO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16" name="Text Box 20"/>
          <p:cNvSpPr txBox="1">
            <a:spLocks noChangeArrowheads="1"/>
          </p:cNvSpPr>
          <p:nvPr/>
        </p:nvSpPr>
        <p:spPr bwMode="auto">
          <a:xfrm>
            <a:off x="282575" y="33972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Yes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17" name="Text Box 21"/>
          <p:cNvSpPr txBox="1">
            <a:spLocks noChangeArrowheads="1"/>
          </p:cNvSpPr>
          <p:nvPr/>
        </p:nvSpPr>
        <p:spPr bwMode="auto">
          <a:xfrm>
            <a:off x="1676400" y="3505200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No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18" name="Text Box 22"/>
          <p:cNvSpPr txBox="1">
            <a:spLocks noChangeArrowheads="1"/>
          </p:cNvSpPr>
          <p:nvPr/>
        </p:nvSpPr>
        <p:spPr bwMode="auto">
          <a:xfrm>
            <a:off x="3130550" y="4162425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Married</a:t>
            </a:r>
            <a:r>
              <a:rPr lang="en-US" altLang="en-US" sz="1600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0919" name="Text Box 23"/>
          <p:cNvSpPr txBox="1">
            <a:spLocks noChangeArrowheads="1"/>
          </p:cNvSpPr>
          <p:nvPr/>
        </p:nvSpPr>
        <p:spPr bwMode="auto">
          <a:xfrm>
            <a:off x="457200" y="4038600"/>
            <a:ext cx="1355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Single, </a:t>
            </a:r>
            <a:br>
              <a:rPr lang="en-US" altLang="en-US" sz="1600">
                <a:latin typeface="Arial" panose="020B0604020202020204" pitchFamily="34" charset="0"/>
              </a:rPr>
            </a:br>
            <a:r>
              <a:rPr lang="en-US" altLang="en-US" sz="1600">
                <a:latin typeface="Arial" panose="020B0604020202020204" pitchFamily="34" charset="0"/>
              </a:rPr>
              <a:t>Divorced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20" name="Text Box 24"/>
          <p:cNvSpPr txBox="1">
            <a:spLocks noChangeArrowheads="1"/>
          </p:cNvSpPr>
          <p:nvPr/>
        </p:nvSpPr>
        <p:spPr bwMode="auto">
          <a:xfrm>
            <a:off x="534988" y="498316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&lt; 80K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0921" name="Text Box 25"/>
          <p:cNvSpPr txBox="1">
            <a:spLocks noChangeArrowheads="1"/>
          </p:cNvSpPr>
          <p:nvPr/>
        </p:nvSpPr>
        <p:spPr bwMode="auto">
          <a:xfrm>
            <a:off x="2309813" y="498316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&gt; 80K</a:t>
            </a:r>
            <a:endParaRPr lang="en-US" altLang="en-US" sz="16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46851" name="Group 67"/>
          <p:cNvGraphicFramePr>
            <a:graphicFrameLocks noGrp="1"/>
          </p:cNvGraphicFramePr>
          <p:nvPr/>
        </p:nvGraphicFramePr>
        <p:xfrm>
          <a:off x="4114800" y="1295400"/>
          <a:ext cx="5029200" cy="2354263"/>
        </p:xfrm>
        <a:graphic>
          <a:graphicData uri="http://schemas.openxmlformats.org/drawingml/2006/table">
            <a:tbl>
              <a:tblPr/>
              <a:tblGrid>
                <a:gridCol w="1298575"/>
                <a:gridCol w="973138"/>
                <a:gridCol w="973137"/>
                <a:gridCol w="1054100"/>
                <a:gridCol w="730250"/>
              </a:tblGrid>
              <a:tr h="640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Married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Single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Divorced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Total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39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Class=No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39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Class=Yes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1+6/9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2.67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39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Total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2.67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6.67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954" name="Object 58"/>
          <p:cNvGraphicFramePr>
            <a:graphicFrameLocks noChangeAspect="1"/>
          </p:cNvGraphicFramePr>
          <p:nvPr/>
        </p:nvGraphicFramePr>
        <p:xfrm>
          <a:off x="228600" y="1676400"/>
          <a:ext cx="367188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0" name="Document" r:id="rId3" imgW="5102860" imgH="1450803" progId="Word.Document.8">
                  <p:embed/>
                </p:oleObj>
              </mc:Choice>
              <mc:Fallback>
                <p:oleObj name="Document" r:id="rId3" imgW="5102860" imgH="14508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76400"/>
                        <a:ext cx="367188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55" name="Text Box 59"/>
          <p:cNvSpPr txBox="1">
            <a:spLocks noChangeArrowheads="1"/>
          </p:cNvSpPr>
          <p:nvPr/>
        </p:nvSpPr>
        <p:spPr bwMode="auto">
          <a:xfrm>
            <a:off x="228600" y="12192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New record:</a:t>
            </a:r>
          </a:p>
        </p:txBody>
      </p:sp>
      <p:sp>
        <p:nvSpPr>
          <p:cNvPr id="80956" name="Line 60"/>
          <p:cNvSpPr>
            <a:spLocks noChangeShapeType="1"/>
          </p:cNvSpPr>
          <p:nvPr/>
        </p:nvSpPr>
        <p:spPr bwMode="auto">
          <a:xfrm>
            <a:off x="1219200" y="2667000"/>
            <a:ext cx="228600" cy="4572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57" name="Line 61"/>
          <p:cNvSpPr>
            <a:spLocks noChangeShapeType="1"/>
          </p:cNvSpPr>
          <p:nvPr/>
        </p:nvSpPr>
        <p:spPr bwMode="auto">
          <a:xfrm>
            <a:off x="1905000" y="2667000"/>
            <a:ext cx="609600" cy="11430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58" name="Oval 62"/>
          <p:cNvSpPr>
            <a:spLocks noChangeArrowheads="1"/>
          </p:cNvSpPr>
          <p:nvPr/>
        </p:nvSpPr>
        <p:spPr bwMode="auto">
          <a:xfrm>
            <a:off x="5410200" y="2895600"/>
            <a:ext cx="762000" cy="685800"/>
          </a:xfrm>
          <a:prstGeom prst="ellipse">
            <a:avLst/>
          </a:prstGeom>
          <a:noFill/>
          <a:ln w="31750">
            <a:solidFill>
              <a:srgbClr val="0C6D9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0959" name="Oval 63"/>
          <p:cNvSpPr>
            <a:spLocks noChangeArrowheads="1"/>
          </p:cNvSpPr>
          <p:nvPr/>
        </p:nvSpPr>
        <p:spPr bwMode="auto">
          <a:xfrm>
            <a:off x="6400800" y="2895600"/>
            <a:ext cx="1676400" cy="685800"/>
          </a:xfrm>
          <a:prstGeom prst="ellipse">
            <a:avLst/>
          </a:prstGeom>
          <a:noFill/>
          <a:ln w="31750">
            <a:solidFill>
              <a:srgbClr val="0C6D9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0960" name="Line 64"/>
          <p:cNvSpPr>
            <a:spLocks noChangeShapeType="1"/>
          </p:cNvSpPr>
          <p:nvPr/>
        </p:nvSpPr>
        <p:spPr bwMode="auto">
          <a:xfrm flipH="1">
            <a:off x="4038600" y="3352800"/>
            <a:ext cx="1676400" cy="9906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61" name="Line 65"/>
          <p:cNvSpPr>
            <a:spLocks noChangeShapeType="1"/>
          </p:cNvSpPr>
          <p:nvPr/>
        </p:nvSpPr>
        <p:spPr bwMode="auto">
          <a:xfrm flipH="1">
            <a:off x="1981200" y="3429000"/>
            <a:ext cx="5029200" cy="9906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62" name="Text Box 66"/>
          <p:cNvSpPr txBox="1">
            <a:spLocks noChangeArrowheads="1"/>
          </p:cNvSpPr>
          <p:nvPr/>
        </p:nvSpPr>
        <p:spPr bwMode="auto">
          <a:xfrm>
            <a:off x="5181600" y="4191000"/>
            <a:ext cx="35052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Probability that Marital Status </a:t>
            </a:r>
            <a:br>
              <a:rPr lang="en-US" altLang="en-US" sz="1800" b="1">
                <a:latin typeface="Arial" panose="020B0604020202020204" pitchFamily="34" charset="0"/>
              </a:rPr>
            </a:br>
            <a:r>
              <a:rPr lang="en-US" altLang="en-US" sz="1800" b="1">
                <a:latin typeface="Arial" panose="020B0604020202020204" pitchFamily="34" charset="0"/>
              </a:rPr>
              <a:t>= Married is 3/6.67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Probability that Marital Status ={Single,Divorced} is 3.67/6.67</a:t>
            </a:r>
          </a:p>
        </p:txBody>
      </p:sp>
    </p:spTree>
    <p:extLst>
      <p:ext uri="{BB962C8B-B14F-4D97-AF65-F5344CB8AC3E}">
        <p14:creationId xmlns:p14="http://schemas.microsoft.com/office/powerpoint/2010/main" val="122174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Model Evaluation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Metrics for Performance Evaluation</a:t>
            </a:r>
          </a:p>
          <a:p>
            <a:pPr lvl="1" eaLnBrk="1" hangingPunct="1"/>
            <a:r>
              <a:rPr lang="en-US" altLang="en-US" smtClean="0">
                <a:effectLst/>
              </a:rPr>
              <a:t>How to evaluate the performance of a model?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Methods for Performance Evaluation</a:t>
            </a:r>
          </a:p>
          <a:p>
            <a:pPr lvl="1" eaLnBrk="1" hangingPunct="1"/>
            <a:r>
              <a:rPr lang="en-US" altLang="en-US" smtClean="0">
                <a:effectLst/>
              </a:rPr>
              <a:t>How to obtain reliable estimates?</a:t>
            </a:r>
          </a:p>
          <a:p>
            <a:pPr lvl="1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Methods for Model Comparison</a:t>
            </a:r>
          </a:p>
          <a:p>
            <a:pPr lvl="1" eaLnBrk="1" hangingPunct="1"/>
            <a:r>
              <a:rPr lang="en-US" altLang="en-US" smtClean="0">
                <a:effectLst/>
              </a:rPr>
              <a:t>How to compare the relative performance among competing models?</a:t>
            </a:r>
          </a:p>
        </p:txBody>
      </p:sp>
    </p:spTree>
    <p:extLst>
      <p:ext uri="{BB962C8B-B14F-4D97-AF65-F5344CB8AC3E}">
        <p14:creationId xmlns:p14="http://schemas.microsoft.com/office/powerpoint/2010/main" val="100033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Model Evaluation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rgbClr val="FF0000"/>
                </a:solidFill>
                <a:effectLst/>
              </a:rPr>
              <a:t>Metrics for Performance Evaluation</a:t>
            </a:r>
          </a:p>
          <a:p>
            <a:pPr lvl="1" eaLnBrk="1" hangingPunct="1"/>
            <a:r>
              <a:rPr lang="en-US" altLang="en-US" smtClean="0">
                <a:effectLst/>
              </a:rPr>
              <a:t>How to evaluate the performance of a model?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Methods for Performance Evaluation</a:t>
            </a:r>
          </a:p>
          <a:p>
            <a:pPr lvl="1" eaLnBrk="1" hangingPunct="1"/>
            <a:r>
              <a:rPr lang="en-US" altLang="en-US" smtClean="0">
                <a:effectLst/>
              </a:rPr>
              <a:t>How to obtain reliable estimates?</a:t>
            </a:r>
          </a:p>
          <a:p>
            <a:pPr lvl="1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Methods for Model Comparison</a:t>
            </a:r>
          </a:p>
          <a:p>
            <a:pPr lvl="1" eaLnBrk="1" hangingPunct="1"/>
            <a:r>
              <a:rPr lang="en-US" altLang="en-US" smtClean="0">
                <a:effectLst/>
              </a:rPr>
              <a:t>How to compare the relative performance among competing models?</a:t>
            </a:r>
          </a:p>
        </p:txBody>
      </p:sp>
    </p:spTree>
    <p:extLst>
      <p:ext uri="{BB962C8B-B14F-4D97-AF65-F5344CB8AC3E}">
        <p14:creationId xmlns:p14="http://schemas.microsoft.com/office/powerpoint/2010/main" val="308876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Metrics for Performance Evaluation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686800" cy="45307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Focus on the predictive capability of a model</a:t>
            </a:r>
          </a:p>
          <a:p>
            <a:pPr lvl="1" eaLnBrk="1" hangingPunct="1"/>
            <a:r>
              <a:rPr lang="en-US" altLang="en-US" smtClean="0">
                <a:effectLst/>
              </a:rPr>
              <a:t>Rather than how fast it takes to classify or build models, scalability, etc.</a:t>
            </a:r>
          </a:p>
          <a:p>
            <a:pPr eaLnBrk="1" hangingPunct="1"/>
            <a:r>
              <a:rPr lang="en-US" altLang="en-US" smtClean="0">
                <a:effectLst/>
              </a:rPr>
              <a:t>Confusion Matrix:</a:t>
            </a:r>
          </a:p>
        </p:txBody>
      </p:sp>
      <p:graphicFrame>
        <p:nvGraphicFramePr>
          <p:cNvPr id="257053" name="Group 29"/>
          <p:cNvGraphicFramePr>
            <a:graphicFrameLocks noGrp="1"/>
          </p:cNvGraphicFramePr>
          <p:nvPr/>
        </p:nvGraphicFramePr>
        <p:xfrm>
          <a:off x="304800" y="3429000"/>
          <a:ext cx="6324600" cy="2794000"/>
        </p:xfrm>
        <a:graphic>
          <a:graphicData uri="http://schemas.openxmlformats.org/drawingml/2006/table">
            <a:tbl>
              <a:tblPr/>
              <a:tblGrid>
                <a:gridCol w="1581150"/>
                <a:gridCol w="1581150"/>
                <a:gridCol w="1581150"/>
                <a:gridCol w="1581150"/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/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ACTUAL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163" name="Text Box 27"/>
          <p:cNvSpPr txBox="1">
            <a:spLocks noChangeArrowheads="1"/>
          </p:cNvSpPr>
          <p:nvPr/>
        </p:nvSpPr>
        <p:spPr bwMode="auto">
          <a:xfrm>
            <a:off x="6934200" y="4267200"/>
            <a:ext cx="22098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a: TP (true positive)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b: FN (false negative)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c: FP (false positive)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d: TN (true negative)</a:t>
            </a:r>
          </a:p>
        </p:txBody>
      </p:sp>
    </p:spTree>
    <p:extLst>
      <p:ext uri="{BB962C8B-B14F-4D97-AF65-F5344CB8AC3E}">
        <p14:creationId xmlns:p14="http://schemas.microsoft.com/office/powerpoint/2010/main" val="281926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Metrics for Performance Evaluation…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Most widely-used metric:</a:t>
            </a:r>
          </a:p>
          <a:p>
            <a:pPr eaLnBrk="1" hangingPunct="1">
              <a:defRPr/>
            </a:pPr>
            <a:endParaRPr lang="en-US" smtClean="0"/>
          </a:p>
        </p:txBody>
      </p:sp>
      <p:graphicFrame>
        <p:nvGraphicFramePr>
          <p:cNvPr id="258077" name="Group 29"/>
          <p:cNvGraphicFramePr>
            <a:graphicFrameLocks noGrp="1"/>
          </p:cNvGraphicFramePr>
          <p:nvPr/>
        </p:nvGraphicFramePr>
        <p:xfrm>
          <a:off x="1219200" y="1066800"/>
          <a:ext cx="6934200" cy="3017838"/>
        </p:xfrm>
        <a:graphic>
          <a:graphicData uri="http://schemas.openxmlformats.org/drawingml/2006/table">
            <a:tbl>
              <a:tblPr/>
              <a:tblGrid>
                <a:gridCol w="1733550"/>
                <a:gridCol w="1733550"/>
                <a:gridCol w="1733550"/>
                <a:gridCol w="1733550"/>
              </a:tblGrid>
              <a:tr h="6858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PREDICTED CLASS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8587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/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ACTUAL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Class=Yes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Class=No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0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Class=Yes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a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(TP)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b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(FN)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0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Class=No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(FP)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d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(TN)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187" name="Object 27"/>
          <p:cNvGraphicFramePr>
            <a:graphicFrameLocks noChangeAspect="1"/>
          </p:cNvGraphicFramePr>
          <p:nvPr/>
        </p:nvGraphicFramePr>
        <p:xfrm>
          <a:off x="457200" y="5181600"/>
          <a:ext cx="75834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4" name="Equation" r:id="rId3" imgW="5664200" imgH="723900" progId="Equation.3">
                  <p:embed/>
                </p:oleObj>
              </mc:Choice>
              <mc:Fallback>
                <p:oleObj name="Equation" r:id="rId3" imgW="56642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181600"/>
                        <a:ext cx="7583488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421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Limitation of Accuracy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Consider a 2-class problem</a:t>
            </a:r>
          </a:p>
          <a:p>
            <a:pPr lvl="1" eaLnBrk="1" hangingPunct="1">
              <a:defRPr/>
            </a:pPr>
            <a:r>
              <a:rPr lang="en-US" dirty="0" smtClean="0"/>
              <a:t>Number of Class 0 examples = 9990</a:t>
            </a:r>
          </a:p>
          <a:p>
            <a:pPr lvl="1" eaLnBrk="1" hangingPunct="1">
              <a:defRPr/>
            </a:pPr>
            <a:r>
              <a:rPr lang="en-US" dirty="0" smtClean="0"/>
              <a:t>Number of Class 1 examples = 10</a:t>
            </a:r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If model predicts everything to be class 0, accuracy is 9990/10000 = 99.9 %</a:t>
            </a:r>
          </a:p>
          <a:p>
            <a:pPr lvl="1" eaLnBrk="1" hangingPunct="1">
              <a:defRPr/>
            </a:pPr>
            <a:r>
              <a:rPr lang="en-US" dirty="0" smtClean="0"/>
              <a:t>Accuracy is misleading because model does not detect any class 1 example</a:t>
            </a:r>
          </a:p>
        </p:txBody>
      </p:sp>
    </p:spTree>
    <p:extLst>
      <p:ext uri="{BB962C8B-B14F-4D97-AF65-F5344CB8AC3E}">
        <p14:creationId xmlns:p14="http://schemas.microsoft.com/office/powerpoint/2010/main" val="43916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Cost Matrix</a:t>
            </a:r>
          </a:p>
        </p:txBody>
      </p:sp>
      <p:graphicFrame>
        <p:nvGraphicFramePr>
          <p:cNvPr id="260124" name="Group 28"/>
          <p:cNvGraphicFramePr>
            <a:graphicFrameLocks noGrp="1"/>
          </p:cNvGraphicFramePr>
          <p:nvPr/>
        </p:nvGraphicFramePr>
        <p:xfrm>
          <a:off x="838200" y="1447800"/>
          <a:ext cx="7162800" cy="2794000"/>
        </p:xfrm>
        <a:graphic>
          <a:graphicData uri="http://schemas.openxmlformats.org/drawingml/2006/table">
            <a:tbl>
              <a:tblPr/>
              <a:tblGrid>
                <a:gridCol w="1790700"/>
                <a:gridCol w="1790700"/>
                <a:gridCol w="1790700"/>
                <a:gridCol w="1790700"/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      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/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ACTUAL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C(Yes|Yes)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C(No|Yes)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C(Yes|No)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C(No|No)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4234" name="Rectangle 26"/>
          <p:cNvSpPr>
            <a:spLocks noChangeArrowheads="1"/>
          </p:cNvSpPr>
          <p:nvPr/>
        </p:nvSpPr>
        <p:spPr bwMode="auto">
          <a:xfrm>
            <a:off x="685800" y="5105400"/>
            <a:ext cx="7848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C(i|j): Cost of misclassifying class j example as class i</a:t>
            </a:r>
          </a:p>
        </p:txBody>
      </p:sp>
    </p:spTree>
    <p:extLst>
      <p:ext uri="{BB962C8B-B14F-4D97-AF65-F5344CB8AC3E}">
        <p14:creationId xmlns:p14="http://schemas.microsoft.com/office/powerpoint/2010/main" val="213225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Computing Cost of Classification</a:t>
            </a:r>
          </a:p>
        </p:txBody>
      </p:sp>
      <p:graphicFrame>
        <p:nvGraphicFramePr>
          <p:cNvPr id="261196" name="Group 76"/>
          <p:cNvGraphicFramePr>
            <a:graphicFrameLocks noGrp="1"/>
          </p:cNvGraphicFramePr>
          <p:nvPr/>
        </p:nvGraphicFramePr>
        <p:xfrm>
          <a:off x="2590800" y="1066800"/>
          <a:ext cx="4419600" cy="2073275"/>
        </p:xfrm>
        <a:graphic>
          <a:graphicData uri="http://schemas.openxmlformats.org/drawingml/2006/table">
            <a:tbl>
              <a:tblPr/>
              <a:tblGrid>
                <a:gridCol w="1411288"/>
                <a:gridCol w="1033462"/>
                <a:gridCol w="939800"/>
                <a:gridCol w="1035050"/>
              </a:tblGrid>
              <a:tr h="701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Cost Matrix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PREDICTED CLASS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3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ACTUAL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C(i|j)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+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457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+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-1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100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1194" name="Group 74"/>
          <p:cNvGraphicFramePr>
            <a:graphicFrameLocks noGrp="1"/>
          </p:cNvGraphicFramePr>
          <p:nvPr/>
        </p:nvGraphicFramePr>
        <p:xfrm>
          <a:off x="685800" y="3276600"/>
          <a:ext cx="3810000" cy="1944688"/>
        </p:xfrm>
        <a:graphic>
          <a:graphicData uri="http://schemas.openxmlformats.org/drawingml/2006/table">
            <a:tbl>
              <a:tblPr/>
              <a:tblGrid>
                <a:gridCol w="1216025"/>
                <a:gridCol w="892175"/>
                <a:gridCol w="809625"/>
                <a:gridCol w="892175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Model M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ACTUAL</a:t>
                      </a:r>
                      <a:b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1195" name="Group 75"/>
          <p:cNvGraphicFramePr>
            <a:graphicFrameLocks noGrp="1"/>
          </p:cNvGraphicFramePr>
          <p:nvPr/>
        </p:nvGraphicFramePr>
        <p:xfrm>
          <a:off x="4953000" y="3276600"/>
          <a:ext cx="3962400" cy="1944688"/>
        </p:xfrm>
        <a:graphic>
          <a:graphicData uri="http://schemas.openxmlformats.org/drawingml/2006/table">
            <a:tbl>
              <a:tblPr/>
              <a:tblGrid>
                <a:gridCol w="1265238"/>
                <a:gridCol w="927100"/>
                <a:gridCol w="842962"/>
                <a:gridCol w="92710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Model M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ACTUAL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256" name="Rectangle 72"/>
          <p:cNvSpPr>
            <a:spLocks noChangeArrowheads="1"/>
          </p:cNvSpPr>
          <p:nvPr/>
        </p:nvSpPr>
        <p:spPr bwMode="auto">
          <a:xfrm>
            <a:off x="762000" y="5334000"/>
            <a:ext cx="3048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Accuracy = 80%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Cost = 3910</a:t>
            </a:r>
          </a:p>
        </p:txBody>
      </p:sp>
      <p:sp>
        <p:nvSpPr>
          <p:cNvPr id="93257" name="Rectangle 73"/>
          <p:cNvSpPr>
            <a:spLocks noChangeArrowheads="1"/>
          </p:cNvSpPr>
          <p:nvPr/>
        </p:nvSpPr>
        <p:spPr bwMode="auto">
          <a:xfrm>
            <a:off x="5181600" y="5334000"/>
            <a:ext cx="3048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Accuracy = 90%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Cost = 4255</a:t>
            </a:r>
          </a:p>
        </p:txBody>
      </p:sp>
    </p:spTree>
    <p:extLst>
      <p:ext uri="{BB962C8B-B14F-4D97-AF65-F5344CB8AC3E}">
        <p14:creationId xmlns:p14="http://schemas.microsoft.com/office/powerpoint/2010/main" val="152585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3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3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3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56" grpId="0" build="allAtOnce"/>
      <p:bldP spid="93257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Cost-Sensitive Measures</a:t>
            </a:r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2133600" y="990600"/>
          <a:ext cx="4800600" cy="271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0" name="Equation" r:id="rId3" imgW="4241800" imgH="2400300" progId="Equation.3">
                  <p:embed/>
                </p:oleObj>
              </mc:Choice>
              <mc:Fallback>
                <p:oleObj name="Equation" r:id="rId3" imgW="4241800" imgH="240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990600"/>
                        <a:ext cx="4800600" cy="271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152400" y="3962400"/>
            <a:ext cx="8839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>
                <a:latin typeface="Arial" panose="020B0604020202020204" pitchFamily="34" charset="0"/>
              </a:rPr>
              <a:t>Precision is biased towards C(Yes|Yes) &amp; C(Yes|No)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>
                <a:latin typeface="Arial" panose="020B0604020202020204" pitchFamily="34" charset="0"/>
              </a:rPr>
              <a:t>Recall is biased towards C(Yes|Yes) &amp; C(No|Yes)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>
                <a:latin typeface="Arial" panose="020B0604020202020204" pitchFamily="34" charset="0"/>
              </a:rPr>
              <a:t>F-measure is biased towards all except C(No|No)</a:t>
            </a:r>
          </a:p>
        </p:txBody>
      </p:sp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1371600" y="5410200"/>
          <a:ext cx="6019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1" name="Equation" r:id="rId5" imgW="5270500" imgH="800100" progId="Equation.3">
                  <p:embed/>
                </p:oleObj>
              </mc:Choice>
              <mc:Fallback>
                <p:oleObj name="Equation" r:id="rId5" imgW="52705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10200"/>
                        <a:ext cx="6019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497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/>
          <p:cNvSpPr>
            <a:spLocks noGrp="1" noChangeArrowheads="1"/>
          </p:cNvSpPr>
          <p:nvPr>
            <p:ph type="title"/>
          </p:nvPr>
        </p:nvSpPr>
        <p:spPr>
          <a:xfrm>
            <a:off x="838200" y="762000"/>
            <a:ext cx="7772400" cy="61595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800" b="1" smtClean="0"/>
              <a:t>Relationship between Recall and Precision</a:t>
            </a:r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1144588" y="1906588"/>
            <a:ext cx="6931025" cy="42640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838200" y="5943600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Lucida Sans" panose="020B0602030504020204" pitchFamily="34" charset="0"/>
              </a:rPr>
              <a:t>0</a:t>
            </a: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3505200" y="6096000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Lucida Sans" panose="020B0602030504020204" pitchFamily="34" charset="0"/>
              </a:rPr>
              <a:t>Recall</a:t>
            </a:r>
          </a:p>
        </p:txBody>
      </p:sp>
      <p:sp>
        <p:nvSpPr>
          <p:cNvPr id="97286" name="Rectangle 6"/>
          <p:cNvSpPr>
            <a:spLocks noChangeArrowheads="1"/>
          </p:cNvSpPr>
          <p:nvPr/>
        </p:nvSpPr>
        <p:spPr bwMode="auto">
          <a:xfrm>
            <a:off x="76200" y="2971800"/>
            <a:ext cx="1512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Lucida Sans" panose="020B0602030504020204" pitchFamily="34" charset="0"/>
              </a:rPr>
              <a:t>Precision</a:t>
            </a:r>
          </a:p>
        </p:txBody>
      </p:sp>
      <p:sp>
        <p:nvSpPr>
          <p:cNvPr id="97287" name="Rectangle 7"/>
          <p:cNvSpPr>
            <a:spLocks noChangeArrowheads="1"/>
          </p:cNvSpPr>
          <p:nvPr/>
        </p:nvSpPr>
        <p:spPr bwMode="auto">
          <a:xfrm>
            <a:off x="76200" y="1524000"/>
            <a:ext cx="3292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Lucida Sans" panose="020B0602030504020204" pitchFamily="34" charset="0"/>
              </a:rPr>
              <a:t>Returns relevant documents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Lucida Sans" panose="020B0602030504020204" pitchFamily="34" charset="0"/>
              </a:rPr>
              <a:t>But, miss many useful ones</a:t>
            </a:r>
          </a:p>
        </p:txBody>
      </p:sp>
      <p:sp>
        <p:nvSpPr>
          <p:cNvPr id="97288" name="Rectangle 8"/>
          <p:cNvSpPr>
            <a:spLocks noChangeArrowheads="1"/>
          </p:cNvSpPr>
          <p:nvPr/>
        </p:nvSpPr>
        <p:spPr bwMode="auto">
          <a:xfrm>
            <a:off x="6083300" y="5559425"/>
            <a:ext cx="2895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Lucida Sans" panose="020B0602030504020204" pitchFamily="34" charset="0"/>
              </a:rPr>
              <a:t>Returns mostly  relevant documents But, includes many junks too</a:t>
            </a:r>
          </a:p>
        </p:txBody>
      </p:sp>
      <p:sp>
        <p:nvSpPr>
          <p:cNvPr id="97289" name="Rectangle 9"/>
          <p:cNvSpPr>
            <a:spLocks noChangeArrowheads="1"/>
          </p:cNvSpPr>
          <p:nvPr/>
        </p:nvSpPr>
        <p:spPr bwMode="auto">
          <a:xfrm>
            <a:off x="8077200" y="1524000"/>
            <a:ext cx="89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Lucida Sans" panose="020B0602030504020204" pitchFamily="34" charset="0"/>
              </a:rPr>
              <a:t>Ideal</a:t>
            </a:r>
          </a:p>
        </p:txBody>
      </p:sp>
      <p:sp>
        <p:nvSpPr>
          <p:cNvPr id="97290" name="Oval 10"/>
          <p:cNvSpPr>
            <a:spLocks noChangeArrowheads="1"/>
          </p:cNvSpPr>
          <p:nvPr/>
        </p:nvSpPr>
        <p:spPr bwMode="auto">
          <a:xfrm>
            <a:off x="839788" y="1601788"/>
            <a:ext cx="911225" cy="68262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7291" name="Oval 11"/>
          <p:cNvSpPr>
            <a:spLocks noChangeArrowheads="1"/>
          </p:cNvSpPr>
          <p:nvPr/>
        </p:nvSpPr>
        <p:spPr bwMode="auto">
          <a:xfrm>
            <a:off x="7469188" y="5716588"/>
            <a:ext cx="911225" cy="68262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7292" name="Freeform 12"/>
          <p:cNvSpPr>
            <a:spLocks/>
          </p:cNvSpPr>
          <p:nvPr/>
        </p:nvSpPr>
        <p:spPr bwMode="auto">
          <a:xfrm>
            <a:off x="1219200" y="2057400"/>
            <a:ext cx="6480175" cy="3889375"/>
          </a:xfrm>
          <a:custGeom>
            <a:avLst/>
            <a:gdLst>
              <a:gd name="T0" fmla="*/ 0 w 4082"/>
              <a:gd name="T1" fmla="*/ 0 h 2450"/>
              <a:gd name="T2" fmla="*/ 2147483646 w 4082"/>
              <a:gd name="T3" fmla="*/ 2147483646 h 2450"/>
              <a:gd name="T4" fmla="*/ 2147483646 w 4082"/>
              <a:gd name="T5" fmla="*/ 2147483646 h 2450"/>
              <a:gd name="T6" fmla="*/ 2147483646 w 4082"/>
              <a:gd name="T7" fmla="*/ 2147483646 h 2450"/>
              <a:gd name="T8" fmla="*/ 2147483646 w 4082"/>
              <a:gd name="T9" fmla="*/ 2147483646 h 2450"/>
              <a:gd name="T10" fmla="*/ 2147483646 w 4082"/>
              <a:gd name="T11" fmla="*/ 2147483646 h 2450"/>
              <a:gd name="T12" fmla="*/ 2147483646 w 4082"/>
              <a:gd name="T13" fmla="*/ 2147483646 h 2450"/>
              <a:gd name="T14" fmla="*/ 2147483646 w 4082"/>
              <a:gd name="T15" fmla="*/ 2147483646 h 2450"/>
              <a:gd name="T16" fmla="*/ 2147483646 w 4082"/>
              <a:gd name="T17" fmla="*/ 2147483646 h 2450"/>
              <a:gd name="T18" fmla="*/ 2147483646 w 4082"/>
              <a:gd name="T19" fmla="*/ 2147483646 h 2450"/>
              <a:gd name="T20" fmla="*/ 2147483646 w 4082"/>
              <a:gd name="T21" fmla="*/ 2147483646 h 2450"/>
              <a:gd name="T22" fmla="*/ 2147483646 w 4082"/>
              <a:gd name="T23" fmla="*/ 2147483646 h 2450"/>
              <a:gd name="T24" fmla="*/ 2147483646 w 4082"/>
              <a:gd name="T25" fmla="*/ 2147483646 h 2450"/>
              <a:gd name="T26" fmla="*/ 2147483646 w 4082"/>
              <a:gd name="T27" fmla="*/ 2147483646 h 2450"/>
              <a:gd name="T28" fmla="*/ 2147483646 w 4082"/>
              <a:gd name="T29" fmla="*/ 2147483646 h 2450"/>
              <a:gd name="T30" fmla="*/ 2147483646 w 4082"/>
              <a:gd name="T31" fmla="*/ 2147483646 h 2450"/>
              <a:gd name="T32" fmla="*/ 2147483646 w 4082"/>
              <a:gd name="T33" fmla="*/ 2147483646 h 2450"/>
              <a:gd name="T34" fmla="*/ 2147483646 w 4082"/>
              <a:gd name="T35" fmla="*/ 2147483646 h 2450"/>
              <a:gd name="T36" fmla="*/ 2147483646 w 4082"/>
              <a:gd name="T37" fmla="*/ 2147483646 h 2450"/>
              <a:gd name="T38" fmla="*/ 2147483646 w 4082"/>
              <a:gd name="T39" fmla="*/ 2147483646 h 2450"/>
              <a:gd name="T40" fmla="*/ 2147483646 w 4082"/>
              <a:gd name="T41" fmla="*/ 2147483646 h 2450"/>
              <a:gd name="T42" fmla="*/ 2147483646 w 4082"/>
              <a:gd name="T43" fmla="*/ 2147483646 h 2450"/>
              <a:gd name="T44" fmla="*/ 2147483646 w 4082"/>
              <a:gd name="T45" fmla="*/ 2147483646 h 2450"/>
              <a:gd name="T46" fmla="*/ 2147483646 w 4082"/>
              <a:gd name="T47" fmla="*/ 2147483646 h 2450"/>
              <a:gd name="T48" fmla="*/ 2147483646 w 4082"/>
              <a:gd name="T49" fmla="*/ 2147483646 h 2450"/>
              <a:gd name="T50" fmla="*/ 2147483646 w 4082"/>
              <a:gd name="T51" fmla="*/ 2147483646 h 2450"/>
              <a:gd name="T52" fmla="*/ 2147483646 w 4082"/>
              <a:gd name="T53" fmla="*/ 2147483646 h 2450"/>
              <a:gd name="T54" fmla="*/ 2147483646 w 4082"/>
              <a:gd name="T55" fmla="*/ 2147483646 h 2450"/>
              <a:gd name="T56" fmla="*/ 2147483646 w 4082"/>
              <a:gd name="T57" fmla="*/ 2147483646 h 2450"/>
              <a:gd name="T58" fmla="*/ 2147483646 w 4082"/>
              <a:gd name="T59" fmla="*/ 2147483646 h 2450"/>
              <a:gd name="T60" fmla="*/ 2147483646 w 4082"/>
              <a:gd name="T61" fmla="*/ 2147483646 h 245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4082"/>
              <a:gd name="T94" fmla="*/ 0 h 2450"/>
              <a:gd name="T95" fmla="*/ 4082 w 4082"/>
              <a:gd name="T96" fmla="*/ 2450 h 2450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4082" h="2450">
                <a:moveTo>
                  <a:pt x="0" y="0"/>
                </a:moveTo>
                <a:lnTo>
                  <a:pt x="72" y="227"/>
                </a:lnTo>
                <a:lnTo>
                  <a:pt x="150" y="455"/>
                </a:lnTo>
                <a:lnTo>
                  <a:pt x="242" y="678"/>
                </a:lnTo>
                <a:lnTo>
                  <a:pt x="346" y="893"/>
                </a:lnTo>
                <a:lnTo>
                  <a:pt x="405" y="995"/>
                </a:lnTo>
                <a:lnTo>
                  <a:pt x="477" y="1097"/>
                </a:lnTo>
                <a:lnTo>
                  <a:pt x="548" y="1195"/>
                </a:lnTo>
                <a:lnTo>
                  <a:pt x="633" y="1289"/>
                </a:lnTo>
                <a:lnTo>
                  <a:pt x="725" y="1379"/>
                </a:lnTo>
                <a:lnTo>
                  <a:pt x="823" y="1469"/>
                </a:lnTo>
                <a:lnTo>
                  <a:pt x="934" y="1552"/>
                </a:lnTo>
                <a:lnTo>
                  <a:pt x="1058" y="1630"/>
                </a:lnTo>
                <a:lnTo>
                  <a:pt x="1123" y="1669"/>
                </a:lnTo>
                <a:lnTo>
                  <a:pt x="1201" y="1705"/>
                </a:lnTo>
                <a:lnTo>
                  <a:pt x="1365" y="1779"/>
                </a:lnTo>
                <a:lnTo>
                  <a:pt x="1548" y="1846"/>
                </a:lnTo>
                <a:lnTo>
                  <a:pt x="1743" y="1912"/>
                </a:lnTo>
                <a:lnTo>
                  <a:pt x="1959" y="1975"/>
                </a:lnTo>
                <a:lnTo>
                  <a:pt x="2181" y="2034"/>
                </a:lnTo>
                <a:lnTo>
                  <a:pt x="2638" y="2143"/>
                </a:lnTo>
                <a:lnTo>
                  <a:pt x="2860" y="2190"/>
                </a:lnTo>
                <a:lnTo>
                  <a:pt x="3082" y="2237"/>
                </a:lnTo>
                <a:lnTo>
                  <a:pt x="3291" y="2281"/>
                </a:lnTo>
                <a:lnTo>
                  <a:pt x="3493" y="2320"/>
                </a:lnTo>
                <a:lnTo>
                  <a:pt x="3676" y="2359"/>
                </a:lnTo>
                <a:lnTo>
                  <a:pt x="3833" y="2390"/>
                </a:lnTo>
                <a:lnTo>
                  <a:pt x="3905" y="2406"/>
                </a:lnTo>
                <a:lnTo>
                  <a:pt x="3970" y="2422"/>
                </a:lnTo>
                <a:lnTo>
                  <a:pt x="4029" y="2437"/>
                </a:lnTo>
                <a:lnTo>
                  <a:pt x="4081" y="244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5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Model Evaluation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Metrics for Performance Evaluation</a:t>
            </a:r>
          </a:p>
          <a:p>
            <a:pPr lvl="1" eaLnBrk="1" hangingPunct="1">
              <a:defRPr/>
            </a:pPr>
            <a:r>
              <a:rPr lang="en-US" dirty="0" smtClean="0"/>
              <a:t>How to evaluate the performance of a model?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</a:rPr>
              <a:t>Methods for Performance Evaluation</a:t>
            </a:r>
          </a:p>
          <a:p>
            <a:pPr lvl="1" eaLnBrk="1" hangingPunct="1">
              <a:defRPr/>
            </a:pPr>
            <a:r>
              <a:rPr lang="en-US" dirty="0" smtClean="0"/>
              <a:t>How to obtain reliable estimates?</a:t>
            </a:r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Methods for Model Comparison</a:t>
            </a:r>
          </a:p>
          <a:p>
            <a:pPr lvl="1" eaLnBrk="1" hangingPunct="1">
              <a:defRPr/>
            </a:pPr>
            <a:r>
              <a:rPr lang="en-US" dirty="0" smtClean="0"/>
              <a:t>How to compare the relative performance among competing models?</a:t>
            </a:r>
          </a:p>
        </p:txBody>
      </p:sp>
    </p:spTree>
    <p:extLst>
      <p:ext uri="{BB962C8B-B14F-4D97-AF65-F5344CB8AC3E}">
        <p14:creationId xmlns:p14="http://schemas.microsoft.com/office/powerpoint/2010/main" val="19255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Methods for Performance Evaluation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How to obtain a reliable estimate of performance?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Performance of a model may depend on other factors besides the learning algorithm:</a:t>
            </a:r>
          </a:p>
          <a:p>
            <a:pPr lvl="1" eaLnBrk="1" hangingPunct="1">
              <a:defRPr/>
            </a:pPr>
            <a:r>
              <a:rPr lang="en-US" dirty="0" smtClean="0"/>
              <a:t>Class distribution</a:t>
            </a:r>
          </a:p>
          <a:p>
            <a:pPr lvl="1" eaLnBrk="1" hangingPunct="1">
              <a:defRPr/>
            </a:pPr>
            <a:r>
              <a:rPr lang="en-US" dirty="0" smtClean="0"/>
              <a:t>Cost of misclassification</a:t>
            </a:r>
          </a:p>
          <a:p>
            <a:pPr lvl="1" eaLnBrk="1" hangingPunct="1">
              <a:defRPr/>
            </a:pPr>
            <a:r>
              <a:rPr lang="en-US" dirty="0" smtClean="0"/>
              <a:t>Size of training and test sets</a:t>
            </a:r>
          </a:p>
        </p:txBody>
      </p:sp>
    </p:spTree>
    <p:extLst>
      <p:ext uri="{BB962C8B-B14F-4D97-AF65-F5344CB8AC3E}">
        <p14:creationId xmlns:p14="http://schemas.microsoft.com/office/powerpoint/2010/main" val="403433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Methods of Estimation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80438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Holdout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Reserve 2/3 for training and 1/3 for testing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Random subsampling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Repeated holdout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Cross validation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Partition data into k disjoint subsets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k-fold: train on k-1 partitions, test on the remaining one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Leave-one-out:   k=n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Stratified sampling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oversampling vs undersampling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Bootstrap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Sampling with replacement</a:t>
            </a:r>
          </a:p>
        </p:txBody>
      </p:sp>
    </p:spTree>
    <p:extLst>
      <p:ext uri="{BB962C8B-B14F-4D97-AF65-F5344CB8AC3E}">
        <p14:creationId xmlns:p14="http://schemas.microsoft.com/office/powerpoint/2010/main" val="97936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5758</TotalTime>
  <Words>2412</Words>
  <Application>Microsoft Office PowerPoint</Application>
  <PresentationFormat>On-screen Show (4:3)</PresentationFormat>
  <Paragraphs>690</Paragraphs>
  <Slides>47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Arial</vt:lpstr>
      <vt:lpstr>Calibri</vt:lpstr>
      <vt:lpstr>Lucida Sans</vt:lpstr>
      <vt:lpstr>Monotype Sorts</vt:lpstr>
      <vt:lpstr>Symbol</vt:lpstr>
      <vt:lpstr>Tahoma</vt:lpstr>
      <vt:lpstr>Times New Roman</vt:lpstr>
      <vt:lpstr>Wingdings</vt:lpstr>
      <vt:lpstr>Blank</vt:lpstr>
      <vt:lpstr>VISIO</vt:lpstr>
      <vt:lpstr>Worksheet</vt:lpstr>
      <vt:lpstr>Document</vt:lpstr>
      <vt:lpstr>Equation</vt:lpstr>
      <vt:lpstr>Classification</vt:lpstr>
      <vt:lpstr>PowerPoint Presentation</vt:lpstr>
      <vt:lpstr>Underfitting and Overfitting (Example)</vt:lpstr>
      <vt:lpstr>Underfitting and Overfitting</vt:lpstr>
      <vt:lpstr>PowerPoint Presentation</vt:lpstr>
      <vt:lpstr>PowerPoint Presentation</vt:lpstr>
      <vt:lpstr>PowerPoint Presentation</vt:lpstr>
      <vt:lpstr>Occam’s Razor</vt:lpstr>
      <vt:lpstr>PowerPoint Presentation</vt:lpstr>
      <vt:lpstr>PowerPoint Presentation</vt:lpstr>
      <vt:lpstr>PowerPoint Presentation</vt:lpstr>
      <vt:lpstr>Overfitting due to Noise </vt:lpstr>
      <vt:lpstr>PowerPoint Presentation</vt:lpstr>
      <vt:lpstr>PowerPoint Presentation</vt:lpstr>
      <vt:lpstr>PowerPoint Presentation</vt:lpstr>
      <vt:lpstr>Overfitting due to Insufficient Examples</vt:lpstr>
      <vt:lpstr>PowerPoint Presentation</vt:lpstr>
      <vt:lpstr>PowerPoint Presentation</vt:lpstr>
      <vt:lpstr>Estimating Generalization Errors</vt:lpstr>
      <vt:lpstr>PowerPoint Presentation</vt:lpstr>
      <vt:lpstr>Minimum Description Length (MDL)</vt:lpstr>
      <vt:lpstr>PowerPoint Presentation</vt:lpstr>
      <vt:lpstr>PowerPoint Presentation</vt:lpstr>
      <vt:lpstr>PowerPoint Presentation</vt:lpstr>
      <vt:lpstr>Notes on Overfitting</vt:lpstr>
      <vt:lpstr>How to Address Overfitting</vt:lpstr>
      <vt:lpstr>How to Address Overfitting…</vt:lpstr>
      <vt:lpstr>Example of Post-Pruning</vt:lpstr>
      <vt:lpstr>PowerPoint Presentation</vt:lpstr>
      <vt:lpstr>PowerPoint Presentation</vt:lpstr>
      <vt:lpstr>PowerPoint Presentation</vt:lpstr>
      <vt:lpstr>Handling Missing Attribute Values</vt:lpstr>
      <vt:lpstr>Computing Impurity Measure</vt:lpstr>
      <vt:lpstr>Distribute Instances</vt:lpstr>
      <vt:lpstr>Classify Instances</vt:lpstr>
      <vt:lpstr>Model Evaluation</vt:lpstr>
      <vt:lpstr>Model Evaluation</vt:lpstr>
      <vt:lpstr>Metrics for Performance Evaluation</vt:lpstr>
      <vt:lpstr>Metrics for Performance Evaluation…</vt:lpstr>
      <vt:lpstr>Limitation of Accuracy</vt:lpstr>
      <vt:lpstr>Cost Matrix</vt:lpstr>
      <vt:lpstr>Computing Cost of Classification</vt:lpstr>
      <vt:lpstr>Cost-Sensitive Measures</vt:lpstr>
      <vt:lpstr>Relationship between Recall and Precision</vt:lpstr>
      <vt:lpstr>Model Evaluation</vt:lpstr>
      <vt:lpstr>Methods for Performance Evaluation</vt:lpstr>
      <vt:lpstr>Methods of Estimation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245</cp:revision>
  <cp:lastPrinted>1601-01-01T00:00:00Z</cp:lastPrinted>
  <dcterms:created xsi:type="dcterms:W3CDTF">1601-01-01T00:00:00Z</dcterms:created>
  <dcterms:modified xsi:type="dcterms:W3CDTF">2018-02-12T10:21:58Z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