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1"/>
  </p:notesMasterIdLst>
  <p:sldIdLst>
    <p:sldId id="256" r:id="rId2"/>
    <p:sldId id="347" r:id="rId3"/>
    <p:sldId id="348" r:id="rId4"/>
    <p:sldId id="315" r:id="rId5"/>
    <p:sldId id="344" r:id="rId6"/>
    <p:sldId id="345" r:id="rId7"/>
    <p:sldId id="312" r:id="rId8"/>
    <p:sldId id="313" r:id="rId9"/>
    <p:sldId id="314" r:id="rId10"/>
    <p:sldId id="281" r:id="rId11"/>
    <p:sldId id="282" r:id="rId12"/>
    <p:sldId id="283" r:id="rId13"/>
    <p:sldId id="316" r:id="rId14"/>
    <p:sldId id="342" r:id="rId15"/>
    <p:sldId id="285" r:id="rId16"/>
    <p:sldId id="349" r:id="rId17"/>
    <p:sldId id="350" r:id="rId18"/>
    <p:sldId id="286" r:id="rId19"/>
    <p:sldId id="287" r:id="rId20"/>
    <p:sldId id="351" r:id="rId21"/>
    <p:sldId id="352" r:id="rId22"/>
    <p:sldId id="353" r:id="rId23"/>
    <p:sldId id="343" r:id="rId24"/>
    <p:sldId id="290" r:id="rId25"/>
    <p:sldId id="291" r:id="rId26"/>
    <p:sldId id="292" r:id="rId27"/>
    <p:sldId id="295" r:id="rId28"/>
    <p:sldId id="296" r:id="rId29"/>
    <p:sldId id="346" r:id="rId30"/>
    <p:sldId id="300" r:id="rId31"/>
    <p:sldId id="301" r:id="rId32"/>
    <p:sldId id="303" r:id="rId33"/>
    <p:sldId id="304" r:id="rId34"/>
    <p:sldId id="305" r:id="rId35"/>
    <p:sldId id="337" r:id="rId36"/>
    <p:sldId id="338" r:id="rId37"/>
    <p:sldId id="339" r:id="rId38"/>
    <p:sldId id="340" r:id="rId39"/>
    <p:sldId id="341" r:id="rId40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5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9.wmf"/><Relationship Id="rId2" Type="http://schemas.openxmlformats.org/officeDocument/2006/relationships/image" Target="../media/image35.wmf"/><Relationship Id="rId1" Type="http://schemas.openxmlformats.org/officeDocument/2006/relationships/image" Target="../media/image34.emf"/><Relationship Id="rId6" Type="http://schemas.openxmlformats.org/officeDocument/2006/relationships/image" Target="../media/image38.wmf"/><Relationship Id="rId5" Type="http://schemas.openxmlformats.org/officeDocument/2006/relationships/image" Target="../media/image1.emf"/><Relationship Id="rId4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94927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A7025-B4A2-48F7-A60C-4CF2B963C5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32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31810-C970-49DB-B4AD-2A99C242AE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5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  <p:sldLayoutId id="2147484072" r:id="rId13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0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5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2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3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.emf"/><Relationship Id="rId5" Type="http://schemas.openxmlformats.org/officeDocument/2006/relationships/oleObject" Target="../embeddings/Microsoft_Word_97_-_2003_Document1.doc"/><Relationship Id="rId4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2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9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37.w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38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Decision </a:t>
            </a:r>
            <a:r>
              <a:rPr lang="en-US" dirty="0"/>
              <a:t>Tree </a:t>
            </a:r>
            <a:r>
              <a:rPr lang="en-US" dirty="0" smtClean="0"/>
              <a:t>Induction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Best Split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Measures of Node Impurity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609600" y="1447800"/>
            <a:ext cx="7924800" cy="3733800"/>
            <a:chOff x="384" y="1344"/>
            <a:chExt cx="4992" cy="2352"/>
          </a:xfrm>
        </p:grpSpPr>
        <p:sp>
          <p:nvSpPr>
            <p:cNvPr id="11267" name="Oval 3"/>
            <p:cNvSpPr>
              <a:spLocks noChangeArrowheads="1"/>
            </p:cNvSpPr>
            <p:nvPr/>
          </p:nvSpPr>
          <p:spPr bwMode="auto">
            <a:xfrm>
              <a:off x="384" y="1440"/>
              <a:ext cx="1776" cy="720"/>
            </a:xfrm>
            <a:prstGeom prst="ellipse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" panose="02020603050405020304" pitchFamily="18" charset="0"/>
                </a:rPr>
                <a:t>Training data:  </a:t>
              </a:r>
              <a:r>
                <a:rPr lang="en-US" altLang="en-US" i="1">
                  <a:latin typeface="Times" panose="02020603050405020304" pitchFamily="18" charset="0"/>
                </a:rPr>
                <a:t>X</a:t>
              </a:r>
            </a:p>
          </p:txBody>
        </p:sp>
        <p:grpSp>
          <p:nvGrpSpPr>
            <p:cNvPr id="11268" name="Group 4"/>
            <p:cNvGrpSpPr>
              <a:grpSpLocks/>
            </p:cNvGrpSpPr>
            <p:nvPr/>
          </p:nvGrpSpPr>
          <p:grpSpPr bwMode="auto">
            <a:xfrm>
              <a:off x="2352" y="1344"/>
              <a:ext cx="2496" cy="720"/>
              <a:chOff x="2352" y="1344"/>
              <a:chExt cx="2496" cy="720"/>
            </a:xfrm>
          </p:grpSpPr>
          <p:sp>
            <p:nvSpPr>
              <p:cNvPr id="11269" name="AutoShape 5"/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912" cy="192"/>
              </a:xfrm>
              <a:prstGeom prst="rightArrow">
                <a:avLst>
                  <a:gd name="adj1" fmla="val 50000"/>
                  <a:gd name="adj2" fmla="val 1187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1296" cy="48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>
                    <a:latin typeface="Times" panose="02020603050405020304" pitchFamily="18" charset="0"/>
                  </a:rPr>
                  <a:t>Class labels Y</a:t>
                </a:r>
              </a:p>
            </p:txBody>
          </p:sp>
          <p:sp>
            <p:nvSpPr>
              <p:cNvPr id="11271" name="Text Box 7"/>
              <p:cNvSpPr txBox="1">
                <a:spLocks noChangeArrowheads="1"/>
              </p:cNvSpPr>
              <p:nvPr/>
            </p:nvSpPr>
            <p:spPr bwMode="auto">
              <a:xfrm>
                <a:off x="2544" y="1344"/>
                <a:ext cx="4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i="1">
                    <a:latin typeface="Times" panose="02020603050405020304" pitchFamily="18" charset="0"/>
                  </a:rPr>
                  <a:t>f(X)</a:t>
                </a:r>
              </a:p>
            </p:txBody>
          </p:sp>
        </p:grpSp>
        <p:sp>
          <p:nvSpPr>
            <p:cNvPr id="11272" name="Text Box 8"/>
            <p:cNvSpPr txBox="1">
              <a:spLocks noChangeArrowheads="1"/>
            </p:cNvSpPr>
            <p:nvPr/>
          </p:nvSpPr>
          <p:spPr bwMode="auto">
            <a:xfrm>
              <a:off x="1440" y="2352"/>
              <a:ext cx="29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" panose="02020603050405020304" pitchFamily="18" charset="0"/>
                </a:rPr>
                <a:t>A classifier, a mapping, a hypothesis</a:t>
              </a:r>
            </a:p>
          </p:txBody>
        </p:sp>
        <p:sp>
          <p:nvSpPr>
            <p:cNvPr id="11273" name="Oval 9"/>
            <p:cNvSpPr>
              <a:spLocks noChangeArrowheads="1"/>
            </p:cNvSpPr>
            <p:nvPr/>
          </p:nvSpPr>
          <p:spPr bwMode="auto">
            <a:xfrm>
              <a:off x="432" y="2976"/>
              <a:ext cx="1776" cy="720"/>
            </a:xfrm>
            <a:prstGeom prst="ellipse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" panose="02020603050405020304" pitchFamily="18" charset="0"/>
                </a:rPr>
                <a:t>Test data:  </a:t>
              </a:r>
              <a:r>
                <a:rPr lang="en-US" altLang="en-US" i="1">
                  <a:latin typeface="Times" panose="02020603050405020304" pitchFamily="18" charset="0"/>
                </a:rPr>
                <a:t>U</a:t>
              </a:r>
            </a:p>
          </p:txBody>
        </p:sp>
        <p:sp>
          <p:nvSpPr>
            <p:cNvPr id="11274" name="AutoShape 10"/>
            <p:cNvSpPr>
              <a:spLocks noChangeArrowheads="1"/>
            </p:cNvSpPr>
            <p:nvPr/>
          </p:nvSpPr>
          <p:spPr bwMode="auto">
            <a:xfrm>
              <a:off x="2400" y="3264"/>
              <a:ext cx="912" cy="192"/>
            </a:xfrm>
            <a:prstGeom prst="rightArrow">
              <a:avLst>
                <a:gd name="adj1" fmla="val 50000"/>
                <a:gd name="adj2" fmla="val 1187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Rectangle 11"/>
            <p:cNvSpPr>
              <a:spLocks noChangeArrowheads="1"/>
            </p:cNvSpPr>
            <p:nvPr/>
          </p:nvSpPr>
          <p:spPr bwMode="auto">
            <a:xfrm>
              <a:off x="3504" y="3120"/>
              <a:ext cx="1872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" panose="02020603050405020304" pitchFamily="18" charset="0"/>
                </a:rPr>
                <a:t>Predicted class labels</a:t>
              </a:r>
            </a:p>
          </p:txBody>
        </p:sp>
        <p:sp>
          <p:nvSpPr>
            <p:cNvPr id="11276" name="Text Box 12"/>
            <p:cNvSpPr txBox="1">
              <a:spLocks noChangeArrowheads="1"/>
            </p:cNvSpPr>
            <p:nvPr/>
          </p:nvSpPr>
          <p:spPr bwMode="auto">
            <a:xfrm>
              <a:off x="2592" y="2880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>
                  <a:latin typeface="Times" panose="02020603050405020304" pitchFamily="18" charset="0"/>
                </a:rPr>
                <a:t>f(U)</a:t>
              </a:r>
            </a:p>
          </p:txBody>
        </p:sp>
      </p:grpSp>
      <p:sp>
        <p:nvSpPr>
          <p:cNvPr id="1128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27860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9" name="Group 21"/>
          <p:cNvGrpSpPr>
            <a:grpSpLocks/>
          </p:cNvGrpSpPr>
          <p:nvPr/>
        </p:nvGrpSpPr>
        <p:grpSpPr bwMode="auto">
          <a:xfrm>
            <a:off x="288925" y="1981200"/>
            <a:ext cx="8474075" cy="3276600"/>
            <a:chOff x="182" y="1248"/>
            <a:chExt cx="5338" cy="2064"/>
          </a:xfrm>
        </p:grpSpPr>
        <p:sp>
          <p:nvSpPr>
            <p:cNvPr id="12291" name="Text Box 3"/>
            <p:cNvSpPr txBox="1">
              <a:spLocks noChangeArrowheads="1"/>
            </p:cNvSpPr>
            <p:nvPr/>
          </p:nvSpPr>
          <p:spPr bwMode="auto">
            <a:xfrm>
              <a:off x="1296" y="1920"/>
              <a:ext cx="3072" cy="12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11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12</a:t>
              </a:r>
              <a:r>
                <a:rPr kumimoji="1" lang="en-US" altLang="en-US">
                  <a:latin typeface="Times" panose="02020603050405020304" pitchFamily="18" charset="0"/>
                </a:rPr>
                <a:t> 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13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14</a:t>
              </a:r>
              <a:r>
                <a:rPr kumimoji="1" lang="en-US" altLang="en-US">
                  <a:latin typeface="Times" panose="02020603050405020304" pitchFamily="18" charset="0"/>
                </a:rPr>
                <a:t>   …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1n</a:t>
              </a:r>
              <a:endParaRPr kumimoji="1" lang="en-US" altLang="en-US">
                <a:latin typeface="Times" panose="02020603050405020304" pitchFamily="18" charset="0"/>
              </a:endParaRP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21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22</a:t>
              </a:r>
              <a:r>
                <a:rPr kumimoji="1" lang="en-US" altLang="en-US">
                  <a:latin typeface="Times" panose="02020603050405020304" pitchFamily="18" charset="0"/>
                </a:rPr>
                <a:t> 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23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24</a:t>
              </a:r>
              <a:r>
                <a:rPr kumimoji="1" lang="en-US" altLang="en-US">
                  <a:latin typeface="Times" panose="02020603050405020304" pitchFamily="18" charset="0"/>
                </a:rPr>
                <a:t>   …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2n</a:t>
              </a:r>
              <a:endParaRPr kumimoji="1" lang="en-US" altLang="en-US">
                <a:latin typeface="Times" panose="02020603050405020304" pitchFamily="18" charset="0"/>
              </a:endParaRP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31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32</a:t>
              </a:r>
              <a:r>
                <a:rPr kumimoji="1" lang="en-US" altLang="en-US">
                  <a:latin typeface="Times" panose="02020603050405020304" pitchFamily="18" charset="0"/>
                </a:rPr>
                <a:t> 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33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34</a:t>
              </a:r>
              <a:r>
                <a:rPr kumimoji="1" lang="en-US" altLang="en-US">
                  <a:latin typeface="Times" panose="02020603050405020304" pitchFamily="18" charset="0"/>
                </a:rPr>
                <a:t>   …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3n</a:t>
              </a:r>
              <a:endParaRPr kumimoji="1" lang="en-US" altLang="en-US">
                <a:latin typeface="Times" panose="02020603050405020304" pitchFamily="18" charset="0"/>
              </a:endParaRP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    ………………………………….</a:t>
              </a: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m1</a:t>
              </a:r>
              <a:r>
                <a:rPr kumimoji="1" lang="en-US" altLang="en-US">
                  <a:latin typeface="Times" panose="02020603050405020304" pitchFamily="18" charset="0"/>
                </a:rPr>
                <a:t>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m2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m3</a:t>
              </a:r>
              <a:r>
                <a:rPr kumimoji="1" lang="en-US" altLang="en-US">
                  <a:latin typeface="Times" panose="02020603050405020304" pitchFamily="18" charset="0"/>
                </a:rPr>
                <a:t> 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m4</a:t>
              </a:r>
              <a:r>
                <a:rPr kumimoji="1" lang="en-US" altLang="en-US">
                  <a:latin typeface="Times" panose="02020603050405020304" pitchFamily="18" charset="0"/>
                </a:rPr>
                <a:t>   …      x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mn</a:t>
              </a:r>
              <a:endParaRPr kumimoji="1"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12292" name="Text Box 4"/>
            <p:cNvSpPr txBox="1">
              <a:spLocks noChangeArrowheads="1"/>
            </p:cNvSpPr>
            <p:nvPr/>
          </p:nvSpPr>
          <p:spPr bwMode="auto">
            <a:xfrm>
              <a:off x="1824" y="1248"/>
              <a:ext cx="2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en-US" i="1">
                  <a:latin typeface="Times" panose="02020603050405020304" pitchFamily="18" charset="0"/>
                </a:rPr>
                <a:t>n</a:t>
              </a:r>
              <a:r>
                <a:rPr kumimoji="1" lang="en-US" altLang="en-US">
                  <a:latin typeface="Times" panose="02020603050405020304" pitchFamily="18" charset="0"/>
                </a:rPr>
                <a:t> features (</a:t>
              </a:r>
              <a:r>
                <a:rPr kumimoji="1" lang="en-US" altLang="en-US">
                  <a:solidFill>
                    <a:srgbClr val="FF0000"/>
                  </a:solidFill>
                  <a:latin typeface="Times" panose="02020603050405020304" pitchFamily="18" charset="0"/>
                </a:rPr>
                <a:t>order of 1000</a:t>
              </a:r>
              <a:r>
                <a:rPr kumimoji="1" lang="en-US" altLang="en-US">
                  <a:latin typeface="Times" panose="02020603050405020304" pitchFamily="18" charset="0"/>
                </a:rPr>
                <a:t>)</a:t>
              </a:r>
            </a:p>
          </p:txBody>
        </p:sp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182" y="2283"/>
              <a:ext cx="9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en-US" i="1">
                  <a:latin typeface="Times" panose="02020603050405020304" pitchFamily="18" charset="0"/>
                </a:rPr>
                <a:t>m</a:t>
              </a:r>
              <a:r>
                <a:rPr kumimoji="1" lang="en-US" altLang="en-US">
                  <a:latin typeface="Times" panose="02020603050405020304" pitchFamily="18" charset="0"/>
                </a:rPr>
                <a:t> samples</a:t>
              </a:r>
            </a:p>
          </p:txBody>
        </p:sp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4368" y="1488"/>
              <a:ext cx="4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class</a:t>
              </a:r>
            </a:p>
          </p:txBody>
        </p:sp>
        <p:sp>
          <p:nvSpPr>
            <p:cNvPr id="12295" name="Text Box 7"/>
            <p:cNvSpPr txBox="1">
              <a:spLocks noChangeArrowheads="1"/>
            </p:cNvSpPr>
            <p:nvPr/>
          </p:nvSpPr>
          <p:spPr bwMode="auto">
            <a:xfrm>
              <a:off x="4512" y="1968"/>
              <a:ext cx="255" cy="1208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P</a:t>
              </a: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N</a:t>
              </a: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P</a:t>
              </a:r>
            </a:p>
            <a:p>
              <a:pPr eaLnBrk="1" hangingPunct="1"/>
              <a:endParaRPr kumimoji="1" lang="en-US" altLang="en-US">
                <a:latin typeface="Times" panose="02020603050405020304" pitchFamily="18" charset="0"/>
              </a:endParaRPr>
            </a:p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N</a:t>
              </a:r>
            </a:p>
          </p:txBody>
        </p:sp>
        <p:sp>
          <p:nvSpPr>
            <p:cNvPr id="12296" name="Text Box 8"/>
            <p:cNvSpPr txBox="1">
              <a:spLocks noChangeArrowheads="1"/>
            </p:cNvSpPr>
            <p:nvPr/>
          </p:nvSpPr>
          <p:spPr bwMode="auto">
            <a:xfrm>
              <a:off x="1238" y="1563"/>
              <a:ext cx="3110" cy="288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en-US">
                  <a:latin typeface="Times" panose="02020603050405020304" pitchFamily="18" charset="0"/>
                </a:rPr>
                <a:t>gene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1</a:t>
              </a:r>
              <a:r>
                <a:rPr kumimoji="1" lang="en-US" altLang="en-US">
                  <a:latin typeface="Times" panose="02020603050405020304" pitchFamily="18" charset="0"/>
                </a:rPr>
                <a:t>   gene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2</a:t>
              </a:r>
              <a:r>
                <a:rPr kumimoji="1" lang="en-US" altLang="en-US">
                  <a:latin typeface="Times" panose="02020603050405020304" pitchFamily="18" charset="0"/>
                </a:rPr>
                <a:t>   gene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3</a:t>
              </a:r>
              <a:r>
                <a:rPr kumimoji="1" lang="en-US" altLang="en-US">
                  <a:latin typeface="Times" panose="02020603050405020304" pitchFamily="18" charset="0"/>
                </a:rPr>
                <a:t>  gene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4</a:t>
              </a:r>
              <a:r>
                <a:rPr kumimoji="1" lang="en-US" altLang="en-US">
                  <a:latin typeface="Times" panose="02020603050405020304" pitchFamily="18" charset="0"/>
                </a:rPr>
                <a:t>   …   gene</a:t>
              </a:r>
              <a:r>
                <a:rPr kumimoji="1" lang="en-US" altLang="en-US" baseline="-25000">
                  <a:latin typeface="Times" panose="02020603050405020304" pitchFamily="18" charset="0"/>
                </a:rPr>
                <a:t>n</a:t>
              </a:r>
              <a:endParaRPr kumimoji="1"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>
              <a:off x="1104" y="1872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>
              <a:off x="4416" y="1536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432" y="3168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>
              <a:off x="441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4416" y="23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>
              <a:off x="4416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>
              <a:off x="4416" y="30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>
              <a:off x="1248" y="153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30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Relational Representation </a:t>
            </a:r>
            <a:br>
              <a:rPr lang="en-US" altLang="en-US"/>
            </a:br>
            <a:r>
              <a:rPr lang="en-US" altLang="en-US"/>
              <a:t>of Gene Expression Data</a:t>
            </a:r>
          </a:p>
        </p:txBody>
      </p:sp>
    </p:spTree>
    <p:extLst>
      <p:ext uri="{BB962C8B-B14F-4D97-AF65-F5344CB8AC3E}">
        <p14:creationId xmlns:p14="http://schemas.microsoft.com/office/powerpoint/2010/main" val="39503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en-US" altLang="zh-CN" sz="4000">
                <a:latin typeface="Times New Roman" panose="02020603050405020304" pitchFamily="18" charset="0"/>
              </a:rPr>
              <a:t>Algorithm for Decision Tree Induction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zh-CN" sz="2200">
                <a:latin typeface="Times New Roman" panose="02020603050405020304" pitchFamily="18" charset="0"/>
              </a:rPr>
              <a:t>Basic algorithm (a greedy algorithm)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Tree is constructed in a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top-down recursive divide-and-conquer manner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At start, all the training examples are at the root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Attributes are categorical (if continuous-valued, they are discretized in advance)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Examples are partitioned recursively based on selected attributes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Test attributes are selected on the basis of a heuristic or statistical measure (e.g.,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information gain</a:t>
            </a:r>
            <a:r>
              <a:rPr lang="en-US" altLang="zh-CN" sz="220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2200">
                <a:latin typeface="Times New Roman" panose="02020603050405020304" pitchFamily="18" charset="0"/>
              </a:rPr>
              <a:t>Conditions for stopping partitioning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All samples for a given node belong to the same class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There are no remaining attributes for further partitioning –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majority voting</a:t>
            </a:r>
            <a:r>
              <a:rPr lang="en-US" altLang="zh-CN" sz="2200">
                <a:latin typeface="Times New Roman" panose="02020603050405020304" pitchFamily="18" charset="0"/>
              </a:rPr>
              <a:t> is employed for classifying the leaf</a:t>
            </a:r>
          </a:p>
          <a:p>
            <a:pPr lvl="1">
              <a:spcBef>
                <a:spcPct val="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There are no samples left</a:t>
            </a:r>
          </a:p>
        </p:txBody>
      </p:sp>
    </p:spTree>
    <p:extLst>
      <p:ext uri="{BB962C8B-B14F-4D97-AF65-F5344CB8AC3E}">
        <p14:creationId xmlns:p14="http://schemas.microsoft.com/office/powerpoint/2010/main" val="158449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FA59-EBFF-44A4-B311-98FE26BD463A}" type="datetime4">
              <a:rPr lang="en-US" altLang="en-US"/>
              <a:pPr/>
              <a:t>February 7, 2018</a:t>
            </a:fld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A9644-582E-4022-91FB-753907B144A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40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r>
              <a:rPr lang="en-US" altLang="en-US" sz="3200"/>
              <a:t>Decision Tree Induction: Training Dataset</a:t>
            </a:r>
          </a:p>
        </p:txBody>
      </p:sp>
      <p:graphicFrame>
        <p:nvGraphicFramePr>
          <p:cNvPr id="1408003" name="Object 3"/>
          <p:cNvGraphicFramePr>
            <a:graphicFrameLocks/>
          </p:cNvGraphicFramePr>
          <p:nvPr>
            <p:ph type="body" idx="1"/>
          </p:nvPr>
        </p:nvGraphicFramePr>
        <p:xfrm>
          <a:off x="2133600" y="1524000"/>
          <a:ext cx="6629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Worksheet" r:id="rId3" imgW="6115431" imgH="4458208" progId="Excel.Sheet.8">
                  <p:embed/>
                </p:oleObj>
              </mc:Choice>
              <mc:Fallback>
                <p:oleObj name="Worksheet" r:id="rId3" imgW="6115431" imgH="445820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24000"/>
                        <a:ext cx="6629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1193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DFF8-84EB-4B99-91A4-A02FB10A9169}" type="datetime4">
              <a:rPr lang="en-US" altLang="en-US"/>
              <a:pPr/>
              <a:t>February 7, 2018</a:t>
            </a:fld>
            <a:endParaRPr lang="en-US" altLang="en-US"/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B805-753F-4E95-B5F1-8DEDFF92160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8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2800">
                <a:solidFill>
                  <a:srgbClr val="170981"/>
                </a:solidFill>
              </a:rPr>
              <a:t>Output: A Decision Tree for “</a:t>
            </a:r>
            <a:r>
              <a:rPr lang="en-US" altLang="en-US" sz="2800" i="1">
                <a:solidFill>
                  <a:srgbClr val="170981"/>
                </a:solidFill>
              </a:rPr>
              <a:t>buys_computer”</a:t>
            </a:r>
          </a:p>
        </p:txBody>
      </p:sp>
      <p:grpSp>
        <p:nvGrpSpPr>
          <p:cNvPr id="1288255" name="Group 63"/>
          <p:cNvGrpSpPr>
            <a:grpSpLocks/>
          </p:cNvGrpSpPr>
          <p:nvPr/>
        </p:nvGrpSpPr>
        <p:grpSpPr bwMode="auto">
          <a:xfrm>
            <a:off x="1219200" y="1828800"/>
            <a:ext cx="6305550" cy="3810000"/>
            <a:chOff x="768" y="1152"/>
            <a:chExt cx="3972" cy="2400"/>
          </a:xfrm>
        </p:grpSpPr>
        <p:sp>
          <p:nvSpPr>
            <p:cNvPr id="1288195" name="Rectangle 3"/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1288196" name="Rectangle 4"/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1288197" name="Rectangle 5"/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1288198" name="Rectangle 6"/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1288203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4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5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6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88207" name="Rectangle 15"/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88208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9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0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1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6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7" name="Rectangle 25"/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88219" name="Rectangle 27"/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0" name="Rectangle 28"/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1" name="Rectangle 29"/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2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88254" name="Rectangle 62"/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88201" name="Rectangle 9"/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1288202" name="Rectangle 10"/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1288200" name="Rectangle 8"/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199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288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BD5E-918B-4B59-A740-57B10236D9C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Tree Classification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8153400" cy="4608513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A decision tree is created in two phases:</a:t>
            </a:r>
          </a:p>
          <a:p>
            <a:pPr lvl="1"/>
            <a:r>
              <a:rPr lang="en-US" altLang="en-US" sz="2400" dirty="0"/>
              <a:t>Tree Building Phase</a:t>
            </a:r>
          </a:p>
          <a:p>
            <a:pPr lvl="2"/>
            <a:r>
              <a:rPr lang="en-US" altLang="en-US" sz="2200" dirty="0"/>
              <a:t>Repeatedly partition the training data until all the examples in each partition belong to one class or the partition is sufficiently small</a:t>
            </a:r>
          </a:p>
          <a:p>
            <a:pPr lvl="1"/>
            <a:r>
              <a:rPr lang="en-US" altLang="en-US" sz="2400" dirty="0"/>
              <a:t>Tree Pruning Phase </a:t>
            </a:r>
          </a:p>
          <a:p>
            <a:pPr lvl="2"/>
            <a:r>
              <a:rPr lang="en-US" altLang="en-US" sz="2200" dirty="0"/>
              <a:t>Remove dependency on statistical noise or variation that may be particular only to the training set</a:t>
            </a:r>
          </a:p>
        </p:txBody>
      </p:sp>
    </p:spTree>
    <p:extLst>
      <p:ext uri="{BB962C8B-B14F-4D97-AF65-F5344CB8AC3E}">
        <p14:creationId xmlns:p14="http://schemas.microsoft.com/office/powerpoint/2010/main" val="108861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0537E-B102-48D8-86E6-9DA2EC2B7CA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 Building Phase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General tree-growth algorithm (binary tree)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Partition(Data 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If (all points in S are of the same class) then return;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for each attribute A do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	evaluate splits on attribute A;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Use best split to partition S into S1 and S2;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Partition(S1);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Partition(S2);</a:t>
            </a:r>
          </a:p>
        </p:txBody>
      </p:sp>
    </p:spTree>
    <p:extLst>
      <p:ext uri="{BB962C8B-B14F-4D97-AF65-F5344CB8AC3E}">
        <p14:creationId xmlns:p14="http://schemas.microsoft.com/office/powerpoint/2010/main" val="222879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B739E-C904-4D3D-86BF-C1DBB24A4B1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 Building Phase (cont.)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The form of the split depends on the type of the attribute</a:t>
            </a:r>
          </a:p>
          <a:p>
            <a:r>
              <a:rPr lang="en-US" altLang="en-US" sz="2800" dirty="0"/>
              <a:t>Splits for numeric attributes are of the form A </a:t>
            </a:r>
            <a:r>
              <a:rPr lang="en-US" altLang="en-US" sz="2800" dirty="0">
                <a:sym typeface="Symbol" panose="05050102010706020507" pitchFamily="18" charset="2"/>
              </a:rPr>
              <a:t> v, where v is a real number</a:t>
            </a:r>
          </a:p>
          <a:p>
            <a:r>
              <a:rPr lang="en-US" altLang="en-US" sz="2800" dirty="0">
                <a:sym typeface="Symbol" panose="05050102010706020507" pitchFamily="18" charset="2"/>
              </a:rPr>
              <a:t>Splits for categorical attributes are of the form A  S’, where S’ is a subset of all possible values of A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1415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Tree Induction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Greedy strategy.</a:t>
            </a:r>
          </a:p>
          <a:p>
            <a:pPr lvl="1" eaLnBrk="1" hangingPunct="1">
              <a:defRPr/>
            </a:pPr>
            <a:r>
              <a:rPr lang="en-US" sz="2400" dirty="0" smtClean="0"/>
              <a:t>Split the records based on an attribute test that optimizes certain criterion.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800" dirty="0" smtClean="0"/>
              <a:t>Issues</a:t>
            </a:r>
          </a:p>
          <a:p>
            <a:pPr lvl="1" eaLnBrk="1" hangingPunct="1">
              <a:defRPr/>
            </a:pPr>
            <a:r>
              <a:rPr lang="en-US" sz="2400" dirty="0" smtClean="0"/>
              <a:t>Determine how to split the records</a:t>
            </a:r>
          </a:p>
          <a:p>
            <a:pPr lvl="2" eaLnBrk="1" hangingPunct="1">
              <a:defRPr/>
            </a:pPr>
            <a:r>
              <a:rPr lang="en-US" sz="2200" dirty="0" smtClean="0"/>
              <a:t>How to specify the attribute test condition?</a:t>
            </a:r>
          </a:p>
          <a:p>
            <a:pPr lvl="2" eaLnBrk="1" hangingPunct="1">
              <a:defRPr/>
            </a:pPr>
            <a:r>
              <a:rPr lang="en-US" sz="2200" dirty="0" smtClean="0">
                <a:solidFill>
                  <a:srgbClr val="FF0000"/>
                </a:solidFill>
              </a:rPr>
              <a:t>How to determine the best split?</a:t>
            </a:r>
          </a:p>
          <a:p>
            <a:pPr lvl="1" eaLnBrk="1" hangingPunct="1">
              <a:defRPr/>
            </a:pPr>
            <a:r>
              <a:rPr lang="en-US" sz="2400" dirty="0" smtClean="0"/>
              <a:t>Determine when to stop splitting</a:t>
            </a:r>
          </a:p>
          <a:p>
            <a:pPr lvl="1" eaLnBrk="1" hangingPunct="1"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How to determine the Best Split</a:t>
            </a:r>
          </a:p>
        </p:txBody>
      </p:sp>
      <p:graphicFrame>
        <p:nvGraphicFramePr>
          <p:cNvPr id="3481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81000" y="2260600"/>
          <a:ext cx="8545513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4" name="Visio" r:id="rId3" imgW="9538614" imgH="2239584" progId="Visio.Drawing.6">
                  <p:embed/>
                </p:oleObj>
              </mc:Choice>
              <mc:Fallback>
                <p:oleObj name="Visio" r:id="rId3" imgW="9538614" imgH="2239584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60600"/>
                        <a:ext cx="8545513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286000" y="1219200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Before Splitting: 10 records of class 0,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		10 records of class 1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81200" y="5119688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Which test condition is the best?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How to determine the Best Split</a:t>
            </a: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89175" y="3865563"/>
          <a:ext cx="79851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6" name="Visio" r:id="rId3" imgW="655371" imgH="585812" progId="Visio.Drawing.6">
                  <p:embed/>
                </p:oleObj>
              </mc:Choice>
              <mc:Fallback>
                <p:oleObj name="Visio" r:id="rId3" imgW="655371" imgH="58581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3865563"/>
                        <a:ext cx="798513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Greedy approach: </a:t>
            </a:r>
          </a:p>
          <a:p>
            <a:pPr lvl="1" eaLnBrk="1" hangingPunct="1">
              <a:defRPr/>
            </a:pPr>
            <a:r>
              <a:rPr lang="en-US" sz="2200" dirty="0" smtClean="0"/>
              <a:t>Nodes with </a:t>
            </a:r>
            <a:r>
              <a:rPr lang="en-US" sz="2200" dirty="0" smtClean="0">
                <a:solidFill>
                  <a:srgbClr val="FF0000"/>
                </a:solidFill>
              </a:rPr>
              <a:t>homogeneous</a:t>
            </a:r>
            <a:r>
              <a:rPr lang="en-US" sz="2200" dirty="0" smtClean="0"/>
              <a:t> class distribution are preferred</a:t>
            </a:r>
          </a:p>
          <a:p>
            <a:pPr eaLnBrk="1" hangingPunct="1">
              <a:defRPr/>
            </a:pPr>
            <a:r>
              <a:rPr lang="en-US" dirty="0" smtClean="0"/>
              <a:t>Need a measure of node impurity: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  <p:graphicFrame>
        <p:nvGraphicFramePr>
          <p:cNvPr id="35845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3469163"/>
              </p:ext>
            </p:extLst>
          </p:nvPr>
        </p:nvGraphicFramePr>
        <p:xfrm>
          <a:off x="5486400" y="3868253"/>
          <a:ext cx="903287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7" name="Visio" r:id="rId5" imgW="655371" imgH="585812" progId="Visio.Drawing.6">
                  <p:embed/>
                </p:oleObj>
              </mc:Choice>
              <mc:Fallback>
                <p:oleObj name="Visio" r:id="rId5" imgW="655371" imgH="585812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868253"/>
                        <a:ext cx="903287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1371600" y="4724400"/>
            <a:ext cx="281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Non-homogeneous,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High degree of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impurity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Uniform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5181600" y="4724400"/>
            <a:ext cx="281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Homogeneous,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Low degree of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impurity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Skewed 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solidFill>
                  <a:schemeClr val="bg1"/>
                </a:solidFill>
              </a:rPr>
              <a:t>Measures of Node Impurity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38275"/>
            <a:ext cx="8058150" cy="5257800"/>
          </a:xfrm>
        </p:spPr>
        <p:txBody>
          <a:bodyPr>
            <a:normAutofit/>
          </a:bodyPr>
          <a:lstStyle/>
          <a:p>
            <a:r>
              <a:rPr lang="en-US" altLang="en-US" sz="3200" dirty="0" smtClean="0"/>
              <a:t>Gini Index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3200" dirty="0" smtClean="0"/>
          </a:p>
          <a:p>
            <a:r>
              <a:rPr lang="en-US" altLang="en-US" sz="3200" dirty="0" smtClean="0"/>
              <a:t>Entropy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3200" dirty="0" smtClean="0"/>
          </a:p>
          <a:p>
            <a:r>
              <a:rPr lang="en-US" altLang="en-US" sz="3200" dirty="0" smtClean="0"/>
              <a:t>Misclassification error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3200" dirty="0" smtClean="0"/>
          </a:p>
          <a:p>
            <a:pPr>
              <a:buFont typeface="Wingdings" panose="05000000000000000000" pitchFamily="2" charset="2"/>
              <a:buNone/>
            </a:pPr>
            <a:endParaRPr lang="en-US" altLang="en-US" sz="3200" dirty="0" smtClean="0"/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65803"/>
              </p:ext>
            </p:extLst>
          </p:nvPr>
        </p:nvGraphicFramePr>
        <p:xfrm>
          <a:off x="2667000" y="1831975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1" name="Equation" r:id="rId4" imgW="1612800" imgH="355320" progId="Equation.3">
                  <p:embed/>
                </p:oleObj>
              </mc:Choice>
              <mc:Fallback>
                <p:oleObj name="Equation" r:id="rId4" imgW="16128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31975"/>
                        <a:ext cx="3352800" cy="7366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561601"/>
              </p:ext>
            </p:extLst>
          </p:nvPr>
        </p:nvGraphicFramePr>
        <p:xfrm>
          <a:off x="2362200" y="3050381"/>
          <a:ext cx="58039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2" name="Equation" r:id="rId6" imgW="4165560" imgH="444240" progId="Equation.3">
                  <p:embed/>
                </p:oleObj>
              </mc:Choice>
              <mc:Fallback>
                <p:oleObj name="Equation" r:id="rId6" imgW="4165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50381"/>
                        <a:ext cx="5803900" cy="61595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31649"/>
              </p:ext>
            </p:extLst>
          </p:nvPr>
        </p:nvGraphicFramePr>
        <p:xfrm>
          <a:off x="2590800" y="4530327"/>
          <a:ext cx="4953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3" name="Equation" r:id="rId8" imgW="3073320" imgH="406080" progId="Equation.3">
                  <p:embed/>
                </p:oleObj>
              </mc:Choice>
              <mc:Fallback>
                <p:oleObj name="Equation" r:id="rId8" imgW="30733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30327"/>
                        <a:ext cx="4953000" cy="6508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76400" y="-20716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4000" smtClean="0"/>
              <a:t>Measures of Node Impurity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400074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Comparison among Splitting Criteria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76400"/>
            <a:ext cx="62484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381000" y="12192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For a 2-class problem:</a:t>
            </a:r>
          </a:p>
        </p:txBody>
      </p:sp>
    </p:spTree>
    <p:extLst>
      <p:ext uri="{BB962C8B-B14F-4D97-AF65-F5344CB8AC3E}">
        <p14:creationId xmlns:p14="http://schemas.microsoft.com/office/powerpoint/2010/main" val="227785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How to Find the Best Split</a:t>
            </a:r>
          </a:p>
        </p:txBody>
      </p:sp>
      <p:graphicFrame>
        <p:nvGraphicFramePr>
          <p:cNvPr id="37906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112713" y="3759200"/>
          <a:ext cx="1660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9" name="Document" r:id="rId3" imgW="3317490" imgH="1395377" progId="Word.Document.8">
                  <p:embed/>
                </p:oleObj>
              </mc:Choice>
              <mc:Fallback>
                <p:oleObj name="Document" r:id="rId3" imgW="3317490" imgH="1395377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3" y="3759200"/>
                        <a:ext cx="1660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6505575" y="20066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 flipH="1">
            <a:off x="5930900" y="24638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7038975" y="24638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5657850" y="25796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8147050" y="25796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5514975" y="3189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7702550" y="3189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N4</a:t>
            </a:r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1476375" y="19304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 flipH="1">
            <a:off x="901700" y="23876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2009775" y="23876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628650" y="25034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3117850" y="25034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485775" y="3113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673350" y="3113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N2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1905000" y="12954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Before Splitting:</a:t>
            </a:r>
          </a:p>
        </p:txBody>
      </p:sp>
      <p:graphicFrame>
        <p:nvGraphicFramePr>
          <p:cNvPr id="37907" name="Object 19"/>
          <p:cNvGraphicFramePr>
            <a:graphicFrameLocks noChangeAspect="1"/>
          </p:cNvGraphicFramePr>
          <p:nvPr/>
        </p:nvGraphicFramePr>
        <p:xfrm>
          <a:off x="2395538" y="37639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name="Document" r:id="rId5" imgW="3325066" imgH="1394657" progId="Word.Document.8">
                  <p:embed/>
                </p:oleObj>
              </mc:Choice>
              <mc:Fallback>
                <p:oleObj name="Document" r:id="rId5" imgW="3325066" imgH="1394657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37639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5133975" y="3759200"/>
          <a:ext cx="1676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1" name="Document" r:id="rId7" imgW="3325066" imgH="1394657" progId="Word.Document.8">
                  <p:embed/>
                </p:oleObj>
              </mc:Choice>
              <mc:Fallback>
                <p:oleObj name="Document" r:id="rId7" imgW="3325066" imgH="1394657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975" y="3759200"/>
                        <a:ext cx="16764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7419975" y="3763963"/>
          <a:ext cx="163512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2" name="Document" r:id="rId9" imgW="3332642" imgH="1394657" progId="Word.Document.8">
                  <p:embed/>
                </p:oleObj>
              </mc:Choice>
              <mc:Fallback>
                <p:oleObj name="Document" r:id="rId9" imgW="3332642" imgH="1394657" progId="Word.Documen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9975" y="3763963"/>
                        <a:ext cx="163512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3962400" y="1295400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3" name="Document" r:id="rId11" imgW="3323317" imgH="1397000" progId="Word.Document.8">
                  <p:embed/>
                </p:oleObj>
              </mc:Choice>
              <mc:Fallback>
                <p:oleObj name="Document" r:id="rId11" imgW="3323317" imgH="1397000" progId="Word.Documen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295400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715000" y="1295400"/>
            <a:ext cx="1295400" cy="396875"/>
            <a:chOff x="3600" y="768"/>
            <a:chExt cx="816" cy="250"/>
          </a:xfrm>
        </p:grpSpPr>
        <p:sp>
          <p:nvSpPr>
            <p:cNvPr id="37927" name="Line 24"/>
            <p:cNvSpPr>
              <a:spLocks noChangeShapeType="1"/>
            </p:cNvSpPr>
            <p:nvPr/>
          </p:nvSpPr>
          <p:spPr bwMode="auto">
            <a:xfrm>
              <a:off x="3600" y="91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Text Box 25"/>
            <p:cNvSpPr txBox="1">
              <a:spLocks noChangeArrowheads="1"/>
            </p:cNvSpPr>
            <p:nvPr/>
          </p:nvSpPr>
          <p:spPr bwMode="auto"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M0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38175" y="4521200"/>
            <a:ext cx="8001000" cy="854075"/>
            <a:chOff x="384" y="2832"/>
            <a:chExt cx="5040" cy="538"/>
          </a:xfrm>
        </p:grpSpPr>
        <p:sp>
          <p:nvSpPr>
            <p:cNvPr id="37919" name="Text Box 27"/>
            <p:cNvSpPr txBox="1">
              <a:spLocks noChangeArrowheads="1"/>
            </p:cNvSpPr>
            <p:nvPr/>
          </p:nvSpPr>
          <p:spPr bwMode="auto"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M1</a:t>
              </a:r>
            </a:p>
          </p:txBody>
        </p:sp>
        <p:sp>
          <p:nvSpPr>
            <p:cNvPr id="37920" name="Text Box 28"/>
            <p:cNvSpPr txBox="1">
              <a:spLocks noChangeArrowheads="1"/>
            </p:cNvSpPr>
            <p:nvPr/>
          </p:nvSpPr>
          <p:spPr bwMode="auto"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M2</a:t>
              </a:r>
            </a:p>
          </p:txBody>
        </p:sp>
        <p:sp>
          <p:nvSpPr>
            <p:cNvPr id="37921" name="Text Box 29"/>
            <p:cNvSpPr txBox="1">
              <a:spLocks noChangeArrowheads="1"/>
            </p:cNvSpPr>
            <p:nvPr/>
          </p:nvSpPr>
          <p:spPr bwMode="auto"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M3</a:t>
              </a:r>
            </a:p>
          </p:txBody>
        </p:sp>
        <p:sp>
          <p:nvSpPr>
            <p:cNvPr id="37922" name="Text Box 30"/>
            <p:cNvSpPr txBox="1">
              <a:spLocks noChangeArrowheads="1"/>
            </p:cNvSpPr>
            <p:nvPr/>
          </p:nvSpPr>
          <p:spPr bwMode="auto"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M4</a:t>
              </a:r>
            </a:p>
          </p:txBody>
        </p:sp>
        <p:sp>
          <p:nvSpPr>
            <p:cNvPr id="37923" name="Line 31"/>
            <p:cNvSpPr>
              <a:spLocks noChangeShapeType="1"/>
            </p:cNvSpPr>
            <p:nvPr/>
          </p:nvSpPr>
          <p:spPr bwMode="auto">
            <a:xfrm>
              <a:off x="528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4" name="Line 32"/>
            <p:cNvSpPr>
              <a:spLocks noChangeShapeType="1"/>
            </p:cNvSpPr>
            <p:nvPr/>
          </p:nvSpPr>
          <p:spPr bwMode="auto">
            <a:xfrm>
              <a:off x="2016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5" name="Line 33"/>
            <p:cNvSpPr>
              <a:spLocks noChangeShapeType="1"/>
            </p:cNvSpPr>
            <p:nvPr/>
          </p:nvSpPr>
          <p:spPr bwMode="auto">
            <a:xfrm>
              <a:off x="374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Line 34"/>
            <p:cNvSpPr>
              <a:spLocks noChangeShapeType="1"/>
            </p:cNvSpPr>
            <p:nvPr/>
          </p:nvSpPr>
          <p:spPr bwMode="auto">
            <a:xfrm>
              <a:off x="518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90575" y="5435600"/>
            <a:ext cx="7620000" cy="777875"/>
            <a:chOff x="480" y="3408"/>
            <a:chExt cx="4800" cy="490"/>
          </a:xfrm>
        </p:grpSpPr>
        <p:sp>
          <p:nvSpPr>
            <p:cNvPr id="37915" name="AutoShape 36"/>
            <p:cNvSpPr>
              <a:spLocks/>
            </p:cNvSpPr>
            <p:nvPr/>
          </p:nvSpPr>
          <p:spPr bwMode="auto"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7916" name="AutoShape 37"/>
            <p:cNvSpPr>
              <a:spLocks/>
            </p:cNvSpPr>
            <p:nvPr/>
          </p:nvSpPr>
          <p:spPr bwMode="auto"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7917" name="Text Box 38"/>
            <p:cNvSpPr txBox="1">
              <a:spLocks noChangeArrowheads="1"/>
            </p:cNvSpPr>
            <p:nvPr/>
          </p:nvSpPr>
          <p:spPr bwMode="auto"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M12</a:t>
              </a:r>
            </a:p>
          </p:txBody>
        </p:sp>
        <p:sp>
          <p:nvSpPr>
            <p:cNvPr id="37918" name="Text Box 39"/>
            <p:cNvSpPr txBox="1">
              <a:spLocks noChangeArrowheads="1"/>
            </p:cNvSpPr>
            <p:nvPr/>
          </p:nvSpPr>
          <p:spPr bwMode="auto"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M34</a:t>
              </a:r>
            </a:p>
          </p:txBody>
        </p:sp>
      </p:grpSp>
      <p:sp>
        <p:nvSpPr>
          <p:cNvPr id="209960" name="Text Box 40"/>
          <p:cNvSpPr txBox="1">
            <a:spLocks noChangeArrowheads="1"/>
          </p:cNvSpPr>
          <p:nvPr/>
        </p:nvSpPr>
        <p:spPr bwMode="auto">
          <a:xfrm>
            <a:off x="2847975" y="6105525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Gain = M0 – M12 vs  M0 – M34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800" dirty="0" smtClean="0"/>
              <a:t>Splitting </a:t>
            </a:r>
            <a:r>
              <a:rPr lang="en-US" sz="3800" dirty="0" smtClean="0"/>
              <a:t>Criteria based on INFO</a:t>
            </a:r>
            <a:endParaRPr lang="en-US" dirty="0" smtClean="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87630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Entropy at a given node t:</a:t>
            </a:r>
          </a:p>
          <a:p>
            <a:pPr lvl="1" eaLnBrk="1" hangingPunct="1">
              <a:defRPr/>
            </a:pPr>
            <a:endParaRPr lang="en-US" dirty="0" smtClean="0"/>
          </a:p>
          <a:p>
            <a:pPr lvl="4" eaLnBrk="1" hangingPunct="1">
              <a:defRPr/>
            </a:pPr>
            <a:endParaRPr lang="en-US" dirty="0" smtClean="0"/>
          </a:p>
          <a:p>
            <a:pPr marL="1085850" lvl="2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(NOTE: </a:t>
            </a:r>
            <a:r>
              <a:rPr lang="en-US" sz="2000" i="1" dirty="0" smtClean="0">
                <a:latin typeface="Times New Roman" pitchFamily="18" charset="0"/>
              </a:rPr>
              <a:t>p( j | t) </a:t>
            </a:r>
            <a:r>
              <a:rPr lang="en-US" sz="2000" dirty="0" smtClean="0"/>
              <a:t>is the relative frequency of class j at node t).</a:t>
            </a:r>
            <a:endParaRPr lang="en-US" dirty="0" smtClean="0"/>
          </a:p>
          <a:p>
            <a:pPr lvl="1" eaLnBrk="1" hangingPunct="1">
              <a:defRPr/>
            </a:pPr>
            <a:r>
              <a:rPr lang="en-US" sz="2400" dirty="0" smtClean="0"/>
              <a:t>Measures homogeneity of a node. </a:t>
            </a:r>
          </a:p>
          <a:p>
            <a:pPr marL="1085850" lvl="2" eaLnBrk="1" hangingPunct="1">
              <a:defRPr/>
            </a:pPr>
            <a:r>
              <a:rPr lang="en-US" sz="2200" dirty="0" smtClean="0"/>
              <a:t>Maximum (log 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c</a:t>
            </a:r>
            <a:r>
              <a:rPr lang="en-US" sz="2200" dirty="0" smtClean="0"/>
              <a:t>) when records are equally distributed among all classes implying least information</a:t>
            </a:r>
          </a:p>
          <a:p>
            <a:pPr marL="1085850" lvl="2" eaLnBrk="1" hangingPunct="1">
              <a:defRPr/>
            </a:pPr>
            <a:r>
              <a:rPr lang="en-US" sz="2200" dirty="0" smtClean="0"/>
              <a:t>Minimum (0.0) when all records belong to one class, implying most </a:t>
            </a:r>
            <a:r>
              <a:rPr lang="en-US" sz="2200" dirty="0" smtClean="0"/>
              <a:t>information</a:t>
            </a:r>
            <a:endParaRPr lang="en-US" sz="2200" dirty="0" smtClean="0"/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extLst/>
          </p:nvPr>
        </p:nvGraphicFramePr>
        <p:xfrm>
          <a:off x="2057400" y="1905000"/>
          <a:ext cx="58039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3" imgW="4165600" imgH="444500" progId="Equation.3">
                  <p:embed/>
                </p:oleObj>
              </mc:Choice>
              <mc:Fallback>
                <p:oleObj name="Equation" r:id="rId3" imgW="4165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803900" cy="6159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073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Examples for computing Entropy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0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2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0/6 = 0     P(C2) = 6/6 = 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Entropy = – 0 log 0</a:t>
            </a:r>
            <a:r>
              <a:rPr lang="en-US" altLang="en-US" sz="2000" b="1" baseline="30000">
                <a:latin typeface="Arial" panose="020B0604020202020204" pitchFamily="34" charset="0"/>
              </a:rPr>
              <a:t> </a:t>
            </a:r>
            <a:r>
              <a:rPr lang="en-US" altLang="en-US" sz="2000" b="1">
                <a:latin typeface="Arial" panose="020B0604020202020204" pitchFamily="34" charset="0"/>
              </a:rPr>
              <a:t>– 1 log 1 = – 0 – 0 = 0 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971800" y="37338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1/6          P(C2) = 5/6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Entropy = – (1/6) log</a:t>
            </a:r>
            <a:r>
              <a:rPr lang="en-US" altLang="en-US" sz="2000" b="1" baseline="-25000">
                <a:latin typeface="Arial" panose="020B0604020202020204" pitchFamily="34" charset="0"/>
              </a:rPr>
              <a:t>2</a:t>
            </a:r>
            <a:r>
              <a:rPr lang="en-US" altLang="en-US" sz="2000" b="1">
                <a:latin typeface="Arial" panose="020B0604020202020204" pitchFamily="34" charset="0"/>
              </a:rPr>
              <a:t> (1/6)</a:t>
            </a:r>
            <a:r>
              <a:rPr lang="en-US" altLang="en-US" sz="2000" b="1" baseline="30000">
                <a:latin typeface="Arial" panose="020B0604020202020204" pitchFamily="34" charset="0"/>
              </a:rPr>
              <a:t> </a:t>
            </a:r>
            <a:r>
              <a:rPr lang="en-US" altLang="en-US" sz="2000" b="1">
                <a:latin typeface="Arial" panose="020B0604020202020204" pitchFamily="34" charset="0"/>
              </a:rPr>
              <a:t>– (5/6) log</a:t>
            </a:r>
            <a:r>
              <a:rPr lang="en-US" altLang="en-US" sz="2000" b="1" baseline="-25000">
                <a:latin typeface="Arial" panose="020B0604020202020204" pitchFamily="34" charset="0"/>
              </a:rPr>
              <a:t>2</a:t>
            </a:r>
            <a:r>
              <a:rPr lang="en-US" altLang="en-US" sz="2000" b="1">
                <a:latin typeface="Arial" panose="020B0604020202020204" pitchFamily="34" charset="0"/>
              </a:rPr>
              <a:t> (1/6) = 0.65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2/6          P(C2) = 4/6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Entropy = – (2/6) log</a:t>
            </a:r>
            <a:r>
              <a:rPr lang="en-US" altLang="en-US" sz="2000" b="1" baseline="-25000">
                <a:latin typeface="Arial" panose="020B0604020202020204" pitchFamily="34" charset="0"/>
              </a:rPr>
              <a:t>2</a:t>
            </a:r>
            <a:r>
              <a:rPr lang="en-US" altLang="en-US" sz="2000" b="1">
                <a:latin typeface="Arial" panose="020B0604020202020204" pitchFamily="34" charset="0"/>
              </a:rPr>
              <a:t> (2/6)</a:t>
            </a:r>
            <a:r>
              <a:rPr lang="en-US" altLang="en-US" sz="2000" b="1" baseline="30000">
                <a:latin typeface="Arial" panose="020B0604020202020204" pitchFamily="34" charset="0"/>
              </a:rPr>
              <a:t> </a:t>
            </a:r>
            <a:r>
              <a:rPr lang="en-US" altLang="en-US" sz="2000" b="1">
                <a:latin typeface="Arial" panose="020B0604020202020204" pitchFamily="34" charset="0"/>
              </a:rPr>
              <a:t>– (4/6) log</a:t>
            </a:r>
            <a:r>
              <a:rPr lang="en-US" altLang="en-US" sz="2000" b="1" baseline="-25000">
                <a:latin typeface="Arial" panose="020B0604020202020204" pitchFamily="34" charset="0"/>
              </a:rPr>
              <a:t>2</a:t>
            </a:r>
            <a:r>
              <a:rPr lang="en-US" altLang="en-US" sz="2000" b="1">
                <a:latin typeface="Arial" panose="020B0604020202020204" pitchFamily="34" charset="0"/>
              </a:rPr>
              <a:t> (4/6) = 0.92</a:t>
            </a:r>
          </a:p>
        </p:txBody>
      </p:sp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1752600" y="1447800"/>
          <a:ext cx="59451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9" imgW="4267200" imgH="444500" progId="Equation.3">
                  <p:embed/>
                </p:oleObj>
              </mc:Choice>
              <mc:Fallback>
                <p:oleObj name="Equation" r:id="rId9" imgW="4267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5945188" cy="6159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995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Measure of Impurity: GINI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34639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Gini Index for a given node t 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400" smtClean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000" smtClean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800" smtClean="0"/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smtClean="0"/>
              <a:t/>
            </a:r>
            <a:br>
              <a:rPr lang="en-US" sz="2000" smtClean="0"/>
            </a:br>
            <a:r>
              <a:rPr lang="en-US" sz="2000" smtClean="0"/>
              <a:t>(NOTE: </a:t>
            </a:r>
            <a:r>
              <a:rPr lang="en-US" sz="2000" i="1" smtClean="0">
                <a:latin typeface="Times New Roman" pitchFamily="18" charset="0"/>
              </a:rPr>
              <a:t>p( j | t) </a:t>
            </a:r>
            <a:r>
              <a:rPr lang="en-US" sz="2000" smtClean="0"/>
              <a:t>is the relative frequency of class j at node t).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80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Maximum (1 - 1/n</a:t>
            </a:r>
            <a:r>
              <a:rPr lang="en-US" sz="2400" baseline="-25000" smtClean="0"/>
              <a:t>c</a:t>
            </a:r>
            <a:r>
              <a:rPr lang="en-US" sz="2400" smtClean="0"/>
              <a:t>) when records are equally distributed among all classes, implying least interesting information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Minimum (0.0) when all records belong to one class, implying most interesting information</a:t>
            </a:r>
            <a:endParaRPr lang="en-US" sz="2400" baseline="-25000" smtClean="0"/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2743200" y="1778000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1" name="Equation" r:id="rId3" imgW="1612900" imgH="355600" progId="Equation.3">
                  <p:embed/>
                </p:oleObj>
              </mc:Choice>
              <mc:Fallback>
                <p:oleObj name="Equation" r:id="rId3" imgW="1612900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78000"/>
                        <a:ext cx="3352800" cy="7366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1295400" y="5334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2" name="Document" r:id="rId5" imgW="3284220" imgH="1970532" progId="Word.Document.8">
                  <p:embed/>
                </p:oleObj>
              </mc:Choice>
              <mc:Fallback>
                <p:oleObj name="Document" r:id="rId5" imgW="3284220" imgH="1970532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334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4572000" y="5334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3" name="Document" r:id="rId7" imgW="3284220" imgH="1970532" progId="Word.Document.8">
                  <p:embed/>
                </p:oleObj>
              </mc:Choice>
              <mc:Fallback>
                <p:oleObj name="Document" r:id="rId7" imgW="3284220" imgH="1970532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334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6248400" y="5334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4" name="Document" r:id="rId9" imgW="3284220" imgH="1970532" progId="Word.Document.8">
                  <p:embed/>
                </p:oleObj>
              </mc:Choice>
              <mc:Fallback>
                <p:oleObj name="Document" r:id="rId9" imgW="3284220" imgH="1970532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334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2971800" y="5334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5" name="Document" r:id="rId11" imgW="3284220" imgH="1970532" progId="Word.Document.8">
                  <p:embed/>
                </p:oleObj>
              </mc:Choice>
              <mc:Fallback>
                <p:oleObj name="Document" r:id="rId11" imgW="3284220" imgH="1970532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334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Examples for computing GINI</a:t>
            </a: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572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4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5334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5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5334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6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3048000" y="2339975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P(C1) = 0/6 = 0     P(C2) = 6/6 = 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Gini = 1 – P(C1)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2 </a:t>
            </a:r>
            <a:r>
              <a:rPr lang="en-US" altLang="en-US" sz="2000" b="1" dirty="0">
                <a:latin typeface="Arial" panose="020B0604020202020204" pitchFamily="34" charset="0"/>
              </a:rPr>
              <a:t>– P(C2)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2</a:t>
            </a:r>
            <a:r>
              <a:rPr lang="en-US" altLang="en-US" sz="2000" b="1" dirty="0">
                <a:latin typeface="Arial" panose="020B0604020202020204" pitchFamily="34" charset="0"/>
              </a:rPr>
              <a:t> = 1 – 0 – 1 = 0 </a:t>
            </a:r>
          </a:p>
        </p:txBody>
      </p:sp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2590800" y="1219200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7" name="Equation" r:id="rId9" imgW="1612900" imgH="355600" progId="Equation.3">
                  <p:embed/>
                </p:oleObj>
              </mc:Choice>
              <mc:Fallback>
                <p:oleObj name="Equation" r:id="rId9" imgW="1612900" imgH="355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19200"/>
                        <a:ext cx="3352800" cy="7366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3124200" y="3817938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1/6          P(C2) = 5/6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Gini = 1 – (1/6)</a:t>
            </a:r>
            <a:r>
              <a:rPr lang="en-US" altLang="en-US" sz="2000" b="1" baseline="30000">
                <a:latin typeface="Arial" panose="020B0604020202020204" pitchFamily="34" charset="0"/>
              </a:rPr>
              <a:t>2 </a:t>
            </a:r>
            <a:r>
              <a:rPr lang="en-US" altLang="en-US" sz="2000" b="1">
                <a:latin typeface="Arial" panose="020B0604020202020204" pitchFamily="34" charset="0"/>
              </a:rPr>
              <a:t>– (5/6)</a:t>
            </a:r>
            <a:r>
              <a:rPr lang="en-US" altLang="en-US" sz="2000" b="1" baseline="30000">
                <a:latin typeface="Arial" panose="020B0604020202020204" pitchFamily="34" charset="0"/>
              </a:rPr>
              <a:t>2</a:t>
            </a:r>
            <a:r>
              <a:rPr lang="en-US" altLang="en-US" sz="2000" b="1">
                <a:latin typeface="Arial" panose="020B0604020202020204" pitchFamily="34" charset="0"/>
              </a:rPr>
              <a:t> = 0.278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3124200" y="5105400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P(C1) = 2/6          P(C2) = 4/6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Gini = 1 – (2/6)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2 </a:t>
            </a:r>
            <a:r>
              <a:rPr lang="en-US" altLang="en-US" sz="2000" b="1" dirty="0">
                <a:latin typeface="Arial" panose="020B0604020202020204" pitchFamily="34" charset="0"/>
              </a:rPr>
              <a:t>– (4/6)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2</a:t>
            </a:r>
            <a:r>
              <a:rPr lang="en-US" altLang="en-US" sz="2000" b="1" dirty="0">
                <a:latin typeface="Arial" panose="020B0604020202020204" pitchFamily="34" charset="0"/>
              </a:rPr>
              <a:t> = 0.444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Splitting Criteria based on Classification Error</a:t>
            </a:r>
            <a:endParaRPr lang="en-US" smtClean="0"/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Classification error at a node t :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sz="2800" dirty="0" smtClean="0"/>
              <a:t>Measures misclassification error made by a node. </a:t>
            </a:r>
          </a:p>
          <a:p>
            <a:pPr marL="1085850" lvl="2" eaLnBrk="1" hangingPunct="1">
              <a:defRPr/>
            </a:pPr>
            <a:r>
              <a:rPr lang="en-US" sz="2200" dirty="0" smtClean="0"/>
              <a:t>Maximum (1 - 1/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c</a:t>
            </a:r>
            <a:r>
              <a:rPr lang="en-US" sz="2200" dirty="0" smtClean="0"/>
              <a:t>) when records are equally distributed among all classes, implying least interesting information</a:t>
            </a:r>
          </a:p>
          <a:p>
            <a:pPr marL="1085850" lvl="2" eaLnBrk="1" hangingPunct="1">
              <a:defRPr/>
            </a:pPr>
            <a:r>
              <a:rPr lang="en-US" sz="2200" dirty="0" smtClean="0"/>
              <a:t>Minimum (0.0) when all records belong to one class, implying most interesting information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>
            <p:extLst/>
          </p:nvPr>
        </p:nvGraphicFramePr>
        <p:xfrm>
          <a:off x="1828800" y="2133600"/>
          <a:ext cx="4953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1" name="Equation" r:id="rId3" imgW="3073400" imgH="406400" progId="Equation.3">
                  <p:embed/>
                </p:oleObj>
              </mc:Choice>
              <mc:Fallback>
                <p:oleObj name="Equation" r:id="rId3" imgW="3073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4953000" cy="6508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095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Examples for Computing Error</a:t>
            </a: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8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9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0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0/6 = 0     P(C2) = 6/6 = 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Error = 1 – max (0, 1) = 1 – 1 = 0 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2971800" y="3733800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1/6          P(C2) = 5/6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Error = 1 – max (1/6, 5/6) = 1 – 5/6 = 1/6</a:t>
            </a: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P(C1) = 2/6          P(C2) = 4/6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Error = 1 – max (2/6, 4/6) = 1 – 4/6 = 1/3</a:t>
            </a: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828800" y="1219200"/>
          <a:ext cx="4953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1" name="Equation" r:id="rId9" imgW="3073400" imgH="406400" progId="Equation.3">
                  <p:embed/>
                </p:oleObj>
              </mc:Choice>
              <mc:Fallback>
                <p:oleObj name="Equation" r:id="rId9" imgW="3073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19200"/>
                        <a:ext cx="4953000" cy="6508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544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Splitting Based on GINI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143000"/>
            <a:ext cx="8382000" cy="443865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800" dirty="0" smtClean="0"/>
              <a:t>Used in CART, SLIQ, SPRINT.</a:t>
            </a:r>
          </a:p>
          <a:p>
            <a:pPr eaLnBrk="1" hangingPunct="1">
              <a:defRPr/>
            </a:pPr>
            <a:r>
              <a:rPr lang="en-US" sz="2800" dirty="0" smtClean="0"/>
              <a:t>When a node p is split into k partitions (children), the quality of split is computed as,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where,	</a:t>
            </a:r>
            <a:r>
              <a:rPr lang="en-US" sz="2800" dirty="0" err="1" smtClean="0"/>
              <a:t>n</a:t>
            </a:r>
            <a:r>
              <a:rPr lang="en-US" sz="2800" baseline="-25000" dirty="0" err="1" smtClean="0"/>
              <a:t>i</a:t>
            </a:r>
            <a:r>
              <a:rPr lang="en-US" sz="2800" dirty="0" smtClean="0"/>
              <a:t> = number of records at child </a:t>
            </a:r>
            <a:r>
              <a:rPr lang="en-US" sz="2800" dirty="0" err="1" smtClean="0"/>
              <a:t>i</a:t>
            </a:r>
            <a:r>
              <a:rPr lang="en-US" sz="2800" dirty="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    		n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 = number of records at node p.</a:t>
            </a:r>
            <a:endParaRPr lang="en-US" sz="3600" dirty="0" smtClean="0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667000" y="2895600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2" name="Equation" r:id="rId3" imgW="1511300" imgH="431800" progId="Equation.3">
                  <p:embed/>
                </p:oleObj>
              </mc:Choice>
              <mc:Fallback>
                <p:oleObj name="Equation" r:id="rId3" imgW="1511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3886200" cy="11049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62200" y="558165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Weighted Average of Gini Index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1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Binary Attributes: Computing GINI Index</a:t>
            </a:r>
          </a:p>
        </p:txBody>
      </p:sp>
      <p:sp>
        <p:nvSpPr>
          <p:cNvPr id="911363" name="Rectangle 3"/>
          <p:cNvSpPr>
            <a:spLocks noChangeArrowheads="1"/>
          </p:cNvSpPr>
          <p:nvPr/>
        </p:nvSpPr>
        <p:spPr bwMode="auto">
          <a:xfrm>
            <a:off x="304800" y="1143000"/>
            <a:ext cx="81788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Splits into two partitions</a:t>
            </a:r>
          </a:p>
          <a:p>
            <a:r>
              <a:rPr lang="en-US" altLang="en-US" b="0"/>
              <a:t>Effect of Weighing partitions: </a:t>
            </a:r>
          </a:p>
          <a:p>
            <a:pPr lvl="1"/>
            <a:r>
              <a:rPr lang="en-US" altLang="en-US" b="0"/>
              <a:t>Larger and Purer Partitions are sought for.</a:t>
            </a:r>
          </a:p>
        </p:txBody>
      </p:sp>
      <p:sp>
        <p:nvSpPr>
          <p:cNvPr id="911364" name="Oval 4"/>
          <p:cNvSpPr>
            <a:spLocks noChangeArrowheads="1"/>
          </p:cNvSpPr>
          <p:nvPr/>
        </p:nvSpPr>
        <p:spPr bwMode="auto">
          <a:xfrm>
            <a:off x="3657600" y="2862263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0">
                <a:latin typeface="Times New Roman" panose="02020603050405020304" pitchFamily="18" charset="0"/>
              </a:rPr>
              <a:t>B?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911365" name="Line 5"/>
          <p:cNvSpPr>
            <a:spLocks noChangeShapeType="1"/>
          </p:cNvSpPr>
          <p:nvPr/>
        </p:nvSpPr>
        <p:spPr bwMode="auto">
          <a:xfrm flipH="1">
            <a:off x="3082925" y="3319463"/>
            <a:ext cx="11080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366" name="Line 6"/>
          <p:cNvSpPr>
            <a:spLocks noChangeShapeType="1"/>
          </p:cNvSpPr>
          <p:nvPr/>
        </p:nvSpPr>
        <p:spPr bwMode="auto">
          <a:xfrm>
            <a:off x="4191000" y="3319463"/>
            <a:ext cx="11842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367" name="Text Box 7"/>
          <p:cNvSpPr txBox="1">
            <a:spLocks noChangeArrowheads="1"/>
          </p:cNvSpPr>
          <p:nvPr/>
        </p:nvSpPr>
        <p:spPr bwMode="auto">
          <a:xfrm>
            <a:off x="2809875" y="3435350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911368" name="Text Box 8"/>
          <p:cNvSpPr txBox="1">
            <a:spLocks noChangeArrowheads="1"/>
          </p:cNvSpPr>
          <p:nvPr/>
        </p:nvSpPr>
        <p:spPr bwMode="auto">
          <a:xfrm>
            <a:off x="5299075" y="3435350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911369" name="Rectangle 9"/>
          <p:cNvSpPr>
            <a:spLocks noChangeArrowheads="1"/>
          </p:cNvSpPr>
          <p:nvPr/>
        </p:nvSpPr>
        <p:spPr bwMode="auto">
          <a:xfrm>
            <a:off x="2667000" y="40449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911370" name="Rectangle 10"/>
          <p:cNvSpPr>
            <a:spLocks noChangeArrowheads="1"/>
          </p:cNvSpPr>
          <p:nvPr/>
        </p:nvSpPr>
        <p:spPr bwMode="auto">
          <a:xfrm>
            <a:off x="4854575" y="40449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911371" name="Object 11"/>
          <p:cNvGraphicFramePr>
            <a:graphicFrameLocks noChangeAspect="1"/>
          </p:cNvGraphicFramePr>
          <p:nvPr/>
        </p:nvGraphicFramePr>
        <p:xfrm>
          <a:off x="6553200" y="2590800"/>
          <a:ext cx="19812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Document" r:id="rId3" imgW="3177000" imgH="3053520" progId="Word.Document.8">
                  <p:embed/>
                </p:oleObj>
              </mc:Choice>
              <mc:Fallback>
                <p:oleObj name="Document" r:id="rId3" imgW="3177000" imgH="3053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90800"/>
                        <a:ext cx="19812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462196"/>
              </p:ext>
            </p:extLst>
          </p:nvPr>
        </p:nvGraphicFramePr>
        <p:xfrm>
          <a:off x="3276600" y="46482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Document" r:id="rId5" imgW="3259756" imgH="2547453" progId="Word.Document.8">
                  <p:embed/>
                </p:oleObj>
              </mc:Choice>
              <mc:Fallback>
                <p:oleObj name="Document" r:id="rId5" imgW="3259756" imgH="25474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482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73" name="Text Box 13"/>
          <p:cNvSpPr txBox="1">
            <a:spLocks noChangeArrowheads="1"/>
          </p:cNvSpPr>
          <p:nvPr/>
        </p:nvSpPr>
        <p:spPr bwMode="auto">
          <a:xfrm>
            <a:off x="380999" y="4191000"/>
            <a:ext cx="2701925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Gini(N1) </a:t>
            </a:r>
            <a:br>
              <a:rPr lang="en-US" altLang="en-US" sz="2000" dirty="0"/>
            </a:br>
            <a:r>
              <a:rPr lang="en-US" altLang="en-US" sz="2000" dirty="0"/>
              <a:t>= 1 – (</a:t>
            </a:r>
            <a:r>
              <a:rPr lang="en-US" altLang="en-US" sz="2000" dirty="0" smtClean="0"/>
              <a:t>5/7)</a:t>
            </a:r>
            <a:r>
              <a:rPr lang="en-US" altLang="en-US" sz="2000" baseline="30000" dirty="0" smtClean="0"/>
              <a:t>2 </a:t>
            </a:r>
            <a:r>
              <a:rPr lang="en-US" altLang="en-US" sz="2000" dirty="0"/>
              <a:t>– (</a:t>
            </a:r>
            <a:r>
              <a:rPr lang="en-US" altLang="en-US" sz="2000" dirty="0" smtClean="0"/>
              <a:t>2/7)</a:t>
            </a:r>
            <a:r>
              <a:rPr lang="en-US" altLang="en-US" sz="2000" baseline="30000" dirty="0" smtClean="0"/>
              <a:t>2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>= </a:t>
            </a:r>
            <a:r>
              <a:rPr lang="en-US" altLang="en-US" sz="2000" dirty="0" smtClean="0"/>
              <a:t>0.41 </a:t>
            </a:r>
            <a:endParaRPr lang="en-US" altLang="en-US" sz="2000" dirty="0"/>
          </a:p>
          <a:p>
            <a:pPr>
              <a:spcBef>
                <a:spcPct val="50000"/>
              </a:spcBef>
            </a:pPr>
            <a:r>
              <a:rPr lang="en-US" altLang="en-US" sz="2000" dirty="0"/>
              <a:t>Gini(N2) </a:t>
            </a:r>
            <a:br>
              <a:rPr lang="en-US" altLang="en-US" sz="2000" dirty="0"/>
            </a:br>
            <a:r>
              <a:rPr lang="en-US" altLang="en-US" sz="2000" dirty="0"/>
              <a:t>= 1 – (</a:t>
            </a:r>
            <a:r>
              <a:rPr lang="en-US" altLang="en-US" sz="2000" dirty="0" smtClean="0"/>
              <a:t>1/5)</a:t>
            </a:r>
            <a:r>
              <a:rPr lang="en-US" altLang="en-US" sz="2000" baseline="30000" dirty="0" smtClean="0"/>
              <a:t>2 </a:t>
            </a:r>
            <a:r>
              <a:rPr lang="en-US" altLang="en-US" sz="2000" dirty="0"/>
              <a:t>– (</a:t>
            </a:r>
            <a:r>
              <a:rPr lang="en-US" altLang="en-US" sz="2000" dirty="0" smtClean="0"/>
              <a:t>4/5)</a:t>
            </a:r>
            <a:r>
              <a:rPr lang="en-US" altLang="en-US" sz="2000" baseline="30000" dirty="0" smtClean="0"/>
              <a:t>2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>= </a:t>
            </a:r>
            <a:r>
              <a:rPr lang="en-US" altLang="en-US" sz="2000" dirty="0" smtClean="0"/>
              <a:t>0.32</a:t>
            </a:r>
            <a:endParaRPr lang="en-US" altLang="en-US" sz="2000" dirty="0"/>
          </a:p>
        </p:txBody>
      </p:sp>
      <p:sp>
        <p:nvSpPr>
          <p:cNvPr id="911374" name="Text Box 14"/>
          <p:cNvSpPr txBox="1">
            <a:spLocks noChangeArrowheads="1"/>
          </p:cNvSpPr>
          <p:nvPr/>
        </p:nvSpPr>
        <p:spPr bwMode="auto">
          <a:xfrm>
            <a:off x="5943600" y="4648200"/>
            <a:ext cx="2438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Gini(Children) </a:t>
            </a:r>
            <a:br>
              <a:rPr lang="en-US" altLang="en-US" sz="2000" dirty="0"/>
            </a:br>
            <a:r>
              <a:rPr lang="en-US" altLang="en-US" sz="2000" dirty="0"/>
              <a:t>= 7/12 * </a:t>
            </a:r>
            <a:r>
              <a:rPr lang="en-US" altLang="en-US" sz="2000" dirty="0" smtClean="0"/>
              <a:t>0.41 </a:t>
            </a:r>
            <a:r>
              <a:rPr lang="en-US" altLang="en-US" sz="2000" dirty="0"/>
              <a:t>+ </a:t>
            </a:r>
            <a:br>
              <a:rPr lang="en-US" altLang="en-US" sz="2000" dirty="0"/>
            </a:br>
            <a:r>
              <a:rPr lang="en-US" altLang="en-US" sz="2000" dirty="0"/>
              <a:t>   5/12 * </a:t>
            </a:r>
            <a:r>
              <a:rPr lang="en-US" altLang="en-US" sz="2000" dirty="0" smtClean="0"/>
              <a:t>0.32</a:t>
            </a:r>
            <a:br>
              <a:rPr lang="en-US" altLang="en-US" sz="2000" dirty="0" smtClean="0"/>
            </a:br>
            <a:r>
              <a:rPr lang="en-US" altLang="en-US" sz="2000" dirty="0" smtClean="0"/>
              <a:t>= 0.37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489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66688"/>
            <a:ext cx="9296400" cy="914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 smtClean="0"/>
              <a:t>Categorical Attributes: Computing Gini Index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911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For each distinct value, gather counts for each class in the dataset</a:t>
            </a:r>
          </a:p>
          <a:p>
            <a:pPr eaLnBrk="1" hangingPunct="1">
              <a:defRPr/>
            </a:pPr>
            <a:r>
              <a:rPr lang="en-US" sz="2800" dirty="0" smtClean="0"/>
              <a:t>Use the count matrix to make decisions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4038600" y="4495800"/>
          <a:ext cx="260985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7" name="Document" r:id="rId3" imgW="5849112" imgH="4005072" progId="Word.Document.8">
                  <p:embed/>
                </p:oleObj>
              </mc:Choice>
              <mc:Fallback>
                <p:oleObj name="Document" r:id="rId3" imgW="5849112" imgH="400507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95800"/>
                        <a:ext cx="260985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6534150" y="4495800"/>
          <a:ext cx="260985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8" name="Document" r:id="rId5" imgW="5849112" imgH="4005072" progId="Word.Document.8">
                  <p:embed/>
                </p:oleObj>
              </mc:Choice>
              <mc:Fallback>
                <p:oleObj name="Document" r:id="rId5" imgW="5849112" imgH="4005072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4495800"/>
                        <a:ext cx="260985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457200" y="4495800"/>
          <a:ext cx="2744788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9" name="Document" r:id="rId7" imgW="6205728" imgH="3191256" progId="Word.Document.8">
                  <p:embed/>
                </p:oleObj>
              </mc:Choice>
              <mc:Fallback>
                <p:oleObj name="Document" r:id="rId7" imgW="6205728" imgH="3191256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2744788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Line 7"/>
          <p:cNvSpPr>
            <a:spLocks noChangeShapeType="1"/>
          </p:cNvSpPr>
          <p:nvPr/>
        </p:nvSpPr>
        <p:spPr bwMode="auto">
          <a:xfrm flipH="1">
            <a:off x="3733800" y="3657600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068388" y="3554413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Multi-way split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4872038" y="3554413"/>
            <a:ext cx="3138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Two-way split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(find best partition of values)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11398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dirty="0" smtClean="0"/>
              <a:t>Continuous Attributes: Computing </a:t>
            </a:r>
            <a:r>
              <a:rPr lang="en-US" sz="3800" dirty="0" err="1" smtClean="0"/>
              <a:t>Gini</a:t>
            </a:r>
            <a:r>
              <a:rPr lang="en-US" sz="3800" dirty="0" smtClean="0"/>
              <a:t> Index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4945063" cy="45307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Use Binary Decisions based on one value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Several Choices for the splitting value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Number of possible splitting values </a:t>
            </a:r>
            <a:br>
              <a:rPr lang="en-US" sz="2000" dirty="0" smtClean="0"/>
            </a:br>
            <a:r>
              <a:rPr lang="en-US" sz="2000" dirty="0" smtClean="0"/>
              <a:t>= Number of distinct values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Each splitting value has a count matrix associated with it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Class counts in each of the partitions, A &lt; v and A </a:t>
            </a:r>
            <a:r>
              <a:rPr lang="en-US" sz="2000" dirty="0" smtClean="0">
                <a:sym typeface="Symbol" pitchFamily="18" charset="2"/>
              </a:rPr>
              <a:t></a:t>
            </a:r>
            <a:r>
              <a:rPr lang="en-US" sz="2000" dirty="0" smtClean="0"/>
              <a:t> v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Simple method to choose best v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For each v, scan the database to gather count matrix and compute its </a:t>
            </a:r>
            <a:r>
              <a:rPr lang="en-US" sz="2000" dirty="0" err="1" smtClean="0"/>
              <a:t>Gini</a:t>
            </a:r>
            <a:r>
              <a:rPr lang="en-US" sz="2000" dirty="0" smtClean="0"/>
              <a:t> index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Computationally Inefficient! Repetition of work.</a:t>
            </a:r>
          </a:p>
        </p:txBody>
      </p:sp>
      <p:graphicFrame>
        <p:nvGraphicFramePr>
          <p:cNvPr id="440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3702240"/>
              </p:ext>
            </p:extLst>
          </p:nvPr>
        </p:nvGraphicFramePr>
        <p:xfrm>
          <a:off x="5181600" y="1108824"/>
          <a:ext cx="3048000" cy="3253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4" name="Document" r:id="rId3" imgW="5415994" imgH="5779818" progId="Word.Document.8">
                  <p:embed/>
                </p:oleObj>
              </mc:Choice>
              <mc:Fallback>
                <p:oleObj name="Document" r:id="rId3" imgW="5415994" imgH="577981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181600" y="1108824"/>
                        <a:ext cx="3048000" cy="3253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382623335"/>
              </p:ext>
            </p:extLst>
          </p:nvPr>
        </p:nvGraphicFramePr>
        <p:xfrm>
          <a:off x="6248400" y="4368290"/>
          <a:ext cx="1371600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5" name="Visio" r:id="rId5" imgW="1611935" imgH="2570756" progId="Visio.Drawing.6">
                  <p:embed/>
                </p:oleObj>
              </mc:Choice>
              <mc:Fallback>
                <p:oleObj name="Visio" r:id="rId5" imgW="1611935" imgH="2570756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368290"/>
                        <a:ext cx="1371600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" y="57150"/>
            <a:ext cx="8991600" cy="1066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dirty="0" smtClean="0"/>
              <a:t>Continuous Attributes: Computing Gini Index..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89050"/>
            <a:ext cx="8483600" cy="1905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For efficient computation: for each attribute,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00" dirty="0" smtClean="0"/>
              <a:t>Sort the attribute on values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00" dirty="0" smtClean="0"/>
              <a:t>Linearly scan these values, each time updating the count matrix and computing </a:t>
            </a:r>
            <a:r>
              <a:rPr lang="en-US" sz="2200" dirty="0" err="1" smtClean="0"/>
              <a:t>gini</a:t>
            </a:r>
            <a:r>
              <a:rPr lang="en-US" sz="2200" dirty="0" smtClean="0"/>
              <a:t> index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00" dirty="0" smtClean="0"/>
              <a:t>Choose the split position that has the least </a:t>
            </a:r>
            <a:r>
              <a:rPr lang="en-US" sz="2200" dirty="0" err="1" smtClean="0"/>
              <a:t>gini</a:t>
            </a:r>
            <a:r>
              <a:rPr lang="en-US" sz="2200" dirty="0" smtClean="0"/>
              <a:t> index</a:t>
            </a:r>
          </a:p>
        </p:txBody>
      </p:sp>
      <p:grpSp>
        <p:nvGrpSpPr>
          <p:cNvPr id="45060" name="Group 4"/>
          <p:cNvGrpSpPr>
            <a:grpSpLocks/>
          </p:cNvGrpSpPr>
          <p:nvPr/>
        </p:nvGrpSpPr>
        <p:grpSpPr bwMode="auto">
          <a:xfrm>
            <a:off x="0" y="3733800"/>
            <a:ext cx="9182100" cy="2622550"/>
            <a:chOff x="144" y="2360"/>
            <a:chExt cx="5784" cy="1652"/>
          </a:xfrm>
        </p:grpSpPr>
        <p:graphicFrame>
          <p:nvGraphicFramePr>
            <p:cNvPr id="45061" name="Object 5"/>
            <p:cNvGraphicFramePr>
              <a:graphicFrameLocks noChangeAspect="1"/>
            </p:cNvGraphicFramePr>
            <p:nvPr/>
          </p:nvGraphicFramePr>
          <p:xfrm>
            <a:off x="956" y="2360"/>
            <a:ext cx="4972" cy="1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0" name="Document" r:id="rId3" imgW="10585704" imgH="3558540" progId="Word.Document.8">
                    <p:embed/>
                  </p:oleObj>
                </mc:Choice>
                <mc:Fallback>
                  <p:oleObj name="Document" r:id="rId3" imgW="10585704" imgH="3558540" progId="Word.Documen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2360"/>
                          <a:ext cx="4972" cy="1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Line 6"/>
            <p:cNvSpPr>
              <a:spLocks noChangeShapeType="1"/>
            </p:cNvSpPr>
            <p:nvPr/>
          </p:nvSpPr>
          <p:spPr bwMode="auto">
            <a:xfrm>
              <a:off x="1152" y="2880"/>
              <a:ext cx="192" cy="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063" name="Group 7"/>
            <p:cNvGrpSpPr>
              <a:grpSpLocks/>
            </p:cNvGrpSpPr>
            <p:nvPr/>
          </p:nvGrpSpPr>
          <p:grpSpPr bwMode="auto">
            <a:xfrm>
              <a:off x="144" y="2928"/>
              <a:ext cx="1200" cy="212"/>
              <a:chOff x="144" y="2832"/>
              <a:chExt cx="1200" cy="212"/>
            </a:xfrm>
          </p:grpSpPr>
          <p:sp>
            <p:nvSpPr>
              <p:cNvPr id="45065" name="Text Box 8"/>
              <p:cNvSpPr txBox="1">
                <a:spLocks noChangeArrowheads="1"/>
              </p:cNvSpPr>
              <p:nvPr/>
            </p:nvSpPr>
            <p:spPr bwMode="auto">
              <a:xfrm>
                <a:off x="144" y="2832"/>
                <a:ext cx="100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9271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defTabSz="9271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defTabSz="9271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defTabSz="9271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defTabSz="9271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chemeClr val="accent2"/>
                  </a:buClr>
                  <a:buSzTx/>
                  <a:buFont typeface="Monotype Sorts" pitchFamily="2" charset="2"/>
                  <a:buNone/>
                </a:pPr>
                <a:r>
                  <a:rPr kumimoji="1" lang="en-US" altLang="en-US" sz="1600" b="1">
                    <a:latin typeface="Arial" panose="020B0604020202020204" pitchFamily="34" charset="0"/>
                  </a:rPr>
                  <a:t>Split Positions</a:t>
                </a:r>
              </a:p>
            </p:txBody>
          </p:sp>
          <p:sp>
            <p:nvSpPr>
              <p:cNvPr id="45066" name="Line 9"/>
              <p:cNvSpPr>
                <a:spLocks noChangeShapeType="1"/>
              </p:cNvSpPr>
              <p:nvPr/>
            </p:nvSpPr>
            <p:spPr bwMode="auto">
              <a:xfrm>
                <a:off x="1152" y="297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064" name="Text Box 10"/>
            <p:cNvSpPr txBox="1">
              <a:spLocks noChangeArrowheads="1"/>
            </p:cNvSpPr>
            <p:nvPr/>
          </p:nvSpPr>
          <p:spPr bwMode="auto">
            <a:xfrm>
              <a:off x="144" y="2736"/>
              <a:ext cx="10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Sorted Values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350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dirty="0" smtClean="0"/>
              <a:t>Splitting Based on INFO...</a:t>
            </a:r>
            <a:endParaRPr lang="en-US" dirty="0" smtClean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382000" cy="495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Information Gain: 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	</a:t>
            </a:r>
            <a:r>
              <a:rPr lang="en-US" sz="2200" dirty="0" smtClean="0"/>
              <a:t>Parent Node, p is split into k partitions;</a:t>
            </a:r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r>
              <a:rPr lang="en-US" sz="2200" dirty="0" smtClean="0"/>
              <a:t>		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i</a:t>
            </a:r>
            <a:r>
              <a:rPr lang="en-US" sz="2200" dirty="0" smtClean="0"/>
              <a:t> is number of records in partition </a:t>
            </a:r>
            <a:r>
              <a:rPr lang="en-US" sz="2200" dirty="0" err="1" smtClean="0"/>
              <a:t>i</a:t>
            </a:r>
            <a:endParaRPr lang="en-US" sz="2200" dirty="0" smtClean="0"/>
          </a:p>
          <a:p>
            <a:pPr lvl="1" eaLnBrk="1" hangingPunct="1">
              <a:defRPr/>
            </a:pPr>
            <a:r>
              <a:rPr lang="en-US" sz="2400" dirty="0" smtClean="0"/>
              <a:t>Measures Reduction in Entropy achieved because of the split. Choose the split that achieves most reduction (maximizes GAIN)</a:t>
            </a:r>
          </a:p>
          <a:p>
            <a:pPr lvl="1" eaLnBrk="1" hangingPunct="1">
              <a:defRPr/>
            </a:pPr>
            <a:r>
              <a:rPr lang="en-US" sz="2400" dirty="0" smtClean="0"/>
              <a:t>Used in ID3 and C4.5</a:t>
            </a:r>
          </a:p>
          <a:p>
            <a:pPr lvl="1" eaLnBrk="1" hangingPunct="1">
              <a:defRPr/>
            </a:pPr>
            <a:r>
              <a:rPr lang="en-US" sz="2400" dirty="0" smtClean="0"/>
              <a:t>Disadvantage: Tends to prefer splits that result in large number of partitions, each being small but pure.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1752600" y="2057400"/>
          <a:ext cx="61896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6" name="Equation" r:id="rId3" imgW="5041900" imgH="787400" progId="Equation.3">
                  <p:embed/>
                </p:oleObj>
              </mc:Choice>
              <mc:Fallback>
                <p:oleObj name="Equation" r:id="rId3" imgW="50419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6189663" cy="9667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389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 smtClean="0"/>
              <a:t>Splitting Based on INFO...</a:t>
            </a:r>
            <a:endParaRPr lang="en-US" smtClean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Gain Ratio: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 smtClean="0"/>
          </a:p>
          <a:p>
            <a:pPr marL="1146175" lvl="2" eaLnBrk="1" hangingPunct="1">
              <a:lnSpc>
                <a:spcPct val="90000"/>
              </a:lnSpc>
              <a:defRPr/>
            </a:pPr>
            <a:endParaRPr lang="en-US" sz="2000" dirty="0" smtClean="0"/>
          </a:p>
          <a:p>
            <a:pPr marL="1146175" lvl="2" eaLnBrk="1" hangingPunct="1">
              <a:lnSpc>
                <a:spcPct val="90000"/>
              </a:lnSpc>
              <a:defRPr/>
            </a:pPr>
            <a:endParaRPr lang="en-US" sz="2000" dirty="0" smtClean="0"/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Parent Node, p is split into k partitions</a:t>
            </a:r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err="1" smtClean="0"/>
              <a:t>n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is the number of records in partition </a:t>
            </a:r>
            <a:r>
              <a:rPr lang="en-US" sz="2400" dirty="0" err="1" smtClean="0"/>
              <a:t>i</a:t>
            </a:r>
            <a:endParaRPr lang="en-US" sz="2400" dirty="0" smtClean="0"/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9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Adjusts Information Gain by the entropy of the partitioning (</a:t>
            </a:r>
            <a:r>
              <a:rPr lang="en-US" sz="2400" dirty="0" err="1" smtClean="0"/>
              <a:t>SplitINFO</a:t>
            </a:r>
            <a:r>
              <a:rPr lang="en-US" sz="2400" dirty="0" smtClean="0"/>
              <a:t>). Higher entropy partitioning (large number of small partitions) is penalized!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Used in C4.5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Designed to overcome the disadvantage of Information Gain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609600" y="1752600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6" name="Equation" r:id="rId3" imgW="3340100" imgH="800100" progId="Equation.3">
                  <p:embed/>
                </p:oleObj>
              </mc:Choice>
              <mc:Fallback>
                <p:oleObj name="Equation" r:id="rId3" imgW="3340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52600"/>
                        <a:ext cx="4114800" cy="927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4800600" y="1752600"/>
          <a:ext cx="4194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7" name="Equation" r:id="rId5" imgW="2959100" imgH="723900" progId="Equation.3">
                  <p:embed/>
                </p:oleObj>
              </mc:Choice>
              <mc:Fallback>
                <p:oleObj name="Equation" r:id="rId5" imgW="29591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752600"/>
                        <a:ext cx="4194175" cy="9350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52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B04E7-41F4-4D41-864A-7CDBD823C06F}" type="datetime4">
              <a:rPr lang="en-US" altLang="en-US"/>
              <a:pPr/>
              <a:t>February 7, 2018</a:t>
            </a:fld>
            <a:endParaRPr lang="en-US" alt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1FC5-3B16-42AE-A4FB-A71245B0EB9D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altLang="en-US" sz="3200"/>
              <a:t>Attribute Selection: Information Gain</a:t>
            </a:r>
          </a:p>
        </p:txBody>
      </p:sp>
      <p:sp>
        <p:nvSpPr>
          <p:cNvPr id="14090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4152900" cy="16002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P: buys_computer = “yes”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N: buys_computer = “no”</a:t>
            </a:r>
            <a:endParaRPr lang="en-US" altLang="en-US" sz="2400"/>
          </a:p>
        </p:txBody>
      </p:sp>
      <p:sp>
        <p:nvSpPr>
          <p:cNvPr id="14090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2743200"/>
            <a:ext cx="4152900" cy="220980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            means “age &lt;=30” has 5 out of 14 samples, with 2 yes’es  and 3 no’s.   Hence</a:t>
            </a:r>
            <a:endParaRPr lang="en-US" altLang="en-US" sz="200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>
              <a:solidFill>
                <a:srgbClr val="121328"/>
              </a:solidFill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Similarly,</a:t>
            </a:r>
          </a:p>
        </p:txBody>
      </p:sp>
      <p:graphicFrame>
        <p:nvGraphicFramePr>
          <p:cNvPr id="1409029" name="Object 5"/>
          <p:cNvGraphicFramePr>
            <a:graphicFrameLocks noChangeAspect="1"/>
          </p:cNvGraphicFramePr>
          <p:nvPr/>
        </p:nvGraphicFramePr>
        <p:xfrm>
          <a:off x="762000" y="2743200"/>
          <a:ext cx="33543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9" name="Worksheet" r:id="rId3" imgW="3352800" imgH="1438250" progId="Excel.Sheet.8">
                  <p:embed/>
                </p:oleObj>
              </mc:Choice>
              <mc:Fallback>
                <p:oleObj name="Worksheet" r:id="rId3" imgW="3352800" imgH="143825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3354388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0" name="Object 6"/>
          <p:cNvGraphicFramePr>
            <a:graphicFrameLocks noChangeAspect="1"/>
          </p:cNvGraphicFramePr>
          <p:nvPr/>
        </p:nvGraphicFramePr>
        <p:xfrm>
          <a:off x="4876800" y="1295400"/>
          <a:ext cx="37544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Equation" r:id="rId5" imgW="2044440" imgH="812520" progId="Equation.3">
                  <p:embed/>
                </p:oleObj>
              </mc:Choice>
              <mc:Fallback>
                <p:oleObj name="Equation" r:id="rId5" imgW="20444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295400"/>
                        <a:ext cx="37544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1" name="Object 7"/>
          <p:cNvGraphicFramePr>
            <a:graphicFrameLocks noChangeAspect="1"/>
          </p:cNvGraphicFramePr>
          <p:nvPr/>
        </p:nvGraphicFramePr>
        <p:xfrm>
          <a:off x="5029200" y="5257800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Equation" r:id="rId7" imgW="3593880" imgH="1193760" progId="Equation.3">
                  <p:embed/>
                </p:oleObj>
              </mc:Choice>
              <mc:Fallback>
                <p:oleObj name="Equation" r:id="rId7" imgW="3593880" imgH="1193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35941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2" name="Object 8"/>
          <p:cNvGraphicFramePr>
            <a:graphicFrameLocks noChangeAspect="1"/>
          </p:cNvGraphicFramePr>
          <p:nvPr/>
        </p:nvGraphicFramePr>
        <p:xfrm>
          <a:off x="4724400" y="4114800"/>
          <a:ext cx="4271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Equation" r:id="rId9" imgW="2552400" imgH="241200" progId="Equation.3">
                  <p:embed/>
                </p:oleObj>
              </mc:Choice>
              <mc:Fallback>
                <p:oleObj name="Equation" r:id="rId9" imgW="2552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114800"/>
                        <a:ext cx="42719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3" name="Object 9"/>
          <p:cNvGraphicFramePr>
            <a:graphicFrameLocks/>
          </p:cNvGraphicFramePr>
          <p:nvPr/>
        </p:nvGraphicFramePr>
        <p:xfrm>
          <a:off x="152400" y="4191000"/>
          <a:ext cx="4419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3" name="Worksheet" r:id="rId11" imgW="6115431" imgH="4458208" progId="Excel.Sheet.8">
                  <p:embed/>
                </p:oleObj>
              </mc:Choice>
              <mc:Fallback>
                <p:oleObj name="Worksheet" r:id="rId11" imgW="6115431" imgH="445820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4419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4" name="Object 10"/>
          <p:cNvGraphicFramePr>
            <a:graphicFrameLocks noChangeAspect="1"/>
          </p:cNvGraphicFramePr>
          <p:nvPr/>
        </p:nvGraphicFramePr>
        <p:xfrm>
          <a:off x="4495800" y="2743200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4" name="Equation" r:id="rId13" imgW="583920" imgH="393480" progId="Equation.3">
                  <p:embed/>
                </p:oleObj>
              </mc:Choice>
              <mc:Fallback>
                <p:oleObj name="Equation" r:id="rId13" imgW="583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10731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5" name="Object 11"/>
          <p:cNvGraphicFramePr>
            <a:graphicFrameLocks noChangeAspect="1"/>
          </p:cNvGraphicFramePr>
          <p:nvPr/>
        </p:nvGraphicFramePr>
        <p:xfrm>
          <a:off x="76200" y="2057400"/>
          <a:ext cx="480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5" name="Equation" r:id="rId15" imgW="3314520" imgH="393480" progId="Equation.3">
                  <p:embed/>
                </p:oleObj>
              </mc:Choice>
              <mc:Fallback>
                <p:oleObj name="Equation" r:id="rId15" imgW="331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4800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17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Tree Induction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Greedy strategy.</a:t>
            </a:r>
          </a:p>
          <a:p>
            <a:pPr lvl="1" eaLnBrk="1" hangingPunct="1">
              <a:defRPr/>
            </a:pPr>
            <a:r>
              <a:rPr lang="en-US" smtClean="0"/>
              <a:t>Split the records based on an attribute test that optimizes certain criterion.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Issues</a:t>
            </a:r>
          </a:p>
          <a:p>
            <a:pPr lvl="1" eaLnBrk="1" hangingPunct="1">
              <a:defRPr/>
            </a:pPr>
            <a:r>
              <a:rPr lang="en-US" smtClean="0"/>
              <a:t>Determine how to split the records</a:t>
            </a:r>
          </a:p>
          <a:p>
            <a:pPr lvl="2" eaLnBrk="1" hangingPunct="1">
              <a:defRPr/>
            </a:pPr>
            <a:r>
              <a:rPr lang="en-US" smtClean="0"/>
              <a:t>How to specify the attribute test condition?</a:t>
            </a:r>
          </a:p>
          <a:p>
            <a:pPr lvl="2" eaLnBrk="1" hangingPunct="1">
              <a:defRPr/>
            </a:pPr>
            <a:r>
              <a:rPr lang="en-US" smtClean="0"/>
              <a:t>How to determine the best split?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Determine when to stop splitting</a:t>
            </a:r>
          </a:p>
          <a:p>
            <a:pPr lvl="1"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9947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Stopping Criteria for Tree Induction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 expanding a node when all the records belong to the same class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Stop expanding a node when all the records have similar attribute values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Early termination (to be discussed later)</a:t>
            </a:r>
          </a:p>
        </p:txBody>
      </p:sp>
    </p:spTree>
    <p:extLst>
      <p:ext uri="{BB962C8B-B14F-4D97-AF65-F5344CB8AC3E}">
        <p14:creationId xmlns:p14="http://schemas.microsoft.com/office/powerpoint/2010/main" val="421967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Decision Tree Based Classification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Advantages:</a:t>
            </a:r>
          </a:p>
          <a:p>
            <a:pPr lvl="1" eaLnBrk="1" hangingPunct="1">
              <a:defRPr/>
            </a:pPr>
            <a:r>
              <a:rPr lang="en-US" dirty="0" smtClean="0"/>
              <a:t>Inexpensive to </a:t>
            </a:r>
            <a:r>
              <a:rPr lang="en-US" dirty="0" smtClean="0"/>
              <a:t>construct. It does not require any domain knowledge.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smtClean="0"/>
              <a:t>Extremely fast at classifying unknown </a:t>
            </a:r>
            <a:r>
              <a:rPr lang="en-US" dirty="0" smtClean="0"/>
              <a:t>records</a:t>
            </a:r>
          </a:p>
          <a:p>
            <a:pPr lvl="1">
              <a:defRPr/>
            </a:pPr>
            <a:r>
              <a:rPr lang="en-US" altLang="en-US" sz="2000" dirty="0"/>
              <a:t>convertible to simple and easy to understand classification rules</a:t>
            </a:r>
          </a:p>
          <a:p>
            <a:pPr lvl="1" eaLnBrk="1" hangingPunct="1">
              <a:defRPr/>
            </a:pPr>
            <a:r>
              <a:rPr lang="en-US" dirty="0" smtClean="0"/>
              <a:t>Easy </a:t>
            </a:r>
            <a:r>
              <a:rPr lang="en-US" dirty="0" smtClean="0"/>
              <a:t>to interpret for small-sized trees</a:t>
            </a:r>
          </a:p>
          <a:p>
            <a:pPr lvl="1" eaLnBrk="1" hangingPunct="1">
              <a:defRPr/>
            </a:pPr>
            <a:r>
              <a:rPr lang="en-US" dirty="0" smtClean="0"/>
              <a:t>Accuracy is comparable to other classification techniques for many simple data sets</a:t>
            </a:r>
          </a:p>
          <a:p>
            <a:pPr lvl="1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42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Example: C4.5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Simple depth-first construction.</a:t>
            </a:r>
          </a:p>
          <a:p>
            <a:pPr eaLnBrk="1" hangingPunct="1">
              <a:defRPr/>
            </a:pPr>
            <a:r>
              <a:rPr lang="en-US" dirty="0" smtClean="0"/>
              <a:t>Uses Information Gain</a:t>
            </a:r>
          </a:p>
          <a:p>
            <a:pPr eaLnBrk="1" hangingPunct="1">
              <a:defRPr/>
            </a:pPr>
            <a:r>
              <a:rPr lang="en-US" dirty="0" smtClean="0"/>
              <a:t>Sorts Continuous Attributes at each node.</a:t>
            </a:r>
          </a:p>
          <a:p>
            <a:pPr eaLnBrk="1" hangingPunct="1">
              <a:defRPr/>
            </a:pPr>
            <a:r>
              <a:rPr lang="en-US" dirty="0" smtClean="0"/>
              <a:t>Needs entire data to fit in memory.</a:t>
            </a:r>
          </a:p>
          <a:p>
            <a:pPr eaLnBrk="1" hangingPunct="1">
              <a:defRPr/>
            </a:pPr>
            <a:r>
              <a:rPr lang="en-US" dirty="0" smtClean="0"/>
              <a:t>Unsuitable for Large Datasets.</a:t>
            </a:r>
          </a:p>
          <a:p>
            <a:pPr lvl="1" eaLnBrk="1" hangingPunct="1">
              <a:defRPr/>
            </a:pPr>
            <a:r>
              <a:rPr lang="en-US" dirty="0" smtClean="0"/>
              <a:t>Needs out-of-core sorting.</a:t>
            </a:r>
          </a:p>
          <a:p>
            <a:pPr lvl="1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572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Practical Issues of Classification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Underfitting and Overfitting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Missing Values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Costs of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3827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Another Example</a:t>
            </a:r>
          </a:p>
        </p:txBody>
      </p:sp>
      <p:pic>
        <p:nvPicPr>
          <p:cNvPr id="366596" name="Picture 4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14" y="838200"/>
            <a:ext cx="7054986" cy="575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36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0394" y="152400"/>
            <a:ext cx="7772400" cy="685800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Another Example</a:t>
            </a:r>
          </a:p>
        </p:txBody>
      </p:sp>
      <p:pic>
        <p:nvPicPr>
          <p:cNvPr id="472068" name="Picture 1028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95718"/>
            <a:ext cx="5259388" cy="343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2069" name="Picture 1029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255828"/>
            <a:ext cx="4343400" cy="249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4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219200"/>
          </a:xfrm>
        </p:spPr>
        <p:txBody>
          <a:bodyPr/>
          <a:lstStyle/>
          <a:p>
            <a:r>
              <a:rPr lang="en-US" altLang="zh-TW" b="1">
                <a:solidFill>
                  <a:srgbClr val="FF0000"/>
                </a:solidFill>
              </a:rPr>
              <a:t>Decision Tree Generation Algorithm: ID3</a:t>
            </a:r>
          </a:p>
        </p:txBody>
      </p:sp>
      <p:pic>
        <p:nvPicPr>
          <p:cNvPr id="727043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33528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7044" name="Picture 4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76400"/>
            <a:ext cx="5105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5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Decision Tree Generation Algorithm: ID3</a:t>
            </a:r>
          </a:p>
        </p:txBody>
      </p:sp>
      <p:pic>
        <p:nvPicPr>
          <p:cNvPr id="728067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58495"/>
            <a:ext cx="7086600" cy="559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65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Decision Tree Generation Algorithm: ID3</a:t>
            </a:r>
          </a:p>
        </p:txBody>
      </p:sp>
      <p:pic>
        <p:nvPicPr>
          <p:cNvPr id="729091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26" y="990600"/>
            <a:ext cx="6304000" cy="51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54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5174</TotalTime>
  <Words>1423</Words>
  <Application>Microsoft Office PowerPoint</Application>
  <PresentationFormat>On-screen Show (4:3)</PresentationFormat>
  <Paragraphs>295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7</vt:i4>
      </vt:variant>
      <vt:variant>
        <vt:lpstr>Slide Titles</vt:lpstr>
      </vt:variant>
      <vt:variant>
        <vt:i4>39</vt:i4>
      </vt:variant>
    </vt:vector>
  </HeadingPairs>
  <TitlesOfParts>
    <vt:vector size="59" baseType="lpstr">
      <vt:lpstr>新細明體</vt:lpstr>
      <vt:lpstr>宋体</vt:lpstr>
      <vt:lpstr>Arial</vt:lpstr>
      <vt:lpstr>Calibri</vt:lpstr>
      <vt:lpstr>Marlett</vt:lpstr>
      <vt:lpstr>Monotype Sorts</vt:lpstr>
      <vt:lpstr>Symbol</vt:lpstr>
      <vt:lpstr>Tahoma</vt:lpstr>
      <vt:lpstr>Times</vt:lpstr>
      <vt:lpstr>Times New Roman</vt:lpstr>
      <vt:lpstr>Wingdings</vt:lpstr>
      <vt:lpstr>Wingdings 2</vt:lpstr>
      <vt:lpstr>Blank</vt:lpstr>
      <vt:lpstr>Visio</vt:lpstr>
      <vt:lpstr>Equation</vt:lpstr>
      <vt:lpstr>Document</vt:lpstr>
      <vt:lpstr>Microsoft Word 97 - 2003 Document</vt:lpstr>
      <vt:lpstr>Microsoft Excel Worksheet</vt:lpstr>
      <vt:lpstr>Microsoft Office Excel Worksheet</vt:lpstr>
      <vt:lpstr>Microsoft Equation 3.0</vt:lpstr>
      <vt:lpstr>Classification</vt:lpstr>
      <vt:lpstr>Process</vt:lpstr>
      <vt:lpstr>Relational Representation  of Gene Expression Data</vt:lpstr>
      <vt:lpstr>Algorithm for Decision Tree Induction</vt:lpstr>
      <vt:lpstr>Decision Tree Induction: Training Dataset</vt:lpstr>
      <vt:lpstr>Output: A Decision Tree for “buys_computer”</vt:lpstr>
      <vt:lpstr>Decision Tree Classification</vt:lpstr>
      <vt:lpstr>Tree Building Phase</vt:lpstr>
      <vt:lpstr>Tree Building Phase (cont.)</vt:lpstr>
      <vt:lpstr>Tree Induction</vt:lpstr>
      <vt:lpstr>How to determine the Best Split</vt:lpstr>
      <vt:lpstr>How to determine the Best Split</vt:lpstr>
      <vt:lpstr>Measures of Node Impurity</vt:lpstr>
      <vt:lpstr>Comparison among Splitting Criteria</vt:lpstr>
      <vt:lpstr>How to Find the Best Split</vt:lpstr>
      <vt:lpstr>Splitting Criteria based on INFO</vt:lpstr>
      <vt:lpstr>Examples for computing Entropy</vt:lpstr>
      <vt:lpstr>Measure of Impurity: GINI</vt:lpstr>
      <vt:lpstr>Examples for computing GINI</vt:lpstr>
      <vt:lpstr>Splitting Criteria based on Classification Error</vt:lpstr>
      <vt:lpstr>Examples for Computing Error</vt:lpstr>
      <vt:lpstr>Splitting Based on GINI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</vt:lpstr>
      <vt:lpstr>Splitting Based on INFO...</vt:lpstr>
      <vt:lpstr>Splitting Based on INFO...</vt:lpstr>
      <vt:lpstr>Attribute Selection: Information Gain</vt:lpstr>
      <vt:lpstr>Tree Induction</vt:lpstr>
      <vt:lpstr>Stopping Criteria for Tree Induction</vt:lpstr>
      <vt:lpstr>Decision Tree Based Classification</vt:lpstr>
      <vt:lpstr>Example: C4.5</vt:lpstr>
      <vt:lpstr>Practical Issues of Classification</vt:lpstr>
      <vt:lpstr>Another Example</vt:lpstr>
      <vt:lpstr>Another Example</vt:lpstr>
      <vt:lpstr>Decision Tree Generation Algorithm: ID3</vt:lpstr>
      <vt:lpstr>Decision Tree Generation Algorithm: ID3</vt:lpstr>
      <vt:lpstr>Decision Tree Generation Algorithm: ID3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232</cp:revision>
  <cp:lastPrinted>1601-01-01T00:00:00Z</cp:lastPrinted>
  <dcterms:created xsi:type="dcterms:W3CDTF">1601-01-01T00:00:00Z</dcterms:created>
  <dcterms:modified xsi:type="dcterms:W3CDTF">2018-02-07T10:13:27Z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