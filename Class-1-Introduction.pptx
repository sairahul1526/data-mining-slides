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1" r:id="rId1"/>
  </p:sldMasterIdLst>
  <p:notesMasterIdLst>
    <p:notesMasterId r:id="rId24"/>
  </p:notesMasterIdLst>
  <p:handoutMasterIdLst>
    <p:handoutMasterId r:id="rId25"/>
  </p:handoutMasterIdLst>
  <p:sldIdLst>
    <p:sldId id="256" r:id="rId2"/>
    <p:sldId id="257" r:id="rId3"/>
    <p:sldId id="258" r:id="rId4"/>
    <p:sldId id="259" r:id="rId5"/>
    <p:sldId id="260" r:id="rId6"/>
    <p:sldId id="261" r:id="rId7"/>
    <p:sldId id="262" r:id="rId8"/>
    <p:sldId id="277" r:id="rId9"/>
    <p:sldId id="278" r:id="rId10"/>
    <p:sldId id="279" r:id="rId11"/>
    <p:sldId id="264" r:id="rId12"/>
    <p:sldId id="265" r:id="rId13"/>
    <p:sldId id="266" r:id="rId14"/>
    <p:sldId id="267" r:id="rId15"/>
    <p:sldId id="268" r:id="rId16"/>
    <p:sldId id="269" r:id="rId17"/>
    <p:sldId id="280" r:id="rId18"/>
    <p:sldId id="281" r:id="rId19"/>
    <p:sldId id="282" r:id="rId20"/>
    <p:sldId id="283" r:id="rId21"/>
    <p:sldId id="284" r:id="rId22"/>
    <p:sldId id="28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16" autoAdjust="0"/>
    <p:restoredTop sz="96187" autoAdjust="0"/>
  </p:normalViewPr>
  <p:slideViewPr>
    <p:cSldViewPr snapToGrid="0">
      <p:cViewPr varScale="1">
        <p:scale>
          <a:sx n="76" d="100"/>
          <a:sy n="76" d="100"/>
        </p:scale>
        <p:origin x="126" y="72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 Id="rId4"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E46CB8-2939-4328-A02D-99F3E6A6D046}" type="datetimeFigureOut">
              <a:rPr lang="en-US" smtClean="0"/>
              <a:t>08-Jan-18</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CFBDEDA-E45B-4E72-A9D1-B2012FFB377F}" type="slidenum">
              <a:rPr lang="en-US" smtClean="0"/>
              <a:t>‹#›</a:t>
            </a:fld>
            <a:endParaRPr lang="en-US"/>
          </a:p>
        </p:txBody>
      </p:sp>
    </p:spTree>
    <p:extLst>
      <p:ext uri="{BB962C8B-B14F-4D97-AF65-F5344CB8AC3E}">
        <p14:creationId xmlns:p14="http://schemas.microsoft.com/office/powerpoint/2010/main" val="2587801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9533B1-ABAD-4103-B8A0-D2B6277FAC4A}" type="datetimeFigureOut">
              <a:rPr lang="en-US" smtClean="0"/>
              <a:t>08-Jan-18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366DEC1-8E65-4C55-915F-73857AE24B53}" type="slidenum">
              <a:rPr lang="en-US" smtClean="0"/>
              <a:t>‹#›</a:t>
            </a:fld>
            <a:endParaRPr lang="en-US"/>
          </a:p>
        </p:txBody>
      </p:sp>
    </p:spTree>
    <p:extLst>
      <p:ext uri="{BB962C8B-B14F-4D97-AF65-F5344CB8AC3E}">
        <p14:creationId xmlns:p14="http://schemas.microsoft.com/office/powerpoint/2010/main" val="1241668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66DEC1-8E65-4C55-915F-73857AE24B53}" type="slidenum">
              <a:rPr lang="en-US" smtClean="0"/>
              <a:t>1</a:t>
            </a:fld>
            <a:endParaRPr lang="en-US"/>
          </a:p>
        </p:txBody>
      </p:sp>
    </p:spTree>
    <p:extLst>
      <p:ext uri="{BB962C8B-B14F-4D97-AF65-F5344CB8AC3E}">
        <p14:creationId xmlns:p14="http://schemas.microsoft.com/office/powerpoint/2010/main" val="2035419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366DEC1-8E65-4C55-915F-73857AE24B53}" type="slidenum">
              <a:rPr lang="en-US" smtClean="0"/>
              <a:t>2</a:t>
            </a:fld>
            <a:endParaRPr lang="en-US"/>
          </a:p>
        </p:txBody>
      </p:sp>
    </p:spTree>
    <p:extLst>
      <p:ext uri="{BB962C8B-B14F-4D97-AF65-F5344CB8AC3E}">
        <p14:creationId xmlns:p14="http://schemas.microsoft.com/office/powerpoint/2010/main" val="3919751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E26BE4AF-2759-43BD-814D-E2892801EC31}" type="slidenum">
              <a:rPr lang="en-US" altLang="en-US" smtClean="0">
                <a:latin typeface="Arial" panose="020B0604020202020204" pitchFamily="34" charset="0"/>
              </a:rPr>
              <a:pPr/>
              <a:t>8</a:t>
            </a:fld>
            <a:endParaRPr lang="en-US" altLang="en-US" smtClean="0">
              <a:latin typeface="Arial" panose="020B0604020202020204" pitchFamily="34" charset="0"/>
            </a:endParaRPr>
          </a:p>
        </p:txBody>
      </p:sp>
      <p:sp>
        <p:nvSpPr>
          <p:cNvPr id="16387" name="Rectangle 2"/>
          <p:cNvSpPr>
            <a:spLocks noGrp="1" noRot="1" noChangeAspect="1" noChangeArrowheads="1" noTextEdit="1"/>
          </p:cNvSpPr>
          <p:nvPr>
            <p:ph type="sldImg"/>
          </p:nvPr>
        </p:nvSpPr>
        <p:spPr>
          <a:xfrm>
            <a:off x="385763" y="687388"/>
            <a:ext cx="6091237" cy="3427412"/>
          </a:xfrm>
          <a:ln/>
        </p:spPr>
      </p:sp>
      <p:sp>
        <p:nvSpPr>
          <p:cNvPr id="16388"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94" tIns="44946" rIns="89894" bIns="44946"/>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573297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A9B7972-6219-4389-B1AE-4E6273B1F6E2}" type="slidenum">
              <a:rPr lang="en-US" altLang="en-US" smtClean="0">
                <a:latin typeface="Arial" panose="020B0604020202020204" pitchFamily="34" charset="0"/>
              </a:rPr>
              <a:pPr/>
              <a:t>9</a:t>
            </a:fld>
            <a:endParaRPr lang="en-US" altLang="en-US" smtClean="0">
              <a:latin typeface="Arial" panose="020B0604020202020204" pitchFamily="34" charset="0"/>
            </a:endParaRPr>
          </a:p>
        </p:txBody>
      </p:sp>
      <p:sp>
        <p:nvSpPr>
          <p:cNvPr id="18435" name="Rectangle 2"/>
          <p:cNvSpPr>
            <a:spLocks noGrp="1" noRot="1" noChangeAspect="1" noChangeArrowheads="1" noTextEdit="1"/>
          </p:cNvSpPr>
          <p:nvPr>
            <p:ph type="sldImg"/>
          </p:nvPr>
        </p:nvSpPr>
        <p:spPr>
          <a:xfrm>
            <a:off x="385763" y="687388"/>
            <a:ext cx="6091237" cy="3427412"/>
          </a:xfrm>
          <a:ln/>
        </p:spPr>
      </p:sp>
      <p:sp>
        <p:nvSpPr>
          <p:cNvPr id="18436"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94" tIns="44946" rIns="89894" bIns="44946"/>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42884183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7DAD1624-21AC-46C6-8174-3A691A3DAD6F}" type="slidenum">
              <a:rPr lang="en-US" altLang="en-US" smtClean="0">
                <a:latin typeface="Arial" panose="020B0604020202020204" pitchFamily="34" charset="0"/>
              </a:rPr>
              <a:pPr/>
              <a:t>17</a:t>
            </a:fld>
            <a:endParaRPr lang="en-US" altLang="en-US" smtClean="0">
              <a:latin typeface="Arial" panose="020B0604020202020204" pitchFamily="34" charset="0"/>
            </a:endParaRPr>
          </a:p>
        </p:txBody>
      </p:sp>
      <p:sp>
        <p:nvSpPr>
          <p:cNvPr id="21507" name="Rectangle 2"/>
          <p:cNvSpPr>
            <a:spLocks noGrp="1" noRot="1" noChangeAspect="1" noChangeArrowheads="1" noTextEdit="1"/>
          </p:cNvSpPr>
          <p:nvPr>
            <p:ph type="sldImg"/>
          </p:nvPr>
        </p:nvSpPr>
        <p:spPr>
          <a:xfrm>
            <a:off x="385763" y="687388"/>
            <a:ext cx="6091237" cy="3427412"/>
          </a:xfrm>
          <a:ln/>
        </p:spPr>
      </p:sp>
      <p:sp>
        <p:nvSpPr>
          <p:cNvPr id="21508"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94" tIns="44946" rIns="89894" bIns="44946"/>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5839396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3658422D-4DAC-4588-B4A9-920F4D165ABD}" type="slidenum">
              <a:rPr lang="en-US" altLang="en-US" smtClean="0">
                <a:latin typeface="Arial" panose="020B0604020202020204" pitchFamily="34" charset="0"/>
              </a:rPr>
              <a:pPr/>
              <a:t>19</a:t>
            </a:fld>
            <a:endParaRPr lang="en-US" altLang="en-US" smtClean="0">
              <a:latin typeface="Arial" panose="020B0604020202020204" pitchFamily="34" charset="0"/>
            </a:endParaRPr>
          </a:p>
        </p:txBody>
      </p:sp>
      <p:sp>
        <p:nvSpPr>
          <p:cNvPr id="24579" name="Rectangle 2"/>
          <p:cNvSpPr>
            <a:spLocks noGrp="1" noRot="1" noChangeAspect="1" noChangeArrowheads="1" noTextEdit="1"/>
          </p:cNvSpPr>
          <p:nvPr>
            <p:ph type="sldImg"/>
          </p:nvPr>
        </p:nvSpPr>
        <p:spPr>
          <a:xfrm>
            <a:off x="385763" y="687388"/>
            <a:ext cx="6091237" cy="3427412"/>
          </a:xfrm>
          <a:ln/>
        </p:spPr>
      </p:sp>
      <p:sp>
        <p:nvSpPr>
          <p:cNvPr id="24580"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94" tIns="44946" rIns="89894" bIns="44946"/>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25354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3D79303-4B9E-4087-B00A-EF71DBFA94D8}" type="slidenum">
              <a:rPr lang="en-US" altLang="en-US" smtClean="0">
                <a:latin typeface="Arial" panose="020B0604020202020204" pitchFamily="34" charset="0"/>
              </a:rPr>
              <a:pPr/>
              <a:t>20</a:t>
            </a:fld>
            <a:endParaRPr lang="en-US" altLang="en-US" smtClean="0">
              <a:latin typeface="Arial" panose="020B0604020202020204" pitchFamily="34" charset="0"/>
            </a:endParaRPr>
          </a:p>
        </p:txBody>
      </p:sp>
      <p:sp>
        <p:nvSpPr>
          <p:cNvPr id="26627" name="Rectangle 2"/>
          <p:cNvSpPr>
            <a:spLocks noGrp="1" noRot="1" noChangeAspect="1" noChangeArrowheads="1" noTextEdit="1"/>
          </p:cNvSpPr>
          <p:nvPr>
            <p:ph type="sldImg"/>
          </p:nvPr>
        </p:nvSpPr>
        <p:spPr>
          <a:xfrm>
            <a:off x="385763" y="687388"/>
            <a:ext cx="6091237" cy="3427412"/>
          </a:xfrm>
          <a:ln/>
        </p:spPr>
      </p:sp>
      <p:sp>
        <p:nvSpPr>
          <p:cNvPr id="26628"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94" tIns="44946" rIns="89894" bIns="44946"/>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9753956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F7757475-BEF0-4375-81AB-7AD5D250D07D}" type="slidenum">
              <a:rPr lang="en-US" altLang="en-US" smtClean="0">
                <a:latin typeface="Arial" panose="020B0604020202020204" pitchFamily="34" charset="0"/>
              </a:rPr>
              <a:pPr/>
              <a:t>21</a:t>
            </a:fld>
            <a:endParaRPr lang="en-US" altLang="en-US" smtClean="0">
              <a:latin typeface="Arial" panose="020B0604020202020204" pitchFamily="34" charset="0"/>
            </a:endParaRPr>
          </a:p>
        </p:txBody>
      </p:sp>
      <p:sp>
        <p:nvSpPr>
          <p:cNvPr id="60419" name="Rectangle 2"/>
          <p:cNvSpPr>
            <a:spLocks noGrp="1" noRot="1" noChangeAspect="1" noChangeArrowheads="1" noTextEdit="1"/>
          </p:cNvSpPr>
          <p:nvPr>
            <p:ph type="sldImg"/>
          </p:nvPr>
        </p:nvSpPr>
        <p:spPr>
          <a:xfrm>
            <a:off x="385763" y="687388"/>
            <a:ext cx="6091237" cy="3427412"/>
          </a:xfrm>
          <a:ln/>
        </p:spPr>
      </p:sp>
      <p:sp>
        <p:nvSpPr>
          <p:cNvPr id="60420" name="Rectangle 3"/>
          <p:cNvSpPr>
            <a:spLocks noGrp="1" noChangeArrowheads="1"/>
          </p:cNvSpPr>
          <p:nvPr>
            <p:ph type="body" idx="1"/>
          </p:nvPr>
        </p:nvSpPr>
        <p:spPr>
          <a:xfrm>
            <a:off x="914400" y="4341813"/>
            <a:ext cx="50292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894" tIns="44946" rIns="89894" bIns="44946"/>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509837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56304FE-F24E-43EF-8A12-6490B835D045}" type="datetime5">
              <a:rPr lang="en-US" smtClean="0"/>
              <a:t>8-Jan-18</a:t>
            </a:fld>
            <a:endParaRPr lang="en-US"/>
          </a:p>
        </p:txBody>
      </p:sp>
      <p:sp>
        <p:nvSpPr>
          <p:cNvPr id="5" name="Footer Placeholder 4"/>
          <p:cNvSpPr>
            <a:spLocks noGrp="1"/>
          </p:cNvSpPr>
          <p:nvPr>
            <p:ph type="ftr" sz="quarter" idx="11"/>
          </p:nvPr>
        </p:nvSpPr>
        <p:spPr/>
        <p:txBody>
          <a:bodyPr/>
          <a:lstStyle/>
          <a:p>
            <a:r>
              <a:rPr lang="en-US" smtClean="0"/>
              <a:t>C1S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36845328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DF465A-C2E8-41D1-AEDC-CD362C421DD2}" type="datetime5">
              <a:rPr lang="en-US" smtClean="0"/>
              <a:t>8-Jan-18</a:t>
            </a:fld>
            <a:endParaRPr lang="en-US"/>
          </a:p>
        </p:txBody>
      </p:sp>
      <p:sp>
        <p:nvSpPr>
          <p:cNvPr id="5" name="Footer Placeholder 4"/>
          <p:cNvSpPr>
            <a:spLocks noGrp="1"/>
          </p:cNvSpPr>
          <p:nvPr>
            <p:ph type="ftr" sz="quarter" idx="11"/>
          </p:nvPr>
        </p:nvSpPr>
        <p:spPr/>
        <p:txBody>
          <a:bodyPr/>
          <a:lstStyle/>
          <a:p>
            <a:r>
              <a:rPr lang="en-US" smtClean="0"/>
              <a:t>C1S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1187736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E252661-2D44-4F65-BA2F-22C9E7709B6C}" type="datetime5">
              <a:rPr lang="en-US" smtClean="0"/>
              <a:t>8-Jan-18</a:t>
            </a:fld>
            <a:endParaRPr lang="en-US"/>
          </a:p>
        </p:txBody>
      </p:sp>
      <p:sp>
        <p:nvSpPr>
          <p:cNvPr id="5" name="Footer Placeholder 4"/>
          <p:cNvSpPr>
            <a:spLocks noGrp="1"/>
          </p:cNvSpPr>
          <p:nvPr>
            <p:ph type="ftr" sz="quarter" idx="11"/>
          </p:nvPr>
        </p:nvSpPr>
        <p:spPr/>
        <p:txBody>
          <a:bodyPr/>
          <a:lstStyle/>
          <a:p>
            <a:r>
              <a:rPr lang="en-US" smtClean="0"/>
              <a:t>C1S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1808710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6A761F3E-789E-49BE-B955-6073698F7D3E}" type="datetime5">
              <a:rPr lang="en-US" smtClean="0"/>
              <a:t>8-Jan-18</a:t>
            </a:fld>
            <a:endParaRPr lang="en-US"/>
          </a:p>
        </p:txBody>
      </p:sp>
      <p:sp>
        <p:nvSpPr>
          <p:cNvPr id="6" name="Footer Placeholder 5"/>
          <p:cNvSpPr>
            <a:spLocks noGrp="1"/>
          </p:cNvSpPr>
          <p:nvPr>
            <p:ph type="ftr" sz="quarter" idx="11"/>
          </p:nvPr>
        </p:nvSpPr>
        <p:spPr/>
        <p:txBody>
          <a:bodyPr/>
          <a:lstStyle/>
          <a:p>
            <a:r>
              <a:rPr lang="en-US" smtClean="0"/>
              <a:t>C1S F415</a:t>
            </a:r>
            <a:endParaRPr lang="en-US"/>
          </a:p>
        </p:txBody>
      </p:sp>
      <p:sp>
        <p:nvSpPr>
          <p:cNvPr id="7" name="Slide Number Placeholder 6"/>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10801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43B19F8-9C81-422D-8FA1-E4CBFA041265}" type="datetime5">
              <a:rPr lang="en-US" smtClean="0"/>
              <a:t>8-Jan-18</a:t>
            </a:fld>
            <a:endParaRPr lang="en-US"/>
          </a:p>
        </p:txBody>
      </p:sp>
      <p:sp>
        <p:nvSpPr>
          <p:cNvPr id="8" name="Footer Placeholder 7"/>
          <p:cNvSpPr>
            <a:spLocks noGrp="1"/>
          </p:cNvSpPr>
          <p:nvPr>
            <p:ph type="ftr" sz="quarter" idx="11"/>
          </p:nvPr>
        </p:nvSpPr>
        <p:spPr/>
        <p:txBody>
          <a:bodyPr/>
          <a:lstStyle/>
          <a:p>
            <a:r>
              <a:rPr lang="en-US" smtClean="0"/>
              <a:t>C1S F415</a:t>
            </a:r>
            <a:endParaRPr lang="en-US"/>
          </a:p>
        </p:txBody>
      </p:sp>
      <p:sp>
        <p:nvSpPr>
          <p:cNvPr id="9" name="Slide Number Placeholder 8"/>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2898853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260FBD8-005A-440F-B9CE-290ECB9B3336}" type="datetime5">
              <a:rPr lang="en-US" smtClean="0"/>
              <a:t>8-Jan-18</a:t>
            </a:fld>
            <a:endParaRPr lang="en-US"/>
          </a:p>
        </p:txBody>
      </p:sp>
      <p:sp>
        <p:nvSpPr>
          <p:cNvPr id="4" name="Footer Placeholder 3"/>
          <p:cNvSpPr>
            <a:spLocks noGrp="1"/>
          </p:cNvSpPr>
          <p:nvPr>
            <p:ph type="ftr" sz="quarter" idx="11"/>
          </p:nvPr>
        </p:nvSpPr>
        <p:spPr/>
        <p:txBody>
          <a:bodyPr/>
          <a:lstStyle/>
          <a:p>
            <a:r>
              <a:rPr lang="en-US" smtClean="0"/>
              <a:t>C1S F415</a:t>
            </a:r>
            <a:endParaRPr lang="en-US"/>
          </a:p>
        </p:txBody>
      </p:sp>
      <p:sp>
        <p:nvSpPr>
          <p:cNvPr id="5" name="Slide Number Placeholder 4"/>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20059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4BE1AF6-FCBB-40F9-8F1C-67DF7A3FF201}"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30790060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7AD604-102C-42BD-9AAF-064BC73A8289}" type="datetime5">
              <a:rPr lang="en-US" smtClean="0"/>
              <a:t>8-Jan-18</a:t>
            </a:fld>
            <a:endParaRPr lang="en-US"/>
          </a:p>
        </p:txBody>
      </p:sp>
      <p:sp>
        <p:nvSpPr>
          <p:cNvPr id="6" name="Footer Placeholder 5"/>
          <p:cNvSpPr>
            <a:spLocks noGrp="1"/>
          </p:cNvSpPr>
          <p:nvPr>
            <p:ph type="ftr" sz="quarter" idx="11"/>
          </p:nvPr>
        </p:nvSpPr>
        <p:spPr/>
        <p:txBody>
          <a:bodyPr/>
          <a:lstStyle/>
          <a:p>
            <a:r>
              <a:rPr lang="en-US" smtClean="0"/>
              <a:t>C1S F415</a:t>
            </a:r>
            <a:endParaRPr lang="en-US"/>
          </a:p>
        </p:txBody>
      </p:sp>
      <p:sp>
        <p:nvSpPr>
          <p:cNvPr id="7" name="Slide Number Placeholder 6"/>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99607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E16525E-E759-4305-B03F-B80164A5C229}" type="datetime5">
              <a:rPr lang="en-US" smtClean="0"/>
              <a:t>8-Jan-18</a:t>
            </a:fld>
            <a:endParaRPr lang="en-US"/>
          </a:p>
        </p:txBody>
      </p:sp>
      <p:sp>
        <p:nvSpPr>
          <p:cNvPr id="6" name="Footer Placeholder 5"/>
          <p:cNvSpPr>
            <a:spLocks noGrp="1"/>
          </p:cNvSpPr>
          <p:nvPr>
            <p:ph type="ftr" sz="quarter" idx="11"/>
          </p:nvPr>
        </p:nvSpPr>
        <p:spPr/>
        <p:txBody>
          <a:bodyPr/>
          <a:lstStyle/>
          <a:p>
            <a:r>
              <a:rPr lang="en-US" smtClean="0"/>
              <a:t>C1S F415</a:t>
            </a:r>
            <a:endParaRPr lang="en-US"/>
          </a:p>
        </p:txBody>
      </p:sp>
      <p:sp>
        <p:nvSpPr>
          <p:cNvPr id="7" name="Slide Number Placeholder 6"/>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3813573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4B4063-5E7B-4B70-9E31-1958694D71C5}" type="datetime5">
              <a:rPr lang="en-US" smtClean="0"/>
              <a:t>8-Jan-18</a:t>
            </a:fld>
            <a:endParaRPr lang="en-US"/>
          </a:p>
        </p:txBody>
      </p:sp>
      <p:sp>
        <p:nvSpPr>
          <p:cNvPr id="5" name="Footer Placeholder 4"/>
          <p:cNvSpPr>
            <a:spLocks noGrp="1"/>
          </p:cNvSpPr>
          <p:nvPr>
            <p:ph type="ftr" sz="quarter" idx="11"/>
          </p:nvPr>
        </p:nvSpPr>
        <p:spPr/>
        <p:txBody>
          <a:bodyPr/>
          <a:lstStyle/>
          <a:p>
            <a:r>
              <a:rPr lang="en-US" smtClean="0"/>
              <a:t>C1S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3303800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35D2E10-9B6D-4994-BAB1-9D7B7E8AB9DD}" type="datetime5">
              <a:rPr lang="en-US" smtClean="0"/>
              <a:t>8-Jan-18</a:t>
            </a:fld>
            <a:endParaRPr lang="en-US"/>
          </a:p>
        </p:txBody>
      </p:sp>
      <p:sp>
        <p:nvSpPr>
          <p:cNvPr id="5" name="Footer Placeholder 4"/>
          <p:cNvSpPr>
            <a:spLocks noGrp="1"/>
          </p:cNvSpPr>
          <p:nvPr>
            <p:ph type="ftr" sz="quarter" idx="11"/>
          </p:nvPr>
        </p:nvSpPr>
        <p:spPr/>
        <p:txBody>
          <a:bodyPr/>
          <a:lstStyle/>
          <a:p>
            <a:r>
              <a:rPr lang="en-US" smtClean="0"/>
              <a:t>C1S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a:t>
            </a:fld>
            <a:endParaRPr lang="en-US"/>
          </a:p>
        </p:txBody>
      </p:sp>
    </p:spTree>
    <p:extLst>
      <p:ext uri="{BB962C8B-B14F-4D97-AF65-F5344CB8AC3E}">
        <p14:creationId xmlns:p14="http://schemas.microsoft.com/office/powerpoint/2010/main" val="19771686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1729C8-8443-4621-88CB-F9C273FD9D36}" type="datetime5">
              <a:rPr lang="en-US" smtClean="0"/>
              <a:t>8-Jan-18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C1S F415</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A87883-77EE-4E3D-88BB-C9B24793C6D0}" type="slidenum">
              <a:rPr lang="en-US" smtClean="0"/>
              <a:t>‹#›</a:t>
            </a:fld>
            <a:endParaRPr lang="en-US"/>
          </a:p>
        </p:txBody>
      </p:sp>
    </p:spTree>
    <p:extLst>
      <p:ext uri="{BB962C8B-B14F-4D97-AF65-F5344CB8AC3E}">
        <p14:creationId xmlns:p14="http://schemas.microsoft.com/office/powerpoint/2010/main" val="30510974"/>
      </p:ext>
    </p:extLst>
  </p:cSld>
  <p:clrMap bg1="lt1" tx1="dk1" bg2="lt2" tx2="dk2" accent1="accent1" accent2="accent2" accent3="accent3" accent4="accent4" accent5="accent5" accent6="accent6" hlink="hlink" folHlink="folHlink"/>
  <p:sldLayoutIdLst>
    <p:sldLayoutId id="2147483852" r:id="rId1"/>
    <p:sldLayoutId id="2147483853" r:id="rId2"/>
    <p:sldLayoutId id="2147483854" r:id="rId3"/>
    <p:sldLayoutId id="2147483855" r:id="rId4"/>
    <p:sldLayoutId id="2147483856" r:id="rId5"/>
    <p:sldLayoutId id="2147483857" r:id="rId6"/>
    <p:sldLayoutId id="2147483858" r:id="rId7"/>
    <p:sldLayoutId id="2147483859" r:id="rId8"/>
    <p:sldLayoutId id="2147483860" r:id="rId9"/>
    <p:sldLayoutId id="2147483861" r:id="rId10"/>
    <p:sldLayoutId id="2147483862"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mailto:yash@pilani.bits-pilani.ac.in"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wmf"/><Relationship Id="rId3" Type="http://schemas.openxmlformats.org/officeDocument/2006/relationships/notesSlide" Target="../notesSlides/notesSlide3.xml"/><Relationship Id="rId7" Type="http://schemas.openxmlformats.org/officeDocument/2006/relationships/oleObject" Target="../embeddings/oleObject2.bin"/><Relationship Id="rId12" Type="http://schemas.openxmlformats.org/officeDocument/2006/relationships/image" Target="../media/image4.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jpeg"/><Relationship Id="rId11" Type="http://schemas.openxmlformats.org/officeDocument/2006/relationships/oleObject" Target="../embeddings/oleObject4.bin"/><Relationship Id="rId5" Type="http://schemas.openxmlformats.org/officeDocument/2006/relationships/image" Target="../media/image1.wmf"/><Relationship Id="rId10" Type="http://schemas.openxmlformats.org/officeDocument/2006/relationships/image" Target="../media/image3.wmf"/><Relationship Id="rId4" Type="http://schemas.openxmlformats.org/officeDocument/2006/relationships/oleObject" Target="../embeddings/oleObject1.bin"/><Relationship Id="rId9" Type="http://schemas.openxmlformats.org/officeDocument/2006/relationships/oleObject" Target="../embeddings/oleObject3.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4.xml"/><Relationship Id="rId7" Type="http://schemas.openxmlformats.org/officeDocument/2006/relationships/image" Target="../media/image6.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9.png"/><Relationship Id="rId10" Type="http://schemas.openxmlformats.org/officeDocument/2006/relationships/image" Target="../media/image10.jpeg"/><Relationship Id="rId4" Type="http://schemas.openxmlformats.org/officeDocument/2006/relationships/image" Target="../media/image8.png"/><Relationship Id="rId9" Type="http://schemas.openxmlformats.org/officeDocument/2006/relationships/image" Target="../media/image7.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1265237"/>
          </a:xfrm>
        </p:spPr>
        <p:txBody>
          <a:bodyPr>
            <a:noAutofit/>
          </a:bodyPr>
          <a:lstStyle/>
          <a:p>
            <a:r>
              <a:rPr lang="en-US" sz="4000" dirty="0" smtClean="0"/>
              <a:t>CS F415: Data Mining</a:t>
            </a:r>
            <a:endParaRPr lang="en-US" sz="4000" dirty="0"/>
          </a:p>
        </p:txBody>
      </p:sp>
      <p:sp>
        <p:nvSpPr>
          <p:cNvPr id="3" name="Subtitle 2"/>
          <p:cNvSpPr>
            <a:spLocks noGrp="1"/>
          </p:cNvSpPr>
          <p:nvPr>
            <p:ph type="subTitle" idx="1"/>
          </p:nvPr>
        </p:nvSpPr>
        <p:spPr>
          <a:xfrm>
            <a:off x="773112" y="3619500"/>
            <a:ext cx="8689976" cy="1371599"/>
          </a:xfrm>
        </p:spPr>
        <p:txBody>
          <a:bodyPr>
            <a:normAutofit/>
          </a:bodyPr>
          <a:lstStyle/>
          <a:p>
            <a:pPr algn="r"/>
            <a:endParaRPr lang="en-US" sz="4000" dirty="0" smtClean="0">
              <a:solidFill>
                <a:srgbClr val="0070C0"/>
              </a:solidFill>
            </a:endParaRPr>
          </a:p>
          <a:p>
            <a:pPr algn="r"/>
            <a:r>
              <a:rPr lang="en-US" sz="4000" dirty="0" err="1" smtClean="0">
                <a:solidFill>
                  <a:srgbClr val="0070C0"/>
                </a:solidFill>
              </a:rPr>
              <a:t>Yashvardhan</a:t>
            </a:r>
            <a:r>
              <a:rPr lang="en-US" sz="4000" dirty="0" smtClean="0">
                <a:solidFill>
                  <a:srgbClr val="0070C0"/>
                </a:solidFill>
              </a:rPr>
              <a:t> Sharma</a:t>
            </a:r>
            <a:endParaRPr lang="en-US" sz="4000" dirty="0">
              <a:solidFill>
                <a:srgbClr val="0070C0"/>
              </a:solidFill>
            </a:endParaRPr>
          </a:p>
        </p:txBody>
      </p:sp>
      <p:sp>
        <p:nvSpPr>
          <p:cNvPr id="4" name="Date Placeholder 3"/>
          <p:cNvSpPr>
            <a:spLocks noGrp="1"/>
          </p:cNvSpPr>
          <p:nvPr>
            <p:ph type="dt" sz="half" idx="10"/>
          </p:nvPr>
        </p:nvSpPr>
        <p:spPr/>
        <p:txBody>
          <a:bodyPr/>
          <a:lstStyle/>
          <a:p>
            <a:fld id="{1E60F87B-EAC7-4DD9-A00A-2C5A9B6D8CDF}" type="datetime5">
              <a:rPr lang="en-US" smtClean="0"/>
              <a:t>8-Jan-18</a:t>
            </a:fld>
            <a:endParaRPr lang="en-US"/>
          </a:p>
        </p:txBody>
      </p:sp>
      <p:sp>
        <p:nvSpPr>
          <p:cNvPr id="5" name="Footer Placeholder 4"/>
          <p:cNvSpPr>
            <a:spLocks noGrp="1"/>
          </p:cNvSpPr>
          <p:nvPr>
            <p:ph type="ftr" sz="quarter" idx="11"/>
          </p:nvPr>
        </p:nvSpPr>
        <p:spPr/>
        <p:txBody>
          <a:bodyPr/>
          <a:lstStyle/>
          <a:p>
            <a:r>
              <a:rPr lang="en-US" dirty="0" smtClean="0"/>
              <a:t>C</a:t>
            </a:r>
            <a:fld id="{BAC8B44D-8A6F-4EC5-8711-F07CE7DFA75E}" type="slidenum">
              <a:rPr lang="en-US" smtClean="0"/>
              <a:t>1</a:t>
            </a:fld>
            <a:r>
              <a:rPr lang="en-US" dirty="0" smtClean="0"/>
              <a:t>S F415</a:t>
            </a:r>
            <a:endParaRPr lang="en-US" dirty="0"/>
          </a:p>
        </p:txBody>
      </p:sp>
      <p:sp>
        <p:nvSpPr>
          <p:cNvPr id="6" name="Slide Number Placeholder 5"/>
          <p:cNvSpPr>
            <a:spLocks noGrp="1"/>
          </p:cNvSpPr>
          <p:nvPr>
            <p:ph type="sldNum" sz="quarter" idx="12"/>
          </p:nvPr>
        </p:nvSpPr>
        <p:spPr/>
        <p:txBody>
          <a:bodyPr/>
          <a:lstStyle/>
          <a:p>
            <a:fld id="{A5A87883-77EE-4E3D-88BB-C9B24793C6D0}" type="slidenum">
              <a:rPr lang="en-US" smtClean="0"/>
              <a:t>1</a:t>
            </a:fld>
            <a:endParaRPr lang="en-US"/>
          </a:p>
        </p:txBody>
      </p:sp>
    </p:spTree>
    <p:extLst>
      <p:ext uri="{BB962C8B-B14F-4D97-AF65-F5344CB8AC3E}">
        <p14:creationId xmlns:p14="http://schemas.microsoft.com/office/powerpoint/2010/main" val="141452024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38150"/>
            <a:ext cx="10515600" cy="1325563"/>
          </a:xfrm>
        </p:spPr>
        <p:txBody>
          <a:bodyPr/>
          <a:lstStyle/>
          <a:p>
            <a:r>
              <a:rPr lang="en-US" dirty="0" smtClean="0"/>
              <a:t>Today’s Outline</a:t>
            </a:r>
            <a:endParaRPr lang="en-US" dirty="0"/>
          </a:p>
        </p:txBody>
      </p:sp>
      <p:sp>
        <p:nvSpPr>
          <p:cNvPr id="3" name="Content Placeholder 2"/>
          <p:cNvSpPr>
            <a:spLocks noGrp="1"/>
          </p:cNvSpPr>
          <p:nvPr>
            <p:ph idx="1"/>
          </p:nvPr>
        </p:nvSpPr>
        <p:spPr>
          <a:xfrm>
            <a:off x="838200" y="2286000"/>
            <a:ext cx="8534400" cy="3615267"/>
          </a:xfrm>
        </p:spPr>
        <p:txBody>
          <a:bodyPr>
            <a:normAutofit/>
          </a:bodyPr>
          <a:lstStyle/>
          <a:p>
            <a:r>
              <a:rPr lang="en-US" sz="4000" dirty="0" smtClean="0"/>
              <a:t>Course Operational Details</a:t>
            </a:r>
          </a:p>
          <a:p>
            <a:r>
              <a:rPr lang="en-US" sz="4000" dirty="0" smtClean="0"/>
              <a:t>Introduction</a:t>
            </a:r>
            <a:endParaRPr lang="en-US" sz="4000" dirty="0"/>
          </a:p>
          <a:p>
            <a:pPr lvl="1"/>
            <a:r>
              <a:rPr lang="en-US" sz="3600" dirty="0" smtClean="0"/>
              <a:t>Motivation</a:t>
            </a:r>
          </a:p>
          <a:p>
            <a:pPr lvl="1"/>
            <a:r>
              <a:rPr lang="en-US" sz="3600" dirty="0" smtClean="0"/>
              <a:t>What is Data Mining</a:t>
            </a:r>
          </a:p>
          <a:p>
            <a:pPr lvl="1"/>
            <a:r>
              <a:rPr lang="en-US" sz="3600" dirty="0" smtClean="0"/>
              <a:t>Origins of Data Mining</a:t>
            </a:r>
          </a:p>
          <a:p>
            <a:endParaRPr lang="en-US" sz="4000" dirty="0" smtClean="0"/>
          </a:p>
          <a:p>
            <a:endParaRPr lang="en-US" sz="4000" dirty="0"/>
          </a:p>
        </p:txBody>
      </p:sp>
      <p:sp>
        <p:nvSpPr>
          <p:cNvPr id="4" name="Date Placeholder 3"/>
          <p:cNvSpPr>
            <a:spLocks noGrp="1"/>
          </p:cNvSpPr>
          <p:nvPr>
            <p:ph type="dt" sz="half" idx="10"/>
          </p:nvPr>
        </p:nvSpPr>
        <p:spPr/>
        <p:txBody>
          <a:bodyPr/>
          <a:lstStyle/>
          <a:p>
            <a:fld id="{7A6EB930-76D5-4BA9-BE97-DE10A29BA9ED}" type="datetime5">
              <a:rPr lang="en-US" smtClean="0"/>
              <a:t>8-Jan-18</a:t>
            </a:fld>
            <a:endParaRPr lang="en-US"/>
          </a:p>
        </p:txBody>
      </p:sp>
      <p:sp>
        <p:nvSpPr>
          <p:cNvPr id="5" name="Footer Placeholder 4"/>
          <p:cNvSpPr>
            <a:spLocks noGrp="1"/>
          </p:cNvSpPr>
          <p:nvPr>
            <p:ph type="ftr" sz="quarter" idx="11"/>
          </p:nvPr>
        </p:nvSpPr>
        <p:spPr/>
        <p:txBody>
          <a:bodyPr/>
          <a:lstStyle/>
          <a:p>
            <a:r>
              <a:rPr lang="en-US" smtClean="0"/>
              <a:t>C1S F415</a:t>
            </a:r>
            <a:endParaRPr lang="en-US"/>
          </a:p>
        </p:txBody>
      </p:sp>
      <p:sp>
        <p:nvSpPr>
          <p:cNvPr id="6" name="Slide Number Placeholder 5"/>
          <p:cNvSpPr>
            <a:spLocks noGrp="1"/>
          </p:cNvSpPr>
          <p:nvPr>
            <p:ph type="sldNum" sz="quarter" idx="12"/>
          </p:nvPr>
        </p:nvSpPr>
        <p:spPr/>
        <p:txBody>
          <a:bodyPr/>
          <a:lstStyle/>
          <a:p>
            <a:fld id="{A5A87883-77EE-4E3D-88BB-C9B24793C6D0}" type="slidenum">
              <a:rPr lang="en-US" smtClean="0"/>
              <a:t>2</a:t>
            </a:fld>
            <a:endParaRPr lang="en-US"/>
          </a:p>
        </p:txBody>
      </p:sp>
    </p:spTree>
    <p:extLst>
      <p:ext uri="{BB962C8B-B14F-4D97-AF65-F5344CB8AC3E}">
        <p14:creationId xmlns:p14="http://schemas.microsoft.com/office/powerpoint/2010/main" val="35877332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a:xfrm>
            <a:off x="1097280" y="286603"/>
            <a:ext cx="10058400" cy="589697"/>
          </a:xfrm>
        </p:spPr>
        <p:txBody>
          <a:bodyPr>
            <a:normAutofit fontScale="90000"/>
          </a:bodyPr>
          <a:lstStyle/>
          <a:p>
            <a:r>
              <a:rPr lang="en-US" altLang="en-US" dirty="0" smtClean="0"/>
              <a:t>Course Operational Details</a:t>
            </a:r>
            <a:endParaRPr lang="en-US" altLang="en-US" dirty="0"/>
          </a:p>
        </p:txBody>
      </p:sp>
      <p:sp>
        <p:nvSpPr>
          <p:cNvPr id="1027" name="Rectangle 3"/>
          <p:cNvSpPr>
            <a:spLocks noGrp="1" noChangeArrowheads="1"/>
          </p:cNvSpPr>
          <p:nvPr>
            <p:ph idx="1"/>
          </p:nvPr>
        </p:nvSpPr>
        <p:spPr>
          <a:xfrm>
            <a:off x="640080" y="2187574"/>
            <a:ext cx="10515600" cy="4351338"/>
          </a:xfrm>
        </p:spPr>
        <p:txBody>
          <a:bodyPr>
            <a:normAutofit fontScale="92500"/>
          </a:bodyPr>
          <a:lstStyle/>
          <a:p>
            <a:r>
              <a:rPr lang="en-US" altLang="en-US" dirty="0"/>
              <a:t>Course website: </a:t>
            </a:r>
            <a:r>
              <a:rPr lang="en-US" altLang="en-US" dirty="0" smtClean="0"/>
              <a:t>nalanda.bits-pilani.ac.in</a:t>
            </a:r>
            <a:endParaRPr lang="en-US" altLang="en-US" dirty="0"/>
          </a:p>
          <a:p>
            <a:r>
              <a:rPr lang="en-US" altLang="en-US" dirty="0"/>
              <a:t>Email: </a:t>
            </a:r>
            <a:r>
              <a:rPr lang="en-US" altLang="en-US" dirty="0" smtClean="0">
                <a:hlinkClick r:id="rId2"/>
              </a:rPr>
              <a:t>yash@pilani.bits-pilani.ac.in</a:t>
            </a:r>
            <a:endParaRPr lang="en-US" altLang="en-US" dirty="0"/>
          </a:p>
          <a:p>
            <a:r>
              <a:rPr lang="en-US" altLang="en-US" dirty="0" smtClean="0"/>
              <a:t>Chamber Consultation Hour: Thursday </a:t>
            </a:r>
            <a:r>
              <a:rPr lang="en-US" altLang="en-US" dirty="0" smtClean="0"/>
              <a:t>5pm </a:t>
            </a:r>
            <a:r>
              <a:rPr lang="en-US" altLang="en-US" dirty="0"/>
              <a:t>to </a:t>
            </a:r>
            <a:r>
              <a:rPr lang="en-US" altLang="en-US" dirty="0" smtClean="0"/>
              <a:t>6pm </a:t>
            </a:r>
            <a:r>
              <a:rPr lang="en-US" altLang="en-US" dirty="0" smtClean="0"/>
              <a:t>@6120-I</a:t>
            </a:r>
          </a:p>
          <a:p>
            <a:pPr lvl="0"/>
            <a:r>
              <a:rPr lang="en-US" dirty="0" smtClean="0"/>
              <a:t>Text Book: </a:t>
            </a:r>
          </a:p>
          <a:p>
            <a:pPr lvl="1"/>
            <a:r>
              <a:rPr lang="en-US" dirty="0" smtClean="0"/>
              <a:t>Tan </a:t>
            </a:r>
            <a:r>
              <a:rPr lang="en-US" dirty="0"/>
              <a:t>P. N., Steinbach M &amp; Kumar V. </a:t>
            </a:r>
            <a:r>
              <a:rPr lang="en-US" sz="1800" dirty="0"/>
              <a:t>“</a:t>
            </a:r>
            <a:r>
              <a:rPr lang="en-US" sz="1800" b="1" i="1" dirty="0"/>
              <a:t>Introduction to Data Mining”</a:t>
            </a:r>
            <a:r>
              <a:rPr lang="en-US" sz="1800" b="1" dirty="0"/>
              <a:t> </a:t>
            </a:r>
            <a:r>
              <a:rPr lang="en-US" dirty="0"/>
              <a:t>Pearson Education, </a:t>
            </a:r>
            <a:r>
              <a:rPr lang="en-US" dirty="0" smtClean="0"/>
              <a:t>2016</a:t>
            </a:r>
            <a:r>
              <a:rPr lang="en-US" sz="1800" dirty="0"/>
              <a:t>.</a:t>
            </a:r>
          </a:p>
          <a:p>
            <a:pPr lvl="0"/>
            <a:r>
              <a:rPr lang="en-US" dirty="0"/>
              <a:t>Reference Books</a:t>
            </a:r>
            <a:endParaRPr lang="en-US" sz="3200" dirty="0"/>
          </a:p>
          <a:p>
            <a:pPr lvl="2"/>
            <a:r>
              <a:rPr lang="en-US" sz="1800" dirty="0"/>
              <a:t>Han J &amp; </a:t>
            </a:r>
            <a:r>
              <a:rPr lang="en-US" sz="1800" dirty="0" err="1"/>
              <a:t>Kamber</a:t>
            </a:r>
            <a:r>
              <a:rPr lang="en-US" sz="1800" dirty="0"/>
              <a:t> M, “</a:t>
            </a:r>
            <a:r>
              <a:rPr lang="en-US" sz="1800" b="1" i="1" dirty="0"/>
              <a:t>Data Mining: Concepts and Techniques”,</a:t>
            </a:r>
            <a:r>
              <a:rPr lang="en-US" sz="1800" dirty="0"/>
              <a:t> Morgan Kaufmann Publishers, </a:t>
            </a:r>
            <a:r>
              <a:rPr lang="en-US" sz="1800" dirty="0" smtClean="0"/>
              <a:t>Third </a:t>
            </a:r>
            <a:r>
              <a:rPr lang="en-US" sz="1800" dirty="0"/>
              <a:t>Edition, </a:t>
            </a:r>
            <a:r>
              <a:rPr lang="en-US" sz="1800" dirty="0" smtClean="0"/>
              <a:t>2012</a:t>
            </a:r>
            <a:endParaRPr lang="en-US" sz="1800" dirty="0"/>
          </a:p>
          <a:p>
            <a:pPr lvl="2"/>
            <a:r>
              <a:rPr lang="en-US" sz="1800" dirty="0" err="1"/>
              <a:t>Zaki</a:t>
            </a:r>
            <a:r>
              <a:rPr lang="en-US" sz="1800" dirty="0"/>
              <a:t> MJ &amp; Wagner M JR, “</a:t>
            </a:r>
            <a:r>
              <a:rPr lang="en-US" sz="1800" b="1" i="1" dirty="0"/>
              <a:t>Data Mining and Analysis-Fundamental Concepts and Algorithms</a:t>
            </a:r>
            <a:r>
              <a:rPr lang="en-US" sz="1800" dirty="0"/>
              <a:t>” </a:t>
            </a:r>
            <a:r>
              <a:rPr lang="en-US" sz="1800" dirty="0" err="1"/>
              <a:t>Cameridge</a:t>
            </a:r>
            <a:r>
              <a:rPr lang="en-US" sz="1800" dirty="0"/>
              <a:t> </a:t>
            </a:r>
            <a:r>
              <a:rPr lang="en-US" sz="1800" dirty="0" err="1"/>
              <a:t>Univ</a:t>
            </a:r>
            <a:r>
              <a:rPr lang="en-US" sz="1800" dirty="0"/>
              <a:t> Press, 2014.</a:t>
            </a:r>
          </a:p>
          <a:p>
            <a:pPr lvl="2"/>
            <a:r>
              <a:rPr lang="en-US" sz="1800" dirty="0" err="1"/>
              <a:t>Dunhum</a:t>
            </a:r>
            <a:r>
              <a:rPr lang="en-US" sz="1800" dirty="0"/>
              <a:t> M.H. &amp; Sridhar S. “</a:t>
            </a:r>
            <a:r>
              <a:rPr lang="en-US" sz="1800" b="1" i="1" dirty="0"/>
              <a:t>Data Mining-Introductory and Advanced Topics</a:t>
            </a:r>
            <a:r>
              <a:rPr lang="en-US" sz="1800" dirty="0"/>
              <a:t>”, Pearson Education, 2006.</a:t>
            </a:r>
          </a:p>
          <a:p>
            <a:pPr marL="0" indent="0">
              <a:buNone/>
            </a:pPr>
            <a:endParaRPr lang="en-US" sz="2400" dirty="0" smtClean="0"/>
          </a:p>
          <a:p>
            <a:endParaRPr lang="en-US" altLang="en-US" dirty="0"/>
          </a:p>
          <a:p>
            <a:endParaRPr lang="en-US" altLang="en-US" dirty="0"/>
          </a:p>
        </p:txBody>
      </p:sp>
      <p:sp>
        <p:nvSpPr>
          <p:cNvPr id="4" name="Footer Placeholder 4"/>
          <p:cNvSpPr>
            <a:spLocks noGrp="1"/>
          </p:cNvSpPr>
          <p:nvPr>
            <p:ph type="ftr" sz="quarter" idx="11"/>
          </p:nvPr>
        </p:nvSpPr>
        <p:spPr/>
        <p:txBody>
          <a:bodyPr/>
          <a:lstStyle/>
          <a:p>
            <a:r>
              <a:rPr lang="en-US" altLang="en-US" dirty="0" smtClean="0"/>
              <a:t>C1S F415</a:t>
            </a:r>
            <a:endParaRPr lang="en-US" altLang="en-US" dirty="0"/>
          </a:p>
        </p:txBody>
      </p:sp>
      <p:sp>
        <p:nvSpPr>
          <p:cNvPr id="5" name="Slide Number Placeholder 5"/>
          <p:cNvSpPr>
            <a:spLocks noGrp="1"/>
          </p:cNvSpPr>
          <p:nvPr>
            <p:ph type="sldNum" sz="quarter" idx="12"/>
          </p:nvPr>
        </p:nvSpPr>
        <p:spPr/>
        <p:txBody>
          <a:bodyPr/>
          <a:lstStyle/>
          <a:p>
            <a:fld id="{E2F28A7F-F33D-404F-9F05-A1EE29337255}" type="slidenum">
              <a:rPr lang="en-US" altLang="en-US"/>
              <a:pPr/>
              <a:t>3</a:t>
            </a:fld>
            <a:endParaRPr lang="en-US" altLang="en-US"/>
          </a:p>
        </p:txBody>
      </p:sp>
      <p:sp>
        <p:nvSpPr>
          <p:cNvPr id="2" name="Rectangle 1"/>
          <p:cNvSpPr/>
          <p:nvPr/>
        </p:nvSpPr>
        <p:spPr>
          <a:xfrm>
            <a:off x="1097280" y="945318"/>
            <a:ext cx="8732520" cy="707886"/>
          </a:xfrm>
          <a:prstGeom prst="rect">
            <a:avLst/>
          </a:prstGeom>
        </p:spPr>
        <p:txBody>
          <a:bodyPr wrap="square">
            <a:spAutoFit/>
          </a:bodyPr>
          <a:lstStyle/>
          <a:p>
            <a:r>
              <a:rPr lang="en-US" sz="2000" b="1" dirty="0" smtClean="0"/>
              <a:t>Instructor-in-charge : YASHVARDHAN SHARMA (</a:t>
            </a:r>
            <a:r>
              <a:rPr lang="en-US" sz="2000" b="1" u="sng" dirty="0" smtClean="0">
                <a:hlinkClick r:id="rId2"/>
              </a:rPr>
              <a:t>yash@pilani.bits-pilani.ac.in</a:t>
            </a:r>
            <a:r>
              <a:rPr lang="en-US" sz="2000" b="1" dirty="0" smtClean="0"/>
              <a:t>)</a:t>
            </a:r>
            <a:endParaRPr lang="en-US" sz="2000" dirty="0"/>
          </a:p>
          <a:p>
            <a:r>
              <a:rPr lang="en-US" sz="2000" b="1" dirty="0" smtClean="0"/>
              <a:t>Lab Instructor	    : </a:t>
            </a:r>
            <a:r>
              <a:rPr lang="en-US" sz="2000" dirty="0" err="1"/>
              <a:t>Geetika</a:t>
            </a:r>
            <a:r>
              <a:rPr lang="en-US" sz="2000" dirty="0"/>
              <a:t> Arora (p2016406@pilani.bits-pilani.ac.in)</a:t>
            </a:r>
            <a:endParaRPr lang="en-US" sz="2000" dirty="0"/>
          </a:p>
        </p:txBody>
      </p:sp>
      <p:sp>
        <p:nvSpPr>
          <p:cNvPr id="3" name="Rectangle 2"/>
          <p:cNvSpPr/>
          <p:nvPr/>
        </p:nvSpPr>
        <p:spPr>
          <a:xfrm>
            <a:off x="3195893" y="1734724"/>
            <a:ext cx="3524747" cy="400110"/>
          </a:xfrm>
          <a:prstGeom prst="rect">
            <a:avLst/>
          </a:prstGeom>
        </p:spPr>
        <p:txBody>
          <a:bodyPr wrap="none">
            <a:spAutoFit/>
          </a:bodyPr>
          <a:lstStyle/>
          <a:p>
            <a:r>
              <a:rPr lang="en-US" altLang="en-US" sz="2000" dirty="0" smtClean="0">
                <a:solidFill>
                  <a:srgbClr val="FF0000"/>
                </a:solidFill>
              </a:rPr>
              <a:t>Group of Professional Assistants</a:t>
            </a:r>
            <a:endParaRPr lang="en-US" sz="2000" dirty="0"/>
          </a:p>
        </p:txBody>
      </p:sp>
      <p:sp>
        <p:nvSpPr>
          <p:cNvPr id="6" name="Date Placeholder 5"/>
          <p:cNvSpPr>
            <a:spLocks noGrp="1"/>
          </p:cNvSpPr>
          <p:nvPr>
            <p:ph type="dt" sz="half" idx="10"/>
          </p:nvPr>
        </p:nvSpPr>
        <p:spPr/>
        <p:txBody>
          <a:bodyPr/>
          <a:lstStyle/>
          <a:p>
            <a:fld id="{6A0923E1-4793-4E51-A59D-BE28C77AD69E}" type="datetime5">
              <a:rPr lang="en-US" smtClean="0"/>
              <a:t>8-Jan-18</a:t>
            </a:fld>
            <a:endParaRPr lang="en-US"/>
          </a:p>
        </p:txBody>
      </p:sp>
    </p:spTree>
    <p:extLst>
      <p:ext uri="{BB962C8B-B14F-4D97-AF65-F5344CB8AC3E}">
        <p14:creationId xmlns:p14="http://schemas.microsoft.com/office/powerpoint/2010/main" val="37258153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362200" y="304800"/>
            <a:ext cx="7772400" cy="762000"/>
          </a:xfrm>
        </p:spPr>
        <p:txBody>
          <a:bodyPr/>
          <a:lstStyle/>
          <a:p>
            <a:r>
              <a:rPr lang="en-US" dirty="0" smtClean="0"/>
              <a:t>Evaluation Components</a:t>
            </a:r>
          </a:p>
        </p:txBody>
      </p:sp>
      <p:sp>
        <p:nvSpPr>
          <p:cNvPr id="69635" name="Rectangle 3"/>
          <p:cNvSpPr>
            <a:spLocks noGrp="1" noChangeArrowheads="1"/>
          </p:cNvSpPr>
          <p:nvPr>
            <p:ph idx="1"/>
          </p:nvPr>
        </p:nvSpPr>
        <p:spPr>
          <a:xfrm>
            <a:off x="431800" y="1066800"/>
            <a:ext cx="10807700" cy="5486400"/>
          </a:xfrm>
        </p:spPr>
        <p:txBody>
          <a:bodyPr>
            <a:normAutofit/>
          </a:bodyPr>
          <a:lstStyle/>
          <a:p>
            <a:pPr>
              <a:lnSpc>
                <a:spcPct val="90000"/>
              </a:lnSpc>
            </a:pPr>
            <a:r>
              <a:rPr lang="en-US" dirty="0" err="1" smtClean="0">
                <a:solidFill>
                  <a:srgbClr val="FF0000"/>
                </a:solidFill>
              </a:rPr>
              <a:t>MidSem</a:t>
            </a:r>
            <a:r>
              <a:rPr lang="en-US" dirty="0" smtClean="0">
                <a:solidFill>
                  <a:srgbClr val="FF0000"/>
                </a:solidFill>
              </a:rPr>
              <a:t> Test-I[25%]+Assignments[35%]+ </a:t>
            </a:r>
            <a:r>
              <a:rPr lang="en-US" dirty="0" err="1" smtClean="0">
                <a:solidFill>
                  <a:srgbClr val="FF0000"/>
                </a:solidFill>
              </a:rPr>
              <a:t>Compre</a:t>
            </a:r>
            <a:r>
              <a:rPr lang="en-US" dirty="0" smtClean="0">
                <a:solidFill>
                  <a:srgbClr val="FF0000"/>
                </a:solidFill>
              </a:rPr>
              <a:t>[40%]=Total[100%]</a:t>
            </a:r>
            <a:endParaRPr lang="en-US" dirty="0">
              <a:solidFill>
                <a:srgbClr val="FF0000"/>
              </a:solidFill>
            </a:endParaRPr>
          </a:p>
          <a:p>
            <a:pPr>
              <a:lnSpc>
                <a:spcPct val="90000"/>
              </a:lnSpc>
            </a:pPr>
            <a:r>
              <a:rPr lang="en-US" dirty="0"/>
              <a:t>Assignments scope: </a:t>
            </a:r>
          </a:p>
          <a:p>
            <a:pPr lvl="1">
              <a:lnSpc>
                <a:spcPct val="90000"/>
              </a:lnSpc>
            </a:pPr>
            <a:r>
              <a:rPr lang="en-US" dirty="0" smtClean="0"/>
              <a:t>Project– 15 [Group]</a:t>
            </a:r>
            <a:endParaRPr lang="en-US" dirty="0"/>
          </a:p>
          <a:p>
            <a:pPr lvl="1"/>
            <a:r>
              <a:rPr lang="en-US" dirty="0"/>
              <a:t>Lab Attendance </a:t>
            </a:r>
            <a:r>
              <a:rPr lang="en-US" dirty="0" smtClean="0"/>
              <a:t>&amp; Online </a:t>
            </a:r>
            <a:r>
              <a:rPr lang="en-US" dirty="0"/>
              <a:t>Test – </a:t>
            </a:r>
            <a:r>
              <a:rPr lang="en-US" dirty="0" smtClean="0"/>
              <a:t>15 [Individual</a:t>
            </a:r>
            <a:r>
              <a:rPr lang="en-US" dirty="0"/>
              <a:t>]</a:t>
            </a:r>
          </a:p>
          <a:p>
            <a:pPr lvl="1">
              <a:lnSpc>
                <a:spcPct val="90000"/>
              </a:lnSpc>
            </a:pPr>
            <a:r>
              <a:rPr lang="en-US" dirty="0" smtClean="0"/>
              <a:t>Class Exercises – 5 [Individual</a:t>
            </a:r>
            <a:r>
              <a:rPr lang="en-US" dirty="0"/>
              <a:t>]</a:t>
            </a:r>
          </a:p>
          <a:p>
            <a:pPr>
              <a:lnSpc>
                <a:spcPct val="90000"/>
              </a:lnSpc>
            </a:pPr>
            <a:r>
              <a:rPr lang="en-US" dirty="0"/>
              <a:t>Reading Assignments </a:t>
            </a:r>
            <a:r>
              <a:rPr lang="en-US" dirty="0" smtClean="0"/>
              <a:t>- </a:t>
            </a:r>
            <a:r>
              <a:rPr lang="en-US" b="1" dirty="0"/>
              <a:t>Term Paper [</a:t>
            </a:r>
            <a:r>
              <a:rPr lang="en-US" b="1" dirty="0" smtClean="0"/>
              <a:t>Group]</a:t>
            </a:r>
            <a:endParaRPr lang="en-US" b="1" dirty="0"/>
          </a:p>
        </p:txBody>
      </p:sp>
      <p:sp>
        <p:nvSpPr>
          <p:cNvPr id="2" name="Footer Placeholder 1"/>
          <p:cNvSpPr>
            <a:spLocks noGrp="1"/>
          </p:cNvSpPr>
          <p:nvPr>
            <p:ph type="ftr" sz="quarter" idx="11"/>
          </p:nvPr>
        </p:nvSpPr>
        <p:spPr/>
        <p:txBody>
          <a:bodyPr/>
          <a:lstStyle/>
          <a:p>
            <a:r>
              <a:rPr lang="en-US" smtClean="0"/>
              <a:t>C1S F415</a:t>
            </a:r>
            <a:endParaRPr lang="en-US"/>
          </a:p>
        </p:txBody>
      </p:sp>
      <p:sp>
        <p:nvSpPr>
          <p:cNvPr id="3" name="Slide Number Placeholder 2"/>
          <p:cNvSpPr>
            <a:spLocks noGrp="1"/>
          </p:cNvSpPr>
          <p:nvPr>
            <p:ph type="sldNum" sz="quarter" idx="12"/>
          </p:nvPr>
        </p:nvSpPr>
        <p:spPr/>
        <p:txBody>
          <a:bodyPr/>
          <a:lstStyle/>
          <a:p>
            <a:fld id="{B54275D8-7A26-4CF0-991F-CA00F6035D31}" type="slidenum">
              <a:rPr lang="en-US" smtClean="0"/>
              <a:t>4</a:t>
            </a:fld>
            <a:endParaRPr lang="en-US"/>
          </a:p>
        </p:txBody>
      </p:sp>
      <p:sp>
        <p:nvSpPr>
          <p:cNvPr id="4" name="Date Placeholder 3"/>
          <p:cNvSpPr>
            <a:spLocks noGrp="1"/>
          </p:cNvSpPr>
          <p:nvPr>
            <p:ph type="dt" sz="half" idx="10"/>
          </p:nvPr>
        </p:nvSpPr>
        <p:spPr/>
        <p:txBody>
          <a:bodyPr/>
          <a:lstStyle/>
          <a:p>
            <a:fld id="{88419F84-FA7E-404E-B2FB-4A2B42FCE9C3}" type="datetime5">
              <a:rPr lang="en-US" smtClean="0"/>
              <a:t>8-Jan-18</a:t>
            </a:fld>
            <a:endParaRPr lang="en-US"/>
          </a:p>
        </p:txBody>
      </p:sp>
    </p:spTree>
    <p:extLst>
      <p:ext uri="{BB962C8B-B14F-4D97-AF65-F5344CB8AC3E}">
        <p14:creationId xmlns:p14="http://schemas.microsoft.com/office/powerpoint/2010/main" val="3071998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96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69635">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499"/>
                                          </p:stCondLst>
                                        </p:cTn>
                                        <p:tgtEl>
                                          <p:spTgt spid="6963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499"/>
                                          </p:stCondLst>
                                        </p:cTn>
                                        <p:tgtEl>
                                          <p:spTgt spid="6963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499"/>
                                          </p:stCondLst>
                                        </p:cTn>
                                        <p:tgtEl>
                                          <p:spTgt spid="6963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696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5"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752600" y="381001"/>
            <a:ext cx="3352800" cy="1139825"/>
          </a:xfrm>
        </p:spPr>
        <p:txBody>
          <a:bodyPr/>
          <a:lstStyle/>
          <a:p>
            <a:pPr algn="l" eaLnBrk="1" hangingPunct="1">
              <a:defRPr/>
            </a:pPr>
            <a:r>
              <a:rPr lang="en-US" smtClean="0"/>
              <a:t>Motivation</a:t>
            </a:r>
          </a:p>
        </p:txBody>
      </p:sp>
      <p:sp>
        <p:nvSpPr>
          <p:cNvPr id="5123" name="Rectangle 3"/>
          <p:cNvSpPr>
            <a:spLocks noGrp="1" noChangeArrowheads="1"/>
          </p:cNvSpPr>
          <p:nvPr>
            <p:ph idx="1"/>
          </p:nvPr>
        </p:nvSpPr>
        <p:spPr>
          <a:xfrm>
            <a:off x="622300" y="1600201"/>
            <a:ext cx="10845800" cy="4444999"/>
          </a:xfrm>
        </p:spPr>
        <p:txBody>
          <a:bodyPr/>
          <a:lstStyle/>
          <a:p>
            <a:pPr eaLnBrk="1" hangingPunct="1">
              <a:lnSpc>
                <a:spcPct val="90000"/>
              </a:lnSpc>
            </a:pPr>
            <a:r>
              <a:rPr lang="en-US" altLang="en-US" dirty="0" smtClean="0">
                <a:solidFill>
                  <a:schemeClr val="tx2"/>
                </a:solidFill>
                <a:effectLst/>
              </a:rPr>
              <a:t>Initially, the goal of information systems were to gather information about a specific domain to support decision making.</a:t>
            </a:r>
          </a:p>
          <a:p>
            <a:pPr eaLnBrk="1" hangingPunct="1">
              <a:lnSpc>
                <a:spcPct val="90000"/>
              </a:lnSpc>
            </a:pPr>
            <a:r>
              <a:rPr lang="en-US" altLang="en-US" dirty="0">
                <a:solidFill>
                  <a:schemeClr val="tx2"/>
                </a:solidFill>
              </a:rPr>
              <a:t>N</a:t>
            </a:r>
            <a:r>
              <a:rPr lang="en-US" altLang="en-US" dirty="0" smtClean="0">
                <a:solidFill>
                  <a:schemeClr val="tx2"/>
                </a:solidFill>
                <a:effectLst/>
              </a:rPr>
              <a:t>owadays, computerized organizations with transactional software applications have specialized information systems towards a different goal: to support the basic processes in an organization (sales, production, personnel, …).</a:t>
            </a:r>
          </a:p>
        </p:txBody>
      </p:sp>
      <p:sp>
        <p:nvSpPr>
          <p:cNvPr id="2" name="Date Placeholder 1"/>
          <p:cNvSpPr>
            <a:spLocks noGrp="1"/>
          </p:cNvSpPr>
          <p:nvPr>
            <p:ph type="dt" sz="half" idx="10"/>
          </p:nvPr>
        </p:nvSpPr>
        <p:spPr/>
        <p:txBody>
          <a:bodyPr/>
          <a:lstStyle/>
          <a:p>
            <a:fld id="{D97A87FE-FBD7-41B7-8261-6966741694E7}"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5</a:t>
            </a:fld>
            <a:endParaRPr lang="en-US"/>
          </a:p>
        </p:txBody>
      </p:sp>
    </p:spTree>
    <p:extLst>
      <p:ext uri="{BB962C8B-B14F-4D97-AF65-F5344CB8AC3E}">
        <p14:creationId xmlns:p14="http://schemas.microsoft.com/office/powerpoint/2010/main" val="360134229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1752600" y="381001"/>
            <a:ext cx="3352800" cy="1139825"/>
          </a:xfrm>
        </p:spPr>
        <p:txBody>
          <a:bodyPr/>
          <a:lstStyle/>
          <a:p>
            <a:pPr algn="l" eaLnBrk="1" hangingPunct="1">
              <a:defRPr/>
            </a:pPr>
            <a:r>
              <a:rPr lang="en-US" smtClean="0"/>
              <a:t>Motivation</a:t>
            </a:r>
          </a:p>
        </p:txBody>
      </p:sp>
      <p:sp>
        <p:nvSpPr>
          <p:cNvPr id="6147" name="Rectangle 3"/>
          <p:cNvSpPr>
            <a:spLocks noGrp="1" noChangeArrowheads="1"/>
          </p:cNvSpPr>
          <p:nvPr>
            <p:ph idx="1"/>
          </p:nvPr>
        </p:nvSpPr>
        <p:spPr>
          <a:xfrm>
            <a:off x="723900" y="1600200"/>
            <a:ext cx="10769600" cy="4953000"/>
          </a:xfrm>
        </p:spPr>
        <p:txBody>
          <a:bodyPr/>
          <a:lstStyle/>
          <a:p>
            <a:pPr eaLnBrk="1" hangingPunct="1">
              <a:lnSpc>
                <a:spcPct val="90000"/>
              </a:lnSpc>
            </a:pPr>
            <a:r>
              <a:rPr lang="en-US" altLang="en-US" dirty="0" smtClean="0">
                <a:solidFill>
                  <a:schemeClr val="tx2"/>
                </a:solidFill>
                <a:effectLst/>
              </a:rPr>
              <a:t>Information Systems are specialized for transactional work.</a:t>
            </a:r>
          </a:p>
          <a:p>
            <a:pPr lvl="1" eaLnBrk="1" hangingPunct="1">
              <a:lnSpc>
                <a:spcPct val="90000"/>
              </a:lnSpc>
            </a:pPr>
            <a:r>
              <a:rPr lang="en-US" altLang="en-US" dirty="0" smtClean="0">
                <a:solidFill>
                  <a:schemeClr val="tx2"/>
                </a:solidFill>
                <a:effectLst/>
              </a:rPr>
              <a:t>So are database models, database design methodologies, database management systems, etc.</a:t>
            </a:r>
          </a:p>
          <a:p>
            <a:pPr eaLnBrk="1" hangingPunct="1">
              <a:lnSpc>
                <a:spcPct val="90000"/>
              </a:lnSpc>
            </a:pPr>
            <a:r>
              <a:rPr lang="en-US" altLang="en-US" dirty="0" smtClean="0">
                <a:solidFill>
                  <a:schemeClr val="tx2"/>
                </a:solidFill>
                <a:effectLst/>
              </a:rPr>
              <a:t>These systems are not adequate for analyzing the information or to convey strategic knowledge</a:t>
            </a:r>
            <a:r>
              <a:rPr lang="en-US" altLang="en-US" sz="2800" dirty="0">
                <a:solidFill>
                  <a:schemeClr val="tx2"/>
                </a:solidFill>
              </a:rPr>
              <a:t>.</a:t>
            </a:r>
          </a:p>
          <a:p>
            <a:pPr lvl="1" eaLnBrk="1" hangingPunct="1">
              <a:lnSpc>
                <a:spcPct val="90000"/>
              </a:lnSpc>
            </a:pPr>
            <a:r>
              <a:rPr lang="en-US" altLang="en-US" dirty="0" smtClean="0">
                <a:solidFill>
                  <a:schemeClr val="tx2"/>
                </a:solidFill>
                <a:effectLst/>
              </a:rPr>
              <a:t>Inappropriate organization/architecture</a:t>
            </a:r>
          </a:p>
          <a:p>
            <a:pPr lvl="1" eaLnBrk="1" hangingPunct="1">
              <a:lnSpc>
                <a:spcPct val="90000"/>
              </a:lnSpc>
            </a:pPr>
            <a:r>
              <a:rPr lang="en-US" altLang="en-US" dirty="0" smtClean="0">
                <a:solidFill>
                  <a:schemeClr val="tx2"/>
                </a:solidFill>
                <a:effectLst/>
              </a:rPr>
              <a:t>Lack of information-to-knowledge tools</a:t>
            </a:r>
          </a:p>
        </p:txBody>
      </p:sp>
      <p:sp>
        <p:nvSpPr>
          <p:cNvPr id="2" name="Date Placeholder 1"/>
          <p:cNvSpPr>
            <a:spLocks noGrp="1"/>
          </p:cNvSpPr>
          <p:nvPr>
            <p:ph type="dt" sz="half" idx="10"/>
          </p:nvPr>
        </p:nvSpPr>
        <p:spPr/>
        <p:txBody>
          <a:bodyPr/>
          <a:lstStyle/>
          <a:p>
            <a:fld id="{EA171BF2-3FE6-4F1A-B1AD-F51F1FE88153}"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6</a:t>
            </a:fld>
            <a:endParaRPr lang="en-US"/>
          </a:p>
        </p:txBody>
      </p:sp>
    </p:spTree>
    <p:extLst>
      <p:ext uri="{BB962C8B-B14F-4D97-AF65-F5344CB8AC3E}">
        <p14:creationId xmlns:p14="http://schemas.microsoft.com/office/powerpoint/2010/main" val="5798503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752600" y="381001"/>
            <a:ext cx="3352800" cy="1139825"/>
          </a:xfrm>
        </p:spPr>
        <p:txBody>
          <a:bodyPr/>
          <a:lstStyle/>
          <a:p>
            <a:pPr algn="l" eaLnBrk="1" hangingPunct="1">
              <a:defRPr/>
            </a:pPr>
            <a:r>
              <a:rPr lang="en-US" smtClean="0"/>
              <a:t>Motivation</a:t>
            </a:r>
          </a:p>
        </p:txBody>
      </p:sp>
      <p:sp>
        <p:nvSpPr>
          <p:cNvPr id="7171" name="Rectangle 3"/>
          <p:cNvSpPr>
            <a:spLocks noGrp="1" noChangeArrowheads="1"/>
          </p:cNvSpPr>
          <p:nvPr>
            <p:ph idx="1"/>
          </p:nvPr>
        </p:nvSpPr>
        <p:spPr>
          <a:xfrm>
            <a:off x="1981200" y="1600201"/>
            <a:ext cx="8458200" cy="4530725"/>
          </a:xfrm>
        </p:spPr>
        <p:txBody>
          <a:bodyPr/>
          <a:lstStyle/>
          <a:p>
            <a:pPr eaLnBrk="1" hangingPunct="1">
              <a:buFont typeface="Wingdings" panose="05000000000000000000" pitchFamily="2" charset="2"/>
              <a:buNone/>
            </a:pPr>
            <a:r>
              <a:rPr lang="en-US" altLang="en-US" sz="3600" dirty="0">
                <a:solidFill>
                  <a:schemeClr val="tx2"/>
                </a:solidFill>
              </a:rPr>
              <a:t>Two very different kinds of data processing:</a:t>
            </a:r>
          </a:p>
          <a:p>
            <a:pPr lvl="1" eaLnBrk="1" hangingPunct="1"/>
            <a:r>
              <a:rPr lang="en-US" altLang="en-US" sz="3200" dirty="0"/>
              <a:t>OLTP (</a:t>
            </a:r>
            <a:r>
              <a:rPr lang="en-US" altLang="en-US" sz="3200" i="1" dirty="0"/>
              <a:t>On-Line Transactional Processing</a:t>
            </a:r>
            <a:r>
              <a:rPr lang="en-US" altLang="en-US" sz="3200" dirty="0"/>
              <a:t>):</a:t>
            </a:r>
          </a:p>
          <a:p>
            <a:pPr lvl="1" eaLnBrk="1" hangingPunct="1">
              <a:buFont typeface="Wingdings" panose="05000000000000000000" pitchFamily="2" charset="2"/>
              <a:buNone/>
            </a:pPr>
            <a:r>
              <a:rPr lang="en-US" altLang="en-US" sz="3200" dirty="0">
                <a:solidFill>
                  <a:schemeClr val="tx2"/>
                </a:solidFill>
              </a:rPr>
              <a:t>	</a:t>
            </a:r>
            <a:r>
              <a:rPr lang="en-US" altLang="en-US" dirty="0" smtClean="0">
                <a:solidFill>
                  <a:schemeClr val="tx2"/>
                </a:solidFill>
                <a:effectLst/>
              </a:rPr>
              <a:t>transaction-oriented, the typical scenario in an operational database</a:t>
            </a:r>
            <a:endParaRPr lang="en-US" altLang="en-US" sz="3200" dirty="0">
              <a:solidFill>
                <a:schemeClr val="tx2"/>
              </a:solidFill>
            </a:endParaRPr>
          </a:p>
          <a:p>
            <a:pPr lvl="1" eaLnBrk="1" hangingPunct="1"/>
            <a:r>
              <a:rPr lang="en-US" altLang="en-US" sz="3200" dirty="0"/>
              <a:t>OLAP (</a:t>
            </a:r>
            <a:r>
              <a:rPr lang="en-US" altLang="en-US" sz="3200" i="1" dirty="0"/>
              <a:t>On-Line Analytical Processing</a:t>
            </a:r>
            <a:r>
              <a:rPr lang="en-US" altLang="en-US" sz="3200" dirty="0"/>
              <a:t>): </a:t>
            </a:r>
            <a:r>
              <a:rPr lang="en-US" altLang="en-US" dirty="0" smtClean="0">
                <a:solidFill>
                  <a:schemeClr val="tx2"/>
                </a:solidFill>
                <a:effectLst/>
              </a:rPr>
              <a:t>Oriented to </a:t>
            </a:r>
            <a:r>
              <a:rPr lang="en-US" altLang="en-US" dirty="0" err="1" smtClean="0">
                <a:solidFill>
                  <a:schemeClr val="tx2"/>
                </a:solidFill>
                <a:effectLst/>
              </a:rPr>
              <a:t>analyse</a:t>
            </a:r>
            <a:r>
              <a:rPr lang="en-US" altLang="en-US" dirty="0" smtClean="0">
                <a:solidFill>
                  <a:schemeClr val="tx2"/>
                </a:solidFill>
                <a:effectLst/>
              </a:rPr>
              <a:t> specific issues which are relevant for decision making</a:t>
            </a:r>
          </a:p>
          <a:p>
            <a:pPr eaLnBrk="1" hangingPunct="1"/>
            <a:endParaRPr lang="en-US" altLang="en-US" sz="2800" dirty="0">
              <a:solidFill>
                <a:schemeClr val="tx2"/>
              </a:solidFill>
            </a:endParaRPr>
          </a:p>
        </p:txBody>
      </p:sp>
      <p:sp>
        <p:nvSpPr>
          <p:cNvPr id="2" name="Date Placeholder 1"/>
          <p:cNvSpPr>
            <a:spLocks noGrp="1"/>
          </p:cNvSpPr>
          <p:nvPr>
            <p:ph type="dt" sz="half" idx="10"/>
          </p:nvPr>
        </p:nvSpPr>
        <p:spPr/>
        <p:txBody>
          <a:bodyPr/>
          <a:lstStyle/>
          <a:p>
            <a:fld id="{76EC7665-BD01-4EAC-8CA8-A232866DC576}"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7</a:t>
            </a:fld>
            <a:endParaRPr lang="en-US"/>
          </a:p>
        </p:txBody>
      </p:sp>
    </p:spTree>
    <p:extLst>
      <p:ext uri="{BB962C8B-B14F-4D97-AF65-F5344CB8AC3E}">
        <p14:creationId xmlns:p14="http://schemas.microsoft.com/office/powerpoint/2010/main" val="25377171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Grp="1" noChangeArrowheads="1"/>
          </p:cNvSpPr>
          <p:nvPr>
            <p:ph type="title"/>
          </p:nvPr>
        </p:nvSpPr>
        <p:spPr>
          <a:xfrm>
            <a:off x="1752600" y="152400"/>
            <a:ext cx="8686800" cy="990600"/>
          </a:xfrm>
        </p:spPr>
        <p:txBody>
          <a:bodyPr vert="horz" lIns="0" tIns="45720" rIns="0" bIns="45720" rtlCol="0" anchor="ctr">
            <a:normAutofit/>
          </a:bodyPr>
          <a:lstStyle/>
          <a:p>
            <a:pPr eaLnBrk="1" hangingPunct="1">
              <a:defRPr/>
            </a:pPr>
            <a:r>
              <a:rPr lang="en-US" sz="4000" dirty="0" smtClean="0">
                <a:latin typeface="Arial" charset="0"/>
              </a:rPr>
              <a:t>Motivation: Commercial Viewpoint</a:t>
            </a:r>
          </a:p>
        </p:txBody>
      </p:sp>
      <p:sp>
        <p:nvSpPr>
          <p:cNvPr id="10242" name="Rectangle 2"/>
          <p:cNvSpPr>
            <a:spLocks noGrp="1" noChangeArrowheads="1"/>
          </p:cNvSpPr>
          <p:nvPr>
            <p:ph idx="1"/>
          </p:nvPr>
        </p:nvSpPr>
        <p:spPr>
          <a:xfrm>
            <a:off x="800100" y="1143000"/>
            <a:ext cx="9639300" cy="5422900"/>
          </a:xfrm>
        </p:spPr>
        <p:txBody>
          <a:bodyPr>
            <a:normAutofit/>
          </a:bodyPr>
          <a:lstStyle/>
          <a:p>
            <a:pPr eaLnBrk="1" hangingPunct="1">
              <a:defRPr/>
            </a:pPr>
            <a:r>
              <a:rPr lang="en-US" sz="2800" dirty="0">
                <a:solidFill>
                  <a:schemeClr val="tx2"/>
                </a:solidFill>
              </a:rPr>
              <a:t>Lots of data is being collected </a:t>
            </a:r>
            <a:br>
              <a:rPr lang="en-US" sz="2800" dirty="0">
                <a:solidFill>
                  <a:schemeClr val="tx2"/>
                </a:solidFill>
              </a:rPr>
            </a:br>
            <a:r>
              <a:rPr lang="en-US" sz="2800" dirty="0">
                <a:solidFill>
                  <a:schemeClr val="tx2"/>
                </a:solidFill>
              </a:rPr>
              <a:t>and warehoused </a:t>
            </a:r>
          </a:p>
          <a:p>
            <a:pPr lvl="1" eaLnBrk="1" hangingPunct="1">
              <a:defRPr/>
            </a:pPr>
            <a:r>
              <a:rPr lang="en-US" sz="2400" dirty="0">
                <a:solidFill>
                  <a:schemeClr val="tx2"/>
                </a:solidFill>
              </a:rPr>
              <a:t>Web data, e-commerce</a:t>
            </a:r>
          </a:p>
          <a:p>
            <a:pPr lvl="1" eaLnBrk="1" hangingPunct="1">
              <a:defRPr/>
            </a:pPr>
            <a:r>
              <a:rPr lang="en-US" sz="2400" dirty="0">
                <a:solidFill>
                  <a:schemeClr val="tx2"/>
                </a:solidFill>
              </a:rPr>
              <a:t>purchases at department/</a:t>
            </a:r>
            <a:br>
              <a:rPr lang="en-US" sz="2400" dirty="0">
                <a:solidFill>
                  <a:schemeClr val="tx2"/>
                </a:solidFill>
              </a:rPr>
            </a:br>
            <a:r>
              <a:rPr lang="en-US" sz="2400" dirty="0">
                <a:solidFill>
                  <a:schemeClr val="tx2"/>
                </a:solidFill>
              </a:rPr>
              <a:t>grocery stores</a:t>
            </a:r>
          </a:p>
          <a:p>
            <a:pPr lvl="1" eaLnBrk="1" hangingPunct="1">
              <a:defRPr/>
            </a:pPr>
            <a:r>
              <a:rPr lang="en-US" sz="2400" dirty="0">
                <a:solidFill>
                  <a:schemeClr val="tx2"/>
                </a:solidFill>
              </a:rPr>
              <a:t>Bank/Credit Card </a:t>
            </a:r>
            <a:br>
              <a:rPr lang="en-US" sz="2400" dirty="0">
                <a:solidFill>
                  <a:schemeClr val="tx2"/>
                </a:solidFill>
              </a:rPr>
            </a:br>
            <a:r>
              <a:rPr lang="en-US" sz="2400" dirty="0">
                <a:solidFill>
                  <a:schemeClr val="tx2"/>
                </a:solidFill>
              </a:rPr>
              <a:t>transactions</a:t>
            </a:r>
          </a:p>
          <a:p>
            <a:pPr eaLnBrk="1" hangingPunct="1">
              <a:spcBef>
                <a:spcPct val="75000"/>
              </a:spcBef>
              <a:defRPr/>
            </a:pPr>
            <a:endParaRPr lang="en-US" sz="2800" dirty="0" smtClean="0">
              <a:solidFill>
                <a:schemeClr val="tx2"/>
              </a:solidFill>
            </a:endParaRPr>
          </a:p>
          <a:p>
            <a:pPr eaLnBrk="1" hangingPunct="1">
              <a:spcBef>
                <a:spcPct val="75000"/>
              </a:spcBef>
              <a:defRPr/>
            </a:pPr>
            <a:r>
              <a:rPr lang="en-US" sz="2800" dirty="0" smtClean="0">
                <a:solidFill>
                  <a:schemeClr val="tx2"/>
                </a:solidFill>
              </a:rPr>
              <a:t>Computers </a:t>
            </a:r>
            <a:r>
              <a:rPr lang="en-US" sz="2800" dirty="0">
                <a:solidFill>
                  <a:schemeClr val="tx2"/>
                </a:solidFill>
              </a:rPr>
              <a:t>have become cheaper and more powerful</a:t>
            </a:r>
          </a:p>
          <a:p>
            <a:pPr eaLnBrk="1" hangingPunct="1">
              <a:spcBef>
                <a:spcPct val="40000"/>
              </a:spcBef>
              <a:defRPr/>
            </a:pPr>
            <a:r>
              <a:rPr lang="en-US" sz="2800" dirty="0">
                <a:solidFill>
                  <a:schemeClr val="tx2"/>
                </a:solidFill>
              </a:rPr>
              <a:t>Competitive Pressure is Strong </a:t>
            </a:r>
          </a:p>
          <a:p>
            <a:pPr lvl="1" eaLnBrk="1" hangingPunct="1">
              <a:defRPr/>
            </a:pPr>
            <a:r>
              <a:rPr lang="en-US" sz="2400" dirty="0">
                <a:solidFill>
                  <a:schemeClr val="tx2"/>
                </a:solidFill>
              </a:rPr>
              <a:t>Provide better, customized services for an </a:t>
            </a:r>
            <a:r>
              <a:rPr lang="en-US" sz="2400" i="1" dirty="0">
                <a:solidFill>
                  <a:schemeClr val="tx2"/>
                </a:solidFill>
              </a:rPr>
              <a:t>edge </a:t>
            </a:r>
            <a:r>
              <a:rPr lang="en-US" sz="2400" dirty="0">
                <a:solidFill>
                  <a:schemeClr val="tx2"/>
                </a:solidFill>
              </a:rPr>
              <a:t>(e.g. in Customer Relationship Management)</a:t>
            </a:r>
          </a:p>
          <a:p>
            <a:pPr lvl="1" eaLnBrk="1" hangingPunct="1">
              <a:buFont typeface="Wingdings" panose="05000000000000000000" pitchFamily="2" charset="2"/>
              <a:buNone/>
              <a:defRPr/>
            </a:pPr>
            <a:endParaRPr lang="en-US" sz="2000" dirty="0">
              <a:solidFill>
                <a:schemeClr val="tx2"/>
              </a:solidFill>
            </a:endParaRPr>
          </a:p>
        </p:txBody>
      </p:sp>
      <p:graphicFrame>
        <p:nvGraphicFramePr>
          <p:cNvPr id="15363" name="Object 3"/>
          <p:cNvGraphicFramePr>
            <a:graphicFrameLocks noChangeAspect="1"/>
          </p:cNvGraphicFramePr>
          <p:nvPr/>
        </p:nvGraphicFramePr>
        <p:xfrm>
          <a:off x="8229600" y="1981201"/>
          <a:ext cx="2146300" cy="2341563"/>
        </p:xfrm>
        <a:graphic>
          <a:graphicData uri="http://schemas.openxmlformats.org/presentationml/2006/ole">
            <mc:AlternateContent xmlns:mc="http://schemas.openxmlformats.org/markup-compatibility/2006">
              <mc:Choice xmlns:v="urn:schemas-microsoft-com:vml" Requires="v">
                <p:oleObj spid="_x0000_s1066" name="VISIO" r:id="rId4" imgW="2142744" imgH="2343912" progId="Visio.Drawing.6">
                  <p:embed/>
                </p:oleObj>
              </mc:Choice>
              <mc:Fallback>
                <p:oleObj name="VISIO" r:id="rId4" imgW="2142744" imgH="2343912"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29600" y="1981201"/>
                        <a:ext cx="2146300" cy="2341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5365" name="Picture 5" descr="story-3dimensional-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50076" y="1219200"/>
            <a:ext cx="1965325" cy="141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5366" name="Object 6"/>
          <p:cNvGraphicFramePr>
            <a:graphicFrameLocks noChangeAspect="1"/>
          </p:cNvGraphicFramePr>
          <p:nvPr/>
        </p:nvGraphicFramePr>
        <p:xfrm>
          <a:off x="6873875" y="1833564"/>
          <a:ext cx="685800" cy="681037"/>
        </p:xfrm>
        <a:graphic>
          <a:graphicData uri="http://schemas.openxmlformats.org/presentationml/2006/ole">
            <mc:AlternateContent xmlns:mc="http://schemas.openxmlformats.org/markup-compatibility/2006">
              <mc:Choice xmlns:v="urn:schemas-microsoft-com:vml" Requires="v">
                <p:oleObj spid="_x0000_s1067" name="VISIO" r:id="rId7" imgW="617220" imgH="615696" progId="Visio.Drawing.6">
                  <p:embed/>
                </p:oleObj>
              </mc:Choice>
              <mc:Fallback>
                <p:oleObj name="VISIO" r:id="rId7" imgW="617220" imgH="615696" progId="Visio.Drawing.6">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73875" y="1833564"/>
                        <a:ext cx="685800" cy="681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7" name="Object 7"/>
          <p:cNvGraphicFramePr>
            <a:graphicFrameLocks noChangeAspect="1"/>
          </p:cNvGraphicFramePr>
          <p:nvPr/>
        </p:nvGraphicFramePr>
        <p:xfrm>
          <a:off x="6858000" y="1447801"/>
          <a:ext cx="685800" cy="563563"/>
        </p:xfrm>
        <a:graphic>
          <a:graphicData uri="http://schemas.openxmlformats.org/presentationml/2006/ole">
            <mc:AlternateContent xmlns:mc="http://schemas.openxmlformats.org/markup-compatibility/2006">
              <mc:Choice xmlns:v="urn:schemas-microsoft-com:vml" Requires="v">
                <p:oleObj spid="_x0000_s1068" name="VISIO" r:id="rId9" imgW="806196" imgH="662940" progId="Visio.Drawing.6">
                  <p:embed/>
                </p:oleObj>
              </mc:Choice>
              <mc:Fallback>
                <p:oleObj name="VISIO" r:id="rId9" imgW="806196" imgH="662940" progId="Visio.Drawing.6">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58000" y="1447801"/>
                        <a:ext cx="685800" cy="563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368" name="Object 8"/>
          <p:cNvGraphicFramePr>
            <a:graphicFrameLocks noChangeAspect="1"/>
          </p:cNvGraphicFramePr>
          <p:nvPr/>
        </p:nvGraphicFramePr>
        <p:xfrm>
          <a:off x="6705600" y="2667001"/>
          <a:ext cx="1485900" cy="1558925"/>
        </p:xfrm>
        <a:graphic>
          <a:graphicData uri="http://schemas.openxmlformats.org/presentationml/2006/ole">
            <mc:AlternateContent xmlns:mc="http://schemas.openxmlformats.org/markup-compatibility/2006">
              <mc:Choice xmlns:v="urn:schemas-microsoft-com:vml" Requires="v">
                <p:oleObj spid="_x0000_s1069" name="VISIO" r:id="rId11" imgW="1661160" imgH="1748028" progId="Visio.Drawing.6">
                  <p:embed/>
                </p:oleObj>
              </mc:Choice>
              <mc:Fallback>
                <p:oleObj name="VISIO" r:id="rId11" imgW="1661160" imgH="1748028" progId="Visio.Drawing.6">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705600" y="2667001"/>
                        <a:ext cx="1485900" cy="155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Date Placeholder 1"/>
          <p:cNvSpPr>
            <a:spLocks noGrp="1"/>
          </p:cNvSpPr>
          <p:nvPr>
            <p:ph type="dt" sz="half" idx="10"/>
          </p:nvPr>
        </p:nvSpPr>
        <p:spPr/>
        <p:txBody>
          <a:bodyPr/>
          <a:lstStyle/>
          <a:p>
            <a:fld id="{F9CA8FE2-208F-4BA4-A841-7C1DDAA65A78}"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8</a:t>
            </a:fld>
            <a:endParaRPr lang="en-US"/>
          </a:p>
        </p:txBody>
      </p:sp>
    </p:spTree>
    <p:extLst>
      <p:ext uri="{BB962C8B-B14F-4D97-AF65-F5344CB8AC3E}">
        <p14:creationId xmlns:p14="http://schemas.microsoft.com/office/powerpoint/2010/main" val="33008055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410" name="Group 2"/>
          <p:cNvGrpSpPr>
            <a:grpSpLocks/>
          </p:cNvGrpSpPr>
          <p:nvPr/>
        </p:nvGrpSpPr>
        <p:grpSpPr bwMode="auto">
          <a:xfrm>
            <a:off x="8458200" y="5113338"/>
            <a:ext cx="2209800" cy="1744662"/>
            <a:chOff x="4240" y="3165"/>
            <a:chExt cx="1487" cy="1099"/>
          </a:xfrm>
        </p:grpSpPr>
        <p:sp>
          <p:nvSpPr>
            <p:cNvPr id="17417" name="Rectangle 3"/>
            <p:cNvSpPr>
              <a:spLocks noChangeArrowheads="1"/>
            </p:cNvSpPr>
            <p:nvPr/>
          </p:nvSpPr>
          <p:spPr bwMode="auto">
            <a:xfrm>
              <a:off x="4240" y="3165"/>
              <a:ext cx="1487" cy="109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17418" name="Rectangle 4"/>
            <p:cNvSpPr>
              <a:spLocks noChangeArrowheads="1"/>
            </p:cNvSpPr>
            <p:nvPr/>
          </p:nvSpPr>
          <p:spPr bwMode="auto">
            <a:xfrm>
              <a:off x="4240" y="3165"/>
              <a:ext cx="1487" cy="1098"/>
            </a:xfrm>
            <a:prstGeom prst="rect">
              <a:avLst/>
            </a:prstGeom>
            <a:noFill/>
            <a:ln w="0">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pic>
          <p:nvPicPr>
            <p:cNvPr id="17419"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240" y="3165"/>
              <a:ext cx="1487" cy="1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0" name="Line 6"/>
            <p:cNvSpPr>
              <a:spLocks noChangeShapeType="1"/>
            </p:cNvSpPr>
            <p:nvPr/>
          </p:nvSpPr>
          <p:spPr bwMode="auto">
            <a:xfrm>
              <a:off x="4240" y="4263"/>
              <a:ext cx="148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1" name="Freeform 7"/>
            <p:cNvSpPr>
              <a:spLocks/>
            </p:cNvSpPr>
            <p:nvPr/>
          </p:nvSpPr>
          <p:spPr bwMode="auto">
            <a:xfrm>
              <a:off x="4240" y="3165"/>
              <a:ext cx="1487" cy="1098"/>
            </a:xfrm>
            <a:custGeom>
              <a:avLst/>
              <a:gdLst>
                <a:gd name="T0" fmla="*/ 0 w 744"/>
                <a:gd name="T1" fmla="*/ 0 h 586"/>
                <a:gd name="T2" fmla="*/ 47424 w 744"/>
                <a:gd name="T3" fmla="*/ 0 h 586"/>
                <a:gd name="T4" fmla="*/ 47424 w 744"/>
                <a:gd name="T5" fmla="*/ 25351 h 586"/>
                <a:gd name="T6" fmla="*/ 0 60000 65536"/>
                <a:gd name="T7" fmla="*/ 0 60000 65536"/>
                <a:gd name="T8" fmla="*/ 0 60000 65536"/>
                <a:gd name="T9" fmla="*/ 0 w 744"/>
                <a:gd name="T10" fmla="*/ 0 h 586"/>
                <a:gd name="T11" fmla="*/ 744 w 744"/>
                <a:gd name="T12" fmla="*/ 586 h 586"/>
              </a:gdLst>
              <a:ahLst/>
              <a:cxnLst>
                <a:cxn ang="T6">
                  <a:pos x="T0" y="T1"/>
                </a:cxn>
                <a:cxn ang="T7">
                  <a:pos x="T2" y="T3"/>
                </a:cxn>
                <a:cxn ang="T8">
                  <a:pos x="T4" y="T5"/>
                </a:cxn>
              </a:cxnLst>
              <a:rect l="T9" t="T10" r="T11" b="T12"/>
              <a:pathLst>
                <a:path w="744" h="586">
                  <a:moveTo>
                    <a:pt x="0" y="0"/>
                  </a:moveTo>
                  <a:lnTo>
                    <a:pt x="744" y="0"/>
                  </a:lnTo>
                  <a:lnTo>
                    <a:pt x="744" y="586"/>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22" name="Freeform 8"/>
            <p:cNvSpPr>
              <a:spLocks/>
            </p:cNvSpPr>
            <p:nvPr/>
          </p:nvSpPr>
          <p:spPr bwMode="auto">
            <a:xfrm>
              <a:off x="4240" y="3165"/>
              <a:ext cx="1487" cy="1098"/>
            </a:xfrm>
            <a:custGeom>
              <a:avLst/>
              <a:gdLst>
                <a:gd name="T0" fmla="*/ 0 w 744"/>
                <a:gd name="T1" fmla="*/ 0 h 586"/>
                <a:gd name="T2" fmla="*/ 0 w 744"/>
                <a:gd name="T3" fmla="*/ 25351 h 586"/>
                <a:gd name="T4" fmla="*/ 47424 w 744"/>
                <a:gd name="T5" fmla="*/ 25351 h 586"/>
                <a:gd name="T6" fmla="*/ 0 60000 65536"/>
                <a:gd name="T7" fmla="*/ 0 60000 65536"/>
                <a:gd name="T8" fmla="*/ 0 60000 65536"/>
                <a:gd name="T9" fmla="*/ 0 w 744"/>
                <a:gd name="T10" fmla="*/ 0 h 586"/>
                <a:gd name="T11" fmla="*/ 744 w 744"/>
                <a:gd name="T12" fmla="*/ 586 h 586"/>
              </a:gdLst>
              <a:ahLst/>
              <a:cxnLst>
                <a:cxn ang="T6">
                  <a:pos x="T0" y="T1"/>
                </a:cxn>
                <a:cxn ang="T7">
                  <a:pos x="T2" y="T3"/>
                </a:cxn>
                <a:cxn ang="T8">
                  <a:pos x="T4" y="T5"/>
                </a:cxn>
              </a:cxnLst>
              <a:rect l="T9" t="T10" r="T11" b="T12"/>
              <a:pathLst>
                <a:path w="744" h="586">
                  <a:moveTo>
                    <a:pt x="0" y="0"/>
                  </a:moveTo>
                  <a:lnTo>
                    <a:pt x="0" y="586"/>
                  </a:lnTo>
                  <a:lnTo>
                    <a:pt x="744" y="586"/>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23" name="Freeform 9"/>
            <p:cNvSpPr>
              <a:spLocks/>
            </p:cNvSpPr>
            <p:nvPr/>
          </p:nvSpPr>
          <p:spPr bwMode="auto">
            <a:xfrm>
              <a:off x="4240" y="3165"/>
              <a:ext cx="1487" cy="1098"/>
            </a:xfrm>
            <a:custGeom>
              <a:avLst/>
              <a:gdLst>
                <a:gd name="T0" fmla="*/ 0 w 744"/>
                <a:gd name="T1" fmla="*/ 0 h 586"/>
                <a:gd name="T2" fmla="*/ 0 w 744"/>
                <a:gd name="T3" fmla="*/ 25351 h 586"/>
                <a:gd name="T4" fmla="*/ 47424 w 744"/>
                <a:gd name="T5" fmla="*/ 25351 h 586"/>
                <a:gd name="T6" fmla="*/ 0 60000 65536"/>
                <a:gd name="T7" fmla="*/ 0 60000 65536"/>
                <a:gd name="T8" fmla="*/ 0 60000 65536"/>
                <a:gd name="T9" fmla="*/ 0 w 744"/>
                <a:gd name="T10" fmla="*/ 0 h 586"/>
                <a:gd name="T11" fmla="*/ 744 w 744"/>
                <a:gd name="T12" fmla="*/ 586 h 586"/>
              </a:gdLst>
              <a:ahLst/>
              <a:cxnLst>
                <a:cxn ang="T6">
                  <a:pos x="T0" y="T1"/>
                </a:cxn>
                <a:cxn ang="T7">
                  <a:pos x="T2" y="T3"/>
                </a:cxn>
                <a:cxn ang="T8">
                  <a:pos x="T4" y="T5"/>
                </a:cxn>
              </a:cxnLst>
              <a:rect l="T9" t="T10" r="T11" b="T12"/>
              <a:pathLst>
                <a:path w="744" h="586">
                  <a:moveTo>
                    <a:pt x="0" y="0"/>
                  </a:moveTo>
                  <a:lnTo>
                    <a:pt x="0" y="586"/>
                  </a:lnTo>
                  <a:lnTo>
                    <a:pt x="744" y="586"/>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24" name="Freeform 10"/>
            <p:cNvSpPr>
              <a:spLocks/>
            </p:cNvSpPr>
            <p:nvPr/>
          </p:nvSpPr>
          <p:spPr bwMode="auto">
            <a:xfrm>
              <a:off x="4240" y="3165"/>
              <a:ext cx="1487" cy="1098"/>
            </a:xfrm>
            <a:custGeom>
              <a:avLst/>
              <a:gdLst>
                <a:gd name="T0" fmla="*/ 0 w 744"/>
                <a:gd name="T1" fmla="*/ 0 h 586"/>
                <a:gd name="T2" fmla="*/ 47424 w 744"/>
                <a:gd name="T3" fmla="*/ 0 h 586"/>
                <a:gd name="T4" fmla="*/ 47424 w 744"/>
                <a:gd name="T5" fmla="*/ 25351 h 586"/>
                <a:gd name="T6" fmla="*/ 0 60000 65536"/>
                <a:gd name="T7" fmla="*/ 0 60000 65536"/>
                <a:gd name="T8" fmla="*/ 0 60000 65536"/>
                <a:gd name="T9" fmla="*/ 0 w 744"/>
                <a:gd name="T10" fmla="*/ 0 h 586"/>
                <a:gd name="T11" fmla="*/ 744 w 744"/>
                <a:gd name="T12" fmla="*/ 586 h 586"/>
              </a:gdLst>
              <a:ahLst/>
              <a:cxnLst>
                <a:cxn ang="T6">
                  <a:pos x="T0" y="T1"/>
                </a:cxn>
                <a:cxn ang="T7">
                  <a:pos x="T2" y="T3"/>
                </a:cxn>
                <a:cxn ang="T8">
                  <a:pos x="T4" y="T5"/>
                </a:cxn>
              </a:cxnLst>
              <a:rect l="T9" t="T10" r="T11" b="T12"/>
              <a:pathLst>
                <a:path w="744" h="586">
                  <a:moveTo>
                    <a:pt x="0" y="0"/>
                  </a:moveTo>
                  <a:lnTo>
                    <a:pt x="744" y="0"/>
                  </a:lnTo>
                  <a:lnTo>
                    <a:pt x="744" y="586"/>
                  </a:lnTo>
                </a:path>
              </a:pathLst>
            </a:custGeom>
            <a:noFill/>
            <a:ln w="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7425" name="Line 11"/>
            <p:cNvSpPr>
              <a:spLocks noChangeShapeType="1"/>
            </p:cNvSpPr>
            <p:nvPr/>
          </p:nvSpPr>
          <p:spPr bwMode="auto">
            <a:xfrm>
              <a:off x="4240" y="3165"/>
              <a:ext cx="1" cy="1098"/>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3324" name="Rectangle 12"/>
          <p:cNvSpPr>
            <a:spLocks noGrp="1" noChangeArrowheads="1"/>
          </p:cNvSpPr>
          <p:nvPr>
            <p:ph type="title"/>
          </p:nvPr>
        </p:nvSpPr>
        <p:spPr>
          <a:xfrm>
            <a:off x="1676400" y="76200"/>
            <a:ext cx="8915400" cy="609600"/>
          </a:xfrm>
        </p:spPr>
        <p:txBody>
          <a:bodyPr vert="horz" lIns="0" tIns="45720" rIns="0" bIns="45720" rtlCol="0" anchor="ctr">
            <a:normAutofit fontScale="90000"/>
          </a:bodyPr>
          <a:lstStyle/>
          <a:p>
            <a:pPr eaLnBrk="1" hangingPunct="1">
              <a:defRPr/>
            </a:pPr>
            <a:r>
              <a:rPr lang="en-US" sz="3800"/>
              <a:t>Motivation: Scientific Viewpoint</a:t>
            </a:r>
          </a:p>
        </p:txBody>
      </p:sp>
      <p:sp>
        <p:nvSpPr>
          <p:cNvPr id="13325" name="Rectangle 13"/>
          <p:cNvSpPr>
            <a:spLocks noGrp="1" noChangeArrowheads="1"/>
          </p:cNvSpPr>
          <p:nvPr>
            <p:ph idx="1"/>
          </p:nvPr>
        </p:nvSpPr>
        <p:spPr>
          <a:xfrm>
            <a:off x="317500" y="762000"/>
            <a:ext cx="8826500" cy="6096000"/>
          </a:xfrm>
        </p:spPr>
        <p:txBody>
          <a:bodyPr>
            <a:normAutofit/>
          </a:bodyPr>
          <a:lstStyle/>
          <a:p>
            <a:pPr eaLnBrk="1" hangingPunct="1">
              <a:defRPr/>
            </a:pPr>
            <a:r>
              <a:rPr lang="en-US" sz="2800" dirty="0">
                <a:solidFill>
                  <a:schemeClr val="tx2"/>
                </a:solidFill>
              </a:rPr>
              <a:t>Data collected and stored at </a:t>
            </a:r>
            <a:br>
              <a:rPr lang="en-US" sz="2800" dirty="0">
                <a:solidFill>
                  <a:schemeClr val="tx2"/>
                </a:solidFill>
              </a:rPr>
            </a:br>
            <a:r>
              <a:rPr lang="en-US" sz="2800" dirty="0">
                <a:solidFill>
                  <a:schemeClr val="tx2"/>
                </a:solidFill>
              </a:rPr>
              <a:t>enormous speeds (GB/hour)</a:t>
            </a:r>
          </a:p>
          <a:p>
            <a:pPr lvl="1" eaLnBrk="1" hangingPunct="1">
              <a:spcBef>
                <a:spcPct val="40000"/>
              </a:spcBef>
              <a:defRPr/>
            </a:pPr>
            <a:r>
              <a:rPr lang="en-US" sz="2400" dirty="0">
                <a:solidFill>
                  <a:schemeClr val="tx2"/>
                </a:solidFill>
              </a:rPr>
              <a:t>remote sensors on a satellite</a:t>
            </a:r>
          </a:p>
          <a:p>
            <a:pPr lvl="1" eaLnBrk="1" hangingPunct="1">
              <a:spcBef>
                <a:spcPct val="40000"/>
              </a:spcBef>
              <a:defRPr/>
            </a:pPr>
            <a:r>
              <a:rPr lang="en-US" sz="2400" dirty="0">
                <a:solidFill>
                  <a:schemeClr val="tx2"/>
                </a:solidFill>
              </a:rPr>
              <a:t>telescopes scanning the skies</a:t>
            </a:r>
          </a:p>
          <a:p>
            <a:pPr lvl="1" eaLnBrk="1" hangingPunct="1">
              <a:spcBef>
                <a:spcPct val="40000"/>
              </a:spcBef>
              <a:defRPr/>
            </a:pPr>
            <a:r>
              <a:rPr lang="en-US" sz="2400" dirty="0">
                <a:solidFill>
                  <a:schemeClr val="tx2"/>
                </a:solidFill>
              </a:rPr>
              <a:t>microarrays generating gene </a:t>
            </a:r>
            <a:br>
              <a:rPr lang="en-US" sz="2400" dirty="0">
                <a:solidFill>
                  <a:schemeClr val="tx2"/>
                </a:solidFill>
              </a:rPr>
            </a:br>
            <a:r>
              <a:rPr lang="en-US" sz="2400" dirty="0">
                <a:solidFill>
                  <a:schemeClr val="tx2"/>
                </a:solidFill>
              </a:rPr>
              <a:t>expression data</a:t>
            </a:r>
          </a:p>
          <a:p>
            <a:pPr lvl="1" eaLnBrk="1" hangingPunct="1">
              <a:spcBef>
                <a:spcPct val="40000"/>
              </a:spcBef>
              <a:defRPr/>
            </a:pPr>
            <a:r>
              <a:rPr lang="en-US" sz="2400" dirty="0">
                <a:solidFill>
                  <a:schemeClr val="tx2"/>
                </a:solidFill>
              </a:rPr>
              <a:t>scientific simulations </a:t>
            </a:r>
            <a:br>
              <a:rPr lang="en-US" sz="2400" dirty="0">
                <a:solidFill>
                  <a:schemeClr val="tx2"/>
                </a:solidFill>
              </a:rPr>
            </a:br>
            <a:r>
              <a:rPr lang="en-US" sz="2400" dirty="0">
                <a:solidFill>
                  <a:schemeClr val="tx2"/>
                </a:solidFill>
              </a:rPr>
              <a:t>generating terabytes of data</a:t>
            </a:r>
          </a:p>
          <a:p>
            <a:pPr eaLnBrk="1" hangingPunct="1">
              <a:spcBef>
                <a:spcPct val="40000"/>
              </a:spcBef>
              <a:defRPr/>
            </a:pPr>
            <a:r>
              <a:rPr lang="en-US" sz="2800" dirty="0">
                <a:solidFill>
                  <a:schemeClr val="tx2"/>
                </a:solidFill>
              </a:rPr>
              <a:t>Traditional techniques infeasible for raw data</a:t>
            </a:r>
          </a:p>
          <a:p>
            <a:pPr eaLnBrk="1" hangingPunct="1">
              <a:defRPr/>
            </a:pPr>
            <a:r>
              <a:rPr lang="en-US" sz="2800" dirty="0">
                <a:solidFill>
                  <a:schemeClr val="tx2"/>
                </a:solidFill>
              </a:rPr>
              <a:t>Data mining may help scientists </a:t>
            </a:r>
          </a:p>
          <a:p>
            <a:pPr lvl="1" eaLnBrk="1" hangingPunct="1">
              <a:defRPr/>
            </a:pPr>
            <a:r>
              <a:rPr lang="en-US" sz="2400" dirty="0">
                <a:solidFill>
                  <a:schemeClr val="tx2"/>
                </a:solidFill>
              </a:rPr>
              <a:t>in classifying and segmenting data</a:t>
            </a:r>
          </a:p>
          <a:p>
            <a:pPr lvl="1" eaLnBrk="1" hangingPunct="1">
              <a:defRPr/>
            </a:pPr>
            <a:r>
              <a:rPr lang="en-US" sz="2400" dirty="0">
                <a:solidFill>
                  <a:schemeClr val="tx2"/>
                </a:solidFill>
              </a:rPr>
              <a:t>in Hypothesis Formation</a:t>
            </a:r>
            <a:endParaRPr lang="en-US" dirty="0" smtClean="0">
              <a:solidFill>
                <a:schemeClr val="tx2"/>
              </a:solidFill>
            </a:endParaRPr>
          </a:p>
        </p:txBody>
      </p:sp>
      <p:pic>
        <p:nvPicPr>
          <p:cNvPr id="17413" name="Picture 17"/>
          <p:cNvPicPr>
            <a:picLocks noChangeAspect="1" noChangeArrowheads="1"/>
          </p:cNvPicPr>
          <p:nvPr/>
        </p:nvPicPr>
        <p:blipFill>
          <a:blip r:embed="rId5">
            <a:clrChange>
              <a:clrFrom>
                <a:srgbClr val="FFFFFF"/>
              </a:clrFrom>
              <a:clrTo>
                <a:srgbClr val="FFFFFF">
                  <a:alpha val="0"/>
                </a:srgbClr>
              </a:clrTo>
            </a:clrChange>
            <a:lum contrast="12000"/>
            <a:extLst>
              <a:ext uri="{28A0092B-C50C-407E-A947-70E740481C1C}">
                <a14:useLocalDpi xmlns:a14="http://schemas.microsoft.com/office/drawing/2010/main" val="0"/>
              </a:ext>
            </a:extLst>
          </a:blip>
          <a:srcRect l="946" t="2650" r="946" b="2745"/>
          <a:stretch>
            <a:fillRect/>
          </a:stretch>
        </p:blipFill>
        <p:spPr bwMode="auto">
          <a:xfrm>
            <a:off x="6477001" y="914400"/>
            <a:ext cx="2005013"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7414" name="Object 18"/>
          <p:cNvGraphicFramePr>
            <a:graphicFrameLocks noChangeAspect="1"/>
          </p:cNvGraphicFramePr>
          <p:nvPr/>
        </p:nvGraphicFramePr>
        <p:xfrm>
          <a:off x="8458200" y="846139"/>
          <a:ext cx="2209800" cy="1990725"/>
        </p:xfrm>
        <a:graphic>
          <a:graphicData uri="http://schemas.openxmlformats.org/presentationml/2006/ole">
            <mc:AlternateContent xmlns:mc="http://schemas.openxmlformats.org/markup-compatibility/2006">
              <mc:Choice xmlns:v="urn:schemas-microsoft-com:vml" Requires="v">
                <p:oleObj spid="_x0000_s2070" name="VISIO" r:id="rId6" imgW="2557272" imgH="1991868" progId="Visio.Drawing.6">
                  <p:embed/>
                </p:oleObj>
              </mc:Choice>
              <mc:Fallback>
                <p:oleObj name="VISIO" r:id="rId6" imgW="2557272" imgH="1991868" progId="Visio.Drawing.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58200" y="846139"/>
                        <a:ext cx="2209800"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415" name="Object 19"/>
          <p:cNvGraphicFramePr>
            <a:graphicFrameLocks noChangeAspect="1"/>
          </p:cNvGraphicFramePr>
          <p:nvPr/>
        </p:nvGraphicFramePr>
        <p:xfrm>
          <a:off x="8458200" y="2827338"/>
          <a:ext cx="2209800" cy="1181100"/>
        </p:xfrm>
        <a:graphic>
          <a:graphicData uri="http://schemas.openxmlformats.org/presentationml/2006/ole">
            <mc:AlternateContent xmlns:mc="http://schemas.openxmlformats.org/markup-compatibility/2006">
              <mc:Choice xmlns:v="urn:schemas-microsoft-com:vml" Requires="v">
                <p:oleObj spid="_x0000_s2071" name="VISIO" r:id="rId8" imgW="2401824" imgH="1491996" progId="Visio.Drawing.6">
                  <p:embed/>
                </p:oleObj>
              </mc:Choice>
              <mc:Fallback>
                <p:oleObj name="VISIO" r:id="rId8" imgW="2401824" imgH="1491996" progId="Visio.Drawing.6">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58200" y="2827338"/>
                        <a:ext cx="2209800" cy="1181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17416" name="Picture 20" descr="crop"/>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477250" y="4011614"/>
            <a:ext cx="2166938" cy="110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Date Placeholder 1"/>
          <p:cNvSpPr>
            <a:spLocks noGrp="1"/>
          </p:cNvSpPr>
          <p:nvPr>
            <p:ph type="dt" sz="half" idx="10"/>
          </p:nvPr>
        </p:nvSpPr>
        <p:spPr/>
        <p:txBody>
          <a:bodyPr/>
          <a:lstStyle/>
          <a:p>
            <a:fld id="{45F137E5-A4C3-4303-915B-284E4F78F773}"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9</a:t>
            </a:fld>
            <a:endParaRPr lang="en-US"/>
          </a:p>
        </p:txBody>
      </p:sp>
    </p:spTree>
    <p:extLst>
      <p:ext uri="{BB962C8B-B14F-4D97-AF65-F5344CB8AC3E}">
        <p14:creationId xmlns:p14="http://schemas.microsoft.com/office/powerpoint/2010/main" val="35641165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8" name="Rectangle 4"/>
          <p:cNvSpPr>
            <a:spLocks noGrp="1" noChangeArrowheads="1"/>
          </p:cNvSpPr>
          <p:nvPr>
            <p:ph type="title"/>
          </p:nvPr>
        </p:nvSpPr>
        <p:spPr>
          <a:xfrm>
            <a:off x="1981200" y="152401"/>
            <a:ext cx="2667000" cy="987425"/>
          </a:xfrm>
        </p:spPr>
        <p:txBody>
          <a:bodyPr>
            <a:normAutofit/>
          </a:bodyPr>
          <a:lstStyle/>
          <a:p>
            <a:pPr algn="l" eaLnBrk="1" hangingPunct="1">
              <a:defRPr/>
            </a:pPr>
            <a:r>
              <a:rPr lang="en-US" smtClean="0"/>
              <a:t>Motivation</a:t>
            </a:r>
          </a:p>
        </p:txBody>
      </p:sp>
      <p:sp>
        <p:nvSpPr>
          <p:cNvPr id="26627" name="Rectangle 3"/>
          <p:cNvSpPr>
            <a:spLocks noGrp="1" noChangeArrowheads="1"/>
          </p:cNvSpPr>
          <p:nvPr>
            <p:ph idx="1"/>
          </p:nvPr>
        </p:nvSpPr>
        <p:spPr>
          <a:xfrm>
            <a:off x="1752600" y="1447800"/>
            <a:ext cx="8686800" cy="5410200"/>
          </a:xfrm>
        </p:spPr>
        <p:txBody>
          <a:bodyPr/>
          <a:lstStyle/>
          <a:p>
            <a:pPr eaLnBrk="1" hangingPunct="1">
              <a:defRPr/>
            </a:pPr>
            <a:r>
              <a:rPr lang="en-US" dirty="0" smtClean="0">
                <a:solidFill>
                  <a:schemeClr val="tx2"/>
                </a:solidFill>
                <a:effectLst/>
              </a:rPr>
              <a:t>A (simplistic) view of Data Mining:</a:t>
            </a:r>
          </a:p>
          <a:p>
            <a:pPr eaLnBrk="1" hangingPunct="1">
              <a:defRPr/>
            </a:pPr>
            <a:endParaRPr lang="en-US" dirty="0" smtClean="0">
              <a:solidFill>
                <a:schemeClr val="tx2"/>
              </a:solidFill>
              <a:effectLst/>
            </a:endParaRPr>
          </a:p>
          <a:p>
            <a:pPr eaLnBrk="1" hangingPunct="1">
              <a:defRPr/>
            </a:pPr>
            <a:endParaRPr lang="en-US" dirty="0" smtClean="0">
              <a:effectLst/>
            </a:endParaRPr>
          </a:p>
          <a:p>
            <a:pPr eaLnBrk="1" hangingPunct="1">
              <a:defRPr/>
            </a:pPr>
            <a:endParaRPr lang="en-US" dirty="0" smtClean="0">
              <a:effectLst/>
            </a:endParaRPr>
          </a:p>
          <a:p>
            <a:pPr eaLnBrk="1" hangingPunct="1">
              <a:defRPr/>
            </a:pPr>
            <a:endParaRPr lang="en-US" dirty="0" smtClean="0">
              <a:effectLst/>
            </a:endParaRPr>
          </a:p>
          <a:p>
            <a:pPr eaLnBrk="1" hangingPunct="1">
              <a:defRPr/>
            </a:pPr>
            <a:r>
              <a:rPr lang="en-US" dirty="0" smtClean="0">
                <a:solidFill>
                  <a:schemeClr val="tx2"/>
                </a:solidFill>
                <a:effectLst/>
              </a:rPr>
              <a:t>Models are the “</a:t>
            </a:r>
            <a:r>
              <a:rPr lang="en-US" dirty="0" smtClean="0">
                <a:effectLst/>
              </a:rPr>
              <a:t>product</a:t>
            </a:r>
            <a:r>
              <a:rPr lang="en-US" dirty="0" smtClean="0">
                <a:solidFill>
                  <a:schemeClr val="tx2"/>
                </a:solidFill>
                <a:effectLst/>
              </a:rPr>
              <a:t>” of data mining</a:t>
            </a:r>
          </a:p>
          <a:p>
            <a:pPr eaLnBrk="1" hangingPunct="1">
              <a:buFont typeface="Wingdings" panose="05000000000000000000" pitchFamily="2" charset="2"/>
              <a:buNone/>
              <a:defRPr/>
            </a:pPr>
            <a:r>
              <a:rPr lang="en-US" sz="2800" dirty="0">
                <a:solidFill>
                  <a:schemeClr val="tx2"/>
                </a:solidFill>
              </a:rPr>
              <a:t>--Strategic decisions are supported on the inferred models</a:t>
            </a:r>
          </a:p>
          <a:p>
            <a:pPr eaLnBrk="1" hangingPunct="1">
              <a:defRPr/>
            </a:pPr>
            <a:endParaRPr lang="en-US" sz="2800" dirty="0">
              <a:solidFill>
                <a:schemeClr val="tx2"/>
              </a:solidFill>
            </a:endParaRPr>
          </a:p>
        </p:txBody>
      </p:sp>
      <p:sp>
        <p:nvSpPr>
          <p:cNvPr id="19460" name="Oval 5"/>
          <p:cNvSpPr>
            <a:spLocks noChangeArrowheads="1"/>
          </p:cNvSpPr>
          <p:nvPr/>
        </p:nvSpPr>
        <p:spPr bwMode="auto">
          <a:xfrm>
            <a:off x="2281238" y="2819400"/>
            <a:ext cx="2286000" cy="6858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solidFill>
                  <a:schemeClr val="tx2"/>
                </a:solidFill>
              </a:rPr>
              <a:t>Data</a:t>
            </a:r>
          </a:p>
          <a:p>
            <a:pPr algn="ctr">
              <a:spcBef>
                <a:spcPct val="0"/>
              </a:spcBef>
              <a:buClrTx/>
              <a:buSzTx/>
              <a:buFontTx/>
              <a:buNone/>
            </a:pPr>
            <a:r>
              <a:rPr lang="en-US" altLang="en-US" sz="1800" b="1">
                <a:solidFill>
                  <a:schemeClr val="tx2"/>
                </a:solidFill>
              </a:rPr>
              <a:t>(Information)</a:t>
            </a:r>
          </a:p>
        </p:txBody>
      </p:sp>
      <p:sp>
        <p:nvSpPr>
          <p:cNvPr id="19461" name="Oval 6"/>
          <p:cNvSpPr>
            <a:spLocks noChangeArrowheads="1"/>
          </p:cNvSpPr>
          <p:nvPr/>
        </p:nvSpPr>
        <p:spPr bwMode="auto">
          <a:xfrm>
            <a:off x="7843838" y="2743200"/>
            <a:ext cx="2209800" cy="685800"/>
          </a:xfrm>
          <a:prstGeom prst="ellipse">
            <a:avLst/>
          </a:prstGeom>
          <a:solidFill>
            <a:schemeClr val="accent1"/>
          </a:solidFill>
          <a:ln w="9525">
            <a:solidFill>
              <a:schemeClr val="tx1"/>
            </a:solidFill>
            <a:round/>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solidFill>
                  <a:schemeClr val="tx2"/>
                </a:solidFill>
              </a:rPr>
              <a:t>Models</a:t>
            </a:r>
          </a:p>
          <a:p>
            <a:pPr algn="ctr">
              <a:spcBef>
                <a:spcPct val="0"/>
              </a:spcBef>
              <a:buClrTx/>
              <a:buSzTx/>
              <a:buFontTx/>
              <a:buNone/>
            </a:pPr>
            <a:r>
              <a:rPr lang="en-US" altLang="en-US" sz="1800" b="1">
                <a:solidFill>
                  <a:schemeClr val="tx2"/>
                </a:solidFill>
              </a:rPr>
              <a:t>(Knowledge)</a:t>
            </a:r>
          </a:p>
        </p:txBody>
      </p:sp>
      <p:sp>
        <p:nvSpPr>
          <p:cNvPr id="19462" name="Rectangle 7"/>
          <p:cNvSpPr>
            <a:spLocks noChangeArrowheads="1"/>
          </p:cNvSpPr>
          <p:nvPr/>
        </p:nvSpPr>
        <p:spPr bwMode="auto">
          <a:xfrm>
            <a:off x="5257800" y="2590800"/>
            <a:ext cx="1828800" cy="9906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solidFill>
                  <a:schemeClr val="tx2"/>
                </a:solidFill>
              </a:rPr>
              <a:t>Data Mining</a:t>
            </a:r>
          </a:p>
        </p:txBody>
      </p:sp>
      <p:sp>
        <p:nvSpPr>
          <p:cNvPr id="19463" name="Line 8"/>
          <p:cNvSpPr>
            <a:spLocks noChangeShapeType="1"/>
          </p:cNvSpPr>
          <p:nvPr/>
        </p:nvSpPr>
        <p:spPr bwMode="auto">
          <a:xfrm>
            <a:off x="4567238" y="3124200"/>
            <a:ext cx="685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9464" name="Line 9"/>
          <p:cNvSpPr>
            <a:spLocks noChangeShapeType="1"/>
          </p:cNvSpPr>
          <p:nvPr/>
        </p:nvSpPr>
        <p:spPr bwMode="auto">
          <a:xfrm>
            <a:off x="7158038" y="3124200"/>
            <a:ext cx="6858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 name="Date Placeholder 1"/>
          <p:cNvSpPr>
            <a:spLocks noGrp="1"/>
          </p:cNvSpPr>
          <p:nvPr>
            <p:ph type="dt" sz="half" idx="10"/>
          </p:nvPr>
        </p:nvSpPr>
        <p:spPr/>
        <p:txBody>
          <a:bodyPr/>
          <a:lstStyle/>
          <a:p>
            <a:fld id="{09DA4B5E-C565-4B6A-80B7-22B1AF25CB50}"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10</a:t>
            </a:fld>
            <a:endParaRPr lang="en-US"/>
          </a:p>
        </p:txBody>
      </p:sp>
    </p:spTree>
    <p:extLst>
      <p:ext uri="{BB962C8B-B14F-4D97-AF65-F5344CB8AC3E}">
        <p14:creationId xmlns:p14="http://schemas.microsoft.com/office/powerpoint/2010/main" val="41883203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752600" y="381001"/>
            <a:ext cx="3352800" cy="1139825"/>
          </a:xfrm>
        </p:spPr>
        <p:txBody>
          <a:bodyPr/>
          <a:lstStyle/>
          <a:p>
            <a:pPr algn="l" eaLnBrk="1" hangingPunct="1">
              <a:defRPr/>
            </a:pPr>
            <a:r>
              <a:rPr lang="en-US" smtClean="0"/>
              <a:t>Motivation</a:t>
            </a:r>
          </a:p>
        </p:txBody>
      </p:sp>
      <p:sp>
        <p:nvSpPr>
          <p:cNvPr id="9219" name="Rectangle 3"/>
          <p:cNvSpPr>
            <a:spLocks noGrp="1" noChangeArrowheads="1"/>
          </p:cNvSpPr>
          <p:nvPr>
            <p:ph idx="1"/>
          </p:nvPr>
        </p:nvSpPr>
        <p:spPr>
          <a:xfrm>
            <a:off x="1981200" y="1600200"/>
            <a:ext cx="8686800" cy="5257800"/>
          </a:xfrm>
        </p:spPr>
        <p:txBody>
          <a:bodyPr/>
          <a:lstStyle/>
          <a:p>
            <a:pPr eaLnBrk="1" hangingPunct="1">
              <a:lnSpc>
                <a:spcPct val="80000"/>
              </a:lnSpc>
              <a:buFont typeface="Wingdings" panose="05000000000000000000" pitchFamily="2" charset="2"/>
              <a:buNone/>
            </a:pPr>
            <a:r>
              <a:rPr lang="en-US" altLang="en-US" dirty="0" smtClean="0">
                <a:effectLst/>
              </a:rPr>
              <a:t>Problem</a:t>
            </a:r>
          </a:p>
          <a:p>
            <a:pPr eaLnBrk="1" hangingPunct="1">
              <a:lnSpc>
                <a:spcPct val="80000"/>
              </a:lnSpc>
              <a:buFont typeface="Wingdings" panose="05000000000000000000" pitchFamily="2" charset="2"/>
              <a:buNone/>
            </a:pPr>
            <a:r>
              <a:rPr lang="en-US" altLang="en-US" sz="2000" dirty="0">
                <a:solidFill>
                  <a:schemeClr val="tx2"/>
                </a:solidFill>
              </a:rPr>
              <a:t>	</a:t>
            </a:r>
            <a:r>
              <a:rPr lang="en-US" altLang="en-US" dirty="0" smtClean="0">
                <a:solidFill>
                  <a:schemeClr val="tx2"/>
                </a:solidFill>
                <a:effectLst/>
              </a:rPr>
              <a:t>IS’s and DB’s make it possible to convert </a:t>
            </a:r>
            <a:r>
              <a:rPr lang="en-US" altLang="en-US" dirty="0" smtClean="0">
                <a:solidFill>
                  <a:schemeClr val="tx2"/>
                </a:solidFill>
                <a:effectLst/>
              </a:rPr>
              <a:t>data </a:t>
            </a:r>
            <a:r>
              <a:rPr lang="en-US" altLang="en-US" dirty="0" smtClean="0">
                <a:solidFill>
                  <a:schemeClr val="tx2"/>
                </a:solidFill>
                <a:effectLst/>
              </a:rPr>
              <a:t>into information, but make it difficult to convert information into knowledge.</a:t>
            </a:r>
          </a:p>
          <a:p>
            <a:pPr eaLnBrk="1" hangingPunct="1">
              <a:lnSpc>
                <a:spcPct val="80000"/>
              </a:lnSpc>
              <a:buFont typeface="Wingdings" panose="05000000000000000000" pitchFamily="2" charset="2"/>
              <a:buNone/>
            </a:pPr>
            <a:endParaRPr lang="en-US" altLang="en-US" dirty="0" smtClean="0">
              <a:solidFill>
                <a:schemeClr val="tx2"/>
              </a:solidFill>
              <a:effectLst/>
            </a:endParaRPr>
          </a:p>
          <a:p>
            <a:pPr eaLnBrk="1" hangingPunct="1">
              <a:lnSpc>
                <a:spcPct val="80000"/>
              </a:lnSpc>
            </a:pPr>
            <a:r>
              <a:rPr lang="en-US" altLang="en-US" dirty="0" smtClean="0">
                <a:effectLst/>
              </a:rPr>
              <a:t>This cannot be done manually any more.</a:t>
            </a:r>
          </a:p>
        </p:txBody>
      </p:sp>
      <p:sp>
        <p:nvSpPr>
          <p:cNvPr id="2" name="Date Placeholder 1"/>
          <p:cNvSpPr>
            <a:spLocks noGrp="1"/>
          </p:cNvSpPr>
          <p:nvPr>
            <p:ph type="dt" sz="half" idx="10"/>
          </p:nvPr>
        </p:nvSpPr>
        <p:spPr/>
        <p:txBody>
          <a:bodyPr/>
          <a:lstStyle/>
          <a:p>
            <a:fld id="{9C4AB421-5F72-45BD-9BC1-CD869F0E2F9B}"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11</a:t>
            </a:fld>
            <a:endParaRPr lang="en-US"/>
          </a:p>
        </p:txBody>
      </p:sp>
    </p:spTree>
    <p:extLst>
      <p:ext uri="{BB962C8B-B14F-4D97-AF65-F5344CB8AC3E}">
        <p14:creationId xmlns:p14="http://schemas.microsoft.com/office/powerpoint/2010/main" val="28695841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1752600" y="381001"/>
            <a:ext cx="3352800" cy="1139825"/>
          </a:xfrm>
        </p:spPr>
        <p:txBody>
          <a:bodyPr/>
          <a:lstStyle/>
          <a:p>
            <a:pPr algn="l" eaLnBrk="1" hangingPunct="1">
              <a:defRPr/>
            </a:pPr>
            <a:r>
              <a:rPr lang="en-US" smtClean="0"/>
              <a:t>Motivation</a:t>
            </a:r>
          </a:p>
        </p:txBody>
      </p:sp>
      <p:sp>
        <p:nvSpPr>
          <p:cNvPr id="10243" name="Rectangle 3"/>
          <p:cNvSpPr>
            <a:spLocks noGrp="1" noChangeArrowheads="1"/>
          </p:cNvSpPr>
          <p:nvPr>
            <p:ph idx="1"/>
          </p:nvPr>
        </p:nvSpPr>
        <p:spPr>
          <a:xfrm>
            <a:off x="1981200" y="1600200"/>
            <a:ext cx="8686800" cy="5257800"/>
          </a:xfrm>
        </p:spPr>
        <p:txBody>
          <a:bodyPr/>
          <a:lstStyle/>
          <a:p>
            <a:pPr eaLnBrk="1" hangingPunct="1">
              <a:lnSpc>
                <a:spcPct val="80000"/>
              </a:lnSpc>
              <a:buFont typeface="Wingdings" panose="05000000000000000000" pitchFamily="2" charset="2"/>
              <a:buNone/>
            </a:pPr>
            <a:r>
              <a:rPr lang="en-US" altLang="en-US" smtClean="0">
                <a:effectLst/>
              </a:rPr>
              <a:t>Old tools:</a:t>
            </a:r>
          </a:p>
          <a:p>
            <a:pPr eaLnBrk="1" hangingPunct="1">
              <a:lnSpc>
                <a:spcPct val="80000"/>
              </a:lnSpc>
              <a:buFont typeface="Wingdings" panose="05000000000000000000" pitchFamily="2" charset="2"/>
              <a:buNone/>
            </a:pPr>
            <a:r>
              <a:rPr lang="en-US" altLang="en-US" sz="2400">
                <a:solidFill>
                  <a:schemeClr val="tx2"/>
                </a:solidFill>
              </a:rPr>
              <a:t>	</a:t>
            </a:r>
            <a:r>
              <a:rPr lang="en-US" altLang="en-US" sz="2800">
                <a:solidFill>
                  <a:schemeClr val="tx2"/>
                </a:solidFill>
              </a:rPr>
              <a:t>Data Source:</a:t>
            </a:r>
          </a:p>
          <a:p>
            <a:pPr lvl="1" eaLnBrk="1" hangingPunct="1">
              <a:lnSpc>
                <a:spcPct val="80000"/>
              </a:lnSpc>
            </a:pPr>
            <a:r>
              <a:rPr lang="en-US" altLang="en-US" sz="2400">
                <a:solidFill>
                  <a:schemeClr val="tx2"/>
                </a:solidFill>
              </a:rPr>
              <a:t>Transactional Database:</a:t>
            </a:r>
          </a:p>
          <a:p>
            <a:pPr lvl="1" eaLnBrk="1" hangingPunct="1">
              <a:lnSpc>
                <a:spcPct val="80000"/>
              </a:lnSpc>
            </a:pPr>
            <a:r>
              <a:rPr lang="en-US" altLang="en-US" sz="2400">
                <a:solidFill>
                  <a:schemeClr val="tx2"/>
                </a:solidFill>
              </a:rPr>
              <a:t>Relational or Object-Relational Data Organisation</a:t>
            </a:r>
          </a:p>
          <a:p>
            <a:pPr eaLnBrk="1" hangingPunct="1">
              <a:lnSpc>
                <a:spcPct val="80000"/>
              </a:lnSpc>
              <a:buFont typeface="Wingdings" panose="05000000000000000000" pitchFamily="2" charset="2"/>
              <a:buNone/>
            </a:pPr>
            <a:r>
              <a:rPr lang="en-US" altLang="en-US" sz="2400">
                <a:solidFill>
                  <a:schemeClr val="tx2"/>
                </a:solidFill>
              </a:rPr>
              <a:t>	</a:t>
            </a:r>
            <a:r>
              <a:rPr lang="en-US" altLang="en-US" sz="2800">
                <a:solidFill>
                  <a:schemeClr val="tx2"/>
                </a:solidFill>
              </a:rPr>
              <a:t>Information Delivery (Exploitation) Tools:</a:t>
            </a:r>
          </a:p>
          <a:p>
            <a:pPr lvl="1" eaLnBrk="1" hangingPunct="1">
              <a:lnSpc>
                <a:spcPct val="80000"/>
              </a:lnSpc>
            </a:pPr>
            <a:r>
              <a:rPr lang="en-US" altLang="en-US" sz="2400">
                <a:solidFill>
                  <a:schemeClr val="tx2"/>
                </a:solidFill>
              </a:rPr>
              <a:t>Batch Reporting Tools</a:t>
            </a:r>
          </a:p>
          <a:p>
            <a:pPr lvl="1" eaLnBrk="1" hangingPunct="1">
              <a:lnSpc>
                <a:spcPct val="80000"/>
              </a:lnSpc>
            </a:pPr>
            <a:r>
              <a:rPr lang="en-US" altLang="en-US" sz="2400">
                <a:solidFill>
                  <a:schemeClr val="tx2"/>
                </a:solidFill>
              </a:rPr>
              <a:t>EIS (Executive Information Systems)</a:t>
            </a:r>
          </a:p>
          <a:p>
            <a:pPr lvl="1" eaLnBrk="1" hangingPunct="1">
              <a:lnSpc>
                <a:spcPct val="80000"/>
              </a:lnSpc>
            </a:pPr>
            <a:r>
              <a:rPr lang="en-US" altLang="en-US" sz="2400">
                <a:solidFill>
                  <a:schemeClr val="tx2"/>
                </a:solidFill>
              </a:rPr>
              <a:t>Traditional DSS (Decision Support Systems)</a:t>
            </a:r>
          </a:p>
          <a:p>
            <a:pPr lvl="1" eaLnBrk="1" hangingPunct="1">
              <a:lnSpc>
                <a:spcPct val="80000"/>
              </a:lnSpc>
            </a:pPr>
            <a:r>
              <a:rPr lang="en-US" altLang="en-US" sz="2400">
                <a:solidFill>
                  <a:schemeClr val="tx2"/>
                </a:solidFill>
              </a:rPr>
              <a:t>Desktop Reporting Tools (Spreadsheet Add-ins,…)</a:t>
            </a:r>
          </a:p>
        </p:txBody>
      </p:sp>
      <p:sp>
        <p:nvSpPr>
          <p:cNvPr id="2" name="Date Placeholder 1"/>
          <p:cNvSpPr>
            <a:spLocks noGrp="1"/>
          </p:cNvSpPr>
          <p:nvPr>
            <p:ph type="dt" sz="half" idx="10"/>
          </p:nvPr>
        </p:nvSpPr>
        <p:spPr/>
        <p:txBody>
          <a:bodyPr/>
          <a:lstStyle/>
          <a:p>
            <a:fld id="{B278AA06-7099-4097-BF21-F241226B074C}"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12</a:t>
            </a:fld>
            <a:endParaRPr lang="en-US"/>
          </a:p>
        </p:txBody>
      </p:sp>
    </p:spTree>
    <p:extLst>
      <p:ext uri="{BB962C8B-B14F-4D97-AF65-F5344CB8AC3E}">
        <p14:creationId xmlns:p14="http://schemas.microsoft.com/office/powerpoint/2010/main" val="147910047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752600" y="381001"/>
            <a:ext cx="3352800" cy="1139825"/>
          </a:xfrm>
        </p:spPr>
        <p:txBody>
          <a:bodyPr/>
          <a:lstStyle/>
          <a:p>
            <a:pPr algn="l" eaLnBrk="1" hangingPunct="1">
              <a:defRPr/>
            </a:pPr>
            <a:r>
              <a:rPr lang="en-US" smtClean="0"/>
              <a:t>Motivation</a:t>
            </a:r>
          </a:p>
        </p:txBody>
      </p:sp>
      <p:sp>
        <p:nvSpPr>
          <p:cNvPr id="11267" name="Rectangle 3"/>
          <p:cNvSpPr>
            <a:spLocks noGrp="1" noChangeArrowheads="1"/>
          </p:cNvSpPr>
          <p:nvPr>
            <p:ph idx="1"/>
          </p:nvPr>
        </p:nvSpPr>
        <p:spPr>
          <a:xfrm>
            <a:off x="1981200" y="1600200"/>
            <a:ext cx="8686800" cy="5257800"/>
          </a:xfrm>
        </p:spPr>
        <p:txBody>
          <a:bodyPr/>
          <a:lstStyle/>
          <a:p>
            <a:pPr eaLnBrk="1" hangingPunct="1">
              <a:lnSpc>
                <a:spcPct val="80000"/>
              </a:lnSpc>
              <a:buFont typeface="Wingdings" panose="05000000000000000000" pitchFamily="2" charset="2"/>
              <a:buNone/>
            </a:pPr>
            <a:r>
              <a:rPr lang="en-US" altLang="en-US" smtClean="0">
                <a:effectLst/>
              </a:rPr>
              <a:t>New tools:</a:t>
            </a:r>
          </a:p>
          <a:p>
            <a:pPr eaLnBrk="1" hangingPunct="1">
              <a:lnSpc>
                <a:spcPct val="80000"/>
              </a:lnSpc>
              <a:buFont typeface="Wingdings" panose="05000000000000000000" pitchFamily="2" charset="2"/>
              <a:buNone/>
            </a:pPr>
            <a:r>
              <a:rPr lang="en-US" altLang="en-US" sz="2000">
                <a:solidFill>
                  <a:schemeClr val="tx2"/>
                </a:solidFill>
              </a:rPr>
              <a:t>	</a:t>
            </a:r>
            <a:r>
              <a:rPr lang="en-US" altLang="en-US" sz="2800">
                <a:solidFill>
                  <a:schemeClr val="tx2"/>
                </a:solidFill>
              </a:rPr>
              <a:t>Data Source:</a:t>
            </a:r>
          </a:p>
          <a:p>
            <a:pPr lvl="1" eaLnBrk="1" hangingPunct="1">
              <a:lnSpc>
                <a:spcPct val="80000"/>
              </a:lnSpc>
            </a:pPr>
            <a:r>
              <a:rPr lang="en-US" altLang="en-US" sz="2400">
                <a:solidFill>
                  <a:schemeClr val="tx2"/>
                </a:solidFill>
              </a:rPr>
              <a:t>Data warehouses or operational data stores.</a:t>
            </a:r>
          </a:p>
          <a:p>
            <a:pPr lvl="2" eaLnBrk="1" hangingPunct="1">
              <a:lnSpc>
                <a:spcPct val="80000"/>
              </a:lnSpc>
            </a:pPr>
            <a:r>
              <a:rPr lang="en-US" altLang="en-US" sz="2000">
                <a:solidFill>
                  <a:schemeClr val="tx2"/>
                </a:solidFill>
              </a:rPr>
              <a:t>Other models: multidimensional</a:t>
            </a:r>
          </a:p>
          <a:p>
            <a:pPr lvl="2" eaLnBrk="1" hangingPunct="1">
              <a:lnSpc>
                <a:spcPct val="80000"/>
              </a:lnSpc>
            </a:pPr>
            <a:r>
              <a:rPr lang="en-US" altLang="en-US" sz="2000">
                <a:solidFill>
                  <a:schemeClr val="tx2"/>
                </a:solidFill>
              </a:rPr>
              <a:t>Other organisations: datamarts</a:t>
            </a:r>
          </a:p>
          <a:p>
            <a:pPr eaLnBrk="1" hangingPunct="1">
              <a:lnSpc>
                <a:spcPct val="80000"/>
              </a:lnSpc>
              <a:buFont typeface="Wingdings" panose="05000000000000000000" pitchFamily="2" charset="2"/>
              <a:buNone/>
            </a:pPr>
            <a:r>
              <a:rPr lang="en-US" altLang="en-US" sz="2000">
                <a:solidFill>
                  <a:schemeClr val="tx2"/>
                </a:solidFill>
              </a:rPr>
              <a:t>	</a:t>
            </a:r>
            <a:r>
              <a:rPr lang="en-US" altLang="en-US" sz="2800">
                <a:solidFill>
                  <a:schemeClr val="tx2"/>
                </a:solidFill>
              </a:rPr>
              <a:t>Exploitation tools:</a:t>
            </a:r>
          </a:p>
          <a:p>
            <a:pPr lvl="1" eaLnBrk="1" hangingPunct="1">
              <a:lnSpc>
                <a:spcPct val="80000"/>
              </a:lnSpc>
            </a:pPr>
            <a:r>
              <a:rPr lang="en-US" altLang="en-US" sz="2400">
                <a:solidFill>
                  <a:schemeClr val="tx2"/>
                </a:solidFill>
              </a:rPr>
              <a:t>OLAP (On-Line Analytical Processing) Tools.</a:t>
            </a:r>
          </a:p>
          <a:p>
            <a:pPr lvl="1" eaLnBrk="1" hangingPunct="1">
              <a:lnSpc>
                <a:spcPct val="80000"/>
              </a:lnSpc>
            </a:pPr>
            <a:r>
              <a:rPr lang="en-US" altLang="en-US" sz="2400">
                <a:solidFill>
                  <a:schemeClr val="tx2"/>
                </a:solidFill>
              </a:rPr>
              <a:t>Data Mining</a:t>
            </a:r>
          </a:p>
          <a:p>
            <a:pPr lvl="1" eaLnBrk="1" hangingPunct="1">
              <a:lnSpc>
                <a:spcPct val="80000"/>
              </a:lnSpc>
            </a:pPr>
            <a:r>
              <a:rPr lang="en-US" altLang="en-US" sz="2400">
                <a:solidFill>
                  <a:schemeClr val="tx2"/>
                </a:solidFill>
              </a:rPr>
              <a:t>Simulation</a:t>
            </a:r>
          </a:p>
        </p:txBody>
      </p:sp>
      <p:sp>
        <p:nvSpPr>
          <p:cNvPr id="2" name="Date Placeholder 1"/>
          <p:cNvSpPr>
            <a:spLocks noGrp="1"/>
          </p:cNvSpPr>
          <p:nvPr>
            <p:ph type="dt" sz="half" idx="10"/>
          </p:nvPr>
        </p:nvSpPr>
        <p:spPr/>
        <p:txBody>
          <a:bodyPr/>
          <a:lstStyle/>
          <a:p>
            <a:fld id="{E8501275-2995-460C-B439-B75046E2AD69}"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13</a:t>
            </a:fld>
            <a:endParaRPr lang="en-US"/>
          </a:p>
        </p:txBody>
      </p:sp>
    </p:spTree>
    <p:extLst>
      <p:ext uri="{BB962C8B-B14F-4D97-AF65-F5344CB8AC3E}">
        <p14:creationId xmlns:p14="http://schemas.microsoft.com/office/powerpoint/2010/main" val="142068050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752600" y="381001"/>
            <a:ext cx="3352800" cy="1139825"/>
          </a:xfrm>
        </p:spPr>
        <p:txBody>
          <a:bodyPr/>
          <a:lstStyle/>
          <a:p>
            <a:pPr algn="l" eaLnBrk="1" hangingPunct="1">
              <a:defRPr/>
            </a:pPr>
            <a:r>
              <a:rPr lang="en-US" smtClean="0"/>
              <a:t>Motivation</a:t>
            </a:r>
          </a:p>
        </p:txBody>
      </p:sp>
      <p:sp>
        <p:nvSpPr>
          <p:cNvPr id="12291" name="Rectangle 3"/>
          <p:cNvSpPr>
            <a:spLocks noGrp="1" noChangeArrowheads="1"/>
          </p:cNvSpPr>
          <p:nvPr>
            <p:ph idx="1"/>
          </p:nvPr>
        </p:nvSpPr>
        <p:spPr>
          <a:xfrm>
            <a:off x="1981200" y="1600200"/>
            <a:ext cx="8686800" cy="5257800"/>
          </a:xfrm>
        </p:spPr>
        <p:txBody>
          <a:bodyPr/>
          <a:lstStyle/>
          <a:p>
            <a:pPr eaLnBrk="1" hangingPunct="1">
              <a:lnSpc>
                <a:spcPct val="80000"/>
              </a:lnSpc>
              <a:buFont typeface="Wingdings" panose="05000000000000000000" pitchFamily="2" charset="2"/>
              <a:buNone/>
            </a:pPr>
            <a:r>
              <a:rPr lang="en-US" altLang="en-US" smtClean="0">
                <a:solidFill>
                  <a:schemeClr val="tx2"/>
                </a:solidFill>
                <a:effectLst/>
              </a:rPr>
              <a:t>Needs and Tools:</a:t>
            </a:r>
          </a:p>
          <a:p>
            <a:pPr eaLnBrk="1" hangingPunct="1">
              <a:lnSpc>
                <a:spcPct val="80000"/>
              </a:lnSpc>
              <a:buFont typeface="Wingdings" panose="05000000000000000000" pitchFamily="2" charset="2"/>
              <a:buNone/>
            </a:pPr>
            <a:r>
              <a:rPr lang="en-US" altLang="en-US" smtClean="0">
                <a:effectLst/>
              </a:rPr>
              <a:t>Operational decisions → operational queries:</a:t>
            </a:r>
          </a:p>
          <a:p>
            <a:pPr eaLnBrk="1" hangingPunct="1">
              <a:lnSpc>
                <a:spcPct val="80000"/>
              </a:lnSpc>
              <a:buFont typeface="Wingdings" panose="05000000000000000000" pitchFamily="2" charset="2"/>
              <a:buNone/>
            </a:pPr>
            <a:r>
              <a:rPr lang="en-US" altLang="en-US" smtClean="0">
                <a:solidFill>
                  <a:schemeClr val="tx2"/>
                </a:solidFill>
                <a:effectLst/>
              </a:rPr>
              <a:t>	Requirement Examples:</a:t>
            </a:r>
          </a:p>
          <a:p>
            <a:pPr lvl="1" eaLnBrk="1" hangingPunct="1">
              <a:lnSpc>
                <a:spcPct val="80000"/>
              </a:lnSpc>
            </a:pPr>
            <a:r>
              <a:rPr lang="en-US" altLang="en-US" sz="3200">
                <a:solidFill>
                  <a:schemeClr val="tx2"/>
                </a:solidFill>
              </a:rPr>
              <a:t> </a:t>
            </a:r>
            <a:r>
              <a:rPr lang="en-US" altLang="en-US" smtClean="0">
                <a:solidFill>
                  <a:schemeClr val="tx2"/>
                </a:solidFill>
                <a:effectLst/>
              </a:rPr>
              <a:t>“Are there available seats for flight IB-2323?”.</a:t>
            </a:r>
          </a:p>
          <a:p>
            <a:pPr eaLnBrk="1" hangingPunct="1">
              <a:lnSpc>
                <a:spcPct val="80000"/>
              </a:lnSpc>
              <a:buFont typeface="Wingdings" panose="05000000000000000000" pitchFamily="2" charset="2"/>
              <a:buNone/>
            </a:pPr>
            <a:r>
              <a:rPr lang="en-US" altLang="en-US" smtClean="0">
                <a:solidFill>
                  <a:schemeClr val="tx2"/>
                </a:solidFill>
                <a:effectLst/>
              </a:rPr>
              <a:t>		» TOOL: SQL.</a:t>
            </a:r>
          </a:p>
          <a:p>
            <a:pPr lvl="1" eaLnBrk="1" hangingPunct="1">
              <a:lnSpc>
                <a:spcPct val="80000"/>
              </a:lnSpc>
            </a:pPr>
            <a:r>
              <a:rPr lang="en-US" altLang="en-US" sz="3200">
                <a:solidFill>
                  <a:schemeClr val="tx2"/>
                </a:solidFill>
              </a:rPr>
              <a:t>“</a:t>
            </a:r>
            <a:r>
              <a:rPr lang="en-US" altLang="en-US" smtClean="0">
                <a:solidFill>
                  <a:schemeClr val="tx2"/>
                </a:solidFill>
                <a:effectLst/>
              </a:rPr>
              <a:t>List the products which currently have a special offer”.</a:t>
            </a:r>
          </a:p>
          <a:p>
            <a:pPr lvl="2" eaLnBrk="1" hangingPunct="1">
              <a:lnSpc>
                <a:spcPct val="80000"/>
              </a:lnSpc>
              <a:buFont typeface="Wingdings" panose="05000000000000000000" pitchFamily="2" charset="2"/>
              <a:buNone/>
            </a:pPr>
            <a:r>
              <a:rPr lang="en-US" altLang="en-US" sz="3200">
                <a:solidFill>
                  <a:schemeClr val="tx2"/>
                </a:solidFill>
              </a:rPr>
              <a:t>» TOOL: SQL/Reporting tools.</a:t>
            </a:r>
          </a:p>
        </p:txBody>
      </p:sp>
      <p:sp>
        <p:nvSpPr>
          <p:cNvPr id="2" name="Date Placeholder 1"/>
          <p:cNvSpPr>
            <a:spLocks noGrp="1"/>
          </p:cNvSpPr>
          <p:nvPr>
            <p:ph type="dt" sz="half" idx="10"/>
          </p:nvPr>
        </p:nvSpPr>
        <p:spPr/>
        <p:txBody>
          <a:bodyPr/>
          <a:lstStyle/>
          <a:p>
            <a:fld id="{40A78196-DC83-49D8-ABF0-40AAFB189B88}"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14</a:t>
            </a:fld>
            <a:endParaRPr lang="en-US"/>
          </a:p>
        </p:txBody>
      </p:sp>
    </p:spTree>
    <p:extLst>
      <p:ext uri="{BB962C8B-B14F-4D97-AF65-F5344CB8AC3E}">
        <p14:creationId xmlns:p14="http://schemas.microsoft.com/office/powerpoint/2010/main" val="39995717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752600" y="381001"/>
            <a:ext cx="3352800" cy="1139825"/>
          </a:xfrm>
        </p:spPr>
        <p:txBody>
          <a:bodyPr/>
          <a:lstStyle/>
          <a:p>
            <a:pPr algn="l" eaLnBrk="1" hangingPunct="1">
              <a:defRPr/>
            </a:pPr>
            <a:r>
              <a:rPr lang="en-US" smtClean="0"/>
              <a:t>Motivation</a:t>
            </a:r>
          </a:p>
        </p:txBody>
      </p:sp>
      <p:sp>
        <p:nvSpPr>
          <p:cNvPr id="13315" name="Rectangle 3"/>
          <p:cNvSpPr>
            <a:spLocks noGrp="1" noChangeArrowheads="1"/>
          </p:cNvSpPr>
          <p:nvPr>
            <p:ph idx="1"/>
          </p:nvPr>
        </p:nvSpPr>
        <p:spPr>
          <a:xfrm>
            <a:off x="1981200" y="1600200"/>
            <a:ext cx="8686800" cy="5257800"/>
          </a:xfrm>
        </p:spPr>
        <p:txBody>
          <a:bodyPr/>
          <a:lstStyle/>
          <a:p>
            <a:pPr eaLnBrk="1" hangingPunct="1">
              <a:lnSpc>
                <a:spcPct val="80000"/>
              </a:lnSpc>
              <a:buFont typeface="Wingdings" panose="05000000000000000000" pitchFamily="2" charset="2"/>
              <a:buNone/>
            </a:pPr>
            <a:r>
              <a:rPr lang="en-US" altLang="en-US" smtClean="0">
                <a:solidFill>
                  <a:schemeClr val="tx2"/>
                </a:solidFill>
                <a:effectLst/>
              </a:rPr>
              <a:t>Needs and Tools:</a:t>
            </a:r>
          </a:p>
          <a:p>
            <a:pPr eaLnBrk="1" hangingPunct="1">
              <a:lnSpc>
                <a:spcPct val="80000"/>
              </a:lnSpc>
              <a:buFont typeface="Wingdings" panose="05000000000000000000" pitchFamily="2" charset="2"/>
              <a:buNone/>
            </a:pPr>
            <a:r>
              <a:rPr lang="en-US" altLang="en-US" sz="2000"/>
              <a:t>	</a:t>
            </a:r>
            <a:r>
              <a:rPr lang="en-US" altLang="en-US" smtClean="0">
                <a:effectLst/>
              </a:rPr>
              <a:t>Tactical decisions → aggregated queries:</a:t>
            </a:r>
          </a:p>
          <a:p>
            <a:pPr lvl="1" eaLnBrk="1" hangingPunct="1">
              <a:lnSpc>
                <a:spcPct val="80000"/>
              </a:lnSpc>
              <a:buFont typeface="Wingdings" panose="05000000000000000000" pitchFamily="2" charset="2"/>
              <a:buNone/>
            </a:pPr>
            <a:r>
              <a:rPr lang="en-US" altLang="en-US" sz="3200">
                <a:solidFill>
                  <a:schemeClr val="tx2"/>
                </a:solidFill>
              </a:rPr>
              <a:t>Requirement Example:</a:t>
            </a:r>
          </a:p>
          <a:p>
            <a:pPr lvl="1" eaLnBrk="1" hangingPunct="1">
              <a:lnSpc>
                <a:spcPct val="80000"/>
              </a:lnSpc>
            </a:pPr>
            <a:r>
              <a:rPr lang="en-US" altLang="en-US" smtClean="0">
                <a:solidFill>
                  <a:schemeClr val="tx2"/>
                </a:solidFill>
                <a:effectLst/>
              </a:rPr>
              <a:t>“Top ten sellers in the sales department during the last year”.</a:t>
            </a:r>
          </a:p>
          <a:p>
            <a:pPr lvl="2" eaLnBrk="1" hangingPunct="1">
              <a:lnSpc>
                <a:spcPct val="80000"/>
              </a:lnSpc>
              <a:buFont typeface="Wingdings" panose="05000000000000000000" pitchFamily="2" charset="2"/>
              <a:buNone/>
            </a:pPr>
            <a:r>
              <a:rPr lang="en-US" altLang="en-US" sz="3200">
                <a:solidFill>
                  <a:schemeClr val="tx2"/>
                </a:solidFill>
              </a:rPr>
              <a:t>» TOOL: SQL, OLAP tools, data warehouses</a:t>
            </a:r>
          </a:p>
          <a:p>
            <a:pPr lvl="1" eaLnBrk="1" hangingPunct="1">
              <a:lnSpc>
                <a:spcPct val="80000"/>
              </a:lnSpc>
              <a:buSzPct val="120000"/>
            </a:pPr>
            <a:r>
              <a:rPr lang="en-US" altLang="en-US" sz="1800">
                <a:solidFill>
                  <a:schemeClr val="tx2"/>
                </a:solidFill>
              </a:rPr>
              <a:t> </a:t>
            </a:r>
            <a:r>
              <a:rPr lang="en-US" altLang="en-US" smtClean="0">
                <a:solidFill>
                  <a:schemeClr val="tx2"/>
                </a:solidFill>
                <a:effectLst/>
              </a:rPr>
              <a:t>“Total sales of seaside supermarkets in the second quarter of 2005 vs. total sales of interior supermarkets”.</a:t>
            </a:r>
          </a:p>
          <a:p>
            <a:pPr lvl="2" eaLnBrk="1" hangingPunct="1">
              <a:lnSpc>
                <a:spcPct val="80000"/>
              </a:lnSpc>
              <a:buSzTx/>
              <a:buFontTx/>
              <a:buNone/>
            </a:pPr>
            <a:r>
              <a:rPr lang="en-US" altLang="en-US" sz="3200">
                <a:solidFill>
                  <a:schemeClr val="tx2"/>
                </a:solidFill>
              </a:rPr>
              <a:t>» TOOL: DSS, OLAP tools, data warehouses</a:t>
            </a:r>
          </a:p>
        </p:txBody>
      </p:sp>
      <p:sp>
        <p:nvSpPr>
          <p:cNvPr id="2" name="Date Placeholder 1"/>
          <p:cNvSpPr>
            <a:spLocks noGrp="1"/>
          </p:cNvSpPr>
          <p:nvPr>
            <p:ph type="dt" sz="half" idx="10"/>
          </p:nvPr>
        </p:nvSpPr>
        <p:spPr/>
        <p:txBody>
          <a:bodyPr/>
          <a:lstStyle/>
          <a:p>
            <a:fld id="{E46B75F0-D143-46E3-8F71-A537980573D8}"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15</a:t>
            </a:fld>
            <a:endParaRPr lang="en-US"/>
          </a:p>
        </p:txBody>
      </p:sp>
    </p:spTree>
    <p:extLst>
      <p:ext uri="{BB962C8B-B14F-4D97-AF65-F5344CB8AC3E}">
        <p14:creationId xmlns:p14="http://schemas.microsoft.com/office/powerpoint/2010/main" val="22814022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752600" y="381001"/>
            <a:ext cx="3352800" cy="1139825"/>
          </a:xfrm>
        </p:spPr>
        <p:txBody>
          <a:bodyPr/>
          <a:lstStyle/>
          <a:p>
            <a:pPr algn="l" eaLnBrk="1" hangingPunct="1">
              <a:defRPr/>
            </a:pPr>
            <a:r>
              <a:rPr lang="en-US" smtClean="0"/>
              <a:t>Motivation</a:t>
            </a:r>
          </a:p>
        </p:txBody>
      </p:sp>
      <p:sp>
        <p:nvSpPr>
          <p:cNvPr id="14339" name="Rectangle 3"/>
          <p:cNvSpPr>
            <a:spLocks noGrp="1" noChangeArrowheads="1"/>
          </p:cNvSpPr>
          <p:nvPr>
            <p:ph idx="1"/>
          </p:nvPr>
        </p:nvSpPr>
        <p:spPr>
          <a:xfrm>
            <a:off x="1981200" y="1600200"/>
            <a:ext cx="8686800" cy="5257800"/>
          </a:xfrm>
        </p:spPr>
        <p:txBody>
          <a:bodyPr/>
          <a:lstStyle/>
          <a:p>
            <a:pPr eaLnBrk="1" hangingPunct="1">
              <a:lnSpc>
                <a:spcPct val="80000"/>
              </a:lnSpc>
              <a:buFont typeface="Wingdings" panose="05000000000000000000" pitchFamily="2" charset="2"/>
              <a:buNone/>
            </a:pPr>
            <a:r>
              <a:rPr lang="en-US" altLang="en-US" smtClean="0">
                <a:solidFill>
                  <a:schemeClr val="tx2"/>
                </a:solidFill>
                <a:effectLst/>
              </a:rPr>
              <a:t>Needs and Tools:</a:t>
            </a:r>
          </a:p>
          <a:p>
            <a:pPr eaLnBrk="1" hangingPunct="1">
              <a:lnSpc>
                <a:spcPct val="80000"/>
              </a:lnSpc>
              <a:buFont typeface="Wingdings" panose="05000000000000000000" pitchFamily="2" charset="2"/>
              <a:buNone/>
            </a:pPr>
            <a:r>
              <a:rPr lang="en-US" altLang="en-US" sz="2000"/>
              <a:t>	</a:t>
            </a:r>
            <a:r>
              <a:rPr lang="en-US" altLang="en-US" smtClean="0">
                <a:effectLst/>
              </a:rPr>
              <a:t>Planning → descriptive or predictive models:</a:t>
            </a:r>
          </a:p>
          <a:p>
            <a:pPr eaLnBrk="1" hangingPunct="1">
              <a:lnSpc>
                <a:spcPct val="80000"/>
              </a:lnSpc>
              <a:buFont typeface="Wingdings" panose="05000000000000000000" pitchFamily="2" charset="2"/>
              <a:buNone/>
            </a:pPr>
            <a:r>
              <a:rPr lang="en-US" altLang="en-US" smtClean="0">
                <a:effectLst/>
              </a:rPr>
              <a:t>	  </a:t>
            </a:r>
            <a:r>
              <a:rPr lang="en-US" altLang="en-US" smtClean="0">
                <a:solidFill>
                  <a:schemeClr val="tx2"/>
                </a:solidFill>
                <a:effectLst/>
              </a:rPr>
              <a:t>Requirement Examples:</a:t>
            </a:r>
          </a:p>
          <a:p>
            <a:pPr lvl="1" eaLnBrk="1" hangingPunct="1">
              <a:lnSpc>
                <a:spcPct val="80000"/>
              </a:lnSpc>
            </a:pPr>
            <a:r>
              <a:rPr lang="en-US" altLang="en-US" sz="2400"/>
              <a:t>“</a:t>
            </a:r>
            <a:r>
              <a:rPr lang="en-US" altLang="en-US" sz="2400">
                <a:solidFill>
                  <a:schemeClr val="tx2"/>
                </a:solidFill>
              </a:rPr>
              <a:t>Products which are sold together frequently in seaside supermarkets”.</a:t>
            </a:r>
          </a:p>
          <a:p>
            <a:pPr eaLnBrk="1" hangingPunct="1">
              <a:lnSpc>
                <a:spcPct val="80000"/>
              </a:lnSpc>
              <a:buFont typeface="Wingdings" panose="05000000000000000000" pitchFamily="2" charset="2"/>
              <a:buNone/>
            </a:pPr>
            <a:r>
              <a:rPr lang="en-US" altLang="en-US" smtClean="0">
                <a:solidFill>
                  <a:schemeClr val="tx2"/>
                </a:solidFill>
                <a:effectLst/>
              </a:rPr>
              <a:t>		</a:t>
            </a:r>
            <a:r>
              <a:rPr lang="en-US" altLang="en-US" sz="2800">
                <a:solidFill>
                  <a:schemeClr val="tx2"/>
                </a:solidFill>
              </a:rPr>
              <a:t>» TOOL: Descriptive Data Mining </a:t>
            </a:r>
          </a:p>
          <a:p>
            <a:pPr lvl="1" eaLnBrk="1" hangingPunct="1">
              <a:lnSpc>
                <a:spcPct val="80000"/>
              </a:lnSpc>
            </a:pPr>
            <a:r>
              <a:rPr lang="en-US" altLang="en-US" sz="2400">
                <a:solidFill>
                  <a:schemeClr val="tx2"/>
                </a:solidFill>
              </a:rPr>
              <a:t>“Sales expected for next quarter for all products in category “multimedia”.</a:t>
            </a:r>
          </a:p>
          <a:p>
            <a:pPr lvl="2" eaLnBrk="1" hangingPunct="1">
              <a:lnSpc>
                <a:spcPct val="80000"/>
              </a:lnSpc>
              <a:buFont typeface="Wingdings" panose="05000000000000000000" pitchFamily="2" charset="2"/>
              <a:buNone/>
            </a:pPr>
            <a:r>
              <a:rPr lang="en-US" altLang="en-US" sz="2800">
                <a:solidFill>
                  <a:schemeClr val="tx2"/>
                </a:solidFill>
              </a:rPr>
              <a:t>» TOOL: Predictive Data Mining</a:t>
            </a:r>
          </a:p>
          <a:p>
            <a:pPr lvl="1" eaLnBrk="1" hangingPunct="1">
              <a:lnSpc>
                <a:spcPct val="80000"/>
              </a:lnSpc>
            </a:pPr>
            <a:r>
              <a:rPr lang="en-US" altLang="en-US" sz="2400">
                <a:solidFill>
                  <a:schemeClr val="tx2"/>
                </a:solidFill>
              </a:rPr>
              <a:t>“Expected penetration rates of offer 1 after offer 2 in interior supermarkets”.</a:t>
            </a:r>
          </a:p>
          <a:p>
            <a:pPr eaLnBrk="1" hangingPunct="1">
              <a:lnSpc>
                <a:spcPct val="80000"/>
              </a:lnSpc>
              <a:buFont typeface="Wingdings" panose="05000000000000000000" pitchFamily="2" charset="2"/>
              <a:buNone/>
            </a:pPr>
            <a:r>
              <a:rPr lang="en-US" altLang="en-US" smtClean="0">
                <a:solidFill>
                  <a:schemeClr val="tx2"/>
                </a:solidFill>
                <a:effectLst/>
              </a:rPr>
              <a:t>		</a:t>
            </a:r>
            <a:r>
              <a:rPr lang="en-US" altLang="en-US" sz="2800">
                <a:solidFill>
                  <a:schemeClr val="tx2"/>
                </a:solidFill>
              </a:rPr>
              <a:t>» TOOL: Predictive Data Mining + Simulation</a:t>
            </a:r>
          </a:p>
        </p:txBody>
      </p:sp>
      <p:sp>
        <p:nvSpPr>
          <p:cNvPr id="2" name="Date Placeholder 1"/>
          <p:cNvSpPr>
            <a:spLocks noGrp="1"/>
          </p:cNvSpPr>
          <p:nvPr>
            <p:ph type="dt" sz="half" idx="10"/>
          </p:nvPr>
        </p:nvSpPr>
        <p:spPr/>
        <p:txBody>
          <a:bodyPr/>
          <a:lstStyle/>
          <a:p>
            <a:fld id="{7D11F1B6-ED5E-49EC-8089-547162AC46EF}"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16</a:t>
            </a:fld>
            <a:endParaRPr lang="en-US"/>
          </a:p>
        </p:txBody>
      </p:sp>
    </p:spTree>
    <p:extLst>
      <p:ext uri="{BB962C8B-B14F-4D97-AF65-F5344CB8AC3E}">
        <p14:creationId xmlns:p14="http://schemas.microsoft.com/office/powerpoint/2010/main" val="29755323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p:cNvPicPr>
            <a:picLocks noChangeAspect="1" noChangeArrowheads="1"/>
          </p:cNvPicPr>
          <p:nvPr/>
        </p:nvPicPr>
        <p:blipFill>
          <a:blip r:embed="rId3">
            <a:extLst>
              <a:ext uri="{28A0092B-C50C-407E-A947-70E740481C1C}">
                <a14:useLocalDpi xmlns:a14="http://schemas.microsoft.com/office/drawing/2010/main" val="0"/>
              </a:ext>
            </a:extLst>
          </a:blip>
          <a:srcRect l="5333" b="2116"/>
          <a:stretch>
            <a:fillRect/>
          </a:stretch>
        </p:blipFill>
        <p:spPr bwMode="auto">
          <a:xfrm>
            <a:off x="5829300" y="2854803"/>
            <a:ext cx="6134100" cy="3720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3" name="Rectangle 3"/>
          <p:cNvSpPr>
            <a:spLocks noGrp="1" noChangeArrowheads="1"/>
          </p:cNvSpPr>
          <p:nvPr>
            <p:ph type="title"/>
          </p:nvPr>
        </p:nvSpPr>
        <p:spPr>
          <a:xfrm>
            <a:off x="1727200" y="228600"/>
            <a:ext cx="8280400" cy="533400"/>
          </a:xfrm>
        </p:spPr>
        <p:txBody>
          <a:bodyPr>
            <a:normAutofit fontScale="90000"/>
          </a:bodyPr>
          <a:lstStyle/>
          <a:p>
            <a:pPr eaLnBrk="1" hangingPunct="1"/>
            <a:r>
              <a:rPr lang="en-US" altLang="en-US" smtClean="0">
                <a:effectLst/>
              </a:rPr>
              <a:t>What is Data Mining?</a:t>
            </a:r>
          </a:p>
        </p:txBody>
      </p:sp>
      <p:sp>
        <p:nvSpPr>
          <p:cNvPr id="20484" name="Rectangle 4"/>
          <p:cNvSpPr>
            <a:spLocks noGrp="1" noChangeArrowheads="1"/>
          </p:cNvSpPr>
          <p:nvPr>
            <p:ph idx="1"/>
          </p:nvPr>
        </p:nvSpPr>
        <p:spPr>
          <a:xfrm>
            <a:off x="342900" y="876300"/>
            <a:ext cx="10248900" cy="5143500"/>
          </a:xfrm>
        </p:spPr>
        <p:txBody>
          <a:bodyPr/>
          <a:lstStyle/>
          <a:p>
            <a:pPr marL="285750" indent="-285750">
              <a:lnSpc>
                <a:spcPct val="95000"/>
              </a:lnSpc>
            </a:pPr>
            <a:r>
              <a:rPr lang="en-US" altLang="en-US" sz="3600" dirty="0">
                <a:solidFill>
                  <a:schemeClr val="tx2"/>
                </a:solidFill>
              </a:rPr>
              <a:t>Many Definitions</a:t>
            </a:r>
          </a:p>
          <a:p>
            <a:pPr marL="800100" lvl="1" indent="-342900">
              <a:lnSpc>
                <a:spcPct val="95000"/>
              </a:lnSpc>
            </a:pPr>
            <a:r>
              <a:rPr lang="en-US" altLang="en-US" sz="3200" dirty="0">
                <a:solidFill>
                  <a:schemeClr val="tx2"/>
                </a:solidFill>
              </a:rPr>
              <a:t>Non-trivial extraction of implicit, previously unknown and potentially useful information from data</a:t>
            </a:r>
          </a:p>
          <a:p>
            <a:pPr marL="800100" lvl="1" indent="-342900">
              <a:lnSpc>
                <a:spcPct val="95000"/>
              </a:lnSpc>
            </a:pPr>
            <a:r>
              <a:rPr lang="en-US" altLang="en-US" sz="3200" dirty="0">
                <a:solidFill>
                  <a:schemeClr val="tx2"/>
                </a:solidFill>
              </a:rPr>
              <a:t>Exploration &amp; analysis, by automatic or </a:t>
            </a:r>
            <a:br>
              <a:rPr lang="en-US" altLang="en-US" sz="3200" dirty="0">
                <a:solidFill>
                  <a:schemeClr val="tx2"/>
                </a:solidFill>
              </a:rPr>
            </a:br>
            <a:r>
              <a:rPr lang="en-US" altLang="en-US" sz="3200" dirty="0">
                <a:solidFill>
                  <a:schemeClr val="tx2"/>
                </a:solidFill>
              </a:rPr>
              <a:t>semi-automatic means, of </a:t>
            </a:r>
            <a:br>
              <a:rPr lang="en-US" altLang="en-US" sz="3200" dirty="0">
                <a:solidFill>
                  <a:schemeClr val="tx2"/>
                </a:solidFill>
              </a:rPr>
            </a:br>
            <a:r>
              <a:rPr lang="en-US" altLang="en-US" sz="3200" dirty="0">
                <a:solidFill>
                  <a:schemeClr val="tx2"/>
                </a:solidFill>
              </a:rPr>
              <a:t>large quantities of data </a:t>
            </a:r>
            <a:br>
              <a:rPr lang="en-US" altLang="en-US" sz="3200" dirty="0">
                <a:solidFill>
                  <a:schemeClr val="tx2"/>
                </a:solidFill>
              </a:rPr>
            </a:br>
            <a:r>
              <a:rPr lang="en-US" altLang="en-US" sz="3200" dirty="0">
                <a:solidFill>
                  <a:schemeClr val="tx2"/>
                </a:solidFill>
              </a:rPr>
              <a:t>in order to discover </a:t>
            </a:r>
            <a:br>
              <a:rPr lang="en-US" altLang="en-US" sz="3200" dirty="0">
                <a:solidFill>
                  <a:schemeClr val="tx2"/>
                </a:solidFill>
              </a:rPr>
            </a:br>
            <a:r>
              <a:rPr lang="en-US" altLang="en-US" sz="3200" dirty="0">
                <a:solidFill>
                  <a:schemeClr val="tx2"/>
                </a:solidFill>
              </a:rPr>
              <a:t>meaningful patterns </a:t>
            </a:r>
            <a:br>
              <a:rPr lang="en-US" altLang="en-US" sz="3200" dirty="0">
                <a:solidFill>
                  <a:schemeClr val="tx2"/>
                </a:solidFill>
              </a:rPr>
            </a:br>
            <a:endParaRPr lang="en-US" altLang="en-US" sz="3200" dirty="0">
              <a:solidFill>
                <a:schemeClr val="tx2"/>
              </a:solidFill>
            </a:endParaRPr>
          </a:p>
        </p:txBody>
      </p:sp>
      <p:sp>
        <p:nvSpPr>
          <p:cNvPr id="2" name="Date Placeholder 1"/>
          <p:cNvSpPr>
            <a:spLocks noGrp="1"/>
          </p:cNvSpPr>
          <p:nvPr>
            <p:ph type="dt" sz="half" idx="10"/>
          </p:nvPr>
        </p:nvSpPr>
        <p:spPr/>
        <p:txBody>
          <a:bodyPr/>
          <a:lstStyle/>
          <a:p>
            <a:fld id="{795C2DF2-5DA5-45F0-80AA-FC23B6BB10EC}"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17</a:t>
            </a:fld>
            <a:endParaRPr lang="en-US"/>
          </a:p>
        </p:txBody>
      </p:sp>
    </p:spTree>
    <p:extLst>
      <p:ext uri="{BB962C8B-B14F-4D97-AF65-F5344CB8AC3E}">
        <p14:creationId xmlns:p14="http://schemas.microsoft.com/office/powerpoint/2010/main" val="38356326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2057400" y="228600"/>
            <a:ext cx="8458200" cy="838200"/>
          </a:xfrm>
        </p:spPr>
        <p:txBody>
          <a:bodyPr/>
          <a:lstStyle/>
          <a:p>
            <a:pPr eaLnBrk="1" hangingPunct="1"/>
            <a:r>
              <a:rPr lang="en-US" altLang="en-US" smtClean="0">
                <a:effectLst/>
              </a:rPr>
              <a:t>What is NOT Data Mining?</a:t>
            </a:r>
          </a:p>
        </p:txBody>
      </p:sp>
      <p:sp>
        <p:nvSpPr>
          <p:cNvPr id="22531" name="Rectangle 3"/>
          <p:cNvSpPr>
            <a:spLocks noGrp="1" noChangeArrowheads="1"/>
          </p:cNvSpPr>
          <p:nvPr>
            <p:ph idx="1"/>
          </p:nvPr>
        </p:nvSpPr>
        <p:spPr>
          <a:xfrm>
            <a:off x="596900" y="1066801"/>
            <a:ext cx="9893300" cy="4543426"/>
          </a:xfrm>
        </p:spPr>
        <p:txBody>
          <a:bodyPr>
            <a:normAutofit lnSpcReduction="10000"/>
          </a:bodyPr>
          <a:lstStyle/>
          <a:p>
            <a:pPr eaLnBrk="1" hangingPunct="1">
              <a:lnSpc>
                <a:spcPct val="80000"/>
              </a:lnSpc>
            </a:pPr>
            <a:r>
              <a:rPr lang="en-US" altLang="en-US" b="1" dirty="0">
                <a:solidFill>
                  <a:schemeClr val="tx2"/>
                </a:solidFill>
              </a:rPr>
              <a:t>Originally a “statistician” term</a:t>
            </a:r>
          </a:p>
          <a:p>
            <a:pPr eaLnBrk="1" hangingPunct="1">
              <a:lnSpc>
                <a:spcPct val="80000"/>
              </a:lnSpc>
            </a:pPr>
            <a:r>
              <a:rPr lang="en-US" altLang="en-US" i="1" dirty="0">
                <a:solidFill>
                  <a:schemeClr val="tx2"/>
                </a:solidFill>
              </a:rPr>
              <a:t>Overusing of data to draw invalid inferences</a:t>
            </a:r>
          </a:p>
          <a:p>
            <a:pPr eaLnBrk="1" hangingPunct="1">
              <a:lnSpc>
                <a:spcPct val="80000"/>
              </a:lnSpc>
            </a:pPr>
            <a:r>
              <a:rPr lang="en-US" altLang="en-US" b="1" dirty="0">
                <a:solidFill>
                  <a:schemeClr val="tx2"/>
                </a:solidFill>
              </a:rPr>
              <a:t>Bonferroni's theorem warns us that if there are too many possible conclusions to draw, some will be true for purely statistical reasons, with no physical validity.</a:t>
            </a:r>
          </a:p>
          <a:p>
            <a:pPr eaLnBrk="1" hangingPunct="1">
              <a:lnSpc>
                <a:spcPct val="80000"/>
              </a:lnSpc>
            </a:pPr>
            <a:r>
              <a:rPr lang="en-US" altLang="en-US" dirty="0">
                <a:solidFill>
                  <a:schemeClr val="tx2"/>
                </a:solidFill>
              </a:rPr>
              <a:t>Famous example: David Rhine, a “parapsychologist" at Duke in the 1950's tested students for </a:t>
            </a:r>
            <a:r>
              <a:rPr lang="en-US" altLang="en-US" dirty="0" smtClean="0">
                <a:solidFill>
                  <a:schemeClr val="tx2"/>
                </a:solidFill>
              </a:rPr>
              <a:t>Extra Sensory Perception(ESP) </a:t>
            </a:r>
            <a:r>
              <a:rPr lang="en-US" altLang="en-US" dirty="0">
                <a:solidFill>
                  <a:schemeClr val="tx2"/>
                </a:solidFill>
              </a:rPr>
              <a:t>by asking them to guess 10 cards - red or black. He found about 1/1000 of them guessed all 10, and instead of realizing that is what you'd expect from random guessing, declared them to have ESP. When he retested them, he found they did no better than average.</a:t>
            </a:r>
            <a:r>
              <a:rPr lang="en-US" altLang="en-US" dirty="0"/>
              <a:t> 	</a:t>
            </a:r>
          </a:p>
        </p:txBody>
      </p:sp>
      <p:sp>
        <p:nvSpPr>
          <p:cNvPr id="29700" name="Text Box 4"/>
          <p:cNvSpPr txBox="1">
            <a:spLocks noChangeArrowheads="1"/>
          </p:cNvSpPr>
          <p:nvPr/>
        </p:nvSpPr>
        <p:spPr bwMode="auto">
          <a:xfrm>
            <a:off x="1193800" y="5715000"/>
            <a:ext cx="9956800" cy="794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nSpc>
                <a:spcPct val="90000"/>
              </a:lnSpc>
              <a:buClrTx/>
              <a:buSzTx/>
              <a:buFontTx/>
              <a:buNone/>
            </a:pPr>
            <a:r>
              <a:rPr kumimoji="1" lang="en-US" altLang="en-US" sz="2400" b="1" i="1" dirty="0">
                <a:latin typeface="Arial" panose="020B0604020202020204" pitchFamily="34" charset="0"/>
              </a:rPr>
              <a:t>His conclusion</a:t>
            </a:r>
            <a:r>
              <a:rPr kumimoji="1" lang="en-US" altLang="en-US" sz="2400" i="1" dirty="0">
                <a:latin typeface="Arial" panose="020B0604020202020204" pitchFamily="34" charset="0"/>
              </a:rPr>
              <a:t>: telling people they have ESP causes them </a:t>
            </a:r>
            <a:r>
              <a:rPr kumimoji="1" lang="en-US" altLang="en-US" sz="2400" i="1" dirty="0" smtClean="0">
                <a:latin typeface="Arial" panose="020B0604020202020204" pitchFamily="34" charset="0"/>
              </a:rPr>
              <a:t>to </a:t>
            </a:r>
            <a:r>
              <a:rPr kumimoji="1" lang="en-US" altLang="en-US" sz="2400" i="1" dirty="0">
                <a:latin typeface="Arial" panose="020B0604020202020204" pitchFamily="34" charset="0"/>
              </a:rPr>
              <a:t>lose it!</a:t>
            </a:r>
          </a:p>
          <a:p>
            <a:pPr>
              <a:spcBef>
                <a:spcPct val="0"/>
              </a:spcBef>
              <a:buClrTx/>
              <a:buSzTx/>
              <a:buFontTx/>
              <a:buNone/>
            </a:pPr>
            <a:endParaRPr lang="en-US" altLang="en-US" sz="2400" dirty="0">
              <a:latin typeface="Arial" panose="020B0604020202020204" pitchFamily="34" charset="0"/>
            </a:endParaRPr>
          </a:p>
        </p:txBody>
      </p:sp>
      <p:sp>
        <p:nvSpPr>
          <p:cNvPr id="2" name="Date Placeholder 1"/>
          <p:cNvSpPr>
            <a:spLocks noGrp="1"/>
          </p:cNvSpPr>
          <p:nvPr>
            <p:ph type="dt" sz="half" idx="10"/>
          </p:nvPr>
        </p:nvSpPr>
        <p:spPr/>
        <p:txBody>
          <a:bodyPr/>
          <a:lstStyle/>
          <a:p>
            <a:fld id="{971BEC31-E441-4A96-A67B-FEFA2B95441A}"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18</a:t>
            </a:fld>
            <a:endParaRPr lang="en-US"/>
          </a:p>
        </p:txBody>
      </p:sp>
    </p:spTree>
    <p:extLst>
      <p:ext uri="{BB962C8B-B14F-4D97-AF65-F5344CB8AC3E}">
        <p14:creationId xmlns:p14="http://schemas.microsoft.com/office/powerpoint/2010/main" val="4968374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9700"/>
                                        </p:tgtEl>
                                        <p:attrNameLst>
                                          <p:attrName>style.visibility</p:attrName>
                                        </p:attrNameLst>
                                      </p:cBhvr>
                                      <p:to>
                                        <p:strVal val="visible"/>
                                      </p:to>
                                    </p:set>
                                    <p:animEffect transition="in" filter="box(in)">
                                      <p:cBhvr>
                                        <p:cTn id="7" dur="500"/>
                                        <p:tgtEl>
                                          <p:spTgt spid="29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752600" y="228600"/>
            <a:ext cx="8585200" cy="685800"/>
          </a:xfrm>
        </p:spPr>
        <p:txBody>
          <a:bodyPr>
            <a:normAutofit fontScale="90000"/>
          </a:bodyPr>
          <a:lstStyle/>
          <a:p>
            <a:pPr eaLnBrk="1" hangingPunct="1"/>
            <a:r>
              <a:rPr lang="en-US" altLang="en-US" smtClean="0">
                <a:effectLst/>
              </a:rPr>
              <a:t>What is (not) Data Mining?</a:t>
            </a:r>
          </a:p>
        </p:txBody>
      </p:sp>
      <p:sp>
        <p:nvSpPr>
          <p:cNvPr id="23555" name="Text Box 3"/>
          <p:cNvSpPr txBox="1">
            <a:spLocks noChangeArrowheads="1"/>
          </p:cNvSpPr>
          <p:nvPr/>
        </p:nvSpPr>
        <p:spPr bwMode="auto">
          <a:xfrm>
            <a:off x="5486400" y="1233488"/>
            <a:ext cx="4953000" cy="457835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lIns="0" rIns="0">
            <a:spAutoFit/>
          </a:bodyPr>
          <a:lstStyle>
            <a:lvl1pPr marL="342900" indent="-342900">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lvl="1">
              <a:lnSpc>
                <a:spcPct val="95000"/>
              </a:lnSpc>
              <a:spcAft>
                <a:spcPts val="400"/>
              </a:spcAft>
              <a:buClr>
                <a:srgbClr val="0C7B9C"/>
              </a:buClr>
              <a:buSzPct val="75000"/>
              <a:buFont typeface="Monotype Sorts" pitchFamily="2" charset="2"/>
              <a:buChar char="l"/>
            </a:pPr>
            <a:r>
              <a:rPr lang="en-US" altLang="en-US" b="1">
                <a:solidFill>
                  <a:schemeClr val="tx2"/>
                </a:solidFill>
                <a:latin typeface="Arial" panose="020B0604020202020204" pitchFamily="34" charset="0"/>
              </a:rPr>
              <a:t> What is Data Mining?</a:t>
            </a:r>
          </a:p>
          <a:p>
            <a:pPr lvl="2">
              <a:lnSpc>
                <a:spcPct val="95000"/>
              </a:lnSpc>
              <a:spcAft>
                <a:spcPts val="400"/>
              </a:spcAft>
              <a:buClr>
                <a:srgbClr val="0C7B9C"/>
              </a:buClr>
              <a:buSzPct val="100000"/>
              <a:buNone/>
            </a:pPr>
            <a:r>
              <a:rPr lang="en-US" altLang="en-US" sz="2800">
                <a:solidFill>
                  <a:schemeClr val="tx2"/>
                </a:solidFill>
                <a:latin typeface="Arial" panose="020B0604020202020204" pitchFamily="34" charset="0"/>
              </a:rPr>
              <a:t>  </a:t>
            </a:r>
          </a:p>
          <a:p>
            <a:pPr lvl="1">
              <a:lnSpc>
                <a:spcPct val="95000"/>
              </a:lnSpc>
              <a:spcAft>
                <a:spcPts val="400"/>
              </a:spcAft>
              <a:buClr>
                <a:srgbClr val="0C7B9C"/>
              </a:buClr>
              <a:buSzPct val="100000"/>
              <a:buFont typeface="Arial" panose="020B0604020202020204" pitchFamily="34" charset="0"/>
              <a:buChar char="–"/>
            </a:pPr>
            <a:r>
              <a:rPr lang="en-US" altLang="en-US">
                <a:solidFill>
                  <a:schemeClr val="tx2"/>
                </a:solidFill>
                <a:latin typeface="Arial" panose="020B0604020202020204" pitchFamily="34" charset="0"/>
              </a:rPr>
              <a:t> Group together similar documents returned by search engine according to their context (e.g. Amazon rainforest, Amazon.com,)</a:t>
            </a:r>
          </a:p>
          <a:p>
            <a:pPr lvl="1">
              <a:lnSpc>
                <a:spcPct val="95000"/>
              </a:lnSpc>
              <a:spcAft>
                <a:spcPts val="400"/>
              </a:spcAft>
              <a:buClr>
                <a:srgbClr val="0C7B9C"/>
              </a:buClr>
              <a:buSzPct val="100000"/>
              <a:buFont typeface="Arial" panose="020B0604020202020204" pitchFamily="34" charset="0"/>
              <a:buChar char="–"/>
            </a:pPr>
            <a:r>
              <a:rPr lang="en-US" altLang="en-US">
                <a:solidFill>
                  <a:schemeClr val="tx2"/>
                </a:solidFill>
                <a:latin typeface="Arial" panose="020B0604020202020204" pitchFamily="34" charset="0"/>
              </a:rPr>
              <a:t> </a:t>
            </a:r>
            <a:r>
              <a:rPr lang="en-US" altLang="zh-CN">
                <a:solidFill>
                  <a:schemeClr val="tx2"/>
                </a:solidFill>
                <a:latin typeface="Arial" panose="020B0604020202020204" pitchFamily="34" charset="0"/>
                <a:ea typeface="SimSun" panose="02010600030101010101" pitchFamily="2" charset="-122"/>
              </a:rPr>
              <a:t>customers who buy diapers are more likely to buy beer</a:t>
            </a:r>
            <a:endParaRPr lang="en-US" altLang="en-US">
              <a:solidFill>
                <a:schemeClr val="tx2"/>
              </a:solidFill>
              <a:latin typeface="Arial" panose="020B0604020202020204" pitchFamily="34" charset="0"/>
            </a:endParaRPr>
          </a:p>
        </p:txBody>
      </p:sp>
      <p:sp>
        <p:nvSpPr>
          <p:cNvPr id="23556" name="Text Box 4"/>
          <p:cNvSpPr txBox="1">
            <a:spLocks noChangeArrowheads="1"/>
          </p:cNvSpPr>
          <p:nvPr/>
        </p:nvSpPr>
        <p:spPr bwMode="auto">
          <a:xfrm>
            <a:off x="1828800" y="1231900"/>
            <a:ext cx="3429000" cy="4745038"/>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nSpc>
                <a:spcPct val="95000"/>
              </a:lnSpc>
              <a:spcAft>
                <a:spcPts val="400"/>
              </a:spcAft>
              <a:buClr>
                <a:srgbClr val="0C7B9C"/>
              </a:buClr>
              <a:buSzPct val="75000"/>
              <a:buFont typeface="Monotype Sorts" pitchFamily="2" charset="2"/>
              <a:buChar char="l"/>
            </a:pPr>
            <a:r>
              <a:rPr lang="en-US" altLang="en-US" sz="2800" b="1" dirty="0">
                <a:solidFill>
                  <a:schemeClr val="tx2"/>
                </a:solidFill>
                <a:latin typeface="Arial" panose="020B0604020202020204" pitchFamily="34" charset="0"/>
              </a:rPr>
              <a:t> What is not Data Mining?</a:t>
            </a:r>
          </a:p>
          <a:p>
            <a:pPr lvl="1">
              <a:lnSpc>
                <a:spcPct val="95000"/>
              </a:lnSpc>
              <a:spcBef>
                <a:spcPct val="60000"/>
              </a:spcBef>
              <a:spcAft>
                <a:spcPts val="400"/>
              </a:spcAft>
              <a:buClr>
                <a:srgbClr val="0C7B9C"/>
              </a:buClr>
              <a:buSzPct val="100000"/>
              <a:buFont typeface="Arial" panose="020B0604020202020204" pitchFamily="34" charset="0"/>
              <a:buChar char="–"/>
            </a:pPr>
            <a:r>
              <a:rPr lang="en-US" altLang="en-US" dirty="0">
                <a:solidFill>
                  <a:schemeClr val="tx2"/>
                </a:solidFill>
                <a:latin typeface="Arial" panose="020B0604020202020204" pitchFamily="34" charset="0"/>
              </a:rPr>
              <a:t> Look up phone number in phone directory</a:t>
            </a:r>
          </a:p>
          <a:p>
            <a:pPr lvl="1">
              <a:lnSpc>
                <a:spcPct val="95000"/>
              </a:lnSpc>
              <a:spcBef>
                <a:spcPct val="60000"/>
              </a:spcBef>
              <a:spcAft>
                <a:spcPts val="400"/>
              </a:spcAft>
              <a:buClr>
                <a:srgbClr val="0C7B9C"/>
              </a:buClr>
              <a:buSzPct val="100000"/>
              <a:buFont typeface="Arial" panose="020B0604020202020204" pitchFamily="34" charset="0"/>
              <a:buChar char="–"/>
            </a:pPr>
            <a:r>
              <a:rPr lang="en-US" altLang="en-US" dirty="0">
                <a:solidFill>
                  <a:schemeClr val="tx2"/>
                </a:solidFill>
                <a:latin typeface="Arial" panose="020B0604020202020204" pitchFamily="34" charset="0"/>
              </a:rPr>
              <a:t> Query a Web search engine for information about “Amazon”</a:t>
            </a:r>
          </a:p>
          <a:p>
            <a:pPr>
              <a:spcBef>
                <a:spcPct val="50000"/>
              </a:spcBef>
              <a:buClrTx/>
              <a:buSzTx/>
              <a:buFontTx/>
              <a:buNone/>
            </a:pPr>
            <a:endParaRPr lang="en-US" altLang="en-US" sz="1400" b="1" dirty="0">
              <a:solidFill>
                <a:schemeClr val="tx2"/>
              </a:solidFill>
              <a:latin typeface="Arial" panose="020B0604020202020204" pitchFamily="34" charset="0"/>
            </a:endParaRPr>
          </a:p>
        </p:txBody>
      </p:sp>
      <p:sp>
        <p:nvSpPr>
          <p:cNvPr id="2" name="Date Placeholder 1"/>
          <p:cNvSpPr>
            <a:spLocks noGrp="1"/>
          </p:cNvSpPr>
          <p:nvPr>
            <p:ph type="dt" sz="half" idx="10"/>
          </p:nvPr>
        </p:nvSpPr>
        <p:spPr/>
        <p:txBody>
          <a:bodyPr/>
          <a:lstStyle/>
          <a:p>
            <a:fld id="{9E94ADFC-AE6F-435D-B050-F5C5F422EC6E}"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19</a:t>
            </a:fld>
            <a:endParaRPr lang="en-US"/>
          </a:p>
        </p:txBody>
      </p:sp>
    </p:spTree>
    <p:extLst>
      <p:ext uri="{BB962C8B-B14F-4D97-AF65-F5344CB8AC3E}">
        <p14:creationId xmlns:p14="http://schemas.microsoft.com/office/powerpoint/2010/main" val="279159122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Rectangle 5"/>
          <p:cNvSpPr>
            <a:spLocks noGrp="1" noChangeArrowheads="1"/>
          </p:cNvSpPr>
          <p:nvPr>
            <p:ph type="title"/>
          </p:nvPr>
        </p:nvSpPr>
        <p:spPr>
          <a:xfrm>
            <a:off x="2057400" y="228600"/>
            <a:ext cx="7353300" cy="685800"/>
          </a:xfrm>
        </p:spPr>
        <p:txBody>
          <a:bodyPr vert="horz" lIns="0" tIns="45720" rIns="0" bIns="45720" rtlCol="0" anchor="ctr">
            <a:normAutofit fontScale="90000"/>
          </a:bodyPr>
          <a:lstStyle/>
          <a:p>
            <a:pPr eaLnBrk="1" hangingPunct="1"/>
            <a:r>
              <a:rPr lang="en-US" altLang="en-US" smtClean="0">
                <a:effectLst/>
              </a:rPr>
              <a:t>Origins of Data Mining</a:t>
            </a:r>
          </a:p>
        </p:txBody>
      </p:sp>
      <p:sp>
        <p:nvSpPr>
          <p:cNvPr id="25602" name="Rectangle 2"/>
          <p:cNvSpPr>
            <a:spLocks noGrp="1" noChangeArrowheads="1"/>
          </p:cNvSpPr>
          <p:nvPr>
            <p:ph idx="1"/>
          </p:nvPr>
        </p:nvSpPr>
        <p:spPr>
          <a:xfrm>
            <a:off x="647700" y="914400"/>
            <a:ext cx="10020300" cy="5638800"/>
          </a:xfrm>
        </p:spPr>
        <p:txBody>
          <a:bodyPr>
            <a:normAutofit/>
          </a:bodyPr>
          <a:lstStyle/>
          <a:p>
            <a:pPr eaLnBrk="1" hangingPunct="1"/>
            <a:r>
              <a:rPr lang="en-US" altLang="en-US" sz="3200" dirty="0" smtClean="0">
                <a:solidFill>
                  <a:schemeClr val="tx2"/>
                </a:solidFill>
                <a:effectLst/>
              </a:rPr>
              <a:t>Draws ideas from machine learning/AI, pattern recognition, statistics, and database systems, parallel computing and Distributed Computing</a:t>
            </a:r>
          </a:p>
          <a:p>
            <a:pPr eaLnBrk="1" hangingPunct="1"/>
            <a:r>
              <a:rPr lang="en-US" altLang="en-US" sz="3200" dirty="0">
                <a:solidFill>
                  <a:schemeClr val="tx2"/>
                </a:solidFill>
              </a:rPr>
              <a:t>Traditional Techniques</a:t>
            </a:r>
            <a:br>
              <a:rPr lang="en-US" altLang="en-US" sz="3200" dirty="0">
                <a:solidFill>
                  <a:schemeClr val="tx2"/>
                </a:solidFill>
              </a:rPr>
            </a:br>
            <a:r>
              <a:rPr lang="en-US" altLang="en-US" sz="3200" dirty="0">
                <a:solidFill>
                  <a:schemeClr val="tx2"/>
                </a:solidFill>
              </a:rPr>
              <a:t>may be unsuitable due to </a:t>
            </a:r>
          </a:p>
          <a:p>
            <a:pPr lvl="1" eaLnBrk="1" hangingPunct="1"/>
            <a:r>
              <a:rPr lang="en-US" altLang="en-US" sz="2800" dirty="0" smtClean="0">
                <a:solidFill>
                  <a:schemeClr val="tx2"/>
                </a:solidFill>
                <a:effectLst/>
              </a:rPr>
              <a:t>Enormity of data</a:t>
            </a:r>
          </a:p>
          <a:p>
            <a:pPr lvl="1" eaLnBrk="1" hangingPunct="1"/>
            <a:r>
              <a:rPr lang="en-US" altLang="en-US" sz="2800" dirty="0" smtClean="0">
                <a:solidFill>
                  <a:schemeClr val="tx2"/>
                </a:solidFill>
                <a:effectLst/>
              </a:rPr>
              <a:t>High dimensionality </a:t>
            </a:r>
            <a:br>
              <a:rPr lang="en-US" altLang="en-US" sz="2800" dirty="0" smtClean="0">
                <a:solidFill>
                  <a:schemeClr val="tx2"/>
                </a:solidFill>
                <a:effectLst/>
              </a:rPr>
            </a:br>
            <a:r>
              <a:rPr lang="en-US" altLang="en-US" sz="2800" dirty="0" smtClean="0">
                <a:solidFill>
                  <a:schemeClr val="tx2"/>
                </a:solidFill>
                <a:effectLst/>
              </a:rPr>
              <a:t>of data</a:t>
            </a:r>
          </a:p>
          <a:p>
            <a:pPr lvl="1" eaLnBrk="1" hangingPunct="1"/>
            <a:r>
              <a:rPr lang="en-US" altLang="en-US" sz="2800" dirty="0" smtClean="0">
                <a:solidFill>
                  <a:schemeClr val="tx2"/>
                </a:solidFill>
                <a:effectLst/>
              </a:rPr>
              <a:t>Heterogeneous, </a:t>
            </a:r>
            <a:br>
              <a:rPr lang="en-US" altLang="en-US" sz="2800" dirty="0" smtClean="0">
                <a:solidFill>
                  <a:schemeClr val="tx2"/>
                </a:solidFill>
                <a:effectLst/>
              </a:rPr>
            </a:br>
            <a:r>
              <a:rPr lang="en-US" altLang="en-US" sz="2800" dirty="0" smtClean="0">
                <a:solidFill>
                  <a:schemeClr val="tx2"/>
                </a:solidFill>
                <a:effectLst/>
              </a:rPr>
              <a:t>distributed nature </a:t>
            </a:r>
            <a:br>
              <a:rPr lang="en-US" altLang="en-US" sz="2800" dirty="0" smtClean="0">
                <a:solidFill>
                  <a:schemeClr val="tx2"/>
                </a:solidFill>
                <a:effectLst/>
              </a:rPr>
            </a:br>
            <a:r>
              <a:rPr lang="en-US" altLang="en-US" sz="2800" dirty="0" smtClean="0">
                <a:solidFill>
                  <a:schemeClr val="tx2"/>
                </a:solidFill>
                <a:effectLst/>
              </a:rPr>
              <a:t>of data</a:t>
            </a:r>
          </a:p>
        </p:txBody>
      </p:sp>
      <p:sp>
        <p:nvSpPr>
          <p:cNvPr id="25603" name="Oval 3"/>
          <p:cNvSpPr>
            <a:spLocks noChangeArrowheads="1"/>
          </p:cNvSpPr>
          <p:nvPr/>
        </p:nvSpPr>
        <p:spPr bwMode="auto">
          <a:xfrm>
            <a:off x="7505700" y="4029075"/>
            <a:ext cx="2057400" cy="2108200"/>
          </a:xfrm>
          <a:prstGeom prst="ellipse">
            <a:avLst/>
          </a:prstGeom>
          <a:solidFill>
            <a:schemeClr val="accent2"/>
          </a:solidFill>
          <a:ln w="12700">
            <a:solidFill>
              <a:schemeClr val="tx1"/>
            </a:solidFill>
            <a:round/>
            <a:headEnd type="none" w="sm" len="sm"/>
            <a:tailEnd type="none" w="sm" len="sm"/>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5604" name="Oval 4"/>
          <p:cNvSpPr>
            <a:spLocks noChangeArrowheads="1"/>
          </p:cNvSpPr>
          <p:nvPr/>
        </p:nvSpPr>
        <p:spPr bwMode="auto">
          <a:xfrm>
            <a:off x="6819900" y="2352675"/>
            <a:ext cx="2057400" cy="2108200"/>
          </a:xfrm>
          <a:prstGeom prst="ellipse">
            <a:avLst/>
          </a:prstGeom>
          <a:solidFill>
            <a:srgbClr val="CC3300"/>
          </a:solidFill>
          <a:ln w="12700">
            <a:solidFill>
              <a:schemeClr val="tx1"/>
            </a:solidFill>
            <a:round/>
            <a:headEnd type="none" w="sm" len="sm"/>
            <a:tailEnd type="none" w="sm" len="sm"/>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5606" name="Oval 6"/>
          <p:cNvSpPr>
            <a:spLocks noChangeArrowheads="1"/>
          </p:cNvSpPr>
          <p:nvPr/>
        </p:nvSpPr>
        <p:spPr bwMode="auto">
          <a:xfrm>
            <a:off x="8496300" y="2428875"/>
            <a:ext cx="2057400" cy="2108200"/>
          </a:xfrm>
          <a:prstGeom prst="ellipse">
            <a:avLst/>
          </a:prstGeom>
          <a:solidFill>
            <a:schemeClr val="accent1"/>
          </a:solidFill>
          <a:ln w="12700">
            <a:solidFill>
              <a:schemeClr val="tx1"/>
            </a:solidFill>
            <a:round/>
            <a:headEnd type="none" w="sm" len="sm"/>
            <a:tailEnd type="none" w="sm" len="sm"/>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0"/>
              </a:spcBef>
              <a:buClrTx/>
              <a:buSzTx/>
              <a:buFontTx/>
              <a:buNone/>
            </a:pPr>
            <a:endParaRPr lang="en-US" altLang="en-US" sz="1800"/>
          </a:p>
        </p:txBody>
      </p:sp>
      <p:sp>
        <p:nvSpPr>
          <p:cNvPr id="25607" name="Text Box 7"/>
          <p:cNvSpPr txBox="1">
            <a:spLocks noChangeArrowheads="1"/>
          </p:cNvSpPr>
          <p:nvPr/>
        </p:nvSpPr>
        <p:spPr bwMode="auto">
          <a:xfrm>
            <a:off x="8585200" y="2960688"/>
            <a:ext cx="2133600"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lIns="0" rIns="0">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a:latin typeface="Arial" panose="020B0604020202020204" pitchFamily="34" charset="0"/>
              </a:rPr>
              <a:t>Machine Learning/</a:t>
            </a:r>
          </a:p>
          <a:p>
            <a:pPr algn="ctr">
              <a:spcBef>
                <a:spcPct val="15000"/>
              </a:spcBef>
              <a:buClrTx/>
              <a:buSzTx/>
              <a:buFontTx/>
              <a:buNone/>
            </a:pPr>
            <a:r>
              <a:rPr lang="en-US" altLang="en-US" sz="1800">
                <a:latin typeface="Arial" panose="020B0604020202020204" pitchFamily="34" charset="0"/>
              </a:rPr>
              <a:t>Pattern </a:t>
            </a:r>
            <a:br>
              <a:rPr lang="en-US" altLang="en-US" sz="1800">
                <a:latin typeface="Arial" panose="020B0604020202020204" pitchFamily="34" charset="0"/>
              </a:rPr>
            </a:br>
            <a:r>
              <a:rPr lang="en-US" altLang="en-US" sz="1800">
                <a:latin typeface="Arial" panose="020B0604020202020204" pitchFamily="34" charset="0"/>
              </a:rPr>
              <a:t> Recognition</a:t>
            </a:r>
          </a:p>
        </p:txBody>
      </p:sp>
      <p:sp>
        <p:nvSpPr>
          <p:cNvPr id="25608" name="Text Box 8"/>
          <p:cNvSpPr txBox="1">
            <a:spLocks noChangeArrowheads="1"/>
          </p:cNvSpPr>
          <p:nvPr/>
        </p:nvSpPr>
        <p:spPr bwMode="auto">
          <a:xfrm>
            <a:off x="7048500" y="2946400"/>
            <a:ext cx="13716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50000"/>
              </a:spcBef>
              <a:buClrTx/>
              <a:buSzTx/>
              <a:buFontTx/>
              <a:buNone/>
            </a:pPr>
            <a:r>
              <a:rPr lang="en-US" altLang="en-US" sz="1800">
                <a:latin typeface="Arial" panose="020B0604020202020204" pitchFamily="34" charset="0"/>
              </a:rPr>
              <a:t>Statistics/</a:t>
            </a:r>
            <a:br>
              <a:rPr lang="en-US" altLang="en-US" sz="1800">
                <a:latin typeface="Arial" panose="020B0604020202020204" pitchFamily="34" charset="0"/>
              </a:rPr>
            </a:br>
            <a:r>
              <a:rPr lang="en-US" altLang="en-US" sz="1800">
                <a:latin typeface="Arial" panose="020B0604020202020204" pitchFamily="34" charset="0"/>
              </a:rPr>
              <a:t>AI</a:t>
            </a:r>
          </a:p>
        </p:txBody>
      </p:sp>
      <p:sp>
        <p:nvSpPr>
          <p:cNvPr id="25609" name="Oval 9"/>
          <p:cNvSpPr>
            <a:spLocks noChangeArrowheads="1"/>
          </p:cNvSpPr>
          <p:nvPr/>
        </p:nvSpPr>
        <p:spPr bwMode="auto">
          <a:xfrm>
            <a:off x="7810500" y="3571875"/>
            <a:ext cx="1504950" cy="1543050"/>
          </a:xfrm>
          <a:prstGeom prst="ellipse">
            <a:avLst/>
          </a:prstGeom>
          <a:solidFill>
            <a:srgbClr val="66CCFF"/>
          </a:solidFill>
          <a:ln w="12700">
            <a:solidFill>
              <a:schemeClr val="tx1"/>
            </a:solidFill>
            <a:round/>
            <a:headEnd type="none" w="sm" len="sm"/>
            <a:tailEnd type="none" w="sm" len="sm"/>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a:spcBef>
                <a:spcPct val="0"/>
              </a:spcBef>
              <a:buClrTx/>
              <a:buSzTx/>
              <a:buFontTx/>
              <a:buNone/>
            </a:pPr>
            <a:r>
              <a:rPr lang="en-US" altLang="en-US" sz="1800" b="1">
                <a:latin typeface="Arial" panose="020B0604020202020204" pitchFamily="34" charset="0"/>
              </a:rPr>
              <a:t>Data Mining</a:t>
            </a:r>
          </a:p>
        </p:txBody>
      </p:sp>
      <p:sp>
        <p:nvSpPr>
          <p:cNvPr id="25610" name="Text Box 10"/>
          <p:cNvSpPr txBox="1">
            <a:spLocks noChangeArrowheads="1"/>
          </p:cNvSpPr>
          <p:nvPr/>
        </p:nvSpPr>
        <p:spPr bwMode="auto">
          <a:xfrm>
            <a:off x="7962900" y="5172075"/>
            <a:ext cx="14478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spcBef>
                <a:spcPct val="50000"/>
              </a:spcBef>
              <a:buClrTx/>
              <a:buSzTx/>
              <a:buFontTx/>
              <a:buNone/>
            </a:pPr>
            <a:r>
              <a:rPr lang="en-US" altLang="en-US" sz="1800">
                <a:latin typeface="Arial" panose="020B0604020202020204" pitchFamily="34" charset="0"/>
              </a:rPr>
              <a:t>Database systems</a:t>
            </a:r>
          </a:p>
        </p:txBody>
      </p:sp>
      <p:sp>
        <p:nvSpPr>
          <p:cNvPr id="2" name="Date Placeholder 1"/>
          <p:cNvSpPr>
            <a:spLocks noGrp="1"/>
          </p:cNvSpPr>
          <p:nvPr>
            <p:ph type="dt" sz="half" idx="10"/>
          </p:nvPr>
        </p:nvSpPr>
        <p:spPr/>
        <p:txBody>
          <a:bodyPr/>
          <a:lstStyle/>
          <a:p>
            <a:fld id="{DC939D09-B4BA-4235-ABBC-0CDE232E0180}"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20</a:t>
            </a:fld>
            <a:endParaRPr lang="en-US"/>
          </a:p>
        </p:txBody>
      </p:sp>
    </p:spTree>
    <p:extLst>
      <p:ext uri="{BB962C8B-B14F-4D97-AF65-F5344CB8AC3E}">
        <p14:creationId xmlns:p14="http://schemas.microsoft.com/office/powerpoint/2010/main" val="310707441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838200" y="365125"/>
            <a:ext cx="10515600" cy="498475"/>
          </a:xfrm>
        </p:spPr>
        <p:txBody>
          <a:bodyPr>
            <a:normAutofit fontScale="90000"/>
          </a:bodyPr>
          <a:lstStyle/>
          <a:p>
            <a:pPr eaLnBrk="1" hangingPunct="1">
              <a:defRPr/>
            </a:pPr>
            <a:r>
              <a:rPr lang="en-US" dirty="0" smtClean="0"/>
              <a:t>Challenges of Data Mining</a:t>
            </a:r>
          </a:p>
        </p:txBody>
      </p:sp>
      <p:sp>
        <p:nvSpPr>
          <p:cNvPr id="67587" name="Rectangle 3"/>
          <p:cNvSpPr>
            <a:spLocks noGrp="1" noChangeArrowheads="1"/>
          </p:cNvSpPr>
          <p:nvPr>
            <p:ph type="body" idx="1"/>
          </p:nvPr>
        </p:nvSpPr>
        <p:spPr>
          <a:xfrm>
            <a:off x="1905000" y="1219200"/>
            <a:ext cx="8229600" cy="4286250"/>
          </a:xfrm>
        </p:spPr>
        <p:txBody>
          <a:bodyPr/>
          <a:lstStyle/>
          <a:p>
            <a:pPr eaLnBrk="1" hangingPunct="1">
              <a:defRPr/>
            </a:pPr>
            <a:r>
              <a:rPr lang="en-US" dirty="0" smtClean="0"/>
              <a:t>Scalability</a:t>
            </a:r>
          </a:p>
          <a:p>
            <a:pPr eaLnBrk="1" hangingPunct="1">
              <a:defRPr/>
            </a:pPr>
            <a:r>
              <a:rPr lang="en-US" dirty="0" smtClean="0"/>
              <a:t>Dimensionality</a:t>
            </a:r>
          </a:p>
          <a:p>
            <a:pPr eaLnBrk="1" hangingPunct="1">
              <a:defRPr/>
            </a:pPr>
            <a:r>
              <a:rPr lang="en-US" dirty="0" smtClean="0"/>
              <a:t>Complex and Heterogeneous Data</a:t>
            </a:r>
          </a:p>
          <a:p>
            <a:pPr eaLnBrk="1" hangingPunct="1">
              <a:defRPr/>
            </a:pPr>
            <a:r>
              <a:rPr lang="en-US" dirty="0" smtClean="0"/>
              <a:t>Data Quality</a:t>
            </a:r>
          </a:p>
          <a:p>
            <a:pPr eaLnBrk="1" hangingPunct="1">
              <a:defRPr/>
            </a:pPr>
            <a:r>
              <a:rPr lang="en-US" dirty="0" smtClean="0"/>
              <a:t>Data Ownership and Distribution</a:t>
            </a:r>
          </a:p>
          <a:p>
            <a:pPr eaLnBrk="1" hangingPunct="1">
              <a:defRPr/>
            </a:pPr>
            <a:r>
              <a:rPr lang="en-US" dirty="0" smtClean="0"/>
              <a:t>Privacy Preservation</a:t>
            </a:r>
          </a:p>
          <a:p>
            <a:pPr eaLnBrk="1" hangingPunct="1">
              <a:defRPr/>
            </a:pPr>
            <a:r>
              <a:rPr lang="en-US" dirty="0" smtClean="0"/>
              <a:t>Streaming Data</a:t>
            </a:r>
          </a:p>
          <a:p>
            <a:pPr eaLnBrk="1" hangingPunct="1">
              <a:defRPr/>
            </a:pPr>
            <a:endParaRPr lang="en-US" dirty="0" smtClean="0"/>
          </a:p>
        </p:txBody>
      </p:sp>
      <p:sp>
        <p:nvSpPr>
          <p:cNvPr id="2" name="Date Placeholder 1"/>
          <p:cNvSpPr>
            <a:spLocks noGrp="1"/>
          </p:cNvSpPr>
          <p:nvPr>
            <p:ph type="dt" sz="half" idx="10"/>
          </p:nvPr>
        </p:nvSpPr>
        <p:spPr/>
        <p:txBody>
          <a:bodyPr/>
          <a:lstStyle/>
          <a:p>
            <a:fld id="{F2E55C79-2273-4402-AB41-DE18BCCEC444}"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21</a:t>
            </a:fld>
            <a:endParaRPr lang="en-US"/>
          </a:p>
        </p:txBody>
      </p:sp>
    </p:spTree>
    <p:extLst>
      <p:ext uri="{BB962C8B-B14F-4D97-AF65-F5344CB8AC3E}">
        <p14:creationId xmlns:p14="http://schemas.microsoft.com/office/powerpoint/2010/main" val="22212935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2057400" y="381000"/>
            <a:ext cx="3124200" cy="838200"/>
          </a:xfrm>
        </p:spPr>
        <p:txBody>
          <a:bodyPr/>
          <a:lstStyle/>
          <a:p>
            <a:pPr eaLnBrk="1" hangingPunct="1"/>
            <a:r>
              <a:rPr lang="en-US" altLang="en-US" sz="3800" dirty="0"/>
              <a:t> Data Mining</a:t>
            </a:r>
          </a:p>
        </p:txBody>
      </p:sp>
      <p:sp>
        <p:nvSpPr>
          <p:cNvPr id="27651" name="Rectangle 3"/>
          <p:cNvSpPr>
            <a:spLocks noChangeArrowheads="1"/>
          </p:cNvSpPr>
          <p:nvPr/>
        </p:nvSpPr>
        <p:spPr bwMode="auto">
          <a:xfrm>
            <a:off x="5029200" y="1828800"/>
            <a:ext cx="1676400" cy="4572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400" dirty="0">
                <a:solidFill>
                  <a:schemeClr val="tx2"/>
                </a:solidFill>
              </a:rPr>
              <a:t>Learning</a:t>
            </a:r>
          </a:p>
        </p:txBody>
      </p:sp>
      <p:sp>
        <p:nvSpPr>
          <p:cNvPr id="27652" name="Rectangle 4"/>
          <p:cNvSpPr>
            <a:spLocks noChangeArrowheads="1"/>
          </p:cNvSpPr>
          <p:nvPr/>
        </p:nvSpPr>
        <p:spPr bwMode="auto">
          <a:xfrm>
            <a:off x="6324600" y="5638800"/>
            <a:ext cx="23622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latin typeface="Arial" panose="020B0604020202020204" pitchFamily="34" charset="0"/>
              </a:rPr>
              <a:t>Association Rules</a:t>
            </a:r>
          </a:p>
        </p:txBody>
      </p:sp>
      <p:sp>
        <p:nvSpPr>
          <p:cNvPr id="27653" name="Rectangle 5"/>
          <p:cNvSpPr>
            <a:spLocks noChangeArrowheads="1"/>
          </p:cNvSpPr>
          <p:nvPr/>
        </p:nvSpPr>
        <p:spPr bwMode="auto">
          <a:xfrm>
            <a:off x="8077200" y="5029200"/>
            <a:ext cx="23622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Sequence Discovery</a:t>
            </a:r>
            <a:endParaRPr lang="en-US" altLang="en-US" sz="2000">
              <a:solidFill>
                <a:schemeClr val="tx2"/>
              </a:solidFill>
              <a:latin typeface="Arial" panose="020B0604020202020204" pitchFamily="34" charset="0"/>
            </a:endParaRPr>
          </a:p>
        </p:txBody>
      </p:sp>
      <p:sp>
        <p:nvSpPr>
          <p:cNvPr id="27654" name="Line 6"/>
          <p:cNvSpPr>
            <a:spLocks noChangeShapeType="1"/>
          </p:cNvSpPr>
          <p:nvPr/>
        </p:nvSpPr>
        <p:spPr bwMode="auto">
          <a:xfrm>
            <a:off x="4343400" y="2743200"/>
            <a:ext cx="3276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5" name="Line 7"/>
          <p:cNvSpPr>
            <a:spLocks noChangeShapeType="1"/>
          </p:cNvSpPr>
          <p:nvPr/>
        </p:nvSpPr>
        <p:spPr bwMode="auto">
          <a:xfrm>
            <a:off x="5867400" y="2286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6" name="Line 8"/>
          <p:cNvSpPr>
            <a:spLocks noChangeShapeType="1"/>
          </p:cNvSpPr>
          <p:nvPr/>
        </p:nvSpPr>
        <p:spPr bwMode="auto">
          <a:xfrm>
            <a:off x="4343400" y="27432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7" name="Line 9"/>
          <p:cNvSpPr>
            <a:spLocks noChangeShapeType="1"/>
          </p:cNvSpPr>
          <p:nvPr/>
        </p:nvSpPr>
        <p:spPr bwMode="auto">
          <a:xfrm>
            <a:off x="7620000" y="27432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58" name="Rectangle 10"/>
          <p:cNvSpPr>
            <a:spLocks noChangeArrowheads="1"/>
          </p:cNvSpPr>
          <p:nvPr/>
        </p:nvSpPr>
        <p:spPr bwMode="auto">
          <a:xfrm>
            <a:off x="8915400" y="4267200"/>
            <a:ext cx="17526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Summarization</a:t>
            </a:r>
          </a:p>
        </p:txBody>
      </p:sp>
      <p:sp>
        <p:nvSpPr>
          <p:cNvPr id="27659" name="Rectangle 11"/>
          <p:cNvSpPr>
            <a:spLocks noChangeArrowheads="1"/>
          </p:cNvSpPr>
          <p:nvPr/>
        </p:nvSpPr>
        <p:spPr bwMode="auto">
          <a:xfrm>
            <a:off x="5867400" y="4876800"/>
            <a:ext cx="14478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Clustering</a:t>
            </a:r>
          </a:p>
        </p:txBody>
      </p:sp>
      <p:sp>
        <p:nvSpPr>
          <p:cNvPr id="27660" name="Rectangle 12"/>
          <p:cNvSpPr>
            <a:spLocks noChangeArrowheads="1"/>
          </p:cNvSpPr>
          <p:nvPr/>
        </p:nvSpPr>
        <p:spPr bwMode="auto">
          <a:xfrm>
            <a:off x="3581400" y="5638800"/>
            <a:ext cx="15240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Regression</a:t>
            </a:r>
          </a:p>
        </p:txBody>
      </p:sp>
      <p:sp>
        <p:nvSpPr>
          <p:cNvPr id="27661" name="Rectangle 13"/>
          <p:cNvSpPr>
            <a:spLocks noChangeArrowheads="1"/>
          </p:cNvSpPr>
          <p:nvPr/>
        </p:nvSpPr>
        <p:spPr bwMode="auto">
          <a:xfrm>
            <a:off x="1752600" y="5029200"/>
            <a:ext cx="25146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Time Series Analysis</a:t>
            </a:r>
          </a:p>
        </p:txBody>
      </p:sp>
      <p:sp>
        <p:nvSpPr>
          <p:cNvPr id="27662" name="Rectangle 14"/>
          <p:cNvSpPr>
            <a:spLocks noChangeArrowheads="1"/>
          </p:cNvSpPr>
          <p:nvPr/>
        </p:nvSpPr>
        <p:spPr bwMode="auto">
          <a:xfrm>
            <a:off x="4495800" y="4267200"/>
            <a:ext cx="15240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Prediction</a:t>
            </a:r>
          </a:p>
        </p:txBody>
      </p:sp>
      <p:sp>
        <p:nvSpPr>
          <p:cNvPr id="27663" name="Rectangle 15"/>
          <p:cNvSpPr>
            <a:spLocks noChangeArrowheads="1"/>
          </p:cNvSpPr>
          <p:nvPr/>
        </p:nvSpPr>
        <p:spPr bwMode="auto">
          <a:xfrm>
            <a:off x="1752600" y="4267200"/>
            <a:ext cx="1600200" cy="3810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000">
                <a:solidFill>
                  <a:schemeClr val="tx2"/>
                </a:solidFill>
              </a:rPr>
              <a:t>Classification</a:t>
            </a:r>
          </a:p>
        </p:txBody>
      </p:sp>
      <p:sp>
        <p:nvSpPr>
          <p:cNvPr id="27664" name="Rectangle 16"/>
          <p:cNvSpPr>
            <a:spLocks noChangeArrowheads="1"/>
          </p:cNvSpPr>
          <p:nvPr/>
        </p:nvSpPr>
        <p:spPr bwMode="auto">
          <a:xfrm>
            <a:off x="7010400" y="3124200"/>
            <a:ext cx="1676400" cy="4572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200">
                <a:solidFill>
                  <a:schemeClr val="tx2"/>
                </a:solidFill>
              </a:rPr>
              <a:t>Descriptive</a:t>
            </a:r>
          </a:p>
        </p:txBody>
      </p:sp>
      <p:sp>
        <p:nvSpPr>
          <p:cNvPr id="27665" name="Rectangle 17"/>
          <p:cNvSpPr>
            <a:spLocks noChangeArrowheads="1"/>
          </p:cNvSpPr>
          <p:nvPr/>
        </p:nvSpPr>
        <p:spPr bwMode="auto">
          <a:xfrm>
            <a:off x="3581400" y="3124200"/>
            <a:ext cx="1676400" cy="4572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anose="05000000000000000000" pitchFamily="2" charset="2"/>
              <a:buChar char="l"/>
              <a:defRPr sz="3200">
                <a:solidFill>
                  <a:schemeClr val="tx1"/>
                </a:solidFill>
                <a:latin typeface="Tahoma" panose="020B0604030504040204" pitchFamily="34" charset="0"/>
              </a:defRPr>
            </a:lvl1pPr>
            <a:lvl2pPr marL="742950" indent="-285750">
              <a:spcBef>
                <a:spcPct val="20000"/>
              </a:spcBef>
              <a:buClr>
                <a:schemeClr val="folHlink"/>
              </a:buClr>
              <a:buSzPct val="80000"/>
              <a:buFont typeface="Wingdings" panose="05000000000000000000" pitchFamily="2" charset="2"/>
              <a:buChar char="l"/>
              <a:defRPr sz="2800">
                <a:solidFill>
                  <a:schemeClr val="tx1"/>
                </a:solidFill>
                <a:latin typeface="Tahoma" panose="020B0604030504040204" pitchFamily="34" charset="0"/>
              </a:defRPr>
            </a:lvl2pPr>
            <a:lvl3pPr marL="1143000" indent="-228600">
              <a:spcBef>
                <a:spcPct val="20000"/>
              </a:spcBef>
              <a:buClr>
                <a:schemeClr val="tx2"/>
              </a:buClr>
              <a:buSzPct val="80000"/>
              <a:buFont typeface="Wingdings" panose="05000000000000000000" pitchFamily="2" charset="2"/>
              <a:buChar char="l"/>
              <a:defRPr sz="2400">
                <a:solidFill>
                  <a:schemeClr val="tx1"/>
                </a:solidFill>
                <a:latin typeface="Tahoma" panose="020B0604030504040204" pitchFamily="34" charset="0"/>
              </a:defRPr>
            </a:lvl3pPr>
            <a:lvl4pPr marL="1600200" indent="-228600">
              <a:spcBef>
                <a:spcPct val="20000"/>
              </a:spcBef>
              <a:buClr>
                <a:schemeClr val="hlink"/>
              </a:buClr>
              <a:buSzPct val="80000"/>
              <a:buFont typeface="Wingdings" panose="05000000000000000000" pitchFamily="2" charset="2"/>
              <a:buChar char="l"/>
              <a:defRPr sz="2000">
                <a:solidFill>
                  <a:schemeClr val="tx1"/>
                </a:solidFill>
                <a:latin typeface="Tahoma" panose="020B0604030504040204" pitchFamily="34" charset="0"/>
              </a:defRPr>
            </a:lvl4pPr>
            <a:lvl5pPr marL="2057400" indent="-228600">
              <a:spcBef>
                <a:spcPct val="20000"/>
              </a:spcBef>
              <a:buClr>
                <a:schemeClr val="tx1"/>
              </a:buClr>
              <a:buSzPct val="80000"/>
              <a:buFont typeface="Wingdings" panose="05000000000000000000" pitchFamily="2" charset="2"/>
              <a:buChar char="l"/>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tx1"/>
              </a:buClr>
              <a:buSzPct val="80000"/>
              <a:buFont typeface="Wingdings" panose="05000000000000000000" pitchFamily="2" charset="2"/>
              <a:buChar char="l"/>
              <a:defRPr sz="2000">
                <a:solidFill>
                  <a:schemeClr val="tx1"/>
                </a:solidFill>
                <a:latin typeface="Tahoma" panose="020B0604030504040204" pitchFamily="34" charset="0"/>
              </a:defRPr>
            </a:lvl9pPr>
          </a:lstStyle>
          <a:p>
            <a:pPr algn="ctr" eaLnBrk="1" hangingPunct="1">
              <a:spcBef>
                <a:spcPct val="0"/>
              </a:spcBef>
              <a:buClrTx/>
              <a:buSzTx/>
              <a:buFontTx/>
              <a:buNone/>
            </a:pPr>
            <a:r>
              <a:rPr lang="en-US" altLang="en-US" sz="2200">
                <a:solidFill>
                  <a:schemeClr val="tx2"/>
                </a:solidFill>
              </a:rPr>
              <a:t>Predictive</a:t>
            </a:r>
          </a:p>
        </p:txBody>
      </p:sp>
      <p:sp>
        <p:nvSpPr>
          <p:cNvPr id="27666" name="Line 18"/>
          <p:cNvSpPr>
            <a:spLocks noChangeShapeType="1"/>
          </p:cNvSpPr>
          <p:nvPr/>
        </p:nvSpPr>
        <p:spPr bwMode="auto">
          <a:xfrm>
            <a:off x="4495800" y="35814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7" name="Line 19"/>
          <p:cNvSpPr>
            <a:spLocks noChangeShapeType="1"/>
          </p:cNvSpPr>
          <p:nvPr/>
        </p:nvSpPr>
        <p:spPr bwMode="auto">
          <a:xfrm>
            <a:off x="2743200" y="3962400"/>
            <a:ext cx="2438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8" name="Line 20"/>
          <p:cNvSpPr>
            <a:spLocks noChangeShapeType="1"/>
          </p:cNvSpPr>
          <p:nvPr/>
        </p:nvSpPr>
        <p:spPr bwMode="auto">
          <a:xfrm>
            <a:off x="2743200" y="39624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9" name="Line 21"/>
          <p:cNvSpPr>
            <a:spLocks noChangeShapeType="1"/>
          </p:cNvSpPr>
          <p:nvPr/>
        </p:nvSpPr>
        <p:spPr bwMode="auto">
          <a:xfrm>
            <a:off x="3581400" y="3962400"/>
            <a:ext cx="0" cy="1066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0" name="Line 22"/>
          <p:cNvSpPr>
            <a:spLocks noChangeShapeType="1"/>
          </p:cNvSpPr>
          <p:nvPr/>
        </p:nvSpPr>
        <p:spPr bwMode="auto">
          <a:xfrm>
            <a:off x="4343400" y="3962400"/>
            <a:ext cx="0" cy="1676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1" name="Line 23"/>
          <p:cNvSpPr>
            <a:spLocks noChangeShapeType="1"/>
          </p:cNvSpPr>
          <p:nvPr/>
        </p:nvSpPr>
        <p:spPr bwMode="auto">
          <a:xfrm>
            <a:off x="5181600" y="39624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2" name="Line 24"/>
          <p:cNvSpPr>
            <a:spLocks noChangeShapeType="1"/>
          </p:cNvSpPr>
          <p:nvPr/>
        </p:nvSpPr>
        <p:spPr bwMode="auto">
          <a:xfrm>
            <a:off x="7848600" y="3581400"/>
            <a:ext cx="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3" name="Line 25"/>
          <p:cNvSpPr>
            <a:spLocks noChangeShapeType="1"/>
          </p:cNvSpPr>
          <p:nvPr/>
        </p:nvSpPr>
        <p:spPr bwMode="auto">
          <a:xfrm>
            <a:off x="6553200" y="3886200"/>
            <a:ext cx="2743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4" name="Line 26"/>
          <p:cNvSpPr>
            <a:spLocks noChangeShapeType="1"/>
          </p:cNvSpPr>
          <p:nvPr/>
        </p:nvSpPr>
        <p:spPr bwMode="auto">
          <a:xfrm>
            <a:off x="6553200" y="3886200"/>
            <a:ext cx="0" cy="990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5" name="Line 27"/>
          <p:cNvSpPr>
            <a:spLocks noChangeShapeType="1"/>
          </p:cNvSpPr>
          <p:nvPr/>
        </p:nvSpPr>
        <p:spPr bwMode="auto">
          <a:xfrm>
            <a:off x="7467600" y="3886200"/>
            <a:ext cx="0" cy="1752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6" name="Line 28"/>
          <p:cNvSpPr>
            <a:spLocks noChangeShapeType="1"/>
          </p:cNvSpPr>
          <p:nvPr/>
        </p:nvSpPr>
        <p:spPr bwMode="auto">
          <a:xfrm>
            <a:off x="8305800" y="3886200"/>
            <a:ext cx="0" cy="1143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7" name="Line 29"/>
          <p:cNvSpPr>
            <a:spLocks noChangeShapeType="1"/>
          </p:cNvSpPr>
          <p:nvPr/>
        </p:nvSpPr>
        <p:spPr bwMode="auto">
          <a:xfrm>
            <a:off x="9296400" y="3886200"/>
            <a:ext cx="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 name="Date Placeholder 1"/>
          <p:cNvSpPr>
            <a:spLocks noGrp="1"/>
          </p:cNvSpPr>
          <p:nvPr>
            <p:ph type="dt" sz="half" idx="10"/>
          </p:nvPr>
        </p:nvSpPr>
        <p:spPr/>
        <p:txBody>
          <a:bodyPr/>
          <a:lstStyle/>
          <a:p>
            <a:fld id="{4E67DD96-FA40-44B7-A85F-D20DBAE09501}" type="datetime5">
              <a:rPr lang="en-US" smtClean="0"/>
              <a:t>8-Jan-18</a:t>
            </a:fld>
            <a:endParaRPr lang="en-US"/>
          </a:p>
        </p:txBody>
      </p:sp>
      <p:sp>
        <p:nvSpPr>
          <p:cNvPr id="3" name="Footer Placeholder 2"/>
          <p:cNvSpPr>
            <a:spLocks noGrp="1"/>
          </p:cNvSpPr>
          <p:nvPr>
            <p:ph type="ftr" sz="quarter" idx="11"/>
          </p:nvPr>
        </p:nvSpPr>
        <p:spPr/>
        <p:txBody>
          <a:bodyPr/>
          <a:lstStyle/>
          <a:p>
            <a:r>
              <a:rPr lang="en-US" smtClean="0"/>
              <a:t>C1S F415</a:t>
            </a:r>
            <a:endParaRPr lang="en-US"/>
          </a:p>
        </p:txBody>
      </p:sp>
      <p:sp>
        <p:nvSpPr>
          <p:cNvPr id="4" name="Slide Number Placeholder 3"/>
          <p:cNvSpPr>
            <a:spLocks noGrp="1"/>
          </p:cNvSpPr>
          <p:nvPr>
            <p:ph type="sldNum" sz="quarter" idx="12"/>
          </p:nvPr>
        </p:nvSpPr>
        <p:spPr/>
        <p:txBody>
          <a:bodyPr/>
          <a:lstStyle/>
          <a:p>
            <a:fld id="{A5A87883-77EE-4E3D-88BB-C9B24793C6D0}" type="slidenum">
              <a:rPr lang="en-US" smtClean="0"/>
              <a:t>22</a:t>
            </a:fld>
            <a:endParaRPr lang="en-US"/>
          </a:p>
        </p:txBody>
      </p:sp>
    </p:spTree>
    <p:extLst>
      <p:ext uri="{BB962C8B-B14F-4D97-AF65-F5344CB8AC3E}">
        <p14:creationId xmlns:p14="http://schemas.microsoft.com/office/powerpoint/2010/main" val="365501597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211</TotalTime>
  <Words>802</Words>
  <Application>Microsoft Office PowerPoint</Application>
  <PresentationFormat>Widescreen</PresentationFormat>
  <Paragraphs>250</Paragraphs>
  <Slides>22</Slides>
  <Notes>8</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22</vt:i4>
      </vt:variant>
    </vt:vector>
  </HeadingPairs>
  <TitlesOfParts>
    <vt:vector size="31" baseType="lpstr">
      <vt:lpstr>SimSun</vt:lpstr>
      <vt:lpstr>Arial</vt:lpstr>
      <vt:lpstr>Calibri</vt:lpstr>
      <vt:lpstr>Calibri Light</vt:lpstr>
      <vt:lpstr>Monotype Sorts</vt:lpstr>
      <vt:lpstr>Tahoma</vt:lpstr>
      <vt:lpstr>Wingdings</vt:lpstr>
      <vt:lpstr>Office Theme</vt:lpstr>
      <vt:lpstr>VISIO</vt:lpstr>
      <vt:lpstr>CS F415: Data Mining</vt:lpstr>
      <vt:lpstr>Today’s Outline</vt:lpstr>
      <vt:lpstr>Course Operational Details</vt:lpstr>
      <vt:lpstr>Evaluation Components</vt:lpstr>
      <vt:lpstr>Motivation</vt:lpstr>
      <vt:lpstr>Motivation</vt:lpstr>
      <vt:lpstr>Motivation</vt:lpstr>
      <vt:lpstr>Motivation: Commercial Viewpoint</vt:lpstr>
      <vt:lpstr>Motivation: Scientific Viewpoint</vt:lpstr>
      <vt:lpstr>Motivation</vt:lpstr>
      <vt:lpstr>Motivation</vt:lpstr>
      <vt:lpstr>Motivation</vt:lpstr>
      <vt:lpstr>Motivation</vt:lpstr>
      <vt:lpstr>Motivation</vt:lpstr>
      <vt:lpstr>Motivation</vt:lpstr>
      <vt:lpstr>Motivation</vt:lpstr>
      <vt:lpstr>What is Data Mining?</vt:lpstr>
      <vt:lpstr>What is NOT Data Mining?</vt:lpstr>
      <vt:lpstr>What is (not) Data Mining?</vt:lpstr>
      <vt:lpstr>Origins of Data Mining</vt:lpstr>
      <vt:lpstr>Challenges of Data Mining</vt:lpstr>
      <vt:lpstr> Data Mining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F415: Data Mining</dc:title>
  <dc:creator>yash Sharma</dc:creator>
  <cp:lastModifiedBy>yash Sharma</cp:lastModifiedBy>
  <cp:revision>15</cp:revision>
  <dcterms:created xsi:type="dcterms:W3CDTF">2016-01-15T03:52:31Z</dcterms:created>
  <dcterms:modified xsi:type="dcterms:W3CDTF">2018-01-08T10:24:31Z</dcterms:modified>
</cp:coreProperties>
</file>