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88" r:id="rId2"/>
    <p:sldId id="387" r:id="rId3"/>
    <p:sldId id="388" r:id="rId4"/>
    <p:sldId id="389" r:id="rId5"/>
    <p:sldId id="390" r:id="rId6"/>
    <p:sldId id="391" r:id="rId7"/>
    <p:sldId id="392" r:id="rId8"/>
    <p:sldId id="393" r:id="rId9"/>
    <p:sldId id="394" r:id="rId10"/>
    <p:sldId id="395" r:id="rId11"/>
    <p:sldId id="396" r:id="rId12"/>
    <p:sldId id="397" r:id="rId13"/>
    <p:sldId id="456" r:id="rId14"/>
    <p:sldId id="451" r:id="rId15"/>
    <p:sldId id="452" r:id="rId16"/>
    <p:sldId id="453" r:id="rId17"/>
    <p:sldId id="454" r:id="rId18"/>
    <p:sldId id="455" r:id="rId19"/>
    <p:sldId id="460" r:id="rId20"/>
    <p:sldId id="398" r:id="rId21"/>
    <p:sldId id="399" r:id="rId22"/>
    <p:sldId id="400" r:id="rId23"/>
    <p:sldId id="401" r:id="rId24"/>
    <p:sldId id="402" r:id="rId25"/>
    <p:sldId id="403" r:id="rId26"/>
    <p:sldId id="413" r:id="rId27"/>
    <p:sldId id="414" r:id="rId28"/>
    <p:sldId id="415" r:id="rId29"/>
    <p:sldId id="416" r:id="rId30"/>
    <p:sldId id="417" r:id="rId31"/>
    <p:sldId id="418" r:id="rId32"/>
    <p:sldId id="419" r:id="rId33"/>
    <p:sldId id="420" r:id="rId34"/>
    <p:sldId id="421" r:id="rId35"/>
    <p:sldId id="422" r:id="rId36"/>
    <p:sldId id="423" r:id="rId37"/>
    <p:sldId id="424" r:id="rId38"/>
    <p:sldId id="425" r:id="rId39"/>
    <p:sldId id="426" r:id="rId40"/>
    <p:sldId id="427" r:id="rId41"/>
    <p:sldId id="430" r:id="rId42"/>
    <p:sldId id="431" r:id="rId43"/>
    <p:sldId id="432" r:id="rId44"/>
    <p:sldId id="433" r:id="rId45"/>
    <p:sldId id="434" r:id="rId46"/>
    <p:sldId id="435" r:id="rId47"/>
    <p:sldId id="436" r:id="rId48"/>
    <p:sldId id="437" r:id="rId49"/>
    <p:sldId id="438" r:id="rId50"/>
    <p:sldId id="439" r:id="rId51"/>
    <p:sldId id="440" r:id="rId52"/>
    <p:sldId id="441" r:id="rId53"/>
    <p:sldId id="442" r:id="rId54"/>
    <p:sldId id="443" r:id="rId55"/>
    <p:sldId id="444" r:id="rId56"/>
    <p:sldId id="446" r:id="rId57"/>
    <p:sldId id="457" r:id="rId58"/>
    <p:sldId id="458" r:id="rId59"/>
    <p:sldId id="459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18.wmf"/><Relationship Id="rId4" Type="http://schemas.openxmlformats.org/officeDocument/2006/relationships/image" Target="../media/image29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18.wmf"/><Relationship Id="rId4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1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18.wmf"/><Relationship Id="rId4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3.wmf"/><Relationship Id="rId1" Type="http://schemas.openxmlformats.org/officeDocument/2006/relationships/image" Target="../media/image18.wmf"/><Relationship Id="rId4" Type="http://schemas.openxmlformats.org/officeDocument/2006/relationships/image" Target="../media/image37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emf"/><Relationship Id="rId1" Type="http://schemas.openxmlformats.org/officeDocument/2006/relationships/image" Target="../media/image5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6B36DB-C3DA-49BB-AA53-5DF52F722C4A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4CDF2-A126-45BB-BED0-2A856D792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ACF6320-C6B5-4CE6-A6FD-3B9B6F00539C}" type="slidenum">
              <a:rPr lang="en-US" altLang="en-US" smtClean="0">
                <a:latin typeface="Arial" panose="020B0604020202020204" pitchFamily="34" charset="0"/>
              </a:rPr>
              <a:pPr/>
              <a:t>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410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167C68D-0AEA-4B83-B5B1-B3688E28AC01}" type="slidenum">
              <a:rPr lang="en-US" altLang="en-US" smtClean="0">
                <a:latin typeface="Arial" panose="020B0604020202020204" pitchFamily="34" charset="0"/>
              </a:rPr>
              <a:pPr/>
              <a:t>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670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06AF6EE1-C310-40F4-8A30-99059157D091}" type="slidenum">
              <a:rPr lang="en-US" altLang="en-US" smtClean="0">
                <a:latin typeface="Arial" panose="020B0604020202020204" pitchFamily="34" charset="0"/>
              </a:rPr>
              <a:pPr/>
              <a:t>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87770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AC3FB02-CBE4-4A8A-AE32-2272FCE077A9}" type="slidenum">
              <a:rPr lang="en-US" altLang="en-US" smtClean="0">
                <a:latin typeface="Arial" panose="020B0604020202020204" pitchFamily="34" charset="0"/>
              </a:rPr>
              <a:pPr/>
              <a:t>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799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1289AC8-0057-4C46-BD3C-A7A7ED0CAF35}" type="slidenum">
              <a:rPr lang="en-US" altLang="en-US" smtClean="0">
                <a:latin typeface="Arial" panose="020B0604020202020204" pitchFamily="34" charset="0"/>
              </a:rPr>
              <a:pPr/>
              <a:t>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6023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05B96FE-A069-41BF-BFF5-20765B570707}" type="slidenum">
              <a:rPr lang="en-US" altLang="en-US" smtClean="0">
                <a:latin typeface="Arial" panose="020B0604020202020204" pitchFamily="34" charset="0"/>
              </a:rPr>
              <a:pPr/>
              <a:t>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591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E06E574-F06F-44F4-AA0F-2385161143F4}" type="slidenum">
              <a:rPr lang="en-US" altLang="en-US" smtClean="0">
                <a:latin typeface="Arial" panose="020B0604020202020204" pitchFamily="34" charset="0"/>
              </a:rPr>
              <a:pPr/>
              <a:t>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5996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5D78C7E-B8DB-4605-B638-B1D3FAFA8FA0}" type="slidenum">
              <a:rPr lang="en-US" altLang="en-US" smtClean="0">
                <a:latin typeface="Arial" panose="020B0604020202020204" pitchFamily="34" charset="0"/>
              </a:rPr>
              <a:pPr/>
              <a:t>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1690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6CC2373-4668-4F06-AED5-4993CCEA41E7}" type="slidenum">
              <a:rPr lang="en-US" altLang="en-US" smtClean="0">
                <a:latin typeface="Arial" panose="020B0604020202020204" pitchFamily="34" charset="0"/>
              </a:rPr>
              <a:pPr/>
              <a:t>10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81892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9CD5776-4430-465B-80BD-1F6E01542A9C}" type="slidenum">
              <a:rPr lang="en-US" altLang="en-US" smtClean="0">
                <a:latin typeface="Arial" panose="020B0604020202020204" pitchFamily="34" charset="0"/>
              </a:rPr>
              <a:pPr/>
              <a:t>11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2192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DB05B5E-432A-4ED8-8347-B403D9814341}" type="slidenum">
              <a:rPr lang="en-US" altLang="en-US" smtClean="0">
                <a:latin typeface="Arial" panose="020B0604020202020204" pitchFamily="34" charset="0"/>
              </a:rPr>
              <a:pPr/>
              <a:t>12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1140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7EFBAF1-075E-43A0-945F-25FEB3B78E90}" type="slidenum">
              <a:rPr lang="en-US" altLang="en-US" smtClean="0">
                <a:latin typeface="Arial" panose="020B0604020202020204" pitchFamily="34" charset="0"/>
              </a:rPr>
              <a:pPr/>
              <a:t>13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9143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4B02073-A240-451B-845F-4E2E3A323ED3}" type="slidenum">
              <a:rPr lang="en-US" altLang="en-US" smtClean="0">
                <a:latin typeface="Arial" panose="020B0604020202020204" pitchFamily="34" charset="0"/>
              </a:rPr>
              <a:pPr/>
              <a:t>28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09613"/>
            <a:ext cx="4826000" cy="3619500"/>
          </a:xfrm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675" y="4565650"/>
            <a:ext cx="5411788" cy="4329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92" tIns="47447" rIns="94892" bIns="47447"/>
          <a:lstStyle/>
          <a:p>
            <a:r>
              <a:rPr lang="en-US" altLang="en-US" sz="1700" smtClean="0">
                <a:latin typeface="Arial" panose="020B0604020202020204" pitchFamily="34" charset="0"/>
              </a:rPr>
              <a:t>I will start by motivating the work 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next describe the Novel algorithm we developed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and then describe the experimental evaluation and present our results</a:t>
            </a:r>
          </a:p>
        </p:txBody>
      </p:sp>
    </p:spTree>
    <p:extLst>
      <p:ext uri="{BB962C8B-B14F-4D97-AF65-F5344CB8AC3E}">
        <p14:creationId xmlns:p14="http://schemas.microsoft.com/office/powerpoint/2010/main" val="29416245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8682004A-3DEA-4086-966E-E69528F1C3EF}" type="slidenum">
              <a:rPr lang="en-US" altLang="en-US" smtClean="0">
                <a:latin typeface="Arial" panose="020B0604020202020204" pitchFamily="34" charset="0"/>
              </a:rPr>
              <a:pPr/>
              <a:t>32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09613"/>
            <a:ext cx="4826000" cy="3619500"/>
          </a:xfrm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675" y="4565650"/>
            <a:ext cx="5411788" cy="4329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92" tIns="47447" rIns="94892" bIns="47447"/>
          <a:lstStyle/>
          <a:p>
            <a:r>
              <a:rPr lang="en-US" altLang="en-US" sz="1700" smtClean="0">
                <a:latin typeface="Arial" panose="020B0604020202020204" pitchFamily="34" charset="0"/>
              </a:rPr>
              <a:t>I will start by motivating the work 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next describe the Novel algorithm we developed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and then describe the experimental evaluation and present our results</a:t>
            </a:r>
          </a:p>
        </p:txBody>
      </p:sp>
    </p:spTree>
    <p:extLst>
      <p:ext uri="{BB962C8B-B14F-4D97-AF65-F5344CB8AC3E}">
        <p14:creationId xmlns:p14="http://schemas.microsoft.com/office/powerpoint/2010/main" val="1985984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695228F-8F77-4D4C-954A-DA5D1A982B51}" type="slidenum">
              <a:rPr lang="en-US" altLang="en-US" smtClean="0">
                <a:latin typeface="Arial" panose="020B0604020202020204" pitchFamily="34" charset="0"/>
              </a:rPr>
              <a:pPr/>
              <a:t>36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9675" y="709613"/>
            <a:ext cx="4826000" cy="3619500"/>
          </a:xfrm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5675" y="4565650"/>
            <a:ext cx="5411788" cy="43291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892" tIns="47447" rIns="94892" bIns="47447"/>
          <a:lstStyle/>
          <a:p>
            <a:r>
              <a:rPr lang="en-US" altLang="en-US" sz="1700" smtClean="0">
                <a:latin typeface="Arial" panose="020B0604020202020204" pitchFamily="34" charset="0"/>
              </a:rPr>
              <a:t>I will start by motivating the work 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next describe the Novel algorithm we developed</a:t>
            </a:r>
          </a:p>
          <a:p>
            <a:r>
              <a:rPr lang="en-US" altLang="en-US" sz="1700" smtClean="0">
                <a:latin typeface="Arial" panose="020B0604020202020204" pitchFamily="34" charset="0"/>
              </a:rPr>
              <a:t>and then describe the experimental evaluation and present our results</a:t>
            </a:r>
          </a:p>
        </p:txBody>
      </p:sp>
    </p:spTree>
    <p:extLst>
      <p:ext uri="{BB962C8B-B14F-4D97-AF65-F5344CB8AC3E}">
        <p14:creationId xmlns:p14="http://schemas.microsoft.com/office/powerpoint/2010/main" val="26455086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F0C4638-5511-4588-9322-D4210C89BC56}" type="slidenum">
              <a:rPr lang="en-US" altLang="en-US" smtClean="0">
                <a:latin typeface="Arial" panose="020B0604020202020204" pitchFamily="34" charset="0"/>
              </a:rPr>
              <a:pPr/>
              <a:t>41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26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D72C47D1-5ECF-422F-B25F-FE01F85C1B19}" type="slidenum">
              <a:rPr lang="en-US" altLang="en-US" smtClean="0">
                <a:latin typeface="Arial" panose="020B0604020202020204" pitchFamily="34" charset="0"/>
              </a:rPr>
              <a:pPr/>
              <a:t>42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49132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594510E-B881-433B-85E7-1D850E5F70BA}" type="slidenum">
              <a:rPr lang="en-US" altLang="en-US" smtClean="0">
                <a:latin typeface="Arial" panose="020B0604020202020204" pitchFamily="34" charset="0"/>
              </a:rPr>
              <a:pPr/>
              <a:t>43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84900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25741847-486C-499F-97C8-0D7155D50BEA}" type="slidenum">
              <a:rPr lang="en-US" altLang="en-US" smtClean="0">
                <a:latin typeface="Arial" panose="020B0604020202020204" pitchFamily="34" charset="0"/>
              </a:rPr>
              <a:pPr/>
              <a:t>44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830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D631BF0-0060-42BD-8E36-2575A247A6EB}" type="slidenum">
              <a:rPr lang="en-US" altLang="en-US" smtClean="0">
                <a:latin typeface="Arial" panose="020B0604020202020204" pitchFamily="34" charset="0"/>
              </a:rPr>
              <a:pPr/>
              <a:t>45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9237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F82978F-2B78-47CC-818B-D2C0062BF46E}" type="slidenum">
              <a:rPr lang="en-US" altLang="en-US" smtClean="0">
                <a:latin typeface="Arial" panose="020B0604020202020204" pitchFamily="34" charset="0"/>
              </a:rPr>
              <a:pPr/>
              <a:t>46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4225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8A4A600-AF23-4F90-BC5A-95BD129AAE2A}" type="slidenum">
              <a:rPr lang="en-US" altLang="en-US" smtClean="0">
                <a:latin typeface="Arial" panose="020B0604020202020204" pitchFamily="34" charset="0"/>
              </a:rPr>
              <a:pPr/>
              <a:t>47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7052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48A45E09-BBDE-4F97-BEC4-ABC2E697EBF4}" type="slidenum">
              <a:rPr lang="en-US" altLang="en-US" smtClean="0">
                <a:latin typeface="Arial" panose="020B0604020202020204" pitchFamily="34" charset="0"/>
              </a:rPr>
              <a:pPr/>
              <a:t>48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999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B156CC6-4D63-423D-98EB-7E61A947DC6B}" type="slidenum">
              <a:rPr lang="en-US" altLang="en-US" smtClean="0">
                <a:latin typeface="Arial" panose="020B0604020202020204" pitchFamily="34" charset="0"/>
              </a:rPr>
              <a:pPr/>
              <a:t>49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5958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B495C35-9A39-4D3F-BD70-05566DCEABA6}" type="slidenum">
              <a:rPr lang="en-US" altLang="en-US" smtClean="0">
                <a:latin typeface="Arial" panose="020B0604020202020204" pitchFamily="34" charset="0"/>
              </a:rPr>
              <a:pPr/>
              <a:t>50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172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342E1C1D-A4E5-4A90-B0B8-150BAA58A60B}" type="slidenum">
              <a:rPr lang="en-US" altLang="en-US" smtClean="0">
                <a:latin typeface="Arial" panose="020B0604020202020204" pitchFamily="34" charset="0"/>
              </a:rPr>
              <a:pPr/>
              <a:t>51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8661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B865B417-A3EC-4152-94C0-442E3E5F3425}" type="slidenum">
              <a:rPr lang="en-US" altLang="en-US" smtClean="0">
                <a:latin typeface="Arial" panose="020B0604020202020204" pitchFamily="34" charset="0"/>
              </a:rPr>
              <a:pPr/>
              <a:t>52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01390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B8FD29F-48BB-4C5C-8E87-523A8DF9DC49}" type="slidenum">
              <a:rPr lang="en-US" altLang="en-US" smtClean="0">
                <a:latin typeface="Arial" panose="020B0604020202020204" pitchFamily="34" charset="0"/>
              </a:rPr>
              <a:pPr/>
              <a:t>53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3702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686F0934-02F1-4D36-86D5-0ADDFBB0E72F}" type="slidenum">
              <a:rPr lang="en-US" altLang="en-US" smtClean="0">
                <a:latin typeface="Arial" panose="020B0604020202020204" pitchFamily="34" charset="0"/>
              </a:rPr>
              <a:pPr/>
              <a:t>54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1809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14005FF-9B6C-4E35-B87F-98AE26A924C7}" type="slidenum">
              <a:rPr lang="en-US" altLang="en-US" smtClean="0">
                <a:latin typeface="Arial" panose="020B0604020202020204" pitchFamily="34" charset="0"/>
              </a:rPr>
              <a:pPr/>
              <a:t>55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197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197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289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52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5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5076AE2E-B673-4EA2-BAC0-7FBBABA109DB}" type="slidenum">
              <a:rPr lang="en-US" altLang="en-US" smtClean="0">
                <a:latin typeface="Arial" panose="020B0604020202020204" pitchFamily="34" charset="0"/>
              </a:rPr>
              <a:pPr/>
              <a:t>56</a:t>
            </a:fld>
            <a:endParaRPr lang="en-US" altLang="en-US" smtClean="0">
              <a:latin typeface="Arial" panose="020B0604020202020204" pitchFamily="34" charset="0"/>
            </a:endParaRPr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73613" cy="3579813"/>
          </a:xfrm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4554538"/>
            <a:ext cx="5357813" cy="43132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3518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572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1FAE64-A376-4B26-B54D-84172011A3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815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7B745-B939-4367-9798-1F14DB30F90E}" type="datetimeFigureOut">
              <a:rPr lang="en-US" smtClean="0"/>
              <a:t>12-Apr-18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B93EF-E0A4-438C-BAA7-93DABDD8E0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3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4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18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8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29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0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9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18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35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36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37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40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8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39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40.emf"/><Relationship Id="rId4" Type="http://schemas.openxmlformats.org/officeDocument/2006/relationships/oleObject" Target="../embeddings/oleObject42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43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5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44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4419600" cy="1828800"/>
          </a:xfrm>
        </p:spPr>
        <p:txBody>
          <a:bodyPr/>
          <a:lstStyle/>
          <a:p>
            <a:pPr eaLnBrk="1" hangingPunct="1">
              <a:defRPr/>
            </a:pPr>
            <a:r>
              <a:rPr lang="en-US" sz="5400" smtClean="0"/>
              <a:t>Clustering</a:t>
            </a: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064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</a:t>
            </a:r>
          </a:p>
        </p:txBody>
      </p:sp>
      <p:sp>
        <p:nvSpPr>
          <p:cNvPr id="465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991600" cy="55626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 smtClean="0"/>
              <a:t>Two main types of hierarchical clustering</a:t>
            </a:r>
          </a:p>
          <a:p>
            <a:pPr lvl="1" eaLnBrk="1" hangingPunct="1">
              <a:defRPr/>
            </a:pPr>
            <a:r>
              <a:rPr lang="en-US" sz="2400" dirty="0" smtClean="0"/>
              <a:t>Agglomerative:  </a:t>
            </a:r>
          </a:p>
          <a:p>
            <a:pPr lvl="2" eaLnBrk="1" hangingPunct="1">
              <a:defRPr/>
            </a:pPr>
            <a:r>
              <a:rPr lang="en-US" sz="2000" dirty="0" smtClean="0"/>
              <a:t> Start with the points as individual clusters</a:t>
            </a:r>
          </a:p>
          <a:p>
            <a:pPr lvl="2" eaLnBrk="1" hangingPunct="1">
              <a:defRPr/>
            </a:pPr>
            <a:r>
              <a:rPr lang="en-US" sz="2000" dirty="0" smtClean="0"/>
              <a:t> At each step, merge the closest pair of clusters until only one cluster (or k clusters) left</a:t>
            </a:r>
          </a:p>
          <a:p>
            <a:pPr lvl="4" eaLnBrk="1" hangingPunct="1">
              <a:defRPr/>
            </a:pPr>
            <a:endParaRPr lang="en-US" sz="1800" dirty="0" smtClean="0"/>
          </a:p>
          <a:p>
            <a:pPr lvl="1" eaLnBrk="1" hangingPunct="1">
              <a:defRPr/>
            </a:pPr>
            <a:r>
              <a:rPr lang="en-US" sz="2400" dirty="0" smtClean="0"/>
              <a:t>Divisive:  </a:t>
            </a:r>
          </a:p>
          <a:p>
            <a:pPr lvl="2" eaLnBrk="1" hangingPunct="1">
              <a:defRPr/>
            </a:pPr>
            <a:r>
              <a:rPr lang="en-US" sz="2000" dirty="0" smtClean="0"/>
              <a:t> Start with one, all-inclusive cluster </a:t>
            </a:r>
          </a:p>
          <a:p>
            <a:pPr lvl="2" eaLnBrk="1" hangingPunct="1">
              <a:defRPr/>
            </a:pPr>
            <a:r>
              <a:rPr lang="en-US" sz="2000" dirty="0" smtClean="0"/>
              <a:t> At each step, split a cluster until each cluster contains a point (or there are k clusters)</a:t>
            </a:r>
          </a:p>
          <a:p>
            <a:pPr lvl="4" eaLnBrk="1" hangingPunct="1">
              <a:defRPr/>
            </a:pPr>
            <a:endParaRPr lang="en-US" sz="1800" dirty="0" smtClean="0"/>
          </a:p>
          <a:p>
            <a:pPr eaLnBrk="1" hangingPunct="1">
              <a:defRPr/>
            </a:pPr>
            <a:r>
              <a:rPr lang="en-US" sz="2800" dirty="0" smtClean="0"/>
              <a:t>Traditional hierarchical algorithms use a similarity or distance matrix</a:t>
            </a:r>
          </a:p>
          <a:p>
            <a:pPr lvl="1" eaLnBrk="1" hangingPunct="1">
              <a:defRPr/>
            </a:pPr>
            <a:r>
              <a:rPr lang="en-US" sz="2400" dirty="0" smtClean="0"/>
              <a:t>Merge or split one cluster at a time</a:t>
            </a:r>
          </a:p>
          <a:p>
            <a:pPr lvl="4" eaLnBrk="1" hangingPunct="1">
              <a:defRPr/>
            </a:pPr>
            <a:endParaRPr lang="en-US" sz="800" dirty="0" smtClean="0"/>
          </a:p>
        </p:txBody>
      </p:sp>
    </p:spTree>
    <p:extLst>
      <p:ext uri="{BB962C8B-B14F-4D97-AF65-F5344CB8AC3E}">
        <p14:creationId xmlns:p14="http://schemas.microsoft.com/office/powerpoint/2010/main" val="87311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Agglomerative Clustering Algorithm</a:t>
            </a:r>
          </a:p>
        </p:txBody>
      </p:sp>
      <p:sp>
        <p:nvSpPr>
          <p:cNvPr id="467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8915400" cy="4530725"/>
          </a:xfrm>
        </p:spPr>
        <p:txBody>
          <a:bodyPr>
            <a:normAutofit fontScale="92500" lnSpcReduction="10000"/>
          </a:bodyPr>
          <a:lstStyle/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smtClean="0"/>
              <a:t>More popular hierarchical clustering technique</a:t>
            </a:r>
          </a:p>
          <a:p>
            <a:pPr marL="2209800" lvl="4" indent="-381000" eaLnBrk="1" hangingPunct="1">
              <a:lnSpc>
                <a:spcPct val="90000"/>
              </a:lnSpc>
              <a:defRPr/>
            </a:pPr>
            <a:endParaRPr lang="en-US" sz="800" smtClean="0"/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smtClean="0"/>
              <a:t>Basic algorithm is straightforward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smtClean="0"/>
              <a:t>Compute the proximity matrix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smtClean="0"/>
              <a:t>Let each data point be a cluster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b="1" smtClean="0"/>
              <a:t>Repeat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lang="en-US" sz="2400" smtClean="0"/>
              <a:t>	Merge the two closest clusters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  <a:defRPr/>
            </a:pPr>
            <a:r>
              <a:rPr lang="en-US" sz="2400" smtClean="0"/>
              <a:t>	Update the proximity matrix</a:t>
            </a:r>
          </a:p>
          <a:p>
            <a:pPr marL="990600" lvl="1" indent="-533400" eaLnBrk="1" hangingPunct="1">
              <a:lnSpc>
                <a:spcPct val="90000"/>
              </a:lnSpc>
              <a:buFont typeface="Arial" charset="0"/>
              <a:buAutoNum type="arabicPeriod"/>
              <a:defRPr/>
            </a:pPr>
            <a:r>
              <a:rPr lang="en-US" sz="2400" b="1" smtClean="0"/>
              <a:t>Until</a:t>
            </a:r>
            <a:r>
              <a:rPr lang="en-US" sz="2400" smtClean="0"/>
              <a:t> only a single cluster remains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  <a:p>
            <a:pPr marL="533400" indent="-533400" eaLnBrk="1" hangingPunct="1">
              <a:lnSpc>
                <a:spcPct val="90000"/>
              </a:lnSpc>
              <a:defRPr/>
            </a:pPr>
            <a:r>
              <a:rPr lang="en-US" sz="2800" smtClean="0"/>
              <a:t>Key operation is the computation of the proximity of two clusters</a:t>
            </a:r>
          </a:p>
          <a:p>
            <a:pPr marL="990600" lvl="1" indent="-533400" eaLnBrk="1" hangingPunct="1">
              <a:lnSpc>
                <a:spcPct val="90000"/>
              </a:lnSpc>
              <a:defRPr/>
            </a:pPr>
            <a:r>
              <a:rPr lang="en-US" sz="2400" smtClean="0"/>
              <a:t>Different approaches to defining the distance between clusters distinguish the different algorithms</a:t>
            </a:r>
          </a:p>
        </p:txBody>
      </p:sp>
    </p:spTree>
    <p:extLst>
      <p:ext uri="{BB962C8B-B14F-4D97-AF65-F5344CB8AC3E}">
        <p14:creationId xmlns:p14="http://schemas.microsoft.com/office/powerpoint/2010/main" val="3920730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Starting Situation </a:t>
            </a:r>
          </a:p>
        </p:txBody>
      </p:sp>
      <p:sp>
        <p:nvSpPr>
          <p:cNvPr id="470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2296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Start with clusters of individual points and a proximity matrix</a:t>
            </a:r>
          </a:p>
          <a:p>
            <a:pPr lvl="1" eaLnBrk="1" hangingPunct="1">
              <a:defRPr/>
            </a:pPr>
            <a:endParaRPr lang="en-US" smtClean="0"/>
          </a:p>
        </p:txBody>
      </p:sp>
      <p:sp>
        <p:nvSpPr>
          <p:cNvPr id="115716" name="Oval 4"/>
          <p:cNvSpPr>
            <a:spLocks noChangeArrowheads="1"/>
          </p:cNvSpPr>
          <p:nvPr/>
        </p:nvSpPr>
        <p:spPr bwMode="auto">
          <a:xfrm>
            <a:off x="685800" y="44037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17" name="Oval 5"/>
          <p:cNvSpPr>
            <a:spLocks noChangeArrowheads="1"/>
          </p:cNvSpPr>
          <p:nvPr/>
        </p:nvSpPr>
        <p:spPr bwMode="auto">
          <a:xfrm>
            <a:off x="2743200" y="5470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18" name="Oval 6"/>
          <p:cNvSpPr>
            <a:spLocks noChangeArrowheads="1"/>
          </p:cNvSpPr>
          <p:nvPr/>
        </p:nvSpPr>
        <p:spPr bwMode="auto">
          <a:xfrm>
            <a:off x="1600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19" name="Oval 7"/>
          <p:cNvSpPr>
            <a:spLocks noChangeArrowheads="1"/>
          </p:cNvSpPr>
          <p:nvPr/>
        </p:nvSpPr>
        <p:spPr bwMode="auto">
          <a:xfrm>
            <a:off x="1447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0" name="Oval 8"/>
          <p:cNvSpPr>
            <a:spLocks noChangeArrowheads="1"/>
          </p:cNvSpPr>
          <p:nvPr/>
        </p:nvSpPr>
        <p:spPr bwMode="auto">
          <a:xfrm>
            <a:off x="3124200" y="3565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1" name="Oval 9"/>
          <p:cNvSpPr>
            <a:spLocks noChangeArrowheads="1"/>
          </p:cNvSpPr>
          <p:nvPr/>
        </p:nvSpPr>
        <p:spPr bwMode="auto">
          <a:xfrm>
            <a:off x="1600200" y="2955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2" name="Oval 10"/>
          <p:cNvSpPr>
            <a:spLocks noChangeArrowheads="1"/>
          </p:cNvSpPr>
          <p:nvPr/>
        </p:nvSpPr>
        <p:spPr bwMode="auto">
          <a:xfrm>
            <a:off x="457200" y="4708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3" name="Oval 11"/>
          <p:cNvSpPr>
            <a:spLocks noChangeArrowheads="1"/>
          </p:cNvSpPr>
          <p:nvPr/>
        </p:nvSpPr>
        <p:spPr bwMode="auto">
          <a:xfrm>
            <a:off x="1828800" y="5318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4" name="Oval 12"/>
          <p:cNvSpPr>
            <a:spLocks noChangeArrowheads="1"/>
          </p:cNvSpPr>
          <p:nvPr/>
        </p:nvSpPr>
        <p:spPr bwMode="auto">
          <a:xfrm>
            <a:off x="3124200" y="5089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5" name="Oval 13"/>
          <p:cNvSpPr>
            <a:spLocks noChangeArrowheads="1"/>
          </p:cNvSpPr>
          <p:nvPr/>
        </p:nvSpPr>
        <p:spPr bwMode="auto">
          <a:xfrm>
            <a:off x="2133600" y="30321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6" name="Oval 14"/>
          <p:cNvSpPr>
            <a:spLocks noChangeArrowheads="1"/>
          </p:cNvSpPr>
          <p:nvPr/>
        </p:nvSpPr>
        <p:spPr bwMode="auto">
          <a:xfrm>
            <a:off x="3200400" y="40989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5727" name="Oval 15"/>
          <p:cNvSpPr>
            <a:spLocks noChangeArrowheads="1"/>
          </p:cNvSpPr>
          <p:nvPr/>
        </p:nvSpPr>
        <p:spPr bwMode="auto">
          <a:xfrm>
            <a:off x="3733800" y="3184525"/>
            <a:ext cx="228600" cy="2286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pSp>
        <p:nvGrpSpPr>
          <p:cNvPr id="115728" name="Group 16"/>
          <p:cNvGrpSpPr>
            <a:grpSpLocks/>
          </p:cNvGrpSpPr>
          <p:nvPr/>
        </p:nvGrpSpPr>
        <p:grpSpPr bwMode="auto">
          <a:xfrm>
            <a:off x="5257800" y="1903413"/>
            <a:ext cx="3200400" cy="2789237"/>
            <a:chOff x="3456" y="1622"/>
            <a:chExt cx="2160" cy="2058"/>
          </a:xfrm>
        </p:grpSpPr>
        <p:sp>
          <p:nvSpPr>
            <p:cNvPr id="115731" name="Line 17"/>
            <p:cNvSpPr>
              <a:spLocks noChangeShapeType="1"/>
            </p:cNvSpPr>
            <p:nvPr/>
          </p:nvSpPr>
          <p:spPr bwMode="auto">
            <a:xfrm>
              <a:off x="369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2" name="Line 18"/>
            <p:cNvSpPr>
              <a:spLocks noChangeShapeType="1"/>
            </p:cNvSpPr>
            <p:nvPr/>
          </p:nvSpPr>
          <p:spPr bwMode="auto">
            <a:xfrm>
              <a:off x="3504" y="1814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3" name="Line 19"/>
            <p:cNvSpPr>
              <a:spLocks noChangeShapeType="1"/>
            </p:cNvSpPr>
            <p:nvPr/>
          </p:nvSpPr>
          <p:spPr bwMode="auto">
            <a:xfrm>
              <a:off x="4012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4" name="Line 20"/>
            <p:cNvSpPr>
              <a:spLocks noChangeShapeType="1"/>
            </p:cNvSpPr>
            <p:nvPr/>
          </p:nvSpPr>
          <p:spPr bwMode="auto">
            <a:xfrm>
              <a:off x="4329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5" name="Line 21"/>
            <p:cNvSpPr>
              <a:spLocks noChangeShapeType="1"/>
            </p:cNvSpPr>
            <p:nvPr/>
          </p:nvSpPr>
          <p:spPr bwMode="auto">
            <a:xfrm>
              <a:off x="4646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6" name="Line 22"/>
            <p:cNvSpPr>
              <a:spLocks noChangeShapeType="1"/>
            </p:cNvSpPr>
            <p:nvPr/>
          </p:nvSpPr>
          <p:spPr bwMode="auto">
            <a:xfrm>
              <a:off x="4963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7" name="Line 23"/>
            <p:cNvSpPr>
              <a:spLocks noChangeShapeType="1"/>
            </p:cNvSpPr>
            <p:nvPr/>
          </p:nvSpPr>
          <p:spPr bwMode="auto">
            <a:xfrm>
              <a:off x="5280" y="162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8" name="Line 24"/>
            <p:cNvSpPr>
              <a:spLocks noChangeShapeType="1"/>
            </p:cNvSpPr>
            <p:nvPr/>
          </p:nvSpPr>
          <p:spPr bwMode="auto">
            <a:xfrm>
              <a:off x="3504" y="2073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39" name="Line 25"/>
            <p:cNvSpPr>
              <a:spLocks noChangeShapeType="1"/>
            </p:cNvSpPr>
            <p:nvPr/>
          </p:nvSpPr>
          <p:spPr bwMode="auto">
            <a:xfrm>
              <a:off x="3504" y="23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0" name="Line 26"/>
            <p:cNvSpPr>
              <a:spLocks noChangeShapeType="1"/>
            </p:cNvSpPr>
            <p:nvPr/>
          </p:nvSpPr>
          <p:spPr bwMode="auto">
            <a:xfrm>
              <a:off x="3504" y="25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1" name="Line 27"/>
            <p:cNvSpPr>
              <a:spLocks noChangeShapeType="1"/>
            </p:cNvSpPr>
            <p:nvPr/>
          </p:nvSpPr>
          <p:spPr bwMode="auto">
            <a:xfrm>
              <a:off x="3504" y="28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2" name="Line 28"/>
            <p:cNvSpPr>
              <a:spLocks noChangeShapeType="1"/>
            </p:cNvSpPr>
            <p:nvPr/>
          </p:nvSpPr>
          <p:spPr bwMode="auto">
            <a:xfrm>
              <a:off x="3504" y="311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43" name="Text Box 29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15744" name="Text Box 30"/>
            <p:cNvSpPr txBox="1">
              <a:spLocks noChangeArrowheads="1"/>
            </p:cNvSpPr>
            <p:nvPr/>
          </p:nvSpPr>
          <p:spPr bwMode="auto">
            <a:xfrm>
              <a:off x="3456" y="239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15745" name="Text Box 31"/>
            <p:cNvSpPr txBox="1">
              <a:spLocks noChangeArrowheads="1"/>
            </p:cNvSpPr>
            <p:nvPr/>
          </p:nvSpPr>
          <p:spPr bwMode="auto">
            <a:xfrm>
              <a:off x="3456" y="2917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15746" name="Text Box 32"/>
            <p:cNvSpPr txBox="1">
              <a:spLocks noChangeArrowheads="1"/>
            </p:cNvSpPr>
            <p:nvPr/>
          </p:nvSpPr>
          <p:spPr bwMode="auto">
            <a:xfrm>
              <a:off x="3456" y="2679"/>
              <a:ext cx="336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15747" name="Text Box 33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15748" name="Text Box 34"/>
            <p:cNvSpPr txBox="1">
              <a:spLocks noChangeArrowheads="1"/>
            </p:cNvSpPr>
            <p:nvPr/>
          </p:nvSpPr>
          <p:spPr bwMode="auto">
            <a:xfrm>
              <a:off x="3744" y="1622"/>
              <a:ext cx="337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15749" name="Text Box 35"/>
            <p:cNvSpPr txBox="1">
              <a:spLocks noChangeArrowheads="1"/>
            </p:cNvSpPr>
            <p:nvPr/>
          </p:nvSpPr>
          <p:spPr bwMode="auto">
            <a:xfrm>
              <a:off x="4032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15750" name="Text Box 36"/>
            <p:cNvSpPr txBox="1">
              <a:spLocks noChangeArrowheads="1"/>
            </p:cNvSpPr>
            <p:nvPr/>
          </p:nvSpPr>
          <p:spPr bwMode="auto">
            <a:xfrm>
              <a:off x="4368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15751" name="Text Box 37"/>
            <p:cNvSpPr txBox="1">
              <a:spLocks noChangeArrowheads="1"/>
            </p:cNvSpPr>
            <p:nvPr/>
          </p:nvSpPr>
          <p:spPr bwMode="auto">
            <a:xfrm>
              <a:off x="470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15752" name="Text Box 38"/>
            <p:cNvSpPr txBox="1">
              <a:spLocks noChangeArrowheads="1"/>
            </p:cNvSpPr>
            <p:nvPr/>
          </p:nvSpPr>
          <p:spPr bwMode="auto">
            <a:xfrm>
              <a:off x="4944" y="1622"/>
              <a:ext cx="336" cy="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15753" name="Text Box 39"/>
            <p:cNvSpPr txBox="1">
              <a:spLocks noChangeArrowheads="1"/>
            </p:cNvSpPr>
            <p:nvPr/>
          </p:nvSpPr>
          <p:spPr bwMode="auto">
            <a:xfrm>
              <a:off x="5280" y="1622"/>
              <a:ext cx="336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15754" name="Text Box 40"/>
            <p:cNvSpPr txBox="1">
              <a:spLocks noChangeArrowheads="1"/>
            </p:cNvSpPr>
            <p:nvPr/>
          </p:nvSpPr>
          <p:spPr bwMode="auto">
            <a:xfrm>
              <a:off x="3504" y="3072"/>
              <a:ext cx="192" cy="6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15729" name="Text Box 41"/>
          <p:cNvSpPr txBox="1">
            <a:spLocks noChangeArrowheads="1"/>
          </p:cNvSpPr>
          <p:nvPr/>
        </p:nvSpPr>
        <p:spPr bwMode="auto">
          <a:xfrm>
            <a:off x="57912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graphicFrame>
        <p:nvGraphicFramePr>
          <p:cNvPr id="115730" name="Object 42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573588" y="5507038"/>
          <a:ext cx="401320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8" name="Visio" r:id="rId4" imgW="7949438" imgH="1399827" progId="Visio.Drawing.6">
                  <p:embed/>
                </p:oleObj>
              </mc:Choice>
              <mc:Fallback>
                <p:oleObj name="Visio" r:id="rId4" imgW="7949438" imgH="1399827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5507038"/>
                        <a:ext cx="4013200" cy="623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559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28600"/>
            <a:ext cx="8229600" cy="1371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Intermediate Situation</a:t>
            </a:r>
          </a:p>
        </p:txBody>
      </p:sp>
      <p:sp>
        <p:nvSpPr>
          <p:cNvPr id="472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66800"/>
            <a:ext cx="88392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smtClean="0"/>
              <a:t>After some merging steps, we have some clusters </a:t>
            </a:r>
          </a:p>
          <a:p>
            <a:pPr lvl="1" eaLnBrk="1" hangingPunct="1">
              <a:defRPr/>
            </a:pPr>
            <a:endParaRPr lang="en-US" sz="2400" smtClean="0"/>
          </a:p>
        </p:txBody>
      </p:sp>
      <p:sp>
        <p:nvSpPr>
          <p:cNvPr id="117764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7765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7766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7767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7768" name="Freeform 8"/>
          <p:cNvSpPr>
            <a:spLocks/>
          </p:cNvSpPr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7769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C1</a:t>
            </a:r>
          </a:p>
        </p:txBody>
      </p:sp>
      <p:sp>
        <p:nvSpPr>
          <p:cNvPr id="117770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C4</a:t>
            </a:r>
          </a:p>
        </p:txBody>
      </p:sp>
      <p:sp>
        <p:nvSpPr>
          <p:cNvPr id="117771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C2</a:t>
            </a:r>
          </a:p>
        </p:txBody>
      </p:sp>
      <p:sp>
        <p:nvSpPr>
          <p:cNvPr id="117772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C5</a:t>
            </a:r>
          </a:p>
        </p:txBody>
      </p:sp>
      <p:sp>
        <p:nvSpPr>
          <p:cNvPr id="117773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C3</a:t>
            </a:r>
          </a:p>
        </p:txBody>
      </p:sp>
      <p:grpSp>
        <p:nvGrpSpPr>
          <p:cNvPr id="117774" name="Group 14"/>
          <p:cNvGrpSpPr>
            <a:grpSpLocks/>
          </p:cNvGrpSpPr>
          <p:nvPr/>
        </p:nvGrpSpPr>
        <p:grpSpPr bwMode="auto">
          <a:xfrm>
            <a:off x="5486400" y="1660525"/>
            <a:ext cx="2895600" cy="2212975"/>
            <a:chOff x="3456" y="1440"/>
            <a:chExt cx="1872" cy="1503"/>
          </a:xfrm>
        </p:grpSpPr>
        <p:sp>
          <p:nvSpPr>
            <p:cNvPr id="117777" name="Text Box 1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C2</a:t>
              </a:r>
            </a:p>
          </p:txBody>
        </p:sp>
        <p:sp>
          <p:nvSpPr>
            <p:cNvPr id="117778" name="Text Box 16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C1</a:t>
              </a:r>
            </a:p>
          </p:txBody>
        </p:sp>
        <p:sp>
          <p:nvSpPr>
            <p:cNvPr id="117779" name="Line 17"/>
            <p:cNvSpPr>
              <a:spLocks noChangeShapeType="1"/>
            </p:cNvSpPr>
            <p:nvPr/>
          </p:nvSpPr>
          <p:spPr bwMode="auto">
            <a:xfrm>
              <a:off x="369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0" name="Line 18"/>
            <p:cNvSpPr>
              <a:spLocks noChangeShapeType="1"/>
            </p:cNvSpPr>
            <p:nvPr/>
          </p:nvSpPr>
          <p:spPr bwMode="auto">
            <a:xfrm>
              <a:off x="3504" y="163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1" name="Line 19"/>
            <p:cNvSpPr>
              <a:spLocks noChangeShapeType="1"/>
            </p:cNvSpPr>
            <p:nvPr/>
          </p:nvSpPr>
          <p:spPr bwMode="auto">
            <a:xfrm>
              <a:off x="528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2" name="Line 20"/>
            <p:cNvSpPr>
              <a:spLocks noChangeShapeType="1"/>
            </p:cNvSpPr>
            <p:nvPr/>
          </p:nvSpPr>
          <p:spPr bwMode="auto">
            <a:xfrm>
              <a:off x="3504" y="2928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83" name="Text Box 21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C1</a:t>
              </a:r>
            </a:p>
          </p:txBody>
        </p:sp>
        <p:sp>
          <p:nvSpPr>
            <p:cNvPr id="117784" name="Text Box 22"/>
            <p:cNvSpPr txBox="1">
              <a:spLocks noChangeArrowheads="1"/>
            </p:cNvSpPr>
            <p:nvPr/>
          </p:nvSpPr>
          <p:spPr bwMode="auto">
            <a:xfrm>
              <a:off x="3456" y="2207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C3</a:t>
              </a:r>
            </a:p>
          </p:txBody>
        </p:sp>
        <p:sp>
          <p:nvSpPr>
            <p:cNvPr id="117785" name="Text Box 23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C5</a:t>
              </a:r>
            </a:p>
          </p:txBody>
        </p:sp>
        <p:sp>
          <p:nvSpPr>
            <p:cNvPr id="117786" name="Text Box 24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C4</a:t>
              </a:r>
            </a:p>
          </p:txBody>
        </p:sp>
        <p:sp>
          <p:nvSpPr>
            <p:cNvPr id="117787" name="Text Box 25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C2</a:t>
              </a:r>
            </a:p>
          </p:txBody>
        </p:sp>
        <p:sp>
          <p:nvSpPr>
            <p:cNvPr id="117788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C3</a:t>
              </a:r>
            </a:p>
          </p:txBody>
        </p:sp>
        <p:sp>
          <p:nvSpPr>
            <p:cNvPr id="117789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C4</a:t>
              </a:r>
            </a:p>
          </p:txBody>
        </p:sp>
        <p:sp>
          <p:nvSpPr>
            <p:cNvPr id="117790" name="Text Box 28"/>
            <p:cNvSpPr txBox="1">
              <a:spLocks noChangeArrowheads="1"/>
            </p:cNvSpPr>
            <p:nvPr/>
          </p:nvSpPr>
          <p:spPr bwMode="auto">
            <a:xfrm>
              <a:off x="4992" y="1440"/>
              <a:ext cx="336" cy="2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C5</a:t>
              </a:r>
            </a:p>
          </p:txBody>
        </p:sp>
        <p:sp>
          <p:nvSpPr>
            <p:cNvPr id="117791" name="Line 29"/>
            <p:cNvSpPr>
              <a:spLocks noChangeShapeType="1"/>
            </p:cNvSpPr>
            <p:nvPr/>
          </p:nvSpPr>
          <p:spPr bwMode="auto">
            <a:xfrm>
              <a:off x="3504" y="187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2" name="Line 30"/>
            <p:cNvSpPr>
              <a:spLocks noChangeShapeType="1"/>
            </p:cNvSpPr>
            <p:nvPr/>
          </p:nvSpPr>
          <p:spPr bwMode="auto">
            <a:xfrm>
              <a:off x="3504" y="240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3" name="Line 31"/>
            <p:cNvSpPr>
              <a:spLocks noChangeShapeType="1"/>
            </p:cNvSpPr>
            <p:nvPr/>
          </p:nvSpPr>
          <p:spPr bwMode="auto">
            <a:xfrm>
              <a:off x="3504" y="216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4" name="Line 32"/>
            <p:cNvSpPr>
              <a:spLocks noChangeShapeType="1"/>
            </p:cNvSpPr>
            <p:nvPr/>
          </p:nvSpPr>
          <p:spPr bwMode="auto">
            <a:xfrm>
              <a:off x="3504" y="2640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5" name="Line 33"/>
            <p:cNvSpPr>
              <a:spLocks noChangeShapeType="1"/>
            </p:cNvSpPr>
            <p:nvPr/>
          </p:nvSpPr>
          <p:spPr bwMode="auto">
            <a:xfrm>
              <a:off x="403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6" name="Line 34"/>
            <p:cNvSpPr>
              <a:spLocks noChangeShapeType="1"/>
            </p:cNvSpPr>
            <p:nvPr/>
          </p:nvSpPr>
          <p:spPr bwMode="auto">
            <a:xfrm>
              <a:off x="4320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7" name="Line 35"/>
            <p:cNvSpPr>
              <a:spLocks noChangeShapeType="1"/>
            </p:cNvSpPr>
            <p:nvPr/>
          </p:nvSpPr>
          <p:spPr bwMode="auto">
            <a:xfrm>
              <a:off x="4656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798" name="Line 36"/>
            <p:cNvSpPr>
              <a:spLocks noChangeShapeType="1"/>
            </p:cNvSpPr>
            <p:nvPr/>
          </p:nvSpPr>
          <p:spPr bwMode="auto">
            <a:xfrm>
              <a:off x="4992" y="1440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7775" name="Text Box 37"/>
          <p:cNvSpPr txBox="1">
            <a:spLocks noChangeArrowheads="1"/>
          </p:cNvSpPr>
          <p:nvPr/>
        </p:nvSpPr>
        <p:spPr bwMode="auto">
          <a:xfrm>
            <a:off x="5791200" y="3870325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graphicFrame>
        <p:nvGraphicFramePr>
          <p:cNvPr id="117776" name="Object 38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721225"/>
          <a:ext cx="4040188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2" name="Visio" r:id="rId4" imgW="7591349" imgH="2996548" progId="Visio.Drawing.6">
                  <p:embed/>
                </p:oleObj>
              </mc:Choice>
              <mc:Fallback>
                <p:oleObj name="Visio" r:id="rId4" imgW="7591349" imgH="299654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721225"/>
                        <a:ext cx="4040188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578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Intermediate Situation</a:t>
            </a:r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smtClean="0"/>
              <a:t>We want to merge the two closest clusters (C2 and C5)  and update the proximity matrix. </a:t>
            </a:r>
          </a:p>
          <a:p>
            <a:pPr lvl="1" eaLnBrk="1" hangingPunct="1">
              <a:defRPr/>
            </a:pPr>
            <a:endParaRPr lang="en-US" sz="2400" smtClean="0"/>
          </a:p>
        </p:txBody>
      </p:sp>
      <p:sp>
        <p:nvSpPr>
          <p:cNvPr id="119812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13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14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15" name="Freeform 7"/>
          <p:cNvSpPr>
            <a:spLocks/>
          </p:cNvSpPr>
          <p:nvPr/>
        </p:nvSpPr>
        <p:spPr bwMode="auto">
          <a:xfrm>
            <a:off x="1295400" y="4953000"/>
            <a:ext cx="7747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16" name="Freeform 8"/>
          <p:cNvSpPr>
            <a:spLocks/>
          </p:cNvSpPr>
          <p:nvPr/>
        </p:nvSpPr>
        <p:spPr bwMode="auto">
          <a:xfrm rot="10800000">
            <a:off x="2590800" y="4876800"/>
            <a:ext cx="685800" cy="7620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9817" name="Text Box 9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C1</a:t>
            </a:r>
          </a:p>
        </p:txBody>
      </p:sp>
      <p:sp>
        <p:nvSpPr>
          <p:cNvPr id="119818" name="Text Box 10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C4</a:t>
            </a:r>
          </a:p>
        </p:txBody>
      </p:sp>
      <p:sp>
        <p:nvSpPr>
          <p:cNvPr id="119819" name="Text Box 11"/>
          <p:cNvSpPr txBox="1">
            <a:spLocks noChangeArrowheads="1"/>
          </p:cNvSpPr>
          <p:nvPr/>
        </p:nvSpPr>
        <p:spPr bwMode="auto">
          <a:xfrm>
            <a:off x="1524000" y="51816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C2</a:t>
            </a:r>
          </a:p>
        </p:txBody>
      </p:sp>
      <p:sp>
        <p:nvSpPr>
          <p:cNvPr id="119820" name="Text Box 12"/>
          <p:cNvSpPr txBox="1">
            <a:spLocks noChangeArrowheads="1"/>
          </p:cNvSpPr>
          <p:nvPr/>
        </p:nvSpPr>
        <p:spPr bwMode="auto">
          <a:xfrm>
            <a:off x="2743200" y="51054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C5</a:t>
            </a:r>
          </a:p>
        </p:txBody>
      </p:sp>
      <p:sp>
        <p:nvSpPr>
          <p:cNvPr id="119821" name="Text Box 13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C3</a:t>
            </a:r>
          </a:p>
        </p:txBody>
      </p:sp>
      <p:grpSp>
        <p:nvGrpSpPr>
          <p:cNvPr id="119822" name="Group 14"/>
          <p:cNvGrpSpPr>
            <a:grpSpLocks/>
          </p:cNvGrpSpPr>
          <p:nvPr/>
        </p:nvGrpSpPr>
        <p:grpSpPr bwMode="auto">
          <a:xfrm>
            <a:off x="5486400" y="1828800"/>
            <a:ext cx="2971800" cy="2193925"/>
            <a:chOff x="3456" y="1094"/>
            <a:chExt cx="1920" cy="1503"/>
          </a:xfrm>
        </p:grpSpPr>
        <p:sp>
          <p:nvSpPr>
            <p:cNvPr id="119826" name="Text Box 15"/>
            <p:cNvSpPr txBox="1">
              <a:spLocks noChangeArrowheads="1"/>
            </p:cNvSpPr>
            <p:nvPr/>
          </p:nvSpPr>
          <p:spPr bwMode="auto">
            <a:xfrm>
              <a:off x="403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C2</a:t>
              </a:r>
            </a:p>
          </p:txBody>
        </p:sp>
        <p:sp>
          <p:nvSpPr>
            <p:cNvPr id="119827" name="Text Box 16"/>
            <p:cNvSpPr txBox="1">
              <a:spLocks noChangeArrowheads="1"/>
            </p:cNvSpPr>
            <p:nvPr/>
          </p:nvSpPr>
          <p:spPr bwMode="auto">
            <a:xfrm>
              <a:off x="374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C1</a:t>
              </a:r>
            </a:p>
          </p:txBody>
        </p:sp>
        <p:sp>
          <p:nvSpPr>
            <p:cNvPr id="119828" name="Line 17"/>
            <p:cNvSpPr>
              <a:spLocks noChangeShapeType="1"/>
            </p:cNvSpPr>
            <p:nvPr/>
          </p:nvSpPr>
          <p:spPr bwMode="auto">
            <a:xfrm>
              <a:off x="369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29" name="Line 18"/>
            <p:cNvSpPr>
              <a:spLocks noChangeShapeType="1"/>
            </p:cNvSpPr>
            <p:nvPr/>
          </p:nvSpPr>
          <p:spPr bwMode="auto">
            <a:xfrm>
              <a:off x="3504" y="1286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30" name="Line 19"/>
            <p:cNvSpPr>
              <a:spLocks noChangeShapeType="1"/>
            </p:cNvSpPr>
            <p:nvPr/>
          </p:nvSpPr>
          <p:spPr bwMode="auto">
            <a:xfrm>
              <a:off x="528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31" name="Line 20"/>
            <p:cNvSpPr>
              <a:spLocks noChangeShapeType="1"/>
            </p:cNvSpPr>
            <p:nvPr/>
          </p:nvSpPr>
          <p:spPr bwMode="auto">
            <a:xfrm>
              <a:off x="3504" y="2582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32" name="Text Box 21"/>
            <p:cNvSpPr txBox="1">
              <a:spLocks noChangeArrowheads="1"/>
            </p:cNvSpPr>
            <p:nvPr/>
          </p:nvSpPr>
          <p:spPr bwMode="auto">
            <a:xfrm>
              <a:off x="3456" y="133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C1</a:t>
              </a:r>
            </a:p>
          </p:txBody>
        </p:sp>
        <p:sp>
          <p:nvSpPr>
            <p:cNvPr id="119833" name="Text Box 22"/>
            <p:cNvSpPr txBox="1">
              <a:spLocks noChangeArrowheads="1"/>
            </p:cNvSpPr>
            <p:nvPr/>
          </p:nvSpPr>
          <p:spPr bwMode="auto">
            <a:xfrm>
              <a:off x="3456" y="186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C3</a:t>
              </a:r>
            </a:p>
          </p:txBody>
        </p:sp>
        <p:sp>
          <p:nvSpPr>
            <p:cNvPr id="119834" name="Text Box 23"/>
            <p:cNvSpPr txBox="1">
              <a:spLocks noChangeArrowheads="1"/>
            </p:cNvSpPr>
            <p:nvPr/>
          </p:nvSpPr>
          <p:spPr bwMode="auto">
            <a:xfrm>
              <a:off x="3456" y="2389"/>
              <a:ext cx="336" cy="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C5</a:t>
              </a:r>
            </a:p>
          </p:txBody>
        </p:sp>
        <p:sp>
          <p:nvSpPr>
            <p:cNvPr id="119835" name="Text Box 24"/>
            <p:cNvSpPr txBox="1">
              <a:spLocks noChangeArrowheads="1"/>
            </p:cNvSpPr>
            <p:nvPr/>
          </p:nvSpPr>
          <p:spPr bwMode="auto">
            <a:xfrm>
              <a:off x="3456" y="2150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C4</a:t>
              </a:r>
            </a:p>
          </p:txBody>
        </p:sp>
        <p:sp>
          <p:nvSpPr>
            <p:cNvPr id="119836" name="Text Box 25"/>
            <p:cNvSpPr txBox="1">
              <a:spLocks noChangeArrowheads="1"/>
            </p:cNvSpPr>
            <p:nvPr/>
          </p:nvSpPr>
          <p:spPr bwMode="auto">
            <a:xfrm>
              <a:off x="3456" y="1622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C2</a:t>
              </a:r>
            </a:p>
          </p:txBody>
        </p:sp>
        <p:sp>
          <p:nvSpPr>
            <p:cNvPr id="119837" name="Text Box 26"/>
            <p:cNvSpPr txBox="1">
              <a:spLocks noChangeArrowheads="1"/>
            </p:cNvSpPr>
            <p:nvPr/>
          </p:nvSpPr>
          <p:spPr bwMode="auto">
            <a:xfrm>
              <a:off x="4368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C3</a:t>
              </a:r>
            </a:p>
          </p:txBody>
        </p:sp>
        <p:sp>
          <p:nvSpPr>
            <p:cNvPr id="119838" name="Text Box 27"/>
            <p:cNvSpPr txBox="1">
              <a:spLocks noChangeArrowheads="1"/>
            </p:cNvSpPr>
            <p:nvPr/>
          </p:nvSpPr>
          <p:spPr bwMode="auto">
            <a:xfrm>
              <a:off x="4704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C4</a:t>
              </a:r>
            </a:p>
          </p:txBody>
        </p:sp>
        <p:sp>
          <p:nvSpPr>
            <p:cNvPr id="119839" name="Text Box 28"/>
            <p:cNvSpPr txBox="1">
              <a:spLocks noChangeArrowheads="1"/>
            </p:cNvSpPr>
            <p:nvPr/>
          </p:nvSpPr>
          <p:spPr bwMode="auto">
            <a:xfrm>
              <a:off x="4992" y="1094"/>
              <a:ext cx="336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C5</a:t>
              </a:r>
            </a:p>
          </p:txBody>
        </p:sp>
        <p:sp>
          <p:nvSpPr>
            <p:cNvPr id="119840" name="Line 29"/>
            <p:cNvSpPr>
              <a:spLocks noChangeShapeType="1"/>
            </p:cNvSpPr>
            <p:nvPr/>
          </p:nvSpPr>
          <p:spPr bwMode="auto">
            <a:xfrm>
              <a:off x="3504" y="1526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1" name="Line 30"/>
            <p:cNvSpPr>
              <a:spLocks noChangeShapeType="1"/>
            </p:cNvSpPr>
            <p:nvPr/>
          </p:nvSpPr>
          <p:spPr bwMode="auto">
            <a:xfrm>
              <a:off x="3504" y="205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2" name="Line 31"/>
            <p:cNvSpPr>
              <a:spLocks noChangeShapeType="1"/>
            </p:cNvSpPr>
            <p:nvPr/>
          </p:nvSpPr>
          <p:spPr bwMode="auto">
            <a:xfrm>
              <a:off x="3504" y="181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3" name="Line 32"/>
            <p:cNvSpPr>
              <a:spLocks noChangeShapeType="1"/>
            </p:cNvSpPr>
            <p:nvPr/>
          </p:nvSpPr>
          <p:spPr bwMode="auto">
            <a:xfrm>
              <a:off x="3504" y="2294"/>
              <a:ext cx="17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4" name="Line 33"/>
            <p:cNvSpPr>
              <a:spLocks noChangeShapeType="1"/>
            </p:cNvSpPr>
            <p:nvPr/>
          </p:nvSpPr>
          <p:spPr bwMode="auto">
            <a:xfrm>
              <a:off x="403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5" name="Line 34"/>
            <p:cNvSpPr>
              <a:spLocks noChangeShapeType="1"/>
            </p:cNvSpPr>
            <p:nvPr/>
          </p:nvSpPr>
          <p:spPr bwMode="auto">
            <a:xfrm>
              <a:off x="4320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6" name="Line 35"/>
            <p:cNvSpPr>
              <a:spLocks noChangeShapeType="1"/>
            </p:cNvSpPr>
            <p:nvPr/>
          </p:nvSpPr>
          <p:spPr bwMode="auto">
            <a:xfrm>
              <a:off x="4656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7" name="Line 36"/>
            <p:cNvSpPr>
              <a:spLocks noChangeShapeType="1"/>
            </p:cNvSpPr>
            <p:nvPr/>
          </p:nvSpPr>
          <p:spPr bwMode="auto">
            <a:xfrm>
              <a:off x="4992" y="109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848" name="Rectangle 37" descr="Wide downward diagonal"/>
            <p:cNvSpPr>
              <a:spLocks noChangeArrowheads="1"/>
            </p:cNvSpPr>
            <p:nvPr/>
          </p:nvSpPr>
          <p:spPr bwMode="auto">
            <a:xfrm>
              <a:off x="3696" y="1526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9849" name="Rectangle 38" descr="Wide downward diagonal"/>
            <p:cNvSpPr>
              <a:spLocks noChangeArrowheads="1"/>
            </p:cNvSpPr>
            <p:nvPr/>
          </p:nvSpPr>
          <p:spPr bwMode="auto">
            <a:xfrm>
              <a:off x="3696" y="2294"/>
              <a:ext cx="1584" cy="288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9850" name="Rectangle 39" descr="Wide downward diagonal"/>
            <p:cNvSpPr>
              <a:spLocks noChangeArrowheads="1"/>
            </p:cNvSpPr>
            <p:nvPr/>
          </p:nvSpPr>
          <p:spPr bwMode="auto">
            <a:xfrm rot="5400000">
              <a:off x="3521" y="1783"/>
              <a:ext cx="1298" cy="299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19851" name="Rectangle 40" descr="Wide downward diagonal"/>
            <p:cNvSpPr>
              <a:spLocks noChangeArrowheads="1"/>
            </p:cNvSpPr>
            <p:nvPr/>
          </p:nvSpPr>
          <p:spPr bwMode="auto">
            <a:xfrm rot="5400000">
              <a:off x="4477" y="1778"/>
              <a:ext cx="1297" cy="311"/>
            </a:xfrm>
            <a:prstGeom prst="rect">
              <a:avLst/>
            </a:prstGeom>
            <a:pattFill prst="wdDnDiag">
              <a:fgClr>
                <a:schemeClr val="bg2"/>
              </a:fgClr>
              <a:bgClr>
                <a:srgbClr val="FFFFFF"/>
              </a:bgClr>
            </a:patt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19823" name="Oval 41"/>
          <p:cNvSpPr>
            <a:spLocks noChangeArrowheads="1"/>
          </p:cNvSpPr>
          <p:nvPr/>
        </p:nvSpPr>
        <p:spPr bwMode="auto">
          <a:xfrm>
            <a:off x="990600" y="4648200"/>
            <a:ext cx="2514600" cy="1295400"/>
          </a:xfrm>
          <a:prstGeom prst="ellipse">
            <a:avLst/>
          </a:prstGeom>
          <a:noFill/>
          <a:ln w="254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19824" name="Text Box 42"/>
          <p:cNvSpPr txBox="1">
            <a:spLocks noChangeArrowheads="1"/>
          </p:cNvSpPr>
          <p:nvPr/>
        </p:nvSpPr>
        <p:spPr bwMode="auto">
          <a:xfrm>
            <a:off x="5791200" y="40386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graphicFrame>
        <p:nvGraphicFramePr>
          <p:cNvPr id="119825" name="Object 43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800600"/>
          <a:ext cx="4083050" cy="184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6" name="Visio" r:id="rId4" imgW="7591349" imgH="3431733" progId="Visio.Drawing.6">
                  <p:embed/>
                </p:oleObj>
              </mc:Choice>
              <mc:Fallback>
                <p:oleObj name="Visio" r:id="rId4" imgW="7591349" imgH="3431733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800600"/>
                        <a:ext cx="4083050" cy="184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4391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1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After Merging</a:t>
            </a:r>
          </a:p>
        </p:txBody>
      </p:sp>
      <p:sp>
        <p:nvSpPr>
          <p:cNvPr id="476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43000"/>
            <a:ext cx="89154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smtClean="0"/>
              <a:t>The question is “How do we update the proximity matrix?” </a:t>
            </a:r>
          </a:p>
          <a:p>
            <a:pPr lvl="1" eaLnBrk="1" hangingPunct="1">
              <a:defRPr/>
            </a:pPr>
            <a:endParaRPr lang="en-US" sz="2400" smtClean="0"/>
          </a:p>
        </p:txBody>
      </p:sp>
      <p:sp>
        <p:nvSpPr>
          <p:cNvPr id="121860" name="Freeform 4"/>
          <p:cNvSpPr>
            <a:spLocks/>
          </p:cNvSpPr>
          <p:nvPr/>
        </p:nvSpPr>
        <p:spPr bwMode="auto">
          <a:xfrm>
            <a:off x="609600" y="3886200"/>
            <a:ext cx="5461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61" name="Freeform 5"/>
          <p:cNvSpPr>
            <a:spLocks/>
          </p:cNvSpPr>
          <p:nvPr/>
        </p:nvSpPr>
        <p:spPr bwMode="auto">
          <a:xfrm rot="-5400000">
            <a:off x="1600200" y="2667000"/>
            <a:ext cx="762000" cy="914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62" name="Freeform 6"/>
          <p:cNvSpPr>
            <a:spLocks/>
          </p:cNvSpPr>
          <p:nvPr/>
        </p:nvSpPr>
        <p:spPr bwMode="auto">
          <a:xfrm rot="10800000">
            <a:off x="3352800" y="3048000"/>
            <a:ext cx="685800" cy="7620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63" name="Freeform 7"/>
          <p:cNvSpPr>
            <a:spLocks/>
          </p:cNvSpPr>
          <p:nvPr/>
        </p:nvSpPr>
        <p:spPr bwMode="auto">
          <a:xfrm>
            <a:off x="1295400" y="4953000"/>
            <a:ext cx="2362200" cy="7731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solidFill>
            <a:schemeClr val="bg2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1864" name="Text Box 8"/>
          <p:cNvSpPr txBox="1">
            <a:spLocks noChangeArrowheads="1"/>
          </p:cNvSpPr>
          <p:nvPr/>
        </p:nvSpPr>
        <p:spPr bwMode="auto">
          <a:xfrm>
            <a:off x="685800" y="41910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C1</a:t>
            </a:r>
          </a:p>
        </p:txBody>
      </p:sp>
      <p:sp>
        <p:nvSpPr>
          <p:cNvPr id="121865" name="Text Box 9"/>
          <p:cNvSpPr txBox="1">
            <a:spLocks noChangeArrowheads="1"/>
          </p:cNvSpPr>
          <p:nvPr/>
        </p:nvSpPr>
        <p:spPr bwMode="auto">
          <a:xfrm>
            <a:off x="3429000" y="3352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C4</a:t>
            </a:r>
          </a:p>
        </p:txBody>
      </p:sp>
      <p:sp>
        <p:nvSpPr>
          <p:cNvPr id="121866" name="Text Box 10"/>
          <p:cNvSpPr txBox="1">
            <a:spLocks noChangeArrowheads="1"/>
          </p:cNvSpPr>
          <p:nvPr/>
        </p:nvSpPr>
        <p:spPr bwMode="auto">
          <a:xfrm>
            <a:off x="1905000" y="51816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C2 </a:t>
            </a:r>
            <a:r>
              <a:rPr lang="en-US" altLang="en-US" sz="1400">
                <a:latin typeface="Arial" panose="020B0604020202020204" pitchFamily="34" charset="0"/>
              </a:rPr>
              <a:t>U</a:t>
            </a:r>
            <a:r>
              <a:rPr lang="en-US" altLang="en-US" sz="1400" b="1">
                <a:latin typeface="Arial" panose="020B0604020202020204" pitchFamily="34" charset="0"/>
              </a:rPr>
              <a:t> C5</a:t>
            </a:r>
          </a:p>
        </p:txBody>
      </p:sp>
      <p:sp>
        <p:nvSpPr>
          <p:cNvPr id="121867" name="Text Box 11"/>
          <p:cNvSpPr txBox="1">
            <a:spLocks noChangeArrowheads="1"/>
          </p:cNvSpPr>
          <p:nvPr/>
        </p:nvSpPr>
        <p:spPr bwMode="auto">
          <a:xfrm>
            <a:off x="1752600" y="2971800"/>
            <a:ext cx="45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C3</a:t>
            </a:r>
          </a:p>
        </p:txBody>
      </p:sp>
      <p:sp>
        <p:nvSpPr>
          <p:cNvPr id="121868" name="Text Box 12"/>
          <p:cNvSpPr txBox="1">
            <a:spLocks noChangeArrowheads="1"/>
          </p:cNvSpPr>
          <p:nvPr/>
        </p:nvSpPr>
        <p:spPr bwMode="auto">
          <a:xfrm>
            <a:off x="6172200" y="27432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?        ?        ?        ?    	   </a:t>
            </a:r>
          </a:p>
        </p:txBody>
      </p:sp>
      <p:sp>
        <p:nvSpPr>
          <p:cNvPr id="121869" name="Text Box 13"/>
          <p:cNvSpPr txBox="1">
            <a:spLocks noChangeArrowheads="1"/>
          </p:cNvSpPr>
          <p:nvPr/>
        </p:nvSpPr>
        <p:spPr bwMode="auto">
          <a:xfrm>
            <a:off x="6651625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121870" name="Text Box 14"/>
          <p:cNvSpPr txBox="1">
            <a:spLocks noChangeArrowheads="1"/>
          </p:cNvSpPr>
          <p:nvPr/>
        </p:nvSpPr>
        <p:spPr bwMode="auto">
          <a:xfrm>
            <a:off x="6651625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121871" name="Text Box 15"/>
          <p:cNvSpPr txBox="1">
            <a:spLocks noChangeArrowheads="1"/>
          </p:cNvSpPr>
          <p:nvPr/>
        </p:nvSpPr>
        <p:spPr bwMode="auto">
          <a:xfrm>
            <a:off x="6651625" y="3581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121872" name="Text Box 16"/>
          <p:cNvSpPr txBox="1">
            <a:spLocks noChangeArrowheads="1"/>
          </p:cNvSpPr>
          <p:nvPr/>
        </p:nvSpPr>
        <p:spPr bwMode="auto">
          <a:xfrm>
            <a:off x="6629400" y="1555750"/>
            <a:ext cx="5334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C2 </a:t>
            </a:r>
            <a:r>
              <a:rPr lang="en-US" altLang="en-US" sz="1400">
                <a:latin typeface="Arial" panose="020B0604020202020204" pitchFamily="34" charset="0"/>
              </a:rPr>
              <a:t>U </a:t>
            </a:r>
            <a:r>
              <a:rPr lang="en-US" altLang="en-US" sz="1400" b="1">
                <a:latin typeface="Arial" panose="020B0604020202020204" pitchFamily="34" charset="0"/>
              </a:rPr>
              <a:t>C5</a:t>
            </a:r>
          </a:p>
        </p:txBody>
      </p:sp>
      <p:sp>
        <p:nvSpPr>
          <p:cNvPr id="121873" name="Text Box 17"/>
          <p:cNvSpPr txBox="1">
            <a:spLocks noChangeArrowheads="1"/>
          </p:cNvSpPr>
          <p:nvPr/>
        </p:nvSpPr>
        <p:spPr bwMode="auto">
          <a:xfrm>
            <a:off x="6096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C1</a:t>
            </a:r>
          </a:p>
        </p:txBody>
      </p:sp>
      <p:sp>
        <p:nvSpPr>
          <p:cNvPr id="121874" name="Line 18"/>
          <p:cNvSpPr>
            <a:spLocks noChangeShapeType="1"/>
          </p:cNvSpPr>
          <p:nvPr/>
        </p:nvSpPr>
        <p:spPr bwMode="auto">
          <a:xfrm>
            <a:off x="6019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75" name="Line 19"/>
          <p:cNvSpPr>
            <a:spLocks noChangeShapeType="1"/>
          </p:cNvSpPr>
          <p:nvPr/>
        </p:nvSpPr>
        <p:spPr bwMode="auto">
          <a:xfrm>
            <a:off x="5715000" y="2286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76" name="Text Box 20"/>
          <p:cNvSpPr txBox="1">
            <a:spLocks noChangeArrowheads="1"/>
          </p:cNvSpPr>
          <p:nvPr/>
        </p:nvSpPr>
        <p:spPr bwMode="auto">
          <a:xfrm>
            <a:off x="5638800" y="2362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C1</a:t>
            </a:r>
          </a:p>
        </p:txBody>
      </p:sp>
      <p:sp>
        <p:nvSpPr>
          <p:cNvPr id="121877" name="Text Box 21"/>
          <p:cNvSpPr txBox="1">
            <a:spLocks noChangeArrowheads="1"/>
          </p:cNvSpPr>
          <p:nvPr/>
        </p:nvSpPr>
        <p:spPr bwMode="auto">
          <a:xfrm>
            <a:off x="5638800" y="3200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C3</a:t>
            </a:r>
          </a:p>
        </p:txBody>
      </p:sp>
      <p:sp>
        <p:nvSpPr>
          <p:cNvPr id="121878" name="Text Box 22"/>
          <p:cNvSpPr txBox="1">
            <a:spLocks noChangeArrowheads="1"/>
          </p:cNvSpPr>
          <p:nvPr/>
        </p:nvSpPr>
        <p:spPr bwMode="auto">
          <a:xfrm>
            <a:off x="5638800" y="36576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C4</a:t>
            </a:r>
          </a:p>
        </p:txBody>
      </p:sp>
      <p:sp>
        <p:nvSpPr>
          <p:cNvPr id="121879" name="Text Box 23"/>
          <p:cNvSpPr txBox="1">
            <a:spLocks noChangeArrowheads="1"/>
          </p:cNvSpPr>
          <p:nvPr/>
        </p:nvSpPr>
        <p:spPr bwMode="auto">
          <a:xfrm>
            <a:off x="5181600" y="2819400"/>
            <a:ext cx="990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C2 </a:t>
            </a:r>
            <a:r>
              <a:rPr lang="en-US" altLang="en-US" sz="1400">
                <a:latin typeface="Arial" panose="020B0604020202020204" pitchFamily="34" charset="0"/>
              </a:rPr>
              <a:t>U </a:t>
            </a:r>
            <a:r>
              <a:rPr lang="en-US" altLang="en-US" sz="1400" b="1">
                <a:latin typeface="Arial" panose="020B0604020202020204" pitchFamily="34" charset="0"/>
              </a:rPr>
              <a:t>C5</a:t>
            </a:r>
          </a:p>
        </p:txBody>
      </p:sp>
      <p:sp>
        <p:nvSpPr>
          <p:cNvPr id="121880" name="Text Box 24"/>
          <p:cNvSpPr txBox="1">
            <a:spLocks noChangeArrowheads="1"/>
          </p:cNvSpPr>
          <p:nvPr/>
        </p:nvSpPr>
        <p:spPr bwMode="auto">
          <a:xfrm>
            <a:off x="70866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C3</a:t>
            </a:r>
          </a:p>
        </p:txBody>
      </p:sp>
      <p:sp>
        <p:nvSpPr>
          <p:cNvPr id="121881" name="Text Box 25"/>
          <p:cNvSpPr txBox="1">
            <a:spLocks noChangeArrowheads="1"/>
          </p:cNvSpPr>
          <p:nvPr/>
        </p:nvSpPr>
        <p:spPr bwMode="auto">
          <a:xfrm>
            <a:off x="7620000" y="19812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C4</a:t>
            </a:r>
          </a:p>
        </p:txBody>
      </p:sp>
      <p:sp>
        <p:nvSpPr>
          <p:cNvPr id="121882" name="Line 26"/>
          <p:cNvSpPr>
            <a:spLocks noChangeShapeType="1"/>
          </p:cNvSpPr>
          <p:nvPr/>
        </p:nvSpPr>
        <p:spPr bwMode="auto">
          <a:xfrm>
            <a:off x="5715000" y="26670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3" name="Line 27"/>
          <p:cNvSpPr>
            <a:spLocks noChangeShapeType="1"/>
          </p:cNvSpPr>
          <p:nvPr/>
        </p:nvSpPr>
        <p:spPr bwMode="auto">
          <a:xfrm>
            <a:off x="5715000" y="3505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4" name="Line 28"/>
          <p:cNvSpPr>
            <a:spLocks noChangeShapeType="1"/>
          </p:cNvSpPr>
          <p:nvPr/>
        </p:nvSpPr>
        <p:spPr bwMode="auto">
          <a:xfrm>
            <a:off x="5715000" y="3124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5" name="Line 29"/>
          <p:cNvSpPr>
            <a:spLocks noChangeShapeType="1"/>
          </p:cNvSpPr>
          <p:nvPr/>
        </p:nvSpPr>
        <p:spPr bwMode="auto">
          <a:xfrm>
            <a:off x="5715000" y="38862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6" name="Line 30"/>
          <p:cNvSpPr>
            <a:spLocks noChangeShapeType="1"/>
          </p:cNvSpPr>
          <p:nvPr/>
        </p:nvSpPr>
        <p:spPr bwMode="auto">
          <a:xfrm>
            <a:off x="6553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7" name="Line 31"/>
          <p:cNvSpPr>
            <a:spLocks noChangeShapeType="1"/>
          </p:cNvSpPr>
          <p:nvPr/>
        </p:nvSpPr>
        <p:spPr bwMode="auto">
          <a:xfrm>
            <a:off x="70104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8" name="Line 32"/>
          <p:cNvSpPr>
            <a:spLocks noChangeShapeType="1"/>
          </p:cNvSpPr>
          <p:nvPr/>
        </p:nvSpPr>
        <p:spPr bwMode="auto">
          <a:xfrm>
            <a:off x="75438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89" name="Line 33"/>
          <p:cNvSpPr>
            <a:spLocks noChangeShapeType="1"/>
          </p:cNvSpPr>
          <p:nvPr/>
        </p:nvSpPr>
        <p:spPr bwMode="auto">
          <a:xfrm>
            <a:off x="8077200" y="1981200"/>
            <a:ext cx="0" cy="1905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1890" name="Text Box 34"/>
          <p:cNvSpPr txBox="1">
            <a:spLocks noChangeArrowheads="1"/>
          </p:cNvSpPr>
          <p:nvPr/>
        </p:nvSpPr>
        <p:spPr bwMode="auto">
          <a:xfrm>
            <a:off x="5791200" y="3962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graphicFrame>
        <p:nvGraphicFramePr>
          <p:cNvPr id="121891" name="Object 35"/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4648200" y="4435475"/>
          <a:ext cx="4083050" cy="196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0" name="Visio" r:id="rId4" imgW="7591349" imgH="3654718" progId="Visio.Drawing.6">
                  <p:embed/>
                </p:oleObj>
              </mc:Choice>
              <mc:Fallback>
                <p:oleObj name="Visio" r:id="rId4" imgW="7591349" imgH="3654718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435475"/>
                        <a:ext cx="4083050" cy="196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054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21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How to Define Inter-Cluster Similarity</a:t>
            </a:r>
          </a:p>
        </p:txBody>
      </p:sp>
      <p:sp>
        <p:nvSpPr>
          <p:cNvPr id="478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651125"/>
            <a:ext cx="4749800" cy="2889250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</p:txBody>
      </p:sp>
      <p:grpSp>
        <p:nvGrpSpPr>
          <p:cNvPr id="123908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123923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4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5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6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7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8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9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0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1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2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3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4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5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3936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3937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3938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3939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3940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3941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3942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3943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3944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3945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23946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23909" name="Line 29"/>
          <p:cNvSpPr>
            <a:spLocks noChangeShapeType="1"/>
          </p:cNvSpPr>
          <p:nvPr/>
        </p:nvSpPr>
        <p:spPr bwMode="auto">
          <a:xfrm>
            <a:off x="2209800" y="20574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0" name="Text Box 30"/>
          <p:cNvSpPr txBox="1">
            <a:spLocks noChangeArrowheads="1"/>
          </p:cNvSpPr>
          <p:nvPr/>
        </p:nvSpPr>
        <p:spPr bwMode="auto">
          <a:xfrm>
            <a:off x="2209800" y="1600200"/>
            <a:ext cx="1447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Similarity?</a:t>
            </a:r>
          </a:p>
        </p:txBody>
      </p:sp>
      <p:sp>
        <p:nvSpPr>
          <p:cNvPr id="478239" name="Rectangle 3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MAX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Group Average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Distance Between Centroids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Other methods driven by an objective function</a:t>
            </a:r>
          </a:p>
          <a:p>
            <a:pPr marL="742950" lvl="1" indent="-285750" eaLnBrk="1" hangingPunct="1">
              <a:spcBef>
                <a:spcPts val="200"/>
              </a:spcBef>
              <a:spcAft>
                <a:spcPts val="200"/>
              </a:spcAft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Ward’s Method uses squared error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3912" name="Freeform 32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3" name="Oval 33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14" name="Oval 34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15" name="Oval 35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16" name="Oval 36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17" name="Freeform 37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8" name="Oval 38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19" name="Oval 39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20" name="Oval 40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21" name="Oval 41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3922" name="Text Box 42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</p:spTree>
    <p:extLst>
      <p:ext uri="{BB962C8B-B14F-4D97-AF65-F5344CB8AC3E}">
        <p14:creationId xmlns:p14="http://schemas.microsoft.com/office/powerpoint/2010/main" val="4257409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2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How to Define Inter-Cluster Similarity</a:t>
            </a:r>
          </a:p>
        </p:txBody>
      </p:sp>
      <p:sp>
        <p:nvSpPr>
          <p:cNvPr id="4802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651125"/>
            <a:ext cx="4749800" cy="2889250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</p:txBody>
      </p:sp>
      <p:grpSp>
        <p:nvGrpSpPr>
          <p:cNvPr id="125956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125970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1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2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3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4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5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6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7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8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79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80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81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982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5983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5984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5985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5986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5987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5988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5989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5990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5991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5992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25993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25957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58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59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0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1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2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3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4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5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6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5967" name="Line 39"/>
          <p:cNvSpPr>
            <a:spLocks noChangeShapeType="1"/>
          </p:cNvSpPr>
          <p:nvPr/>
        </p:nvSpPr>
        <p:spPr bwMode="auto">
          <a:xfrm flipV="1">
            <a:off x="1981200" y="1600200"/>
            <a:ext cx="1524000" cy="1524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5968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sp>
        <p:nvSpPr>
          <p:cNvPr id="480297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MAX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Group Average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Distance Between Centroids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Other methods driven by an objective function</a:t>
            </a:r>
          </a:p>
          <a:p>
            <a:pPr marL="742950" lvl="1" indent="-285750" eaLnBrk="1" hangingPunct="1">
              <a:spcBef>
                <a:spcPts val="200"/>
              </a:spcBef>
              <a:spcAft>
                <a:spcPts val="200"/>
              </a:spcAft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Ward’s Method uses squared error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824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30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How to Define Inter-Cluster Similarity</a:t>
            </a:r>
          </a:p>
        </p:txBody>
      </p:sp>
      <p:sp>
        <p:nvSpPr>
          <p:cNvPr id="482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651125"/>
            <a:ext cx="4749800" cy="2889250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</p:txBody>
      </p:sp>
      <p:grpSp>
        <p:nvGrpSpPr>
          <p:cNvPr id="128004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128018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19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0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1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2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3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4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5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6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7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8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29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030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8031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8032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8033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8034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8035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28036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28037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28038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28039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28040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28041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28005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06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07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08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09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10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1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12" name="Oval 36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13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14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28015" name="Line 39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016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sp>
        <p:nvSpPr>
          <p:cNvPr id="482345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MAX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Group Average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Distance Between Centroids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Other methods driven by an objective function</a:t>
            </a:r>
          </a:p>
          <a:p>
            <a:pPr marL="742950" lvl="1" indent="-285750" eaLnBrk="1" hangingPunct="1">
              <a:spcBef>
                <a:spcPts val="200"/>
              </a:spcBef>
              <a:spcAft>
                <a:spcPts val="200"/>
              </a:spcAft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Ward’s Method uses squared error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1411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How to Define Inter-Cluster Similarity</a:t>
            </a: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651125"/>
            <a:ext cx="4749800" cy="2889250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</p:txBody>
      </p:sp>
      <p:grpSp>
        <p:nvGrpSpPr>
          <p:cNvPr id="130052" name="Group 4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130081" name="Line 5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2" name="Line 6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3" name="Line 7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4" name="Line 8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5" name="Line 9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6" name="Line 10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7" name="Line 11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8" name="Line 12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89" name="Line 13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0" name="Line 14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1" name="Line 15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2" name="Line 16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093" name="Text Box 17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30094" name="Text Box 18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30095" name="Text Box 19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30096" name="Text Box 20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30097" name="Text Box 21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30098" name="Text Box 22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30099" name="Text Box 23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30100" name="Text Box 24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30101" name="Text Box 25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30102" name="Text Box 26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30103" name="Text Box 27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30104" name="Text Box 28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30053" name="Freeform 29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4" name="Oval 30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55" name="Oval 31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56" name="Oval 32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57" name="Oval 33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58" name="Freeform 34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59" name="Oval 35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60" name="Oval 36"/>
          <p:cNvSpPr>
            <a:spLocks noChangeArrowheads="1"/>
          </p:cNvSpPr>
          <p:nvPr/>
        </p:nvSpPr>
        <p:spPr bwMode="auto">
          <a:xfrm rot="5400000" flipV="1">
            <a:off x="3516313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61" name="Oval 37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62" name="Oval 38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0063" name="Line 39"/>
          <p:cNvSpPr>
            <a:spLocks noChangeShapeType="1"/>
          </p:cNvSpPr>
          <p:nvPr/>
        </p:nvSpPr>
        <p:spPr bwMode="auto">
          <a:xfrm>
            <a:off x="1828800" y="2209800"/>
            <a:ext cx="2209800" cy="76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4" name="Line 40"/>
          <p:cNvSpPr>
            <a:spLocks noChangeShapeType="1"/>
          </p:cNvSpPr>
          <p:nvPr/>
        </p:nvSpPr>
        <p:spPr bwMode="auto">
          <a:xfrm flipV="1">
            <a:off x="1828800" y="1676400"/>
            <a:ext cx="1676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5" name="Line 41"/>
          <p:cNvSpPr>
            <a:spLocks noChangeShapeType="1"/>
          </p:cNvSpPr>
          <p:nvPr/>
        </p:nvSpPr>
        <p:spPr bwMode="auto">
          <a:xfrm flipV="1">
            <a:off x="1828800" y="1295400"/>
            <a:ext cx="2209800" cy="914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6" name="Line 42"/>
          <p:cNvSpPr>
            <a:spLocks noChangeShapeType="1"/>
          </p:cNvSpPr>
          <p:nvPr/>
        </p:nvSpPr>
        <p:spPr bwMode="auto">
          <a:xfrm flipV="1">
            <a:off x="1828800" y="1676400"/>
            <a:ext cx="30480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7" name="Line 43"/>
          <p:cNvSpPr>
            <a:spLocks noChangeShapeType="1"/>
          </p:cNvSpPr>
          <p:nvPr/>
        </p:nvSpPr>
        <p:spPr bwMode="auto">
          <a:xfrm>
            <a:off x="1981200" y="1828800"/>
            <a:ext cx="2057400" cy="457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8" name="Line 44"/>
          <p:cNvSpPr>
            <a:spLocks noChangeShapeType="1"/>
          </p:cNvSpPr>
          <p:nvPr/>
        </p:nvSpPr>
        <p:spPr bwMode="auto">
          <a:xfrm flipV="1">
            <a:off x="1981200" y="1676400"/>
            <a:ext cx="1524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69" name="Line 45"/>
          <p:cNvSpPr>
            <a:spLocks noChangeShapeType="1"/>
          </p:cNvSpPr>
          <p:nvPr/>
        </p:nvSpPr>
        <p:spPr bwMode="auto">
          <a:xfrm flipV="1">
            <a:off x="1981200" y="1295400"/>
            <a:ext cx="2057400" cy="533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0" name="Line 46"/>
          <p:cNvSpPr>
            <a:spLocks noChangeShapeType="1"/>
          </p:cNvSpPr>
          <p:nvPr/>
        </p:nvSpPr>
        <p:spPr bwMode="auto">
          <a:xfrm flipV="1">
            <a:off x="1981200" y="1676400"/>
            <a:ext cx="28956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1" name="Line 47"/>
          <p:cNvSpPr>
            <a:spLocks noChangeShapeType="1"/>
          </p:cNvSpPr>
          <p:nvPr/>
        </p:nvSpPr>
        <p:spPr bwMode="auto">
          <a:xfrm>
            <a:off x="914400" y="1905000"/>
            <a:ext cx="3124200" cy="3810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2" name="Line 48"/>
          <p:cNvSpPr>
            <a:spLocks noChangeShapeType="1"/>
          </p:cNvSpPr>
          <p:nvPr/>
        </p:nvSpPr>
        <p:spPr bwMode="auto">
          <a:xfrm flipV="1">
            <a:off x="914400" y="1676400"/>
            <a:ext cx="39624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3" name="Line 49"/>
          <p:cNvSpPr>
            <a:spLocks noChangeShapeType="1"/>
          </p:cNvSpPr>
          <p:nvPr/>
        </p:nvSpPr>
        <p:spPr bwMode="auto">
          <a:xfrm flipV="1">
            <a:off x="914400" y="1295400"/>
            <a:ext cx="3124200" cy="609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4" name="Line 50"/>
          <p:cNvSpPr>
            <a:spLocks noChangeShapeType="1"/>
          </p:cNvSpPr>
          <p:nvPr/>
        </p:nvSpPr>
        <p:spPr bwMode="auto">
          <a:xfrm flipV="1">
            <a:off x="914400" y="1676400"/>
            <a:ext cx="25908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5" name="Line 51"/>
          <p:cNvSpPr>
            <a:spLocks noChangeShapeType="1"/>
          </p:cNvSpPr>
          <p:nvPr/>
        </p:nvSpPr>
        <p:spPr bwMode="auto">
          <a:xfrm>
            <a:off x="1752600" y="1447800"/>
            <a:ext cx="2286000" cy="8382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6" name="Line 52"/>
          <p:cNvSpPr>
            <a:spLocks noChangeShapeType="1"/>
          </p:cNvSpPr>
          <p:nvPr/>
        </p:nvSpPr>
        <p:spPr bwMode="auto">
          <a:xfrm>
            <a:off x="1752600" y="1447800"/>
            <a:ext cx="17526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7" name="Line 53"/>
          <p:cNvSpPr>
            <a:spLocks noChangeShapeType="1"/>
          </p:cNvSpPr>
          <p:nvPr/>
        </p:nvSpPr>
        <p:spPr bwMode="auto">
          <a:xfrm flipV="1">
            <a:off x="1752600" y="1295400"/>
            <a:ext cx="2286000" cy="1524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8" name="Line 54"/>
          <p:cNvSpPr>
            <a:spLocks noChangeShapeType="1"/>
          </p:cNvSpPr>
          <p:nvPr/>
        </p:nvSpPr>
        <p:spPr bwMode="auto">
          <a:xfrm>
            <a:off x="1752600" y="1447800"/>
            <a:ext cx="3124200" cy="228600"/>
          </a:xfrm>
          <a:prstGeom prst="line">
            <a:avLst/>
          </a:prstGeom>
          <a:noFill/>
          <a:ln w="6350">
            <a:solidFill>
              <a:srgbClr val="FF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0079" name="Text Box 55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sp>
        <p:nvSpPr>
          <p:cNvPr id="484408" name="Rectangle 56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MAX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Group Average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Distance Between Centroids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Other methods driven by an objective function</a:t>
            </a:r>
          </a:p>
          <a:p>
            <a:pPr marL="742950" lvl="1" indent="-285750" eaLnBrk="1" hangingPunct="1">
              <a:spcBef>
                <a:spcPts val="200"/>
              </a:spcBef>
              <a:spcAft>
                <a:spcPts val="200"/>
              </a:spcAft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Ward’s Method uses squared error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7055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Line 2"/>
          <p:cNvSpPr>
            <a:spLocks noChangeShapeType="1"/>
          </p:cNvSpPr>
          <p:nvPr/>
        </p:nvSpPr>
        <p:spPr bwMode="auto">
          <a:xfrm flipV="1">
            <a:off x="1371600" y="1981200"/>
            <a:ext cx="289560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099" name="Freeform 3" descr="5%"/>
          <p:cNvSpPr>
            <a:spLocks/>
          </p:cNvSpPr>
          <p:nvPr/>
        </p:nvSpPr>
        <p:spPr bwMode="auto">
          <a:xfrm rot="-5400000">
            <a:off x="462757" y="1289843"/>
            <a:ext cx="1828800" cy="1382713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6404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800" smtClean="0"/>
              <a:t>How to Define Inter-Cluster Similarity</a:t>
            </a:r>
          </a:p>
        </p:txBody>
      </p:sp>
      <p:sp>
        <p:nvSpPr>
          <p:cNvPr id="48640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2625" y="2651125"/>
            <a:ext cx="4749800" cy="2889250"/>
          </a:xfrm>
        </p:spPr>
        <p:txBody>
          <a:bodyPr/>
          <a:lstStyle/>
          <a:p>
            <a:pPr marL="990600" lvl="1" indent="-53340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sz="1200" smtClean="0"/>
              <a:t> </a:t>
            </a:r>
          </a:p>
        </p:txBody>
      </p:sp>
      <p:grpSp>
        <p:nvGrpSpPr>
          <p:cNvPr id="132102" name="Group 6"/>
          <p:cNvGrpSpPr>
            <a:grpSpLocks/>
          </p:cNvGrpSpPr>
          <p:nvPr/>
        </p:nvGrpSpPr>
        <p:grpSpPr bwMode="auto">
          <a:xfrm>
            <a:off x="5486400" y="1066800"/>
            <a:ext cx="3429000" cy="3508375"/>
            <a:chOff x="3456" y="1440"/>
            <a:chExt cx="2160" cy="2210"/>
          </a:xfrm>
        </p:grpSpPr>
        <p:sp>
          <p:nvSpPr>
            <p:cNvPr id="132116" name="Line 7"/>
            <p:cNvSpPr>
              <a:spLocks noChangeShapeType="1"/>
            </p:cNvSpPr>
            <p:nvPr/>
          </p:nvSpPr>
          <p:spPr bwMode="auto">
            <a:xfrm>
              <a:off x="369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17" name="Line 8"/>
            <p:cNvSpPr>
              <a:spLocks noChangeShapeType="1"/>
            </p:cNvSpPr>
            <p:nvPr/>
          </p:nvSpPr>
          <p:spPr bwMode="auto">
            <a:xfrm>
              <a:off x="3504" y="1632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18" name="Line 9"/>
            <p:cNvSpPr>
              <a:spLocks noChangeShapeType="1"/>
            </p:cNvSpPr>
            <p:nvPr/>
          </p:nvSpPr>
          <p:spPr bwMode="auto">
            <a:xfrm>
              <a:off x="4012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19" name="Line 10"/>
            <p:cNvSpPr>
              <a:spLocks noChangeShapeType="1"/>
            </p:cNvSpPr>
            <p:nvPr/>
          </p:nvSpPr>
          <p:spPr bwMode="auto">
            <a:xfrm>
              <a:off x="4329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0" name="Line 11"/>
            <p:cNvSpPr>
              <a:spLocks noChangeShapeType="1"/>
            </p:cNvSpPr>
            <p:nvPr/>
          </p:nvSpPr>
          <p:spPr bwMode="auto">
            <a:xfrm>
              <a:off x="4646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1" name="Line 12"/>
            <p:cNvSpPr>
              <a:spLocks noChangeShapeType="1"/>
            </p:cNvSpPr>
            <p:nvPr/>
          </p:nvSpPr>
          <p:spPr bwMode="auto">
            <a:xfrm>
              <a:off x="4963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2" name="Line 13"/>
            <p:cNvSpPr>
              <a:spLocks noChangeShapeType="1"/>
            </p:cNvSpPr>
            <p:nvPr/>
          </p:nvSpPr>
          <p:spPr bwMode="auto">
            <a:xfrm>
              <a:off x="5280" y="1440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3" name="Line 14"/>
            <p:cNvSpPr>
              <a:spLocks noChangeShapeType="1"/>
            </p:cNvSpPr>
            <p:nvPr/>
          </p:nvSpPr>
          <p:spPr bwMode="auto">
            <a:xfrm>
              <a:off x="3504" y="189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4" name="Line 15"/>
            <p:cNvSpPr>
              <a:spLocks noChangeShapeType="1"/>
            </p:cNvSpPr>
            <p:nvPr/>
          </p:nvSpPr>
          <p:spPr bwMode="auto">
            <a:xfrm>
              <a:off x="3504" y="2150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5" name="Line 16"/>
            <p:cNvSpPr>
              <a:spLocks noChangeShapeType="1"/>
            </p:cNvSpPr>
            <p:nvPr/>
          </p:nvSpPr>
          <p:spPr bwMode="auto">
            <a:xfrm>
              <a:off x="3504" y="2409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6" name="Line 17"/>
            <p:cNvSpPr>
              <a:spLocks noChangeShapeType="1"/>
            </p:cNvSpPr>
            <p:nvPr/>
          </p:nvSpPr>
          <p:spPr bwMode="auto">
            <a:xfrm>
              <a:off x="3504" y="266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7" name="Line 18"/>
            <p:cNvSpPr>
              <a:spLocks noChangeShapeType="1"/>
            </p:cNvSpPr>
            <p:nvPr/>
          </p:nvSpPr>
          <p:spPr bwMode="auto">
            <a:xfrm>
              <a:off x="3504" y="2928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128" name="Text Box 19"/>
            <p:cNvSpPr txBox="1">
              <a:spLocks noChangeArrowheads="1"/>
            </p:cNvSpPr>
            <p:nvPr/>
          </p:nvSpPr>
          <p:spPr bwMode="auto">
            <a:xfrm>
              <a:off x="3456" y="168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32129" name="Text Box 20"/>
            <p:cNvSpPr txBox="1">
              <a:spLocks noChangeArrowheads="1"/>
            </p:cNvSpPr>
            <p:nvPr/>
          </p:nvSpPr>
          <p:spPr bwMode="auto">
            <a:xfrm>
              <a:off x="3456" y="220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32130" name="Text Box 21"/>
            <p:cNvSpPr txBox="1">
              <a:spLocks noChangeArrowheads="1"/>
            </p:cNvSpPr>
            <p:nvPr/>
          </p:nvSpPr>
          <p:spPr bwMode="auto">
            <a:xfrm>
              <a:off x="3456" y="273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32131" name="Text Box 22"/>
            <p:cNvSpPr txBox="1">
              <a:spLocks noChangeArrowheads="1"/>
            </p:cNvSpPr>
            <p:nvPr/>
          </p:nvSpPr>
          <p:spPr bwMode="auto">
            <a:xfrm>
              <a:off x="3456" y="2496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32132" name="Text Box 23"/>
            <p:cNvSpPr txBox="1">
              <a:spLocks noChangeArrowheads="1"/>
            </p:cNvSpPr>
            <p:nvPr/>
          </p:nvSpPr>
          <p:spPr bwMode="auto">
            <a:xfrm>
              <a:off x="3456" y="196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32133" name="Text Box 24"/>
            <p:cNvSpPr txBox="1">
              <a:spLocks noChangeArrowheads="1"/>
            </p:cNvSpPr>
            <p:nvPr/>
          </p:nvSpPr>
          <p:spPr bwMode="auto">
            <a:xfrm>
              <a:off x="37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p1</a:t>
              </a:r>
            </a:p>
          </p:txBody>
        </p:sp>
        <p:sp>
          <p:nvSpPr>
            <p:cNvPr id="132134" name="Text Box 25"/>
            <p:cNvSpPr txBox="1">
              <a:spLocks noChangeArrowheads="1"/>
            </p:cNvSpPr>
            <p:nvPr/>
          </p:nvSpPr>
          <p:spPr bwMode="auto">
            <a:xfrm>
              <a:off x="4032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p2</a:t>
              </a:r>
            </a:p>
          </p:txBody>
        </p:sp>
        <p:sp>
          <p:nvSpPr>
            <p:cNvPr id="132135" name="Text Box 26"/>
            <p:cNvSpPr txBox="1">
              <a:spLocks noChangeArrowheads="1"/>
            </p:cNvSpPr>
            <p:nvPr/>
          </p:nvSpPr>
          <p:spPr bwMode="auto">
            <a:xfrm>
              <a:off x="4368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p3</a:t>
              </a:r>
            </a:p>
          </p:txBody>
        </p:sp>
        <p:sp>
          <p:nvSpPr>
            <p:cNvPr id="132136" name="Text Box 27"/>
            <p:cNvSpPr txBox="1">
              <a:spLocks noChangeArrowheads="1"/>
            </p:cNvSpPr>
            <p:nvPr/>
          </p:nvSpPr>
          <p:spPr bwMode="auto">
            <a:xfrm>
              <a:off x="470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p4</a:t>
              </a:r>
            </a:p>
          </p:txBody>
        </p:sp>
        <p:sp>
          <p:nvSpPr>
            <p:cNvPr id="132137" name="Text Box 28"/>
            <p:cNvSpPr txBox="1">
              <a:spLocks noChangeArrowheads="1"/>
            </p:cNvSpPr>
            <p:nvPr/>
          </p:nvSpPr>
          <p:spPr bwMode="auto">
            <a:xfrm>
              <a:off x="4944" y="1440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Arial" panose="020B0604020202020204" pitchFamily="34" charset="0"/>
                </a:rPr>
                <a:t>p5</a:t>
              </a:r>
            </a:p>
          </p:txBody>
        </p:sp>
        <p:sp>
          <p:nvSpPr>
            <p:cNvPr id="132138" name="Text Box 29"/>
            <p:cNvSpPr txBox="1">
              <a:spLocks noChangeArrowheads="1"/>
            </p:cNvSpPr>
            <p:nvPr/>
          </p:nvSpPr>
          <p:spPr bwMode="auto">
            <a:xfrm>
              <a:off x="5280" y="1440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 . .</a:t>
              </a:r>
            </a:p>
          </p:txBody>
        </p:sp>
        <p:sp>
          <p:nvSpPr>
            <p:cNvPr id="132139" name="Text Box 30"/>
            <p:cNvSpPr txBox="1">
              <a:spLocks noChangeArrowheads="1"/>
            </p:cNvSpPr>
            <p:nvPr/>
          </p:nvSpPr>
          <p:spPr bwMode="auto">
            <a:xfrm>
              <a:off x="3552" y="2976"/>
              <a:ext cx="336" cy="6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latin typeface="Arial" panose="020B0604020202020204" pitchFamily="34" charset="0"/>
                </a:rPr>
                <a:t>.</a:t>
              </a:r>
            </a:p>
          </p:txBody>
        </p:sp>
      </p:grpSp>
      <p:sp>
        <p:nvSpPr>
          <p:cNvPr id="132103" name="Oval 31"/>
          <p:cNvSpPr>
            <a:spLocks noChangeArrowheads="1"/>
          </p:cNvSpPr>
          <p:nvPr/>
        </p:nvSpPr>
        <p:spPr bwMode="auto">
          <a:xfrm rot="-5400000">
            <a:off x="1752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04" name="Oval 32"/>
          <p:cNvSpPr>
            <a:spLocks noChangeArrowheads="1"/>
          </p:cNvSpPr>
          <p:nvPr/>
        </p:nvSpPr>
        <p:spPr bwMode="auto">
          <a:xfrm rot="-5400000">
            <a:off x="1676400" y="1447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05" name="Oval 33"/>
          <p:cNvSpPr>
            <a:spLocks noChangeArrowheads="1"/>
          </p:cNvSpPr>
          <p:nvPr/>
        </p:nvSpPr>
        <p:spPr bwMode="auto">
          <a:xfrm rot="-5400000">
            <a:off x="838200" y="19050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06" name="Oval 34"/>
          <p:cNvSpPr>
            <a:spLocks noChangeArrowheads="1"/>
          </p:cNvSpPr>
          <p:nvPr/>
        </p:nvSpPr>
        <p:spPr bwMode="auto">
          <a:xfrm rot="-5400000">
            <a:off x="1903413" y="17510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07" name="Freeform 35" descr="5%"/>
          <p:cNvSpPr>
            <a:spLocks/>
          </p:cNvSpPr>
          <p:nvPr/>
        </p:nvSpPr>
        <p:spPr bwMode="auto">
          <a:xfrm rot="5400000" flipV="1">
            <a:off x="3352800" y="1143000"/>
            <a:ext cx="1828800" cy="1676400"/>
          </a:xfrm>
          <a:custGeom>
            <a:avLst/>
            <a:gdLst>
              <a:gd name="T0" fmla="*/ 2147483646 w 598"/>
              <a:gd name="T1" fmla="*/ 2147483646 h 652"/>
              <a:gd name="T2" fmla="*/ 2147483646 w 598"/>
              <a:gd name="T3" fmla="*/ 0 h 652"/>
              <a:gd name="T4" fmla="*/ 2147483646 w 598"/>
              <a:gd name="T5" fmla="*/ 2147483646 h 652"/>
              <a:gd name="T6" fmla="*/ 2147483646 w 598"/>
              <a:gd name="T7" fmla="*/ 2147483646 h 652"/>
              <a:gd name="T8" fmla="*/ 2147483646 w 598"/>
              <a:gd name="T9" fmla="*/ 2147483646 h 652"/>
              <a:gd name="T10" fmla="*/ 2147483646 w 598"/>
              <a:gd name="T11" fmla="*/ 2147483646 h 652"/>
              <a:gd name="T12" fmla="*/ 2147483646 w 598"/>
              <a:gd name="T13" fmla="*/ 2147483646 h 652"/>
              <a:gd name="T14" fmla="*/ 2147483646 w 598"/>
              <a:gd name="T15" fmla="*/ 2147483646 h 652"/>
              <a:gd name="T16" fmla="*/ 2147483646 w 598"/>
              <a:gd name="T17" fmla="*/ 2147483646 h 652"/>
              <a:gd name="T18" fmla="*/ 2147483646 w 598"/>
              <a:gd name="T19" fmla="*/ 2147483646 h 652"/>
              <a:gd name="T20" fmla="*/ 2147483646 w 598"/>
              <a:gd name="T21" fmla="*/ 2147483646 h 652"/>
              <a:gd name="T22" fmla="*/ 2147483646 w 598"/>
              <a:gd name="T23" fmla="*/ 2147483646 h 652"/>
              <a:gd name="T24" fmla="*/ 2147483646 w 598"/>
              <a:gd name="T25" fmla="*/ 2147483646 h 652"/>
              <a:gd name="T26" fmla="*/ 2147483646 w 598"/>
              <a:gd name="T27" fmla="*/ 2147483646 h 652"/>
              <a:gd name="T28" fmla="*/ 2147483646 w 598"/>
              <a:gd name="T29" fmla="*/ 2147483646 h 652"/>
              <a:gd name="T30" fmla="*/ 2147483646 w 598"/>
              <a:gd name="T31" fmla="*/ 2147483646 h 652"/>
              <a:gd name="T32" fmla="*/ 2147483646 w 598"/>
              <a:gd name="T33" fmla="*/ 2147483646 h 652"/>
              <a:gd name="T34" fmla="*/ 2147483646 w 598"/>
              <a:gd name="T35" fmla="*/ 2147483646 h 652"/>
              <a:gd name="T36" fmla="*/ 2147483646 w 598"/>
              <a:gd name="T37" fmla="*/ 2147483646 h 652"/>
              <a:gd name="T38" fmla="*/ 2147483646 w 598"/>
              <a:gd name="T39" fmla="*/ 2147483646 h 652"/>
              <a:gd name="T40" fmla="*/ 2147483646 w 598"/>
              <a:gd name="T41" fmla="*/ 2147483646 h 652"/>
              <a:gd name="T42" fmla="*/ 2147483646 w 598"/>
              <a:gd name="T43" fmla="*/ 2147483646 h 652"/>
              <a:gd name="T44" fmla="*/ 2147483646 w 598"/>
              <a:gd name="T45" fmla="*/ 2147483646 h 652"/>
              <a:gd name="T46" fmla="*/ 2147483646 w 598"/>
              <a:gd name="T47" fmla="*/ 2147483646 h 652"/>
              <a:gd name="T48" fmla="*/ 2147483646 w 598"/>
              <a:gd name="T49" fmla="*/ 2147483646 h 652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598"/>
              <a:gd name="T76" fmla="*/ 0 h 652"/>
              <a:gd name="T77" fmla="*/ 598 w 598"/>
              <a:gd name="T78" fmla="*/ 652 h 652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598" h="652">
                <a:moveTo>
                  <a:pt x="433" y="69"/>
                </a:moveTo>
                <a:cubicBezTo>
                  <a:pt x="379" y="31"/>
                  <a:pt x="310" y="21"/>
                  <a:pt x="248" y="0"/>
                </a:cubicBezTo>
                <a:cubicBezTo>
                  <a:pt x="195" y="7"/>
                  <a:pt x="192" y="10"/>
                  <a:pt x="152" y="34"/>
                </a:cubicBezTo>
                <a:cubicBezTo>
                  <a:pt x="144" y="57"/>
                  <a:pt x="132" y="73"/>
                  <a:pt x="125" y="96"/>
                </a:cubicBezTo>
                <a:cubicBezTo>
                  <a:pt x="133" y="189"/>
                  <a:pt x="154" y="159"/>
                  <a:pt x="70" y="172"/>
                </a:cubicBezTo>
                <a:cubicBezTo>
                  <a:pt x="63" y="173"/>
                  <a:pt x="56" y="176"/>
                  <a:pt x="49" y="178"/>
                </a:cubicBezTo>
                <a:cubicBezTo>
                  <a:pt x="29" y="209"/>
                  <a:pt x="39" y="188"/>
                  <a:pt x="29" y="220"/>
                </a:cubicBezTo>
                <a:cubicBezTo>
                  <a:pt x="25" y="234"/>
                  <a:pt x="15" y="261"/>
                  <a:pt x="15" y="261"/>
                </a:cubicBezTo>
                <a:cubicBezTo>
                  <a:pt x="18" y="302"/>
                  <a:pt x="0" y="355"/>
                  <a:pt x="29" y="384"/>
                </a:cubicBezTo>
                <a:cubicBezTo>
                  <a:pt x="46" y="401"/>
                  <a:pt x="97" y="412"/>
                  <a:pt x="97" y="412"/>
                </a:cubicBezTo>
                <a:cubicBezTo>
                  <a:pt x="92" y="438"/>
                  <a:pt x="84" y="462"/>
                  <a:pt x="77" y="487"/>
                </a:cubicBezTo>
                <a:cubicBezTo>
                  <a:pt x="79" y="523"/>
                  <a:pt x="71" y="585"/>
                  <a:pt x="104" y="617"/>
                </a:cubicBezTo>
                <a:cubicBezTo>
                  <a:pt x="121" y="634"/>
                  <a:pt x="144" y="638"/>
                  <a:pt x="166" y="645"/>
                </a:cubicBezTo>
                <a:cubicBezTo>
                  <a:pt x="173" y="647"/>
                  <a:pt x="186" y="652"/>
                  <a:pt x="186" y="652"/>
                </a:cubicBezTo>
                <a:cubicBezTo>
                  <a:pt x="214" y="643"/>
                  <a:pt x="224" y="628"/>
                  <a:pt x="241" y="604"/>
                </a:cubicBezTo>
                <a:cubicBezTo>
                  <a:pt x="276" y="626"/>
                  <a:pt x="311" y="642"/>
                  <a:pt x="351" y="652"/>
                </a:cubicBezTo>
                <a:cubicBezTo>
                  <a:pt x="400" y="644"/>
                  <a:pt x="419" y="631"/>
                  <a:pt x="447" y="590"/>
                </a:cubicBezTo>
                <a:cubicBezTo>
                  <a:pt x="467" y="531"/>
                  <a:pt x="403" y="553"/>
                  <a:pt x="522" y="542"/>
                </a:cubicBezTo>
                <a:cubicBezTo>
                  <a:pt x="555" y="520"/>
                  <a:pt x="557" y="482"/>
                  <a:pt x="570" y="446"/>
                </a:cubicBezTo>
                <a:cubicBezTo>
                  <a:pt x="561" y="418"/>
                  <a:pt x="562" y="408"/>
                  <a:pt x="536" y="391"/>
                </a:cubicBezTo>
                <a:cubicBezTo>
                  <a:pt x="512" y="355"/>
                  <a:pt x="529" y="362"/>
                  <a:pt x="563" y="350"/>
                </a:cubicBezTo>
                <a:cubicBezTo>
                  <a:pt x="595" y="303"/>
                  <a:pt x="586" y="325"/>
                  <a:pt x="598" y="288"/>
                </a:cubicBezTo>
                <a:cubicBezTo>
                  <a:pt x="596" y="271"/>
                  <a:pt x="597" y="218"/>
                  <a:pt x="584" y="192"/>
                </a:cubicBezTo>
                <a:cubicBezTo>
                  <a:pt x="560" y="146"/>
                  <a:pt x="494" y="112"/>
                  <a:pt x="447" y="96"/>
                </a:cubicBezTo>
                <a:cubicBezTo>
                  <a:pt x="437" y="93"/>
                  <a:pt x="438" y="78"/>
                  <a:pt x="433" y="69"/>
                </a:cubicBez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108" name="Oval 36"/>
          <p:cNvSpPr>
            <a:spLocks noChangeArrowheads="1"/>
          </p:cNvSpPr>
          <p:nvPr/>
        </p:nvSpPr>
        <p:spPr bwMode="auto">
          <a:xfrm rot="5400000" flipV="1">
            <a:off x="4876800" y="1600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09" name="Oval 37"/>
          <p:cNvSpPr>
            <a:spLocks noChangeArrowheads="1"/>
          </p:cNvSpPr>
          <p:nvPr/>
        </p:nvSpPr>
        <p:spPr bwMode="auto">
          <a:xfrm rot="5400000" flipV="1">
            <a:off x="3516313" y="1598613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10" name="Oval 38"/>
          <p:cNvSpPr>
            <a:spLocks noChangeArrowheads="1"/>
          </p:cNvSpPr>
          <p:nvPr/>
        </p:nvSpPr>
        <p:spPr bwMode="auto">
          <a:xfrm rot="5400000" flipV="1">
            <a:off x="4038600" y="22098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11" name="Oval 39"/>
          <p:cNvSpPr>
            <a:spLocks noChangeArrowheads="1"/>
          </p:cNvSpPr>
          <p:nvPr/>
        </p:nvSpPr>
        <p:spPr bwMode="auto">
          <a:xfrm rot="5400000" flipV="1">
            <a:off x="4038600" y="1219200"/>
            <a:ext cx="76200" cy="76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32112" name="Text Box 40"/>
          <p:cNvSpPr txBox="1">
            <a:spLocks noChangeArrowheads="1"/>
          </p:cNvSpPr>
          <p:nvPr/>
        </p:nvSpPr>
        <p:spPr bwMode="auto">
          <a:xfrm>
            <a:off x="5943600" y="4343400"/>
            <a:ext cx="251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Proximity Matrix</a:t>
            </a:r>
          </a:p>
        </p:txBody>
      </p:sp>
      <p:sp>
        <p:nvSpPr>
          <p:cNvPr id="486441" name="Rectangle 41"/>
          <p:cNvSpPr>
            <a:spLocks noChangeArrowheads="1"/>
          </p:cNvSpPr>
          <p:nvPr/>
        </p:nvSpPr>
        <p:spPr bwMode="auto">
          <a:xfrm>
            <a:off x="381000" y="3200400"/>
            <a:ext cx="5791200" cy="3124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MIN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MAX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Group Average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Distance Between Centroids</a:t>
            </a:r>
          </a:p>
          <a:p>
            <a:pPr marL="342900" indent="-342900" eaLnBrk="1" hangingPunct="1">
              <a:spcBef>
                <a:spcPts val="200"/>
              </a:spcBef>
              <a:spcAft>
                <a:spcPts val="200"/>
              </a:spcAft>
              <a:buClr>
                <a:schemeClr val="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800">
                <a:effectLst>
                  <a:outerShdw blurRad="38100" dist="38100" dir="2700000" algn="tl">
                    <a:srgbClr val="C0C0C0"/>
                  </a:outerShdw>
                </a:effectLst>
              </a:rPr>
              <a:t>Other methods driven by an objective function</a:t>
            </a:r>
          </a:p>
          <a:p>
            <a:pPr marL="742950" lvl="1" indent="-285750" eaLnBrk="1" hangingPunct="1">
              <a:spcBef>
                <a:spcPts val="200"/>
              </a:spcBef>
              <a:spcAft>
                <a:spcPts val="200"/>
              </a:spcAft>
              <a:buClr>
                <a:schemeClr val="folHlink"/>
              </a:buClr>
              <a:buSzPct val="80000"/>
              <a:buFont typeface="Wingdings" pitchFamily="2" charset="2"/>
              <a:buChar char="l"/>
              <a:defRPr/>
            </a:pPr>
            <a:r>
              <a:rPr lang="en-US" sz="2400">
                <a:effectLst>
                  <a:outerShdw blurRad="38100" dist="38100" dir="2700000" algn="tl">
                    <a:srgbClr val="C0C0C0"/>
                  </a:outerShdw>
                </a:effectLst>
              </a:rPr>
              <a:t>Ward’s Method uses squared error</a:t>
            </a:r>
            <a:endParaRPr lang="en-US" sz="28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2114" name="Text Box 42"/>
          <p:cNvSpPr txBox="1">
            <a:spLocks noChangeArrowheads="1"/>
          </p:cNvSpPr>
          <p:nvPr/>
        </p:nvSpPr>
        <p:spPr bwMode="auto">
          <a:xfrm>
            <a:off x="12192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</a:p>
        </p:txBody>
      </p:sp>
      <p:sp>
        <p:nvSpPr>
          <p:cNvPr id="132115" name="Text Box 43"/>
          <p:cNvSpPr txBox="1">
            <a:spLocks noChangeArrowheads="1"/>
          </p:cNvSpPr>
          <p:nvPr/>
        </p:nvSpPr>
        <p:spPr bwMode="auto">
          <a:xfrm>
            <a:off x="4114800" y="18288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</a:t>
            </a:r>
          </a:p>
        </p:txBody>
      </p:sp>
    </p:spTree>
    <p:extLst>
      <p:ext uri="{BB962C8B-B14F-4D97-AF65-F5344CB8AC3E}">
        <p14:creationId xmlns:p14="http://schemas.microsoft.com/office/powerpoint/2010/main" val="1634336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200" dirty="0" smtClean="0"/>
              <a:t>Hierarchical Clustering:  Time and Space requirements</a:t>
            </a:r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9144000" cy="4530725"/>
          </a:xfrm>
        </p:spPr>
        <p:txBody>
          <a:bodyPr/>
          <a:lstStyle/>
          <a:p>
            <a:pPr eaLnBrk="1" hangingPunct="1"/>
            <a:r>
              <a:rPr lang="en-US" altLang="en-US" smtClean="0">
                <a:effectLst/>
              </a:rPr>
              <a:t>O(N</a:t>
            </a:r>
            <a:r>
              <a:rPr lang="en-US" altLang="en-US" baseline="30000" smtClean="0">
                <a:effectLst/>
              </a:rPr>
              <a:t>2</a:t>
            </a:r>
            <a:r>
              <a:rPr lang="en-US" altLang="en-US" smtClean="0">
                <a:effectLst/>
              </a:rPr>
              <a:t>) space since it uses the proximity matrix.  </a:t>
            </a:r>
          </a:p>
          <a:p>
            <a:pPr lvl="1" eaLnBrk="1" hangingPunct="1"/>
            <a:r>
              <a:rPr lang="en-US" altLang="en-US" smtClean="0">
                <a:effectLst/>
              </a:rPr>
              <a:t>N is the number of points.</a:t>
            </a:r>
          </a:p>
          <a:p>
            <a:pPr lvl="1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O(N</a:t>
            </a:r>
            <a:r>
              <a:rPr lang="en-US" altLang="en-US" baseline="30000" smtClean="0">
                <a:effectLst/>
              </a:rPr>
              <a:t>3</a:t>
            </a:r>
            <a:r>
              <a:rPr lang="en-US" altLang="en-US" smtClean="0">
                <a:effectLst/>
              </a:rPr>
              <a:t>) time in many cases</a:t>
            </a:r>
          </a:p>
          <a:p>
            <a:pPr lvl="1" eaLnBrk="1" hangingPunct="1"/>
            <a:r>
              <a:rPr lang="en-US" altLang="en-US" smtClean="0">
                <a:effectLst/>
              </a:rPr>
              <a:t>There are N steps and at each step the size, N</a:t>
            </a:r>
            <a:r>
              <a:rPr lang="en-US" altLang="en-US" baseline="30000" smtClean="0">
                <a:effectLst/>
              </a:rPr>
              <a:t>2</a:t>
            </a:r>
            <a:r>
              <a:rPr lang="en-US" altLang="en-US" smtClean="0">
                <a:effectLst/>
              </a:rPr>
              <a:t>, proximity matrix must be updated and searched</a:t>
            </a:r>
          </a:p>
          <a:p>
            <a:pPr lvl="1" eaLnBrk="1" hangingPunct="1"/>
            <a:r>
              <a:rPr lang="en-US" altLang="en-US" smtClean="0">
                <a:effectLst/>
              </a:rPr>
              <a:t>Complexity can be reduced to O(N</a:t>
            </a:r>
            <a:r>
              <a:rPr lang="en-US" altLang="en-US" baseline="30000" smtClean="0">
                <a:effectLst/>
              </a:rPr>
              <a:t>2</a:t>
            </a:r>
            <a:r>
              <a:rPr lang="en-US" altLang="en-US" smtClean="0">
                <a:effectLst/>
              </a:rPr>
              <a:t> log(N) ) time for some approaches</a:t>
            </a:r>
          </a:p>
        </p:txBody>
      </p:sp>
    </p:spTree>
    <p:extLst>
      <p:ext uri="{BB962C8B-B14F-4D97-AF65-F5344CB8AC3E}">
        <p14:creationId xmlns:p14="http://schemas.microsoft.com/office/powerpoint/2010/main" val="220626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063" y="296863"/>
            <a:ext cx="8397875" cy="626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9199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" y="1250950"/>
            <a:ext cx="7440613" cy="435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65818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1155700"/>
            <a:ext cx="7481887" cy="454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55641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1123950"/>
            <a:ext cx="7481887" cy="4608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2289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6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5" y="1082675"/>
            <a:ext cx="7815263" cy="469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6657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12" y="2195015"/>
            <a:ext cx="7871176" cy="24679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37" y="1143000"/>
            <a:ext cx="8137351" cy="73089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74278"/>
            <a:ext cx="6730426" cy="40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041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914400"/>
            <a:ext cx="7772400" cy="685800"/>
          </a:xfrm>
        </p:spPr>
        <p:txBody>
          <a:bodyPr>
            <a:normAutofit fontScale="90000"/>
          </a:bodyPr>
          <a:lstStyle/>
          <a:p>
            <a:r>
              <a:rPr lang="en-US" altLang="en-US" b="1" smtClean="0">
                <a:effectLst/>
              </a:rPr>
              <a:t>Single Linkage Clustering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05000"/>
            <a:ext cx="7543800" cy="3962400"/>
          </a:xfrm>
        </p:spPr>
        <p:txBody>
          <a:bodyPr/>
          <a:lstStyle/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ko-KR" smtClean="0">
                <a:effectLst/>
                <a:ea typeface="굴림" charset="-127"/>
              </a:rPr>
              <a:t>It is an example of agglomerative hierarchical clustering.</a:t>
            </a:r>
          </a:p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ko-KR" smtClean="0">
                <a:effectLst/>
                <a:ea typeface="굴림" charset="-127"/>
              </a:rPr>
              <a:t>We consider the distance between one cluster and another cluster to be equal to the shortest distance from any member of one cluster to any member of the other cluster. </a:t>
            </a:r>
            <a:endParaRPr lang="en-US" altLang="en-US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5971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9310"/>
            <a:ext cx="3352800" cy="762000"/>
          </a:xfrm>
        </p:spPr>
        <p:txBody>
          <a:bodyPr>
            <a:normAutofit/>
          </a:bodyPr>
          <a:lstStyle/>
          <a:p>
            <a:r>
              <a:rPr lang="en-US" altLang="en-US" sz="4000" b="1" smtClean="0">
                <a:effectLst/>
              </a:rPr>
              <a:t>Algorithm</a:t>
            </a:r>
          </a:p>
        </p:txBody>
      </p:sp>
      <p:sp>
        <p:nvSpPr>
          <p:cNvPr id="194563" name="Rectangle 3"/>
          <p:cNvSpPr>
            <a:spLocks noChangeArrowheads="1"/>
          </p:cNvSpPr>
          <p:nvPr/>
        </p:nvSpPr>
        <p:spPr bwMode="auto">
          <a:xfrm>
            <a:off x="228600" y="914400"/>
            <a:ext cx="83820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Given a set of N items to be clustered, and an </a:t>
            </a:r>
            <a:r>
              <a:rPr lang="en-GB" altLang="en-US" sz="2400" dirty="0" err="1"/>
              <a:t>NxN</a:t>
            </a:r>
            <a:r>
              <a:rPr lang="en-GB" altLang="en-US" sz="2400" dirty="0"/>
              <a:t> distance (or similarity) matrix, the basic process of single linkage clustering is this: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   1.Start by assigning each item to its own cluster, so that if we have N items, we now have N clusters, each containing just one item. Let the distances (similarities) between the clusters equal the distances (similarities) between the items they contain.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   2.Find the closest (most similar) pair of clusters and merge them into a single cluster, so that now you have one less cluster.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   3.Compute distances (similarities) between the new cluster and each of the old clusters.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   4.Repeat steps 2 and 3 until all items are clustered into a single cluster of size N. </a:t>
            </a:r>
          </a:p>
        </p:txBody>
      </p:sp>
    </p:spTree>
    <p:extLst>
      <p:ext uri="{BB962C8B-B14F-4D97-AF65-F5344CB8AC3E}">
        <p14:creationId xmlns:p14="http://schemas.microsoft.com/office/powerpoint/2010/main" val="2086747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4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3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2"/>
          <p:cNvSpPr>
            <a:spLocks noGrp="1" noChangeArrowheads="1"/>
          </p:cNvSpPr>
          <p:nvPr>
            <p:ph type="title"/>
          </p:nvPr>
        </p:nvSpPr>
        <p:spPr>
          <a:xfrm>
            <a:off x="-76200" y="158750"/>
            <a:ext cx="8763000" cy="762000"/>
          </a:xfrm>
        </p:spPr>
        <p:txBody>
          <a:bodyPr/>
          <a:lstStyle/>
          <a:p>
            <a:pPr>
              <a:defRPr/>
            </a:pPr>
            <a:r>
              <a:rPr lang="en-US" dirty="0"/>
              <a:t>  </a:t>
            </a:r>
            <a:r>
              <a:rPr lang="en-US" b="1" dirty="0">
                <a:effectLst/>
              </a:rPr>
              <a:t>Interpreting </a:t>
            </a:r>
            <a:r>
              <a:rPr lang="en-US" b="1" dirty="0" err="1">
                <a:effectLst/>
              </a:rPr>
              <a:t>Dendrograms</a:t>
            </a:r>
            <a:endParaRPr lang="en-US" b="1" dirty="0">
              <a:effectLst/>
            </a:endParaRPr>
          </a:p>
        </p:txBody>
      </p:sp>
      <p:pic>
        <p:nvPicPr>
          <p:cNvPr id="136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435225"/>
            <a:ext cx="4191000" cy="397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61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438400"/>
            <a:ext cx="4267200" cy="397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197" name="Rectangle 5"/>
          <p:cNvSpPr>
            <a:spLocks noChangeArrowheads="1"/>
          </p:cNvSpPr>
          <p:nvPr/>
        </p:nvSpPr>
        <p:spPr bwMode="auto">
          <a:xfrm>
            <a:off x="0" y="1371600"/>
            <a:ext cx="8763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>
                <a:solidFill>
                  <a:schemeClr val="tx2"/>
                </a:solidFill>
              </a:rPr>
              <a:t>  </a:t>
            </a:r>
            <a:r>
              <a:rPr lang="en-US" altLang="en-US" b="1">
                <a:solidFill>
                  <a:srgbClr val="000066"/>
                </a:solidFill>
              </a:rPr>
              <a:t>Clusters                              Dendrogram</a:t>
            </a:r>
          </a:p>
        </p:txBody>
      </p:sp>
    </p:spTree>
    <p:extLst>
      <p:ext uri="{BB962C8B-B14F-4D97-AF65-F5344CB8AC3E}">
        <p14:creationId xmlns:p14="http://schemas.microsoft.com/office/powerpoint/2010/main" val="279398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56" name="Group 56"/>
          <p:cNvGraphicFramePr>
            <a:graphicFrameLocks noGrp="1"/>
          </p:cNvGraphicFramePr>
          <p:nvPr/>
        </p:nvGraphicFramePr>
        <p:xfrm>
          <a:off x="0" y="1752600"/>
          <a:ext cx="3429000" cy="2794001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33400"/>
                <a:gridCol w="609600"/>
                <a:gridCol w="571500"/>
                <a:gridCol w="571500"/>
              </a:tblGrid>
              <a:tr h="4572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A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418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9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101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E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11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12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13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7269" name="Text Box 53"/>
          <p:cNvSpPr txBox="1">
            <a:spLocks noChangeArrowheads="1"/>
          </p:cNvSpPr>
          <p:nvPr/>
        </p:nvSpPr>
        <p:spPr bwMode="auto">
          <a:xfrm>
            <a:off x="0" y="609600"/>
            <a:ext cx="7696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1"/>
              <a:t>Agglomeration Schedule</a:t>
            </a:r>
            <a:endParaRPr lang="en-GB" altLang="en-US" sz="4400" b="1"/>
          </a:p>
        </p:txBody>
      </p:sp>
      <p:graphicFrame>
        <p:nvGraphicFramePr>
          <p:cNvPr id="137270" name="Object 2"/>
          <p:cNvGraphicFramePr>
            <a:graphicFrameLocks noChangeAspect="1"/>
          </p:cNvGraphicFramePr>
          <p:nvPr/>
        </p:nvGraphicFramePr>
        <p:xfrm>
          <a:off x="4352925" y="1504950"/>
          <a:ext cx="4105275" cy="245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8" name="Bitmap Image" r:id="rId3" imgW="4105848" imgH="2457143" progId="Paint.Picture">
                  <p:embed/>
                </p:oleObj>
              </mc:Choice>
              <mc:Fallback>
                <p:oleObj name="Bitmap Image" r:id="rId3" imgW="4105848" imgH="2457143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925" y="1504950"/>
                        <a:ext cx="4105275" cy="2457450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5" name="Object 3"/>
          <p:cNvGraphicFramePr>
            <a:graphicFrameLocks noChangeAspect="1"/>
          </p:cNvGraphicFramePr>
          <p:nvPr/>
        </p:nvGraphicFramePr>
        <p:xfrm>
          <a:off x="3581400" y="4114800"/>
          <a:ext cx="5162550" cy="256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9" name="Bitmap Image" r:id="rId5" imgW="5161905" imgH="2561905" progId="Paint.Picture">
                  <p:embed/>
                </p:oleObj>
              </mc:Choice>
              <mc:Fallback>
                <p:oleObj name="Bitmap Image" r:id="rId5" imgW="5161905" imgH="256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4114800"/>
                        <a:ext cx="5162550" cy="2562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9968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>
                <a:effectLst/>
              </a:rPr>
              <a:t>Advantages</a:t>
            </a:r>
            <a:endParaRPr lang="en-GB" altLang="en-US" b="1" smtClean="0">
              <a:effectLst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05000"/>
            <a:ext cx="8153400" cy="411480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  <a:ea typeface="宋体" panose="02010600030101010101" pitchFamily="2" charset="-122"/>
              </a:rPr>
              <a:t>S</a:t>
            </a:r>
            <a:r>
              <a:rPr lang="en-GB" altLang="en-US" smtClean="0">
                <a:effectLst/>
                <a:ea typeface="宋体" panose="02010600030101010101" pitchFamily="2" charset="-122"/>
              </a:rPr>
              <a:t>ingle linkage is best suited to detect lined structure</a:t>
            </a:r>
            <a:endParaRPr lang="en-US" altLang="en-US" smtClean="0">
              <a:effectLst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  <a:ea typeface="宋体" panose="02010600030101010101" pitchFamily="2" charset="-122"/>
              </a:rPr>
              <a:t>Invariant against monotonic transformation of the dissimilarities or similarities. For example, the results do not change, if the dissimilarities or similarities are squared, or if we take the log.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mtClean="0">
                <a:effectLst/>
                <a:ea typeface="宋体" panose="02010600030101010101" pitchFamily="2" charset="-122"/>
              </a:rPr>
              <a:t>Intuitive</a:t>
            </a:r>
            <a:endParaRPr lang="en-GB" altLang="en-US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6866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7772400" cy="7620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Problems</a:t>
            </a:r>
          </a:p>
        </p:txBody>
      </p:sp>
      <p:sp>
        <p:nvSpPr>
          <p:cNvPr id="13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752600"/>
            <a:ext cx="8915400" cy="4114800"/>
          </a:xfrm>
        </p:spPr>
        <p:txBody>
          <a:bodyPr/>
          <a:lstStyle/>
          <a:p>
            <a:pPr marL="609600" indent="-609600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zh-CN" sz="2800" smtClean="0">
                <a:effectLst/>
                <a:ea typeface="宋体" panose="02010600030101010101" pitchFamily="2" charset="-122"/>
              </a:rPr>
              <a:t>Do not scale well: time complexity of at least </a:t>
            </a:r>
            <a:r>
              <a:rPr lang="en-US" altLang="zh-CN" sz="2800" smtClean="0">
                <a:effectLst/>
                <a:ea typeface="宋体" panose="02010600030101010101" pitchFamily="2" charset="-122"/>
                <a:sym typeface="Symbol" panose="05050102010706020507" pitchFamily="18" charset="2"/>
              </a:rPr>
              <a:t></a:t>
            </a:r>
            <a:r>
              <a:rPr lang="en-US" altLang="zh-CN" sz="2800" smtClean="0">
                <a:effectLst/>
                <a:ea typeface="宋体" panose="02010600030101010101" pitchFamily="2" charset="-122"/>
              </a:rPr>
              <a:t>(n</a:t>
            </a:r>
            <a:r>
              <a:rPr lang="en-US" altLang="zh-CN" sz="2800" baseline="30000" smtClean="0">
                <a:effectLst/>
                <a:ea typeface="宋体" panose="02010600030101010101" pitchFamily="2" charset="-122"/>
              </a:rPr>
              <a:t>2</a:t>
            </a:r>
            <a:r>
              <a:rPr lang="en-US" altLang="zh-CN" sz="2800" smtClean="0">
                <a:effectLst/>
                <a:ea typeface="宋体" panose="02010600030101010101" pitchFamily="2" charset="-122"/>
              </a:rPr>
              <a:t>), where n is the number of total objects</a:t>
            </a:r>
          </a:p>
          <a:p>
            <a:pPr marL="609600" indent="-609600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zh-CN" sz="2800" smtClean="0">
                <a:effectLst/>
                <a:ea typeface="宋体" panose="02010600030101010101" pitchFamily="2" charset="-122"/>
              </a:rPr>
              <a:t>It is not incremental.  If new data is to be added, the whole analysis needs to be redone.</a:t>
            </a:r>
          </a:p>
          <a:p>
            <a:pPr marL="609600" indent="-609600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zh-CN" sz="2800" smtClean="0">
                <a:effectLst/>
                <a:ea typeface="宋体" panose="02010600030101010101" pitchFamily="2" charset="-122"/>
              </a:rPr>
              <a:t>Can never undo what was done previously</a:t>
            </a:r>
          </a:p>
          <a:p>
            <a:pPr marL="609600" indent="-609600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zh-CN" sz="2800" smtClean="0">
                <a:effectLst/>
                <a:ea typeface="宋体" panose="02010600030101010101" pitchFamily="2" charset="-122"/>
              </a:rPr>
              <a:t>Can lead to chaining</a:t>
            </a:r>
          </a:p>
          <a:p>
            <a:pPr marL="609600" indent="-609600"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ja-JP" sz="2800" smtClean="0">
                <a:effectLst/>
                <a:ea typeface="ＭＳ Ｐゴシック" panose="020B0600070205080204" pitchFamily="34" charset="-128"/>
              </a:rPr>
              <a:t>Data in the cluster must 	be compact.</a:t>
            </a:r>
            <a:endParaRPr lang="en-US" altLang="en-US" sz="2800" smtClean="0">
              <a:effectLst/>
            </a:endParaRPr>
          </a:p>
        </p:txBody>
      </p:sp>
      <p:graphicFrame>
        <p:nvGraphicFramePr>
          <p:cNvPr id="139268" name="Object 2"/>
          <p:cNvGraphicFramePr>
            <a:graphicFrameLocks noChangeAspect="1"/>
          </p:cNvGraphicFramePr>
          <p:nvPr/>
        </p:nvGraphicFramePr>
        <p:xfrm>
          <a:off x="5029200" y="4191000"/>
          <a:ext cx="3238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8" name="Bitmap Image" r:id="rId3" imgW="3238952" imgH="380852" progId="Paint.Picture">
                  <p:embed/>
                </p:oleObj>
              </mc:Choice>
              <mc:Fallback>
                <p:oleObj name="Bitmap Image" r:id="rId3" imgW="3238952" imgH="3808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4191000"/>
                        <a:ext cx="3238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672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ChangeArrowheads="1"/>
          </p:cNvSpPr>
          <p:nvPr/>
        </p:nvSpPr>
        <p:spPr bwMode="auto">
          <a:xfrm>
            <a:off x="0" y="9144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ja-JP" sz="4000" b="1">
                <a:ea typeface="ＭＳ Ｐゴシック" panose="020B0600070205080204" pitchFamily="34" charset="-128"/>
              </a:rPr>
              <a:t>How to Compute Group Similarity?</a:t>
            </a:r>
          </a:p>
        </p:txBody>
      </p:sp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304800" y="2590800"/>
            <a:ext cx="8610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Given two groups g1 and g2,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ja-JP" sz="1800">
              <a:ea typeface="ＭＳ Ｐゴシック" panose="020B0600070205080204" pitchFamily="34" charset="-128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 i="1">
                <a:ea typeface="ＭＳ Ｐゴシック" panose="020B0600070205080204" pitchFamily="34" charset="-128"/>
              </a:rPr>
              <a:t>Single-link algorithm:</a:t>
            </a:r>
            <a:r>
              <a:rPr lang="en-US" altLang="ja-JP" sz="1800">
                <a:ea typeface="ＭＳ Ｐゴシック" panose="020B0600070205080204" pitchFamily="34" charset="-128"/>
              </a:rPr>
              <a:t> s(g1,g2)= similarity of the </a:t>
            </a:r>
            <a:r>
              <a:rPr lang="en-US" altLang="ja-JP" sz="1800" i="1">
                <a:ea typeface="ＭＳ Ｐゴシック" panose="020B0600070205080204" pitchFamily="34" charset="-128"/>
              </a:rPr>
              <a:t>closest</a:t>
            </a:r>
            <a:r>
              <a:rPr lang="en-US" altLang="ja-JP" sz="1800">
                <a:ea typeface="ＭＳ Ｐゴシック" panose="020B0600070205080204" pitchFamily="34" charset="-128"/>
              </a:rPr>
              <a:t> pair</a:t>
            </a:r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304800" y="4038600"/>
            <a:ext cx="868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 i="1">
                <a:ea typeface="ＭＳ Ｐゴシック" panose="020B0600070205080204" pitchFamily="34" charset="-128"/>
              </a:rPr>
              <a:t>Complete-link algorithm:</a:t>
            </a:r>
            <a:r>
              <a:rPr lang="en-US" altLang="ja-JP" sz="1800">
                <a:ea typeface="ＭＳ Ｐゴシック" panose="020B0600070205080204" pitchFamily="34" charset="-128"/>
              </a:rPr>
              <a:t> s(g1,g2)= similarity of the </a:t>
            </a:r>
            <a:r>
              <a:rPr lang="en-US" altLang="ja-JP" sz="1800" i="1">
                <a:ea typeface="ＭＳ Ｐゴシック" panose="020B0600070205080204" pitchFamily="34" charset="-128"/>
              </a:rPr>
              <a:t>farthest</a:t>
            </a:r>
            <a:r>
              <a:rPr lang="en-US" altLang="ja-JP" sz="1800">
                <a:ea typeface="ＭＳ Ｐゴシック" panose="020B0600070205080204" pitchFamily="34" charset="-128"/>
              </a:rPr>
              <a:t> pair</a:t>
            </a:r>
          </a:p>
        </p:txBody>
      </p:sp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381000" y="4953000"/>
            <a:ext cx="8610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 i="1">
                <a:ea typeface="ＭＳ Ｐゴシック" panose="020B0600070205080204" pitchFamily="34" charset="-128"/>
              </a:rPr>
              <a:t>Average-link algorithm:</a:t>
            </a:r>
            <a:r>
              <a:rPr lang="en-US" altLang="ja-JP" sz="1800" b="1">
                <a:ea typeface="ＭＳ Ｐゴシック" panose="020B0600070205080204" pitchFamily="34" charset="-128"/>
              </a:rPr>
              <a:t> s(g1,g2)= </a:t>
            </a:r>
            <a:r>
              <a:rPr lang="en-US" altLang="ja-JP" sz="1800" i="1">
                <a:ea typeface="ＭＳ Ｐゴシック" panose="020B0600070205080204" pitchFamily="34" charset="-128"/>
              </a:rPr>
              <a:t>average </a:t>
            </a:r>
            <a:r>
              <a:rPr lang="en-US" altLang="ja-JP" sz="1800">
                <a:ea typeface="ＭＳ Ｐゴシック" panose="020B0600070205080204" pitchFamily="34" charset="-128"/>
              </a:rPr>
              <a:t>of similarity of all pairs</a:t>
            </a:r>
          </a:p>
        </p:txBody>
      </p:sp>
      <p:sp>
        <p:nvSpPr>
          <p:cNvPr id="149510" name="Rectangle 6"/>
          <p:cNvSpPr>
            <a:spLocks noChangeArrowheads="1"/>
          </p:cNvSpPr>
          <p:nvPr/>
        </p:nvSpPr>
        <p:spPr bwMode="auto">
          <a:xfrm>
            <a:off x="152400" y="1946275"/>
            <a:ext cx="50625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b="1">
                <a:ea typeface="ＭＳ Ｐゴシック" panose="020B0600070205080204" pitchFamily="34" charset="-128"/>
              </a:rPr>
              <a:t>Three Popular Methods:</a:t>
            </a:r>
          </a:p>
        </p:txBody>
      </p:sp>
    </p:spTree>
    <p:extLst>
      <p:ext uri="{BB962C8B-B14F-4D97-AF65-F5344CB8AC3E}">
        <p14:creationId xmlns:p14="http://schemas.microsoft.com/office/powerpoint/2010/main" val="4206085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ChangeArrowheads="1"/>
          </p:cNvSpPr>
          <p:nvPr/>
        </p:nvSpPr>
        <p:spPr bwMode="auto">
          <a:xfrm>
            <a:off x="0" y="9144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ja-JP" sz="4000" b="1">
                <a:ea typeface="ＭＳ Ｐゴシック" panose="020B0600070205080204" pitchFamily="34" charset="-128"/>
              </a:rPr>
              <a:t>Three Methods Illustrated</a:t>
            </a:r>
          </a:p>
        </p:txBody>
      </p:sp>
      <p:sp>
        <p:nvSpPr>
          <p:cNvPr id="150531" name="Text Box 4"/>
          <p:cNvSpPr txBox="1">
            <a:spLocks noChangeArrowheads="1"/>
          </p:cNvSpPr>
          <p:nvPr/>
        </p:nvSpPr>
        <p:spPr bwMode="auto">
          <a:xfrm>
            <a:off x="1905000" y="5029200"/>
            <a:ext cx="2795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Single-link algorithm</a:t>
            </a:r>
          </a:p>
        </p:txBody>
      </p:sp>
      <p:sp>
        <p:nvSpPr>
          <p:cNvPr id="150532" name="Freeform 5"/>
          <p:cNvSpPr>
            <a:spLocks/>
          </p:cNvSpPr>
          <p:nvPr/>
        </p:nvSpPr>
        <p:spPr bwMode="auto">
          <a:xfrm>
            <a:off x="3124200" y="4038600"/>
            <a:ext cx="2438400" cy="482600"/>
          </a:xfrm>
          <a:custGeom>
            <a:avLst/>
            <a:gdLst>
              <a:gd name="T0" fmla="*/ 0 w 1536"/>
              <a:gd name="T1" fmla="*/ 0 h 304"/>
              <a:gd name="T2" fmla="*/ 2147483646 w 1536"/>
              <a:gd name="T3" fmla="*/ 2147483646 h 304"/>
              <a:gd name="T4" fmla="*/ 2147483646 w 1536"/>
              <a:gd name="T5" fmla="*/ 2147483646 h 304"/>
              <a:gd name="T6" fmla="*/ 0 60000 65536"/>
              <a:gd name="T7" fmla="*/ 0 60000 65536"/>
              <a:gd name="T8" fmla="*/ 0 60000 65536"/>
              <a:gd name="T9" fmla="*/ 0 w 1536"/>
              <a:gd name="T10" fmla="*/ 0 h 304"/>
              <a:gd name="T11" fmla="*/ 1536 w 1536"/>
              <a:gd name="T12" fmla="*/ 304 h 3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36" h="304">
                <a:moveTo>
                  <a:pt x="0" y="0"/>
                </a:moveTo>
                <a:cubicBezTo>
                  <a:pt x="208" y="136"/>
                  <a:pt x="416" y="272"/>
                  <a:pt x="672" y="288"/>
                </a:cubicBezTo>
                <a:cubicBezTo>
                  <a:pt x="928" y="304"/>
                  <a:pt x="1232" y="200"/>
                  <a:pt x="1536" y="9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33" name="Line 6"/>
          <p:cNvSpPr>
            <a:spLocks noChangeShapeType="1"/>
          </p:cNvSpPr>
          <p:nvPr/>
        </p:nvSpPr>
        <p:spPr bwMode="auto">
          <a:xfrm flipV="1">
            <a:off x="3048000" y="4495800"/>
            <a:ext cx="838200" cy="4572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34" name="Line 8"/>
          <p:cNvSpPr>
            <a:spLocks noChangeShapeType="1"/>
          </p:cNvSpPr>
          <p:nvPr/>
        </p:nvSpPr>
        <p:spPr bwMode="auto">
          <a:xfrm flipH="1">
            <a:off x="3581400" y="3860800"/>
            <a:ext cx="381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35" name="Line 9"/>
          <p:cNvSpPr>
            <a:spLocks noChangeShapeType="1"/>
          </p:cNvSpPr>
          <p:nvPr/>
        </p:nvSpPr>
        <p:spPr bwMode="auto">
          <a:xfrm>
            <a:off x="4343400" y="3860800"/>
            <a:ext cx="5334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36" name="Text Box 10"/>
          <p:cNvSpPr txBox="1">
            <a:spLocks noChangeArrowheads="1"/>
          </p:cNvSpPr>
          <p:nvPr/>
        </p:nvSpPr>
        <p:spPr bwMode="auto">
          <a:xfrm>
            <a:off x="4022725" y="367347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?</a:t>
            </a:r>
          </a:p>
        </p:txBody>
      </p:sp>
      <p:sp>
        <p:nvSpPr>
          <p:cNvPr id="150537" name="Rectangle 12"/>
          <p:cNvSpPr>
            <a:spLocks noChangeArrowheads="1"/>
          </p:cNvSpPr>
          <p:nvPr/>
        </p:nvSpPr>
        <p:spPr bwMode="auto">
          <a:xfrm>
            <a:off x="2286000" y="42418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38" name="Rectangle 13"/>
          <p:cNvSpPr>
            <a:spLocks noChangeArrowheads="1"/>
          </p:cNvSpPr>
          <p:nvPr/>
        </p:nvSpPr>
        <p:spPr bwMode="auto">
          <a:xfrm>
            <a:off x="2286000" y="34036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39" name="Rectangle 14"/>
          <p:cNvSpPr>
            <a:spLocks noChangeArrowheads="1"/>
          </p:cNvSpPr>
          <p:nvPr/>
        </p:nvSpPr>
        <p:spPr bwMode="auto">
          <a:xfrm>
            <a:off x="1752600" y="37846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0" name="Rectangle 15"/>
          <p:cNvSpPr>
            <a:spLocks noChangeArrowheads="1"/>
          </p:cNvSpPr>
          <p:nvPr/>
        </p:nvSpPr>
        <p:spPr bwMode="auto">
          <a:xfrm>
            <a:off x="2819400" y="37846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1" name="Rectangle 16"/>
          <p:cNvSpPr>
            <a:spLocks noChangeArrowheads="1"/>
          </p:cNvSpPr>
          <p:nvPr/>
        </p:nvSpPr>
        <p:spPr bwMode="auto">
          <a:xfrm>
            <a:off x="2286000" y="37846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2" name="Rectangle 17"/>
          <p:cNvSpPr>
            <a:spLocks noChangeArrowheads="1"/>
          </p:cNvSpPr>
          <p:nvPr/>
        </p:nvSpPr>
        <p:spPr bwMode="auto">
          <a:xfrm>
            <a:off x="5638800" y="34798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3" name="Rectangle 18"/>
          <p:cNvSpPr>
            <a:spLocks noChangeArrowheads="1"/>
          </p:cNvSpPr>
          <p:nvPr/>
        </p:nvSpPr>
        <p:spPr bwMode="auto">
          <a:xfrm>
            <a:off x="6553200" y="34798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4" name="Rectangle 19"/>
          <p:cNvSpPr>
            <a:spLocks noChangeArrowheads="1"/>
          </p:cNvSpPr>
          <p:nvPr/>
        </p:nvSpPr>
        <p:spPr bwMode="auto">
          <a:xfrm>
            <a:off x="6019800" y="34798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5" name="Rectangle 20"/>
          <p:cNvSpPr>
            <a:spLocks noChangeArrowheads="1"/>
          </p:cNvSpPr>
          <p:nvPr/>
        </p:nvSpPr>
        <p:spPr bwMode="auto">
          <a:xfrm>
            <a:off x="5486400" y="39370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6" name="Rectangle 21"/>
          <p:cNvSpPr>
            <a:spLocks noChangeArrowheads="1"/>
          </p:cNvSpPr>
          <p:nvPr/>
        </p:nvSpPr>
        <p:spPr bwMode="auto">
          <a:xfrm>
            <a:off x="5791200" y="42418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7" name="Rectangle 22"/>
          <p:cNvSpPr>
            <a:spLocks noChangeArrowheads="1"/>
          </p:cNvSpPr>
          <p:nvPr/>
        </p:nvSpPr>
        <p:spPr bwMode="auto">
          <a:xfrm>
            <a:off x="6629400" y="40132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8" name="Rectangle 23"/>
          <p:cNvSpPr>
            <a:spLocks noChangeArrowheads="1"/>
          </p:cNvSpPr>
          <p:nvPr/>
        </p:nvSpPr>
        <p:spPr bwMode="auto">
          <a:xfrm>
            <a:off x="6096000" y="3937000"/>
            <a:ext cx="228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49" name="Oval 24"/>
          <p:cNvSpPr>
            <a:spLocks noChangeArrowheads="1"/>
          </p:cNvSpPr>
          <p:nvPr/>
        </p:nvSpPr>
        <p:spPr bwMode="auto">
          <a:xfrm>
            <a:off x="1219200" y="3251200"/>
            <a:ext cx="23622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50" name="Oval 25"/>
          <p:cNvSpPr>
            <a:spLocks noChangeArrowheads="1"/>
          </p:cNvSpPr>
          <p:nvPr/>
        </p:nvSpPr>
        <p:spPr bwMode="auto">
          <a:xfrm>
            <a:off x="4876800" y="3251200"/>
            <a:ext cx="23622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51" name="Text Box 26"/>
          <p:cNvSpPr txBox="1">
            <a:spLocks noChangeArrowheads="1"/>
          </p:cNvSpPr>
          <p:nvPr/>
        </p:nvSpPr>
        <p:spPr bwMode="auto">
          <a:xfrm>
            <a:off x="1965325" y="2835275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g1</a:t>
            </a:r>
          </a:p>
        </p:txBody>
      </p:sp>
      <p:sp>
        <p:nvSpPr>
          <p:cNvPr id="150552" name="Text Box 27"/>
          <p:cNvSpPr txBox="1">
            <a:spLocks noChangeArrowheads="1"/>
          </p:cNvSpPr>
          <p:nvPr/>
        </p:nvSpPr>
        <p:spPr bwMode="auto">
          <a:xfrm>
            <a:off x="5943600" y="279400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g2</a:t>
            </a:r>
          </a:p>
        </p:txBody>
      </p:sp>
      <p:sp>
        <p:nvSpPr>
          <p:cNvPr id="150553" name="Text Box 29"/>
          <p:cNvSpPr txBox="1">
            <a:spLocks noChangeArrowheads="1"/>
          </p:cNvSpPr>
          <p:nvPr/>
        </p:nvSpPr>
        <p:spPr bwMode="auto">
          <a:xfrm>
            <a:off x="3429000" y="1828800"/>
            <a:ext cx="3132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complete-link algorithm</a:t>
            </a:r>
          </a:p>
        </p:txBody>
      </p:sp>
      <p:sp>
        <p:nvSpPr>
          <p:cNvPr id="150554" name="Freeform 30"/>
          <p:cNvSpPr>
            <a:spLocks/>
          </p:cNvSpPr>
          <p:nvPr/>
        </p:nvSpPr>
        <p:spPr bwMode="auto">
          <a:xfrm>
            <a:off x="1905000" y="2743200"/>
            <a:ext cx="4800600" cy="1346200"/>
          </a:xfrm>
          <a:custGeom>
            <a:avLst/>
            <a:gdLst>
              <a:gd name="T0" fmla="*/ 0 w 3024"/>
              <a:gd name="T1" fmla="*/ 2147483646 h 848"/>
              <a:gd name="T2" fmla="*/ 2147483646 w 3024"/>
              <a:gd name="T3" fmla="*/ 2147483646 h 848"/>
              <a:gd name="T4" fmla="*/ 2147483646 w 3024"/>
              <a:gd name="T5" fmla="*/ 2147483646 h 848"/>
              <a:gd name="T6" fmla="*/ 0 60000 65536"/>
              <a:gd name="T7" fmla="*/ 0 60000 65536"/>
              <a:gd name="T8" fmla="*/ 0 60000 65536"/>
              <a:gd name="T9" fmla="*/ 0 w 3024"/>
              <a:gd name="T10" fmla="*/ 0 h 848"/>
              <a:gd name="T11" fmla="*/ 3024 w 3024"/>
              <a:gd name="T12" fmla="*/ 848 h 8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024" h="848">
                <a:moveTo>
                  <a:pt x="0" y="656"/>
                </a:moveTo>
                <a:cubicBezTo>
                  <a:pt x="444" y="328"/>
                  <a:pt x="888" y="0"/>
                  <a:pt x="1392" y="32"/>
                </a:cubicBezTo>
                <a:cubicBezTo>
                  <a:pt x="1896" y="64"/>
                  <a:pt x="2460" y="456"/>
                  <a:pt x="3024" y="848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55" name="Line 31"/>
          <p:cNvSpPr>
            <a:spLocks noChangeShapeType="1"/>
          </p:cNvSpPr>
          <p:nvPr/>
        </p:nvSpPr>
        <p:spPr bwMode="auto">
          <a:xfrm flipH="1">
            <a:off x="4648200" y="2286000"/>
            <a:ext cx="228600" cy="6096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56" name="Freeform 33"/>
          <p:cNvSpPr>
            <a:spLocks/>
          </p:cNvSpPr>
          <p:nvPr/>
        </p:nvSpPr>
        <p:spPr bwMode="auto">
          <a:xfrm>
            <a:off x="2336800" y="3098800"/>
            <a:ext cx="4368800" cy="1193800"/>
          </a:xfrm>
          <a:custGeom>
            <a:avLst/>
            <a:gdLst>
              <a:gd name="T0" fmla="*/ 2147483646 w 2752"/>
              <a:gd name="T1" fmla="*/ 2147483646 h 752"/>
              <a:gd name="T2" fmla="*/ 2147483646 w 2752"/>
              <a:gd name="T3" fmla="*/ 2147483646 h 752"/>
              <a:gd name="T4" fmla="*/ 2147483646 w 2752"/>
              <a:gd name="T5" fmla="*/ 2147483646 h 752"/>
              <a:gd name="T6" fmla="*/ 2147483646 w 2752"/>
              <a:gd name="T7" fmla="*/ 2147483646 h 752"/>
              <a:gd name="T8" fmla="*/ 2147483646 w 2752"/>
              <a:gd name="T9" fmla="*/ 2147483646 h 7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52"/>
              <a:gd name="T16" fmla="*/ 0 h 752"/>
              <a:gd name="T17" fmla="*/ 2752 w 2752"/>
              <a:gd name="T18" fmla="*/ 752 h 7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52" h="752">
                <a:moveTo>
                  <a:pt x="112" y="304"/>
                </a:moveTo>
                <a:cubicBezTo>
                  <a:pt x="56" y="300"/>
                  <a:pt x="0" y="296"/>
                  <a:pt x="160" y="256"/>
                </a:cubicBezTo>
                <a:cubicBezTo>
                  <a:pt x="320" y="216"/>
                  <a:pt x="688" y="0"/>
                  <a:pt x="1072" y="64"/>
                </a:cubicBezTo>
                <a:cubicBezTo>
                  <a:pt x="1456" y="128"/>
                  <a:pt x="2184" y="528"/>
                  <a:pt x="2464" y="640"/>
                </a:cubicBezTo>
                <a:cubicBezTo>
                  <a:pt x="2744" y="752"/>
                  <a:pt x="2748" y="744"/>
                  <a:pt x="2752" y="7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57" name="Freeform 34"/>
          <p:cNvSpPr>
            <a:spLocks/>
          </p:cNvSpPr>
          <p:nvPr/>
        </p:nvSpPr>
        <p:spPr bwMode="auto">
          <a:xfrm>
            <a:off x="2438400" y="3429000"/>
            <a:ext cx="2971800" cy="990600"/>
          </a:xfrm>
          <a:custGeom>
            <a:avLst/>
            <a:gdLst>
              <a:gd name="T0" fmla="*/ 0 w 1872"/>
              <a:gd name="T1" fmla="*/ 2147483646 h 624"/>
              <a:gd name="T2" fmla="*/ 2147483646 w 1872"/>
              <a:gd name="T3" fmla="*/ 2147483646 h 624"/>
              <a:gd name="T4" fmla="*/ 2147483646 w 1872"/>
              <a:gd name="T5" fmla="*/ 2147483646 h 624"/>
              <a:gd name="T6" fmla="*/ 0 60000 65536"/>
              <a:gd name="T7" fmla="*/ 0 60000 65536"/>
              <a:gd name="T8" fmla="*/ 0 60000 65536"/>
              <a:gd name="T9" fmla="*/ 0 w 1872"/>
              <a:gd name="T10" fmla="*/ 0 h 624"/>
              <a:gd name="T11" fmla="*/ 1872 w 1872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72" h="624">
                <a:moveTo>
                  <a:pt x="0" y="624"/>
                </a:moveTo>
                <a:cubicBezTo>
                  <a:pt x="252" y="360"/>
                  <a:pt x="504" y="96"/>
                  <a:pt x="816" y="48"/>
                </a:cubicBezTo>
                <a:cubicBezTo>
                  <a:pt x="1128" y="0"/>
                  <a:pt x="1500" y="168"/>
                  <a:pt x="1872" y="336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0558" name="Text Box 35"/>
          <p:cNvSpPr txBox="1">
            <a:spLocks noChangeArrowheads="1"/>
          </p:cNvSpPr>
          <p:nvPr/>
        </p:nvSpPr>
        <p:spPr bwMode="auto">
          <a:xfrm>
            <a:off x="3870325" y="3927475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……</a:t>
            </a:r>
          </a:p>
        </p:txBody>
      </p:sp>
      <p:sp>
        <p:nvSpPr>
          <p:cNvPr id="150559" name="Oval 37"/>
          <p:cNvSpPr>
            <a:spLocks noChangeArrowheads="1"/>
          </p:cNvSpPr>
          <p:nvPr/>
        </p:nvSpPr>
        <p:spPr bwMode="auto">
          <a:xfrm>
            <a:off x="4038600" y="2667000"/>
            <a:ext cx="304800" cy="2286000"/>
          </a:xfrm>
          <a:prstGeom prst="ellips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0560" name="Text Box 38"/>
          <p:cNvSpPr txBox="1">
            <a:spLocks noChangeArrowheads="1"/>
          </p:cNvSpPr>
          <p:nvPr/>
        </p:nvSpPr>
        <p:spPr bwMode="auto">
          <a:xfrm>
            <a:off x="5486400" y="5257800"/>
            <a:ext cx="2963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ja-JP" sz="1800">
                <a:ea typeface="ＭＳ Ｐゴシック" panose="020B0600070205080204" pitchFamily="34" charset="-128"/>
              </a:rPr>
              <a:t>average-link algorithm</a:t>
            </a:r>
          </a:p>
        </p:txBody>
      </p:sp>
      <p:sp>
        <p:nvSpPr>
          <p:cNvPr id="150561" name="Line 39"/>
          <p:cNvSpPr>
            <a:spLocks noChangeShapeType="1"/>
          </p:cNvSpPr>
          <p:nvPr/>
        </p:nvSpPr>
        <p:spPr bwMode="auto">
          <a:xfrm flipH="1" flipV="1">
            <a:off x="4648200" y="4495800"/>
            <a:ext cx="1676400" cy="685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2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77724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Hierarchical: Single Link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7086600" cy="838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800" smtClean="0">
                <a:effectLst/>
              </a:rPr>
              <a:t>cluster similarity = similarity of two </a:t>
            </a:r>
            <a:r>
              <a:rPr lang="en-US" altLang="en-US" sz="2800" i="1" smtClean="0">
                <a:solidFill>
                  <a:srgbClr val="800000"/>
                </a:solidFill>
                <a:effectLst/>
              </a:rPr>
              <a:t>most</a:t>
            </a:r>
            <a:r>
              <a:rPr lang="en-US" altLang="en-US" sz="2800" smtClean="0">
                <a:effectLst/>
              </a:rPr>
              <a:t> similar members</a:t>
            </a:r>
          </a:p>
        </p:txBody>
      </p:sp>
      <p:grpSp>
        <p:nvGrpSpPr>
          <p:cNvPr id="151556" name="Group 26"/>
          <p:cNvGrpSpPr>
            <a:grpSpLocks/>
          </p:cNvGrpSpPr>
          <p:nvPr/>
        </p:nvGrpSpPr>
        <p:grpSpPr bwMode="auto">
          <a:xfrm>
            <a:off x="533400" y="3505200"/>
            <a:ext cx="5032375" cy="2360613"/>
            <a:chOff x="432" y="1825"/>
            <a:chExt cx="3170" cy="1487"/>
          </a:xfrm>
        </p:grpSpPr>
        <p:sp>
          <p:nvSpPr>
            <p:cNvPr id="151558" name="Oval 4"/>
            <p:cNvSpPr>
              <a:spLocks noChangeArrowheads="1"/>
            </p:cNvSpPr>
            <p:nvPr/>
          </p:nvSpPr>
          <p:spPr bwMode="auto">
            <a:xfrm>
              <a:off x="1874" y="2593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59" name="Oval 5"/>
            <p:cNvSpPr>
              <a:spLocks noChangeArrowheads="1"/>
            </p:cNvSpPr>
            <p:nvPr/>
          </p:nvSpPr>
          <p:spPr bwMode="auto">
            <a:xfrm>
              <a:off x="3362" y="2545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0" name="Oval 6"/>
            <p:cNvSpPr>
              <a:spLocks noChangeArrowheads="1"/>
            </p:cNvSpPr>
            <p:nvPr/>
          </p:nvSpPr>
          <p:spPr bwMode="auto">
            <a:xfrm>
              <a:off x="2354" y="3217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1" name="Oval 7"/>
            <p:cNvSpPr>
              <a:spLocks noChangeArrowheads="1"/>
            </p:cNvSpPr>
            <p:nvPr/>
          </p:nvSpPr>
          <p:spPr bwMode="auto">
            <a:xfrm>
              <a:off x="2210" y="2737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2" name="Oval 8"/>
            <p:cNvSpPr>
              <a:spLocks noChangeArrowheads="1"/>
            </p:cNvSpPr>
            <p:nvPr/>
          </p:nvSpPr>
          <p:spPr bwMode="auto">
            <a:xfrm>
              <a:off x="3170" y="2545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3" name="Oval 9"/>
            <p:cNvSpPr>
              <a:spLocks noChangeArrowheads="1"/>
            </p:cNvSpPr>
            <p:nvPr/>
          </p:nvSpPr>
          <p:spPr bwMode="auto">
            <a:xfrm>
              <a:off x="3314" y="2353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4" name="Oval 10"/>
            <p:cNvSpPr>
              <a:spLocks noChangeArrowheads="1"/>
            </p:cNvSpPr>
            <p:nvPr/>
          </p:nvSpPr>
          <p:spPr bwMode="auto">
            <a:xfrm>
              <a:off x="1010" y="2401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5" name="Oval 11"/>
            <p:cNvSpPr>
              <a:spLocks noChangeArrowheads="1"/>
            </p:cNvSpPr>
            <p:nvPr/>
          </p:nvSpPr>
          <p:spPr bwMode="auto">
            <a:xfrm>
              <a:off x="962" y="2113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6" name="Oval 12"/>
            <p:cNvSpPr>
              <a:spLocks noChangeArrowheads="1"/>
            </p:cNvSpPr>
            <p:nvPr/>
          </p:nvSpPr>
          <p:spPr bwMode="auto">
            <a:xfrm>
              <a:off x="1250" y="2209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7" name="Oval 13"/>
            <p:cNvSpPr>
              <a:spLocks noChangeArrowheads="1"/>
            </p:cNvSpPr>
            <p:nvPr/>
          </p:nvSpPr>
          <p:spPr bwMode="auto">
            <a:xfrm>
              <a:off x="1058" y="2257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8" name="Oval 14"/>
            <p:cNvSpPr>
              <a:spLocks noChangeArrowheads="1"/>
            </p:cNvSpPr>
            <p:nvPr/>
          </p:nvSpPr>
          <p:spPr bwMode="auto">
            <a:xfrm>
              <a:off x="1202" y="2401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69" name="Oval 15"/>
            <p:cNvSpPr>
              <a:spLocks noChangeArrowheads="1"/>
            </p:cNvSpPr>
            <p:nvPr/>
          </p:nvSpPr>
          <p:spPr bwMode="auto">
            <a:xfrm>
              <a:off x="3122" y="2353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0" name="Oval 16"/>
            <p:cNvSpPr>
              <a:spLocks noChangeArrowheads="1"/>
            </p:cNvSpPr>
            <p:nvPr/>
          </p:nvSpPr>
          <p:spPr bwMode="auto">
            <a:xfrm>
              <a:off x="1010" y="1921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1" name="Oval 17"/>
            <p:cNvSpPr>
              <a:spLocks noChangeArrowheads="1"/>
            </p:cNvSpPr>
            <p:nvPr/>
          </p:nvSpPr>
          <p:spPr bwMode="auto">
            <a:xfrm>
              <a:off x="2978" y="2209"/>
              <a:ext cx="624" cy="521"/>
            </a:xfrm>
            <a:prstGeom prst="ellipse">
              <a:avLst/>
            </a:prstGeom>
            <a:noFill/>
            <a:ln w="38100" cap="sq">
              <a:solidFill>
                <a:srgbClr val="33CC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2" name="Oval 18"/>
            <p:cNvSpPr>
              <a:spLocks noChangeArrowheads="1"/>
            </p:cNvSpPr>
            <p:nvPr/>
          </p:nvSpPr>
          <p:spPr bwMode="auto">
            <a:xfrm>
              <a:off x="770" y="1825"/>
              <a:ext cx="720" cy="682"/>
            </a:xfrm>
            <a:prstGeom prst="ellipse">
              <a:avLst/>
            </a:prstGeom>
            <a:noFill/>
            <a:ln w="38100" cap="sq">
              <a:solidFill>
                <a:srgbClr val="33CC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3" name="Oval 19"/>
            <p:cNvSpPr>
              <a:spLocks noChangeArrowheads="1"/>
            </p:cNvSpPr>
            <p:nvPr/>
          </p:nvSpPr>
          <p:spPr bwMode="auto">
            <a:xfrm rot="2411630">
              <a:off x="1626" y="2590"/>
              <a:ext cx="1152" cy="696"/>
            </a:xfrm>
            <a:prstGeom prst="ellipse">
              <a:avLst/>
            </a:prstGeom>
            <a:noFill/>
            <a:ln w="38100" cap="sq">
              <a:solidFill>
                <a:srgbClr val="33CC33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4" name="Oval 20"/>
            <p:cNvSpPr>
              <a:spLocks noChangeArrowheads="1"/>
            </p:cNvSpPr>
            <p:nvPr/>
          </p:nvSpPr>
          <p:spPr bwMode="auto">
            <a:xfrm>
              <a:off x="2306" y="2833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5" name="Oval 21"/>
            <p:cNvSpPr>
              <a:spLocks noChangeArrowheads="1"/>
            </p:cNvSpPr>
            <p:nvPr/>
          </p:nvSpPr>
          <p:spPr bwMode="auto">
            <a:xfrm>
              <a:off x="2114" y="2929"/>
              <a:ext cx="96" cy="80"/>
            </a:xfrm>
            <a:prstGeom prst="ellipse">
              <a:avLst/>
            </a:prstGeom>
            <a:solidFill>
              <a:srgbClr val="0000FF"/>
            </a:solidFill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1576" name="Line 22"/>
            <p:cNvSpPr>
              <a:spLocks noChangeShapeType="1"/>
            </p:cNvSpPr>
            <p:nvPr/>
          </p:nvSpPr>
          <p:spPr bwMode="auto">
            <a:xfrm>
              <a:off x="1250" y="2449"/>
              <a:ext cx="672" cy="160"/>
            </a:xfrm>
            <a:prstGeom prst="line">
              <a:avLst/>
            </a:prstGeom>
            <a:noFill/>
            <a:ln w="38100" cap="sq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77" name="Line 23"/>
            <p:cNvSpPr>
              <a:spLocks noChangeShapeType="1"/>
            </p:cNvSpPr>
            <p:nvPr/>
          </p:nvSpPr>
          <p:spPr bwMode="auto">
            <a:xfrm flipH="1">
              <a:off x="2354" y="2593"/>
              <a:ext cx="864" cy="241"/>
            </a:xfrm>
            <a:prstGeom prst="line">
              <a:avLst/>
            </a:prstGeom>
            <a:noFill/>
            <a:ln w="38100" cap="sq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1578" name="Oval 24"/>
            <p:cNvSpPr>
              <a:spLocks noChangeArrowheads="1"/>
            </p:cNvSpPr>
            <p:nvPr/>
          </p:nvSpPr>
          <p:spPr bwMode="auto">
            <a:xfrm rot="1822447">
              <a:off x="432" y="1920"/>
              <a:ext cx="2640" cy="1392"/>
            </a:xfrm>
            <a:prstGeom prst="ellipse">
              <a:avLst/>
            </a:prstGeom>
            <a:noFill/>
            <a:ln w="38100" cap="rnd">
              <a:solidFill>
                <a:schemeClr val="hlink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  <p:sp>
        <p:nvSpPr>
          <p:cNvPr id="151557" name="Text Box 25"/>
          <p:cNvSpPr txBox="1">
            <a:spLocks noChangeArrowheads="1"/>
          </p:cNvSpPr>
          <p:nvPr/>
        </p:nvSpPr>
        <p:spPr bwMode="auto">
          <a:xfrm>
            <a:off x="6248400" y="2743200"/>
            <a:ext cx="25146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800000"/>
                </a:solidFill>
              </a:rPr>
              <a:t>-</a:t>
            </a:r>
            <a:r>
              <a:rPr lang="en-US" altLang="en-US" sz="2800"/>
              <a:t> Potentially long and skinny clusters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800000"/>
                </a:solidFill>
              </a:rPr>
              <a:t>+</a:t>
            </a:r>
            <a:r>
              <a:rPr lang="en-US" altLang="en-US" sz="2800"/>
              <a:t> Fast</a:t>
            </a:r>
          </a:p>
        </p:txBody>
      </p:sp>
    </p:spTree>
    <p:extLst>
      <p:ext uri="{BB962C8B-B14F-4D97-AF65-F5344CB8AC3E}">
        <p14:creationId xmlns:p14="http://schemas.microsoft.com/office/powerpoint/2010/main" val="237271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838200"/>
            <a:ext cx="7848600" cy="685800"/>
          </a:xfrm>
        </p:spPr>
        <p:txBody>
          <a:bodyPr>
            <a:normAutofit fontScale="90000"/>
          </a:bodyPr>
          <a:lstStyle/>
          <a:p>
            <a:r>
              <a:rPr lang="en-US" altLang="en-US" sz="4000" b="1" smtClean="0">
                <a:effectLst/>
              </a:rPr>
              <a:t>Example: single link</a:t>
            </a:r>
          </a:p>
        </p:txBody>
      </p:sp>
      <p:graphicFrame>
        <p:nvGraphicFramePr>
          <p:cNvPr id="153603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4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4" name="Object 3"/>
          <p:cNvGraphicFramePr>
            <a:graphicFrameLocks noChangeAspect="1"/>
          </p:cNvGraphicFramePr>
          <p:nvPr/>
        </p:nvGraphicFramePr>
        <p:xfrm>
          <a:off x="3962400" y="1905000"/>
          <a:ext cx="15240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5" name="Equation" r:id="rId5" imgW="1193800" imgH="1143000" progId="Equation.3">
                  <p:embed/>
                </p:oleObj>
              </mc:Choice>
              <mc:Fallback>
                <p:oleObj name="Equation" r:id="rId5" imgW="11938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05000"/>
                        <a:ext cx="15240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5" name="Line 5"/>
          <p:cNvSpPr>
            <a:spLocks noChangeShapeType="1"/>
          </p:cNvSpPr>
          <p:nvPr/>
        </p:nvSpPr>
        <p:spPr bwMode="auto">
          <a:xfrm flipH="1">
            <a:off x="5791200" y="5257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06" name="Line 6"/>
          <p:cNvSpPr>
            <a:spLocks noChangeShapeType="1"/>
          </p:cNvSpPr>
          <p:nvPr/>
        </p:nvSpPr>
        <p:spPr bwMode="auto">
          <a:xfrm>
            <a:off x="5791200" y="52578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07" name="Line 7"/>
          <p:cNvSpPr>
            <a:spLocks noChangeShapeType="1"/>
          </p:cNvSpPr>
          <p:nvPr/>
        </p:nvSpPr>
        <p:spPr bwMode="auto">
          <a:xfrm>
            <a:off x="5791200" y="5791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08" name="Oval 8"/>
          <p:cNvSpPr>
            <a:spLocks noChangeArrowheads="1"/>
          </p:cNvSpPr>
          <p:nvPr/>
        </p:nvSpPr>
        <p:spPr bwMode="auto">
          <a:xfrm>
            <a:off x="7391400" y="5562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09" name="Oval 9"/>
          <p:cNvSpPr>
            <a:spLocks noChangeArrowheads="1"/>
          </p:cNvSpPr>
          <p:nvPr/>
        </p:nvSpPr>
        <p:spPr bwMode="auto">
          <a:xfrm>
            <a:off x="7391400" y="5105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10" name="Oval 10"/>
          <p:cNvSpPr>
            <a:spLocks noChangeArrowheads="1"/>
          </p:cNvSpPr>
          <p:nvPr/>
        </p:nvSpPr>
        <p:spPr bwMode="auto">
          <a:xfrm>
            <a:off x="7391400" y="4724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11" name="Oval 11"/>
          <p:cNvSpPr>
            <a:spLocks noChangeArrowheads="1"/>
          </p:cNvSpPr>
          <p:nvPr/>
        </p:nvSpPr>
        <p:spPr bwMode="auto">
          <a:xfrm>
            <a:off x="7391400" y="4267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12" name="Oval 12"/>
          <p:cNvSpPr>
            <a:spLocks noChangeArrowheads="1"/>
          </p:cNvSpPr>
          <p:nvPr/>
        </p:nvSpPr>
        <p:spPr bwMode="auto">
          <a:xfrm>
            <a:off x="7391400" y="37338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3613" name="Text Box 13"/>
          <p:cNvSpPr txBox="1">
            <a:spLocks noChangeArrowheads="1"/>
          </p:cNvSpPr>
          <p:nvPr/>
        </p:nvSpPr>
        <p:spPr bwMode="auto">
          <a:xfrm>
            <a:off x="7391400" y="5562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3614" name="Text Box 14"/>
          <p:cNvSpPr txBox="1">
            <a:spLocks noChangeArrowheads="1"/>
          </p:cNvSpPr>
          <p:nvPr/>
        </p:nvSpPr>
        <p:spPr bwMode="auto">
          <a:xfrm>
            <a:off x="7391400" y="5105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3615" name="Text Box 15"/>
          <p:cNvSpPr txBox="1">
            <a:spLocks noChangeArrowheads="1"/>
          </p:cNvSpPr>
          <p:nvPr/>
        </p:nvSpPr>
        <p:spPr bwMode="auto">
          <a:xfrm>
            <a:off x="7391400" y="4724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3616" name="Text Box 16"/>
          <p:cNvSpPr txBox="1">
            <a:spLocks noChangeArrowheads="1"/>
          </p:cNvSpPr>
          <p:nvPr/>
        </p:nvSpPr>
        <p:spPr bwMode="auto">
          <a:xfrm>
            <a:off x="73914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3617" name="Text Box 17"/>
          <p:cNvSpPr txBox="1">
            <a:spLocks noChangeArrowheads="1"/>
          </p:cNvSpPr>
          <p:nvPr/>
        </p:nvSpPr>
        <p:spPr bwMode="auto">
          <a:xfrm>
            <a:off x="7391400" y="37338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53618" name="AutoShape 18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53619" name="Object 4"/>
          <p:cNvGraphicFramePr>
            <a:graphicFrameLocks noChangeAspect="1"/>
          </p:cNvGraphicFramePr>
          <p:nvPr/>
        </p:nvGraphicFramePr>
        <p:xfrm>
          <a:off x="609600" y="3962400"/>
          <a:ext cx="4341813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6" r:id="rId7" imgW="2371834" imgH="735724" progId="">
                  <p:embed/>
                </p:oleObj>
              </mc:Choice>
              <mc:Fallback>
                <p:oleObj r:id="rId7" imgW="2371834" imgH="7357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962400"/>
                        <a:ext cx="4341813" cy="1344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8080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858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single link</a:t>
            </a:r>
          </a:p>
        </p:txBody>
      </p:sp>
      <p:graphicFrame>
        <p:nvGraphicFramePr>
          <p:cNvPr id="154627" name="Object 2"/>
          <p:cNvGraphicFramePr>
            <a:graphicFrameLocks noChangeAspect="1"/>
          </p:cNvGraphicFramePr>
          <p:nvPr/>
        </p:nvGraphicFramePr>
        <p:xfrm>
          <a:off x="6381750" y="1981200"/>
          <a:ext cx="1408113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2" name="Equation" r:id="rId3" imgW="1079500" imgH="939800" progId="Equation.3">
                  <p:embed/>
                </p:oleObj>
              </mc:Choice>
              <mc:Fallback>
                <p:oleObj name="Equation" r:id="rId3" imgW="10795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1981200"/>
                        <a:ext cx="1408113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28" name="Line 4"/>
          <p:cNvSpPr>
            <a:spLocks noChangeShapeType="1"/>
          </p:cNvSpPr>
          <p:nvPr/>
        </p:nvSpPr>
        <p:spPr bwMode="auto">
          <a:xfrm flipH="1">
            <a:off x="6019800" y="51054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629" name="Line 5"/>
          <p:cNvSpPr>
            <a:spLocks noChangeShapeType="1"/>
          </p:cNvSpPr>
          <p:nvPr/>
        </p:nvSpPr>
        <p:spPr bwMode="auto">
          <a:xfrm>
            <a:off x="6019800" y="5105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630" name="Line 6"/>
          <p:cNvSpPr>
            <a:spLocks noChangeShapeType="1"/>
          </p:cNvSpPr>
          <p:nvPr/>
        </p:nvSpPr>
        <p:spPr bwMode="auto">
          <a:xfrm>
            <a:off x="6019800" y="5638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4631" name="Group 7"/>
          <p:cNvGrpSpPr>
            <a:grpSpLocks/>
          </p:cNvGrpSpPr>
          <p:nvPr/>
        </p:nvGrpSpPr>
        <p:grpSpPr bwMode="auto">
          <a:xfrm>
            <a:off x="7620000" y="3657600"/>
            <a:ext cx="533400" cy="2286000"/>
            <a:chOff x="4800" y="2304"/>
            <a:chExt cx="336" cy="1440"/>
          </a:xfrm>
        </p:grpSpPr>
        <p:sp>
          <p:nvSpPr>
            <p:cNvPr id="154640" name="Oval 8"/>
            <p:cNvSpPr>
              <a:spLocks noChangeArrowheads="1"/>
            </p:cNvSpPr>
            <p:nvPr/>
          </p:nvSpPr>
          <p:spPr bwMode="auto">
            <a:xfrm>
              <a:off x="4800" y="34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641" name="Oval 9"/>
            <p:cNvSpPr>
              <a:spLocks noChangeArrowheads="1"/>
            </p:cNvSpPr>
            <p:nvPr/>
          </p:nvSpPr>
          <p:spPr bwMode="auto">
            <a:xfrm>
              <a:off x="4800" y="31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642" name="Oval 10"/>
            <p:cNvSpPr>
              <a:spLocks noChangeArrowheads="1"/>
            </p:cNvSpPr>
            <p:nvPr/>
          </p:nvSpPr>
          <p:spPr bwMode="auto">
            <a:xfrm>
              <a:off x="4800" y="29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643" name="Oval 11"/>
            <p:cNvSpPr>
              <a:spLocks noChangeArrowheads="1"/>
            </p:cNvSpPr>
            <p:nvPr/>
          </p:nvSpPr>
          <p:spPr bwMode="auto">
            <a:xfrm>
              <a:off x="4800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644" name="Oval 12"/>
            <p:cNvSpPr>
              <a:spLocks noChangeArrowheads="1"/>
            </p:cNvSpPr>
            <p:nvPr/>
          </p:nvSpPr>
          <p:spPr bwMode="auto">
            <a:xfrm>
              <a:off x="4800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4645" name="Text Box 13"/>
            <p:cNvSpPr txBox="1">
              <a:spLocks noChangeArrowheads="1"/>
            </p:cNvSpPr>
            <p:nvPr/>
          </p:nvSpPr>
          <p:spPr bwMode="auto">
            <a:xfrm>
              <a:off x="4800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54646" name="Text Box 14"/>
            <p:cNvSpPr txBox="1">
              <a:spLocks noChangeArrowheads="1"/>
            </p:cNvSpPr>
            <p:nvPr/>
          </p:nvSpPr>
          <p:spPr bwMode="auto">
            <a:xfrm>
              <a:off x="4800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54647" name="Text Box 15"/>
            <p:cNvSpPr txBox="1">
              <a:spLocks noChangeArrowheads="1"/>
            </p:cNvSpPr>
            <p:nvPr/>
          </p:nvSpPr>
          <p:spPr bwMode="auto">
            <a:xfrm>
              <a:off x="4800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54648" name="Text Box 16"/>
            <p:cNvSpPr txBox="1">
              <a:spLocks noChangeArrowheads="1"/>
            </p:cNvSpPr>
            <p:nvPr/>
          </p:nvSpPr>
          <p:spPr bwMode="auto">
            <a:xfrm>
              <a:off x="4800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54649" name="Text Box 17"/>
            <p:cNvSpPr txBox="1">
              <a:spLocks noChangeArrowheads="1"/>
            </p:cNvSpPr>
            <p:nvPr/>
          </p:nvSpPr>
          <p:spPr bwMode="auto">
            <a:xfrm>
              <a:off x="4800" y="23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54632" name="AutoShape 18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4633" name="AutoShape 19"/>
          <p:cNvSpPr>
            <a:spLocks noChangeArrowheads="1"/>
          </p:cNvSpPr>
          <p:nvPr/>
        </p:nvSpPr>
        <p:spPr bwMode="auto">
          <a:xfrm>
            <a:off x="56388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54634" name="Object 3"/>
          <p:cNvGraphicFramePr>
            <a:graphicFrameLocks noChangeAspect="1"/>
          </p:cNvGraphicFramePr>
          <p:nvPr/>
        </p:nvGraphicFramePr>
        <p:xfrm>
          <a:off x="3962400" y="1905000"/>
          <a:ext cx="15240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3" name="Equation" r:id="rId5" imgW="1193800" imgH="1143000" progId="Equation.3">
                  <p:embed/>
                </p:oleObj>
              </mc:Choice>
              <mc:Fallback>
                <p:oleObj name="Equation" r:id="rId5" imgW="11938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05000"/>
                        <a:ext cx="15240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5" name="Object 4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4" name="Equation" r:id="rId7" imgW="1371600" imgH="1371600" progId="Equation.3">
                  <p:embed/>
                </p:oleObj>
              </mc:Choice>
              <mc:Fallback>
                <p:oleObj name="Equation" r:id="rId7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6" name="Line 22"/>
          <p:cNvSpPr>
            <a:spLocks noChangeShapeType="1"/>
          </p:cNvSpPr>
          <p:nvPr/>
        </p:nvSpPr>
        <p:spPr bwMode="auto">
          <a:xfrm flipH="1">
            <a:off x="5486400" y="4800600"/>
            <a:ext cx="2057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637" name="Line 23"/>
          <p:cNvSpPr>
            <a:spLocks noChangeShapeType="1"/>
          </p:cNvSpPr>
          <p:nvPr/>
        </p:nvSpPr>
        <p:spPr bwMode="auto">
          <a:xfrm>
            <a:off x="5486400" y="48006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638" name="Line 24"/>
          <p:cNvSpPr>
            <a:spLocks noChangeShapeType="1"/>
          </p:cNvSpPr>
          <p:nvPr/>
        </p:nvSpPr>
        <p:spPr bwMode="auto">
          <a:xfrm>
            <a:off x="5486400" y="5334000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4639" name="Object 5"/>
          <p:cNvGraphicFramePr>
            <a:graphicFrameLocks noChangeAspect="1"/>
          </p:cNvGraphicFramePr>
          <p:nvPr/>
        </p:nvGraphicFramePr>
        <p:xfrm>
          <a:off x="685800" y="4038600"/>
          <a:ext cx="3808413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5" r:id="rId9" imgW="2532185" imgH="481818" progId="">
                  <p:embed/>
                </p:oleObj>
              </mc:Choice>
              <mc:Fallback>
                <p:oleObj r:id="rId9" imgW="2532185" imgH="481818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4038600"/>
                        <a:ext cx="3808413" cy="727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35295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858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single link</a:t>
            </a:r>
          </a:p>
        </p:txBody>
      </p:sp>
      <p:graphicFrame>
        <p:nvGraphicFramePr>
          <p:cNvPr id="155651" name="Object 2"/>
          <p:cNvGraphicFramePr>
            <a:graphicFrameLocks noChangeAspect="1"/>
          </p:cNvGraphicFramePr>
          <p:nvPr/>
        </p:nvGraphicFramePr>
        <p:xfrm>
          <a:off x="6381750" y="1981200"/>
          <a:ext cx="1408113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6" name="Equation" r:id="rId3" imgW="1079500" imgH="939800" progId="Equation.3">
                  <p:embed/>
                </p:oleObj>
              </mc:Choice>
              <mc:Fallback>
                <p:oleObj name="Equation" r:id="rId3" imgW="10795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1750" y="1981200"/>
                        <a:ext cx="1408113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2" name="Line 4"/>
          <p:cNvSpPr>
            <a:spLocks noChangeShapeType="1"/>
          </p:cNvSpPr>
          <p:nvPr/>
        </p:nvSpPr>
        <p:spPr bwMode="auto">
          <a:xfrm flipH="1">
            <a:off x="5943600" y="51054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53" name="Line 5"/>
          <p:cNvSpPr>
            <a:spLocks noChangeShapeType="1"/>
          </p:cNvSpPr>
          <p:nvPr/>
        </p:nvSpPr>
        <p:spPr bwMode="auto">
          <a:xfrm>
            <a:off x="5943600" y="5105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54" name="Line 6"/>
          <p:cNvSpPr>
            <a:spLocks noChangeShapeType="1"/>
          </p:cNvSpPr>
          <p:nvPr/>
        </p:nvSpPr>
        <p:spPr bwMode="auto">
          <a:xfrm>
            <a:off x="5943600" y="5638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55" name="Text Box 7"/>
          <p:cNvSpPr txBox="1">
            <a:spLocks noChangeArrowheads="1"/>
          </p:cNvSpPr>
          <p:nvPr/>
        </p:nvSpPr>
        <p:spPr bwMode="auto">
          <a:xfrm>
            <a:off x="7543800" y="5029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155656" name="Oval 8"/>
          <p:cNvSpPr>
            <a:spLocks noChangeArrowheads="1"/>
          </p:cNvSpPr>
          <p:nvPr/>
        </p:nvSpPr>
        <p:spPr bwMode="auto">
          <a:xfrm>
            <a:off x="7543800" y="5486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57" name="Oval 9"/>
          <p:cNvSpPr>
            <a:spLocks noChangeArrowheads="1"/>
          </p:cNvSpPr>
          <p:nvPr/>
        </p:nvSpPr>
        <p:spPr bwMode="auto">
          <a:xfrm>
            <a:off x="7543800" y="5029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200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5658" name="Oval 10"/>
          <p:cNvSpPr>
            <a:spLocks noChangeArrowheads="1"/>
          </p:cNvSpPr>
          <p:nvPr/>
        </p:nvSpPr>
        <p:spPr bwMode="auto">
          <a:xfrm>
            <a:off x="7543800" y="4648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59" name="Oval 11"/>
          <p:cNvSpPr>
            <a:spLocks noChangeArrowheads="1"/>
          </p:cNvSpPr>
          <p:nvPr/>
        </p:nvSpPr>
        <p:spPr bwMode="auto">
          <a:xfrm>
            <a:off x="7543800" y="4191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60" name="Oval 12"/>
          <p:cNvSpPr>
            <a:spLocks noChangeArrowheads="1"/>
          </p:cNvSpPr>
          <p:nvPr/>
        </p:nvSpPr>
        <p:spPr bwMode="auto">
          <a:xfrm>
            <a:off x="7543800" y="3657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61" name="Text Box 13"/>
          <p:cNvSpPr txBox="1">
            <a:spLocks noChangeArrowheads="1"/>
          </p:cNvSpPr>
          <p:nvPr/>
        </p:nvSpPr>
        <p:spPr bwMode="auto">
          <a:xfrm>
            <a:off x="7543800" y="5486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5662" name="Text Box 14"/>
          <p:cNvSpPr txBox="1">
            <a:spLocks noChangeArrowheads="1"/>
          </p:cNvSpPr>
          <p:nvPr/>
        </p:nvSpPr>
        <p:spPr bwMode="auto">
          <a:xfrm>
            <a:off x="75438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5663" name="Text Box 15"/>
          <p:cNvSpPr txBox="1">
            <a:spLocks noChangeArrowheads="1"/>
          </p:cNvSpPr>
          <p:nvPr/>
        </p:nvSpPr>
        <p:spPr bwMode="auto">
          <a:xfrm>
            <a:off x="7543800" y="419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5664" name="Text Box 16"/>
          <p:cNvSpPr txBox="1">
            <a:spLocks noChangeArrowheads="1"/>
          </p:cNvSpPr>
          <p:nvPr/>
        </p:nvSpPr>
        <p:spPr bwMode="auto">
          <a:xfrm>
            <a:off x="7543800" y="3657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55665" name="AutoShape 17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5666" name="AutoShape 18"/>
          <p:cNvSpPr>
            <a:spLocks noChangeArrowheads="1"/>
          </p:cNvSpPr>
          <p:nvPr/>
        </p:nvSpPr>
        <p:spPr bwMode="auto">
          <a:xfrm>
            <a:off x="56388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55667" name="Object 3"/>
          <p:cNvGraphicFramePr>
            <a:graphicFrameLocks noChangeAspect="1"/>
          </p:cNvGraphicFramePr>
          <p:nvPr/>
        </p:nvGraphicFramePr>
        <p:xfrm>
          <a:off x="3962400" y="1905000"/>
          <a:ext cx="152400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7" name="Equation" r:id="rId5" imgW="1193800" imgH="1143000" progId="Equation.3">
                  <p:embed/>
                </p:oleObj>
              </mc:Choice>
              <mc:Fallback>
                <p:oleObj name="Equation" r:id="rId5" imgW="11938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05000"/>
                        <a:ext cx="152400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68" name="Object 4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8" name="Equation" r:id="rId7" imgW="1371600" imgH="1371600" progId="Equation.3">
                  <p:embed/>
                </p:oleObj>
              </mc:Choice>
              <mc:Fallback>
                <p:oleObj name="Equation" r:id="rId7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69" name="Line 21"/>
          <p:cNvSpPr>
            <a:spLocks noChangeShapeType="1"/>
          </p:cNvSpPr>
          <p:nvPr/>
        </p:nvSpPr>
        <p:spPr bwMode="auto">
          <a:xfrm flipH="1">
            <a:off x="5410200" y="4800600"/>
            <a:ext cx="2057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0" name="Line 22"/>
          <p:cNvSpPr>
            <a:spLocks noChangeShapeType="1"/>
          </p:cNvSpPr>
          <p:nvPr/>
        </p:nvSpPr>
        <p:spPr bwMode="auto">
          <a:xfrm>
            <a:off x="5410200" y="48006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1" name="Line 23"/>
          <p:cNvSpPr>
            <a:spLocks noChangeShapeType="1"/>
          </p:cNvSpPr>
          <p:nvPr/>
        </p:nvSpPr>
        <p:spPr bwMode="auto">
          <a:xfrm>
            <a:off x="5410200" y="5334000"/>
            <a:ext cx="53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2" name="Line 24"/>
          <p:cNvSpPr>
            <a:spLocks noChangeShapeType="1"/>
          </p:cNvSpPr>
          <p:nvPr/>
        </p:nvSpPr>
        <p:spPr bwMode="auto">
          <a:xfrm flipH="1">
            <a:off x="5943600" y="3886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3" name="Line 25"/>
          <p:cNvSpPr>
            <a:spLocks noChangeShapeType="1"/>
          </p:cNvSpPr>
          <p:nvPr/>
        </p:nvSpPr>
        <p:spPr bwMode="auto">
          <a:xfrm>
            <a:off x="5943600" y="38862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4" name="Line 26"/>
          <p:cNvSpPr>
            <a:spLocks noChangeShapeType="1"/>
          </p:cNvSpPr>
          <p:nvPr/>
        </p:nvSpPr>
        <p:spPr bwMode="auto">
          <a:xfrm>
            <a:off x="5943600" y="4419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5" name="Line 27"/>
          <p:cNvSpPr>
            <a:spLocks noChangeShapeType="1"/>
          </p:cNvSpPr>
          <p:nvPr/>
        </p:nvSpPr>
        <p:spPr bwMode="auto">
          <a:xfrm flipH="1">
            <a:off x="4648200" y="4114800"/>
            <a:ext cx="1295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6" name="Line 28"/>
          <p:cNvSpPr>
            <a:spLocks noChangeShapeType="1"/>
          </p:cNvSpPr>
          <p:nvPr/>
        </p:nvSpPr>
        <p:spPr bwMode="auto">
          <a:xfrm>
            <a:off x="4648200" y="4114800"/>
            <a:ext cx="0" cy="990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5677" name="Line 29"/>
          <p:cNvSpPr>
            <a:spLocks noChangeShapeType="1"/>
          </p:cNvSpPr>
          <p:nvPr/>
        </p:nvSpPr>
        <p:spPr bwMode="auto">
          <a:xfrm>
            <a:off x="4648200" y="5105400"/>
            <a:ext cx="762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5678" name="Object 5"/>
          <p:cNvGraphicFramePr>
            <a:graphicFrameLocks noChangeAspect="1"/>
          </p:cNvGraphicFramePr>
          <p:nvPr/>
        </p:nvGraphicFramePr>
        <p:xfrm>
          <a:off x="457200" y="4114800"/>
          <a:ext cx="3884613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69" r:id="rId9" imgW="2240280" imgH="239151" progId="">
                  <p:embed/>
                </p:oleObj>
              </mc:Choice>
              <mc:Fallback>
                <p:oleObj r:id="rId9" imgW="2240280" imgH="23915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14800"/>
                        <a:ext cx="3884613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3140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85800"/>
            <a:ext cx="7772400" cy="838200"/>
          </a:xfrm>
        </p:spPr>
        <p:txBody>
          <a:bodyPr/>
          <a:lstStyle/>
          <a:p>
            <a:r>
              <a:rPr lang="en-US" altLang="en-US" sz="4000" b="1" smtClean="0">
                <a:effectLst/>
              </a:rPr>
              <a:t>Hierarchical: Complete Link</a:t>
            </a:r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620000" cy="990600"/>
          </a:xfrm>
        </p:spPr>
        <p:txBody>
          <a:bodyPr/>
          <a:lstStyle/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800" smtClean="0">
                <a:effectLst/>
              </a:rPr>
              <a:t>cluster similarity = similarity of two </a:t>
            </a:r>
            <a:r>
              <a:rPr lang="en-US" altLang="en-US" sz="2800" i="1" smtClean="0">
                <a:solidFill>
                  <a:srgbClr val="800000"/>
                </a:solidFill>
                <a:effectLst/>
              </a:rPr>
              <a:t>least</a:t>
            </a:r>
            <a:r>
              <a:rPr lang="en-US" altLang="en-US" sz="2800" smtClean="0">
                <a:effectLst/>
              </a:rPr>
              <a:t> similar members</a:t>
            </a:r>
          </a:p>
        </p:txBody>
      </p:sp>
      <p:sp>
        <p:nvSpPr>
          <p:cNvPr id="156676" name="Oval 4"/>
          <p:cNvSpPr>
            <a:spLocks noChangeArrowheads="1"/>
          </p:cNvSpPr>
          <p:nvPr/>
        </p:nvSpPr>
        <p:spPr bwMode="auto">
          <a:xfrm>
            <a:off x="2286000" y="4495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77" name="Oval 5"/>
          <p:cNvSpPr>
            <a:spLocks noChangeArrowheads="1"/>
          </p:cNvSpPr>
          <p:nvPr/>
        </p:nvSpPr>
        <p:spPr bwMode="auto">
          <a:xfrm>
            <a:off x="4648200" y="44196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78" name="Oval 6"/>
          <p:cNvSpPr>
            <a:spLocks noChangeArrowheads="1"/>
          </p:cNvSpPr>
          <p:nvPr/>
        </p:nvSpPr>
        <p:spPr bwMode="auto">
          <a:xfrm>
            <a:off x="3048000" y="54864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79" name="Oval 7"/>
          <p:cNvSpPr>
            <a:spLocks noChangeArrowheads="1"/>
          </p:cNvSpPr>
          <p:nvPr/>
        </p:nvSpPr>
        <p:spPr bwMode="auto">
          <a:xfrm>
            <a:off x="2819400" y="47244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0" name="Oval 8"/>
          <p:cNvSpPr>
            <a:spLocks noChangeArrowheads="1"/>
          </p:cNvSpPr>
          <p:nvPr/>
        </p:nvSpPr>
        <p:spPr bwMode="auto">
          <a:xfrm>
            <a:off x="4343400" y="44196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1" name="Oval 9"/>
          <p:cNvSpPr>
            <a:spLocks noChangeArrowheads="1"/>
          </p:cNvSpPr>
          <p:nvPr/>
        </p:nvSpPr>
        <p:spPr bwMode="auto">
          <a:xfrm>
            <a:off x="4572000" y="4114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2" name="Oval 10"/>
          <p:cNvSpPr>
            <a:spLocks noChangeArrowheads="1"/>
          </p:cNvSpPr>
          <p:nvPr/>
        </p:nvSpPr>
        <p:spPr bwMode="auto">
          <a:xfrm>
            <a:off x="914400" y="4191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3" name="Oval 11"/>
          <p:cNvSpPr>
            <a:spLocks noChangeArrowheads="1"/>
          </p:cNvSpPr>
          <p:nvPr/>
        </p:nvSpPr>
        <p:spPr bwMode="auto">
          <a:xfrm>
            <a:off x="838200" y="3733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4" name="Oval 12"/>
          <p:cNvSpPr>
            <a:spLocks noChangeArrowheads="1"/>
          </p:cNvSpPr>
          <p:nvPr/>
        </p:nvSpPr>
        <p:spPr bwMode="auto">
          <a:xfrm>
            <a:off x="1295400" y="38862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5" name="Oval 13"/>
          <p:cNvSpPr>
            <a:spLocks noChangeArrowheads="1"/>
          </p:cNvSpPr>
          <p:nvPr/>
        </p:nvSpPr>
        <p:spPr bwMode="auto">
          <a:xfrm>
            <a:off x="990600" y="39624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6" name="Oval 14"/>
          <p:cNvSpPr>
            <a:spLocks noChangeArrowheads="1"/>
          </p:cNvSpPr>
          <p:nvPr/>
        </p:nvSpPr>
        <p:spPr bwMode="auto">
          <a:xfrm>
            <a:off x="1219200" y="4191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7" name="Oval 15"/>
          <p:cNvSpPr>
            <a:spLocks noChangeArrowheads="1"/>
          </p:cNvSpPr>
          <p:nvPr/>
        </p:nvSpPr>
        <p:spPr bwMode="auto">
          <a:xfrm>
            <a:off x="4267200" y="4114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8" name="Oval 16"/>
          <p:cNvSpPr>
            <a:spLocks noChangeArrowheads="1"/>
          </p:cNvSpPr>
          <p:nvPr/>
        </p:nvSpPr>
        <p:spPr bwMode="auto">
          <a:xfrm>
            <a:off x="914400" y="3429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89" name="Oval 17"/>
          <p:cNvSpPr>
            <a:spLocks noChangeArrowheads="1"/>
          </p:cNvSpPr>
          <p:nvPr/>
        </p:nvSpPr>
        <p:spPr bwMode="auto">
          <a:xfrm>
            <a:off x="4038600" y="3886200"/>
            <a:ext cx="990600" cy="9906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0" name="Oval 18"/>
          <p:cNvSpPr>
            <a:spLocks noChangeArrowheads="1"/>
          </p:cNvSpPr>
          <p:nvPr/>
        </p:nvSpPr>
        <p:spPr bwMode="auto">
          <a:xfrm>
            <a:off x="533400" y="3276600"/>
            <a:ext cx="1143000" cy="12954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1" name="Oval 19"/>
          <p:cNvSpPr>
            <a:spLocks noChangeArrowheads="1"/>
          </p:cNvSpPr>
          <p:nvPr/>
        </p:nvSpPr>
        <p:spPr bwMode="auto">
          <a:xfrm rot="2411630">
            <a:off x="1905000" y="4495800"/>
            <a:ext cx="1828800" cy="10668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2" name="Oval 20"/>
          <p:cNvSpPr>
            <a:spLocks noChangeArrowheads="1"/>
          </p:cNvSpPr>
          <p:nvPr/>
        </p:nvSpPr>
        <p:spPr bwMode="auto">
          <a:xfrm>
            <a:off x="2971800" y="4876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3" name="Oval 21"/>
          <p:cNvSpPr>
            <a:spLocks noChangeArrowheads="1"/>
          </p:cNvSpPr>
          <p:nvPr/>
        </p:nvSpPr>
        <p:spPr bwMode="auto">
          <a:xfrm>
            <a:off x="2667000" y="50292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4" name="Line 22"/>
          <p:cNvSpPr>
            <a:spLocks noChangeShapeType="1"/>
          </p:cNvSpPr>
          <p:nvPr/>
        </p:nvSpPr>
        <p:spPr bwMode="auto">
          <a:xfrm>
            <a:off x="990600" y="3505200"/>
            <a:ext cx="2133600" cy="20574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6695" name="Line 23"/>
          <p:cNvSpPr>
            <a:spLocks noChangeShapeType="1"/>
          </p:cNvSpPr>
          <p:nvPr/>
        </p:nvSpPr>
        <p:spPr bwMode="auto">
          <a:xfrm flipH="1">
            <a:off x="2362200" y="4495800"/>
            <a:ext cx="2362200" cy="762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6696" name="Oval 24"/>
          <p:cNvSpPr>
            <a:spLocks noChangeArrowheads="1"/>
          </p:cNvSpPr>
          <p:nvPr/>
        </p:nvSpPr>
        <p:spPr bwMode="auto">
          <a:xfrm rot="-931360">
            <a:off x="1597025" y="3713163"/>
            <a:ext cx="3775075" cy="2095500"/>
          </a:xfrm>
          <a:prstGeom prst="ellipse">
            <a:avLst/>
          </a:prstGeom>
          <a:noFill/>
          <a:ln w="38100" cap="rnd">
            <a:solidFill>
              <a:schemeClr val="hlink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6697" name="Text Box 25"/>
          <p:cNvSpPr txBox="1">
            <a:spLocks noChangeArrowheads="1"/>
          </p:cNvSpPr>
          <p:nvPr/>
        </p:nvSpPr>
        <p:spPr bwMode="auto">
          <a:xfrm>
            <a:off x="5943600" y="3048000"/>
            <a:ext cx="2743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Comic Sans MS" panose="030F0702030302020204" pitchFamily="66" charset="0"/>
              </a:rPr>
              <a:t>+</a:t>
            </a:r>
            <a:r>
              <a:rPr lang="en-US" altLang="en-US" sz="1800">
                <a:latin typeface="Comic Sans MS" panose="030F0702030302020204" pitchFamily="66" charset="0"/>
              </a:rPr>
              <a:t> </a:t>
            </a:r>
            <a:r>
              <a:rPr lang="en-US" altLang="en-US" sz="1800"/>
              <a:t>tight clusters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Comic Sans MS" panose="030F0702030302020204" pitchFamily="66" charset="0"/>
              </a:rPr>
              <a:t>+ </a:t>
            </a:r>
            <a:r>
              <a:rPr lang="en-US" altLang="en-US" sz="1800">
                <a:latin typeface="Comic Sans MS" panose="030F0702030302020204" pitchFamily="66" charset="0"/>
              </a:rPr>
              <a:t>Fast</a:t>
            </a: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93698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complete link</a:t>
            </a:r>
          </a:p>
        </p:txBody>
      </p:sp>
      <p:graphicFrame>
        <p:nvGraphicFramePr>
          <p:cNvPr id="158723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6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4" name="Object 3"/>
          <p:cNvGraphicFramePr>
            <a:graphicFrameLocks noChangeAspect="1"/>
          </p:cNvGraphicFramePr>
          <p:nvPr/>
        </p:nvGraphicFramePr>
        <p:xfrm>
          <a:off x="3922713" y="1905000"/>
          <a:ext cx="1604962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7" name="Equation" r:id="rId5" imgW="1257300" imgH="1143000" progId="Equation.3">
                  <p:embed/>
                </p:oleObj>
              </mc:Choice>
              <mc:Fallback>
                <p:oleObj name="Equation" r:id="rId5" imgW="12573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1905000"/>
                        <a:ext cx="1604962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5" name="Line 5"/>
          <p:cNvSpPr>
            <a:spLocks noChangeShapeType="1"/>
          </p:cNvSpPr>
          <p:nvPr/>
        </p:nvSpPr>
        <p:spPr bwMode="auto">
          <a:xfrm flipH="1">
            <a:off x="5791200" y="5181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726" name="Line 6"/>
          <p:cNvSpPr>
            <a:spLocks noChangeShapeType="1"/>
          </p:cNvSpPr>
          <p:nvPr/>
        </p:nvSpPr>
        <p:spPr bwMode="auto">
          <a:xfrm>
            <a:off x="5791200" y="51816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727" name="Line 7"/>
          <p:cNvSpPr>
            <a:spLocks noChangeShapeType="1"/>
          </p:cNvSpPr>
          <p:nvPr/>
        </p:nvSpPr>
        <p:spPr bwMode="auto">
          <a:xfrm>
            <a:off x="5791200" y="57150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8728" name="Text Box 8"/>
          <p:cNvSpPr txBox="1">
            <a:spLocks noChangeArrowheads="1"/>
          </p:cNvSpPr>
          <p:nvPr/>
        </p:nvSpPr>
        <p:spPr bwMode="auto">
          <a:xfrm>
            <a:off x="7391400" y="5029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2</a:t>
            </a:r>
          </a:p>
        </p:txBody>
      </p:sp>
      <p:sp>
        <p:nvSpPr>
          <p:cNvPr id="158729" name="Oval 9"/>
          <p:cNvSpPr>
            <a:spLocks noChangeArrowheads="1"/>
          </p:cNvSpPr>
          <p:nvPr/>
        </p:nvSpPr>
        <p:spPr bwMode="auto">
          <a:xfrm>
            <a:off x="7391400" y="54864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8730" name="Oval 10"/>
          <p:cNvSpPr>
            <a:spLocks noChangeArrowheads="1"/>
          </p:cNvSpPr>
          <p:nvPr/>
        </p:nvSpPr>
        <p:spPr bwMode="auto">
          <a:xfrm>
            <a:off x="7391400" y="5029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Clr>
                <a:schemeClr val="folHlink"/>
              </a:buClr>
              <a:buSzPct val="75000"/>
              <a:buFont typeface="Wingdings" panose="05000000000000000000" pitchFamily="2" charset="2"/>
              <a:buNone/>
            </a:pPr>
            <a:r>
              <a:rPr kumimoji="1" lang="en-US" altLang="en-US" sz="2000" b="1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8731" name="Oval 11"/>
          <p:cNvSpPr>
            <a:spLocks noChangeArrowheads="1"/>
          </p:cNvSpPr>
          <p:nvPr/>
        </p:nvSpPr>
        <p:spPr bwMode="auto">
          <a:xfrm>
            <a:off x="7391400" y="46482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8732" name="Oval 12"/>
          <p:cNvSpPr>
            <a:spLocks noChangeArrowheads="1"/>
          </p:cNvSpPr>
          <p:nvPr/>
        </p:nvSpPr>
        <p:spPr bwMode="auto">
          <a:xfrm>
            <a:off x="7391400" y="41910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8733" name="Oval 13"/>
          <p:cNvSpPr>
            <a:spLocks noChangeArrowheads="1"/>
          </p:cNvSpPr>
          <p:nvPr/>
        </p:nvSpPr>
        <p:spPr bwMode="auto">
          <a:xfrm>
            <a:off x="7391400" y="3657600"/>
            <a:ext cx="381000" cy="3810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8734" name="Text Box 14"/>
          <p:cNvSpPr txBox="1">
            <a:spLocks noChangeArrowheads="1"/>
          </p:cNvSpPr>
          <p:nvPr/>
        </p:nvSpPr>
        <p:spPr bwMode="auto">
          <a:xfrm>
            <a:off x="7391400" y="5486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58735" name="Text Box 15"/>
          <p:cNvSpPr txBox="1">
            <a:spLocks noChangeArrowheads="1"/>
          </p:cNvSpPr>
          <p:nvPr/>
        </p:nvSpPr>
        <p:spPr bwMode="auto">
          <a:xfrm>
            <a:off x="7391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8736" name="Text Box 16"/>
          <p:cNvSpPr txBox="1">
            <a:spLocks noChangeArrowheads="1"/>
          </p:cNvSpPr>
          <p:nvPr/>
        </p:nvSpPr>
        <p:spPr bwMode="auto">
          <a:xfrm>
            <a:off x="7391400" y="4191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8737" name="Text Box 17"/>
          <p:cNvSpPr txBox="1">
            <a:spLocks noChangeArrowheads="1"/>
          </p:cNvSpPr>
          <p:nvPr/>
        </p:nvSpPr>
        <p:spPr bwMode="auto">
          <a:xfrm>
            <a:off x="7391400" y="36576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58738" name="AutoShape 18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58739" name="Object 4"/>
          <p:cNvGraphicFramePr>
            <a:graphicFrameLocks noChangeAspect="1"/>
          </p:cNvGraphicFramePr>
          <p:nvPr/>
        </p:nvGraphicFramePr>
        <p:xfrm>
          <a:off x="685800" y="3962400"/>
          <a:ext cx="4037013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8" r:id="rId7" imgW="2487448" imgH="735724" progId="">
                  <p:embed/>
                </p:oleObj>
              </mc:Choice>
              <mc:Fallback>
                <p:oleObj r:id="rId7" imgW="2487448" imgH="735724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962400"/>
                        <a:ext cx="4037013" cy="1193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823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complete link</a:t>
            </a:r>
          </a:p>
        </p:txBody>
      </p:sp>
      <p:graphicFrame>
        <p:nvGraphicFramePr>
          <p:cNvPr id="159747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4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48" name="Object 3"/>
          <p:cNvGraphicFramePr>
            <a:graphicFrameLocks noChangeAspect="1"/>
          </p:cNvGraphicFramePr>
          <p:nvPr/>
        </p:nvGraphicFramePr>
        <p:xfrm>
          <a:off x="3922713" y="1905000"/>
          <a:ext cx="1604962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5" name="Equation" r:id="rId5" imgW="1257300" imgH="1143000" progId="Equation.3">
                  <p:embed/>
                </p:oleObj>
              </mc:Choice>
              <mc:Fallback>
                <p:oleObj name="Equation" r:id="rId5" imgW="12573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1905000"/>
                        <a:ext cx="1604962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49" name="Line 5"/>
          <p:cNvSpPr>
            <a:spLocks noChangeShapeType="1"/>
          </p:cNvSpPr>
          <p:nvPr/>
        </p:nvSpPr>
        <p:spPr bwMode="auto">
          <a:xfrm flipH="1">
            <a:off x="5867400" y="5181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0" name="Line 6"/>
          <p:cNvSpPr>
            <a:spLocks noChangeShapeType="1"/>
          </p:cNvSpPr>
          <p:nvPr/>
        </p:nvSpPr>
        <p:spPr bwMode="auto">
          <a:xfrm>
            <a:off x="5867400" y="51816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1" name="Line 7"/>
          <p:cNvSpPr>
            <a:spLocks noChangeShapeType="1"/>
          </p:cNvSpPr>
          <p:nvPr/>
        </p:nvSpPr>
        <p:spPr bwMode="auto">
          <a:xfrm>
            <a:off x="5867400" y="57150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9752" name="Group 8"/>
          <p:cNvGrpSpPr>
            <a:grpSpLocks/>
          </p:cNvGrpSpPr>
          <p:nvPr/>
        </p:nvGrpSpPr>
        <p:grpSpPr bwMode="auto">
          <a:xfrm>
            <a:off x="7467600" y="3657600"/>
            <a:ext cx="533400" cy="2286000"/>
            <a:chOff x="4704" y="2304"/>
            <a:chExt cx="336" cy="1440"/>
          </a:xfrm>
        </p:grpSpPr>
        <p:sp>
          <p:nvSpPr>
            <p:cNvPr id="159760" name="Oval 9"/>
            <p:cNvSpPr>
              <a:spLocks noChangeArrowheads="1"/>
            </p:cNvSpPr>
            <p:nvPr/>
          </p:nvSpPr>
          <p:spPr bwMode="auto">
            <a:xfrm>
              <a:off x="4704" y="34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9761" name="Oval 10"/>
            <p:cNvSpPr>
              <a:spLocks noChangeArrowheads="1"/>
            </p:cNvSpPr>
            <p:nvPr/>
          </p:nvSpPr>
          <p:spPr bwMode="auto">
            <a:xfrm>
              <a:off x="4704" y="31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9762" name="Oval 11"/>
            <p:cNvSpPr>
              <a:spLocks noChangeArrowheads="1"/>
            </p:cNvSpPr>
            <p:nvPr/>
          </p:nvSpPr>
          <p:spPr bwMode="auto">
            <a:xfrm>
              <a:off x="4704" y="29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9763" name="Oval 12"/>
            <p:cNvSpPr>
              <a:spLocks noChangeArrowheads="1"/>
            </p:cNvSpPr>
            <p:nvPr/>
          </p:nvSpPr>
          <p:spPr bwMode="auto">
            <a:xfrm>
              <a:off x="4704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9764" name="Oval 13"/>
            <p:cNvSpPr>
              <a:spLocks noChangeArrowheads="1"/>
            </p:cNvSpPr>
            <p:nvPr/>
          </p:nvSpPr>
          <p:spPr bwMode="auto">
            <a:xfrm>
              <a:off x="4704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59765" name="Text Box 14"/>
            <p:cNvSpPr txBox="1">
              <a:spLocks noChangeArrowheads="1"/>
            </p:cNvSpPr>
            <p:nvPr/>
          </p:nvSpPr>
          <p:spPr bwMode="auto">
            <a:xfrm>
              <a:off x="4704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59766" name="Text Box 15"/>
            <p:cNvSpPr txBox="1">
              <a:spLocks noChangeArrowheads="1"/>
            </p:cNvSpPr>
            <p:nvPr/>
          </p:nvSpPr>
          <p:spPr bwMode="auto">
            <a:xfrm>
              <a:off x="4704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59767" name="Text Box 16"/>
            <p:cNvSpPr txBox="1">
              <a:spLocks noChangeArrowheads="1"/>
            </p:cNvSpPr>
            <p:nvPr/>
          </p:nvSpPr>
          <p:spPr bwMode="auto">
            <a:xfrm>
              <a:off x="4704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59768" name="Text Box 17"/>
            <p:cNvSpPr txBox="1">
              <a:spLocks noChangeArrowheads="1"/>
            </p:cNvSpPr>
            <p:nvPr/>
          </p:nvSpPr>
          <p:spPr bwMode="auto">
            <a:xfrm>
              <a:off x="4704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59769" name="Text Box 18"/>
            <p:cNvSpPr txBox="1">
              <a:spLocks noChangeArrowheads="1"/>
            </p:cNvSpPr>
            <p:nvPr/>
          </p:nvSpPr>
          <p:spPr bwMode="auto">
            <a:xfrm>
              <a:off x="4704" y="23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59753" name="AutoShape 19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59754" name="AutoShape 20"/>
          <p:cNvSpPr>
            <a:spLocks noChangeArrowheads="1"/>
          </p:cNvSpPr>
          <p:nvPr/>
        </p:nvSpPr>
        <p:spPr bwMode="auto">
          <a:xfrm>
            <a:off x="57150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59755" name="Object 4"/>
          <p:cNvGraphicFramePr>
            <a:graphicFrameLocks noChangeAspect="1"/>
          </p:cNvGraphicFramePr>
          <p:nvPr/>
        </p:nvGraphicFramePr>
        <p:xfrm>
          <a:off x="6477000" y="1981200"/>
          <a:ext cx="15240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6" name="Equation" r:id="rId7" imgW="1168400" imgH="939800" progId="Equation.3">
                  <p:embed/>
                </p:oleObj>
              </mc:Choice>
              <mc:Fallback>
                <p:oleObj name="Equation" r:id="rId7" imgW="1168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81200"/>
                        <a:ext cx="15240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6" name="Line 22"/>
          <p:cNvSpPr>
            <a:spLocks noChangeShapeType="1"/>
          </p:cNvSpPr>
          <p:nvPr/>
        </p:nvSpPr>
        <p:spPr bwMode="auto">
          <a:xfrm flipH="1">
            <a:off x="5867400" y="3886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7" name="Line 23"/>
          <p:cNvSpPr>
            <a:spLocks noChangeShapeType="1"/>
          </p:cNvSpPr>
          <p:nvPr/>
        </p:nvSpPr>
        <p:spPr bwMode="auto">
          <a:xfrm>
            <a:off x="5867400" y="38862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9758" name="Line 24"/>
          <p:cNvSpPr>
            <a:spLocks noChangeShapeType="1"/>
          </p:cNvSpPr>
          <p:nvPr/>
        </p:nvSpPr>
        <p:spPr bwMode="auto">
          <a:xfrm>
            <a:off x="5867400" y="4419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59759" name="Object 5"/>
          <p:cNvGraphicFramePr>
            <a:graphicFrameLocks noChangeAspect="1"/>
          </p:cNvGraphicFramePr>
          <p:nvPr/>
        </p:nvGraphicFramePr>
        <p:xfrm>
          <a:off x="838200" y="4038600"/>
          <a:ext cx="4494213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17" r:id="rId9" imgW="2893848" imgH="479972" progId="">
                  <p:embed/>
                </p:oleObj>
              </mc:Choice>
              <mc:Fallback>
                <p:oleObj r:id="rId9" imgW="2893848" imgH="479972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038600"/>
                        <a:ext cx="4494213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4001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complete link</a:t>
            </a:r>
          </a:p>
        </p:txBody>
      </p:sp>
      <p:graphicFrame>
        <p:nvGraphicFramePr>
          <p:cNvPr id="160771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8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2" name="Object 3"/>
          <p:cNvGraphicFramePr>
            <a:graphicFrameLocks noChangeAspect="1"/>
          </p:cNvGraphicFramePr>
          <p:nvPr/>
        </p:nvGraphicFramePr>
        <p:xfrm>
          <a:off x="3922713" y="1905000"/>
          <a:ext cx="1604962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9" name="Equation" r:id="rId5" imgW="1257300" imgH="1143000" progId="Equation.3">
                  <p:embed/>
                </p:oleObj>
              </mc:Choice>
              <mc:Fallback>
                <p:oleObj name="Equation" r:id="rId5" imgW="12573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1905000"/>
                        <a:ext cx="1604962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3" name="AutoShape 5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0774" name="AutoShape 6"/>
          <p:cNvSpPr>
            <a:spLocks noChangeArrowheads="1"/>
          </p:cNvSpPr>
          <p:nvPr/>
        </p:nvSpPr>
        <p:spPr bwMode="auto">
          <a:xfrm>
            <a:off x="57150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60775" name="Object 4"/>
          <p:cNvGraphicFramePr>
            <a:graphicFrameLocks noChangeAspect="1"/>
          </p:cNvGraphicFramePr>
          <p:nvPr/>
        </p:nvGraphicFramePr>
        <p:xfrm>
          <a:off x="6477000" y="1981200"/>
          <a:ext cx="15240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0" name="Equation" r:id="rId7" imgW="1168400" imgH="939800" progId="Equation.3">
                  <p:embed/>
                </p:oleObj>
              </mc:Choice>
              <mc:Fallback>
                <p:oleObj name="Equation" r:id="rId7" imgW="1168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81200"/>
                        <a:ext cx="15240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6" name="Line 8"/>
          <p:cNvSpPr>
            <a:spLocks noChangeShapeType="1"/>
          </p:cNvSpPr>
          <p:nvPr/>
        </p:nvSpPr>
        <p:spPr bwMode="auto">
          <a:xfrm flipH="1">
            <a:off x="5867400" y="51054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77" name="Line 9"/>
          <p:cNvSpPr>
            <a:spLocks noChangeShapeType="1"/>
          </p:cNvSpPr>
          <p:nvPr/>
        </p:nvSpPr>
        <p:spPr bwMode="auto">
          <a:xfrm>
            <a:off x="5867400" y="5105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78" name="Line 10"/>
          <p:cNvSpPr>
            <a:spLocks noChangeShapeType="1"/>
          </p:cNvSpPr>
          <p:nvPr/>
        </p:nvSpPr>
        <p:spPr bwMode="auto">
          <a:xfrm>
            <a:off x="5867400" y="5638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79" name="Line 11"/>
          <p:cNvSpPr>
            <a:spLocks noChangeShapeType="1"/>
          </p:cNvSpPr>
          <p:nvPr/>
        </p:nvSpPr>
        <p:spPr bwMode="auto">
          <a:xfrm flipH="1">
            <a:off x="5867400" y="3886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0" name="Line 12"/>
          <p:cNvSpPr>
            <a:spLocks noChangeShapeType="1"/>
          </p:cNvSpPr>
          <p:nvPr/>
        </p:nvSpPr>
        <p:spPr bwMode="auto">
          <a:xfrm>
            <a:off x="5867400" y="38862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1" name="Line 13"/>
          <p:cNvSpPr>
            <a:spLocks noChangeShapeType="1"/>
          </p:cNvSpPr>
          <p:nvPr/>
        </p:nvSpPr>
        <p:spPr bwMode="auto">
          <a:xfrm>
            <a:off x="5867400" y="4419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2" name="Line 14"/>
          <p:cNvSpPr>
            <a:spLocks noChangeShapeType="1"/>
          </p:cNvSpPr>
          <p:nvPr/>
        </p:nvSpPr>
        <p:spPr bwMode="auto">
          <a:xfrm flipH="1">
            <a:off x="5257800" y="5257800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3" name="Line 15"/>
          <p:cNvSpPr>
            <a:spLocks noChangeShapeType="1"/>
          </p:cNvSpPr>
          <p:nvPr/>
        </p:nvSpPr>
        <p:spPr bwMode="auto">
          <a:xfrm>
            <a:off x="5257800" y="4724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4" name="Line 16"/>
          <p:cNvSpPr>
            <a:spLocks noChangeShapeType="1"/>
          </p:cNvSpPr>
          <p:nvPr/>
        </p:nvSpPr>
        <p:spPr bwMode="auto">
          <a:xfrm>
            <a:off x="5257800" y="4724400"/>
            <a:ext cx="2133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5" name="Line 17"/>
          <p:cNvSpPr>
            <a:spLocks noChangeShapeType="1"/>
          </p:cNvSpPr>
          <p:nvPr/>
        </p:nvSpPr>
        <p:spPr bwMode="auto">
          <a:xfrm flipH="1">
            <a:off x="4572000" y="5029200"/>
            <a:ext cx="685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6" name="Line 18"/>
          <p:cNvSpPr>
            <a:spLocks noChangeShapeType="1"/>
          </p:cNvSpPr>
          <p:nvPr/>
        </p:nvSpPr>
        <p:spPr bwMode="auto">
          <a:xfrm>
            <a:off x="4572000" y="4191000"/>
            <a:ext cx="0" cy="838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0787" name="Line 19"/>
          <p:cNvSpPr>
            <a:spLocks noChangeShapeType="1"/>
          </p:cNvSpPr>
          <p:nvPr/>
        </p:nvSpPr>
        <p:spPr bwMode="auto">
          <a:xfrm>
            <a:off x="4572000" y="4191000"/>
            <a:ext cx="1219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0788" name="Group 20"/>
          <p:cNvGrpSpPr>
            <a:grpSpLocks/>
          </p:cNvGrpSpPr>
          <p:nvPr/>
        </p:nvGrpSpPr>
        <p:grpSpPr bwMode="auto">
          <a:xfrm>
            <a:off x="7467600" y="3657600"/>
            <a:ext cx="533400" cy="2286000"/>
            <a:chOff x="4704" y="2304"/>
            <a:chExt cx="336" cy="1440"/>
          </a:xfrm>
        </p:grpSpPr>
        <p:sp>
          <p:nvSpPr>
            <p:cNvPr id="160790" name="Oval 21"/>
            <p:cNvSpPr>
              <a:spLocks noChangeArrowheads="1"/>
            </p:cNvSpPr>
            <p:nvPr/>
          </p:nvSpPr>
          <p:spPr bwMode="auto">
            <a:xfrm>
              <a:off x="4704" y="34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0791" name="Oval 22"/>
            <p:cNvSpPr>
              <a:spLocks noChangeArrowheads="1"/>
            </p:cNvSpPr>
            <p:nvPr/>
          </p:nvSpPr>
          <p:spPr bwMode="auto">
            <a:xfrm>
              <a:off x="4704" y="31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0792" name="Oval 23"/>
            <p:cNvSpPr>
              <a:spLocks noChangeArrowheads="1"/>
            </p:cNvSpPr>
            <p:nvPr/>
          </p:nvSpPr>
          <p:spPr bwMode="auto">
            <a:xfrm>
              <a:off x="4704" y="29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0793" name="Oval 24"/>
            <p:cNvSpPr>
              <a:spLocks noChangeArrowheads="1"/>
            </p:cNvSpPr>
            <p:nvPr/>
          </p:nvSpPr>
          <p:spPr bwMode="auto">
            <a:xfrm>
              <a:off x="4704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0794" name="Oval 25"/>
            <p:cNvSpPr>
              <a:spLocks noChangeArrowheads="1"/>
            </p:cNvSpPr>
            <p:nvPr/>
          </p:nvSpPr>
          <p:spPr bwMode="auto">
            <a:xfrm>
              <a:off x="4704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0795" name="Text Box 26"/>
            <p:cNvSpPr txBox="1">
              <a:spLocks noChangeArrowheads="1"/>
            </p:cNvSpPr>
            <p:nvPr/>
          </p:nvSpPr>
          <p:spPr bwMode="auto">
            <a:xfrm>
              <a:off x="4704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0796" name="Text Box 27"/>
            <p:cNvSpPr txBox="1">
              <a:spLocks noChangeArrowheads="1"/>
            </p:cNvSpPr>
            <p:nvPr/>
          </p:nvSpPr>
          <p:spPr bwMode="auto">
            <a:xfrm>
              <a:off x="4704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60797" name="Text Box 28"/>
            <p:cNvSpPr txBox="1">
              <a:spLocks noChangeArrowheads="1"/>
            </p:cNvSpPr>
            <p:nvPr/>
          </p:nvSpPr>
          <p:spPr bwMode="auto">
            <a:xfrm>
              <a:off x="4704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60798" name="Text Box 29"/>
            <p:cNvSpPr txBox="1">
              <a:spLocks noChangeArrowheads="1"/>
            </p:cNvSpPr>
            <p:nvPr/>
          </p:nvSpPr>
          <p:spPr bwMode="auto">
            <a:xfrm>
              <a:off x="4704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60799" name="Text Box 30"/>
            <p:cNvSpPr txBox="1">
              <a:spLocks noChangeArrowheads="1"/>
            </p:cNvSpPr>
            <p:nvPr/>
          </p:nvSpPr>
          <p:spPr bwMode="auto">
            <a:xfrm>
              <a:off x="4704" y="23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graphicFrame>
        <p:nvGraphicFramePr>
          <p:cNvPr id="160789" name="Object 5"/>
          <p:cNvGraphicFramePr>
            <a:graphicFrameLocks noChangeAspect="1"/>
          </p:cNvGraphicFramePr>
          <p:nvPr/>
        </p:nvGraphicFramePr>
        <p:xfrm>
          <a:off x="457200" y="4191000"/>
          <a:ext cx="3884613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1" r:id="rId9" imgW="2342271" imgH="239151" progId="">
                  <p:embed/>
                </p:oleObj>
              </mc:Choice>
              <mc:Fallback>
                <p:oleObj r:id="rId9" imgW="2342271" imgH="239151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4191000"/>
                        <a:ext cx="3884613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2794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85800"/>
            <a:ext cx="7848600" cy="8382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Hierarchical: Average Link</a:t>
            </a:r>
          </a:p>
        </p:txBody>
      </p:sp>
      <p:sp>
        <p:nvSpPr>
          <p:cNvPr id="161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905000"/>
            <a:ext cx="7467600" cy="990600"/>
          </a:xfrm>
        </p:spPr>
        <p:txBody>
          <a:bodyPr/>
          <a:lstStyle/>
          <a:p>
            <a:r>
              <a:rPr lang="en-US" altLang="en-US" sz="2800" smtClean="0">
                <a:effectLst/>
              </a:rPr>
              <a:t>cluster similarity = </a:t>
            </a:r>
            <a:r>
              <a:rPr lang="en-US" altLang="en-US" sz="2800" i="1" smtClean="0">
                <a:solidFill>
                  <a:srgbClr val="800000"/>
                </a:solidFill>
                <a:effectLst/>
              </a:rPr>
              <a:t>average</a:t>
            </a:r>
            <a:r>
              <a:rPr lang="en-US" altLang="en-US" sz="2800" smtClean="0">
                <a:effectLst/>
              </a:rPr>
              <a:t> similarity of all pairs</a:t>
            </a:r>
            <a:endParaRPr lang="en-US" altLang="en-US" smtClean="0">
              <a:effectLst/>
            </a:endParaRPr>
          </a:p>
        </p:txBody>
      </p:sp>
      <p:sp>
        <p:nvSpPr>
          <p:cNvPr id="161796" name="Oval 4"/>
          <p:cNvSpPr>
            <a:spLocks noChangeArrowheads="1"/>
          </p:cNvSpPr>
          <p:nvPr/>
        </p:nvSpPr>
        <p:spPr bwMode="auto">
          <a:xfrm>
            <a:off x="2514600" y="4572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797" name="Oval 5"/>
          <p:cNvSpPr>
            <a:spLocks noChangeArrowheads="1"/>
          </p:cNvSpPr>
          <p:nvPr/>
        </p:nvSpPr>
        <p:spPr bwMode="auto">
          <a:xfrm>
            <a:off x="4876800" y="4495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798" name="Oval 6"/>
          <p:cNvSpPr>
            <a:spLocks noChangeArrowheads="1"/>
          </p:cNvSpPr>
          <p:nvPr/>
        </p:nvSpPr>
        <p:spPr bwMode="auto">
          <a:xfrm>
            <a:off x="3276600" y="55626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799" name="Oval 7"/>
          <p:cNvSpPr>
            <a:spLocks noChangeArrowheads="1"/>
          </p:cNvSpPr>
          <p:nvPr/>
        </p:nvSpPr>
        <p:spPr bwMode="auto">
          <a:xfrm>
            <a:off x="3048000" y="48006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0" name="Oval 8"/>
          <p:cNvSpPr>
            <a:spLocks noChangeArrowheads="1"/>
          </p:cNvSpPr>
          <p:nvPr/>
        </p:nvSpPr>
        <p:spPr bwMode="auto">
          <a:xfrm>
            <a:off x="4572000" y="44958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1" name="Oval 9"/>
          <p:cNvSpPr>
            <a:spLocks noChangeArrowheads="1"/>
          </p:cNvSpPr>
          <p:nvPr/>
        </p:nvSpPr>
        <p:spPr bwMode="auto">
          <a:xfrm>
            <a:off x="4800600" y="4191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2" name="Oval 10"/>
          <p:cNvSpPr>
            <a:spLocks noChangeArrowheads="1"/>
          </p:cNvSpPr>
          <p:nvPr/>
        </p:nvSpPr>
        <p:spPr bwMode="auto">
          <a:xfrm>
            <a:off x="1143000" y="42672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3" name="Oval 11"/>
          <p:cNvSpPr>
            <a:spLocks noChangeArrowheads="1"/>
          </p:cNvSpPr>
          <p:nvPr/>
        </p:nvSpPr>
        <p:spPr bwMode="auto">
          <a:xfrm>
            <a:off x="1066800" y="3810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4" name="Oval 12"/>
          <p:cNvSpPr>
            <a:spLocks noChangeArrowheads="1"/>
          </p:cNvSpPr>
          <p:nvPr/>
        </p:nvSpPr>
        <p:spPr bwMode="auto">
          <a:xfrm>
            <a:off x="1524000" y="39624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5" name="Oval 13"/>
          <p:cNvSpPr>
            <a:spLocks noChangeArrowheads="1"/>
          </p:cNvSpPr>
          <p:nvPr/>
        </p:nvSpPr>
        <p:spPr bwMode="auto">
          <a:xfrm>
            <a:off x="1219200" y="40386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6" name="Oval 14"/>
          <p:cNvSpPr>
            <a:spLocks noChangeArrowheads="1"/>
          </p:cNvSpPr>
          <p:nvPr/>
        </p:nvSpPr>
        <p:spPr bwMode="auto">
          <a:xfrm>
            <a:off x="1447800" y="42672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7" name="Oval 15"/>
          <p:cNvSpPr>
            <a:spLocks noChangeArrowheads="1"/>
          </p:cNvSpPr>
          <p:nvPr/>
        </p:nvSpPr>
        <p:spPr bwMode="auto">
          <a:xfrm>
            <a:off x="4495800" y="4191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8" name="Oval 16"/>
          <p:cNvSpPr>
            <a:spLocks noChangeArrowheads="1"/>
          </p:cNvSpPr>
          <p:nvPr/>
        </p:nvSpPr>
        <p:spPr bwMode="auto">
          <a:xfrm>
            <a:off x="1143000" y="35052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09" name="Oval 17"/>
          <p:cNvSpPr>
            <a:spLocks noChangeArrowheads="1"/>
          </p:cNvSpPr>
          <p:nvPr/>
        </p:nvSpPr>
        <p:spPr bwMode="auto">
          <a:xfrm>
            <a:off x="4267200" y="3962400"/>
            <a:ext cx="990600" cy="9906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0" name="Oval 18"/>
          <p:cNvSpPr>
            <a:spLocks noChangeArrowheads="1"/>
          </p:cNvSpPr>
          <p:nvPr/>
        </p:nvSpPr>
        <p:spPr bwMode="auto">
          <a:xfrm>
            <a:off x="762000" y="3352800"/>
            <a:ext cx="1143000" cy="12954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1" name="Oval 19"/>
          <p:cNvSpPr>
            <a:spLocks noChangeArrowheads="1"/>
          </p:cNvSpPr>
          <p:nvPr/>
        </p:nvSpPr>
        <p:spPr bwMode="auto">
          <a:xfrm rot="2411630">
            <a:off x="2133600" y="4572000"/>
            <a:ext cx="1828800" cy="1066800"/>
          </a:xfrm>
          <a:prstGeom prst="ellipse">
            <a:avLst/>
          </a:prstGeom>
          <a:noFill/>
          <a:ln w="38100" cap="sq">
            <a:solidFill>
              <a:srgbClr val="33CC33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2" name="Oval 20"/>
          <p:cNvSpPr>
            <a:spLocks noChangeArrowheads="1"/>
          </p:cNvSpPr>
          <p:nvPr/>
        </p:nvSpPr>
        <p:spPr bwMode="auto">
          <a:xfrm>
            <a:off x="3200400" y="49530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3" name="Oval 21"/>
          <p:cNvSpPr>
            <a:spLocks noChangeArrowheads="1"/>
          </p:cNvSpPr>
          <p:nvPr/>
        </p:nvSpPr>
        <p:spPr bwMode="auto">
          <a:xfrm>
            <a:off x="2895600" y="5105400"/>
            <a:ext cx="152400" cy="152400"/>
          </a:xfrm>
          <a:prstGeom prst="ellipse">
            <a:avLst/>
          </a:prstGeom>
          <a:solidFill>
            <a:srgbClr val="0000F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4" name="Line 22"/>
          <p:cNvSpPr>
            <a:spLocks noChangeShapeType="1"/>
          </p:cNvSpPr>
          <p:nvPr/>
        </p:nvSpPr>
        <p:spPr bwMode="auto">
          <a:xfrm flipH="1">
            <a:off x="3124200" y="4267200"/>
            <a:ext cx="1447800" cy="6096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15" name="Oval 23"/>
          <p:cNvSpPr>
            <a:spLocks noChangeArrowheads="1"/>
          </p:cNvSpPr>
          <p:nvPr/>
        </p:nvSpPr>
        <p:spPr bwMode="auto">
          <a:xfrm rot="-931360">
            <a:off x="1825625" y="3789363"/>
            <a:ext cx="3775075" cy="2095500"/>
          </a:xfrm>
          <a:prstGeom prst="ellipse">
            <a:avLst/>
          </a:prstGeom>
          <a:noFill/>
          <a:ln w="38100" cap="rnd">
            <a:solidFill>
              <a:schemeClr val="hlink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1816" name="Line 24"/>
          <p:cNvSpPr>
            <a:spLocks noChangeShapeType="1"/>
          </p:cNvSpPr>
          <p:nvPr/>
        </p:nvSpPr>
        <p:spPr bwMode="auto">
          <a:xfrm flipH="1">
            <a:off x="2971800" y="4267200"/>
            <a:ext cx="1600200" cy="9144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17" name="Line 25"/>
          <p:cNvSpPr>
            <a:spLocks noChangeShapeType="1"/>
          </p:cNvSpPr>
          <p:nvPr/>
        </p:nvSpPr>
        <p:spPr bwMode="auto">
          <a:xfrm flipH="1">
            <a:off x="3352800" y="4267200"/>
            <a:ext cx="1219200" cy="13716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18" name="Line 26"/>
          <p:cNvSpPr>
            <a:spLocks noChangeShapeType="1"/>
          </p:cNvSpPr>
          <p:nvPr/>
        </p:nvSpPr>
        <p:spPr bwMode="auto">
          <a:xfrm flipH="1">
            <a:off x="3352800" y="4267200"/>
            <a:ext cx="1219200" cy="7620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19" name="Line 27"/>
          <p:cNvSpPr>
            <a:spLocks noChangeShapeType="1"/>
          </p:cNvSpPr>
          <p:nvPr/>
        </p:nvSpPr>
        <p:spPr bwMode="auto">
          <a:xfrm flipH="1">
            <a:off x="2590800" y="4572000"/>
            <a:ext cx="2057400" cy="762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0" name="Line 28"/>
          <p:cNvSpPr>
            <a:spLocks noChangeShapeType="1"/>
          </p:cNvSpPr>
          <p:nvPr/>
        </p:nvSpPr>
        <p:spPr bwMode="auto">
          <a:xfrm flipH="1">
            <a:off x="3124200" y="4572000"/>
            <a:ext cx="1524000" cy="3048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1" name="Line 29"/>
          <p:cNvSpPr>
            <a:spLocks noChangeShapeType="1"/>
          </p:cNvSpPr>
          <p:nvPr/>
        </p:nvSpPr>
        <p:spPr bwMode="auto">
          <a:xfrm flipH="1">
            <a:off x="2590800" y="4267200"/>
            <a:ext cx="1981200" cy="3810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2" name="Line 30"/>
          <p:cNvSpPr>
            <a:spLocks noChangeShapeType="1"/>
          </p:cNvSpPr>
          <p:nvPr/>
        </p:nvSpPr>
        <p:spPr bwMode="auto">
          <a:xfrm flipH="1">
            <a:off x="3276600" y="4572000"/>
            <a:ext cx="1371600" cy="4572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3" name="Line 31"/>
          <p:cNvSpPr>
            <a:spLocks noChangeShapeType="1"/>
          </p:cNvSpPr>
          <p:nvPr/>
        </p:nvSpPr>
        <p:spPr bwMode="auto">
          <a:xfrm flipH="1">
            <a:off x="2971800" y="4572000"/>
            <a:ext cx="1676400" cy="6096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4" name="Line 32"/>
          <p:cNvSpPr>
            <a:spLocks noChangeShapeType="1"/>
          </p:cNvSpPr>
          <p:nvPr/>
        </p:nvSpPr>
        <p:spPr bwMode="auto">
          <a:xfrm flipH="1">
            <a:off x="3352800" y="4572000"/>
            <a:ext cx="1295400" cy="1066800"/>
          </a:xfrm>
          <a:prstGeom prst="line">
            <a:avLst/>
          </a:prstGeom>
          <a:noFill/>
          <a:ln w="38100" cap="sq">
            <a:solidFill>
              <a:schemeClr val="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1825" name="Text Box 33"/>
          <p:cNvSpPr txBox="1">
            <a:spLocks noChangeArrowheads="1"/>
          </p:cNvSpPr>
          <p:nvPr/>
        </p:nvSpPr>
        <p:spPr bwMode="auto">
          <a:xfrm>
            <a:off x="5943600" y="3276600"/>
            <a:ext cx="2743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Comic Sans MS" panose="030F0702030302020204" pitchFamily="66" charset="0"/>
              </a:rPr>
              <a:t>+</a:t>
            </a:r>
            <a:r>
              <a:rPr lang="en-US" altLang="en-US" sz="1800">
                <a:latin typeface="Comic Sans MS" panose="030F0702030302020204" pitchFamily="66" charset="0"/>
              </a:rPr>
              <a:t> tight clusters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Comic Sans MS" panose="030F0702030302020204" pitchFamily="66" charset="0"/>
              </a:rPr>
              <a:t>-</a:t>
            </a:r>
            <a:r>
              <a:rPr lang="en-US" altLang="en-US" sz="1800">
                <a:latin typeface="Comic Sans MS" panose="030F0702030302020204" pitchFamily="66" charset="0"/>
              </a:rPr>
              <a:t> slow</a:t>
            </a:r>
          </a:p>
        </p:txBody>
      </p:sp>
    </p:spTree>
    <p:extLst>
      <p:ext uri="{BB962C8B-B14F-4D97-AF65-F5344CB8AC3E}">
        <p14:creationId xmlns:p14="http://schemas.microsoft.com/office/powerpoint/2010/main" val="310499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average link</a:t>
            </a:r>
          </a:p>
        </p:txBody>
      </p:sp>
      <p:graphicFrame>
        <p:nvGraphicFramePr>
          <p:cNvPr id="163843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8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44" name="Object 3"/>
          <p:cNvGraphicFramePr>
            <a:graphicFrameLocks noChangeAspect="1"/>
          </p:cNvGraphicFramePr>
          <p:nvPr/>
        </p:nvGraphicFramePr>
        <p:xfrm>
          <a:off x="3890963" y="1905000"/>
          <a:ext cx="167005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49" name="Equation" r:id="rId5" imgW="1308100" imgH="1143000" progId="Equation.3">
                  <p:embed/>
                </p:oleObj>
              </mc:Choice>
              <mc:Fallback>
                <p:oleObj name="Equation" r:id="rId5" imgW="13081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1905000"/>
                        <a:ext cx="167005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45" name="Line 5"/>
          <p:cNvSpPr>
            <a:spLocks noChangeShapeType="1"/>
          </p:cNvSpPr>
          <p:nvPr/>
        </p:nvSpPr>
        <p:spPr bwMode="auto">
          <a:xfrm flipH="1">
            <a:off x="5943600" y="5181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6" name="Line 6"/>
          <p:cNvSpPr>
            <a:spLocks noChangeShapeType="1"/>
          </p:cNvSpPr>
          <p:nvPr/>
        </p:nvSpPr>
        <p:spPr bwMode="auto">
          <a:xfrm>
            <a:off x="5943600" y="51816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47" name="Line 7"/>
          <p:cNvSpPr>
            <a:spLocks noChangeShapeType="1"/>
          </p:cNvSpPr>
          <p:nvPr/>
        </p:nvSpPr>
        <p:spPr bwMode="auto">
          <a:xfrm>
            <a:off x="5943600" y="57150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3848" name="Group 8"/>
          <p:cNvGrpSpPr>
            <a:grpSpLocks/>
          </p:cNvGrpSpPr>
          <p:nvPr/>
        </p:nvGrpSpPr>
        <p:grpSpPr bwMode="auto">
          <a:xfrm>
            <a:off x="7543800" y="3657600"/>
            <a:ext cx="533400" cy="2286000"/>
            <a:chOff x="4752" y="2304"/>
            <a:chExt cx="336" cy="1440"/>
          </a:xfrm>
        </p:grpSpPr>
        <p:sp>
          <p:nvSpPr>
            <p:cNvPr id="163851" name="Oval 9"/>
            <p:cNvSpPr>
              <a:spLocks noChangeArrowheads="1"/>
            </p:cNvSpPr>
            <p:nvPr/>
          </p:nvSpPr>
          <p:spPr bwMode="auto">
            <a:xfrm>
              <a:off x="4752" y="34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3852" name="Oval 10"/>
            <p:cNvSpPr>
              <a:spLocks noChangeArrowheads="1"/>
            </p:cNvSpPr>
            <p:nvPr/>
          </p:nvSpPr>
          <p:spPr bwMode="auto">
            <a:xfrm>
              <a:off x="4752" y="31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3853" name="Oval 11"/>
            <p:cNvSpPr>
              <a:spLocks noChangeArrowheads="1"/>
            </p:cNvSpPr>
            <p:nvPr/>
          </p:nvSpPr>
          <p:spPr bwMode="auto">
            <a:xfrm>
              <a:off x="4752" y="29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3854" name="Oval 12"/>
            <p:cNvSpPr>
              <a:spLocks noChangeArrowheads="1"/>
            </p:cNvSpPr>
            <p:nvPr/>
          </p:nvSpPr>
          <p:spPr bwMode="auto">
            <a:xfrm>
              <a:off x="4752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3855" name="Oval 13"/>
            <p:cNvSpPr>
              <a:spLocks noChangeArrowheads="1"/>
            </p:cNvSpPr>
            <p:nvPr/>
          </p:nvSpPr>
          <p:spPr bwMode="auto">
            <a:xfrm>
              <a:off x="4752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3856" name="Text Box 14"/>
            <p:cNvSpPr txBox="1">
              <a:spLocks noChangeArrowheads="1"/>
            </p:cNvSpPr>
            <p:nvPr/>
          </p:nvSpPr>
          <p:spPr bwMode="auto">
            <a:xfrm>
              <a:off x="4752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3857" name="Text Box 15"/>
            <p:cNvSpPr txBox="1">
              <a:spLocks noChangeArrowheads="1"/>
            </p:cNvSpPr>
            <p:nvPr/>
          </p:nvSpPr>
          <p:spPr bwMode="auto">
            <a:xfrm>
              <a:off x="4752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63858" name="Text Box 16"/>
            <p:cNvSpPr txBox="1">
              <a:spLocks noChangeArrowheads="1"/>
            </p:cNvSpPr>
            <p:nvPr/>
          </p:nvSpPr>
          <p:spPr bwMode="auto">
            <a:xfrm>
              <a:off x="4752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63859" name="Text Box 17"/>
            <p:cNvSpPr txBox="1">
              <a:spLocks noChangeArrowheads="1"/>
            </p:cNvSpPr>
            <p:nvPr/>
          </p:nvSpPr>
          <p:spPr bwMode="auto">
            <a:xfrm>
              <a:off x="4752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63860" name="Text Box 18"/>
            <p:cNvSpPr txBox="1">
              <a:spLocks noChangeArrowheads="1"/>
            </p:cNvSpPr>
            <p:nvPr/>
          </p:nvSpPr>
          <p:spPr bwMode="auto">
            <a:xfrm>
              <a:off x="4752" y="23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63849" name="AutoShape 19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63850" name="Object 4"/>
          <p:cNvGraphicFramePr>
            <a:graphicFrameLocks noChangeAspect="1"/>
          </p:cNvGraphicFramePr>
          <p:nvPr/>
        </p:nvGraphicFramePr>
        <p:xfrm>
          <a:off x="990600" y="3733800"/>
          <a:ext cx="3656013" cy="200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50" r:id="rId7" imgW="2193159" imgH="1205186" progId="">
                  <p:embed/>
                </p:oleObj>
              </mc:Choice>
              <mc:Fallback>
                <p:oleObj r:id="rId7" imgW="2193159" imgH="120518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733800"/>
                        <a:ext cx="3656013" cy="200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6649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average link</a:t>
            </a:r>
          </a:p>
        </p:txBody>
      </p:sp>
      <p:graphicFrame>
        <p:nvGraphicFramePr>
          <p:cNvPr id="164867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6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868" name="Object 3"/>
          <p:cNvGraphicFramePr>
            <a:graphicFrameLocks noChangeAspect="1"/>
          </p:cNvGraphicFramePr>
          <p:nvPr/>
        </p:nvGraphicFramePr>
        <p:xfrm>
          <a:off x="3890963" y="1905000"/>
          <a:ext cx="167005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7" name="Equation" r:id="rId5" imgW="1308100" imgH="1143000" progId="Equation.3">
                  <p:embed/>
                </p:oleObj>
              </mc:Choice>
              <mc:Fallback>
                <p:oleObj name="Equation" r:id="rId5" imgW="13081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1905000"/>
                        <a:ext cx="167005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69" name="Line 5"/>
          <p:cNvSpPr>
            <a:spLocks noChangeShapeType="1"/>
          </p:cNvSpPr>
          <p:nvPr/>
        </p:nvSpPr>
        <p:spPr bwMode="auto">
          <a:xfrm flipH="1">
            <a:off x="5867400" y="5257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0" name="Line 6"/>
          <p:cNvSpPr>
            <a:spLocks noChangeShapeType="1"/>
          </p:cNvSpPr>
          <p:nvPr/>
        </p:nvSpPr>
        <p:spPr bwMode="auto">
          <a:xfrm>
            <a:off x="5867400" y="52578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1" name="Line 7"/>
          <p:cNvSpPr>
            <a:spLocks noChangeShapeType="1"/>
          </p:cNvSpPr>
          <p:nvPr/>
        </p:nvSpPr>
        <p:spPr bwMode="auto">
          <a:xfrm>
            <a:off x="5867400" y="5791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4872" name="Group 8"/>
          <p:cNvGrpSpPr>
            <a:grpSpLocks/>
          </p:cNvGrpSpPr>
          <p:nvPr/>
        </p:nvGrpSpPr>
        <p:grpSpPr bwMode="auto">
          <a:xfrm>
            <a:off x="7467600" y="3733800"/>
            <a:ext cx="533400" cy="2286000"/>
            <a:chOff x="4704" y="2352"/>
            <a:chExt cx="336" cy="1440"/>
          </a:xfrm>
        </p:grpSpPr>
        <p:sp>
          <p:nvSpPr>
            <p:cNvPr id="164880" name="Oval 9"/>
            <p:cNvSpPr>
              <a:spLocks noChangeArrowheads="1"/>
            </p:cNvSpPr>
            <p:nvPr/>
          </p:nvSpPr>
          <p:spPr bwMode="auto">
            <a:xfrm>
              <a:off x="4704" y="35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4881" name="Oval 10"/>
            <p:cNvSpPr>
              <a:spLocks noChangeArrowheads="1"/>
            </p:cNvSpPr>
            <p:nvPr/>
          </p:nvSpPr>
          <p:spPr bwMode="auto">
            <a:xfrm>
              <a:off x="4704" y="321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4882" name="Oval 11"/>
            <p:cNvSpPr>
              <a:spLocks noChangeArrowheads="1"/>
            </p:cNvSpPr>
            <p:nvPr/>
          </p:nvSpPr>
          <p:spPr bwMode="auto">
            <a:xfrm>
              <a:off x="4704" y="297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4883" name="Oval 12"/>
            <p:cNvSpPr>
              <a:spLocks noChangeArrowheads="1"/>
            </p:cNvSpPr>
            <p:nvPr/>
          </p:nvSpPr>
          <p:spPr bwMode="auto">
            <a:xfrm>
              <a:off x="4704" y="268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4884" name="Oval 13"/>
            <p:cNvSpPr>
              <a:spLocks noChangeArrowheads="1"/>
            </p:cNvSpPr>
            <p:nvPr/>
          </p:nvSpPr>
          <p:spPr bwMode="auto">
            <a:xfrm>
              <a:off x="4704" y="2352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4885" name="Text Box 14"/>
            <p:cNvSpPr txBox="1">
              <a:spLocks noChangeArrowheads="1"/>
            </p:cNvSpPr>
            <p:nvPr/>
          </p:nvSpPr>
          <p:spPr bwMode="auto">
            <a:xfrm>
              <a:off x="4704" y="35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4886" name="Text Box 15"/>
            <p:cNvSpPr txBox="1">
              <a:spLocks noChangeArrowheads="1"/>
            </p:cNvSpPr>
            <p:nvPr/>
          </p:nvSpPr>
          <p:spPr bwMode="auto">
            <a:xfrm>
              <a:off x="4704" y="321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64887" name="Text Box 16"/>
            <p:cNvSpPr txBox="1">
              <a:spLocks noChangeArrowheads="1"/>
            </p:cNvSpPr>
            <p:nvPr/>
          </p:nvSpPr>
          <p:spPr bwMode="auto">
            <a:xfrm>
              <a:off x="4704" y="297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64888" name="Text Box 17"/>
            <p:cNvSpPr txBox="1">
              <a:spLocks noChangeArrowheads="1"/>
            </p:cNvSpPr>
            <p:nvPr/>
          </p:nvSpPr>
          <p:spPr bwMode="auto">
            <a:xfrm>
              <a:off x="4704" y="268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64889" name="Text Box 18"/>
            <p:cNvSpPr txBox="1">
              <a:spLocks noChangeArrowheads="1"/>
            </p:cNvSpPr>
            <p:nvPr/>
          </p:nvSpPr>
          <p:spPr bwMode="auto">
            <a:xfrm>
              <a:off x="4704" y="235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sp>
        <p:nvSpPr>
          <p:cNvPr id="164873" name="AutoShape 19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4874" name="AutoShape 20"/>
          <p:cNvSpPr>
            <a:spLocks noChangeArrowheads="1"/>
          </p:cNvSpPr>
          <p:nvPr/>
        </p:nvSpPr>
        <p:spPr bwMode="auto">
          <a:xfrm>
            <a:off x="57150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64875" name="Object 4"/>
          <p:cNvGraphicFramePr>
            <a:graphicFrameLocks noChangeAspect="1"/>
          </p:cNvGraphicFramePr>
          <p:nvPr/>
        </p:nvGraphicFramePr>
        <p:xfrm>
          <a:off x="6477000" y="1981200"/>
          <a:ext cx="15240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8" name="Equation" r:id="rId7" imgW="1168400" imgH="939800" progId="Equation.3">
                  <p:embed/>
                </p:oleObj>
              </mc:Choice>
              <mc:Fallback>
                <p:oleObj name="Equation" r:id="rId7" imgW="1168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81200"/>
                        <a:ext cx="15240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876" name="Line 22"/>
          <p:cNvSpPr>
            <a:spLocks noChangeShapeType="1"/>
          </p:cNvSpPr>
          <p:nvPr/>
        </p:nvSpPr>
        <p:spPr bwMode="auto">
          <a:xfrm flipH="1">
            <a:off x="5867400" y="39624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7" name="Line 23"/>
          <p:cNvSpPr>
            <a:spLocks noChangeShapeType="1"/>
          </p:cNvSpPr>
          <p:nvPr/>
        </p:nvSpPr>
        <p:spPr bwMode="auto">
          <a:xfrm>
            <a:off x="5867400" y="3962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878" name="Line 24"/>
          <p:cNvSpPr>
            <a:spLocks noChangeShapeType="1"/>
          </p:cNvSpPr>
          <p:nvPr/>
        </p:nvSpPr>
        <p:spPr bwMode="auto">
          <a:xfrm>
            <a:off x="5867400" y="4495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164879" name="Object 5"/>
          <p:cNvGraphicFramePr>
            <a:graphicFrameLocks noChangeAspect="1"/>
          </p:cNvGraphicFramePr>
          <p:nvPr/>
        </p:nvGraphicFramePr>
        <p:xfrm>
          <a:off x="1066800" y="4038600"/>
          <a:ext cx="3656013" cy="1236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89" r:id="rId9" imgW="2405575" imgH="812409" progId="">
                  <p:embed/>
                </p:oleObj>
              </mc:Choice>
              <mc:Fallback>
                <p:oleObj r:id="rId9" imgW="2405575" imgH="812409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4038600"/>
                        <a:ext cx="3656013" cy="1236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261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609600"/>
            <a:ext cx="7848600" cy="914400"/>
          </a:xfrm>
        </p:spPr>
        <p:txBody>
          <a:bodyPr/>
          <a:lstStyle/>
          <a:p>
            <a:r>
              <a:rPr lang="en-US" altLang="en-US" b="1" smtClean="0">
                <a:effectLst/>
              </a:rPr>
              <a:t>Example: average link</a:t>
            </a:r>
          </a:p>
        </p:txBody>
      </p:sp>
      <p:graphicFrame>
        <p:nvGraphicFramePr>
          <p:cNvPr id="165891" name="Object 2"/>
          <p:cNvGraphicFramePr>
            <a:graphicFrameLocks noChangeAspect="1"/>
          </p:cNvGraphicFramePr>
          <p:nvPr/>
        </p:nvGraphicFramePr>
        <p:xfrm>
          <a:off x="1211263" y="1828800"/>
          <a:ext cx="167640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0" name="Equation" r:id="rId3" imgW="1371600" imgH="1371600" progId="Equation.3">
                  <p:embed/>
                </p:oleObj>
              </mc:Choice>
              <mc:Fallback>
                <p:oleObj name="Equation" r:id="rId3" imgW="1371600" imgH="1371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1828800"/>
                        <a:ext cx="1676400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892" name="Object 3"/>
          <p:cNvGraphicFramePr>
            <a:graphicFrameLocks noChangeAspect="1"/>
          </p:cNvGraphicFramePr>
          <p:nvPr/>
        </p:nvGraphicFramePr>
        <p:xfrm>
          <a:off x="3890963" y="1905000"/>
          <a:ext cx="1670050" cy="145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1" name="Equation" r:id="rId5" imgW="1308100" imgH="1143000" progId="Equation.3">
                  <p:embed/>
                </p:oleObj>
              </mc:Choice>
              <mc:Fallback>
                <p:oleObj name="Equation" r:id="rId5" imgW="1308100" imgH="1143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0963" y="1905000"/>
                        <a:ext cx="1670050" cy="1458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3" name="AutoShape 5"/>
          <p:cNvSpPr>
            <a:spLocks noChangeArrowheads="1"/>
          </p:cNvSpPr>
          <p:nvPr/>
        </p:nvSpPr>
        <p:spPr bwMode="auto">
          <a:xfrm>
            <a:off x="31242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65894" name="AutoShape 6"/>
          <p:cNvSpPr>
            <a:spLocks noChangeArrowheads="1"/>
          </p:cNvSpPr>
          <p:nvPr/>
        </p:nvSpPr>
        <p:spPr bwMode="auto">
          <a:xfrm>
            <a:off x="5715000" y="2514600"/>
            <a:ext cx="533400" cy="457200"/>
          </a:xfrm>
          <a:prstGeom prst="rightArrow">
            <a:avLst>
              <a:gd name="adj1" fmla="val 50000"/>
              <a:gd name="adj2" fmla="val 291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165895" name="Object 4"/>
          <p:cNvGraphicFramePr>
            <a:graphicFrameLocks noChangeAspect="1"/>
          </p:cNvGraphicFramePr>
          <p:nvPr/>
        </p:nvGraphicFramePr>
        <p:xfrm>
          <a:off x="6477000" y="1981200"/>
          <a:ext cx="1524000" cy="122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2" name="Equation" r:id="rId7" imgW="1168400" imgH="939800" progId="Equation.3">
                  <p:embed/>
                </p:oleObj>
              </mc:Choice>
              <mc:Fallback>
                <p:oleObj name="Equation" r:id="rId7" imgW="1168400" imgH="93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981200"/>
                        <a:ext cx="1524000" cy="122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5896" name="Line 8"/>
          <p:cNvSpPr>
            <a:spLocks noChangeShapeType="1"/>
          </p:cNvSpPr>
          <p:nvPr/>
        </p:nvSpPr>
        <p:spPr bwMode="auto">
          <a:xfrm flipH="1">
            <a:off x="5867400" y="51054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7" name="Line 9"/>
          <p:cNvSpPr>
            <a:spLocks noChangeShapeType="1"/>
          </p:cNvSpPr>
          <p:nvPr/>
        </p:nvSpPr>
        <p:spPr bwMode="auto">
          <a:xfrm>
            <a:off x="5867400" y="5105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8" name="Line 10"/>
          <p:cNvSpPr>
            <a:spLocks noChangeShapeType="1"/>
          </p:cNvSpPr>
          <p:nvPr/>
        </p:nvSpPr>
        <p:spPr bwMode="auto">
          <a:xfrm>
            <a:off x="5867400" y="56388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899" name="Line 11"/>
          <p:cNvSpPr>
            <a:spLocks noChangeShapeType="1"/>
          </p:cNvSpPr>
          <p:nvPr/>
        </p:nvSpPr>
        <p:spPr bwMode="auto">
          <a:xfrm flipH="1">
            <a:off x="5867400" y="38862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0" name="Line 12"/>
          <p:cNvSpPr>
            <a:spLocks noChangeShapeType="1"/>
          </p:cNvSpPr>
          <p:nvPr/>
        </p:nvSpPr>
        <p:spPr bwMode="auto">
          <a:xfrm>
            <a:off x="5867400" y="38862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1" name="Line 13"/>
          <p:cNvSpPr>
            <a:spLocks noChangeShapeType="1"/>
          </p:cNvSpPr>
          <p:nvPr/>
        </p:nvSpPr>
        <p:spPr bwMode="auto">
          <a:xfrm>
            <a:off x="5867400" y="4419600"/>
            <a:ext cx="15240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2" name="Line 14"/>
          <p:cNvSpPr>
            <a:spLocks noChangeShapeType="1"/>
          </p:cNvSpPr>
          <p:nvPr/>
        </p:nvSpPr>
        <p:spPr bwMode="auto">
          <a:xfrm flipH="1">
            <a:off x="5257800" y="5257800"/>
            <a:ext cx="609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3" name="Line 15"/>
          <p:cNvSpPr>
            <a:spLocks noChangeShapeType="1"/>
          </p:cNvSpPr>
          <p:nvPr/>
        </p:nvSpPr>
        <p:spPr bwMode="auto">
          <a:xfrm>
            <a:off x="5257800" y="4724400"/>
            <a:ext cx="0" cy="5334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4" name="Line 16"/>
          <p:cNvSpPr>
            <a:spLocks noChangeShapeType="1"/>
          </p:cNvSpPr>
          <p:nvPr/>
        </p:nvSpPr>
        <p:spPr bwMode="auto">
          <a:xfrm>
            <a:off x="5257800" y="4724400"/>
            <a:ext cx="2133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5" name="Line 17"/>
          <p:cNvSpPr>
            <a:spLocks noChangeShapeType="1"/>
          </p:cNvSpPr>
          <p:nvPr/>
        </p:nvSpPr>
        <p:spPr bwMode="auto">
          <a:xfrm flipH="1">
            <a:off x="4572000" y="5029200"/>
            <a:ext cx="685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6" name="Line 18"/>
          <p:cNvSpPr>
            <a:spLocks noChangeShapeType="1"/>
          </p:cNvSpPr>
          <p:nvPr/>
        </p:nvSpPr>
        <p:spPr bwMode="auto">
          <a:xfrm>
            <a:off x="4572000" y="4191000"/>
            <a:ext cx="0" cy="8382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5907" name="Line 19"/>
          <p:cNvSpPr>
            <a:spLocks noChangeShapeType="1"/>
          </p:cNvSpPr>
          <p:nvPr/>
        </p:nvSpPr>
        <p:spPr bwMode="auto">
          <a:xfrm>
            <a:off x="4572000" y="4191000"/>
            <a:ext cx="12192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65908" name="Group 20"/>
          <p:cNvGrpSpPr>
            <a:grpSpLocks/>
          </p:cNvGrpSpPr>
          <p:nvPr/>
        </p:nvGrpSpPr>
        <p:grpSpPr bwMode="auto">
          <a:xfrm>
            <a:off x="7467600" y="3657600"/>
            <a:ext cx="533400" cy="2286000"/>
            <a:chOff x="4704" y="2304"/>
            <a:chExt cx="336" cy="1440"/>
          </a:xfrm>
        </p:grpSpPr>
        <p:sp>
          <p:nvSpPr>
            <p:cNvPr id="165910" name="Oval 21"/>
            <p:cNvSpPr>
              <a:spLocks noChangeArrowheads="1"/>
            </p:cNvSpPr>
            <p:nvPr/>
          </p:nvSpPr>
          <p:spPr bwMode="auto">
            <a:xfrm>
              <a:off x="4704" y="3456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5911" name="Oval 22"/>
            <p:cNvSpPr>
              <a:spLocks noChangeArrowheads="1"/>
            </p:cNvSpPr>
            <p:nvPr/>
          </p:nvSpPr>
          <p:spPr bwMode="auto">
            <a:xfrm>
              <a:off x="4704" y="316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5912" name="Oval 23"/>
            <p:cNvSpPr>
              <a:spLocks noChangeArrowheads="1"/>
            </p:cNvSpPr>
            <p:nvPr/>
          </p:nvSpPr>
          <p:spPr bwMode="auto">
            <a:xfrm>
              <a:off x="4704" y="2928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5913" name="Oval 24"/>
            <p:cNvSpPr>
              <a:spLocks noChangeArrowheads="1"/>
            </p:cNvSpPr>
            <p:nvPr/>
          </p:nvSpPr>
          <p:spPr bwMode="auto">
            <a:xfrm>
              <a:off x="4704" y="2640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5914" name="Oval 25"/>
            <p:cNvSpPr>
              <a:spLocks noChangeArrowheads="1"/>
            </p:cNvSpPr>
            <p:nvPr/>
          </p:nvSpPr>
          <p:spPr bwMode="auto">
            <a:xfrm>
              <a:off x="4704" y="2304"/>
              <a:ext cx="240" cy="2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65915" name="Text Box 26"/>
            <p:cNvSpPr txBox="1">
              <a:spLocks noChangeArrowheads="1"/>
            </p:cNvSpPr>
            <p:nvPr/>
          </p:nvSpPr>
          <p:spPr bwMode="auto">
            <a:xfrm>
              <a:off x="4704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5916" name="Text Box 27"/>
            <p:cNvSpPr txBox="1">
              <a:spLocks noChangeArrowheads="1"/>
            </p:cNvSpPr>
            <p:nvPr/>
          </p:nvSpPr>
          <p:spPr bwMode="auto">
            <a:xfrm>
              <a:off x="4704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2</a:t>
              </a:r>
            </a:p>
          </p:txBody>
        </p:sp>
        <p:sp>
          <p:nvSpPr>
            <p:cNvPr id="165917" name="Text Box 28"/>
            <p:cNvSpPr txBox="1">
              <a:spLocks noChangeArrowheads="1"/>
            </p:cNvSpPr>
            <p:nvPr/>
          </p:nvSpPr>
          <p:spPr bwMode="auto">
            <a:xfrm>
              <a:off x="4704" y="29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3</a:t>
              </a:r>
            </a:p>
          </p:txBody>
        </p:sp>
        <p:sp>
          <p:nvSpPr>
            <p:cNvPr id="165918" name="Text Box 29"/>
            <p:cNvSpPr txBox="1">
              <a:spLocks noChangeArrowheads="1"/>
            </p:cNvSpPr>
            <p:nvPr/>
          </p:nvSpPr>
          <p:spPr bwMode="auto">
            <a:xfrm>
              <a:off x="4704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4</a:t>
              </a:r>
            </a:p>
          </p:txBody>
        </p:sp>
        <p:sp>
          <p:nvSpPr>
            <p:cNvPr id="165919" name="Text Box 30"/>
            <p:cNvSpPr txBox="1">
              <a:spLocks noChangeArrowheads="1"/>
            </p:cNvSpPr>
            <p:nvPr/>
          </p:nvSpPr>
          <p:spPr bwMode="auto">
            <a:xfrm>
              <a:off x="4704" y="23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FF0000"/>
                  </a:solidFill>
                </a:rPr>
                <a:t>5</a:t>
              </a:r>
            </a:p>
          </p:txBody>
        </p:sp>
      </p:grpSp>
      <p:graphicFrame>
        <p:nvGraphicFramePr>
          <p:cNvPr id="165909" name="Object 5"/>
          <p:cNvGraphicFramePr>
            <a:graphicFrameLocks noChangeAspect="1"/>
          </p:cNvGraphicFramePr>
          <p:nvPr/>
        </p:nvGraphicFramePr>
        <p:xfrm>
          <a:off x="304800" y="4114800"/>
          <a:ext cx="41894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13" r:id="rId9" imgW="3160110" imgH="392386" progId="">
                  <p:embed/>
                </p:oleObj>
              </mc:Choice>
              <mc:Fallback>
                <p:oleObj r:id="rId9" imgW="3160110" imgH="392386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4114800"/>
                        <a:ext cx="41894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6568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ChangeArrowheads="1"/>
          </p:cNvSpPr>
          <p:nvPr/>
        </p:nvSpPr>
        <p:spPr bwMode="auto">
          <a:xfrm>
            <a:off x="152400" y="685800"/>
            <a:ext cx="88392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en-US" sz="4000" b="1"/>
              <a:t>Comparison of the Three Methods</a:t>
            </a:r>
          </a:p>
        </p:txBody>
      </p:sp>
      <p:sp>
        <p:nvSpPr>
          <p:cNvPr id="166915" name="Rectangle 3"/>
          <p:cNvSpPr>
            <a:spLocks noChangeArrowheads="1"/>
          </p:cNvSpPr>
          <p:nvPr/>
        </p:nvSpPr>
        <p:spPr bwMode="auto">
          <a:xfrm>
            <a:off x="152400" y="1905000"/>
            <a:ext cx="8458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Single-link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“Loose” clusters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Individual decision, sensitive to outliers 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Complete-link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 “Tight” clusters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Individual decision, sensitive to outliers</a:t>
            </a:r>
          </a:p>
          <a:p>
            <a:pPr>
              <a:lnSpc>
                <a:spcPct val="90000"/>
              </a:lnSpc>
              <a:buClr>
                <a:schemeClr val="tx1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Average-link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“In between” </a:t>
            </a:r>
          </a:p>
          <a:p>
            <a:pPr lvl="1">
              <a:lnSpc>
                <a:spcPct val="90000"/>
              </a:lnSpc>
              <a:buClr>
                <a:schemeClr val="tx1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800"/>
              <a:t>Group decision, insensitive to outliers</a:t>
            </a:r>
          </a:p>
          <a:p>
            <a:pPr>
              <a:lnSpc>
                <a:spcPct val="90000"/>
              </a:lnSpc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kumimoji="1" lang="en-US" altLang="en-US" sz="2800"/>
              <a:t>Which one is the best? Depends on what you need! </a:t>
            </a:r>
          </a:p>
        </p:txBody>
      </p:sp>
    </p:spTree>
    <p:extLst>
      <p:ext uri="{BB962C8B-B14F-4D97-AF65-F5344CB8AC3E}">
        <p14:creationId xmlns:p14="http://schemas.microsoft.com/office/powerpoint/2010/main" val="417197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2296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 </a:t>
            </a:r>
          </a:p>
        </p:txBody>
      </p:sp>
      <p:sp>
        <p:nvSpPr>
          <p:cNvPr id="461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14400"/>
            <a:ext cx="86106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Produces a set of nested clusters organized as a hierarchical tree</a:t>
            </a:r>
          </a:p>
          <a:p>
            <a:pPr eaLnBrk="1" hangingPunct="1">
              <a:defRPr/>
            </a:pPr>
            <a:r>
              <a:rPr lang="en-US" smtClean="0"/>
              <a:t>Can be visualized as a dendrogram</a:t>
            </a:r>
          </a:p>
          <a:p>
            <a:pPr lvl="1" eaLnBrk="1" hangingPunct="1">
              <a:defRPr/>
            </a:pPr>
            <a:r>
              <a:rPr lang="en-US" smtClean="0"/>
              <a:t>A tree like diagram that records the sequences of merges or splits</a:t>
            </a:r>
          </a:p>
        </p:txBody>
      </p:sp>
      <p:pic>
        <p:nvPicPr>
          <p:cNvPr id="1679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59213"/>
            <a:ext cx="34591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7941" name="Object 5"/>
          <p:cNvGraphicFramePr>
            <a:graphicFrameLocks noChangeAspect="1"/>
          </p:cNvGraphicFramePr>
          <p:nvPr/>
        </p:nvGraphicFramePr>
        <p:xfrm>
          <a:off x="5257800" y="3629025"/>
          <a:ext cx="2319338" cy="2360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89" name="VISIO" r:id="rId5" imgW="3163511" imgH="3230582" progId="Visio.Drawing.6">
                  <p:embed/>
                </p:oleObj>
              </mc:Choice>
              <mc:Fallback>
                <p:oleObj name="VISIO" r:id="rId5" imgW="3163511" imgH="323058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629025"/>
                        <a:ext cx="2319338" cy="2360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6948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mtClean="0"/>
              <a:t>Strengths of Hierarchical Clustering</a:t>
            </a:r>
          </a:p>
        </p:txBody>
      </p:sp>
      <p:sp>
        <p:nvSpPr>
          <p:cNvPr id="463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Do not have to assume any particular number of clusters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Any desired number of clusters can be obtained by ‘cutting’ the </a:t>
            </a:r>
            <a:r>
              <a:rPr lang="en-US" dirty="0" err="1" smtClean="0"/>
              <a:t>dendogram</a:t>
            </a:r>
            <a:r>
              <a:rPr lang="en-US" dirty="0" smtClean="0"/>
              <a:t> at the proper level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/>
              <a:t>They may correspond to meaningful taxonomies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dirty="0" smtClean="0"/>
              <a:t>Example in biological sciences (e.g., animal kingdom, phylogeny reconstruction, …)</a:t>
            </a:r>
          </a:p>
        </p:txBody>
      </p:sp>
    </p:spTree>
    <p:extLst>
      <p:ext uri="{BB962C8B-B14F-4D97-AF65-F5344CB8AC3E}">
        <p14:creationId xmlns:p14="http://schemas.microsoft.com/office/powerpoint/2010/main" val="3882233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4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Cluster Similarity: MIN or Single Link </a:t>
            </a:r>
          </a:p>
        </p:txBody>
      </p:sp>
      <p:sp>
        <p:nvSpPr>
          <p:cNvPr id="488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Similarity of two clusters is based on the two most similar (closest) points in the different clusters</a:t>
            </a:r>
          </a:p>
          <a:p>
            <a:pPr lvl="1" eaLnBrk="1" hangingPunct="1">
              <a:defRPr/>
            </a:pPr>
            <a:r>
              <a:rPr lang="en-US" smtClean="0"/>
              <a:t>Determined by one pair of points, i.e., by one link in the proximity graph.</a:t>
            </a:r>
          </a:p>
        </p:txBody>
      </p:sp>
      <p:graphicFrame>
        <p:nvGraphicFramePr>
          <p:cNvPr id="488452" name="Object 4"/>
          <p:cNvGraphicFramePr>
            <a:graphicFrameLocks noChangeAspect="1"/>
          </p:cNvGraphicFramePr>
          <p:nvPr/>
        </p:nvGraphicFramePr>
        <p:xfrm>
          <a:off x="0" y="4343400"/>
          <a:ext cx="4087813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3" name="Worksheet" r:id="rId4" imgW="2294001" imgH="1013841" progId="Excel.Sheet.8">
                  <p:embed/>
                </p:oleObj>
              </mc:Choice>
              <mc:Fallback>
                <p:oleObj name="Worksheet" r:id="rId4" imgW="2294001" imgH="101384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343400"/>
                        <a:ext cx="4087813" cy="213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562600" y="3810000"/>
            <a:ext cx="2820988" cy="2562225"/>
            <a:chOff x="3616" y="2256"/>
            <a:chExt cx="1777" cy="1614"/>
          </a:xfrm>
        </p:grpSpPr>
        <p:sp>
          <p:nvSpPr>
            <p:cNvPr id="172038" name="Line 6"/>
            <p:cNvSpPr>
              <a:spLocks noChangeShapeType="1"/>
            </p:cNvSpPr>
            <p:nvPr/>
          </p:nvSpPr>
          <p:spPr bwMode="auto">
            <a:xfrm flipV="1">
              <a:off x="3696" y="3221"/>
              <a:ext cx="0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39" name="Line 7"/>
            <p:cNvSpPr>
              <a:spLocks noChangeShapeType="1"/>
            </p:cNvSpPr>
            <p:nvPr/>
          </p:nvSpPr>
          <p:spPr bwMode="auto">
            <a:xfrm>
              <a:off x="3696" y="3221"/>
              <a:ext cx="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0" name="Line 8"/>
            <p:cNvSpPr>
              <a:spLocks noChangeShapeType="1"/>
            </p:cNvSpPr>
            <p:nvPr/>
          </p:nvSpPr>
          <p:spPr bwMode="auto">
            <a:xfrm>
              <a:off x="4163" y="3221"/>
              <a:ext cx="0" cy="40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1" name="Line 9"/>
            <p:cNvSpPr>
              <a:spLocks noChangeShapeType="1"/>
            </p:cNvSpPr>
            <p:nvPr/>
          </p:nvSpPr>
          <p:spPr bwMode="auto">
            <a:xfrm flipV="1">
              <a:off x="3976" y="2979"/>
              <a:ext cx="0" cy="2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2" name="Line 10"/>
            <p:cNvSpPr>
              <a:spLocks noChangeShapeType="1"/>
            </p:cNvSpPr>
            <p:nvPr/>
          </p:nvSpPr>
          <p:spPr bwMode="auto">
            <a:xfrm flipV="1">
              <a:off x="3976" y="2899"/>
              <a:ext cx="0" cy="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3" name="Line 11"/>
            <p:cNvSpPr>
              <a:spLocks noChangeShapeType="1"/>
            </p:cNvSpPr>
            <p:nvPr/>
          </p:nvSpPr>
          <p:spPr bwMode="auto">
            <a:xfrm flipV="1">
              <a:off x="4818" y="3060"/>
              <a:ext cx="0" cy="5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4" name="Line 12"/>
            <p:cNvSpPr>
              <a:spLocks noChangeShapeType="1"/>
            </p:cNvSpPr>
            <p:nvPr/>
          </p:nvSpPr>
          <p:spPr bwMode="auto">
            <a:xfrm>
              <a:off x="4818" y="3060"/>
              <a:ext cx="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5" name="Line 13"/>
            <p:cNvSpPr>
              <a:spLocks noChangeShapeType="1"/>
            </p:cNvSpPr>
            <p:nvPr/>
          </p:nvSpPr>
          <p:spPr bwMode="auto">
            <a:xfrm>
              <a:off x="5285" y="3060"/>
              <a:ext cx="0" cy="5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6" name="Line 14"/>
            <p:cNvSpPr>
              <a:spLocks noChangeShapeType="1"/>
            </p:cNvSpPr>
            <p:nvPr/>
          </p:nvSpPr>
          <p:spPr bwMode="auto">
            <a:xfrm flipV="1">
              <a:off x="5098" y="2819"/>
              <a:ext cx="0" cy="2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7" name="Line 15"/>
            <p:cNvSpPr>
              <a:spLocks noChangeShapeType="1"/>
            </p:cNvSpPr>
            <p:nvPr/>
          </p:nvSpPr>
          <p:spPr bwMode="auto">
            <a:xfrm flipV="1">
              <a:off x="5098" y="2738"/>
              <a:ext cx="0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8" name="Line 16"/>
            <p:cNvSpPr>
              <a:spLocks noChangeShapeType="1"/>
            </p:cNvSpPr>
            <p:nvPr/>
          </p:nvSpPr>
          <p:spPr bwMode="auto">
            <a:xfrm flipV="1">
              <a:off x="4444" y="2899"/>
              <a:ext cx="0" cy="7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49" name="Line 17"/>
            <p:cNvSpPr>
              <a:spLocks noChangeShapeType="1"/>
            </p:cNvSpPr>
            <p:nvPr/>
          </p:nvSpPr>
          <p:spPr bwMode="auto">
            <a:xfrm>
              <a:off x="3976" y="2899"/>
              <a:ext cx="46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0" name="Line 18"/>
            <p:cNvSpPr>
              <a:spLocks noChangeShapeType="1"/>
            </p:cNvSpPr>
            <p:nvPr/>
          </p:nvSpPr>
          <p:spPr bwMode="auto">
            <a:xfrm flipV="1">
              <a:off x="4163" y="2578"/>
              <a:ext cx="0" cy="3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1" name="Line 19"/>
            <p:cNvSpPr>
              <a:spLocks noChangeShapeType="1"/>
            </p:cNvSpPr>
            <p:nvPr/>
          </p:nvSpPr>
          <p:spPr bwMode="auto">
            <a:xfrm>
              <a:off x="4163" y="2578"/>
              <a:ext cx="9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2" name="Line 20"/>
            <p:cNvSpPr>
              <a:spLocks noChangeShapeType="1"/>
            </p:cNvSpPr>
            <p:nvPr/>
          </p:nvSpPr>
          <p:spPr bwMode="auto">
            <a:xfrm>
              <a:off x="5098" y="2578"/>
              <a:ext cx="0" cy="24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3" name="Line 21"/>
            <p:cNvSpPr>
              <a:spLocks noChangeShapeType="1"/>
            </p:cNvSpPr>
            <p:nvPr/>
          </p:nvSpPr>
          <p:spPr bwMode="auto">
            <a:xfrm flipV="1">
              <a:off x="4631" y="2256"/>
              <a:ext cx="0" cy="3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054" name="Text Box 22"/>
            <p:cNvSpPr txBox="1">
              <a:spLocks noChangeArrowheads="1"/>
            </p:cNvSpPr>
            <p:nvPr/>
          </p:nvSpPr>
          <p:spPr bwMode="auto">
            <a:xfrm>
              <a:off x="3616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72055" name="Text Box 23"/>
            <p:cNvSpPr txBox="1">
              <a:spLocks noChangeArrowheads="1"/>
            </p:cNvSpPr>
            <p:nvPr/>
          </p:nvSpPr>
          <p:spPr bwMode="auto">
            <a:xfrm>
              <a:off x="4083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72056" name="Text Box 24"/>
            <p:cNvSpPr txBox="1">
              <a:spLocks noChangeArrowheads="1"/>
            </p:cNvSpPr>
            <p:nvPr/>
          </p:nvSpPr>
          <p:spPr bwMode="auto">
            <a:xfrm>
              <a:off x="4364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72057" name="Text Box 25"/>
            <p:cNvSpPr txBox="1">
              <a:spLocks noChangeArrowheads="1"/>
            </p:cNvSpPr>
            <p:nvPr/>
          </p:nvSpPr>
          <p:spPr bwMode="auto">
            <a:xfrm>
              <a:off x="4738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72058" name="Text Box 26"/>
            <p:cNvSpPr txBox="1">
              <a:spLocks noChangeArrowheads="1"/>
            </p:cNvSpPr>
            <p:nvPr/>
          </p:nvSpPr>
          <p:spPr bwMode="auto">
            <a:xfrm>
              <a:off x="5205" y="363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090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Hierarchical Clustering: MIN</a:t>
            </a:r>
          </a:p>
        </p:txBody>
      </p:sp>
      <p:sp>
        <p:nvSpPr>
          <p:cNvPr id="174083" name="Text Box 3"/>
          <p:cNvSpPr txBox="1">
            <a:spLocks noChangeArrowheads="1"/>
          </p:cNvSpPr>
          <p:nvPr/>
        </p:nvSpPr>
        <p:spPr bwMode="auto">
          <a:xfrm>
            <a:off x="914400" y="5715000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Nested Clusters</a:t>
            </a:r>
          </a:p>
        </p:txBody>
      </p:sp>
      <p:sp>
        <p:nvSpPr>
          <p:cNvPr id="174084" name="Text Box 4"/>
          <p:cNvSpPr txBox="1">
            <a:spLocks noChangeArrowheads="1"/>
          </p:cNvSpPr>
          <p:nvPr/>
        </p:nvSpPr>
        <p:spPr bwMode="auto">
          <a:xfrm>
            <a:off x="5791200" y="5715000"/>
            <a:ext cx="2286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Dendrogram</a:t>
            </a:r>
          </a:p>
        </p:txBody>
      </p:sp>
      <p:grpSp>
        <p:nvGrpSpPr>
          <p:cNvPr id="174085" name="Group 5"/>
          <p:cNvGrpSpPr>
            <a:grpSpLocks/>
          </p:cNvGrpSpPr>
          <p:nvPr/>
        </p:nvGrpSpPr>
        <p:grpSpPr bwMode="auto">
          <a:xfrm>
            <a:off x="747713" y="1773238"/>
            <a:ext cx="3175000" cy="2790825"/>
            <a:chOff x="471" y="1117"/>
            <a:chExt cx="2000" cy="1758"/>
          </a:xfrm>
        </p:grpSpPr>
        <p:sp>
          <p:nvSpPr>
            <p:cNvPr id="174102" name="Freeform 6"/>
            <p:cNvSpPr>
              <a:spLocks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3" name="Freeform 7"/>
            <p:cNvSpPr>
              <a:spLocks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4" name="Freeform 8"/>
            <p:cNvSpPr>
              <a:spLocks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5" name="Freeform 9"/>
            <p:cNvSpPr>
              <a:spLocks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6" name="Freeform 10"/>
            <p:cNvSpPr>
              <a:spLocks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7" name="Freeform 11"/>
            <p:cNvSpPr>
              <a:spLocks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108" name="Rectangle 12"/>
            <p:cNvSpPr>
              <a:spLocks noChangeArrowheads="1"/>
            </p:cNvSpPr>
            <p:nvPr/>
          </p:nvSpPr>
          <p:spPr bwMode="auto">
            <a:xfrm>
              <a:off x="2032" y="1117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09" name="Rectangle 13"/>
            <p:cNvSpPr>
              <a:spLocks noChangeArrowheads="1"/>
            </p:cNvSpPr>
            <p:nvPr/>
          </p:nvSpPr>
          <p:spPr bwMode="auto">
            <a:xfrm>
              <a:off x="1256" y="1764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0" name="Rectangle 14"/>
            <p:cNvSpPr>
              <a:spLocks noChangeArrowheads="1"/>
            </p:cNvSpPr>
            <p:nvPr/>
          </p:nvSpPr>
          <p:spPr bwMode="auto">
            <a:xfrm>
              <a:off x="1810" y="2069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1" name="Rectangle 15"/>
            <p:cNvSpPr>
              <a:spLocks noChangeArrowheads="1"/>
            </p:cNvSpPr>
            <p:nvPr/>
          </p:nvSpPr>
          <p:spPr bwMode="auto">
            <a:xfrm>
              <a:off x="1422" y="263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2" name="Rectangle 16"/>
            <p:cNvSpPr>
              <a:spLocks noChangeArrowheads="1"/>
            </p:cNvSpPr>
            <p:nvPr/>
          </p:nvSpPr>
          <p:spPr bwMode="auto">
            <a:xfrm>
              <a:off x="648" y="1626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113" name="Rectangle 17"/>
            <p:cNvSpPr>
              <a:spLocks noChangeArrowheads="1"/>
            </p:cNvSpPr>
            <p:nvPr/>
          </p:nvSpPr>
          <p:spPr bwMode="auto">
            <a:xfrm>
              <a:off x="2307" y="2125"/>
              <a:ext cx="164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6" name="Group 18"/>
          <p:cNvGrpSpPr>
            <a:grpSpLocks/>
          </p:cNvGrpSpPr>
          <p:nvPr/>
        </p:nvGrpSpPr>
        <p:grpSpPr bwMode="auto">
          <a:xfrm>
            <a:off x="2495550" y="2863850"/>
            <a:ext cx="1423988" cy="914400"/>
            <a:chOff x="1572" y="1804"/>
            <a:chExt cx="897" cy="576"/>
          </a:xfrm>
        </p:grpSpPr>
        <p:sp>
          <p:nvSpPr>
            <p:cNvPr id="174100" name="Freeform 19"/>
            <p:cNvSpPr>
              <a:spLocks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01" name="Rectangle 20"/>
            <p:cNvSpPr>
              <a:spLocks noChangeArrowheads="1"/>
            </p:cNvSpPr>
            <p:nvPr/>
          </p:nvSpPr>
          <p:spPr bwMode="auto">
            <a:xfrm>
              <a:off x="1944" y="1804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7" name="Group 21"/>
          <p:cNvGrpSpPr>
            <a:grpSpLocks/>
          </p:cNvGrpSpPr>
          <p:nvPr/>
        </p:nvGrpSpPr>
        <p:grpSpPr bwMode="auto">
          <a:xfrm>
            <a:off x="527050" y="2489200"/>
            <a:ext cx="1735138" cy="1158875"/>
            <a:chOff x="332" y="1568"/>
            <a:chExt cx="1093" cy="730"/>
          </a:xfrm>
        </p:grpSpPr>
        <p:sp>
          <p:nvSpPr>
            <p:cNvPr id="174098" name="Freeform 22"/>
            <p:cNvSpPr>
              <a:spLocks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9" name="Rectangle 23"/>
            <p:cNvSpPr>
              <a:spLocks noChangeArrowheads="1"/>
            </p:cNvSpPr>
            <p:nvPr/>
          </p:nvSpPr>
          <p:spPr bwMode="auto">
            <a:xfrm>
              <a:off x="949" y="2052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8" name="Group 24"/>
          <p:cNvGrpSpPr>
            <a:grpSpLocks/>
          </p:cNvGrpSpPr>
          <p:nvPr/>
        </p:nvGrpSpPr>
        <p:grpSpPr bwMode="auto">
          <a:xfrm>
            <a:off x="444500" y="2071688"/>
            <a:ext cx="3675063" cy="2097087"/>
            <a:chOff x="280" y="1305"/>
            <a:chExt cx="2315" cy="1321"/>
          </a:xfrm>
        </p:grpSpPr>
        <p:sp>
          <p:nvSpPr>
            <p:cNvPr id="174096" name="Freeform 25"/>
            <p:cNvSpPr>
              <a:spLocks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7" name="Rectangle 26"/>
            <p:cNvSpPr>
              <a:spLocks noChangeArrowheads="1"/>
            </p:cNvSpPr>
            <p:nvPr/>
          </p:nvSpPr>
          <p:spPr bwMode="auto">
            <a:xfrm>
              <a:off x="1390" y="130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89" name="Group 27"/>
          <p:cNvGrpSpPr>
            <a:grpSpLocks/>
          </p:cNvGrpSpPr>
          <p:nvPr/>
        </p:nvGrpSpPr>
        <p:grpSpPr bwMode="auto">
          <a:xfrm>
            <a:off x="382588" y="1951038"/>
            <a:ext cx="3795712" cy="2924175"/>
            <a:chOff x="241" y="1229"/>
            <a:chExt cx="2391" cy="1842"/>
          </a:xfrm>
        </p:grpSpPr>
        <p:sp>
          <p:nvSpPr>
            <p:cNvPr id="174094" name="Freeform 28"/>
            <p:cNvSpPr>
              <a:spLocks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095" name="Rectangle 29"/>
            <p:cNvSpPr>
              <a:spLocks noChangeArrowheads="1"/>
            </p:cNvSpPr>
            <p:nvPr/>
          </p:nvSpPr>
          <p:spPr bwMode="auto">
            <a:xfrm>
              <a:off x="1239" y="282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4090" name="Group 30"/>
          <p:cNvGrpSpPr>
            <a:grpSpLocks/>
          </p:cNvGrpSpPr>
          <p:nvPr/>
        </p:nvGrpSpPr>
        <p:grpSpPr bwMode="auto">
          <a:xfrm>
            <a:off x="307975" y="1547813"/>
            <a:ext cx="4003675" cy="3530600"/>
            <a:chOff x="194" y="975"/>
            <a:chExt cx="2522" cy="2224"/>
          </a:xfrm>
        </p:grpSpPr>
        <p:sp>
          <p:nvSpPr>
            <p:cNvPr id="174092" name="Rectangle 31"/>
            <p:cNvSpPr>
              <a:spLocks noChangeArrowheads="1"/>
            </p:cNvSpPr>
            <p:nvPr/>
          </p:nvSpPr>
          <p:spPr bwMode="auto">
            <a:xfrm>
              <a:off x="2138" y="975"/>
              <a:ext cx="18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2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74093" name="Freeform 32"/>
            <p:cNvSpPr>
              <a:spLocks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74091" name="Picture 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2098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6992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5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Strength of MIN</a:t>
            </a:r>
          </a:p>
        </p:txBody>
      </p:sp>
      <p:sp>
        <p:nvSpPr>
          <p:cNvPr id="176131" name="Text Box 3"/>
          <p:cNvSpPr txBox="1">
            <a:spLocks noChangeArrowheads="1"/>
          </p:cNvSpPr>
          <p:nvPr/>
        </p:nvSpPr>
        <p:spPr bwMode="auto">
          <a:xfrm>
            <a:off x="1066800" y="42672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876800" y="1981200"/>
            <a:ext cx="4103688" cy="2652713"/>
            <a:chOff x="3072" y="1248"/>
            <a:chExt cx="2585" cy="1671"/>
          </a:xfrm>
        </p:grpSpPr>
        <p:sp>
          <p:nvSpPr>
            <p:cNvPr id="176135" name="Text Box 5"/>
            <p:cNvSpPr txBox="1">
              <a:spLocks noChangeArrowheads="1"/>
            </p:cNvSpPr>
            <p:nvPr/>
          </p:nvSpPr>
          <p:spPr bwMode="auto">
            <a:xfrm>
              <a:off x="3408" y="2688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  <p:pic>
          <p:nvPicPr>
            <p:cNvPr id="176136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28" r="7143"/>
            <a:stretch>
              <a:fillRect/>
            </a:stretch>
          </p:blipFill>
          <p:spPr bwMode="auto">
            <a:xfrm>
              <a:off x="3072" y="1248"/>
              <a:ext cx="2585" cy="1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613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5357"/>
          <a:stretch>
            <a:fillRect/>
          </a:stretch>
        </p:blipFill>
        <p:spPr bwMode="auto">
          <a:xfrm>
            <a:off x="152400" y="1981200"/>
            <a:ext cx="4186238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2552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Can handle non-elliptical shapes</a:t>
            </a:r>
          </a:p>
        </p:txBody>
      </p:sp>
    </p:spTree>
    <p:extLst>
      <p:ext uri="{BB962C8B-B14F-4D97-AF65-F5344CB8AC3E}">
        <p14:creationId xmlns:p14="http://schemas.microsoft.com/office/powerpoint/2010/main" val="4211990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52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Limitations of MIN</a:t>
            </a:r>
          </a:p>
        </p:txBody>
      </p:sp>
      <p:sp>
        <p:nvSpPr>
          <p:cNvPr id="178179" name="Text Box 3"/>
          <p:cNvSpPr txBox="1">
            <a:spLocks noChangeArrowheads="1"/>
          </p:cNvSpPr>
          <p:nvPr/>
        </p:nvSpPr>
        <p:spPr bwMode="auto">
          <a:xfrm>
            <a:off x="1066800" y="4724400"/>
            <a:ext cx="2895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pic>
        <p:nvPicPr>
          <p:cNvPr id="17818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265613" y="1524000"/>
            <a:ext cx="4878387" cy="3567113"/>
            <a:chOff x="2496" y="960"/>
            <a:chExt cx="2689" cy="2247"/>
          </a:xfrm>
        </p:grpSpPr>
        <p:sp>
          <p:nvSpPr>
            <p:cNvPr id="178183" name="Text Box 6"/>
            <p:cNvSpPr txBox="1">
              <a:spLocks noChangeArrowheads="1"/>
            </p:cNvSpPr>
            <p:nvPr/>
          </p:nvSpPr>
          <p:spPr bwMode="auto">
            <a:xfrm>
              <a:off x="3072" y="2976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  <p:pic>
          <p:nvPicPr>
            <p:cNvPr id="178184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6" y="960"/>
              <a:ext cx="2689" cy="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94600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Sensitive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293252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600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800" smtClean="0"/>
              <a:t>Cluster Similarity: MAX or Complete Linkage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307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Similarity of two clusters is based on the two least similar (most distant) points in the different clusters</a:t>
            </a:r>
          </a:p>
          <a:p>
            <a:pPr lvl="1" eaLnBrk="1" hangingPunct="1">
              <a:defRPr/>
            </a:pPr>
            <a:r>
              <a:rPr lang="en-US" smtClean="0"/>
              <a:t>Determined by all pairs of points in the two clusters</a:t>
            </a:r>
          </a:p>
          <a:p>
            <a:pPr eaLnBrk="1" hangingPunct="1">
              <a:defRPr/>
            </a:pPr>
            <a:endParaRPr lang="en-US" smtClean="0"/>
          </a:p>
        </p:txBody>
      </p:sp>
      <p:graphicFrame>
        <p:nvGraphicFramePr>
          <p:cNvPr id="180228" name="Object 4"/>
          <p:cNvGraphicFramePr>
            <a:graphicFrameLocks noChangeAspect="1"/>
          </p:cNvGraphicFramePr>
          <p:nvPr/>
        </p:nvGraphicFramePr>
        <p:xfrm>
          <a:off x="152400" y="4114800"/>
          <a:ext cx="4343400" cy="2459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37" name="Worksheet" r:id="rId4" imgW="2294001" imgH="1013841" progId="Excel.Sheet.8">
                  <p:embed/>
                </p:oleObj>
              </mc:Choice>
              <mc:Fallback>
                <p:oleObj name="Worksheet" r:id="rId4" imgW="2294001" imgH="101384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114800"/>
                        <a:ext cx="4343400" cy="2459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715000" y="3886200"/>
            <a:ext cx="2598738" cy="2667000"/>
            <a:chOff x="3691" y="2160"/>
            <a:chExt cx="1637" cy="1680"/>
          </a:xfrm>
        </p:grpSpPr>
        <p:sp>
          <p:nvSpPr>
            <p:cNvPr id="180230" name="Line 6"/>
            <p:cNvSpPr>
              <a:spLocks noChangeShapeType="1"/>
            </p:cNvSpPr>
            <p:nvPr/>
          </p:nvSpPr>
          <p:spPr bwMode="auto">
            <a:xfrm flipV="1">
              <a:off x="5219" y="3168"/>
              <a:ext cx="0" cy="4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1" name="Line 7"/>
            <p:cNvSpPr>
              <a:spLocks noChangeShapeType="1"/>
            </p:cNvSpPr>
            <p:nvPr/>
          </p:nvSpPr>
          <p:spPr bwMode="auto">
            <a:xfrm>
              <a:off x="4793" y="3168"/>
              <a:ext cx="42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2" name="Line 8"/>
            <p:cNvSpPr>
              <a:spLocks noChangeShapeType="1"/>
            </p:cNvSpPr>
            <p:nvPr/>
          </p:nvSpPr>
          <p:spPr bwMode="auto">
            <a:xfrm>
              <a:off x="4793" y="3168"/>
              <a:ext cx="0" cy="42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3" name="Line 9"/>
            <p:cNvSpPr>
              <a:spLocks noChangeShapeType="1"/>
            </p:cNvSpPr>
            <p:nvPr/>
          </p:nvSpPr>
          <p:spPr bwMode="auto">
            <a:xfrm flipV="1">
              <a:off x="4964" y="2916"/>
              <a:ext cx="0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4" name="Line 10"/>
            <p:cNvSpPr>
              <a:spLocks noChangeShapeType="1"/>
            </p:cNvSpPr>
            <p:nvPr/>
          </p:nvSpPr>
          <p:spPr bwMode="auto">
            <a:xfrm flipV="1">
              <a:off x="4964" y="2832"/>
              <a:ext cx="0" cy="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5" name="Line 11"/>
            <p:cNvSpPr>
              <a:spLocks noChangeShapeType="1"/>
            </p:cNvSpPr>
            <p:nvPr/>
          </p:nvSpPr>
          <p:spPr bwMode="auto">
            <a:xfrm flipV="1">
              <a:off x="4197" y="325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6" name="Line 12"/>
            <p:cNvSpPr>
              <a:spLocks noChangeShapeType="1"/>
            </p:cNvSpPr>
            <p:nvPr/>
          </p:nvSpPr>
          <p:spPr bwMode="auto">
            <a:xfrm>
              <a:off x="3770" y="3252"/>
              <a:ext cx="4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7" name="Line 13"/>
            <p:cNvSpPr>
              <a:spLocks noChangeShapeType="1"/>
            </p:cNvSpPr>
            <p:nvPr/>
          </p:nvSpPr>
          <p:spPr bwMode="auto">
            <a:xfrm>
              <a:off x="3770" y="3252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8" name="Line 14"/>
            <p:cNvSpPr>
              <a:spLocks noChangeShapeType="1"/>
            </p:cNvSpPr>
            <p:nvPr/>
          </p:nvSpPr>
          <p:spPr bwMode="auto">
            <a:xfrm flipV="1">
              <a:off x="3941" y="2748"/>
              <a:ext cx="0" cy="5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39" name="Line 15"/>
            <p:cNvSpPr>
              <a:spLocks noChangeShapeType="1"/>
            </p:cNvSpPr>
            <p:nvPr/>
          </p:nvSpPr>
          <p:spPr bwMode="auto">
            <a:xfrm flipV="1">
              <a:off x="3941" y="2664"/>
              <a:ext cx="0" cy="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0" name="Line 16"/>
            <p:cNvSpPr>
              <a:spLocks noChangeShapeType="1"/>
            </p:cNvSpPr>
            <p:nvPr/>
          </p:nvSpPr>
          <p:spPr bwMode="auto">
            <a:xfrm flipV="1">
              <a:off x="4537" y="2832"/>
              <a:ext cx="0" cy="7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1" name="Line 17"/>
            <p:cNvSpPr>
              <a:spLocks noChangeShapeType="1"/>
            </p:cNvSpPr>
            <p:nvPr/>
          </p:nvSpPr>
          <p:spPr bwMode="auto">
            <a:xfrm>
              <a:off x="4537" y="2832"/>
              <a:ext cx="4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2" name="Line 18"/>
            <p:cNvSpPr>
              <a:spLocks noChangeShapeType="1"/>
            </p:cNvSpPr>
            <p:nvPr/>
          </p:nvSpPr>
          <p:spPr bwMode="auto">
            <a:xfrm flipV="1">
              <a:off x="4793" y="2496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3" name="Line 19"/>
            <p:cNvSpPr>
              <a:spLocks noChangeShapeType="1"/>
            </p:cNvSpPr>
            <p:nvPr/>
          </p:nvSpPr>
          <p:spPr bwMode="auto">
            <a:xfrm>
              <a:off x="3941" y="2496"/>
              <a:ext cx="85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4" name="Line 20"/>
            <p:cNvSpPr>
              <a:spLocks noChangeShapeType="1"/>
            </p:cNvSpPr>
            <p:nvPr/>
          </p:nvSpPr>
          <p:spPr bwMode="auto">
            <a:xfrm>
              <a:off x="3941" y="2496"/>
              <a:ext cx="0" cy="2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5" name="Line 21"/>
            <p:cNvSpPr>
              <a:spLocks noChangeShapeType="1"/>
            </p:cNvSpPr>
            <p:nvPr/>
          </p:nvSpPr>
          <p:spPr bwMode="auto">
            <a:xfrm flipV="1">
              <a:off x="4367" y="2160"/>
              <a:ext cx="0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0246" name="Text Box 22"/>
            <p:cNvSpPr txBox="1">
              <a:spLocks noChangeArrowheads="1"/>
            </p:cNvSpPr>
            <p:nvPr/>
          </p:nvSpPr>
          <p:spPr bwMode="auto">
            <a:xfrm>
              <a:off x="3691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0247" name="Text Box 23"/>
            <p:cNvSpPr txBox="1">
              <a:spLocks noChangeArrowheads="1"/>
            </p:cNvSpPr>
            <p:nvPr/>
          </p:nvSpPr>
          <p:spPr bwMode="auto">
            <a:xfrm>
              <a:off x="4117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0248" name="Text Box 24"/>
            <p:cNvSpPr txBox="1">
              <a:spLocks noChangeArrowheads="1"/>
            </p:cNvSpPr>
            <p:nvPr/>
          </p:nvSpPr>
          <p:spPr bwMode="auto">
            <a:xfrm>
              <a:off x="4458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0249" name="Text Box 25"/>
            <p:cNvSpPr txBox="1">
              <a:spLocks noChangeArrowheads="1"/>
            </p:cNvSpPr>
            <p:nvPr/>
          </p:nvSpPr>
          <p:spPr bwMode="auto">
            <a:xfrm>
              <a:off x="4715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0250" name="Text Box 26"/>
            <p:cNvSpPr txBox="1">
              <a:spLocks noChangeArrowheads="1"/>
            </p:cNvSpPr>
            <p:nvPr/>
          </p:nvSpPr>
          <p:spPr bwMode="auto">
            <a:xfrm>
              <a:off x="5140" y="3609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8037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Hierarchical Clustering: MAX</a:t>
            </a: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1098550" y="5348288"/>
            <a:ext cx="3352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Nested Clusters</a:t>
            </a:r>
          </a:p>
        </p:txBody>
      </p:sp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5670550" y="5348288"/>
            <a:ext cx="1797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Dendrogram</a:t>
            </a:r>
          </a:p>
        </p:txBody>
      </p:sp>
      <p:pic>
        <p:nvPicPr>
          <p:cNvPr id="1822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21336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2278" name="Group 6"/>
          <p:cNvGrpSpPr>
            <a:grpSpLocks/>
          </p:cNvGrpSpPr>
          <p:nvPr/>
        </p:nvGrpSpPr>
        <p:grpSpPr bwMode="auto">
          <a:xfrm>
            <a:off x="792163" y="1824038"/>
            <a:ext cx="2998787" cy="2687637"/>
            <a:chOff x="383" y="1437"/>
            <a:chExt cx="1889" cy="1693"/>
          </a:xfrm>
        </p:grpSpPr>
        <p:sp>
          <p:nvSpPr>
            <p:cNvPr id="182294" name="Freeform 7"/>
            <p:cNvSpPr>
              <a:spLocks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5" name="Freeform 8"/>
            <p:cNvSpPr>
              <a:spLocks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6" name="Freeform 9"/>
            <p:cNvSpPr>
              <a:spLocks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7" name="Freeform 10"/>
            <p:cNvSpPr>
              <a:spLocks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8" name="Freeform 11"/>
            <p:cNvSpPr>
              <a:spLocks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299" name="Freeform 12"/>
            <p:cNvSpPr>
              <a:spLocks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2300" name="Rectangle 13"/>
            <p:cNvSpPr>
              <a:spLocks noChangeArrowheads="1"/>
            </p:cNvSpPr>
            <p:nvPr/>
          </p:nvSpPr>
          <p:spPr bwMode="auto">
            <a:xfrm>
              <a:off x="1890" y="1437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1" name="Rectangle 14"/>
            <p:cNvSpPr>
              <a:spLocks noChangeArrowheads="1"/>
            </p:cNvSpPr>
            <p:nvPr/>
          </p:nvSpPr>
          <p:spPr bwMode="auto">
            <a:xfrm>
              <a:off x="1089" y="2061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2" name="Rectangle 15"/>
            <p:cNvSpPr>
              <a:spLocks noChangeArrowheads="1"/>
            </p:cNvSpPr>
            <p:nvPr/>
          </p:nvSpPr>
          <p:spPr bwMode="auto">
            <a:xfrm>
              <a:off x="1699" y="2373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3" name="Rectangle 16"/>
            <p:cNvSpPr>
              <a:spLocks noChangeArrowheads="1"/>
            </p:cNvSpPr>
            <p:nvPr/>
          </p:nvSpPr>
          <p:spPr bwMode="auto">
            <a:xfrm>
              <a:off x="1319" y="29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4" name="Rectangle 17"/>
            <p:cNvSpPr>
              <a:spLocks noChangeArrowheads="1"/>
            </p:cNvSpPr>
            <p:nvPr/>
          </p:nvSpPr>
          <p:spPr bwMode="auto">
            <a:xfrm>
              <a:off x="517" y="1940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305" name="Rectangle 18"/>
            <p:cNvSpPr>
              <a:spLocks noChangeArrowheads="1"/>
            </p:cNvSpPr>
            <p:nvPr/>
          </p:nvSpPr>
          <p:spPr bwMode="auto">
            <a:xfrm>
              <a:off x="2188" y="2428"/>
              <a:ext cx="84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82279" name="Group 19"/>
          <p:cNvGrpSpPr>
            <a:grpSpLocks/>
          </p:cNvGrpSpPr>
          <p:nvPr/>
        </p:nvGrpSpPr>
        <p:grpSpPr bwMode="auto">
          <a:xfrm>
            <a:off x="2509838" y="3208338"/>
            <a:ext cx="1401762" cy="890587"/>
            <a:chOff x="1465" y="2309"/>
            <a:chExt cx="883" cy="561"/>
          </a:xfrm>
        </p:grpSpPr>
        <p:sp>
          <p:nvSpPr>
            <p:cNvPr id="182292" name="Freeform 20"/>
            <p:cNvSpPr>
              <a:spLocks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93" name="Rectangle 21"/>
            <p:cNvSpPr>
              <a:spLocks noChangeArrowheads="1"/>
            </p:cNvSpPr>
            <p:nvPr/>
          </p:nvSpPr>
          <p:spPr bwMode="auto">
            <a:xfrm>
              <a:off x="1831" y="2668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82280" name="Group 22"/>
          <p:cNvGrpSpPr>
            <a:grpSpLocks/>
          </p:cNvGrpSpPr>
          <p:nvPr/>
        </p:nvGrpSpPr>
        <p:grpSpPr bwMode="auto">
          <a:xfrm>
            <a:off x="704850" y="2249488"/>
            <a:ext cx="1579563" cy="889000"/>
            <a:chOff x="328" y="1705"/>
            <a:chExt cx="995" cy="560"/>
          </a:xfrm>
        </p:grpSpPr>
        <p:sp>
          <p:nvSpPr>
            <p:cNvPr id="182290" name="Freeform 23"/>
            <p:cNvSpPr>
              <a:spLocks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291" name="Rectangle 24"/>
            <p:cNvSpPr>
              <a:spLocks noChangeArrowheads="1"/>
            </p:cNvSpPr>
            <p:nvPr/>
          </p:nvSpPr>
          <p:spPr bwMode="auto">
            <a:xfrm>
              <a:off x="853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82281" name="Group 25"/>
          <p:cNvGrpSpPr>
            <a:grpSpLocks/>
          </p:cNvGrpSpPr>
          <p:nvPr/>
        </p:nvGrpSpPr>
        <p:grpSpPr bwMode="auto">
          <a:xfrm>
            <a:off x="360363" y="1582738"/>
            <a:ext cx="3935412" cy="3487737"/>
            <a:chOff x="111" y="1285"/>
            <a:chExt cx="2479" cy="2197"/>
          </a:xfrm>
        </p:grpSpPr>
        <p:sp>
          <p:nvSpPr>
            <p:cNvPr id="182288" name="Rectangle 26"/>
            <p:cNvSpPr>
              <a:spLocks noChangeArrowheads="1"/>
            </p:cNvSpPr>
            <p:nvPr/>
          </p:nvSpPr>
          <p:spPr bwMode="auto">
            <a:xfrm>
              <a:off x="2484" y="1705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289" name="Freeform 27"/>
            <p:cNvSpPr>
              <a:spLocks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2282" name="Group 28"/>
          <p:cNvGrpSpPr>
            <a:grpSpLocks/>
          </p:cNvGrpSpPr>
          <p:nvPr/>
        </p:nvGrpSpPr>
        <p:grpSpPr bwMode="auto">
          <a:xfrm>
            <a:off x="1882775" y="2982913"/>
            <a:ext cx="2160588" cy="1652587"/>
            <a:chOff x="1070" y="2167"/>
            <a:chExt cx="1361" cy="1041"/>
          </a:xfrm>
        </p:grpSpPr>
        <p:sp>
          <p:nvSpPr>
            <p:cNvPr id="182286" name="Rectangle 29"/>
            <p:cNvSpPr>
              <a:spLocks noChangeArrowheads="1"/>
            </p:cNvSpPr>
            <p:nvPr/>
          </p:nvSpPr>
          <p:spPr bwMode="auto">
            <a:xfrm>
              <a:off x="1070" y="256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287" name="Freeform 30"/>
            <p:cNvSpPr>
              <a:spLocks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2283" name="Group 31"/>
          <p:cNvGrpSpPr>
            <a:grpSpLocks/>
          </p:cNvGrpSpPr>
          <p:nvPr/>
        </p:nvGrpSpPr>
        <p:grpSpPr bwMode="auto">
          <a:xfrm>
            <a:off x="615950" y="1720850"/>
            <a:ext cx="2906713" cy="1520825"/>
            <a:chOff x="272" y="1372"/>
            <a:chExt cx="1831" cy="958"/>
          </a:xfrm>
        </p:grpSpPr>
        <p:sp>
          <p:nvSpPr>
            <p:cNvPr id="182284" name="Rectangle 32"/>
            <p:cNvSpPr>
              <a:spLocks noChangeArrowheads="1"/>
            </p:cNvSpPr>
            <p:nvPr/>
          </p:nvSpPr>
          <p:spPr bwMode="auto">
            <a:xfrm>
              <a:off x="1165" y="1380"/>
              <a:ext cx="9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1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82285" name="Freeform 33"/>
            <p:cNvSpPr>
              <a:spLocks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9834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Strength of MAX</a:t>
            </a:r>
          </a:p>
        </p:txBody>
      </p:sp>
      <p:sp>
        <p:nvSpPr>
          <p:cNvPr id="184323" name="Text Box 3"/>
          <p:cNvSpPr txBox="1">
            <a:spLocks noChangeArrowheads="1"/>
          </p:cNvSpPr>
          <p:nvPr/>
        </p:nvSpPr>
        <p:spPr bwMode="auto">
          <a:xfrm>
            <a:off x="1370013" y="4357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pic>
        <p:nvPicPr>
          <p:cNvPr id="1843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05"/>
          <a:stretch>
            <a:fillRect/>
          </a:stretch>
        </p:blipFill>
        <p:spPr bwMode="auto">
          <a:xfrm>
            <a:off x="303213" y="1295400"/>
            <a:ext cx="4268787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341813" y="1219200"/>
            <a:ext cx="4268787" cy="3505200"/>
            <a:chOff x="2735" y="768"/>
            <a:chExt cx="2689" cy="2208"/>
          </a:xfrm>
        </p:grpSpPr>
        <p:sp>
          <p:nvSpPr>
            <p:cNvPr id="184327" name="Text Box 6"/>
            <p:cNvSpPr txBox="1">
              <a:spLocks noChangeArrowheads="1"/>
            </p:cNvSpPr>
            <p:nvPr/>
          </p:nvSpPr>
          <p:spPr bwMode="auto">
            <a:xfrm>
              <a:off x="3263" y="2745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  <p:pic>
          <p:nvPicPr>
            <p:cNvPr id="184328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1905"/>
            <a:stretch>
              <a:fillRect/>
            </a:stretch>
          </p:blipFill>
          <p:spPr bwMode="auto">
            <a:xfrm>
              <a:off x="2735" y="768"/>
              <a:ext cx="2689" cy="1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00744" name="Text Box 8"/>
          <p:cNvSpPr txBox="1">
            <a:spLocks noChangeArrowheads="1"/>
          </p:cNvSpPr>
          <p:nvPr/>
        </p:nvSpPr>
        <p:spPr bwMode="auto">
          <a:xfrm>
            <a:off x="609600" y="5576888"/>
            <a:ext cx="6324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 Less susceptible to noise and outliers</a:t>
            </a:r>
          </a:p>
        </p:txBody>
      </p:sp>
    </p:spTree>
    <p:extLst>
      <p:ext uri="{BB962C8B-B14F-4D97-AF65-F5344CB8AC3E}">
        <p14:creationId xmlns:p14="http://schemas.microsoft.com/office/powerpoint/2010/main" val="311541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0744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78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mtClean="0"/>
              <a:t>Limitations of MAX</a:t>
            </a:r>
          </a:p>
        </p:txBody>
      </p:sp>
      <p:pic>
        <p:nvPicPr>
          <p:cNvPr id="1863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42687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372" name="Text Box 4"/>
          <p:cNvSpPr txBox="1">
            <a:spLocks noChangeArrowheads="1"/>
          </p:cNvSpPr>
          <p:nvPr/>
        </p:nvSpPr>
        <p:spPr bwMode="auto">
          <a:xfrm>
            <a:off x="1066800" y="4738688"/>
            <a:ext cx="2895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Original Points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418013" y="1371600"/>
            <a:ext cx="4268787" cy="3733800"/>
            <a:chOff x="2783" y="864"/>
            <a:chExt cx="2689" cy="2352"/>
          </a:xfrm>
        </p:grpSpPr>
        <p:pic>
          <p:nvPicPr>
            <p:cNvPr id="186375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3" y="864"/>
              <a:ext cx="2689" cy="2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6376" name="Text Box 7"/>
            <p:cNvSpPr txBox="1">
              <a:spLocks noChangeArrowheads="1"/>
            </p:cNvSpPr>
            <p:nvPr/>
          </p:nvSpPr>
          <p:spPr bwMode="auto">
            <a:xfrm>
              <a:off x="3263" y="2985"/>
              <a:ext cx="18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Two Clusters</a:t>
              </a:r>
            </a:p>
          </p:txBody>
        </p:sp>
      </p:grpSp>
      <p:sp>
        <p:nvSpPr>
          <p:cNvPr id="502792" name="Text Box 8"/>
          <p:cNvSpPr txBox="1">
            <a:spLocks noChangeArrowheads="1"/>
          </p:cNvSpPr>
          <p:nvPr/>
        </p:nvSpPr>
        <p:spPr bwMode="auto">
          <a:xfrm>
            <a:off x="609600" y="5486400"/>
            <a:ext cx="63246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Tends to break large clusters</a:t>
            </a:r>
          </a:p>
          <a:p>
            <a:pPr>
              <a:spcBef>
                <a:spcPct val="50000"/>
              </a:spcBef>
              <a:buClrTx/>
              <a:buSzTx/>
              <a:buFontTx/>
              <a:buChar char="•"/>
            </a:pPr>
            <a:r>
              <a:rPr lang="en-US" altLang="en-US" sz="1800" b="1">
                <a:latin typeface="Arial" panose="020B0604020202020204" pitchFamily="34" charset="0"/>
              </a:rPr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3545294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2792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Cluster Similarity: Group Average</a:t>
            </a:r>
          </a:p>
        </p:txBody>
      </p:sp>
      <p:sp>
        <p:nvSpPr>
          <p:cNvPr id="504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3065463"/>
          </a:xfrm>
        </p:spPr>
        <p:txBody>
          <a:bodyPr/>
          <a:lstStyle/>
          <a:p>
            <a:pPr eaLnBrk="1" hangingPunct="1">
              <a:defRPr/>
            </a:pPr>
            <a:r>
              <a:rPr lang="en-US" sz="2600" smtClean="0"/>
              <a:t>Proximity of two clusters is the average of pairwise proximity between points in the two clusters.</a:t>
            </a:r>
          </a:p>
          <a:p>
            <a:pPr eaLnBrk="1" hangingPunct="1">
              <a:defRPr/>
            </a:pPr>
            <a:endParaRPr lang="en-US" sz="2600" smtClean="0"/>
          </a:p>
          <a:p>
            <a:pPr eaLnBrk="1" hangingPunct="1">
              <a:defRPr/>
            </a:pPr>
            <a:endParaRPr lang="en-US" sz="2600" smtClean="0"/>
          </a:p>
          <a:p>
            <a:pPr lvl="4" eaLnBrk="1" hangingPunct="1">
              <a:defRPr/>
            </a:pPr>
            <a:endParaRPr lang="en-US" sz="1800" smtClean="0"/>
          </a:p>
          <a:p>
            <a:pPr eaLnBrk="1" hangingPunct="1">
              <a:defRPr/>
            </a:pPr>
            <a:r>
              <a:rPr lang="en-US" sz="2600" smtClean="0"/>
              <a:t>Need to use average connectivity for scalability since total proximity favors large clusters</a:t>
            </a:r>
          </a:p>
          <a:p>
            <a:pPr eaLnBrk="1" hangingPunct="1">
              <a:defRPr/>
            </a:pPr>
            <a:endParaRPr lang="en-US" sz="2600" smtClean="0"/>
          </a:p>
        </p:txBody>
      </p:sp>
      <p:graphicFrame>
        <p:nvGraphicFramePr>
          <p:cNvPr id="188420" name="Object 4"/>
          <p:cNvGraphicFramePr>
            <a:graphicFrameLocks noChangeAspect="1"/>
          </p:cNvGraphicFramePr>
          <p:nvPr/>
        </p:nvGraphicFramePr>
        <p:xfrm>
          <a:off x="1676400" y="2057400"/>
          <a:ext cx="5575300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2" name="Equation" r:id="rId4" imgW="3873500" imgH="698500" progId="Equation.3">
                  <p:embed/>
                </p:oleObj>
              </mc:Choice>
              <mc:Fallback>
                <p:oleObj name="Equation" r:id="rId4" imgW="3873500" imgH="6985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2057400"/>
                        <a:ext cx="5575300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8421" name="Object 5"/>
          <p:cNvGraphicFramePr>
            <a:graphicFrameLocks noChangeAspect="1"/>
          </p:cNvGraphicFramePr>
          <p:nvPr/>
        </p:nvGraphicFramePr>
        <p:xfrm>
          <a:off x="0" y="4191000"/>
          <a:ext cx="4343400" cy="241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73" name="Worksheet" r:id="rId6" imgW="2294001" imgH="1013841" progId="Excel.Sheet.8">
                  <p:embed/>
                </p:oleObj>
              </mc:Choice>
              <mc:Fallback>
                <p:oleObj name="Worksheet" r:id="rId6" imgW="2294001" imgH="1013841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191000"/>
                        <a:ext cx="4343400" cy="241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5334000" y="3886200"/>
            <a:ext cx="2957513" cy="2755900"/>
            <a:chOff x="3504" y="2112"/>
            <a:chExt cx="1863" cy="1736"/>
          </a:xfrm>
        </p:grpSpPr>
        <p:sp>
          <p:nvSpPr>
            <p:cNvPr id="188423" name="Line 7"/>
            <p:cNvSpPr>
              <a:spLocks noChangeShapeType="1"/>
            </p:cNvSpPr>
            <p:nvPr/>
          </p:nvSpPr>
          <p:spPr bwMode="auto">
            <a:xfrm flipV="1">
              <a:off x="3605" y="3184"/>
              <a:ext cx="0" cy="4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4" name="Line 8"/>
            <p:cNvSpPr>
              <a:spLocks noChangeShapeType="1"/>
            </p:cNvSpPr>
            <p:nvPr/>
          </p:nvSpPr>
          <p:spPr bwMode="auto">
            <a:xfrm>
              <a:off x="3605" y="3184"/>
              <a:ext cx="4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5" name="Line 9"/>
            <p:cNvSpPr>
              <a:spLocks noChangeShapeType="1"/>
            </p:cNvSpPr>
            <p:nvPr/>
          </p:nvSpPr>
          <p:spPr bwMode="auto">
            <a:xfrm>
              <a:off x="4098" y="3184"/>
              <a:ext cx="0" cy="4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6" name="Line 10"/>
            <p:cNvSpPr>
              <a:spLocks noChangeShapeType="1"/>
            </p:cNvSpPr>
            <p:nvPr/>
          </p:nvSpPr>
          <p:spPr bwMode="auto">
            <a:xfrm flipV="1">
              <a:off x="3901" y="2916"/>
              <a:ext cx="0" cy="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7" name="Line 11"/>
            <p:cNvSpPr>
              <a:spLocks noChangeShapeType="1"/>
            </p:cNvSpPr>
            <p:nvPr/>
          </p:nvSpPr>
          <p:spPr bwMode="auto">
            <a:xfrm flipV="1">
              <a:off x="3901" y="2827"/>
              <a:ext cx="0" cy="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8" name="Line 12"/>
            <p:cNvSpPr>
              <a:spLocks noChangeShapeType="1"/>
            </p:cNvSpPr>
            <p:nvPr/>
          </p:nvSpPr>
          <p:spPr bwMode="auto">
            <a:xfrm flipV="1">
              <a:off x="4787" y="3006"/>
              <a:ext cx="0" cy="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29" name="Line 13"/>
            <p:cNvSpPr>
              <a:spLocks noChangeShapeType="1"/>
            </p:cNvSpPr>
            <p:nvPr/>
          </p:nvSpPr>
          <p:spPr bwMode="auto">
            <a:xfrm>
              <a:off x="4787" y="3006"/>
              <a:ext cx="49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0" name="Line 14"/>
            <p:cNvSpPr>
              <a:spLocks noChangeShapeType="1"/>
            </p:cNvSpPr>
            <p:nvPr/>
          </p:nvSpPr>
          <p:spPr bwMode="auto">
            <a:xfrm>
              <a:off x="5280" y="3006"/>
              <a:ext cx="0" cy="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1" name="Line 15"/>
            <p:cNvSpPr>
              <a:spLocks noChangeShapeType="1"/>
            </p:cNvSpPr>
            <p:nvPr/>
          </p:nvSpPr>
          <p:spPr bwMode="auto">
            <a:xfrm flipV="1">
              <a:off x="5083" y="2738"/>
              <a:ext cx="0" cy="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2" name="Line 16"/>
            <p:cNvSpPr>
              <a:spLocks noChangeShapeType="1"/>
            </p:cNvSpPr>
            <p:nvPr/>
          </p:nvSpPr>
          <p:spPr bwMode="auto">
            <a:xfrm flipV="1">
              <a:off x="5083" y="2648"/>
              <a:ext cx="0" cy="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3" name="Line 17"/>
            <p:cNvSpPr>
              <a:spLocks noChangeShapeType="1"/>
            </p:cNvSpPr>
            <p:nvPr/>
          </p:nvSpPr>
          <p:spPr bwMode="auto">
            <a:xfrm flipV="1">
              <a:off x="4393" y="2827"/>
              <a:ext cx="0" cy="80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4" name="Line 18"/>
            <p:cNvSpPr>
              <a:spLocks noChangeShapeType="1"/>
            </p:cNvSpPr>
            <p:nvPr/>
          </p:nvSpPr>
          <p:spPr bwMode="auto">
            <a:xfrm>
              <a:off x="3901" y="2827"/>
              <a:ext cx="4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5" name="Line 19"/>
            <p:cNvSpPr>
              <a:spLocks noChangeShapeType="1"/>
            </p:cNvSpPr>
            <p:nvPr/>
          </p:nvSpPr>
          <p:spPr bwMode="auto">
            <a:xfrm flipV="1">
              <a:off x="4098" y="2469"/>
              <a:ext cx="0" cy="3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6" name="Line 20"/>
            <p:cNvSpPr>
              <a:spLocks noChangeShapeType="1"/>
            </p:cNvSpPr>
            <p:nvPr/>
          </p:nvSpPr>
          <p:spPr bwMode="auto">
            <a:xfrm>
              <a:off x="4098" y="2469"/>
              <a:ext cx="9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7" name="Line 21"/>
            <p:cNvSpPr>
              <a:spLocks noChangeShapeType="1"/>
            </p:cNvSpPr>
            <p:nvPr/>
          </p:nvSpPr>
          <p:spPr bwMode="auto">
            <a:xfrm>
              <a:off x="5083" y="2469"/>
              <a:ext cx="0" cy="2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8" name="Line 22"/>
            <p:cNvSpPr>
              <a:spLocks noChangeShapeType="1"/>
            </p:cNvSpPr>
            <p:nvPr/>
          </p:nvSpPr>
          <p:spPr bwMode="auto">
            <a:xfrm flipV="1">
              <a:off x="4590" y="2112"/>
              <a:ext cx="0" cy="35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39" name="Text Box 23"/>
            <p:cNvSpPr txBox="1">
              <a:spLocks noChangeArrowheads="1"/>
            </p:cNvSpPr>
            <p:nvPr/>
          </p:nvSpPr>
          <p:spPr bwMode="auto">
            <a:xfrm>
              <a:off x="3504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8440" name="Text Box 24"/>
            <p:cNvSpPr txBox="1">
              <a:spLocks noChangeArrowheads="1"/>
            </p:cNvSpPr>
            <p:nvPr/>
          </p:nvSpPr>
          <p:spPr bwMode="auto">
            <a:xfrm>
              <a:off x="3997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88441" name="Text Box 25"/>
            <p:cNvSpPr txBox="1">
              <a:spLocks noChangeArrowheads="1"/>
            </p:cNvSpPr>
            <p:nvPr/>
          </p:nvSpPr>
          <p:spPr bwMode="auto">
            <a:xfrm>
              <a:off x="4292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88442" name="Text Box 26"/>
            <p:cNvSpPr txBox="1">
              <a:spLocks noChangeArrowheads="1"/>
            </p:cNvSpPr>
            <p:nvPr/>
          </p:nvSpPr>
          <p:spPr bwMode="auto">
            <a:xfrm>
              <a:off x="4686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88443" name="Text Box 27"/>
            <p:cNvSpPr txBox="1">
              <a:spLocks noChangeArrowheads="1"/>
            </p:cNvSpPr>
            <p:nvPr/>
          </p:nvSpPr>
          <p:spPr bwMode="auto">
            <a:xfrm>
              <a:off x="5179" y="3617"/>
              <a:ext cx="1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Times New Roman" panose="02020603050405020304" pitchFamily="18" charset="0"/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044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990600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Clustering: Group Average</a:t>
            </a:r>
          </a:p>
        </p:txBody>
      </p:sp>
      <p:sp>
        <p:nvSpPr>
          <p:cNvPr id="190467" name="Text Box 3"/>
          <p:cNvSpPr txBox="1">
            <a:spLocks noChangeArrowheads="1"/>
          </p:cNvSpPr>
          <p:nvPr/>
        </p:nvSpPr>
        <p:spPr bwMode="auto">
          <a:xfrm>
            <a:off x="739775" y="5616575"/>
            <a:ext cx="3352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Nested Clusters</a:t>
            </a:r>
          </a:p>
        </p:txBody>
      </p:sp>
      <p:sp>
        <p:nvSpPr>
          <p:cNvPr id="190468" name="Text Box 4"/>
          <p:cNvSpPr txBox="1">
            <a:spLocks noChangeArrowheads="1"/>
          </p:cNvSpPr>
          <p:nvPr/>
        </p:nvSpPr>
        <p:spPr bwMode="auto">
          <a:xfrm>
            <a:off x="5562600" y="5562600"/>
            <a:ext cx="2209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b="1">
                <a:latin typeface="Arial" panose="020B0604020202020204" pitchFamily="34" charset="0"/>
              </a:rPr>
              <a:t>Dendrogram</a:t>
            </a:r>
          </a:p>
        </p:txBody>
      </p:sp>
      <p:pic>
        <p:nvPicPr>
          <p:cNvPr id="19046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362200"/>
            <a:ext cx="43878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90470" name="Group 6"/>
          <p:cNvGrpSpPr>
            <a:grpSpLocks/>
          </p:cNvGrpSpPr>
          <p:nvPr/>
        </p:nvGrpSpPr>
        <p:grpSpPr bwMode="auto">
          <a:xfrm>
            <a:off x="633413" y="2041525"/>
            <a:ext cx="2790825" cy="2505075"/>
            <a:chOff x="509" y="1252"/>
            <a:chExt cx="1758" cy="1578"/>
          </a:xfrm>
        </p:grpSpPr>
        <p:sp>
          <p:nvSpPr>
            <p:cNvPr id="190486" name="Freeform 7"/>
            <p:cNvSpPr>
              <a:spLocks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87" name="Freeform 8"/>
            <p:cNvSpPr>
              <a:spLocks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88" name="Freeform 9"/>
            <p:cNvSpPr>
              <a:spLocks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89" name="Freeform 10"/>
            <p:cNvSpPr>
              <a:spLocks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90" name="Freeform 11"/>
            <p:cNvSpPr>
              <a:spLocks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91" name="Freeform 12"/>
            <p:cNvSpPr>
              <a:spLocks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0492" name="Rectangle 13"/>
            <p:cNvSpPr>
              <a:spLocks noChangeArrowheads="1"/>
            </p:cNvSpPr>
            <p:nvPr/>
          </p:nvSpPr>
          <p:spPr bwMode="auto">
            <a:xfrm>
              <a:off x="1908" y="125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3" name="Rectangle 14"/>
            <p:cNvSpPr>
              <a:spLocks noChangeArrowheads="1"/>
            </p:cNvSpPr>
            <p:nvPr/>
          </p:nvSpPr>
          <p:spPr bwMode="auto">
            <a:xfrm>
              <a:off x="1163" y="1832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4" name="Rectangle 15"/>
            <p:cNvSpPr>
              <a:spLocks noChangeArrowheads="1"/>
            </p:cNvSpPr>
            <p:nvPr/>
          </p:nvSpPr>
          <p:spPr bwMode="auto">
            <a:xfrm>
              <a:off x="1732" y="212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5" name="Rectangle 16"/>
            <p:cNvSpPr>
              <a:spLocks noChangeArrowheads="1"/>
            </p:cNvSpPr>
            <p:nvPr/>
          </p:nvSpPr>
          <p:spPr bwMode="auto">
            <a:xfrm>
              <a:off x="1379" y="2638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6" name="Rectangle 17"/>
            <p:cNvSpPr>
              <a:spLocks noChangeArrowheads="1"/>
            </p:cNvSpPr>
            <p:nvPr/>
          </p:nvSpPr>
          <p:spPr bwMode="auto">
            <a:xfrm>
              <a:off x="631" y="1719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97" name="Rectangle 18"/>
            <p:cNvSpPr>
              <a:spLocks noChangeArrowheads="1"/>
            </p:cNvSpPr>
            <p:nvPr/>
          </p:nvSpPr>
          <p:spPr bwMode="auto">
            <a:xfrm>
              <a:off x="2187" y="2173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2230438" y="3327400"/>
            <a:ext cx="1301750" cy="833438"/>
            <a:chOff x="1515" y="2062"/>
            <a:chExt cx="820" cy="525"/>
          </a:xfrm>
        </p:grpSpPr>
        <p:sp>
          <p:nvSpPr>
            <p:cNvPr id="190484" name="Freeform 20"/>
            <p:cNvSpPr>
              <a:spLocks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485" name="Rectangle 21"/>
            <p:cNvSpPr>
              <a:spLocks noChangeArrowheads="1"/>
            </p:cNvSpPr>
            <p:nvPr/>
          </p:nvSpPr>
          <p:spPr bwMode="auto">
            <a:xfrm>
              <a:off x="1855" y="2395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542925" y="2436813"/>
            <a:ext cx="1323975" cy="985837"/>
            <a:chOff x="452" y="1501"/>
            <a:chExt cx="834" cy="621"/>
          </a:xfrm>
        </p:grpSpPr>
        <p:sp>
          <p:nvSpPr>
            <p:cNvPr id="190482" name="Freeform 23"/>
            <p:cNvSpPr>
              <a:spLocks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0483" name="Rectangle 24"/>
            <p:cNvSpPr>
              <a:spLocks noChangeArrowheads="1"/>
            </p:cNvSpPr>
            <p:nvPr/>
          </p:nvSpPr>
          <p:spPr bwMode="auto">
            <a:xfrm>
              <a:off x="944" y="150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228600" y="1676400"/>
            <a:ext cx="3659188" cy="3460750"/>
            <a:chOff x="254" y="1022"/>
            <a:chExt cx="2305" cy="2180"/>
          </a:xfrm>
        </p:grpSpPr>
        <p:sp>
          <p:nvSpPr>
            <p:cNvPr id="190480" name="Rectangle 26"/>
            <p:cNvSpPr>
              <a:spLocks noChangeArrowheads="1"/>
            </p:cNvSpPr>
            <p:nvPr/>
          </p:nvSpPr>
          <p:spPr bwMode="auto">
            <a:xfrm>
              <a:off x="564" y="1148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81" name="Freeform 27"/>
            <p:cNvSpPr>
              <a:spLocks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1730375" y="3101975"/>
            <a:ext cx="1800225" cy="1665288"/>
            <a:chOff x="1217" y="1954"/>
            <a:chExt cx="1134" cy="1049"/>
          </a:xfrm>
        </p:grpSpPr>
        <p:sp>
          <p:nvSpPr>
            <p:cNvPr id="190478" name="Rectangle 29"/>
            <p:cNvSpPr>
              <a:spLocks noChangeArrowheads="1"/>
            </p:cNvSpPr>
            <p:nvPr/>
          </p:nvSpPr>
          <p:spPr bwMode="auto">
            <a:xfrm>
              <a:off x="1665" y="281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79" name="Freeform 30"/>
            <p:cNvSpPr>
              <a:spLocks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1719263" y="1976438"/>
            <a:ext cx="1933575" cy="3097212"/>
            <a:chOff x="1193" y="1211"/>
            <a:chExt cx="1218" cy="1951"/>
          </a:xfrm>
        </p:grpSpPr>
        <p:sp>
          <p:nvSpPr>
            <p:cNvPr id="190476" name="Rectangle 32"/>
            <p:cNvSpPr>
              <a:spLocks noChangeArrowheads="1"/>
            </p:cNvSpPr>
            <p:nvPr/>
          </p:nvSpPr>
          <p:spPr bwMode="auto">
            <a:xfrm>
              <a:off x="1602" y="1211"/>
              <a:ext cx="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0477" name="Freeform 33"/>
            <p:cNvSpPr>
              <a:spLocks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05242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Hierarchical Clustering: Group Average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 eaLnBrk="1" hangingPunct="1">
              <a:defRPr/>
            </a:pPr>
            <a:r>
              <a:rPr lang="en-US" sz="3500" smtClean="0"/>
              <a:t>Compromise between Single and Complete Link</a:t>
            </a:r>
          </a:p>
          <a:p>
            <a:pPr marL="533400" indent="-533400" eaLnBrk="1" hangingPunct="1">
              <a:defRPr/>
            </a:pPr>
            <a:r>
              <a:rPr lang="en-US" sz="3500" smtClean="0"/>
              <a:t>Strengths</a:t>
            </a:r>
          </a:p>
          <a:p>
            <a:pPr marL="914400" lvl="1" indent="-457200" eaLnBrk="1" hangingPunct="1">
              <a:defRPr/>
            </a:pPr>
            <a:r>
              <a:rPr lang="en-US" sz="3200" smtClean="0"/>
              <a:t>Less susceptible to noise and outliers</a:t>
            </a:r>
          </a:p>
          <a:p>
            <a:pPr marL="533400" indent="-533400" eaLnBrk="1" hangingPunct="1">
              <a:defRPr/>
            </a:pPr>
            <a:endParaRPr lang="en-US" sz="3500" smtClean="0"/>
          </a:p>
          <a:p>
            <a:pPr marL="533400" indent="-533400" eaLnBrk="1" hangingPunct="1">
              <a:defRPr/>
            </a:pPr>
            <a:r>
              <a:rPr lang="en-US" sz="3500" smtClean="0"/>
              <a:t>Limitations</a:t>
            </a:r>
          </a:p>
          <a:p>
            <a:pPr marL="914400" lvl="1" indent="-457200" eaLnBrk="1" hangingPunct="1">
              <a:defRPr/>
            </a:pPr>
            <a:r>
              <a:rPr lang="en-US" sz="3200" smtClean="0"/>
              <a:t>Biased towards globular clusters</a:t>
            </a:r>
          </a:p>
        </p:txBody>
      </p:sp>
    </p:spTree>
    <p:extLst>
      <p:ext uri="{BB962C8B-B14F-4D97-AF65-F5344CB8AC3E}">
        <p14:creationId xmlns:p14="http://schemas.microsoft.com/office/powerpoint/2010/main" val="1080127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9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mtClean="0"/>
              <a:t>Cluster Similarity: Ward’s Method</a:t>
            </a:r>
          </a:p>
        </p:txBody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95400"/>
            <a:ext cx="9144000" cy="4530725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mtClean="0">
                <a:effectLst/>
              </a:rPr>
              <a:t>Similarity of two clusters is based on the increase in squared error when two clusters are merged</a:t>
            </a:r>
          </a:p>
          <a:p>
            <a:pPr lvl="1" eaLnBrk="1" hangingPunct="1"/>
            <a:r>
              <a:rPr lang="en-US" altLang="en-US" smtClean="0">
                <a:effectLst/>
              </a:rPr>
              <a:t>Similar to group average if distance between points is distance squared</a:t>
            </a:r>
          </a:p>
          <a:p>
            <a:pPr eaLnBrk="1" hangingPunct="1"/>
            <a:r>
              <a:rPr lang="en-US" altLang="en-US" smtClean="0">
                <a:effectLst/>
              </a:rPr>
              <a:t>Less susceptible to noise and outliers</a:t>
            </a:r>
          </a:p>
          <a:p>
            <a:pPr lvl="4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Biased towards globular clusters</a:t>
            </a:r>
          </a:p>
          <a:p>
            <a:pPr lvl="4" eaLnBrk="1" hangingPunct="1"/>
            <a:endParaRPr lang="en-US" altLang="en-US" smtClean="0">
              <a:effectLst/>
            </a:endParaRPr>
          </a:p>
          <a:p>
            <a:pPr eaLnBrk="1" hangingPunct="1"/>
            <a:r>
              <a:rPr lang="en-US" altLang="en-US" smtClean="0">
                <a:effectLst/>
              </a:rPr>
              <a:t>Hierarchical analogue of K-means</a:t>
            </a:r>
          </a:p>
          <a:p>
            <a:pPr lvl="1" eaLnBrk="1" hangingPunct="1"/>
            <a:r>
              <a:rPr lang="en-US" altLang="en-US" smtClean="0">
                <a:effectLst/>
              </a:rPr>
              <a:t>Can be used to initialize K-means</a:t>
            </a:r>
          </a:p>
        </p:txBody>
      </p:sp>
    </p:spTree>
    <p:extLst>
      <p:ext uri="{BB962C8B-B14F-4D97-AF65-F5344CB8AC3E}">
        <p14:creationId xmlns:p14="http://schemas.microsoft.com/office/powerpoint/2010/main" val="2016274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smtClean="0"/>
              <a:t>Hierarchical Clustering: Comparison</a:t>
            </a:r>
          </a:p>
        </p:txBody>
      </p:sp>
      <p:sp>
        <p:nvSpPr>
          <p:cNvPr id="196611" name="Text Box 3"/>
          <p:cNvSpPr txBox="1">
            <a:spLocks noChangeArrowheads="1"/>
          </p:cNvSpPr>
          <p:nvPr/>
        </p:nvSpPr>
        <p:spPr bwMode="auto">
          <a:xfrm>
            <a:off x="3048000" y="50292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Group Average</a:t>
            </a:r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4530725" y="45720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Ward’s Method</a:t>
            </a:r>
          </a:p>
        </p:txBody>
      </p:sp>
      <p:grpSp>
        <p:nvGrpSpPr>
          <p:cNvPr id="196613" name="Group 5"/>
          <p:cNvGrpSpPr>
            <a:grpSpLocks noChangeAspect="1"/>
          </p:cNvGrpSpPr>
          <p:nvPr/>
        </p:nvGrpSpPr>
        <p:grpSpPr bwMode="auto">
          <a:xfrm>
            <a:off x="858838" y="4067175"/>
            <a:ext cx="1858962" cy="1693863"/>
            <a:chOff x="509" y="1253"/>
            <a:chExt cx="1776" cy="1618"/>
          </a:xfrm>
        </p:grpSpPr>
        <p:sp>
          <p:nvSpPr>
            <p:cNvPr id="196715" name="Freeform 6"/>
            <p:cNvSpPr>
              <a:spLocks noChangeAspect="1"/>
            </p:cNvSpPr>
            <p:nvPr/>
          </p:nvSpPr>
          <p:spPr bwMode="auto">
            <a:xfrm>
              <a:off x="1058" y="1885"/>
              <a:ext cx="79" cy="81"/>
            </a:xfrm>
            <a:custGeom>
              <a:avLst/>
              <a:gdLst>
                <a:gd name="T0" fmla="*/ 0 w 79"/>
                <a:gd name="T1" fmla="*/ 40 h 81"/>
                <a:gd name="T2" fmla="*/ 2 w 79"/>
                <a:gd name="T3" fmla="*/ 24 h 81"/>
                <a:gd name="T4" fmla="*/ 12 w 79"/>
                <a:gd name="T5" fmla="*/ 12 h 81"/>
                <a:gd name="T6" fmla="*/ 24 w 79"/>
                <a:gd name="T7" fmla="*/ 2 h 81"/>
                <a:gd name="T8" fmla="*/ 40 w 79"/>
                <a:gd name="T9" fmla="*/ 0 h 81"/>
                <a:gd name="T10" fmla="*/ 56 w 79"/>
                <a:gd name="T11" fmla="*/ 2 h 81"/>
                <a:gd name="T12" fmla="*/ 68 w 79"/>
                <a:gd name="T13" fmla="*/ 12 h 81"/>
                <a:gd name="T14" fmla="*/ 77 w 79"/>
                <a:gd name="T15" fmla="*/ 24 h 81"/>
                <a:gd name="T16" fmla="*/ 79 w 79"/>
                <a:gd name="T17" fmla="*/ 40 h 81"/>
                <a:gd name="T18" fmla="*/ 77 w 79"/>
                <a:gd name="T19" fmla="*/ 55 h 81"/>
                <a:gd name="T20" fmla="*/ 68 w 79"/>
                <a:gd name="T21" fmla="*/ 69 h 81"/>
                <a:gd name="T22" fmla="*/ 56 w 79"/>
                <a:gd name="T23" fmla="*/ 77 h 81"/>
                <a:gd name="T24" fmla="*/ 40 w 79"/>
                <a:gd name="T25" fmla="*/ 81 h 81"/>
                <a:gd name="T26" fmla="*/ 24 w 79"/>
                <a:gd name="T27" fmla="*/ 77 h 81"/>
                <a:gd name="T28" fmla="*/ 12 w 79"/>
                <a:gd name="T29" fmla="*/ 69 h 81"/>
                <a:gd name="T30" fmla="*/ 2 w 79"/>
                <a:gd name="T31" fmla="*/ 55 h 81"/>
                <a:gd name="T32" fmla="*/ 0 w 79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79"/>
                <a:gd name="T52" fmla="*/ 0 h 81"/>
                <a:gd name="T53" fmla="*/ 79 w 79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79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6" y="2"/>
                  </a:lnTo>
                  <a:lnTo>
                    <a:pt x="68" y="12"/>
                  </a:lnTo>
                  <a:lnTo>
                    <a:pt x="77" y="24"/>
                  </a:lnTo>
                  <a:lnTo>
                    <a:pt x="79" y="40"/>
                  </a:lnTo>
                  <a:lnTo>
                    <a:pt x="77" y="55"/>
                  </a:lnTo>
                  <a:lnTo>
                    <a:pt x="68" y="69"/>
                  </a:lnTo>
                  <a:lnTo>
                    <a:pt x="56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6" name="Freeform 7"/>
            <p:cNvSpPr>
              <a:spLocks noChangeAspect="1"/>
            </p:cNvSpPr>
            <p:nvPr/>
          </p:nvSpPr>
          <p:spPr bwMode="auto">
            <a:xfrm>
              <a:off x="1810" y="1300"/>
              <a:ext cx="81" cy="81"/>
            </a:xfrm>
            <a:custGeom>
              <a:avLst/>
              <a:gdLst>
                <a:gd name="T0" fmla="*/ 0 w 81"/>
                <a:gd name="T1" fmla="*/ 39 h 81"/>
                <a:gd name="T2" fmla="*/ 2 w 81"/>
                <a:gd name="T3" fmla="*/ 23 h 81"/>
                <a:gd name="T4" fmla="*/ 11 w 81"/>
                <a:gd name="T5" fmla="*/ 12 h 81"/>
                <a:gd name="T6" fmla="*/ 23 w 81"/>
                <a:gd name="T7" fmla="*/ 2 h 81"/>
                <a:gd name="T8" fmla="*/ 39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3 h 81"/>
                <a:gd name="T16" fmla="*/ 81 w 81"/>
                <a:gd name="T17" fmla="*/ 39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39 w 81"/>
                <a:gd name="T25" fmla="*/ 81 h 81"/>
                <a:gd name="T26" fmla="*/ 23 w 81"/>
                <a:gd name="T27" fmla="*/ 77 h 81"/>
                <a:gd name="T28" fmla="*/ 11 w 81"/>
                <a:gd name="T29" fmla="*/ 69 h 81"/>
                <a:gd name="T30" fmla="*/ 2 w 81"/>
                <a:gd name="T31" fmla="*/ 55 h 81"/>
                <a:gd name="T32" fmla="*/ 0 w 81"/>
                <a:gd name="T33" fmla="*/ 39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39"/>
                  </a:moveTo>
                  <a:lnTo>
                    <a:pt x="2" y="23"/>
                  </a:lnTo>
                  <a:lnTo>
                    <a:pt x="11" y="12"/>
                  </a:lnTo>
                  <a:lnTo>
                    <a:pt x="23" y="2"/>
                  </a:lnTo>
                  <a:lnTo>
                    <a:pt x="39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3"/>
                  </a:lnTo>
                  <a:lnTo>
                    <a:pt x="81" y="39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39" y="81"/>
                  </a:lnTo>
                  <a:lnTo>
                    <a:pt x="23" y="77"/>
                  </a:lnTo>
                  <a:lnTo>
                    <a:pt x="11" y="69"/>
                  </a:lnTo>
                  <a:lnTo>
                    <a:pt x="2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7" name="Freeform 8"/>
            <p:cNvSpPr>
              <a:spLocks noChangeAspect="1"/>
            </p:cNvSpPr>
            <p:nvPr/>
          </p:nvSpPr>
          <p:spPr bwMode="auto">
            <a:xfrm>
              <a:off x="1262" y="2683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4 h 81"/>
                <a:gd name="T4" fmla="*/ 12 w 81"/>
                <a:gd name="T5" fmla="*/ 12 h 81"/>
                <a:gd name="T6" fmla="*/ 24 w 81"/>
                <a:gd name="T7" fmla="*/ 2 h 81"/>
                <a:gd name="T8" fmla="*/ 40 w 81"/>
                <a:gd name="T9" fmla="*/ 0 h 81"/>
                <a:gd name="T10" fmla="*/ 55 w 81"/>
                <a:gd name="T11" fmla="*/ 2 h 81"/>
                <a:gd name="T12" fmla="*/ 69 w 81"/>
                <a:gd name="T13" fmla="*/ 12 h 81"/>
                <a:gd name="T14" fmla="*/ 77 w 81"/>
                <a:gd name="T15" fmla="*/ 24 h 81"/>
                <a:gd name="T16" fmla="*/ 81 w 81"/>
                <a:gd name="T17" fmla="*/ 40 h 81"/>
                <a:gd name="T18" fmla="*/ 77 w 81"/>
                <a:gd name="T19" fmla="*/ 56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6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4"/>
                  </a:lnTo>
                  <a:lnTo>
                    <a:pt x="12" y="12"/>
                  </a:lnTo>
                  <a:lnTo>
                    <a:pt x="24" y="2"/>
                  </a:lnTo>
                  <a:lnTo>
                    <a:pt x="40" y="0"/>
                  </a:lnTo>
                  <a:lnTo>
                    <a:pt x="55" y="2"/>
                  </a:lnTo>
                  <a:lnTo>
                    <a:pt x="69" y="12"/>
                  </a:lnTo>
                  <a:lnTo>
                    <a:pt x="77" y="24"/>
                  </a:lnTo>
                  <a:lnTo>
                    <a:pt x="81" y="40"/>
                  </a:lnTo>
                  <a:lnTo>
                    <a:pt x="77" y="56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6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8" name="Freeform 9"/>
            <p:cNvSpPr>
              <a:spLocks noChangeAspect="1"/>
            </p:cNvSpPr>
            <p:nvPr/>
          </p:nvSpPr>
          <p:spPr bwMode="auto">
            <a:xfrm>
              <a:off x="509" y="1769"/>
              <a:ext cx="81" cy="81"/>
            </a:xfrm>
            <a:custGeom>
              <a:avLst/>
              <a:gdLst>
                <a:gd name="T0" fmla="*/ 0 w 81"/>
                <a:gd name="T1" fmla="*/ 41 h 81"/>
                <a:gd name="T2" fmla="*/ 2 w 81"/>
                <a:gd name="T3" fmla="*/ 25 h 81"/>
                <a:gd name="T4" fmla="*/ 12 w 81"/>
                <a:gd name="T5" fmla="*/ 12 h 81"/>
                <a:gd name="T6" fmla="*/ 24 w 81"/>
                <a:gd name="T7" fmla="*/ 4 h 81"/>
                <a:gd name="T8" fmla="*/ 39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5 h 81"/>
                <a:gd name="T16" fmla="*/ 81 w 81"/>
                <a:gd name="T17" fmla="*/ 41 h 81"/>
                <a:gd name="T18" fmla="*/ 77 w 81"/>
                <a:gd name="T19" fmla="*/ 57 h 81"/>
                <a:gd name="T20" fmla="*/ 69 w 81"/>
                <a:gd name="T21" fmla="*/ 69 h 81"/>
                <a:gd name="T22" fmla="*/ 55 w 81"/>
                <a:gd name="T23" fmla="*/ 79 h 81"/>
                <a:gd name="T24" fmla="*/ 39 w 81"/>
                <a:gd name="T25" fmla="*/ 81 h 81"/>
                <a:gd name="T26" fmla="*/ 24 w 81"/>
                <a:gd name="T27" fmla="*/ 79 h 81"/>
                <a:gd name="T28" fmla="*/ 12 w 81"/>
                <a:gd name="T29" fmla="*/ 69 h 81"/>
                <a:gd name="T30" fmla="*/ 2 w 81"/>
                <a:gd name="T31" fmla="*/ 57 h 81"/>
                <a:gd name="T32" fmla="*/ 0 w 81"/>
                <a:gd name="T33" fmla="*/ 41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1"/>
                  </a:moveTo>
                  <a:lnTo>
                    <a:pt x="2" y="25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39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5"/>
                  </a:lnTo>
                  <a:lnTo>
                    <a:pt x="81" y="41"/>
                  </a:lnTo>
                  <a:lnTo>
                    <a:pt x="77" y="57"/>
                  </a:lnTo>
                  <a:lnTo>
                    <a:pt x="69" y="69"/>
                  </a:lnTo>
                  <a:lnTo>
                    <a:pt x="55" y="79"/>
                  </a:lnTo>
                  <a:lnTo>
                    <a:pt x="39" y="81"/>
                  </a:lnTo>
                  <a:lnTo>
                    <a:pt x="24" y="79"/>
                  </a:lnTo>
                  <a:lnTo>
                    <a:pt x="12" y="69"/>
                  </a:lnTo>
                  <a:lnTo>
                    <a:pt x="2" y="57"/>
                  </a:lnTo>
                  <a:lnTo>
                    <a:pt x="0" y="41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19" name="Freeform 10"/>
            <p:cNvSpPr>
              <a:spLocks noChangeAspect="1"/>
            </p:cNvSpPr>
            <p:nvPr/>
          </p:nvSpPr>
          <p:spPr bwMode="auto">
            <a:xfrm>
              <a:off x="1586" y="2167"/>
              <a:ext cx="81" cy="79"/>
            </a:xfrm>
            <a:custGeom>
              <a:avLst/>
              <a:gdLst>
                <a:gd name="T0" fmla="*/ 0 w 81"/>
                <a:gd name="T1" fmla="*/ 39 h 79"/>
                <a:gd name="T2" fmla="*/ 4 w 81"/>
                <a:gd name="T3" fmla="*/ 24 h 79"/>
                <a:gd name="T4" fmla="*/ 12 w 81"/>
                <a:gd name="T5" fmla="*/ 12 h 79"/>
                <a:gd name="T6" fmla="*/ 26 w 81"/>
                <a:gd name="T7" fmla="*/ 2 h 79"/>
                <a:gd name="T8" fmla="*/ 42 w 81"/>
                <a:gd name="T9" fmla="*/ 0 h 79"/>
                <a:gd name="T10" fmla="*/ 58 w 81"/>
                <a:gd name="T11" fmla="*/ 2 h 79"/>
                <a:gd name="T12" fmla="*/ 69 w 81"/>
                <a:gd name="T13" fmla="*/ 12 h 79"/>
                <a:gd name="T14" fmla="*/ 79 w 81"/>
                <a:gd name="T15" fmla="*/ 24 h 79"/>
                <a:gd name="T16" fmla="*/ 81 w 81"/>
                <a:gd name="T17" fmla="*/ 39 h 79"/>
                <a:gd name="T18" fmla="*/ 79 w 81"/>
                <a:gd name="T19" fmla="*/ 55 h 79"/>
                <a:gd name="T20" fmla="*/ 69 w 81"/>
                <a:gd name="T21" fmla="*/ 67 h 79"/>
                <a:gd name="T22" fmla="*/ 58 w 81"/>
                <a:gd name="T23" fmla="*/ 77 h 79"/>
                <a:gd name="T24" fmla="*/ 42 w 81"/>
                <a:gd name="T25" fmla="*/ 79 h 79"/>
                <a:gd name="T26" fmla="*/ 26 w 81"/>
                <a:gd name="T27" fmla="*/ 77 h 79"/>
                <a:gd name="T28" fmla="*/ 12 w 81"/>
                <a:gd name="T29" fmla="*/ 67 h 79"/>
                <a:gd name="T30" fmla="*/ 4 w 81"/>
                <a:gd name="T31" fmla="*/ 55 h 79"/>
                <a:gd name="T32" fmla="*/ 0 w 81"/>
                <a:gd name="T33" fmla="*/ 39 h 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79"/>
                <a:gd name="T53" fmla="*/ 81 w 81"/>
                <a:gd name="T54" fmla="*/ 79 h 7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79">
                  <a:moveTo>
                    <a:pt x="0" y="39"/>
                  </a:moveTo>
                  <a:lnTo>
                    <a:pt x="4" y="24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lnTo>
                    <a:pt x="58" y="2"/>
                  </a:lnTo>
                  <a:lnTo>
                    <a:pt x="69" y="12"/>
                  </a:lnTo>
                  <a:lnTo>
                    <a:pt x="79" y="24"/>
                  </a:lnTo>
                  <a:lnTo>
                    <a:pt x="81" y="39"/>
                  </a:lnTo>
                  <a:lnTo>
                    <a:pt x="79" y="55"/>
                  </a:lnTo>
                  <a:lnTo>
                    <a:pt x="69" y="67"/>
                  </a:lnTo>
                  <a:lnTo>
                    <a:pt x="58" y="77"/>
                  </a:lnTo>
                  <a:lnTo>
                    <a:pt x="42" y="79"/>
                  </a:lnTo>
                  <a:lnTo>
                    <a:pt x="26" y="77"/>
                  </a:lnTo>
                  <a:lnTo>
                    <a:pt x="12" y="67"/>
                  </a:lnTo>
                  <a:lnTo>
                    <a:pt x="4" y="55"/>
                  </a:lnTo>
                  <a:lnTo>
                    <a:pt x="0" y="39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20" name="Freeform 11"/>
            <p:cNvSpPr>
              <a:spLocks noChangeAspect="1"/>
            </p:cNvSpPr>
            <p:nvPr/>
          </p:nvSpPr>
          <p:spPr bwMode="auto">
            <a:xfrm>
              <a:off x="2029" y="2220"/>
              <a:ext cx="81" cy="81"/>
            </a:xfrm>
            <a:custGeom>
              <a:avLst/>
              <a:gdLst>
                <a:gd name="T0" fmla="*/ 0 w 81"/>
                <a:gd name="T1" fmla="*/ 40 h 81"/>
                <a:gd name="T2" fmla="*/ 2 w 81"/>
                <a:gd name="T3" fmla="*/ 26 h 81"/>
                <a:gd name="T4" fmla="*/ 12 w 81"/>
                <a:gd name="T5" fmla="*/ 12 h 81"/>
                <a:gd name="T6" fmla="*/ 24 w 81"/>
                <a:gd name="T7" fmla="*/ 4 h 81"/>
                <a:gd name="T8" fmla="*/ 40 w 81"/>
                <a:gd name="T9" fmla="*/ 0 h 81"/>
                <a:gd name="T10" fmla="*/ 55 w 81"/>
                <a:gd name="T11" fmla="*/ 4 h 81"/>
                <a:gd name="T12" fmla="*/ 69 w 81"/>
                <a:gd name="T13" fmla="*/ 12 h 81"/>
                <a:gd name="T14" fmla="*/ 77 w 81"/>
                <a:gd name="T15" fmla="*/ 26 h 81"/>
                <a:gd name="T16" fmla="*/ 81 w 81"/>
                <a:gd name="T17" fmla="*/ 40 h 81"/>
                <a:gd name="T18" fmla="*/ 77 w 81"/>
                <a:gd name="T19" fmla="*/ 55 h 81"/>
                <a:gd name="T20" fmla="*/ 69 w 81"/>
                <a:gd name="T21" fmla="*/ 69 h 81"/>
                <a:gd name="T22" fmla="*/ 55 w 81"/>
                <a:gd name="T23" fmla="*/ 77 h 81"/>
                <a:gd name="T24" fmla="*/ 40 w 81"/>
                <a:gd name="T25" fmla="*/ 81 h 81"/>
                <a:gd name="T26" fmla="*/ 24 w 81"/>
                <a:gd name="T27" fmla="*/ 77 h 81"/>
                <a:gd name="T28" fmla="*/ 12 w 81"/>
                <a:gd name="T29" fmla="*/ 69 h 81"/>
                <a:gd name="T30" fmla="*/ 2 w 81"/>
                <a:gd name="T31" fmla="*/ 55 h 81"/>
                <a:gd name="T32" fmla="*/ 0 w 81"/>
                <a:gd name="T33" fmla="*/ 4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1"/>
                <a:gd name="T52" fmla="*/ 0 h 81"/>
                <a:gd name="T53" fmla="*/ 81 w 81"/>
                <a:gd name="T54" fmla="*/ 81 h 8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1" h="81">
                  <a:moveTo>
                    <a:pt x="0" y="40"/>
                  </a:moveTo>
                  <a:lnTo>
                    <a:pt x="2" y="26"/>
                  </a:lnTo>
                  <a:lnTo>
                    <a:pt x="12" y="12"/>
                  </a:lnTo>
                  <a:lnTo>
                    <a:pt x="24" y="4"/>
                  </a:lnTo>
                  <a:lnTo>
                    <a:pt x="40" y="0"/>
                  </a:lnTo>
                  <a:lnTo>
                    <a:pt x="55" y="4"/>
                  </a:lnTo>
                  <a:lnTo>
                    <a:pt x="69" y="12"/>
                  </a:lnTo>
                  <a:lnTo>
                    <a:pt x="77" y="26"/>
                  </a:lnTo>
                  <a:lnTo>
                    <a:pt x="81" y="40"/>
                  </a:lnTo>
                  <a:lnTo>
                    <a:pt x="77" y="55"/>
                  </a:lnTo>
                  <a:lnTo>
                    <a:pt x="69" y="69"/>
                  </a:lnTo>
                  <a:lnTo>
                    <a:pt x="55" y="77"/>
                  </a:lnTo>
                  <a:lnTo>
                    <a:pt x="40" y="81"/>
                  </a:lnTo>
                  <a:lnTo>
                    <a:pt x="24" y="77"/>
                  </a:lnTo>
                  <a:lnTo>
                    <a:pt x="12" y="69"/>
                  </a:lnTo>
                  <a:lnTo>
                    <a:pt x="2" y="55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21" name="Rectangle 12"/>
            <p:cNvSpPr>
              <a:spLocks noChangeAspect="1" noChangeArrowheads="1"/>
            </p:cNvSpPr>
            <p:nvPr/>
          </p:nvSpPr>
          <p:spPr bwMode="auto">
            <a:xfrm>
              <a:off x="1909" y="125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2" name="Rectangle 13"/>
            <p:cNvSpPr>
              <a:spLocks noChangeAspect="1" noChangeArrowheads="1"/>
            </p:cNvSpPr>
            <p:nvPr/>
          </p:nvSpPr>
          <p:spPr bwMode="auto">
            <a:xfrm>
              <a:off x="1163" y="183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3" name="Rectangle 14"/>
            <p:cNvSpPr>
              <a:spLocks noChangeAspect="1" noChangeArrowheads="1"/>
            </p:cNvSpPr>
            <p:nvPr/>
          </p:nvSpPr>
          <p:spPr bwMode="auto">
            <a:xfrm>
              <a:off x="1733" y="2122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4" name="Rectangle 15"/>
            <p:cNvSpPr>
              <a:spLocks noChangeAspect="1" noChangeArrowheads="1"/>
            </p:cNvSpPr>
            <p:nvPr/>
          </p:nvSpPr>
          <p:spPr bwMode="auto">
            <a:xfrm>
              <a:off x="1379" y="2638"/>
              <a:ext cx="9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5" name="Rectangle 16"/>
            <p:cNvSpPr>
              <a:spLocks noChangeAspect="1" noChangeArrowheads="1"/>
            </p:cNvSpPr>
            <p:nvPr/>
          </p:nvSpPr>
          <p:spPr bwMode="auto">
            <a:xfrm>
              <a:off x="630" y="1720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26" name="Rectangle 17"/>
            <p:cNvSpPr>
              <a:spLocks noChangeAspect="1" noChangeArrowheads="1"/>
            </p:cNvSpPr>
            <p:nvPr/>
          </p:nvSpPr>
          <p:spPr bwMode="auto">
            <a:xfrm>
              <a:off x="2188" y="2173"/>
              <a:ext cx="9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8"/>
          <p:cNvGrpSpPr>
            <a:grpSpLocks noChangeAspect="1"/>
          </p:cNvGrpSpPr>
          <p:nvPr/>
        </p:nvGrpSpPr>
        <p:grpSpPr bwMode="auto">
          <a:xfrm>
            <a:off x="1912938" y="4914900"/>
            <a:ext cx="857250" cy="592138"/>
            <a:chOff x="1515" y="2062"/>
            <a:chExt cx="820" cy="566"/>
          </a:xfrm>
        </p:grpSpPr>
        <p:sp>
          <p:nvSpPr>
            <p:cNvPr id="196713" name="Freeform 19"/>
            <p:cNvSpPr>
              <a:spLocks noChangeAspect="1"/>
            </p:cNvSpPr>
            <p:nvPr/>
          </p:nvSpPr>
          <p:spPr bwMode="auto">
            <a:xfrm>
              <a:off x="1515" y="2062"/>
              <a:ext cx="820" cy="343"/>
            </a:xfrm>
            <a:custGeom>
              <a:avLst/>
              <a:gdLst>
                <a:gd name="T0" fmla="*/ 409 w 820"/>
                <a:gd name="T1" fmla="*/ 0 h 343"/>
                <a:gd name="T2" fmla="*/ 467 w 820"/>
                <a:gd name="T3" fmla="*/ 2 h 343"/>
                <a:gd name="T4" fmla="*/ 520 w 820"/>
                <a:gd name="T5" fmla="*/ 8 h 343"/>
                <a:gd name="T6" fmla="*/ 573 w 820"/>
                <a:gd name="T7" fmla="*/ 16 h 343"/>
                <a:gd name="T8" fmla="*/ 623 w 820"/>
                <a:gd name="T9" fmla="*/ 26 h 343"/>
                <a:gd name="T10" fmla="*/ 670 w 820"/>
                <a:gd name="T11" fmla="*/ 40 h 343"/>
                <a:gd name="T12" fmla="*/ 710 w 820"/>
                <a:gd name="T13" fmla="*/ 56 h 343"/>
                <a:gd name="T14" fmla="*/ 745 w 820"/>
                <a:gd name="T15" fmla="*/ 73 h 343"/>
                <a:gd name="T16" fmla="*/ 775 w 820"/>
                <a:gd name="T17" fmla="*/ 93 h 343"/>
                <a:gd name="T18" fmla="*/ 797 w 820"/>
                <a:gd name="T19" fmla="*/ 115 h 343"/>
                <a:gd name="T20" fmla="*/ 812 w 820"/>
                <a:gd name="T21" fmla="*/ 138 h 343"/>
                <a:gd name="T22" fmla="*/ 820 w 820"/>
                <a:gd name="T23" fmla="*/ 160 h 343"/>
                <a:gd name="T24" fmla="*/ 820 w 820"/>
                <a:gd name="T25" fmla="*/ 184 h 343"/>
                <a:gd name="T26" fmla="*/ 812 w 820"/>
                <a:gd name="T27" fmla="*/ 207 h 343"/>
                <a:gd name="T28" fmla="*/ 797 w 820"/>
                <a:gd name="T29" fmla="*/ 229 h 343"/>
                <a:gd name="T30" fmla="*/ 775 w 820"/>
                <a:gd name="T31" fmla="*/ 251 h 343"/>
                <a:gd name="T32" fmla="*/ 745 w 820"/>
                <a:gd name="T33" fmla="*/ 271 h 343"/>
                <a:gd name="T34" fmla="*/ 710 w 820"/>
                <a:gd name="T35" fmla="*/ 290 h 343"/>
                <a:gd name="T36" fmla="*/ 670 w 820"/>
                <a:gd name="T37" fmla="*/ 306 h 343"/>
                <a:gd name="T38" fmla="*/ 623 w 820"/>
                <a:gd name="T39" fmla="*/ 318 h 343"/>
                <a:gd name="T40" fmla="*/ 573 w 820"/>
                <a:gd name="T41" fmla="*/ 330 h 343"/>
                <a:gd name="T42" fmla="*/ 520 w 820"/>
                <a:gd name="T43" fmla="*/ 338 h 343"/>
                <a:gd name="T44" fmla="*/ 467 w 820"/>
                <a:gd name="T45" fmla="*/ 341 h 343"/>
                <a:gd name="T46" fmla="*/ 409 w 820"/>
                <a:gd name="T47" fmla="*/ 343 h 343"/>
                <a:gd name="T48" fmla="*/ 354 w 820"/>
                <a:gd name="T49" fmla="*/ 341 h 343"/>
                <a:gd name="T50" fmla="*/ 299 w 820"/>
                <a:gd name="T51" fmla="*/ 338 h 343"/>
                <a:gd name="T52" fmla="*/ 245 w 820"/>
                <a:gd name="T53" fmla="*/ 330 h 343"/>
                <a:gd name="T54" fmla="*/ 196 w 820"/>
                <a:gd name="T55" fmla="*/ 318 h 343"/>
                <a:gd name="T56" fmla="*/ 150 w 820"/>
                <a:gd name="T57" fmla="*/ 306 h 343"/>
                <a:gd name="T58" fmla="*/ 109 w 820"/>
                <a:gd name="T59" fmla="*/ 290 h 343"/>
                <a:gd name="T60" fmla="*/ 73 w 820"/>
                <a:gd name="T61" fmla="*/ 271 h 343"/>
                <a:gd name="T62" fmla="*/ 44 w 820"/>
                <a:gd name="T63" fmla="*/ 251 h 343"/>
                <a:gd name="T64" fmla="*/ 22 w 820"/>
                <a:gd name="T65" fmla="*/ 229 h 343"/>
                <a:gd name="T66" fmla="*/ 6 w 820"/>
                <a:gd name="T67" fmla="*/ 207 h 343"/>
                <a:gd name="T68" fmla="*/ 0 w 820"/>
                <a:gd name="T69" fmla="*/ 184 h 343"/>
                <a:gd name="T70" fmla="*/ 0 w 820"/>
                <a:gd name="T71" fmla="*/ 160 h 343"/>
                <a:gd name="T72" fmla="*/ 6 w 820"/>
                <a:gd name="T73" fmla="*/ 138 h 343"/>
                <a:gd name="T74" fmla="*/ 22 w 820"/>
                <a:gd name="T75" fmla="*/ 115 h 343"/>
                <a:gd name="T76" fmla="*/ 44 w 820"/>
                <a:gd name="T77" fmla="*/ 93 h 343"/>
                <a:gd name="T78" fmla="*/ 73 w 820"/>
                <a:gd name="T79" fmla="*/ 73 h 343"/>
                <a:gd name="T80" fmla="*/ 109 w 820"/>
                <a:gd name="T81" fmla="*/ 56 h 343"/>
                <a:gd name="T82" fmla="*/ 150 w 820"/>
                <a:gd name="T83" fmla="*/ 40 h 343"/>
                <a:gd name="T84" fmla="*/ 196 w 820"/>
                <a:gd name="T85" fmla="*/ 26 h 343"/>
                <a:gd name="T86" fmla="*/ 245 w 820"/>
                <a:gd name="T87" fmla="*/ 16 h 343"/>
                <a:gd name="T88" fmla="*/ 299 w 820"/>
                <a:gd name="T89" fmla="*/ 8 h 343"/>
                <a:gd name="T90" fmla="*/ 354 w 820"/>
                <a:gd name="T91" fmla="*/ 2 h 343"/>
                <a:gd name="T92" fmla="*/ 409 w 820"/>
                <a:gd name="T93" fmla="*/ 0 h 343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20"/>
                <a:gd name="T142" fmla="*/ 0 h 343"/>
                <a:gd name="T143" fmla="*/ 820 w 820"/>
                <a:gd name="T144" fmla="*/ 343 h 343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20" h="343">
                  <a:moveTo>
                    <a:pt x="409" y="0"/>
                  </a:moveTo>
                  <a:lnTo>
                    <a:pt x="467" y="2"/>
                  </a:lnTo>
                  <a:lnTo>
                    <a:pt x="520" y="8"/>
                  </a:lnTo>
                  <a:lnTo>
                    <a:pt x="573" y="16"/>
                  </a:lnTo>
                  <a:lnTo>
                    <a:pt x="623" y="26"/>
                  </a:lnTo>
                  <a:lnTo>
                    <a:pt x="670" y="40"/>
                  </a:lnTo>
                  <a:lnTo>
                    <a:pt x="710" y="56"/>
                  </a:lnTo>
                  <a:lnTo>
                    <a:pt x="745" y="73"/>
                  </a:lnTo>
                  <a:lnTo>
                    <a:pt x="775" y="93"/>
                  </a:lnTo>
                  <a:lnTo>
                    <a:pt x="797" y="115"/>
                  </a:lnTo>
                  <a:lnTo>
                    <a:pt x="812" y="138"/>
                  </a:lnTo>
                  <a:lnTo>
                    <a:pt x="820" y="160"/>
                  </a:lnTo>
                  <a:lnTo>
                    <a:pt x="820" y="184"/>
                  </a:lnTo>
                  <a:lnTo>
                    <a:pt x="812" y="207"/>
                  </a:lnTo>
                  <a:lnTo>
                    <a:pt x="797" y="229"/>
                  </a:lnTo>
                  <a:lnTo>
                    <a:pt x="775" y="251"/>
                  </a:lnTo>
                  <a:lnTo>
                    <a:pt x="745" y="271"/>
                  </a:lnTo>
                  <a:lnTo>
                    <a:pt x="710" y="290"/>
                  </a:lnTo>
                  <a:lnTo>
                    <a:pt x="670" y="306"/>
                  </a:lnTo>
                  <a:lnTo>
                    <a:pt x="623" y="318"/>
                  </a:lnTo>
                  <a:lnTo>
                    <a:pt x="573" y="330"/>
                  </a:lnTo>
                  <a:lnTo>
                    <a:pt x="520" y="338"/>
                  </a:lnTo>
                  <a:lnTo>
                    <a:pt x="467" y="341"/>
                  </a:lnTo>
                  <a:lnTo>
                    <a:pt x="409" y="343"/>
                  </a:lnTo>
                  <a:lnTo>
                    <a:pt x="354" y="341"/>
                  </a:lnTo>
                  <a:lnTo>
                    <a:pt x="299" y="338"/>
                  </a:lnTo>
                  <a:lnTo>
                    <a:pt x="245" y="330"/>
                  </a:lnTo>
                  <a:lnTo>
                    <a:pt x="196" y="318"/>
                  </a:lnTo>
                  <a:lnTo>
                    <a:pt x="150" y="306"/>
                  </a:lnTo>
                  <a:lnTo>
                    <a:pt x="109" y="290"/>
                  </a:lnTo>
                  <a:lnTo>
                    <a:pt x="73" y="271"/>
                  </a:lnTo>
                  <a:lnTo>
                    <a:pt x="44" y="251"/>
                  </a:lnTo>
                  <a:lnTo>
                    <a:pt x="22" y="229"/>
                  </a:lnTo>
                  <a:lnTo>
                    <a:pt x="6" y="207"/>
                  </a:lnTo>
                  <a:lnTo>
                    <a:pt x="0" y="184"/>
                  </a:lnTo>
                  <a:lnTo>
                    <a:pt x="0" y="160"/>
                  </a:lnTo>
                  <a:lnTo>
                    <a:pt x="6" y="138"/>
                  </a:lnTo>
                  <a:lnTo>
                    <a:pt x="22" y="115"/>
                  </a:lnTo>
                  <a:lnTo>
                    <a:pt x="44" y="93"/>
                  </a:lnTo>
                  <a:lnTo>
                    <a:pt x="73" y="73"/>
                  </a:lnTo>
                  <a:lnTo>
                    <a:pt x="109" y="56"/>
                  </a:lnTo>
                  <a:lnTo>
                    <a:pt x="150" y="40"/>
                  </a:lnTo>
                  <a:lnTo>
                    <a:pt x="196" y="26"/>
                  </a:lnTo>
                  <a:lnTo>
                    <a:pt x="245" y="16"/>
                  </a:lnTo>
                  <a:lnTo>
                    <a:pt x="299" y="8"/>
                  </a:lnTo>
                  <a:lnTo>
                    <a:pt x="354" y="2"/>
                  </a:lnTo>
                  <a:lnTo>
                    <a:pt x="40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14" name="Rectangle 20"/>
            <p:cNvSpPr>
              <a:spLocks noChangeAspect="1" noChangeArrowheads="1"/>
            </p:cNvSpPr>
            <p:nvPr/>
          </p:nvSpPr>
          <p:spPr bwMode="auto">
            <a:xfrm>
              <a:off x="1855" y="2394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21"/>
          <p:cNvGrpSpPr>
            <a:grpSpLocks noChangeAspect="1"/>
          </p:cNvGrpSpPr>
          <p:nvPr/>
        </p:nvGrpSpPr>
        <p:grpSpPr bwMode="auto">
          <a:xfrm>
            <a:off x="800100" y="4327525"/>
            <a:ext cx="873125" cy="649288"/>
            <a:chOff x="452" y="1501"/>
            <a:chExt cx="834" cy="621"/>
          </a:xfrm>
        </p:grpSpPr>
        <p:sp>
          <p:nvSpPr>
            <p:cNvPr id="196711" name="Freeform 22"/>
            <p:cNvSpPr>
              <a:spLocks noChangeAspect="1"/>
            </p:cNvSpPr>
            <p:nvPr/>
          </p:nvSpPr>
          <p:spPr bwMode="auto">
            <a:xfrm>
              <a:off x="452" y="1662"/>
              <a:ext cx="834" cy="460"/>
            </a:xfrm>
            <a:custGeom>
              <a:avLst/>
              <a:gdLst>
                <a:gd name="T0" fmla="*/ 436 w 834"/>
                <a:gd name="T1" fmla="*/ 2 h 460"/>
                <a:gd name="T2" fmla="*/ 494 w 834"/>
                <a:gd name="T3" fmla="*/ 10 h 460"/>
                <a:gd name="T4" fmla="*/ 547 w 834"/>
                <a:gd name="T5" fmla="*/ 20 h 460"/>
                <a:gd name="T6" fmla="*/ 600 w 834"/>
                <a:gd name="T7" fmla="*/ 36 h 460"/>
                <a:gd name="T8" fmla="*/ 650 w 834"/>
                <a:gd name="T9" fmla="*/ 54 h 460"/>
                <a:gd name="T10" fmla="*/ 695 w 834"/>
                <a:gd name="T11" fmla="*/ 77 h 460"/>
                <a:gd name="T12" fmla="*/ 735 w 834"/>
                <a:gd name="T13" fmla="*/ 101 h 460"/>
                <a:gd name="T14" fmla="*/ 768 w 834"/>
                <a:gd name="T15" fmla="*/ 128 h 460"/>
                <a:gd name="T16" fmla="*/ 796 w 834"/>
                <a:gd name="T17" fmla="*/ 158 h 460"/>
                <a:gd name="T18" fmla="*/ 816 w 834"/>
                <a:gd name="T19" fmla="*/ 188 h 460"/>
                <a:gd name="T20" fmla="*/ 830 w 834"/>
                <a:gd name="T21" fmla="*/ 219 h 460"/>
                <a:gd name="T22" fmla="*/ 834 w 834"/>
                <a:gd name="T23" fmla="*/ 251 h 460"/>
                <a:gd name="T24" fmla="*/ 832 w 834"/>
                <a:gd name="T25" fmla="*/ 282 h 460"/>
                <a:gd name="T26" fmla="*/ 820 w 834"/>
                <a:gd name="T27" fmla="*/ 312 h 460"/>
                <a:gd name="T28" fmla="*/ 802 w 834"/>
                <a:gd name="T29" fmla="*/ 339 h 460"/>
                <a:gd name="T30" fmla="*/ 778 w 834"/>
                <a:gd name="T31" fmla="*/ 367 h 460"/>
                <a:gd name="T32" fmla="*/ 745 w 834"/>
                <a:gd name="T33" fmla="*/ 391 h 460"/>
                <a:gd name="T34" fmla="*/ 707 w 834"/>
                <a:gd name="T35" fmla="*/ 412 h 460"/>
                <a:gd name="T36" fmla="*/ 664 w 834"/>
                <a:gd name="T37" fmla="*/ 430 h 460"/>
                <a:gd name="T38" fmla="*/ 616 w 834"/>
                <a:gd name="T39" fmla="*/ 444 h 460"/>
                <a:gd name="T40" fmla="*/ 565 w 834"/>
                <a:gd name="T41" fmla="*/ 454 h 460"/>
                <a:gd name="T42" fmla="*/ 510 w 834"/>
                <a:gd name="T43" fmla="*/ 460 h 460"/>
                <a:gd name="T44" fmla="*/ 454 w 834"/>
                <a:gd name="T45" fmla="*/ 460 h 460"/>
                <a:gd name="T46" fmla="*/ 397 w 834"/>
                <a:gd name="T47" fmla="*/ 458 h 460"/>
                <a:gd name="T48" fmla="*/ 340 w 834"/>
                <a:gd name="T49" fmla="*/ 450 h 460"/>
                <a:gd name="T50" fmla="*/ 284 w 834"/>
                <a:gd name="T51" fmla="*/ 440 h 460"/>
                <a:gd name="T52" fmla="*/ 231 w 834"/>
                <a:gd name="T53" fmla="*/ 424 h 460"/>
                <a:gd name="T54" fmla="*/ 183 w 834"/>
                <a:gd name="T55" fmla="*/ 404 h 460"/>
                <a:gd name="T56" fmla="*/ 138 w 834"/>
                <a:gd name="T57" fmla="*/ 383 h 460"/>
                <a:gd name="T58" fmla="*/ 98 w 834"/>
                <a:gd name="T59" fmla="*/ 359 h 460"/>
                <a:gd name="T60" fmla="*/ 65 w 834"/>
                <a:gd name="T61" fmla="*/ 331 h 460"/>
                <a:gd name="T62" fmla="*/ 37 w 834"/>
                <a:gd name="T63" fmla="*/ 302 h 460"/>
                <a:gd name="T64" fmla="*/ 17 w 834"/>
                <a:gd name="T65" fmla="*/ 272 h 460"/>
                <a:gd name="T66" fmla="*/ 3 w 834"/>
                <a:gd name="T67" fmla="*/ 241 h 460"/>
                <a:gd name="T68" fmla="*/ 0 w 834"/>
                <a:gd name="T69" fmla="*/ 209 h 460"/>
                <a:gd name="T70" fmla="*/ 1 w 834"/>
                <a:gd name="T71" fmla="*/ 178 h 460"/>
                <a:gd name="T72" fmla="*/ 11 w 834"/>
                <a:gd name="T73" fmla="*/ 148 h 460"/>
                <a:gd name="T74" fmla="*/ 29 w 834"/>
                <a:gd name="T75" fmla="*/ 119 h 460"/>
                <a:gd name="T76" fmla="*/ 55 w 834"/>
                <a:gd name="T77" fmla="*/ 93 h 460"/>
                <a:gd name="T78" fmla="*/ 86 w 834"/>
                <a:gd name="T79" fmla="*/ 69 h 460"/>
                <a:gd name="T80" fmla="*/ 124 w 834"/>
                <a:gd name="T81" fmla="*/ 48 h 460"/>
                <a:gd name="T82" fmla="*/ 168 w 834"/>
                <a:gd name="T83" fmla="*/ 30 h 460"/>
                <a:gd name="T84" fmla="*/ 217 w 834"/>
                <a:gd name="T85" fmla="*/ 16 h 460"/>
                <a:gd name="T86" fmla="*/ 268 w 834"/>
                <a:gd name="T87" fmla="*/ 6 h 460"/>
                <a:gd name="T88" fmla="*/ 324 w 834"/>
                <a:gd name="T89" fmla="*/ 0 h 460"/>
                <a:gd name="T90" fmla="*/ 379 w 834"/>
                <a:gd name="T91" fmla="*/ 0 h 460"/>
                <a:gd name="T92" fmla="*/ 436 w 834"/>
                <a:gd name="T93" fmla="*/ 2 h 460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34"/>
                <a:gd name="T142" fmla="*/ 0 h 460"/>
                <a:gd name="T143" fmla="*/ 834 w 834"/>
                <a:gd name="T144" fmla="*/ 460 h 460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34" h="460">
                  <a:moveTo>
                    <a:pt x="436" y="2"/>
                  </a:moveTo>
                  <a:lnTo>
                    <a:pt x="494" y="10"/>
                  </a:lnTo>
                  <a:lnTo>
                    <a:pt x="547" y="20"/>
                  </a:lnTo>
                  <a:lnTo>
                    <a:pt x="600" y="36"/>
                  </a:lnTo>
                  <a:lnTo>
                    <a:pt x="650" y="54"/>
                  </a:lnTo>
                  <a:lnTo>
                    <a:pt x="695" y="77"/>
                  </a:lnTo>
                  <a:lnTo>
                    <a:pt x="735" y="101"/>
                  </a:lnTo>
                  <a:lnTo>
                    <a:pt x="768" y="128"/>
                  </a:lnTo>
                  <a:lnTo>
                    <a:pt x="796" y="158"/>
                  </a:lnTo>
                  <a:lnTo>
                    <a:pt x="816" y="188"/>
                  </a:lnTo>
                  <a:lnTo>
                    <a:pt x="830" y="219"/>
                  </a:lnTo>
                  <a:lnTo>
                    <a:pt x="834" y="251"/>
                  </a:lnTo>
                  <a:lnTo>
                    <a:pt x="832" y="282"/>
                  </a:lnTo>
                  <a:lnTo>
                    <a:pt x="820" y="312"/>
                  </a:lnTo>
                  <a:lnTo>
                    <a:pt x="802" y="339"/>
                  </a:lnTo>
                  <a:lnTo>
                    <a:pt x="778" y="367"/>
                  </a:lnTo>
                  <a:lnTo>
                    <a:pt x="745" y="391"/>
                  </a:lnTo>
                  <a:lnTo>
                    <a:pt x="707" y="412"/>
                  </a:lnTo>
                  <a:lnTo>
                    <a:pt x="664" y="430"/>
                  </a:lnTo>
                  <a:lnTo>
                    <a:pt x="616" y="444"/>
                  </a:lnTo>
                  <a:lnTo>
                    <a:pt x="565" y="454"/>
                  </a:lnTo>
                  <a:lnTo>
                    <a:pt x="510" y="460"/>
                  </a:lnTo>
                  <a:lnTo>
                    <a:pt x="454" y="460"/>
                  </a:lnTo>
                  <a:lnTo>
                    <a:pt x="397" y="458"/>
                  </a:lnTo>
                  <a:lnTo>
                    <a:pt x="340" y="450"/>
                  </a:lnTo>
                  <a:lnTo>
                    <a:pt x="284" y="440"/>
                  </a:lnTo>
                  <a:lnTo>
                    <a:pt x="231" y="424"/>
                  </a:lnTo>
                  <a:lnTo>
                    <a:pt x="183" y="404"/>
                  </a:lnTo>
                  <a:lnTo>
                    <a:pt x="138" y="383"/>
                  </a:lnTo>
                  <a:lnTo>
                    <a:pt x="98" y="359"/>
                  </a:lnTo>
                  <a:lnTo>
                    <a:pt x="65" y="331"/>
                  </a:lnTo>
                  <a:lnTo>
                    <a:pt x="37" y="302"/>
                  </a:lnTo>
                  <a:lnTo>
                    <a:pt x="17" y="272"/>
                  </a:lnTo>
                  <a:lnTo>
                    <a:pt x="3" y="241"/>
                  </a:lnTo>
                  <a:lnTo>
                    <a:pt x="0" y="209"/>
                  </a:lnTo>
                  <a:lnTo>
                    <a:pt x="1" y="178"/>
                  </a:lnTo>
                  <a:lnTo>
                    <a:pt x="11" y="148"/>
                  </a:lnTo>
                  <a:lnTo>
                    <a:pt x="29" y="119"/>
                  </a:lnTo>
                  <a:lnTo>
                    <a:pt x="55" y="93"/>
                  </a:lnTo>
                  <a:lnTo>
                    <a:pt x="86" y="69"/>
                  </a:lnTo>
                  <a:lnTo>
                    <a:pt x="124" y="48"/>
                  </a:lnTo>
                  <a:lnTo>
                    <a:pt x="168" y="30"/>
                  </a:lnTo>
                  <a:lnTo>
                    <a:pt x="217" y="16"/>
                  </a:lnTo>
                  <a:lnTo>
                    <a:pt x="268" y="6"/>
                  </a:lnTo>
                  <a:lnTo>
                    <a:pt x="324" y="0"/>
                  </a:lnTo>
                  <a:lnTo>
                    <a:pt x="379" y="0"/>
                  </a:lnTo>
                  <a:lnTo>
                    <a:pt x="436" y="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712" name="Rectangle 23"/>
            <p:cNvSpPr>
              <a:spLocks noChangeAspect="1" noChangeArrowheads="1"/>
            </p:cNvSpPr>
            <p:nvPr/>
          </p:nvSpPr>
          <p:spPr bwMode="auto">
            <a:xfrm>
              <a:off x="943" y="1501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24"/>
          <p:cNvGrpSpPr>
            <a:grpSpLocks noChangeAspect="1"/>
          </p:cNvGrpSpPr>
          <p:nvPr/>
        </p:nvGrpSpPr>
        <p:grpSpPr bwMode="auto">
          <a:xfrm>
            <a:off x="592138" y="3825875"/>
            <a:ext cx="2413000" cy="2281238"/>
            <a:chOff x="254" y="1022"/>
            <a:chExt cx="2305" cy="2180"/>
          </a:xfrm>
        </p:grpSpPr>
        <p:sp>
          <p:nvSpPr>
            <p:cNvPr id="196709" name="Rectangle 25"/>
            <p:cNvSpPr>
              <a:spLocks noChangeAspect="1" noChangeArrowheads="1"/>
            </p:cNvSpPr>
            <p:nvPr/>
          </p:nvSpPr>
          <p:spPr bwMode="auto">
            <a:xfrm>
              <a:off x="563" y="1148"/>
              <a:ext cx="108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10" name="Freeform 26"/>
            <p:cNvSpPr>
              <a:spLocks noChangeAspect="1"/>
            </p:cNvSpPr>
            <p:nvPr/>
          </p:nvSpPr>
          <p:spPr bwMode="auto">
            <a:xfrm>
              <a:off x="254" y="1022"/>
              <a:ext cx="2305" cy="2180"/>
            </a:xfrm>
            <a:custGeom>
              <a:avLst/>
              <a:gdLst>
                <a:gd name="T0" fmla="*/ 1245 w 2305"/>
                <a:gd name="T1" fmla="*/ 4 h 2180"/>
                <a:gd name="T2" fmla="*/ 1433 w 2305"/>
                <a:gd name="T3" fmla="*/ 33 h 2180"/>
                <a:gd name="T4" fmla="*/ 1615 w 2305"/>
                <a:gd name="T5" fmla="*/ 90 h 2180"/>
                <a:gd name="T6" fmla="*/ 1781 w 2305"/>
                <a:gd name="T7" fmla="*/ 175 h 2180"/>
                <a:gd name="T8" fmla="*/ 1931 w 2305"/>
                <a:gd name="T9" fmla="*/ 286 h 2180"/>
                <a:gd name="T10" fmla="*/ 2062 w 2305"/>
                <a:gd name="T11" fmla="*/ 420 h 2180"/>
                <a:gd name="T12" fmla="*/ 2166 w 2305"/>
                <a:gd name="T13" fmla="*/ 569 h 2180"/>
                <a:gd name="T14" fmla="*/ 2242 w 2305"/>
                <a:gd name="T15" fmla="*/ 735 h 2180"/>
                <a:gd name="T16" fmla="*/ 2289 w 2305"/>
                <a:gd name="T17" fmla="*/ 908 h 2180"/>
                <a:gd name="T18" fmla="*/ 2305 w 2305"/>
                <a:gd name="T19" fmla="*/ 1088 h 2180"/>
                <a:gd name="T20" fmla="*/ 2289 w 2305"/>
                <a:gd name="T21" fmla="*/ 1267 h 2180"/>
                <a:gd name="T22" fmla="*/ 2243 w 2305"/>
                <a:gd name="T23" fmla="*/ 1443 h 2180"/>
                <a:gd name="T24" fmla="*/ 2166 w 2305"/>
                <a:gd name="T25" fmla="*/ 1606 h 2180"/>
                <a:gd name="T26" fmla="*/ 2064 w 2305"/>
                <a:gd name="T27" fmla="*/ 1758 h 2180"/>
                <a:gd name="T28" fmla="*/ 1935 w 2305"/>
                <a:gd name="T29" fmla="*/ 1890 h 2180"/>
                <a:gd name="T30" fmla="*/ 1785 w 2305"/>
                <a:gd name="T31" fmla="*/ 2002 h 2180"/>
                <a:gd name="T32" fmla="*/ 1617 w 2305"/>
                <a:gd name="T33" fmla="*/ 2087 h 2180"/>
                <a:gd name="T34" fmla="*/ 1437 w 2305"/>
                <a:gd name="T35" fmla="*/ 2146 h 2180"/>
                <a:gd name="T36" fmla="*/ 1249 w 2305"/>
                <a:gd name="T37" fmla="*/ 2176 h 2180"/>
                <a:gd name="T38" fmla="*/ 1059 w 2305"/>
                <a:gd name="T39" fmla="*/ 2176 h 2180"/>
                <a:gd name="T40" fmla="*/ 872 w 2305"/>
                <a:gd name="T41" fmla="*/ 2148 h 2180"/>
                <a:gd name="T42" fmla="*/ 692 w 2305"/>
                <a:gd name="T43" fmla="*/ 2089 h 2180"/>
                <a:gd name="T44" fmla="*/ 524 w 2305"/>
                <a:gd name="T45" fmla="*/ 2004 h 2180"/>
                <a:gd name="T46" fmla="*/ 373 w 2305"/>
                <a:gd name="T47" fmla="*/ 1894 h 2180"/>
                <a:gd name="T48" fmla="*/ 245 w 2305"/>
                <a:gd name="T49" fmla="*/ 1762 h 2180"/>
                <a:gd name="T50" fmla="*/ 140 w 2305"/>
                <a:gd name="T51" fmla="*/ 1610 h 2180"/>
                <a:gd name="T52" fmla="*/ 63 w 2305"/>
                <a:gd name="T53" fmla="*/ 1447 h 2180"/>
                <a:gd name="T54" fmla="*/ 16 w 2305"/>
                <a:gd name="T55" fmla="*/ 1271 h 2180"/>
                <a:gd name="T56" fmla="*/ 0 w 2305"/>
                <a:gd name="T57" fmla="*/ 1092 h 2180"/>
                <a:gd name="T58" fmla="*/ 16 w 2305"/>
                <a:gd name="T59" fmla="*/ 912 h 2180"/>
                <a:gd name="T60" fmla="*/ 63 w 2305"/>
                <a:gd name="T61" fmla="*/ 737 h 2180"/>
                <a:gd name="T62" fmla="*/ 138 w 2305"/>
                <a:gd name="T63" fmla="*/ 573 h 2180"/>
                <a:gd name="T64" fmla="*/ 243 w 2305"/>
                <a:gd name="T65" fmla="*/ 422 h 2180"/>
                <a:gd name="T66" fmla="*/ 371 w 2305"/>
                <a:gd name="T67" fmla="*/ 290 h 2180"/>
                <a:gd name="T68" fmla="*/ 522 w 2305"/>
                <a:gd name="T69" fmla="*/ 179 h 2180"/>
                <a:gd name="T70" fmla="*/ 688 w 2305"/>
                <a:gd name="T71" fmla="*/ 92 h 2180"/>
                <a:gd name="T72" fmla="*/ 868 w 2305"/>
                <a:gd name="T73" fmla="*/ 33 h 2180"/>
                <a:gd name="T74" fmla="*/ 1055 w 2305"/>
                <a:gd name="T75" fmla="*/ 4 h 21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305"/>
                <a:gd name="T115" fmla="*/ 0 h 2180"/>
                <a:gd name="T116" fmla="*/ 2305 w 2305"/>
                <a:gd name="T117" fmla="*/ 2180 h 2180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305" h="2180">
                  <a:moveTo>
                    <a:pt x="1150" y="0"/>
                  </a:moveTo>
                  <a:lnTo>
                    <a:pt x="1245" y="4"/>
                  </a:lnTo>
                  <a:lnTo>
                    <a:pt x="1340" y="14"/>
                  </a:lnTo>
                  <a:lnTo>
                    <a:pt x="1433" y="33"/>
                  </a:lnTo>
                  <a:lnTo>
                    <a:pt x="1526" y="59"/>
                  </a:lnTo>
                  <a:lnTo>
                    <a:pt x="1615" y="90"/>
                  </a:lnTo>
                  <a:lnTo>
                    <a:pt x="1700" y="130"/>
                  </a:lnTo>
                  <a:lnTo>
                    <a:pt x="1781" y="175"/>
                  </a:lnTo>
                  <a:lnTo>
                    <a:pt x="1860" y="228"/>
                  </a:lnTo>
                  <a:lnTo>
                    <a:pt x="1931" y="286"/>
                  </a:lnTo>
                  <a:lnTo>
                    <a:pt x="2000" y="351"/>
                  </a:lnTo>
                  <a:lnTo>
                    <a:pt x="2062" y="420"/>
                  </a:lnTo>
                  <a:lnTo>
                    <a:pt x="2117" y="493"/>
                  </a:lnTo>
                  <a:lnTo>
                    <a:pt x="2166" y="569"/>
                  </a:lnTo>
                  <a:lnTo>
                    <a:pt x="2208" y="650"/>
                  </a:lnTo>
                  <a:lnTo>
                    <a:pt x="2242" y="735"/>
                  </a:lnTo>
                  <a:lnTo>
                    <a:pt x="2269" y="820"/>
                  </a:lnTo>
                  <a:lnTo>
                    <a:pt x="2289" y="908"/>
                  </a:lnTo>
                  <a:lnTo>
                    <a:pt x="2301" y="997"/>
                  </a:lnTo>
                  <a:lnTo>
                    <a:pt x="2305" y="1088"/>
                  </a:lnTo>
                  <a:lnTo>
                    <a:pt x="2301" y="1178"/>
                  </a:lnTo>
                  <a:lnTo>
                    <a:pt x="2289" y="1267"/>
                  </a:lnTo>
                  <a:lnTo>
                    <a:pt x="2271" y="1356"/>
                  </a:lnTo>
                  <a:lnTo>
                    <a:pt x="2243" y="1443"/>
                  </a:lnTo>
                  <a:lnTo>
                    <a:pt x="2210" y="1525"/>
                  </a:lnTo>
                  <a:lnTo>
                    <a:pt x="2166" y="1606"/>
                  </a:lnTo>
                  <a:lnTo>
                    <a:pt x="2119" y="1685"/>
                  </a:lnTo>
                  <a:lnTo>
                    <a:pt x="2064" y="1758"/>
                  </a:lnTo>
                  <a:lnTo>
                    <a:pt x="2002" y="1827"/>
                  </a:lnTo>
                  <a:lnTo>
                    <a:pt x="1935" y="1890"/>
                  </a:lnTo>
                  <a:lnTo>
                    <a:pt x="1862" y="1949"/>
                  </a:lnTo>
                  <a:lnTo>
                    <a:pt x="1785" y="2002"/>
                  </a:lnTo>
                  <a:lnTo>
                    <a:pt x="1704" y="2048"/>
                  </a:lnTo>
                  <a:lnTo>
                    <a:pt x="1617" y="2087"/>
                  </a:lnTo>
                  <a:lnTo>
                    <a:pt x="1528" y="2121"/>
                  </a:lnTo>
                  <a:lnTo>
                    <a:pt x="1437" y="2146"/>
                  </a:lnTo>
                  <a:lnTo>
                    <a:pt x="1344" y="2164"/>
                  </a:lnTo>
                  <a:lnTo>
                    <a:pt x="1249" y="2176"/>
                  </a:lnTo>
                  <a:lnTo>
                    <a:pt x="1154" y="2180"/>
                  </a:lnTo>
                  <a:lnTo>
                    <a:pt x="1059" y="2176"/>
                  </a:lnTo>
                  <a:lnTo>
                    <a:pt x="965" y="2166"/>
                  </a:lnTo>
                  <a:lnTo>
                    <a:pt x="872" y="2148"/>
                  </a:lnTo>
                  <a:lnTo>
                    <a:pt x="781" y="2123"/>
                  </a:lnTo>
                  <a:lnTo>
                    <a:pt x="692" y="2089"/>
                  </a:lnTo>
                  <a:lnTo>
                    <a:pt x="607" y="2050"/>
                  </a:lnTo>
                  <a:lnTo>
                    <a:pt x="524" y="2004"/>
                  </a:lnTo>
                  <a:lnTo>
                    <a:pt x="447" y="1951"/>
                  </a:lnTo>
                  <a:lnTo>
                    <a:pt x="373" y="1894"/>
                  </a:lnTo>
                  <a:lnTo>
                    <a:pt x="306" y="1829"/>
                  </a:lnTo>
                  <a:lnTo>
                    <a:pt x="245" y="1762"/>
                  </a:lnTo>
                  <a:lnTo>
                    <a:pt x="190" y="1687"/>
                  </a:lnTo>
                  <a:lnTo>
                    <a:pt x="140" y="1610"/>
                  </a:lnTo>
                  <a:lnTo>
                    <a:pt x="99" y="1529"/>
                  </a:lnTo>
                  <a:lnTo>
                    <a:pt x="63" y="1447"/>
                  </a:lnTo>
                  <a:lnTo>
                    <a:pt x="35" y="1360"/>
                  </a:lnTo>
                  <a:lnTo>
                    <a:pt x="16" y="1271"/>
                  </a:lnTo>
                  <a:lnTo>
                    <a:pt x="4" y="1182"/>
                  </a:lnTo>
                  <a:lnTo>
                    <a:pt x="0" y="1092"/>
                  </a:lnTo>
                  <a:lnTo>
                    <a:pt x="4" y="1001"/>
                  </a:lnTo>
                  <a:lnTo>
                    <a:pt x="16" y="912"/>
                  </a:lnTo>
                  <a:lnTo>
                    <a:pt x="35" y="824"/>
                  </a:lnTo>
                  <a:lnTo>
                    <a:pt x="63" y="737"/>
                  </a:lnTo>
                  <a:lnTo>
                    <a:pt x="97" y="654"/>
                  </a:lnTo>
                  <a:lnTo>
                    <a:pt x="138" y="573"/>
                  </a:lnTo>
                  <a:lnTo>
                    <a:pt x="188" y="495"/>
                  </a:lnTo>
                  <a:lnTo>
                    <a:pt x="243" y="422"/>
                  </a:lnTo>
                  <a:lnTo>
                    <a:pt x="304" y="353"/>
                  </a:lnTo>
                  <a:lnTo>
                    <a:pt x="371" y="290"/>
                  </a:lnTo>
                  <a:lnTo>
                    <a:pt x="443" y="230"/>
                  </a:lnTo>
                  <a:lnTo>
                    <a:pt x="522" y="179"/>
                  </a:lnTo>
                  <a:lnTo>
                    <a:pt x="603" y="132"/>
                  </a:lnTo>
                  <a:lnTo>
                    <a:pt x="688" y="92"/>
                  </a:lnTo>
                  <a:lnTo>
                    <a:pt x="777" y="59"/>
                  </a:lnTo>
                  <a:lnTo>
                    <a:pt x="868" y="33"/>
                  </a:lnTo>
                  <a:lnTo>
                    <a:pt x="961" y="16"/>
                  </a:lnTo>
                  <a:lnTo>
                    <a:pt x="1055" y="4"/>
                  </a:lnTo>
                  <a:lnTo>
                    <a:pt x="11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7"/>
          <p:cNvGrpSpPr>
            <a:grpSpLocks noChangeAspect="1"/>
          </p:cNvGrpSpPr>
          <p:nvPr/>
        </p:nvGrpSpPr>
        <p:grpSpPr bwMode="auto">
          <a:xfrm>
            <a:off x="1600200" y="4800600"/>
            <a:ext cx="1187450" cy="1141413"/>
            <a:chOff x="1217" y="1954"/>
            <a:chExt cx="1134" cy="1090"/>
          </a:xfrm>
        </p:grpSpPr>
        <p:sp>
          <p:nvSpPr>
            <p:cNvPr id="196707" name="Rectangle 28"/>
            <p:cNvSpPr>
              <a:spLocks noChangeAspect="1" noChangeArrowheads="1"/>
            </p:cNvSpPr>
            <p:nvPr/>
          </p:nvSpPr>
          <p:spPr bwMode="auto">
            <a:xfrm>
              <a:off x="1666" y="2811"/>
              <a:ext cx="10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8" name="Freeform 29"/>
            <p:cNvSpPr>
              <a:spLocks noChangeAspect="1"/>
            </p:cNvSpPr>
            <p:nvPr/>
          </p:nvSpPr>
          <p:spPr bwMode="auto">
            <a:xfrm>
              <a:off x="1217" y="1954"/>
              <a:ext cx="1134" cy="909"/>
            </a:xfrm>
            <a:custGeom>
              <a:avLst/>
              <a:gdLst>
                <a:gd name="T0" fmla="*/ 371 w 1134"/>
                <a:gd name="T1" fmla="*/ 142 h 909"/>
                <a:gd name="T2" fmla="*/ 430 w 1134"/>
                <a:gd name="T3" fmla="*/ 108 h 909"/>
                <a:gd name="T4" fmla="*/ 492 w 1134"/>
                <a:gd name="T5" fmla="*/ 79 h 909"/>
                <a:gd name="T6" fmla="*/ 551 w 1134"/>
                <a:gd name="T7" fmla="*/ 53 h 909"/>
                <a:gd name="T8" fmla="*/ 614 w 1134"/>
                <a:gd name="T9" fmla="*/ 32 h 909"/>
                <a:gd name="T10" fmla="*/ 674 w 1134"/>
                <a:gd name="T11" fmla="*/ 16 h 909"/>
                <a:gd name="T12" fmla="*/ 735 w 1134"/>
                <a:gd name="T13" fmla="*/ 6 h 909"/>
                <a:gd name="T14" fmla="*/ 792 w 1134"/>
                <a:gd name="T15" fmla="*/ 0 h 909"/>
                <a:gd name="T16" fmla="*/ 848 w 1134"/>
                <a:gd name="T17" fmla="*/ 0 h 909"/>
                <a:gd name="T18" fmla="*/ 899 w 1134"/>
                <a:gd name="T19" fmla="*/ 4 h 909"/>
                <a:gd name="T20" fmla="*/ 946 w 1134"/>
                <a:gd name="T21" fmla="*/ 14 h 909"/>
                <a:gd name="T22" fmla="*/ 990 w 1134"/>
                <a:gd name="T23" fmla="*/ 30 h 909"/>
                <a:gd name="T24" fmla="*/ 1027 w 1134"/>
                <a:gd name="T25" fmla="*/ 51 h 909"/>
                <a:gd name="T26" fmla="*/ 1061 w 1134"/>
                <a:gd name="T27" fmla="*/ 77 h 909"/>
                <a:gd name="T28" fmla="*/ 1089 w 1134"/>
                <a:gd name="T29" fmla="*/ 107 h 909"/>
                <a:gd name="T30" fmla="*/ 1110 w 1134"/>
                <a:gd name="T31" fmla="*/ 140 h 909"/>
                <a:gd name="T32" fmla="*/ 1124 w 1134"/>
                <a:gd name="T33" fmla="*/ 177 h 909"/>
                <a:gd name="T34" fmla="*/ 1132 w 1134"/>
                <a:gd name="T35" fmla="*/ 217 h 909"/>
                <a:gd name="T36" fmla="*/ 1134 w 1134"/>
                <a:gd name="T37" fmla="*/ 260 h 909"/>
                <a:gd name="T38" fmla="*/ 1128 w 1134"/>
                <a:gd name="T39" fmla="*/ 308 h 909"/>
                <a:gd name="T40" fmla="*/ 1118 w 1134"/>
                <a:gd name="T41" fmla="*/ 355 h 909"/>
                <a:gd name="T42" fmla="*/ 1099 w 1134"/>
                <a:gd name="T43" fmla="*/ 402 h 909"/>
                <a:gd name="T44" fmla="*/ 1075 w 1134"/>
                <a:gd name="T45" fmla="*/ 451 h 909"/>
                <a:gd name="T46" fmla="*/ 1045 w 1134"/>
                <a:gd name="T47" fmla="*/ 501 h 909"/>
                <a:gd name="T48" fmla="*/ 1010 w 1134"/>
                <a:gd name="T49" fmla="*/ 550 h 909"/>
                <a:gd name="T50" fmla="*/ 968 w 1134"/>
                <a:gd name="T51" fmla="*/ 597 h 909"/>
                <a:gd name="T52" fmla="*/ 923 w 1134"/>
                <a:gd name="T53" fmla="*/ 643 h 909"/>
                <a:gd name="T54" fmla="*/ 871 w 1134"/>
                <a:gd name="T55" fmla="*/ 688 h 909"/>
                <a:gd name="T56" fmla="*/ 818 w 1134"/>
                <a:gd name="T57" fmla="*/ 727 h 909"/>
                <a:gd name="T58" fmla="*/ 763 w 1134"/>
                <a:gd name="T59" fmla="*/ 765 h 909"/>
                <a:gd name="T60" fmla="*/ 703 w 1134"/>
                <a:gd name="T61" fmla="*/ 800 h 909"/>
                <a:gd name="T62" fmla="*/ 644 w 1134"/>
                <a:gd name="T63" fmla="*/ 830 h 909"/>
                <a:gd name="T64" fmla="*/ 583 w 1134"/>
                <a:gd name="T65" fmla="*/ 855 h 909"/>
                <a:gd name="T66" fmla="*/ 519 w 1134"/>
                <a:gd name="T67" fmla="*/ 877 h 909"/>
                <a:gd name="T68" fmla="*/ 460 w 1134"/>
                <a:gd name="T69" fmla="*/ 893 h 909"/>
                <a:gd name="T70" fmla="*/ 401 w 1134"/>
                <a:gd name="T71" fmla="*/ 903 h 909"/>
                <a:gd name="T72" fmla="*/ 342 w 1134"/>
                <a:gd name="T73" fmla="*/ 909 h 909"/>
                <a:gd name="T74" fmla="*/ 286 w 1134"/>
                <a:gd name="T75" fmla="*/ 909 h 909"/>
                <a:gd name="T76" fmla="*/ 235 w 1134"/>
                <a:gd name="T77" fmla="*/ 905 h 909"/>
                <a:gd name="T78" fmla="*/ 187 w 1134"/>
                <a:gd name="T79" fmla="*/ 893 h 909"/>
                <a:gd name="T80" fmla="*/ 144 w 1134"/>
                <a:gd name="T81" fmla="*/ 877 h 909"/>
                <a:gd name="T82" fmla="*/ 106 w 1134"/>
                <a:gd name="T83" fmla="*/ 857 h 909"/>
                <a:gd name="T84" fmla="*/ 73 w 1134"/>
                <a:gd name="T85" fmla="*/ 832 h 909"/>
                <a:gd name="T86" fmla="*/ 45 w 1134"/>
                <a:gd name="T87" fmla="*/ 802 h 909"/>
                <a:gd name="T88" fmla="*/ 23 w 1134"/>
                <a:gd name="T89" fmla="*/ 769 h 909"/>
                <a:gd name="T90" fmla="*/ 9 w 1134"/>
                <a:gd name="T91" fmla="*/ 731 h 909"/>
                <a:gd name="T92" fmla="*/ 2 w 1134"/>
                <a:gd name="T93" fmla="*/ 690 h 909"/>
                <a:gd name="T94" fmla="*/ 0 w 1134"/>
                <a:gd name="T95" fmla="*/ 647 h 909"/>
                <a:gd name="T96" fmla="*/ 5 w 1134"/>
                <a:gd name="T97" fmla="*/ 601 h 909"/>
                <a:gd name="T98" fmla="*/ 15 w 1134"/>
                <a:gd name="T99" fmla="*/ 554 h 909"/>
                <a:gd name="T100" fmla="*/ 35 w 1134"/>
                <a:gd name="T101" fmla="*/ 505 h 909"/>
                <a:gd name="T102" fmla="*/ 59 w 1134"/>
                <a:gd name="T103" fmla="*/ 455 h 909"/>
                <a:gd name="T104" fmla="*/ 88 w 1134"/>
                <a:gd name="T105" fmla="*/ 406 h 909"/>
                <a:gd name="T106" fmla="*/ 124 w 1134"/>
                <a:gd name="T107" fmla="*/ 359 h 909"/>
                <a:gd name="T108" fmla="*/ 166 w 1134"/>
                <a:gd name="T109" fmla="*/ 311 h 909"/>
                <a:gd name="T110" fmla="*/ 211 w 1134"/>
                <a:gd name="T111" fmla="*/ 264 h 909"/>
                <a:gd name="T112" fmla="*/ 262 w 1134"/>
                <a:gd name="T113" fmla="*/ 221 h 909"/>
                <a:gd name="T114" fmla="*/ 316 w 1134"/>
                <a:gd name="T115" fmla="*/ 179 h 909"/>
                <a:gd name="T116" fmla="*/ 371 w 1134"/>
                <a:gd name="T117" fmla="*/ 142 h 909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134"/>
                <a:gd name="T178" fmla="*/ 0 h 909"/>
                <a:gd name="T179" fmla="*/ 1134 w 1134"/>
                <a:gd name="T180" fmla="*/ 909 h 909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134" h="909">
                  <a:moveTo>
                    <a:pt x="371" y="142"/>
                  </a:moveTo>
                  <a:lnTo>
                    <a:pt x="430" y="108"/>
                  </a:lnTo>
                  <a:lnTo>
                    <a:pt x="492" y="79"/>
                  </a:lnTo>
                  <a:lnTo>
                    <a:pt x="551" y="53"/>
                  </a:lnTo>
                  <a:lnTo>
                    <a:pt x="614" y="32"/>
                  </a:lnTo>
                  <a:lnTo>
                    <a:pt x="674" y="16"/>
                  </a:lnTo>
                  <a:lnTo>
                    <a:pt x="735" y="6"/>
                  </a:lnTo>
                  <a:lnTo>
                    <a:pt x="792" y="0"/>
                  </a:lnTo>
                  <a:lnTo>
                    <a:pt x="848" y="0"/>
                  </a:lnTo>
                  <a:lnTo>
                    <a:pt x="899" y="4"/>
                  </a:lnTo>
                  <a:lnTo>
                    <a:pt x="946" y="14"/>
                  </a:lnTo>
                  <a:lnTo>
                    <a:pt x="990" y="30"/>
                  </a:lnTo>
                  <a:lnTo>
                    <a:pt x="1027" y="51"/>
                  </a:lnTo>
                  <a:lnTo>
                    <a:pt x="1061" y="77"/>
                  </a:lnTo>
                  <a:lnTo>
                    <a:pt x="1089" y="107"/>
                  </a:lnTo>
                  <a:lnTo>
                    <a:pt x="1110" y="140"/>
                  </a:lnTo>
                  <a:lnTo>
                    <a:pt x="1124" y="177"/>
                  </a:lnTo>
                  <a:lnTo>
                    <a:pt x="1132" y="217"/>
                  </a:lnTo>
                  <a:lnTo>
                    <a:pt x="1134" y="260"/>
                  </a:lnTo>
                  <a:lnTo>
                    <a:pt x="1128" y="308"/>
                  </a:lnTo>
                  <a:lnTo>
                    <a:pt x="1118" y="355"/>
                  </a:lnTo>
                  <a:lnTo>
                    <a:pt x="1099" y="402"/>
                  </a:lnTo>
                  <a:lnTo>
                    <a:pt x="1075" y="451"/>
                  </a:lnTo>
                  <a:lnTo>
                    <a:pt x="1045" y="501"/>
                  </a:lnTo>
                  <a:lnTo>
                    <a:pt x="1010" y="550"/>
                  </a:lnTo>
                  <a:lnTo>
                    <a:pt x="968" y="597"/>
                  </a:lnTo>
                  <a:lnTo>
                    <a:pt x="923" y="643"/>
                  </a:lnTo>
                  <a:lnTo>
                    <a:pt x="871" y="688"/>
                  </a:lnTo>
                  <a:lnTo>
                    <a:pt x="818" y="727"/>
                  </a:lnTo>
                  <a:lnTo>
                    <a:pt x="763" y="765"/>
                  </a:lnTo>
                  <a:lnTo>
                    <a:pt x="703" y="800"/>
                  </a:lnTo>
                  <a:lnTo>
                    <a:pt x="644" y="830"/>
                  </a:lnTo>
                  <a:lnTo>
                    <a:pt x="583" y="855"/>
                  </a:lnTo>
                  <a:lnTo>
                    <a:pt x="519" y="877"/>
                  </a:lnTo>
                  <a:lnTo>
                    <a:pt x="460" y="893"/>
                  </a:lnTo>
                  <a:lnTo>
                    <a:pt x="401" y="903"/>
                  </a:lnTo>
                  <a:lnTo>
                    <a:pt x="342" y="909"/>
                  </a:lnTo>
                  <a:lnTo>
                    <a:pt x="286" y="909"/>
                  </a:lnTo>
                  <a:lnTo>
                    <a:pt x="235" y="905"/>
                  </a:lnTo>
                  <a:lnTo>
                    <a:pt x="187" y="893"/>
                  </a:lnTo>
                  <a:lnTo>
                    <a:pt x="144" y="877"/>
                  </a:lnTo>
                  <a:lnTo>
                    <a:pt x="106" y="857"/>
                  </a:lnTo>
                  <a:lnTo>
                    <a:pt x="73" y="832"/>
                  </a:lnTo>
                  <a:lnTo>
                    <a:pt x="45" y="802"/>
                  </a:lnTo>
                  <a:lnTo>
                    <a:pt x="23" y="769"/>
                  </a:lnTo>
                  <a:lnTo>
                    <a:pt x="9" y="731"/>
                  </a:lnTo>
                  <a:lnTo>
                    <a:pt x="2" y="690"/>
                  </a:lnTo>
                  <a:lnTo>
                    <a:pt x="0" y="647"/>
                  </a:lnTo>
                  <a:lnTo>
                    <a:pt x="5" y="601"/>
                  </a:lnTo>
                  <a:lnTo>
                    <a:pt x="15" y="554"/>
                  </a:lnTo>
                  <a:lnTo>
                    <a:pt x="35" y="505"/>
                  </a:lnTo>
                  <a:lnTo>
                    <a:pt x="59" y="455"/>
                  </a:lnTo>
                  <a:lnTo>
                    <a:pt x="88" y="406"/>
                  </a:lnTo>
                  <a:lnTo>
                    <a:pt x="124" y="359"/>
                  </a:lnTo>
                  <a:lnTo>
                    <a:pt x="166" y="311"/>
                  </a:lnTo>
                  <a:lnTo>
                    <a:pt x="211" y="264"/>
                  </a:lnTo>
                  <a:lnTo>
                    <a:pt x="262" y="221"/>
                  </a:lnTo>
                  <a:lnTo>
                    <a:pt x="316" y="179"/>
                  </a:lnTo>
                  <a:lnTo>
                    <a:pt x="371" y="1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0"/>
          <p:cNvGrpSpPr>
            <a:grpSpLocks noChangeAspect="1"/>
          </p:cNvGrpSpPr>
          <p:nvPr/>
        </p:nvGrpSpPr>
        <p:grpSpPr bwMode="auto">
          <a:xfrm>
            <a:off x="1574800" y="4024313"/>
            <a:ext cx="1274763" cy="2041525"/>
            <a:chOff x="1193" y="1212"/>
            <a:chExt cx="1218" cy="1950"/>
          </a:xfrm>
        </p:grpSpPr>
        <p:sp>
          <p:nvSpPr>
            <p:cNvPr id="196705" name="Rectangle 31"/>
            <p:cNvSpPr>
              <a:spLocks noChangeAspect="1" noChangeArrowheads="1"/>
            </p:cNvSpPr>
            <p:nvPr/>
          </p:nvSpPr>
          <p:spPr bwMode="auto">
            <a:xfrm>
              <a:off x="1603" y="1212"/>
              <a:ext cx="107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6" name="Freeform 32"/>
            <p:cNvSpPr>
              <a:spLocks noChangeAspect="1"/>
            </p:cNvSpPr>
            <p:nvPr/>
          </p:nvSpPr>
          <p:spPr bwMode="auto">
            <a:xfrm>
              <a:off x="1193" y="1246"/>
              <a:ext cx="1218" cy="1916"/>
            </a:xfrm>
            <a:custGeom>
              <a:avLst/>
              <a:gdLst>
                <a:gd name="T0" fmla="*/ 87 w 1218"/>
                <a:gd name="T1" fmla="*/ 724 h 1916"/>
                <a:gd name="T2" fmla="*/ 148 w 1218"/>
                <a:gd name="T3" fmla="*/ 566 h 1916"/>
                <a:gd name="T4" fmla="*/ 225 w 1218"/>
                <a:gd name="T5" fmla="*/ 420 h 1916"/>
                <a:gd name="T6" fmla="*/ 312 w 1218"/>
                <a:gd name="T7" fmla="*/ 290 h 1916"/>
                <a:gd name="T8" fmla="*/ 409 w 1218"/>
                <a:gd name="T9" fmla="*/ 182 h 1916"/>
                <a:gd name="T10" fmla="*/ 514 w 1218"/>
                <a:gd name="T11" fmla="*/ 97 h 1916"/>
                <a:gd name="T12" fmla="*/ 619 w 1218"/>
                <a:gd name="T13" fmla="*/ 38 h 1916"/>
                <a:gd name="T14" fmla="*/ 725 w 1218"/>
                <a:gd name="T15" fmla="*/ 6 h 1916"/>
                <a:gd name="T16" fmla="*/ 826 w 1218"/>
                <a:gd name="T17" fmla="*/ 4 h 1916"/>
                <a:gd name="T18" fmla="*/ 923 w 1218"/>
                <a:gd name="T19" fmla="*/ 30 h 1916"/>
                <a:gd name="T20" fmla="*/ 1008 w 1218"/>
                <a:gd name="T21" fmla="*/ 85 h 1916"/>
                <a:gd name="T22" fmla="*/ 1081 w 1218"/>
                <a:gd name="T23" fmla="*/ 168 h 1916"/>
                <a:gd name="T24" fmla="*/ 1142 w 1218"/>
                <a:gd name="T25" fmla="*/ 272 h 1916"/>
                <a:gd name="T26" fmla="*/ 1184 w 1218"/>
                <a:gd name="T27" fmla="*/ 399 h 1916"/>
                <a:gd name="T28" fmla="*/ 1212 w 1218"/>
                <a:gd name="T29" fmla="*/ 543 h 1916"/>
                <a:gd name="T30" fmla="*/ 1218 w 1218"/>
                <a:gd name="T31" fmla="*/ 698 h 1916"/>
                <a:gd name="T32" fmla="*/ 1208 w 1218"/>
                <a:gd name="T33" fmla="*/ 862 h 1916"/>
                <a:gd name="T34" fmla="*/ 1178 w 1218"/>
                <a:gd name="T35" fmla="*/ 1029 h 1916"/>
                <a:gd name="T36" fmla="*/ 1133 w 1218"/>
                <a:gd name="T37" fmla="*/ 1193 h 1916"/>
                <a:gd name="T38" fmla="*/ 1069 w 1218"/>
                <a:gd name="T39" fmla="*/ 1351 h 1916"/>
                <a:gd name="T40" fmla="*/ 992 w 1218"/>
                <a:gd name="T41" fmla="*/ 1496 h 1916"/>
                <a:gd name="T42" fmla="*/ 905 w 1218"/>
                <a:gd name="T43" fmla="*/ 1627 h 1916"/>
                <a:gd name="T44" fmla="*/ 808 w 1218"/>
                <a:gd name="T45" fmla="*/ 1735 h 1916"/>
                <a:gd name="T46" fmla="*/ 706 w 1218"/>
                <a:gd name="T47" fmla="*/ 1820 h 1916"/>
                <a:gd name="T48" fmla="*/ 599 w 1218"/>
                <a:gd name="T49" fmla="*/ 1879 h 1916"/>
                <a:gd name="T50" fmla="*/ 494 w 1218"/>
                <a:gd name="T51" fmla="*/ 1910 h 1916"/>
                <a:gd name="T52" fmla="*/ 391 w 1218"/>
                <a:gd name="T53" fmla="*/ 1912 h 1916"/>
                <a:gd name="T54" fmla="*/ 296 w 1218"/>
                <a:gd name="T55" fmla="*/ 1887 h 1916"/>
                <a:gd name="T56" fmla="*/ 209 w 1218"/>
                <a:gd name="T57" fmla="*/ 1832 h 1916"/>
                <a:gd name="T58" fmla="*/ 136 w 1218"/>
                <a:gd name="T59" fmla="*/ 1751 h 1916"/>
                <a:gd name="T60" fmla="*/ 77 w 1218"/>
                <a:gd name="T61" fmla="*/ 1644 h 1916"/>
                <a:gd name="T62" fmla="*/ 33 w 1218"/>
                <a:gd name="T63" fmla="*/ 1518 h 1916"/>
                <a:gd name="T64" fmla="*/ 8 w 1218"/>
                <a:gd name="T65" fmla="*/ 1374 h 1916"/>
                <a:gd name="T66" fmla="*/ 0 w 1218"/>
                <a:gd name="T67" fmla="*/ 1219 h 1916"/>
                <a:gd name="T68" fmla="*/ 12 w 1218"/>
                <a:gd name="T69" fmla="*/ 1055 h 1916"/>
                <a:gd name="T70" fmla="*/ 39 w 1218"/>
                <a:gd name="T71" fmla="*/ 887 h 191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218"/>
                <a:gd name="T109" fmla="*/ 0 h 1916"/>
                <a:gd name="T110" fmla="*/ 1218 w 1218"/>
                <a:gd name="T111" fmla="*/ 1916 h 191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218" h="1916">
                  <a:moveTo>
                    <a:pt x="61" y="805"/>
                  </a:moveTo>
                  <a:lnTo>
                    <a:pt x="87" y="724"/>
                  </a:lnTo>
                  <a:lnTo>
                    <a:pt x="116" y="643"/>
                  </a:lnTo>
                  <a:lnTo>
                    <a:pt x="148" y="566"/>
                  </a:lnTo>
                  <a:lnTo>
                    <a:pt x="186" y="491"/>
                  </a:lnTo>
                  <a:lnTo>
                    <a:pt x="225" y="420"/>
                  </a:lnTo>
                  <a:lnTo>
                    <a:pt x="267" y="353"/>
                  </a:lnTo>
                  <a:lnTo>
                    <a:pt x="312" y="290"/>
                  </a:lnTo>
                  <a:lnTo>
                    <a:pt x="360" y="233"/>
                  </a:lnTo>
                  <a:lnTo>
                    <a:pt x="409" y="182"/>
                  </a:lnTo>
                  <a:lnTo>
                    <a:pt x="460" y="136"/>
                  </a:lnTo>
                  <a:lnTo>
                    <a:pt x="514" y="97"/>
                  </a:lnTo>
                  <a:lnTo>
                    <a:pt x="565" y="64"/>
                  </a:lnTo>
                  <a:lnTo>
                    <a:pt x="619" y="38"/>
                  </a:lnTo>
                  <a:lnTo>
                    <a:pt x="672" y="18"/>
                  </a:lnTo>
                  <a:lnTo>
                    <a:pt x="725" y="6"/>
                  </a:lnTo>
                  <a:lnTo>
                    <a:pt x="777" y="0"/>
                  </a:lnTo>
                  <a:lnTo>
                    <a:pt x="826" y="4"/>
                  </a:lnTo>
                  <a:lnTo>
                    <a:pt x="876" y="14"/>
                  </a:lnTo>
                  <a:lnTo>
                    <a:pt x="923" y="30"/>
                  </a:lnTo>
                  <a:lnTo>
                    <a:pt x="966" y="54"/>
                  </a:lnTo>
                  <a:lnTo>
                    <a:pt x="1008" y="85"/>
                  </a:lnTo>
                  <a:lnTo>
                    <a:pt x="1048" y="123"/>
                  </a:lnTo>
                  <a:lnTo>
                    <a:pt x="1081" y="168"/>
                  </a:lnTo>
                  <a:lnTo>
                    <a:pt x="1113" y="217"/>
                  </a:lnTo>
                  <a:lnTo>
                    <a:pt x="1142" y="272"/>
                  </a:lnTo>
                  <a:lnTo>
                    <a:pt x="1166" y="334"/>
                  </a:lnTo>
                  <a:lnTo>
                    <a:pt x="1184" y="399"/>
                  </a:lnTo>
                  <a:lnTo>
                    <a:pt x="1200" y="470"/>
                  </a:lnTo>
                  <a:lnTo>
                    <a:pt x="1212" y="543"/>
                  </a:lnTo>
                  <a:lnTo>
                    <a:pt x="1218" y="619"/>
                  </a:lnTo>
                  <a:lnTo>
                    <a:pt x="1218" y="698"/>
                  </a:lnTo>
                  <a:lnTo>
                    <a:pt x="1216" y="779"/>
                  </a:lnTo>
                  <a:lnTo>
                    <a:pt x="1208" y="862"/>
                  </a:lnTo>
                  <a:lnTo>
                    <a:pt x="1196" y="947"/>
                  </a:lnTo>
                  <a:lnTo>
                    <a:pt x="1178" y="1029"/>
                  </a:lnTo>
                  <a:lnTo>
                    <a:pt x="1156" y="1112"/>
                  </a:lnTo>
                  <a:lnTo>
                    <a:pt x="1133" y="1193"/>
                  </a:lnTo>
                  <a:lnTo>
                    <a:pt x="1103" y="1274"/>
                  </a:lnTo>
                  <a:lnTo>
                    <a:pt x="1069" y="1351"/>
                  </a:lnTo>
                  <a:lnTo>
                    <a:pt x="1034" y="1426"/>
                  </a:lnTo>
                  <a:lnTo>
                    <a:pt x="992" y="1496"/>
                  </a:lnTo>
                  <a:lnTo>
                    <a:pt x="951" y="1563"/>
                  </a:lnTo>
                  <a:lnTo>
                    <a:pt x="905" y="1627"/>
                  </a:lnTo>
                  <a:lnTo>
                    <a:pt x="858" y="1684"/>
                  </a:lnTo>
                  <a:lnTo>
                    <a:pt x="808" y="1735"/>
                  </a:lnTo>
                  <a:lnTo>
                    <a:pt x="757" y="1780"/>
                  </a:lnTo>
                  <a:lnTo>
                    <a:pt x="706" y="1820"/>
                  </a:lnTo>
                  <a:lnTo>
                    <a:pt x="652" y="1853"/>
                  </a:lnTo>
                  <a:lnTo>
                    <a:pt x="599" y="1879"/>
                  </a:lnTo>
                  <a:lnTo>
                    <a:pt x="545" y="1899"/>
                  </a:lnTo>
                  <a:lnTo>
                    <a:pt x="494" y="1910"/>
                  </a:lnTo>
                  <a:lnTo>
                    <a:pt x="443" y="1916"/>
                  </a:lnTo>
                  <a:lnTo>
                    <a:pt x="391" y="1912"/>
                  </a:lnTo>
                  <a:lnTo>
                    <a:pt x="342" y="1902"/>
                  </a:lnTo>
                  <a:lnTo>
                    <a:pt x="296" y="1887"/>
                  </a:lnTo>
                  <a:lnTo>
                    <a:pt x="251" y="1863"/>
                  </a:lnTo>
                  <a:lnTo>
                    <a:pt x="209" y="1832"/>
                  </a:lnTo>
                  <a:lnTo>
                    <a:pt x="172" y="1794"/>
                  </a:lnTo>
                  <a:lnTo>
                    <a:pt x="136" y="1751"/>
                  </a:lnTo>
                  <a:lnTo>
                    <a:pt x="105" y="1699"/>
                  </a:lnTo>
                  <a:lnTo>
                    <a:pt x="77" y="1644"/>
                  </a:lnTo>
                  <a:lnTo>
                    <a:pt x="53" y="1583"/>
                  </a:lnTo>
                  <a:lnTo>
                    <a:pt x="33" y="1518"/>
                  </a:lnTo>
                  <a:lnTo>
                    <a:pt x="18" y="1449"/>
                  </a:lnTo>
                  <a:lnTo>
                    <a:pt x="8" y="1374"/>
                  </a:lnTo>
                  <a:lnTo>
                    <a:pt x="2" y="1297"/>
                  </a:lnTo>
                  <a:lnTo>
                    <a:pt x="0" y="1219"/>
                  </a:lnTo>
                  <a:lnTo>
                    <a:pt x="4" y="1138"/>
                  </a:lnTo>
                  <a:lnTo>
                    <a:pt x="12" y="1055"/>
                  </a:lnTo>
                  <a:lnTo>
                    <a:pt x="24" y="972"/>
                  </a:lnTo>
                  <a:lnTo>
                    <a:pt x="39" y="887"/>
                  </a:lnTo>
                  <a:lnTo>
                    <a:pt x="61" y="80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619" name="Text Box 33"/>
          <p:cNvSpPr txBox="1">
            <a:spLocks noChangeArrowheads="1"/>
          </p:cNvSpPr>
          <p:nvPr/>
        </p:nvSpPr>
        <p:spPr bwMode="auto">
          <a:xfrm>
            <a:off x="3387725" y="21336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MIN</a:t>
            </a:r>
          </a:p>
        </p:txBody>
      </p:sp>
      <p:sp>
        <p:nvSpPr>
          <p:cNvPr id="196620" name="Text Box 34"/>
          <p:cNvSpPr txBox="1">
            <a:spLocks noChangeArrowheads="1"/>
          </p:cNvSpPr>
          <p:nvPr/>
        </p:nvSpPr>
        <p:spPr bwMode="auto">
          <a:xfrm>
            <a:off x="5292725" y="2133600"/>
            <a:ext cx="1752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Arial" panose="020B0604020202020204" pitchFamily="34" charset="0"/>
              </a:rPr>
              <a:t>MAX</a:t>
            </a:r>
          </a:p>
        </p:txBody>
      </p:sp>
      <p:grpSp>
        <p:nvGrpSpPr>
          <p:cNvPr id="196621" name="Group 35"/>
          <p:cNvGrpSpPr>
            <a:grpSpLocks noChangeAspect="1"/>
          </p:cNvGrpSpPr>
          <p:nvPr/>
        </p:nvGrpSpPr>
        <p:grpSpPr bwMode="auto">
          <a:xfrm>
            <a:off x="6353175" y="4219575"/>
            <a:ext cx="1978025" cy="1795463"/>
            <a:chOff x="438" y="1309"/>
            <a:chExt cx="1937" cy="1757"/>
          </a:xfrm>
        </p:grpSpPr>
        <p:sp>
          <p:nvSpPr>
            <p:cNvPr id="196693" name="Freeform 36"/>
            <p:cNvSpPr>
              <a:spLocks noChangeAspect="1"/>
            </p:cNvSpPr>
            <p:nvPr/>
          </p:nvSpPr>
          <p:spPr bwMode="auto">
            <a:xfrm>
              <a:off x="1038" y="2002"/>
              <a:ext cx="88" cy="87"/>
            </a:xfrm>
            <a:custGeom>
              <a:avLst/>
              <a:gdLst>
                <a:gd name="T0" fmla="*/ 0 w 88"/>
                <a:gd name="T1" fmla="*/ 43 h 87"/>
                <a:gd name="T2" fmla="*/ 4 w 88"/>
                <a:gd name="T3" fmla="*/ 26 h 87"/>
                <a:gd name="T4" fmla="*/ 13 w 88"/>
                <a:gd name="T5" fmla="*/ 13 h 87"/>
                <a:gd name="T6" fmla="*/ 28 w 88"/>
                <a:gd name="T7" fmla="*/ 2 h 87"/>
                <a:gd name="T8" fmla="*/ 45 w 88"/>
                <a:gd name="T9" fmla="*/ 0 h 87"/>
                <a:gd name="T10" fmla="*/ 62 w 88"/>
                <a:gd name="T11" fmla="*/ 2 h 87"/>
                <a:gd name="T12" fmla="*/ 75 w 88"/>
                <a:gd name="T13" fmla="*/ 13 h 87"/>
                <a:gd name="T14" fmla="*/ 86 w 88"/>
                <a:gd name="T15" fmla="*/ 26 h 87"/>
                <a:gd name="T16" fmla="*/ 88 w 88"/>
                <a:gd name="T17" fmla="*/ 43 h 87"/>
                <a:gd name="T18" fmla="*/ 86 w 88"/>
                <a:gd name="T19" fmla="*/ 61 h 87"/>
                <a:gd name="T20" fmla="*/ 75 w 88"/>
                <a:gd name="T21" fmla="*/ 74 h 87"/>
                <a:gd name="T22" fmla="*/ 62 w 88"/>
                <a:gd name="T23" fmla="*/ 84 h 87"/>
                <a:gd name="T24" fmla="*/ 45 w 88"/>
                <a:gd name="T25" fmla="*/ 87 h 87"/>
                <a:gd name="T26" fmla="*/ 28 w 88"/>
                <a:gd name="T27" fmla="*/ 84 h 87"/>
                <a:gd name="T28" fmla="*/ 13 w 88"/>
                <a:gd name="T29" fmla="*/ 74 h 87"/>
                <a:gd name="T30" fmla="*/ 4 w 88"/>
                <a:gd name="T31" fmla="*/ 61 h 87"/>
                <a:gd name="T32" fmla="*/ 0 w 88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7"/>
                <a:gd name="T53" fmla="*/ 88 w 88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6" y="26"/>
                  </a:lnTo>
                  <a:lnTo>
                    <a:pt x="88" y="43"/>
                  </a:lnTo>
                  <a:lnTo>
                    <a:pt x="86" y="61"/>
                  </a:lnTo>
                  <a:lnTo>
                    <a:pt x="75" y="74"/>
                  </a:lnTo>
                  <a:lnTo>
                    <a:pt x="62" y="84"/>
                  </a:lnTo>
                  <a:lnTo>
                    <a:pt x="45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4" name="Freeform 37"/>
            <p:cNvSpPr>
              <a:spLocks noChangeAspect="1"/>
            </p:cNvSpPr>
            <p:nvPr/>
          </p:nvSpPr>
          <p:spPr bwMode="auto">
            <a:xfrm>
              <a:off x="1860" y="1361"/>
              <a:ext cx="89" cy="88"/>
            </a:xfrm>
            <a:custGeom>
              <a:avLst/>
              <a:gdLst>
                <a:gd name="T0" fmla="*/ 0 w 89"/>
                <a:gd name="T1" fmla="*/ 43 h 88"/>
                <a:gd name="T2" fmla="*/ 4 w 89"/>
                <a:gd name="T3" fmla="*/ 26 h 88"/>
                <a:gd name="T4" fmla="*/ 13 w 89"/>
                <a:gd name="T5" fmla="*/ 13 h 88"/>
                <a:gd name="T6" fmla="*/ 28 w 89"/>
                <a:gd name="T7" fmla="*/ 2 h 88"/>
                <a:gd name="T8" fmla="*/ 45 w 89"/>
                <a:gd name="T9" fmla="*/ 0 h 88"/>
                <a:gd name="T10" fmla="*/ 63 w 89"/>
                <a:gd name="T11" fmla="*/ 2 h 88"/>
                <a:gd name="T12" fmla="*/ 76 w 89"/>
                <a:gd name="T13" fmla="*/ 13 h 88"/>
                <a:gd name="T14" fmla="*/ 86 w 89"/>
                <a:gd name="T15" fmla="*/ 26 h 88"/>
                <a:gd name="T16" fmla="*/ 89 w 89"/>
                <a:gd name="T17" fmla="*/ 43 h 88"/>
                <a:gd name="T18" fmla="*/ 86 w 89"/>
                <a:gd name="T19" fmla="*/ 60 h 88"/>
                <a:gd name="T20" fmla="*/ 76 w 89"/>
                <a:gd name="T21" fmla="*/ 76 h 88"/>
                <a:gd name="T22" fmla="*/ 63 w 89"/>
                <a:gd name="T23" fmla="*/ 84 h 88"/>
                <a:gd name="T24" fmla="*/ 45 w 89"/>
                <a:gd name="T25" fmla="*/ 88 h 88"/>
                <a:gd name="T26" fmla="*/ 28 w 89"/>
                <a:gd name="T27" fmla="*/ 84 h 88"/>
                <a:gd name="T28" fmla="*/ 13 w 89"/>
                <a:gd name="T29" fmla="*/ 76 h 88"/>
                <a:gd name="T30" fmla="*/ 4 w 89"/>
                <a:gd name="T31" fmla="*/ 60 h 88"/>
                <a:gd name="T32" fmla="*/ 0 w 89"/>
                <a:gd name="T33" fmla="*/ 43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6" y="26"/>
                  </a:lnTo>
                  <a:lnTo>
                    <a:pt x="89" y="43"/>
                  </a:lnTo>
                  <a:lnTo>
                    <a:pt x="86" y="60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8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5" name="Freeform 38"/>
            <p:cNvSpPr>
              <a:spLocks noChangeAspect="1"/>
            </p:cNvSpPr>
            <p:nvPr/>
          </p:nvSpPr>
          <p:spPr bwMode="auto">
            <a:xfrm>
              <a:off x="1260" y="2875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2 h 88"/>
                <a:gd name="T6" fmla="*/ 29 w 89"/>
                <a:gd name="T7" fmla="*/ 4 h 88"/>
                <a:gd name="T8" fmla="*/ 46 w 89"/>
                <a:gd name="T9" fmla="*/ 0 h 88"/>
                <a:gd name="T10" fmla="*/ 63 w 89"/>
                <a:gd name="T11" fmla="*/ 4 h 88"/>
                <a:gd name="T12" fmla="*/ 76 w 89"/>
                <a:gd name="T13" fmla="*/ 12 h 88"/>
                <a:gd name="T14" fmla="*/ 87 w 89"/>
                <a:gd name="T15" fmla="*/ 28 h 88"/>
                <a:gd name="T16" fmla="*/ 89 w 89"/>
                <a:gd name="T17" fmla="*/ 45 h 88"/>
                <a:gd name="T18" fmla="*/ 87 w 89"/>
                <a:gd name="T19" fmla="*/ 62 h 88"/>
                <a:gd name="T20" fmla="*/ 76 w 89"/>
                <a:gd name="T21" fmla="*/ 75 h 88"/>
                <a:gd name="T22" fmla="*/ 63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2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3" y="4"/>
                  </a:lnTo>
                  <a:lnTo>
                    <a:pt x="76" y="12"/>
                  </a:lnTo>
                  <a:lnTo>
                    <a:pt x="87" y="28"/>
                  </a:lnTo>
                  <a:lnTo>
                    <a:pt x="89" y="45"/>
                  </a:lnTo>
                  <a:lnTo>
                    <a:pt x="87" y="62"/>
                  </a:lnTo>
                  <a:lnTo>
                    <a:pt x="76" y="75"/>
                  </a:lnTo>
                  <a:lnTo>
                    <a:pt x="63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6" name="Freeform 39"/>
            <p:cNvSpPr>
              <a:spLocks noChangeAspect="1"/>
            </p:cNvSpPr>
            <p:nvPr/>
          </p:nvSpPr>
          <p:spPr bwMode="auto">
            <a:xfrm>
              <a:off x="438" y="1875"/>
              <a:ext cx="87" cy="88"/>
            </a:xfrm>
            <a:custGeom>
              <a:avLst/>
              <a:gdLst>
                <a:gd name="T0" fmla="*/ 0 w 87"/>
                <a:gd name="T1" fmla="*/ 45 h 88"/>
                <a:gd name="T2" fmla="*/ 2 w 87"/>
                <a:gd name="T3" fmla="*/ 28 h 88"/>
                <a:gd name="T4" fmla="*/ 11 w 87"/>
                <a:gd name="T5" fmla="*/ 13 h 88"/>
                <a:gd name="T6" fmla="*/ 26 w 87"/>
                <a:gd name="T7" fmla="*/ 4 h 88"/>
                <a:gd name="T8" fmla="*/ 44 w 87"/>
                <a:gd name="T9" fmla="*/ 0 h 88"/>
                <a:gd name="T10" fmla="*/ 61 w 87"/>
                <a:gd name="T11" fmla="*/ 4 h 88"/>
                <a:gd name="T12" fmla="*/ 74 w 87"/>
                <a:gd name="T13" fmla="*/ 13 h 88"/>
                <a:gd name="T14" fmla="*/ 85 w 87"/>
                <a:gd name="T15" fmla="*/ 28 h 88"/>
                <a:gd name="T16" fmla="*/ 87 w 87"/>
                <a:gd name="T17" fmla="*/ 45 h 88"/>
                <a:gd name="T18" fmla="*/ 85 w 87"/>
                <a:gd name="T19" fmla="*/ 62 h 88"/>
                <a:gd name="T20" fmla="*/ 74 w 87"/>
                <a:gd name="T21" fmla="*/ 75 h 88"/>
                <a:gd name="T22" fmla="*/ 61 w 87"/>
                <a:gd name="T23" fmla="*/ 86 h 88"/>
                <a:gd name="T24" fmla="*/ 44 w 87"/>
                <a:gd name="T25" fmla="*/ 88 h 88"/>
                <a:gd name="T26" fmla="*/ 26 w 87"/>
                <a:gd name="T27" fmla="*/ 86 h 88"/>
                <a:gd name="T28" fmla="*/ 11 w 87"/>
                <a:gd name="T29" fmla="*/ 75 h 88"/>
                <a:gd name="T30" fmla="*/ 2 w 87"/>
                <a:gd name="T31" fmla="*/ 62 h 88"/>
                <a:gd name="T32" fmla="*/ 0 w 87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8"/>
                <a:gd name="T53" fmla="*/ 87 w 87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8">
                  <a:moveTo>
                    <a:pt x="0" y="45"/>
                  </a:moveTo>
                  <a:lnTo>
                    <a:pt x="2" y="28"/>
                  </a:lnTo>
                  <a:lnTo>
                    <a:pt x="11" y="13"/>
                  </a:lnTo>
                  <a:lnTo>
                    <a:pt x="26" y="4"/>
                  </a:lnTo>
                  <a:lnTo>
                    <a:pt x="44" y="0"/>
                  </a:lnTo>
                  <a:lnTo>
                    <a:pt x="61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5"/>
                  </a:lnTo>
                  <a:lnTo>
                    <a:pt x="61" y="86"/>
                  </a:lnTo>
                  <a:lnTo>
                    <a:pt x="44" y="88"/>
                  </a:lnTo>
                  <a:lnTo>
                    <a:pt x="26" y="86"/>
                  </a:lnTo>
                  <a:lnTo>
                    <a:pt x="11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7" name="Freeform 40"/>
            <p:cNvSpPr>
              <a:spLocks noChangeAspect="1"/>
            </p:cNvSpPr>
            <p:nvPr/>
          </p:nvSpPr>
          <p:spPr bwMode="auto">
            <a:xfrm>
              <a:off x="1617" y="2309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5 w 89"/>
                <a:gd name="T3" fmla="*/ 28 h 88"/>
                <a:gd name="T4" fmla="*/ 13 w 89"/>
                <a:gd name="T5" fmla="*/ 13 h 88"/>
                <a:gd name="T6" fmla="*/ 29 w 89"/>
                <a:gd name="T7" fmla="*/ 4 h 88"/>
                <a:gd name="T8" fmla="*/ 46 w 89"/>
                <a:gd name="T9" fmla="*/ 0 h 88"/>
                <a:gd name="T10" fmla="*/ 61 w 89"/>
                <a:gd name="T11" fmla="*/ 4 h 88"/>
                <a:gd name="T12" fmla="*/ 76 w 89"/>
                <a:gd name="T13" fmla="*/ 13 h 88"/>
                <a:gd name="T14" fmla="*/ 85 w 89"/>
                <a:gd name="T15" fmla="*/ 28 h 88"/>
                <a:gd name="T16" fmla="*/ 89 w 89"/>
                <a:gd name="T17" fmla="*/ 45 h 88"/>
                <a:gd name="T18" fmla="*/ 85 w 89"/>
                <a:gd name="T19" fmla="*/ 62 h 88"/>
                <a:gd name="T20" fmla="*/ 76 w 89"/>
                <a:gd name="T21" fmla="*/ 75 h 88"/>
                <a:gd name="T22" fmla="*/ 61 w 89"/>
                <a:gd name="T23" fmla="*/ 86 h 88"/>
                <a:gd name="T24" fmla="*/ 46 w 89"/>
                <a:gd name="T25" fmla="*/ 88 h 88"/>
                <a:gd name="T26" fmla="*/ 29 w 89"/>
                <a:gd name="T27" fmla="*/ 86 h 88"/>
                <a:gd name="T28" fmla="*/ 13 w 89"/>
                <a:gd name="T29" fmla="*/ 75 h 88"/>
                <a:gd name="T30" fmla="*/ 5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5" y="28"/>
                  </a:lnTo>
                  <a:lnTo>
                    <a:pt x="13" y="13"/>
                  </a:lnTo>
                  <a:lnTo>
                    <a:pt x="29" y="4"/>
                  </a:lnTo>
                  <a:lnTo>
                    <a:pt x="46" y="0"/>
                  </a:lnTo>
                  <a:lnTo>
                    <a:pt x="61" y="4"/>
                  </a:lnTo>
                  <a:lnTo>
                    <a:pt x="76" y="13"/>
                  </a:lnTo>
                  <a:lnTo>
                    <a:pt x="85" y="28"/>
                  </a:lnTo>
                  <a:lnTo>
                    <a:pt x="89" y="45"/>
                  </a:lnTo>
                  <a:lnTo>
                    <a:pt x="85" y="62"/>
                  </a:lnTo>
                  <a:lnTo>
                    <a:pt x="76" y="75"/>
                  </a:lnTo>
                  <a:lnTo>
                    <a:pt x="61" y="86"/>
                  </a:lnTo>
                  <a:lnTo>
                    <a:pt x="46" y="88"/>
                  </a:lnTo>
                  <a:lnTo>
                    <a:pt x="29" y="86"/>
                  </a:lnTo>
                  <a:lnTo>
                    <a:pt x="13" y="75"/>
                  </a:lnTo>
                  <a:lnTo>
                    <a:pt x="5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8" name="Freeform 41"/>
            <p:cNvSpPr>
              <a:spLocks noChangeAspect="1"/>
            </p:cNvSpPr>
            <p:nvPr/>
          </p:nvSpPr>
          <p:spPr bwMode="auto">
            <a:xfrm>
              <a:off x="2100" y="2369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5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5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5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99" name="Rectangle 42"/>
            <p:cNvSpPr>
              <a:spLocks noChangeAspect="1" noChangeArrowheads="1"/>
            </p:cNvSpPr>
            <p:nvPr/>
          </p:nvSpPr>
          <p:spPr bwMode="auto">
            <a:xfrm>
              <a:off x="1971" y="1309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0" name="Rectangle 43"/>
            <p:cNvSpPr>
              <a:spLocks noChangeAspect="1" noChangeArrowheads="1"/>
            </p:cNvSpPr>
            <p:nvPr/>
          </p:nvSpPr>
          <p:spPr bwMode="auto">
            <a:xfrm>
              <a:off x="1155" y="1945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1" name="Rectangle 44"/>
            <p:cNvSpPr>
              <a:spLocks noChangeAspect="1" noChangeArrowheads="1"/>
            </p:cNvSpPr>
            <p:nvPr/>
          </p:nvSpPr>
          <p:spPr bwMode="auto">
            <a:xfrm>
              <a:off x="1775" y="2262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2" name="Rectangle 45"/>
            <p:cNvSpPr>
              <a:spLocks noChangeAspect="1" noChangeArrowheads="1"/>
            </p:cNvSpPr>
            <p:nvPr/>
          </p:nvSpPr>
          <p:spPr bwMode="auto">
            <a:xfrm>
              <a:off x="1388" y="282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3" name="Rectangle 46"/>
            <p:cNvSpPr>
              <a:spLocks noChangeAspect="1" noChangeArrowheads="1"/>
            </p:cNvSpPr>
            <p:nvPr/>
          </p:nvSpPr>
          <p:spPr bwMode="auto">
            <a:xfrm>
              <a:off x="572" y="1817"/>
              <a:ext cx="99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704" name="Rectangle 47"/>
            <p:cNvSpPr>
              <a:spLocks noChangeAspect="1" noChangeArrowheads="1"/>
            </p:cNvSpPr>
            <p:nvPr/>
          </p:nvSpPr>
          <p:spPr bwMode="auto">
            <a:xfrm>
              <a:off x="2275" y="2316"/>
              <a:ext cx="10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9" name="Group 48"/>
          <p:cNvGrpSpPr>
            <a:grpSpLocks noChangeAspect="1"/>
          </p:cNvGrpSpPr>
          <p:nvPr/>
        </p:nvGrpSpPr>
        <p:grpSpPr bwMode="auto">
          <a:xfrm>
            <a:off x="7475538" y="5126038"/>
            <a:ext cx="917575" cy="617537"/>
            <a:chOff x="1537" y="2197"/>
            <a:chExt cx="898" cy="604"/>
          </a:xfrm>
        </p:grpSpPr>
        <p:sp>
          <p:nvSpPr>
            <p:cNvPr id="196691" name="Freeform 49"/>
            <p:cNvSpPr>
              <a:spLocks noChangeAspect="1"/>
            </p:cNvSpPr>
            <p:nvPr/>
          </p:nvSpPr>
          <p:spPr bwMode="auto">
            <a:xfrm>
              <a:off x="1537" y="2197"/>
              <a:ext cx="898" cy="375"/>
            </a:xfrm>
            <a:custGeom>
              <a:avLst/>
              <a:gdLst>
                <a:gd name="T0" fmla="*/ 450 w 898"/>
                <a:gd name="T1" fmla="*/ 0 h 375"/>
                <a:gd name="T2" fmla="*/ 511 w 898"/>
                <a:gd name="T3" fmla="*/ 2 h 375"/>
                <a:gd name="T4" fmla="*/ 572 w 898"/>
                <a:gd name="T5" fmla="*/ 6 h 375"/>
                <a:gd name="T6" fmla="*/ 630 w 898"/>
                <a:gd name="T7" fmla="*/ 15 h 375"/>
                <a:gd name="T8" fmla="*/ 684 w 898"/>
                <a:gd name="T9" fmla="*/ 28 h 375"/>
                <a:gd name="T10" fmla="*/ 734 w 898"/>
                <a:gd name="T11" fmla="*/ 43 h 375"/>
                <a:gd name="T12" fmla="*/ 779 w 898"/>
                <a:gd name="T13" fmla="*/ 60 h 375"/>
                <a:gd name="T14" fmla="*/ 818 w 898"/>
                <a:gd name="T15" fmla="*/ 79 h 375"/>
                <a:gd name="T16" fmla="*/ 851 w 898"/>
                <a:gd name="T17" fmla="*/ 101 h 375"/>
                <a:gd name="T18" fmla="*/ 875 w 898"/>
                <a:gd name="T19" fmla="*/ 125 h 375"/>
                <a:gd name="T20" fmla="*/ 892 w 898"/>
                <a:gd name="T21" fmla="*/ 149 h 375"/>
                <a:gd name="T22" fmla="*/ 898 w 898"/>
                <a:gd name="T23" fmla="*/ 174 h 375"/>
                <a:gd name="T24" fmla="*/ 898 w 898"/>
                <a:gd name="T25" fmla="*/ 200 h 375"/>
                <a:gd name="T26" fmla="*/ 892 w 898"/>
                <a:gd name="T27" fmla="*/ 226 h 375"/>
                <a:gd name="T28" fmla="*/ 875 w 898"/>
                <a:gd name="T29" fmla="*/ 250 h 375"/>
                <a:gd name="T30" fmla="*/ 851 w 898"/>
                <a:gd name="T31" fmla="*/ 274 h 375"/>
                <a:gd name="T32" fmla="*/ 818 w 898"/>
                <a:gd name="T33" fmla="*/ 295 h 375"/>
                <a:gd name="T34" fmla="*/ 779 w 898"/>
                <a:gd name="T35" fmla="*/ 315 h 375"/>
                <a:gd name="T36" fmla="*/ 734 w 898"/>
                <a:gd name="T37" fmla="*/ 332 h 375"/>
                <a:gd name="T38" fmla="*/ 684 w 898"/>
                <a:gd name="T39" fmla="*/ 347 h 375"/>
                <a:gd name="T40" fmla="*/ 630 w 898"/>
                <a:gd name="T41" fmla="*/ 360 h 375"/>
                <a:gd name="T42" fmla="*/ 572 w 898"/>
                <a:gd name="T43" fmla="*/ 369 h 375"/>
                <a:gd name="T44" fmla="*/ 511 w 898"/>
                <a:gd name="T45" fmla="*/ 373 h 375"/>
                <a:gd name="T46" fmla="*/ 450 w 898"/>
                <a:gd name="T47" fmla="*/ 375 h 375"/>
                <a:gd name="T48" fmla="*/ 390 w 898"/>
                <a:gd name="T49" fmla="*/ 373 h 375"/>
                <a:gd name="T50" fmla="*/ 329 w 898"/>
                <a:gd name="T51" fmla="*/ 369 h 375"/>
                <a:gd name="T52" fmla="*/ 271 w 898"/>
                <a:gd name="T53" fmla="*/ 360 h 375"/>
                <a:gd name="T54" fmla="*/ 217 w 898"/>
                <a:gd name="T55" fmla="*/ 347 h 375"/>
                <a:gd name="T56" fmla="*/ 167 w 898"/>
                <a:gd name="T57" fmla="*/ 332 h 375"/>
                <a:gd name="T58" fmla="*/ 122 w 898"/>
                <a:gd name="T59" fmla="*/ 315 h 375"/>
                <a:gd name="T60" fmla="*/ 83 w 898"/>
                <a:gd name="T61" fmla="*/ 295 h 375"/>
                <a:gd name="T62" fmla="*/ 50 w 898"/>
                <a:gd name="T63" fmla="*/ 274 h 375"/>
                <a:gd name="T64" fmla="*/ 26 w 898"/>
                <a:gd name="T65" fmla="*/ 250 h 375"/>
                <a:gd name="T66" fmla="*/ 9 w 898"/>
                <a:gd name="T67" fmla="*/ 226 h 375"/>
                <a:gd name="T68" fmla="*/ 0 w 898"/>
                <a:gd name="T69" fmla="*/ 200 h 375"/>
                <a:gd name="T70" fmla="*/ 0 w 898"/>
                <a:gd name="T71" fmla="*/ 174 h 375"/>
                <a:gd name="T72" fmla="*/ 9 w 898"/>
                <a:gd name="T73" fmla="*/ 149 h 375"/>
                <a:gd name="T74" fmla="*/ 26 w 898"/>
                <a:gd name="T75" fmla="*/ 125 h 375"/>
                <a:gd name="T76" fmla="*/ 50 w 898"/>
                <a:gd name="T77" fmla="*/ 101 h 375"/>
                <a:gd name="T78" fmla="*/ 83 w 898"/>
                <a:gd name="T79" fmla="*/ 79 h 375"/>
                <a:gd name="T80" fmla="*/ 122 w 898"/>
                <a:gd name="T81" fmla="*/ 60 h 375"/>
                <a:gd name="T82" fmla="*/ 167 w 898"/>
                <a:gd name="T83" fmla="*/ 43 h 375"/>
                <a:gd name="T84" fmla="*/ 217 w 898"/>
                <a:gd name="T85" fmla="*/ 28 h 375"/>
                <a:gd name="T86" fmla="*/ 271 w 898"/>
                <a:gd name="T87" fmla="*/ 15 h 375"/>
                <a:gd name="T88" fmla="*/ 329 w 898"/>
                <a:gd name="T89" fmla="*/ 6 h 375"/>
                <a:gd name="T90" fmla="*/ 390 w 898"/>
                <a:gd name="T91" fmla="*/ 2 h 375"/>
                <a:gd name="T92" fmla="*/ 450 w 898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8"/>
                <a:gd name="T142" fmla="*/ 0 h 375"/>
                <a:gd name="T143" fmla="*/ 898 w 898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8" h="375">
                  <a:moveTo>
                    <a:pt x="450" y="0"/>
                  </a:moveTo>
                  <a:lnTo>
                    <a:pt x="511" y="2"/>
                  </a:lnTo>
                  <a:lnTo>
                    <a:pt x="572" y="6"/>
                  </a:lnTo>
                  <a:lnTo>
                    <a:pt x="630" y="15"/>
                  </a:lnTo>
                  <a:lnTo>
                    <a:pt x="684" y="28"/>
                  </a:lnTo>
                  <a:lnTo>
                    <a:pt x="734" y="43"/>
                  </a:lnTo>
                  <a:lnTo>
                    <a:pt x="779" y="60"/>
                  </a:lnTo>
                  <a:lnTo>
                    <a:pt x="818" y="79"/>
                  </a:lnTo>
                  <a:lnTo>
                    <a:pt x="851" y="101"/>
                  </a:lnTo>
                  <a:lnTo>
                    <a:pt x="875" y="125"/>
                  </a:lnTo>
                  <a:lnTo>
                    <a:pt x="892" y="149"/>
                  </a:lnTo>
                  <a:lnTo>
                    <a:pt x="898" y="174"/>
                  </a:lnTo>
                  <a:lnTo>
                    <a:pt x="898" y="200"/>
                  </a:lnTo>
                  <a:lnTo>
                    <a:pt x="892" y="226"/>
                  </a:lnTo>
                  <a:lnTo>
                    <a:pt x="875" y="250"/>
                  </a:lnTo>
                  <a:lnTo>
                    <a:pt x="851" y="274"/>
                  </a:lnTo>
                  <a:lnTo>
                    <a:pt x="818" y="295"/>
                  </a:lnTo>
                  <a:lnTo>
                    <a:pt x="779" y="315"/>
                  </a:lnTo>
                  <a:lnTo>
                    <a:pt x="734" y="332"/>
                  </a:lnTo>
                  <a:lnTo>
                    <a:pt x="684" y="347"/>
                  </a:lnTo>
                  <a:lnTo>
                    <a:pt x="630" y="360"/>
                  </a:lnTo>
                  <a:lnTo>
                    <a:pt x="572" y="369"/>
                  </a:lnTo>
                  <a:lnTo>
                    <a:pt x="511" y="373"/>
                  </a:lnTo>
                  <a:lnTo>
                    <a:pt x="450" y="375"/>
                  </a:lnTo>
                  <a:lnTo>
                    <a:pt x="390" y="373"/>
                  </a:lnTo>
                  <a:lnTo>
                    <a:pt x="329" y="369"/>
                  </a:lnTo>
                  <a:lnTo>
                    <a:pt x="271" y="360"/>
                  </a:lnTo>
                  <a:lnTo>
                    <a:pt x="217" y="347"/>
                  </a:lnTo>
                  <a:lnTo>
                    <a:pt x="167" y="332"/>
                  </a:lnTo>
                  <a:lnTo>
                    <a:pt x="122" y="315"/>
                  </a:lnTo>
                  <a:lnTo>
                    <a:pt x="83" y="295"/>
                  </a:lnTo>
                  <a:lnTo>
                    <a:pt x="50" y="274"/>
                  </a:lnTo>
                  <a:lnTo>
                    <a:pt x="26" y="250"/>
                  </a:lnTo>
                  <a:lnTo>
                    <a:pt x="9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9" y="149"/>
                  </a:lnTo>
                  <a:lnTo>
                    <a:pt x="26" y="125"/>
                  </a:lnTo>
                  <a:lnTo>
                    <a:pt x="50" y="101"/>
                  </a:lnTo>
                  <a:lnTo>
                    <a:pt x="83" y="79"/>
                  </a:lnTo>
                  <a:lnTo>
                    <a:pt x="122" y="60"/>
                  </a:lnTo>
                  <a:lnTo>
                    <a:pt x="167" y="43"/>
                  </a:lnTo>
                  <a:lnTo>
                    <a:pt x="217" y="28"/>
                  </a:lnTo>
                  <a:lnTo>
                    <a:pt x="271" y="15"/>
                  </a:lnTo>
                  <a:lnTo>
                    <a:pt x="329" y="6"/>
                  </a:lnTo>
                  <a:lnTo>
                    <a:pt x="390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92" name="Rectangle 50"/>
            <p:cNvSpPr>
              <a:spLocks noChangeAspect="1" noChangeArrowheads="1"/>
            </p:cNvSpPr>
            <p:nvPr/>
          </p:nvSpPr>
          <p:spPr bwMode="auto">
            <a:xfrm>
              <a:off x="1910" y="2562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Group 51"/>
          <p:cNvGrpSpPr>
            <a:grpSpLocks noChangeAspect="1"/>
          </p:cNvGrpSpPr>
          <p:nvPr/>
        </p:nvGrpSpPr>
        <p:grpSpPr bwMode="auto">
          <a:xfrm>
            <a:off x="6292850" y="4497388"/>
            <a:ext cx="1035050" cy="582612"/>
            <a:chOff x="380" y="1581"/>
            <a:chExt cx="1012" cy="570"/>
          </a:xfrm>
        </p:grpSpPr>
        <p:sp>
          <p:nvSpPr>
            <p:cNvPr id="196689" name="Freeform 52"/>
            <p:cNvSpPr>
              <a:spLocks noChangeAspect="1"/>
            </p:cNvSpPr>
            <p:nvPr/>
          </p:nvSpPr>
          <p:spPr bwMode="auto">
            <a:xfrm>
              <a:off x="380" y="1760"/>
              <a:ext cx="1012" cy="391"/>
            </a:xfrm>
            <a:custGeom>
              <a:avLst/>
              <a:gdLst>
                <a:gd name="T0" fmla="*/ 523 w 1012"/>
                <a:gd name="T1" fmla="*/ 5 h 391"/>
                <a:gd name="T2" fmla="*/ 586 w 1012"/>
                <a:gd name="T3" fmla="*/ 11 h 391"/>
                <a:gd name="T4" fmla="*/ 649 w 1012"/>
                <a:gd name="T5" fmla="*/ 22 h 391"/>
                <a:gd name="T6" fmla="*/ 707 w 1012"/>
                <a:gd name="T7" fmla="*/ 35 h 391"/>
                <a:gd name="T8" fmla="*/ 766 w 1012"/>
                <a:gd name="T9" fmla="*/ 50 h 391"/>
                <a:gd name="T10" fmla="*/ 818 w 1012"/>
                <a:gd name="T11" fmla="*/ 67 h 391"/>
                <a:gd name="T12" fmla="*/ 865 w 1012"/>
                <a:gd name="T13" fmla="*/ 87 h 391"/>
                <a:gd name="T14" fmla="*/ 906 w 1012"/>
                <a:gd name="T15" fmla="*/ 108 h 391"/>
                <a:gd name="T16" fmla="*/ 943 w 1012"/>
                <a:gd name="T17" fmla="*/ 130 h 391"/>
                <a:gd name="T18" fmla="*/ 971 w 1012"/>
                <a:gd name="T19" fmla="*/ 154 h 391"/>
                <a:gd name="T20" fmla="*/ 993 w 1012"/>
                <a:gd name="T21" fmla="*/ 180 h 391"/>
                <a:gd name="T22" fmla="*/ 1006 w 1012"/>
                <a:gd name="T23" fmla="*/ 203 h 391"/>
                <a:gd name="T24" fmla="*/ 1012 w 1012"/>
                <a:gd name="T25" fmla="*/ 227 h 391"/>
                <a:gd name="T26" fmla="*/ 1010 w 1012"/>
                <a:gd name="T27" fmla="*/ 251 h 391"/>
                <a:gd name="T28" fmla="*/ 999 w 1012"/>
                <a:gd name="T29" fmla="*/ 275 h 391"/>
                <a:gd name="T30" fmla="*/ 982 w 1012"/>
                <a:gd name="T31" fmla="*/ 296 h 391"/>
                <a:gd name="T32" fmla="*/ 956 w 1012"/>
                <a:gd name="T33" fmla="*/ 318 h 391"/>
                <a:gd name="T34" fmla="*/ 924 w 1012"/>
                <a:gd name="T35" fmla="*/ 335 h 391"/>
                <a:gd name="T36" fmla="*/ 885 w 1012"/>
                <a:gd name="T37" fmla="*/ 352 h 391"/>
                <a:gd name="T38" fmla="*/ 842 w 1012"/>
                <a:gd name="T39" fmla="*/ 365 h 391"/>
                <a:gd name="T40" fmla="*/ 790 w 1012"/>
                <a:gd name="T41" fmla="*/ 376 h 391"/>
                <a:gd name="T42" fmla="*/ 736 w 1012"/>
                <a:gd name="T43" fmla="*/ 385 h 391"/>
                <a:gd name="T44" fmla="*/ 677 w 1012"/>
                <a:gd name="T45" fmla="*/ 389 h 391"/>
                <a:gd name="T46" fmla="*/ 616 w 1012"/>
                <a:gd name="T47" fmla="*/ 391 h 391"/>
                <a:gd name="T48" fmla="*/ 554 w 1012"/>
                <a:gd name="T49" fmla="*/ 391 h 391"/>
                <a:gd name="T50" fmla="*/ 489 w 1012"/>
                <a:gd name="T51" fmla="*/ 387 h 391"/>
                <a:gd name="T52" fmla="*/ 426 w 1012"/>
                <a:gd name="T53" fmla="*/ 380 h 391"/>
                <a:gd name="T54" fmla="*/ 363 w 1012"/>
                <a:gd name="T55" fmla="*/ 370 h 391"/>
                <a:gd name="T56" fmla="*/ 305 w 1012"/>
                <a:gd name="T57" fmla="*/ 357 h 391"/>
                <a:gd name="T58" fmla="*/ 249 w 1012"/>
                <a:gd name="T59" fmla="*/ 342 h 391"/>
                <a:gd name="T60" fmla="*/ 195 w 1012"/>
                <a:gd name="T61" fmla="*/ 324 h 391"/>
                <a:gd name="T62" fmla="*/ 147 w 1012"/>
                <a:gd name="T63" fmla="*/ 305 h 391"/>
                <a:gd name="T64" fmla="*/ 106 w 1012"/>
                <a:gd name="T65" fmla="*/ 283 h 391"/>
                <a:gd name="T66" fmla="*/ 69 w 1012"/>
                <a:gd name="T67" fmla="*/ 262 h 391"/>
                <a:gd name="T68" fmla="*/ 41 w 1012"/>
                <a:gd name="T69" fmla="*/ 238 h 391"/>
                <a:gd name="T70" fmla="*/ 19 w 1012"/>
                <a:gd name="T71" fmla="*/ 212 h 391"/>
                <a:gd name="T72" fmla="*/ 6 w 1012"/>
                <a:gd name="T73" fmla="*/ 188 h 391"/>
                <a:gd name="T74" fmla="*/ 0 w 1012"/>
                <a:gd name="T75" fmla="*/ 164 h 391"/>
                <a:gd name="T76" fmla="*/ 2 w 1012"/>
                <a:gd name="T77" fmla="*/ 139 h 391"/>
                <a:gd name="T78" fmla="*/ 13 w 1012"/>
                <a:gd name="T79" fmla="*/ 117 h 391"/>
                <a:gd name="T80" fmla="*/ 30 w 1012"/>
                <a:gd name="T81" fmla="*/ 95 h 391"/>
                <a:gd name="T82" fmla="*/ 56 w 1012"/>
                <a:gd name="T83" fmla="*/ 74 h 391"/>
                <a:gd name="T84" fmla="*/ 89 w 1012"/>
                <a:gd name="T85" fmla="*/ 57 h 391"/>
                <a:gd name="T86" fmla="*/ 128 w 1012"/>
                <a:gd name="T87" fmla="*/ 39 h 391"/>
                <a:gd name="T88" fmla="*/ 171 w 1012"/>
                <a:gd name="T89" fmla="*/ 26 h 391"/>
                <a:gd name="T90" fmla="*/ 223 w 1012"/>
                <a:gd name="T91" fmla="*/ 16 h 391"/>
                <a:gd name="T92" fmla="*/ 277 w 1012"/>
                <a:gd name="T93" fmla="*/ 7 h 391"/>
                <a:gd name="T94" fmla="*/ 335 w 1012"/>
                <a:gd name="T95" fmla="*/ 3 h 391"/>
                <a:gd name="T96" fmla="*/ 396 w 1012"/>
                <a:gd name="T97" fmla="*/ 0 h 391"/>
                <a:gd name="T98" fmla="*/ 459 w 1012"/>
                <a:gd name="T99" fmla="*/ 0 h 391"/>
                <a:gd name="T100" fmla="*/ 523 w 1012"/>
                <a:gd name="T101" fmla="*/ 5 h 391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12"/>
                <a:gd name="T154" fmla="*/ 0 h 391"/>
                <a:gd name="T155" fmla="*/ 1012 w 1012"/>
                <a:gd name="T156" fmla="*/ 391 h 391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12" h="391">
                  <a:moveTo>
                    <a:pt x="523" y="5"/>
                  </a:moveTo>
                  <a:lnTo>
                    <a:pt x="586" y="11"/>
                  </a:lnTo>
                  <a:lnTo>
                    <a:pt x="649" y="22"/>
                  </a:lnTo>
                  <a:lnTo>
                    <a:pt x="707" y="35"/>
                  </a:lnTo>
                  <a:lnTo>
                    <a:pt x="766" y="50"/>
                  </a:lnTo>
                  <a:lnTo>
                    <a:pt x="818" y="67"/>
                  </a:lnTo>
                  <a:lnTo>
                    <a:pt x="865" y="87"/>
                  </a:lnTo>
                  <a:lnTo>
                    <a:pt x="906" y="108"/>
                  </a:lnTo>
                  <a:lnTo>
                    <a:pt x="943" y="130"/>
                  </a:lnTo>
                  <a:lnTo>
                    <a:pt x="971" y="154"/>
                  </a:lnTo>
                  <a:lnTo>
                    <a:pt x="993" y="180"/>
                  </a:lnTo>
                  <a:lnTo>
                    <a:pt x="1006" y="203"/>
                  </a:lnTo>
                  <a:lnTo>
                    <a:pt x="1012" y="227"/>
                  </a:lnTo>
                  <a:lnTo>
                    <a:pt x="1010" y="251"/>
                  </a:lnTo>
                  <a:lnTo>
                    <a:pt x="999" y="275"/>
                  </a:lnTo>
                  <a:lnTo>
                    <a:pt x="982" y="296"/>
                  </a:lnTo>
                  <a:lnTo>
                    <a:pt x="956" y="318"/>
                  </a:lnTo>
                  <a:lnTo>
                    <a:pt x="924" y="335"/>
                  </a:lnTo>
                  <a:lnTo>
                    <a:pt x="885" y="352"/>
                  </a:lnTo>
                  <a:lnTo>
                    <a:pt x="842" y="365"/>
                  </a:lnTo>
                  <a:lnTo>
                    <a:pt x="790" y="376"/>
                  </a:lnTo>
                  <a:lnTo>
                    <a:pt x="736" y="385"/>
                  </a:lnTo>
                  <a:lnTo>
                    <a:pt x="677" y="389"/>
                  </a:lnTo>
                  <a:lnTo>
                    <a:pt x="616" y="391"/>
                  </a:lnTo>
                  <a:lnTo>
                    <a:pt x="554" y="391"/>
                  </a:lnTo>
                  <a:lnTo>
                    <a:pt x="489" y="387"/>
                  </a:lnTo>
                  <a:lnTo>
                    <a:pt x="426" y="380"/>
                  </a:lnTo>
                  <a:lnTo>
                    <a:pt x="363" y="370"/>
                  </a:lnTo>
                  <a:lnTo>
                    <a:pt x="305" y="357"/>
                  </a:lnTo>
                  <a:lnTo>
                    <a:pt x="249" y="342"/>
                  </a:lnTo>
                  <a:lnTo>
                    <a:pt x="195" y="324"/>
                  </a:lnTo>
                  <a:lnTo>
                    <a:pt x="147" y="305"/>
                  </a:lnTo>
                  <a:lnTo>
                    <a:pt x="106" y="283"/>
                  </a:lnTo>
                  <a:lnTo>
                    <a:pt x="69" y="262"/>
                  </a:lnTo>
                  <a:lnTo>
                    <a:pt x="41" y="238"/>
                  </a:lnTo>
                  <a:lnTo>
                    <a:pt x="19" y="212"/>
                  </a:lnTo>
                  <a:lnTo>
                    <a:pt x="6" y="188"/>
                  </a:lnTo>
                  <a:lnTo>
                    <a:pt x="0" y="164"/>
                  </a:lnTo>
                  <a:lnTo>
                    <a:pt x="2" y="139"/>
                  </a:lnTo>
                  <a:lnTo>
                    <a:pt x="13" y="117"/>
                  </a:lnTo>
                  <a:lnTo>
                    <a:pt x="30" y="95"/>
                  </a:lnTo>
                  <a:lnTo>
                    <a:pt x="56" y="74"/>
                  </a:lnTo>
                  <a:lnTo>
                    <a:pt x="89" y="57"/>
                  </a:lnTo>
                  <a:lnTo>
                    <a:pt x="128" y="39"/>
                  </a:lnTo>
                  <a:lnTo>
                    <a:pt x="171" y="26"/>
                  </a:lnTo>
                  <a:lnTo>
                    <a:pt x="223" y="16"/>
                  </a:lnTo>
                  <a:lnTo>
                    <a:pt x="277" y="7"/>
                  </a:lnTo>
                  <a:lnTo>
                    <a:pt x="335" y="3"/>
                  </a:lnTo>
                  <a:lnTo>
                    <a:pt x="396" y="0"/>
                  </a:lnTo>
                  <a:lnTo>
                    <a:pt x="459" y="0"/>
                  </a:lnTo>
                  <a:lnTo>
                    <a:pt x="523" y="5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90" name="Rectangle 53"/>
            <p:cNvSpPr>
              <a:spLocks noChangeAspect="1" noChangeArrowheads="1"/>
            </p:cNvSpPr>
            <p:nvPr/>
          </p:nvSpPr>
          <p:spPr bwMode="auto">
            <a:xfrm>
              <a:off x="914" y="158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Group 54"/>
          <p:cNvGrpSpPr>
            <a:grpSpLocks noChangeAspect="1"/>
          </p:cNvGrpSpPr>
          <p:nvPr/>
        </p:nvGrpSpPr>
        <p:grpSpPr bwMode="auto">
          <a:xfrm>
            <a:off x="6067425" y="4060825"/>
            <a:ext cx="2578100" cy="2286000"/>
            <a:chOff x="159" y="1154"/>
            <a:chExt cx="2523" cy="2237"/>
          </a:xfrm>
        </p:grpSpPr>
        <p:sp>
          <p:nvSpPr>
            <p:cNvPr id="196687" name="Rectangle 55"/>
            <p:cNvSpPr>
              <a:spLocks noChangeAspect="1" noChangeArrowheads="1"/>
            </p:cNvSpPr>
            <p:nvPr/>
          </p:nvSpPr>
          <p:spPr bwMode="auto">
            <a:xfrm>
              <a:off x="2186" y="1166"/>
              <a:ext cx="111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8" name="Freeform 56"/>
            <p:cNvSpPr>
              <a:spLocks noChangeAspect="1"/>
            </p:cNvSpPr>
            <p:nvPr/>
          </p:nvSpPr>
          <p:spPr bwMode="auto">
            <a:xfrm>
              <a:off x="159" y="1154"/>
              <a:ext cx="2523" cy="2237"/>
            </a:xfrm>
            <a:custGeom>
              <a:avLst/>
              <a:gdLst>
                <a:gd name="T0" fmla="*/ 1363 w 2523"/>
                <a:gd name="T1" fmla="*/ 2 h 2237"/>
                <a:gd name="T2" fmla="*/ 1569 w 2523"/>
                <a:gd name="T3" fmla="*/ 32 h 2237"/>
                <a:gd name="T4" fmla="*/ 1766 w 2523"/>
                <a:gd name="T5" fmla="*/ 93 h 2237"/>
                <a:gd name="T6" fmla="*/ 1950 w 2523"/>
                <a:gd name="T7" fmla="*/ 179 h 2237"/>
                <a:gd name="T8" fmla="*/ 2114 w 2523"/>
                <a:gd name="T9" fmla="*/ 293 h 2237"/>
                <a:gd name="T10" fmla="*/ 2255 w 2523"/>
                <a:gd name="T11" fmla="*/ 429 h 2237"/>
                <a:gd name="T12" fmla="*/ 2369 w 2523"/>
                <a:gd name="T13" fmla="*/ 583 h 2237"/>
                <a:gd name="T14" fmla="*/ 2454 w 2523"/>
                <a:gd name="T15" fmla="*/ 753 h 2237"/>
                <a:gd name="T16" fmla="*/ 2506 w 2523"/>
                <a:gd name="T17" fmla="*/ 930 h 2237"/>
                <a:gd name="T18" fmla="*/ 2523 w 2523"/>
                <a:gd name="T19" fmla="*/ 1116 h 2237"/>
                <a:gd name="T20" fmla="*/ 2506 w 2523"/>
                <a:gd name="T21" fmla="*/ 1299 h 2237"/>
                <a:gd name="T22" fmla="*/ 2454 w 2523"/>
                <a:gd name="T23" fmla="*/ 1479 h 2237"/>
                <a:gd name="T24" fmla="*/ 2372 w 2523"/>
                <a:gd name="T25" fmla="*/ 1647 h 2237"/>
                <a:gd name="T26" fmla="*/ 2257 w 2523"/>
                <a:gd name="T27" fmla="*/ 1803 h 2237"/>
                <a:gd name="T28" fmla="*/ 2116 w 2523"/>
                <a:gd name="T29" fmla="*/ 1939 h 2237"/>
                <a:gd name="T30" fmla="*/ 1952 w 2523"/>
                <a:gd name="T31" fmla="*/ 2053 h 2237"/>
                <a:gd name="T32" fmla="*/ 1770 w 2523"/>
                <a:gd name="T33" fmla="*/ 2142 h 2237"/>
                <a:gd name="T34" fmla="*/ 1573 w 2523"/>
                <a:gd name="T35" fmla="*/ 2202 h 2237"/>
                <a:gd name="T36" fmla="*/ 1368 w 2523"/>
                <a:gd name="T37" fmla="*/ 2232 h 2237"/>
                <a:gd name="T38" fmla="*/ 1160 w 2523"/>
                <a:gd name="T39" fmla="*/ 2232 h 2237"/>
                <a:gd name="T40" fmla="*/ 954 w 2523"/>
                <a:gd name="T41" fmla="*/ 2202 h 2237"/>
                <a:gd name="T42" fmla="*/ 757 w 2523"/>
                <a:gd name="T43" fmla="*/ 2144 h 2237"/>
                <a:gd name="T44" fmla="*/ 574 w 2523"/>
                <a:gd name="T45" fmla="*/ 2055 h 2237"/>
                <a:gd name="T46" fmla="*/ 409 w 2523"/>
                <a:gd name="T47" fmla="*/ 1943 h 2237"/>
                <a:gd name="T48" fmla="*/ 268 w 2523"/>
                <a:gd name="T49" fmla="*/ 1807 h 2237"/>
                <a:gd name="T50" fmla="*/ 154 w 2523"/>
                <a:gd name="T51" fmla="*/ 1651 h 2237"/>
                <a:gd name="T52" fmla="*/ 69 w 2523"/>
                <a:gd name="T53" fmla="*/ 1483 h 2237"/>
                <a:gd name="T54" fmla="*/ 17 w 2523"/>
                <a:gd name="T55" fmla="*/ 1304 h 2237"/>
                <a:gd name="T56" fmla="*/ 0 w 2523"/>
                <a:gd name="T57" fmla="*/ 1120 h 2237"/>
                <a:gd name="T58" fmla="*/ 17 w 2523"/>
                <a:gd name="T59" fmla="*/ 935 h 2237"/>
                <a:gd name="T60" fmla="*/ 69 w 2523"/>
                <a:gd name="T61" fmla="*/ 755 h 2237"/>
                <a:gd name="T62" fmla="*/ 152 w 2523"/>
                <a:gd name="T63" fmla="*/ 587 h 2237"/>
                <a:gd name="T64" fmla="*/ 266 w 2523"/>
                <a:gd name="T65" fmla="*/ 431 h 2237"/>
                <a:gd name="T66" fmla="*/ 407 w 2523"/>
                <a:gd name="T67" fmla="*/ 295 h 2237"/>
                <a:gd name="T68" fmla="*/ 571 w 2523"/>
                <a:gd name="T69" fmla="*/ 183 h 2237"/>
                <a:gd name="T70" fmla="*/ 753 w 2523"/>
                <a:gd name="T71" fmla="*/ 95 h 2237"/>
                <a:gd name="T72" fmla="*/ 950 w 2523"/>
                <a:gd name="T73" fmla="*/ 34 h 2237"/>
                <a:gd name="T74" fmla="*/ 1156 w 2523"/>
                <a:gd name="T75" fmla="*/ 4 h 223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3"/>
                <a:gd name="T115" fmla="*/ 0 h 2237"/>
                <a:gd name="T116" fmla="*/ 2523 w 2523"/>
                <a:gd name="T117" fmla="*/ 2237 h 223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3" h="2237">
                  <a:moveTo>
                    <a:pt x="1259" y="0"/>
                  </a:moveTo>
                  <a:lnTo>
                    <a:pt x="1363" y="2"/>
                  </a:lnTo>
                  <a:lnTo>
                    <a:pt x="1467" y="15"/>
                  </a:lnTo>
                  <a:lnTo>
                    <a:pt x="1569" y="32"/>
                  </a:lnTo>
                  <a:lnTo>
                    <a:pt x="1668" y="58"/>
                  </a:lnTo>
                  <a:lnTo>
                    <a:pt x="1766" y="93"/>
                  </a:lnTo>
                  <a:lnTo>
                    <a:pt x="1861" y="134"/>
                  </a:lnTo>
                  <a:lnTo>
                    <a:pt x="1950" y="179"/>
                  </a:lnTo>
                  <a:lnTo>
                    <a:pt x="2034" y="233"/>
                  </a:lnTo>
                  <a:lnTo>
                    <a:pt x="2114" y="293"/>
                  </a:lnTo>
                  <a:lnTo>
                    <a:pt x="2188" y="358"/>
                  </a:lnTo>
                  <a:lnTo>
                    <a:pt x="2255" y="429"/>
                  </a:lnTo>
                  <a:lnTo>
                    <a:pt x="2315" y="505"/>
                  </a:lnTo>
                  <a:lnTo>
                    <a:pt x="2369" y="583"/>
                  </a:lnTo>
                  <a:lnTo>
                    <a:pt x="2415" y="667"/>
                  </a:lnTo>
                  <a:lnTo>
                    <a:pt x="2454" y="753"/>
                  </a:lnTo>
                  <a:lnTo>
                    <a:pt x="2484" y="842"/>
                  </a:lnTo>
                  <a:lnTo>
                    <a:pt x="2506" y="930"/>
                  </a:lnTo>
                  <a:lnTo>
                    <a:pt x="2519" y="1023"/>
                  </a:lnTo>
                  <a:lnTo>
                    <a:pt x="2523" y="1116"/>
                  </a:lnTo>
                  <a:lnTo>
                    <a:pt x="2519" y="1209"/>
                  </a:lnTo>
                  <a:lnTo>
                    <a:pt x="2506" y="1299"/>
                  </a:lnTo>
                  <a:lnTo>
                    <a:pt x="2484" y="1390"/>
                  </a:lnTo>
                  <a:lnTo>
                    <a:pt x="2454" y="1479"/>
                  </a:lnTo>
                  <a:lnTo>
                    <a:pt x="2417" y="1565"/>
                  </a:lnTo>
                  <a:lnTo>
                    <a:pt x="2372" y="1647"/>
                  </a:lnTo>
                  <a:lnTo>
                    <a:pt x="2317" y="1727"/>
                  </a:lnTo>
                  <a:lnTo>
                    <a:pt x="2257" y="1803"/>
                  </a:lnTo>
                  <a:lnTo>
                    <a:pt x="2190" y="1874"/>
                  </a:lnTo>
                  <a:lnTo>
                    <a:pt x="2116" y="1939"/>
                  </a:lnTo>
                  <a:lnTo>
                    <a:pt x="2038" y="1999"/>
                  </a:lnTo>
                  <a:lnTo>
                    <a:pt x="1952" y="2053"/>
                  </a:lnTo>
                  <a:lnTo>
                    <a:pt x="1863" y="2101"/>
                  </a:lnTo>
                  <a:lnTo>
                    <a:pt x="1770" y="2142"/>
                  </a:lnTo>
                  <a:lnTo>
                    <a:pt x="1673" y="2174"/>
                  </a:lnTo>
                  <a:lnTo>
                    <a:pt x="1573" y="2202"/>
                  </a:lnTo>
                  <a:lnTo>
                    <a:pt x="1471" y="2221"/>
                  </a:lnTo>
                  <a:lnTo>
                    <a:pt x="1368" y="2232"/>
                  </a:lnTo>
                  <a:lnTo>
                    <a:pt x="1264" y="2237"/>
                  </a:lnTo>
                  <a:lnTo>
                    <a:pt x="1160" y="2232"/>
                  </a:lnTo>
                  <a:lnTo>
                    <a:pt x="1056" y="2221"/>
                  </a:lnTo>
                  <a:lnTo>
                    <a:pt x="954" y="2202"/>
                  </a:lnTo>
                  <a:lnTo>
                    <a:pt x="855" y="2176"/>
                  </a:lnTo>
                  <a:lnTo>
                    <a:pt x="757" y="2144"/>
                  </a:lnTo>
                  <a:lnTo>
                    <a:pt x="662" y="2103"/>
                  </a:lnTo>
                  <a:lnTo>
                    <a:pt x="574" y="2055"/>
                  </a:lnTo>
                  <a:lnTo>
                    <a:pt x="489" y="2001"/>
                  </a:lnTo>
                  <a:lnTo>
                    <a:pt x="409" y="1943"/>
                  </a:lnTo>
                  <a:lnTo>
                    <a:pt x="336" y="1876"/>
                  </a:lnTo>
                  <a:lnTo>
                    <a:pt x="268" y="1807"/>
                  </a:lnTo>
                  <a:lnTo>
                    <a:pt x="208" y="1731"/>
                  </a:lnTo>
                  <a:lnTo>
                    <a:pt x="154" y="1651"/>
                  </a:lnTo>
                  <a:lnTo>
                    <a:pt x="108" y="1569"/>
                  </a:lnTo>
                  <a:lnTo>
                    <a:pt x="69" y="1483"/>
                  </a:lnTo>
                  <a:lnTo>
                    <a:pt x="39" y="1394"/>
                  </a:lnTo>
                  <a:lnTo>
                    <a:pt x="17" y="1304"/>
                  </a:lnTo>
                  <a:lnTo>
                    <a:pt x="4" y="1213"/>
                  </a:lnTo>
                  <a:lnTo>
                    <a:pt x="0" y="1120"/>
                  </a:lnTo>
                  <a:lnTo>
                    <a:pt x="4" y="1027"/>
                  </a:lnTo>
                  <a:lnTo>
                    <a:pt x="17" y="935"/>
                  </a:lnTo>
                  <a:lnTo>
                    <a:pt x="39" y="846"/>
                  </a:lnTo>
                  <a:lnTo>
                    <a:pt x="69" y="755"/>
                  </a:lnTo>
                  <a:lnTo>
                    <a:pt x="106" y="671"/>
                  </a:lnTo>
                  <a:lnTo>
                    <a:pt x="152" y="587"/>
                  </a:lnTo>
                  <a:lnTo>
                    <a:pt x="206" y="507"/>
                  </a:lnTo>
                  <a:lnTo>
                    <a:pt x="266" y="431"/>
                  </a:lnTo>
                  <a:lnTo>
                    <a:pt x="333" y="362"/>
                  </a:lnTo>
                  <a:lnTo>
                    <a:pt x="407" y="295"/>
                  </a:lnTo>
                  <a:lnTo>
                    <a:pt x="485" y="237"/>
                  </a:lnTo>
                  <a:lnTo>
                    <a:pt x="571" y="183"/>
                  </a:lnTo>
                  <a:lnTo>
                    <a:pt x="660" y="136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50" y="34"/>
                  </a:lnTo>
                  <a:lnTo>
                    <a:pt x="1052" y="15"/>
                  </a:lnTo>
                  <a:lnTo>
                    <a:pt x="1156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57"/>
          <p:cNvGrpSpPr>
            <a:grpSpLocks noChangeAspect="1"/>
          </p:cNvGrpSpPr>
          <p:nvPr/>
        </p:nvGrpSpPr>
        <p:grpSpPr bwMode="auto">
          <a:xfrm>
            <a:off x="7064375" y="5011738"/>
            <a:ext cx="1357313" cy="1052512"/>
            <a:chOff x="1135" y="2084"/>
            <a:chExt cx="1328" cy="1030"/>
          </a:xfrm>
        </p:grpSpPr>
        <p:sp>
          <p:nvSpPr>
            <p:cNvPr id="196685" name="Rectangle 58"/>
            <p:cNvSpPr>
              <a:spLocks noChangeAspect="1" noChangeArrowheads="1"/>
            </p:cNvSpPr>
            <p:nvPr/>
          </p:nvSpPr>
          <p:spPr bwMode="auto">
            <a:xfrm>
              <a:off x="1135" y="2451"/>
              <a:ext cx="110" cy="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6" name="Freeform 59"/>
            <p:cNvSpPr>
              <a:spLocks noChangeAspect="1"/>
            </p:cNvSpPr>
            <p:nvPr/>
          </p:nvSpPr>
          <p:spPr bwMode="auto">
            <a:xfrm>
              <a:off x="1178" y="2084"/>
              <a:ext cx="1285" cy="1030"/>
            </a:xfrm>
            <a:custGeom>
              <a:avLst/>
              <a:gdLst>
                <a:gd name="T0" fmla="*/ 422 w 1285"/>
                <a:gd name="T1" fmla="*/ 162 h 1030"/>
                <a:gd name="T2" fmla="*/ 487 w 1285"/>
                <a:gd name="T3" fmla="*/ 123 h 1030"/>
                <a:gd name="T4" fmla="*/ 556 w 1285"/>
                <a:gd name="T5" fmla="*/ 89 h 1030"/>
                <a:gd name="T6" fmla="*/ 626 w 1285"/>
                <a:gd name="T7" fmla="*/ 61 h 1030"/>
                <a:gd name="T8" fmla="*/ 695 w 1285"/>
                <a:gd name="T9" fmla="*/ 37 h 1030"/>
                <a:gd name="T10" fmla="*/ 764 w 1285"/>
                <a:gd name="T11" fmla="*/ 18 h 1030"/>
                <a:gd name="T12" fmla="*/ 831 w 1285"/>
                <a:gd name="T13" fmla="*/ 7 h 1030"/>
                <a:gd name="T14" fmla="*/ 896 w 1285"/>
                <a:gd name="T15" fmla="*/ 0 h 1030"/>
                <a:gd name="T16" fmla="*/ 959 w 1285"/>
                <a:gd name="T17" fmla="*/ 0 h 1030"/>
                <a:gd name="T18" fmla="*/ 1017 w 1285"/>
                <a:gd name="T19" fmla="*/ 7 h 1030"/>
                <a:gd name="T20" fmla="*/ 1071 w 1285"/>
                <a:gd name="T21" fmla="*/ 18 h 1030"/>
                <a:gd name="T22" fmla="*/ 1121 w 1285"/>
                <a:gd name="T23" fmla="*/ 35 h 1030"/>
                <a:gd name="T24" fmla="*/ 1164 w 1285"/>
                <a:gd name="T25" fmla="*/ 59 h 1030"/>
                <a:gd name="T26" fmla="*/ 1203 w 1285"/>
                <a:gd name="T27" fmla="*/ 87 h 1030"/>
                <a:gd name="T28" fmla="*/ 1234 w 1285"/>
                <a:gd name="T29" fmla="*/ 121 h 1030"/>
                <a:gd name="T30" fmla="*/ 1257 w 1285"/>
                <a:gd name="T31" fmla="*/ 160 h 1030"/>
                <a:gd name="T32" fmla="*/ 1275 w 1285"/>
                <a:gd name="T33" fmla="*/ 201 h 1030"/>
                <a:gd name="T34" fmla="*/ 1283 w 1285"/>
                <a:gd name="T35" fmla="*/ 249 h 1030"/>
                <a:gd name="T36" fmla="*/ 1285 w 1285"/>
                <a:gd name="T37" fmla="*/ 298 h 1030"/>
                <a:gd name="T38" fmla="*/ 1279 w 1285"/>
                <a:gd name="T39" fmla="*/ 350 h 1030"/>
                <a:gd name="T40" fmla="*/ 1266 w 1285"/>
                <a:gd name="T41" fmla="*/ 404 h 1030"/>
                <a:gd name="T42" fmla="*/ 1247 w 1285"/>
                <a:gd name="T43" fmla="*/ 458 h 1030"/>
                <a:gd name="T44" fmla="*/ 1218 w 1285"/>
                <a:gd name="T45" fmla="*/ 514 h 1030"/>
                <a:gd name="T46" fmla="*/ 1184 w 1285"/>
                <a:gd name="T47" fmla="*/ 570 h 1030"/>
                <a:gd name="T48" fmla="*/ 1145 w 1285"/>
                <a:gd name="T49" fmla="*/ 624 h 1030"/>
                <a:gd name="T50" fmla="*/ 1097 w 1285"/>
                <a:gd name="T51" fmla="*/ 678 h 1030"/>
                <a:gd name="T52" fmla="*/ 1045 w 1285"/>
                <a:gd name="T53" fmla="*/ 730 h 1030"/>
                <a:gd name="T54" fmla="*/ 989 w 1285"/>
                <a:gd name="T55" fmla="*/ 780 h 1030"/>
                <a:gd name="T56" fmla="*/ 928 w 1285"/>
                <a:gd name="T57" fmla="*/ 827 h 1030"/>
                <a:gd name="T58" fmla="*/ 866 w 1285"/>
                <a:gd name="T59" fmla="*/ 870 h 1030"/>
                <a:gd name="T60" fmla="*/ 799 w 1285"/>
                <a:gd name="T61" fmla="*/ 907 h 1030"/>
                <a:gd name="T62" fmla="*/ 729 w 1285"/>
                <a:gd name="T63" fmla="*/ 942 h 1030"/>
                <a:gd name="T64" fmla="*/ 660 w 1285"/>
                <a:gd name="T65" fmla="*/ 972 h 1030"/>
                <a:gd name="T66" fmla="*/ 591 w 1285"/>
                <a:gd name="T67" fmla="*/ 996 h 1030"/>
                <a:gd name="T68" fmla="*/ 522 w 1285"/>
                <a:gd name="T69" fmla="*/ 1013 h 1030"/>
                <a:gd name="T70" fmla="*/ 455 w 1285"/>
                <a:gd name="T71" fmla="*/ 1026 h 1030"/>
                <a:gd name="T72" fmla="*/ 390 w 1285"/>
                <a:gd name="T73" fmla="*/ 1030 h 1030"/>
                <a:gd name="T74" fmla="*/ 327 w 1285"/>
                <a:gd name="T75" fmla="*/ 1030 h 1030"/>
                <a:gd name="T76" fmla="*/ 269 w 1285"/>
                <a:gd name="T77" fmla="*/ 1026 h 1030"/>
                <a:gd name="T78" fmla="*/ 214 w 1285"/>
                <a:gd name="T79" fmla="*/ 1013 h 1030"/>
                <a:gd name="T80" fmla="*/ 165 w 1285"/>
                <a:gd name="T81" fmla="*/ 996 h 1030"/>
                <a:gd name="T82" fmla="*/ 121 w 1285"/>
                <a:gd name="T83" fmla="*/ 972 h 1030"/>
                <a:gd name="T84" fmla="*/ 85 w 1285"/>
                <a:gd name="T85" fmla="*/ 944 h 1030"/>
                <a:gd name="T86" fmla="*/ 52 w 1285"/>
                <a:gd name="T87" fmla="*/ 909 h 1030"/>
                <a:gd name="T88" fmla="*/ 28 w 1285"/>
                <a:gd name="T89" fmla="*/ 873 h 1030"/>
                <a:gd name="T90" fmla="*/ 13 w 1285"/>
                <a:gd name="T91" fmla="*/ 829 h 1030"/>
                <a:gd name="T92" fmla="*/ 2 w 1285"/>
                <a:gd name="T93" fmla="*/ 784 h 1030"/>
                <a:gd name="T94" fmla="*/ 0 w 1285"/>
                <a:gd name="T95" fmla="*/ 734 h 1030"/>
                <a:gd name="T96" fmla="*/ 7 w 1285"/>
                <a:gd name="T97" fmla="*/ 683 h 1030"/>
                <a:gd name="T98" fmla="*/ 20 w 1285"/>
                <a:gd name="T99" fmla="*/ 629 h 1030"/>
                <a:gd name="T100" fmla="*/ 39 w 1285"/>
                <a:gd name="T101" fmla="*/ 572 h 1030"/>
                <a:gd name="T102" fmla="*/ 67 w 1285"/>
                <a:gd name="T103" fmla="*/ 516 h 1030"/>
                <a:gd name="T104" fmla="*/ 102 w 1285"/>
                <a:gd name="T105" fmla="*/ 462 h 1030"/>
                <a:gd name="T106" fmla="*/ 143 w 1285"/>
                <a:gd name="T107" fmla="*/ 406 h 1030"/>
                <a:gd name="T108" fmla="*/ 188 w 1285"/>
                <a:gd name="T109" fmla="*/ 352 h 1030"/>
                <a:gd name="T110" fmla="*/ 240 w 1285"/>
                <a:gd name="T111" fmla="*/ 300 h 1030"/>
                <a:gd name="T112" fmla="*/ 297 w 1285"/>
                <a:gd name="T113" fmla="*/ 251 h 1030"/>
                <a:gd name="T114" fmla="*/ 357 w 1285"/>
                <a:gd name="T115" fmla="*/ 205 h 1030"/>
                <a:gd name="T116" fmla="*/ 422 w 1285"/>
                <a:gd name="T117" fmla="*/ 162 h 103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w 1285"/>
                <a:gd name="T178" fmla="*/ 0 h 1030"/>
                <a:gd name="T179" fmla="*/ 1285 w 1285"/>
                <a:gd name="T180" fmla="*/ 1030 h 1030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T177" t="T178" r="T179" b="T180"/>
              <a:pathLst>
                <a:path w="1285" h="1030">
                  <a:moveTo>
                    <a:pt x="422" y="162"/>
                  </a:moveTo>
                  <a:lnTo>
                    <a:pt x="487" y="123"/>
                  </a:lnTo>
                  <a:lnTo>
                    <a:pt x="556" y="89"/>
                  </a:lnTo>
                  <a:lnTo>
                    <a:pt x="626" y="61"/>
                  </a:lnTo>
                  <a:lnTo>
                    <a:pt x="695" y="37"/>
                  </a:lnTo>
                  <a:lnTo>
                    <a:pt x="764" y="18"/>
                  </a:lnTo>
                  <a:lnTo>
                    <a:pt x="831" y="7"/>
                  </a:lnTo>
                  <a:lnTo>
                    <a:pt x="896" y="0"/>
                  </a:lnTo>
                  <a:lnTo>
                    <a:pt x="959" y="0"/>
                  </a:lnTo>
                  <a:lnTo>
                    <a:pt x="1017" y="7"/>
                  </a:lnTo>
                  <a:lnTo>
                    <a:pt x="1071" y="18"/>
                  </a:lnTo>
                  <a:lnTo>
                    <a:pt x="1121" y="35"/>
                  </a:lnTo>
                  <a:lnTo>
                    <a:pt x="1164" y="59"/>
                  </a:lnTo>
                  <a:lnTo>
                    <a:pt x="1203" y="87"/>
                  </a:lnTo>
                  <a:lnTo>
                    <a:pt x="1234" y="121"/>
                  </a:lnTo>
                  <a:lnTo>
                    <a:pt x="1257" y="160"/>
                  </a:lnTo>
                  <a:lnTo>
                    <a:pt x="1275" y="201"/>
                  </a:lnTo>
                  <a:lnTo>
                    <a:pt x="1283" y="249"/>
                  </a:lnTo>
                  <a:lnTo>
                    <a:pt x="1285" y="298"/>
                  </a:lnTo>
                  <a:lnTo>
                    <a:pt x="1279" y="350"/>
                  </a:lnTo>
                  <a:lnTo>
                    <a:pt x="1266" y="404"/>
                  </a:lnTo>
                  <a:lnTo>
                    <a:pt x="1247" y="458"/>
                  </a:lnTo>
                  <a:lnTo>
                    <a:pt x="1218" y="514"/>
                  </a:lnTo>
                  <a:lnTo>
                    <a:pt x="1184" y="570"/>
                  </a:lnTo>
                  <a:lnTo>
                    <a:pt x="1145" y="624"/>
                  </a:lnTo>
                  <a:lnTo>
                    <a:pt x="1097" y="678"/>
                  </a:lnTo>
                  <a:lnTo>
                    <a:pt x="1045" y="730"/>
                  </a:lnTo>
                  <a:lnTo>
                    <a:pt x="989" y="780"/>
                  </a:lnTo>
                  <a:lnTo>
                    <a:pt x="928" y="827"/>
                  </a:lnTo>
                  <a:lnTo>
                    <a:pt x="866" y="870"/>
                  </a:lnTo>
                  <a:lnTo>
                    <a:pt x="799" y="907"/>
                  </a:lnTo>
                  <a:lnTo>
                    <a:pt x="729" y="942"/>
                  </a:lnTo>
                  <a:lnTo>
                    <a:pt x="660" y="972"/>
                  </a:lnTo>
                  <a:lnTo>
                    <a:pt x="591" y="996"/>
                  </a:lnTo>
                  <a:lnTo>
                    <a:pt x="522" y="1013"/>
                  </a:lnTo>
                  <a:lnTo>
                    <a:pt x="455" y="1026"/>
                  </a:lnTo>
                  <a:lnTo>
                    <a:pt x="390" y="1030"/>
                  </a:lnTo>
                  <a:lnTo>
                    <a:pt x="327" y="1030"/>
                  </a:lnTo>
                  <a:lnTo>
                    <a:pt x="269" y="1026"/>
                  </a:lnTo>
                  <a:lnTo>
                    <a:pt x="214" y="1013"/>
                  </a:lnTo>
                  <a:lnTo>
                    <a:pt x="165" y="996"/>
                  </a:lnTo>
                  <a:lnTo>
                    <a:pt x="121" y="972"/>
                  </a:lnTo>
                  <a:lnTo>
                    <a:pt x="85" y="944"/>
                  </a:lnTo>
                  <a:lnTo>
                    <a:pt x="52" y="909"/>
                  </a:lnTo>
                  <a:lnTo>
                    <a:pt x="28" y="873"/>
                  </a:lnTo>
                  <a:lnTo>
                    <a:pt x="13" y="829"/>
                  </a:lnTo>
                  <a:lnTo>
                    <a:pt x="2" y="784"/>
                  </a:lnTo>
                  <a:lnTo>
                    <a:pt x="0" y="734"/>
                  </a:lnTo>
                  <a:lnTo>
                    <a:pt x="7" y="683"/>
                  </a:lnTo>
                  <a:lnTo>
                    <a:pt x="20" y="629"/>
                  </a:lnTo>
                  <a:lnTo>
                    <a:pt x="39" y="572"/>
                  </a:lnTo>
                  <a:lnTo>
                    <a:pt x="67" y="516"/>
                  </a:lnTo>
                  <a:lnTo>
                    <a:pt x="102" y="462"/>
                  </a:lnTo>
                  <a:lnTo>
                    <a:pt x="143" y="406"/>
                  </a:lnTo>
                  <a:lnTo>
                    <a:pt x="188" y="352"/>
                  </a:lnTo>
                  <a:lnTo>
                    <a:pt x="240" y="300"/>
                  </a:lnTo>
                  <a:lnTo>
                    <a:pt x="297" y="251"/>
                  </a:lnTo>
                  <a:lnTo>
                    <a:pt x="357" y="205"/>
                  </a:lnTo>
                  <a:lnTo>
                    <a:pt x="422" y="16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60"/>
          <p:cNvGrpSpPr>
            <a:grpSpLocks noChangeAspect="1"/>
          </p:cNvGrpSpPr>
          <p:nvPr/>
        </p:nvGrpSpPr>
        <p:grpSpPr bwMode="auto">
          <a:xfrm>
            <a:off x="6096000" y="4343400"/>
            <a:ext cx="2432050" cy="1789113"/>
            <a:chOff x="187" y="1430"/>
            <a:chExt cx="2380" cy="1751"/>
          </a:xfrm>
        </p:grpSpPr>
        <p:sp>
          <p:nvSpPr>
            <p:cNvPr id="196683" name="Rectangle 61"/>
            <p:cNvSpPr>
              <a:spLocks noChangeAspect="1" noChangeArrowheads="1"/>
            </p:cNvSpPr>
            <p:nvPr/>
          </p:nvSpPr>
          <p:spPr bwMode="auto">
            <a:xfrm>
              <a:off x="417" y="2643"/>
              <a:ext cx="110" cy="2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4" name="Freeform 62"/>
            <p:cNvSpPr>
              <a:spLocks noChangeAspect="1"/>
            </p:cNvSpPr>
            <p:nvPr/>
          </p:nvSpPr>
          <p:spPr bwMode="auto">
            <a:xfrm>
              <a:off x="187" y="1430"/>
              <a:ext cx="2380" cy="1751"/>
            </a:xfrm>
            <a:custGeom>
              <a:avLst/>
              <a:gdLst>
                <a:gd name="T0" fmla="*/ 1275 w 2380"/>
                <a:gd name="T1" fmla="*/ 0 h 1751"/>
                <a:gd name="T2" fmla="*/ 1474 w 2380"/>
                <a:gd name="T3" fmla="*/ 22 h 1751"/>
                <a:gd name="T4" fmla="*/ 1664 w 2380"/>
                <a:gd name="T5" fmla="*/ 67 h 1751"/>
                <a:gd name="T6" fmla="*/ 1842 w 2380"/>
                <a:gd name="T7" fmla="*/ 136 h 1751"/>
                <a:gd name="T8" fmla="*/ 2002 w 2380"/>
                <a:gd name="T9" fmla="*/ 227 h 1751"/>
                <a:gd name="T10" fmla="*/ 2138 w 2380"/>
                <a:gd name="T11" fmla="*/ 335 h 1751"/>
                <a:gd name="T12" fmla="*/ 2246 w 2380"/>
                <a:gd name="T13" fmla="*/ 460 h 1751"/>
                <a:gd name="T14" fmla="*/ 2324 w 2380"/>
                <a:gd name="T15" fmla="*/ 596 h 1751"/>
                <a:gd name="T16" fmla="*/ 2370 w 2380"/>
                <a:gd name="T17" fmla="*/ 741 h 1751"/>
                <a:gd name="T18" fmla="*/ 2380 w 2380"/>
                <a:gd name="T19" fmla="*/ 887 h 1751"/>
                <a:gd name="T20" fmla="*/ 2359 w 2380"/>
                <a:gd name="T21" fmla="*/ 1036 h 1751"/>
                <a:gd name="T22" fmla="*/ 2302 w 2380"/>
                <a:gd name="T23" fmla="*/ 1179 h 1751"/>
                <a:gd name="T24" fmla="*/ 2214 w 2380"/>
                <a:gd name="T25" fmla="*/ 1313 h 1751"/>
                <a:gd name="T26" fmla="*/ 2097 w 2380"/>
                <a:gd name="T27" fmla="*/ 1436 h 1751"/>
                <a:gd name="T28" fmla="*/ 1954 w 2380"/>
                <a:gd name="T29" fmla="*/ 1542 h 1751"/>
                <a:gd name="T30" fmla="*/ 1787 w 2380"/>
                <a:gd name="T31" fmla="*/ 1628 h 1751"/>
                <a:gd name="T32" fmla="*/ 1606 w 2380"/>
                <a:gd name="T33" fmla="*/ 1693 h 1751"/>
                <a:gd name="T34" fmla="*/ 1411 w 2380"/>
                <a:gd name="T35" fmla="*/ 1736 h 1751"/>
                <a:gd name="T36" fmla="*/ 1210 w 2380"/>
                <a:gd name="T37" fmla="*/ 1751 h 1751"/>
                <a:gd name="T38" fmla="*/ 1009 w 2380"/>
                <a:gd name="T39" fmla="*/ 1742 h 1751"/>
                <a:gd name="T40" fmla="*/ 812 w 2380"/>
                <a:gd name="T41" fmla="*/ 1710 h 1751"/>
                <a:gd name="T42" fmla="*/ 626 w 2380"/>
                <a:gd name="T43" fmla="*/ 1652 h 1751"/>
                <a:gd name="T44" fmla="*/ 457 w 2380"/>
                <a:gd name="T45" fmla="*/ 1572 h 1751"/>
                <a:gd name="T46" fmla="*/ 310 w 2380"/>
                <a:gd name="T47" fmla="*/ 1473 h 1751"/>
                <a:gd name="T48" fmla="*/ 186 w 2380"/>
                <a:gd name="T49" fmla="*/ 1356 h 1751"/>
                <a:gd name="T50" fmla="*/ 93 w 2380"/>
                <a:gd name="T51" fmla="*/ 1226 h 1751"/>
                <a:gd name="T52" fmla="*/ 31 w 2380"/>
                <a:gd name="T53" fmla="*/ 1084 h 1751"/>
                <a:gd name="T54" fmla="*/ 2 w 2380"/>
                <a:gd name="T55" fmla="*/ 937 h 1751"/>
                <a:gd name="T56" fmla="*/ 9 w 2380"/>
                <a:gd name="T57" fmla="*/ 788 h 1751"/>
                <a:gd name="T58" fmla="*/ 48 w 2380"/>
                <a:gd name="T59" fmla="*/ 643 h 1751"/>
                <a:gd name="T60" fmla="*/ 119 w 2380"/>
                <a:gd name="T61" fmla="*/ 503 h 1751"/>
                <a:gd name="T62" fmla="*/ 223 w 2380"/>
                <a:gd name="T63" fmla="*/ 374 h 1751"/>
                <a:gd name="T64" fmla="*/ 355 w 2380"/>
                <a:gd name="T65" fmla="*/ 259 h 1751"/>
                <a:gd name="T66" fmla="*/ 509 w 2380"/>
                <a:gd name="T67" fmla="*/ 164 h 1751"/>
                <a:gd name="T68" fmla="*/ 684 w 2380"/>
                <a:gd name="T69" fmla="*/ 86 h 1751"/>
                <a:gd name="T70" fmla="*/ 874 w 2380"/>
                <a:gd name="T71" fmla="*/ 35 h 1751"/>
                <a:gd name="T72" fmla="*/ 1071 w 2380"/>
                <a:gd name="T73" fmla="*/ 4 h 17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80"/>
                <a:gd name="T112" fmla="*/ 0 h 1751"/>
                <a:gd name="T113" fmla="*/ 2380 w 2380"/>
                <a:gd name="T114" fmla="*/ 1751 h 175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80" h="1751">
                  <a:moveTo>
                    <a:pt x="1173" y="0"/>
                  </a:moveTo>
                  <a:lnTo>
                    <a:pt x="1275" y="0"/>
                  </a:lnTo>
                  <a:lnTo>
                    <a:pt x="1374" y="9"/>
                  </a:lnTo>
                  <a:lnTo>
                    <a:pt x="1474" y="22"/>
                  </a:lnTo>
                  <a:lnTo>
                    <a:pt x="1571" y="41"/>
                  </a:lnTo>
                  <a:lnTo>
                    <a:pt x="1664" y="67"/>
                  </a:lnTo>
                  <a:lnTo>
                    <a:pt x="1755" y="99"/>
                  </a:lnTo>
                  <a:lnTo>
                    <a:pt x="1842" y="136"/>
                  </a:lnTo>
                  <a:lnTo>
                    <a:pt x="1924" y="179"/>
                  </a:lnTo>
                  <a:lnTo>
                    <a:pt x="2002" y="227"/>
                  </a:lnTo>
                  <a:lnTo>
                    <a:pt x="2073" y="279"/>
                  </a:lnTo>
                  <a:lnTo>
                    <a:pt x="2138" y="335"/>
                  </a:lnTo>
                  <a:lnTo>
                    <a:pt x="2194" y="395"/>
                  </a:lnTo>
                  <a:lnTo>
                    <a:pt x="2246" y="460"/>
                  </a:lnTo>
                  <a:lnTo>
                    <a:pt x="2289" y="527"/>
                  </a:lnTo>
                  <a:lnTo>
                    <a:pt x="2324" y="596"/>
                  </a:lnTo>
                  <a:lnTo>
                    <a:pt x="2350" y="667"/>
                  </a:lnTo>
                  <a:lnTo>
                    <a:pt x="2370" y="741"/>
                  </a:lnTo>
                  <a:lnTo>
                    <a:pt x="2380" y="814"/>
                  </a:lnTo>
                  <a:lnTo>
                    <a:pt x="2380" y="887"/>
                  </a:lnTo>
                  <a:lnTo>
                    <a:pt x="2374" y="963"/>
                  </a:lnTo>
                  <a:lnTo>
                    <a:pt x="2359" y="1036"/>
                  </a:lnTo>
                  <a:lnTo>
                    <a:pt x="2335" y="1108"/>
                  </a:lnTo>
                  <a:lnTo>
                    <a:pt x="2302" y="1179"/>
                  </a:lnTo>
                  <a:lnTo>
                    <a:pt x="2261" y="1248"/>
                  </a:lnTo>
                  <a:lnTo>
                    <a:pt x="2214" y="1313"/>
                  </a:lnTo>
                  <a:lnTo>
                    <a:pt x="2160" y="1378"/>
                  </a:lnTo>
                  <a:lnTo>
                    <a:pt x="2097" y="1436"/>
                  </a:lnTo>
                  <a:lnTo>
                    <a:pt x="2028" y="1492"/>
                  </a:lnTo>
                  <a:lnTo>
                    <a:pt x="1954" y="1542"/>
                  </a:lnTo>
                  <a:lnTo>
                    <a:pt x="1872" y="1587"/>
                  </a:lnTo>
                  <a:lnTo>
                    <a:pt x="1787" y="1628"/>
                  </a:lnTo>
                  <a:lnTo>
                    <a:pt x="1699" y="1665"/>
                  </a:lnTo>
                  <a:lnTo>
                    <a:pt x="1606" y="1693"/>
                  </a:lnTo>
                  <a:lnTo>
                    <a:pt x="1508" y="1717"/>
                  </a:lnTo>
                  <a:lnTo>
                    <a:pt x="1411" y="1736"/>
                  </a:lnTo>
                  <a:lnTo>
                    <a:pt x="1309" y="1747"/>
                  </a:lnTo>
                  <a:lnTo>
                    <a:pt x="1210" y="1751"/>
                  </a:lnTo>
                  <a:lnTo>
                    <a:pt x="1108" y="1751"/>
                  </a:lnTo>
                  <a:lnTo>
                    <a:pt x="1009" y="1742"/>
                  </a:lnTo>
                  <a:lnTo>
                    <a:pt x="909" y="1730"/>
                  </a:lnTo>
                  <a:lnTo>
                    <a:pt x="812" y="1710"/>
                  </a:lnTo>
                  <a:lnTo>
                    <a:pt x="719" y="1684"/>
                  </a:lnTo>
                  <a:lnTo>
                    <a:pt x="626" y="1652"/>
                  </a:lnTo>
                  <a:lnTo>
                    <a:pt x="539" y="1615"/>
                  </a:lnTo>
                  <a:lnTo>
                    <a:pt x="457" y="1572"/>
                  </a:lnTo>
                  <a:lnTo>
                    <a:pt x="381" y="1524"/>
                  </a:lnTo>
                  <a:lnTo>
                    <a:pt x="310" y="1473"/>
                  </a:lnTo>
                  <a:lnTo>
                    <a:pt x="245" y="1416"/>
                  </a:lnTo>
                  <a:lnTo>
                    <a:pt x="186" y="1356"/>
                  </a:lnTo>
                  <a:lnTo>
                    <a:pt x="137" y="1291"/>
                  </a:lnTo>
                  <a:lnTo>
                    <a:pt x="93" y="1226"/>
                  </a:lnTo>
                  <a:lnTo>
                    <a:pt x="59" y="1155"/>
                  </a:lnTo>
                  <a:lnTo>
                    <a:pt x="31" y="1084"/>
                  </a:lnTo>
                  <a:lnTo>
                    <a:pt x="13" y="1011"/>
                  </a:lnTo>
                  <a:lnTo>
                    <a:pt x="2" y="937"/>
                  </a:lnTo>
                  <a:lnTo>
                    <a:pt x="0" y="864"/>
                  </a:lnTo>
                  <a:lnTo>
                    <a:pt x="9" y="788"/>
                  </a:lnTo>
                  <a:lnTo>
                    <a:pt x="24" y="715"/>
                  </a:lnTo>
                  <a:lnTo>
                    <a:pt x="48" y="643"/>
                  </a:lnTo>
                  <a:lnTo>
                    <a:pt x="80" y="572"/>
                  </a:lnTo>
                  <a:lnTo>
                    <a:pt x="119" y="503"/>
                  </a:lnTo>
                  <a:lnTo>
                    <a:pt x="167" y="438"/>
                  </a:lnTo>
                  <a:lnTo>
                    <a:pt x="223" y="374"/>
                  </a:lnTo>
                  <a:lnTo>
                    <a:pt x="286" y="315"/>
                  </a:lnTo>
                  <a:lnTo>
                    <a:pt x="355" y="259"/>
                  </a:lnTo>
                  <a:lnTo>
                    <a:pt x="429" y="209"/>
                  </a:lnTo>
                  <a:lnTo>
                    <a:pt x="509" y="164"/>
                  </a:lnTo>
                  <a:lnTo>
                    <a:pt x="595" y="123"/>
                  </a:lnTo>
                  <a:lnTo>
                    <a:pt x="684" y="86"/>
                  </a:lnTo>
                  <a:lnTo>
                    <a:pt x="777" y="58"/>
                  </a:lnTo>
                  <a:lnTo>
                    <a:pt x="874" y="35"/>
                  </a:lnTo>
                  <a:lnTo>
                    <a:pt x="972" y="15"/>
                  </a:lnTo>
                  <a:lnTo>
                    <a:pt x="1071" y="4"/>
                  </a:lnTo>
                  <a:lnTo>
                    <a:pt x="1173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627" name="Group 63"/>
          <p:cNvGrpSpPr>
            <a:grpSpLocks noChangeAspect="1"/>
          </p:cNvGrpSpPr>
          <p:nvPr/>
        </p:nvGrpSpPr>
        <p:grpSpPr bwMode="auto">
          <a:xfrm>
            <a:off x="6157913" y="1452563"/>
            <a:ext cx="1979612" cy="1797050"/>
            <a:chOff x="383" y="1437"/>
            <a:chExt cx="1902" cy="1727"/>
          </a:xfrm>
        </p:grpSpPr>
        <p:sp>
          <p:nvSpPr>
            <p:cNvPr id="196671" name="Freeform 64"/>
            <p:cNvSpPr>
              <a:spLocks noChangeAspect="1"/>
            </p:cNvSpPr>
            <p:nvPr/>
          </p:nvSpPr>
          <p:spPr bwMode="auto">
            <a:xfrm>
              <a:off x="974" y="211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5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5 w 87"/>
                <a:gd name="T21" fmla="*/ 75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5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5" y="75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2" name="Freeform 65"/>
            <p:cNvSpPr>
              <a:spLocks noChangeAspect="1"/>
            </p:cNvSpPr>
            <p:nvPr/>
          </p:nvSpPr>
          <p:spPr bwMode="auto">
            <a:xfrm>
              <a:off x="1782" y="1488"/>
              <a:ext cx="87" cy="87"/>
            </a:xfrm>
            <a:custGeom>
              <a:avLst/>
              <a:gdLst>
                <a:gd name="T0" fmla="*/ 0 w 87"/>
                <a:gd name="T1" fmla="*/ 43 h 87"/>
                <a:gd name="T2" fmla="*/ 4 w 87"/>
                <a:gd name="T3" fmla="*/ 26 h 87"/>
                <a:gd name="T4" fmla="*/ 13 w 87"/>
                <a:gd name="T5" fmla="*/ 13 h 87"/>
                <a:gd name="T6" fmla="*/ 28 w 87"/>
                <a:gd name="T7" fmla="*/ 3 h 87"/>
                <a:gd name="T8" fmla="*/ 45 w 87"/>
                <a:gd name="T9" fmla="*/ 0 h 87"/>
                <a:gd name="T10" fmla="*/ 60 w 87"/>
                <a:gd name="T11" fmla="*/ 3 h 87"/>
                <a:gd name="T12" fmla="*/ 74 w 87"/>
                <a:gd name="T13" fmla="*/ 13 h 87"/>
                <a:gd name="T14" fmla="*/ 85 w 87"/>
                <a:gd name="T15" fmla="*/ 26 h 87"/>
                <a:gd name="T16" fmla="*/ 87 w 87"/>
                <a:gd name="T17" fmla="*/ 43 h 87"/>
                <a:gd name="T18" fmla="*/ 85 w 87"/>
                <a:gd name="T19" fmla="*/ 60 h 87"/>
                <a:gd name="T20" fmla="*/ 74 w 87"/>
                <a:gd name="T21" fmla="*/ 75 h 87"/>
                <a:gd name="T22" fmla="*/ 60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5 h 87"/>
                <a:gd name="T30" fmla="*/ 4 w 87"/>
                <a:gd name="T31" fmla="*/ 60 h 87"/>
                <a:gd name="T32" fmla="*/ 0 w 87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3"/>
                  </a:lnTo>
                  <a:lnTo>
                    <a:pt x="45" y="0"/>
                  </a:lnTo>
                  <a:lnTo>
                    <a:pt x="60" y="3"/>
                  </a:lnTo>
                  <a:lnTo>
                    <a:pt x="74" y="13"/>
                  </a:lnTo>
                  <a:lnTo>
                    <a:pt x="85" y="26"/>
                  </a:lnTo>
                  <a:lnTo>
                    <a:pt x="87" y="43"/>
                  </a:lnTo>
                  <a:lnTo>
                    <a:pt x="85" y="60"/>
                  </a:lnTo>
                  <a:lnTo>
                    <a:pt x="74" y="75"/>
                  </a:lnTo>
                  <a:lnTo>
                    <a:pt x="60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3" name="Freeform 66"/>
            <p:cNvSpPr>
              <a:spLocks noChangeAspect="1"/>
            </p:cNvSpPr>
            <p:nvPr/>
          </p:nvSpPr>
          <p:spPr bwMode="auto">
            <a:xfrm>
              <a:off x="1193" y="2975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5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5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5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5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4" name="Freeform 67"/>
            <p:cNvSpPr>
              <a:spLocks noChangeAspect="1"/>
            </p:cNvSpPr>
            <p:nvPr/>
          </p:nvSpPr>
          <p:spPr bwMode="auto">
            <a:xfrm>
              <a:off x="383" y="1993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4 h 87"/>
                <a:gd name="T8" fmla="*/ 45 w 87"/>
                <a:gd name="T9" fmla="*/ 0 h 87"/>
                <a:gd name="T10" fmla="*/ 62 w 87"/>
                <a:gd name="T11" fmla="*/ 4 h 87"/>
                <a:gd name="T12" fmla="*/ 74 w 87"/>
                <a:gd name="T13" fmla="*/ 13 h 87"/>
                <a:gd name="T14" fmla="*/ 85 w 87"/>
                <a:gd name="T15" fmla="*/ 28 h 87"/>
                <a:gd name="T16" fmla="*/ 87 w 87"/>
                <a:gd name="T17" fmla="*/ 45 h 87"/>
                <a:gd name="T18" fmla="*/ 85 w 87"/>
                <a:gd name="T19" fmla="*/ 62 h 87"/>
                <a:gd name="T20" fmla="*/ 74 w 87"/>
                <a:gd name="T21" fmla="*/ 74 h 87"/>
                <a:gd name="T22" fmla="*/ 62 w 87"/>
                <a:gd name="T23" fmla="*/ 85 h 87"/>
                <a:gd name="T24" fmla="*/ 45 w 87"/>
                <a:gd name="T25" fmla="*/ 87 h 87"/>
                <a:gd name="T26" fmla="*/ 28 w 87"/>
                <a:gd name="T27" fmla="*/ 85 h 87"/>
                <a:gd name="T28" fmla="*/ 13 w 87"/>
                <a:gd name="T29" fmla="*/ 74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2" y="4"/>
                  </a:lnTo>
                  <a:lnTo>
                    <a:pt x="74" y="13"/>
                  </a:lnTo>
                  <a:lnTo>
                    <a:pt x="85" y="28"/>
                  </a:lnTo>
                  <a:lnTo>
                    <a:pt x="87" y="45"/>
                  </a:lnTo>
                  <a:lnTo>
                    <a:pt x="85" y="62"/>
                  </a:lnTo>
                  <a:lnTo>
                    <a:pt x="74" y="74"/>
                  </a:lnTo>
                  <a:lnTo>
                    <a:pt x="62" y="85"/>
                  </a:lnTo>
                  <a:lnTo>
                    <a:pt x="45" y="87"/>
                  </a:lnTo>
                  <a:lnTo>
                    <a:pt x="28" y="85"/>
                  </a:lnTo>
                  <a:lnTo>
                    <a:pt x="13" y="74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5" name="Freeform 68"/>
            <p:cNvSpPr>
              <a:spLocks noChangeAspect="1"/>
            </p:cNvSpPr>
            <p:nvPr/>
          </p:nvSpPr>
          <p:spPr bwMode="auto">
            <a:xfrm>
              <a:off x="1544" y="2419"/>
              <a:ext cx="87" cy="87"/>
            </a:xfrm>
            <a:custGeom>
              <a:avLst/>
              <a:gdLst>
                <a:gd name="T0" fmla="*/ 0 w 87"/>
                <a:gd name="T1" fmla="*/ 45 h 87"/>
                <a:gd name="T2" fmla="*/ 4 w 87"/>
                <a:gd name="T3" fmla="*/ 28 h 87"/>
                <a:gd name="T4" fmla="*/ 13 w 87"/>
                <a:gd name="T5" fmla="*/ 13 h 87"/>
                <a:gd name="T6" fmla="*/ 28 w 87"/>
                <a:gd name="T7" fmla="*/ 5 h 87"/>
                <a:gd name="T8" fmla="*/ 42 w 87"/>
                <a:gd name="T9" fmla="*/ 0 h 87"/>
                <a:gd name="T10" fmla="*/ 59 w 87"/>
                <a:gd name="T11" fmla="*/ 5 h 87"/>
                <a:gd name="T12" fmla="*/ 74 w 87"/>
                <a:gd name="T13" fmla="*/ 13 h 87"/>
                <a:gd name="T14" fmla="*/ 83 w 87"/>
                <a:gd name="T15" fmla="*/ 28 h 87"/>
                <a:gd name="T16" fmla="*/ 87 w 87"/>
                <a:gd name="T17" fmla="*/ 45 h 87"/>
                <a:gd name="T18" fmla="*/ 83 w 87"/>
                <a:gd name="T19" fmla="*/ 62 h 87"/>
                <a:gd name="T20" fmla="*/ 74 w 87"/>
                <a:gd name="T21" fmla="*/ 75 h 87"/>
                <a:gd name="T22" fmla="*/ 59 w 87"/>
                <a:gd name="T23" fmla="*/ 85 h 87"/>
                <a:gd name="T24" fmla="*/ 42 w 87"/>
                <a:gd name="T25" fmla="*/ 87 h 87"/>
                <a:gd name="T26" fmla="*/ 28 w 87"/>
                <a:gd name="T27" fmla="*/ 85 h 87"/>
                <a:gd name="T28" fmla="*/ 13 w 87"/>
                <a:gd name="T29" fmla="*/ 75 h 87"/>
                <a:gd name="T30" fmla="*/ 4 w 87"/>
                <a:gd name="T31" fmla="*/ 62 h 87"/>
                <a:gd name="T32" fmla="*/ 0 w 87"/>
                <a:gd name="T33" fmla="*/ 45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5"/>
                  </a:lnTo>
                  <a:lnTo>
                    <a:pt x="42" y="0"/>
                  </a:lnTo>
                  <a:lnTo>
                    <a:pt x="59" y="5"/>
                  </a:lnTo>
                  <a:lnTo>
                    <a:pt x="74" y="13"/>
                  </a:lnTo>
                  <a:lnTo>
                    <a:pt x="83" y="28"/>
                  </a:lnTo>
                  <a:lnTo>
                    <a:pt x="87" y="45"/>
                  </a:lnTo>
                  <a:lnTo>
                    <a:pt x="83" y="62"/>
                  </a:lnTo>
                  <a:lnTo>
                    <a:pt x="74" y="75"/>
                  </a:lnTo>
                  <a:lnTo>
                    <a:pt x="59" y="85"/>
                  </a:lnTo>
                  <a:lnTo>
                    <a:pt x="42" y="87"/>
                  </a:lnTo>
                  <a:lnTo>
                    <a:pt x="28" y="85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6" name="Freeform 69"/>
            <p:cNvSpPr>
              <a:spLocks noChangeAspect="1"/>
            </p:cNvSpPr>
            <p:nvPr/>
          </p:nvSpPr>
          <p:spPr bwMode="auto">
            <a:xfrm>
              <a:off x="2018" y="2479"/>
              <a:ext cx="87" cy="87"/>
            </a:xfrm>
            <a:custGeom>
              <a:avLst/>
              <a:gdLst>
                <a:gd name="T0" fmla="*/ 0 w 87"/>
                <a:gd name="T1" fmla="*/ 42 h 87"/>
                <a:gd name="T2" fmla="*/ 4 w 87"/>
                <a:gd name="T3" fmla="*/ 25 h 87"/>
                <a:gd name="T4" fmla="*/ 13 w 87"/>
                <a:gd name="T5" fmla="*/ 13 h 87"/>
                <a:gd name="T6" fmla="*/ 28 w 87"/>
                <a:gd name="T7" fmla="*/ 2 h 87"/>
                <a:gd name="T8" fmla="*/ 45 w 87"/>
                <a:gd name="T9" fmla="*/ 0 h 87"/>
                <a:gd name="T10" fmla="*/ 62 w 87"/>
                <a:gd name="T11" fmla="*/ 2 h 87"/>
                <a:gd name="T12" fmla="*/ 74 w 87"/>
                <a:gd name="T13" fmla="*/ 13 h 87"/>
                <a:gd name="T14" fmla="*/ 85 w 87"/>
                <a:gd name="T15" fmla="*/ 25 h 87"/>
                <a:gd name="T16" fmla="*/ 87 w 87"/>
                <a:gd name="T17" fmla="*/ 42 h 87"/>
                <a:gd name="T18" fmla="*/ 85 w 87"/>
                <a:gd name="T19" fmla="*/ 59 h 87"/>
                <a:gd name="T20" fmla="*/ 74 w 87"/>
                <a:gd name="T21" fmla="*/ 74 h 87"/>
                <a:gd name="T22" fmla="*/ 62 w 87"/>
                <a:gd name="T23" fmla="*/ 83 h 87"/>
                <a:gd name="T24" fmla="*/ 45 w 87"/>
                <a:gd name="T25" fmla="*/ 87 h 87"/>
                <a:gd name="T26" fmla="*/ 28 w 87"/>
                <a:gd name="T27" fmla="*/ 83 h 87"/>
                <a:gd name="T28" fmla="*/ 13 w 87"/>
                <a:gd name="T29" fmla="*/ 74 h 87"/>
                <a:gd name="T30" fmla="*/ 4 w 87"/>
                <a:gd name="T31" fmla="*/ 59 h 87"/>
                <a:gd name="T32" fmla="*/ 0 w 87"/>
                <a:gd name="T33" fmla="*/ 42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7"/>
                <a:gd name="T52" fmla="*/ 0 h 87"/>
                <a:gd name="T53" fmla="*/ 87 w 87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7" h="87">
                  <a:moveTo>
                    <a:pt x="0" y="42"/>
                  </a:moveTo>
                  <a:lnTo>
                    <a:pt x="4" y="25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2" y="2"/>
                  </a:lnTo>
                  <a:lnTo>
                    <a:pt x="74" y="13"/>
                  </a:lnTo>
                  <a:lnTo>
                    <a:pt x="85" y="25"/>
                  </a:lnTo>
                  <a:lnTo>
                    <a:pt x="87" y="42"/>
                  </a:lnTo>
                  <a:lnTo>
                    <a:pt x="85" y="59"/>
                  </a:lnTo>
                  <a:lnTo>
                    <a:pt x="74" y="74"/>
                  </a:lnTo>
                  <a:lnTo>
                    <a:pt x="62" y="83"/>
                  </a:lnTo>
                  <a:lnTo>
                    <a:pt x="45" y="87"/>
                  </a:lnTo>
                  <a:lnTo>
                    <a:pt x="28" y="83"/>
                  </a:lnTo>
                  <a:lnTo>
                    <a:pt x="13" y="74"/>
                  </a:lnTo>
                  <a:lnTo>
                    <a:pt x="4" y="59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77" name="Rectangle 70"/>
            <p:cNvSpPr>
              <a:spLocks noChangeAspect="1" noChangeArrowheads="1"/>
            </p:cNvSpPr>
            <p:nvPr/>
          </p:nvSpPr>
          <p:spPr bwMode="auto">
            <a:xfrm>
              <a:off x="1890" y="1437"/>
              <a:ext cx="97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78" name="Rectangle 71"/>
            <p:cNvSpPr>
              <a:spLocks noChangeAspect="1" noChangeArrowheads="1"/>
            </p:cNvSpPr>
            <p:nvPr/>
          </p:nvSpPr>
          <p:spPr bwMode="auto">
            <a:xfrm>
              <a:off x="1089" y="2061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79" name="Rectangle 72"/>
            <p:cNvSpPr>
              <a:spLocks noChangeAspect="1" noChangeArrowheads="1"/>
            </p:cNvSpPr>
            <p:nvPr/>
          </p:nvSpPr>
          <p:spPr bwMode="auto">
            <a:xfrm>
              <a:off x="1699" y="2374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0" name="Rectangle 73"/>
            <p:cNvSpPr>
              <a:spLocks noChangeAspect="1" noChangeArrowheads="1"/>
            </p:cNvSpPr>
            <p:nvPr/>
          </p:nvSpPr>
          <p:spPr bwMode="auto">
            <a:xfrm>
              <a:off x="1319" y="29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1" name="Rectangle 74"/>
            <p:cNvSpPr>
              <a:spLocks noChangeAspect="1" noChangeArrowheads="1"/>
            </p:cNvSpPr>
            <p:nvPr/>
          </p:nvSpPr>
          <p:spPr bwMode="auto">
            <a:xfrm>
              <a:off x="517" y="1940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82" name="Rectangle 75"/>
            <p:cNvSpPr>
              <a:spLocks noChangeAspect="1" noChangeArrowheads="1"/>
            </p:cNvSpPr>
            <p:nvPr/>
          </p:nvSpPr>
          <p:spPr bwMode="auto">
            <a:xfrm>
              <a:off x="2187" y="2429"/>
              <a:ext cx="9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Group 76"/>
          <p:cNvGrpSpPr>
            <a:grpSpLocks noChangeAspect="1"/>
          </p:cNvGrpSpPr>
          <p:nvPr/>
        </p:nvGrpSpPr>
        <p:grpSpPr bwMode="auto">
          <a:xfrm>
            <a:off x="7285038" y="2360613"/>
            <a:ext cx="919162" cy="617537"/>
            <a:chOff x="1465" y="2309"/>
            <a:chExt cx="883" cy="594"/>
          </a:xfrm>
        </p:grpSpPr>
        <p:sp>
          <p:nvSpPr>
            <p:cNvPr id="196669" name="Freeform 77"/>
            <p:cNvSpPr>
              <a:spLocks noChangeAspect="1"/>
            </p:cNvSpPr>
            <p:nvPr/>
          </p:nvSpPr>
          <p:spPr bwMode="auto">
            <a:xfrm>
              <a:off x="1465" y="2309"/>
              <a:ext cx="883" cy="369"/>
            </a:xfrm>
            <a:custGeom>
              <a:avLst/>
              <a:gdLst>
                <a:gd name="T0" fmla="*/ 442 w 883"/>
                <a:gd name="T1" fmla="*/ 0 h 369"/>
                <a:gd name="T2" fmla="*/ 502 w 883"/>
                <a:gd name="T3" fmla="*/ 2 h 369"/>
                <a:gd name="T4" fmla="*/ 562 w 883"/>
                <a:gd name="T5" fmla="*/ 7 h 369"/>
                <a:gd name="T6" fmla="*/ 619 w 883"/>
                <a:gd name="T7" fmla="*/ 15 h 369"/>
                <a:gd name="T8" fmla="*/ 672 w 883"/>
                <a:gd name="T9" fmla="*/ 28 h 369"/>
                <a:gd name="T10" fmla="*/ 721 w 883"/>
                <a:gd name="T11" fmla="*/ 43 h 369"/>
                <a:gd name="T12" fmla="*/ 766 w 883"/>
                <a:gd name="T13" fmla="*/ 60 h 369"/>
                <a:gd name="T14" fmla="*/ 804 w 883"/>
                <a:gd name="T15" fmla="*/ 79 h 369"/>
                <a:gd name="T16" fmla="*/ 836 w 883"/>
                <a:gd name="T17" fmla="*/ 100 h 369"/>
                <a:gd name="T18" fmla="*/ 859 w 883"/>
                <a:gd name="T19" fmla="*/ 123 h 369"/>
                <a:gd name="T20" fmla="*/ 876 w 883"/>
                <a:gd name="T21" fmla="*/ 147 h 369"/>
                <a:gd name="T22" fmla="*/ 883 w 883"/>
                <a:gd name="T23" fmla="*/ 172 h 369"/>
                <a:gd name="T24" fmla="*/ 883 w 883"/>
                <a:gd name="T25" fmla="*/ 197 h 369"/>
                <a:gd name="T26" fmla="*/ 876 w 883"/>
                <a:gd name="T27" fmla="*/ 223 h 369"/>
                <a:gd name="T28" fmla="*/ 859 w 883"/>
                <a:gd name="T29" fmla="*/ 246 h 369"/>
                <a:gd name="T30" fmla="*/ 836 w 883"/>
                <a:gd name="T31" fmla="*/ 270 h 369"/>
                <a:gd name="T32" fmla="*/ 804 w 883"/>
                <a:gd name="T33" fmla="*/ 291 h 369"/>
                <a:gd name="T34" fmla="*/ 766 w 883"/>
                <a:gd name="T35" fmla="*/ 310 h 369"/>
                <a:gd name="T36" fmla="*/ 721 w 883"/>
                <a:gd name="T37" fmla="*/ 327 h 369"/>
                <a:gd name="T38" fmla="*/ 672 w 883"/>
                <a:gd name="T39" fmla="*/ 342 h 369"/>
                <a:gd name="T40" fmla="*/ 619 w 883"/>
                <a:gd name="T41" fmla="*/ 354 h 369"/>
                <a:gd name="T42" fmla="*/ 562 w 883"/>
                <a:gd name="T43" fmla="*/ 363 h 369"/>
                <a:gd name="T44" fmla="*/ 502 w 883"/>
                <a:gd name="T45" fmla="*/ 367 h 369"/>
                <a:gd name="T46" fmla="*/ 442 w 883"/>
                <a:gd name="T47" fmla="*/ 369 h 369"/>
                <a:gd name="T48" fmla="*/ 381 w 883"/>
                <a:gd name="T49" fmla="*/ 367 h 369"/>
                <a:gd name="T50" fmla="*/ 323 w 883"/>
                <a:gd name="T51" fmla="*/ 363 h 369"/>
                <a:gd name="T52" fmla="*/ 266 w 883"/>
                <a:gd name="T53" fmla="*/ 354 h 369"/>
                <a:gd name="T54" fmla="*/ 213 w 883"/>
                <a:gd name="T55" fmla="*/ 342 h 369"/>
                <a:gd name="T56" fmla="*/ 162 w 883"/>
                <a:gd name="T57" fmla="*/ 327 h 369"/>
                <a:gd name="T58" fmla="*/ 119 w 883"/>
                <a:gd name="T59" fmla="*/ 310 h 369"/>
                <a:gd name="T60" fmla="*/ 81 w 883"/>
                <a:gd name="T61" fmla="*/ 291 h 369"/>
                <a:gd name="T62" fmla="*/ 49 w 883"/>
                <a:gd name="T63" fmla="*/ 270 h 369"/>
                <a:gd name="T64" fmla="*/ 26 w 883"/>
                <a:gd name="T65" fmla="*/ 246 h 369"/>
                <a:gd name="T66" fmla="*/ 9 w 883"/>
                <a:gd name="T67" fmla="*/ 223 h 369"/>
                <a:gd name="T68" fmla="*/ 0 w 883"/>
                <a:gd name="T69" fmla="*/ 197 h 369"/>
                <a:gd name="T70" fmla="*/ 0 w 883"/>
                <a:gd name="T71" fmla="*/ 172 h 369"/>
                <a:gd name="T72" fmla="*/ 9 w 883"/>
                <a:gd name="T73" fmla="*/ 147 h 369"/>
                <a:gd name="T74" fmla="*/ 26 w 883"/>
                <a:gd name="T75" fmla="*/ 123 h 369"/>
                <a:gd name="T76" fmla="*/ 49 w 883"/>
                <a:gd name="T77" fmla="*/ 100 h 369"/>
                <a:gd name="T78" fmla="*/ 81 w 883"/>
                <a:gd name="T79" fmla="*/ 79 h 369"/>
                <a:gd name="T80" fmla="*/ 119 w 883"/>
                <a:gd name="T81" fmla="*/ 60 h 369"/>
                <a:gd name="T82" fmla="*/ 162 w 883"/>
                <a:gd name="T83" fmla="*/ 43 h 369"/>
                <a:gd name="T84" fmla="*/ 213 w 883"/>
                <a:gd name="T85" fmla="*/ 28 h 369"/>
                <a:gd name="T86" fmla="*/ 266 w 883"/>
                <a:gd name="T87" fmla="*/ 15 h 369"/>
                <a:gd name="T88" fmla="*/ 323 w 883"/>
                <a:gd name="T89" fmla="*/ 7 h 369"/>
                <a:gd name="T90" fmla="*/ 381 w 883"/>
                <a:gd name="T91" fmla="*/ 2 h 369"/>
                <a:gd name="T92" fmla="*/ 442 w 883"/>
                <a:gd name="T93" fmla="*/ 0 h 3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83"/>
                <a:gd name="T142" fmla="*/ 0 h 369"/>
                <a:gd name="T143" fmla="*/ 883 w 883"/>
                <a:gd name="T144" fmla="*/ 369 h 369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83" h="369">
                  <a:moveTo>
                    <a:pt x="442" y="0"/>
                  </a:moveTo>
                  <a:lnTo>
                    <a:pt x="502" y="2"/>
                  </a:lnTo>
                  <a:lnTo>
                    <a:pt x="562" y="7"/>
                  </a:lnTo>
                  <a:lnTo>
                    <a:pt x="619" y="15"/>
                  </a:lnTo>
                  <a:lnTo>
                    <a:pt x="672" y="28"/>
                  </a:lnTo>
                  <a:lnTo>
                    <a:pt x="721" y="43"/>
                  </a:lnTo>
                  <a:lnTo>
                    <a:pt x="766" y="60"/>
                  </a:lnTo>
                  <a:lnTo>
                    <a:pt x="804" y="79"/>
                  </a:lnTo>
                  <a:lnTo>
                    <a:pt x="836" y="100"/>
                  </a:lnTo>
                  <a:lnTo>
                    <a:pt x="859" y="123"/>
                  </a:lnTo>
                  <a:lnTo>
                    <a:pt x="876" y="147"/>
                  </a:lnTo>
                  <a:lnTo>
                    <a:pt x="883" y="172"/>
                  </a:lnTo>
                  <a:lnTo>
                    <a:pt x="883" y="197"/>
                  </a:lnTo>
                  <a:lnTo>
                    <a:pt x="876" y="223"/>
                  </a:lnTo>
                  <a:lnTo>
                    <a:pt x="859" y="246"/>
                  </a:lnTo>
                  <a:lnTo>
                    <a:pt x="836" y="270"/>
                  </a:lnTo>
                  <a:lnTo>
                    <a:pt x="804" y="291"/>
                  </a:lnTo>
                  <a:lnTo>
                    <a:pt x="766" y="310"/>
                  </a:lnTo>
                  <a:lnTo>
                    <a:pt x="721" y="327"/>
                  </a:lnTo>
                  <a:lnTo>
                    <a:pt x="672" y="342"/>
                  </a:lnTo>
                  <a:lnTo>
                    <a:pt x="619" y="354"/>
                  </a:lnTo>
                  <a:lnTo>
                    <a:pt x="562" y="363"/>
                  </a:lnTo>
                  <a:lnTo>
                    <a:pt x="502" y="367"/>
                  </a:lnTo>
                  <a:lnTo>
                    <a:pt x="442" y="369"/>
                  </a:lnTo>
                  <a:lnTo>
                    <a:pt x="381" y="367"/>
                  </a:lnTo>
                  <a:lnTo>
                    <a:pt x="323" y="363"/>
                  </a:lnTo>
                  <a:lnTo>
                    <a:pt x="266" y="354"/>
                  </a:lnTo>
                  <a:lnTo>
                    <a:pt x="213" y="342"/>
                  </a:lnTo>
                  <a:lnTo>
                    <a:pt x="162" y="327"/>
                  </a:lnTo>
                  <a:lnTo>
                    <a:pt x="119" y="310"/>
                  </a:lnTo>
                  <a:lnTo>
                    <a:pt x="81" y="291"/>
                  </a:lnTo>
                  <a:lnTo>
                    <a:pt x="49" y="270"/>
                  </a:lnTo>
                  <a:lnTo>
                    <a:pt x="26" y="246"/>
                  </a:lnTo>
                  <a:lnTo>
                    <a:pt x="9" y="223"/>
                  </a:lnTo>
                  <a:lnTo>
                    <a:pt x="0" y="197"/>
                  </a:lnTo>
                  <a:lnTo>
                    <a:pt x="0" y="172"/>
                  </a:lnTo>
                  <a:lnTo>
                    <a:pt x="9" y="147"/>
                  </a:lnTo>
                  <a:lnTo>
                    <a:pt x="26" y="123"/>
                  </a:lnTo>
                  <a:lnTo>
                    <a:pt x="49" y="100"/>
                  </a:lnTo>
                  <a:lnTo>
                    <a:pt x="81" y="79"/>
                  </a:lnTo>
                  <a:lnTo>
                    <a:pt x="119" y="60"/>
                  </a:lnTo>
                  <a:lnTo>
                    <a:pt x="162" y="43"/>
                  </a:lnTo>
                  <a:lnTo>
                    <a:pt x="213" y="28"/>
                  </a:lnTo>
                  <a:lnTo>
                    <a:pt x="266" y="15"/>
                  </a:lnTo>
                  <a:lnTo>
                    <a:pt x="323" y="7"/>
                  </a:lnTo>
                  <a:lnTo>
                    <a:pt x="381" y="2"/>
                  </a:lnTo>
                  <a:lnTo>
                    <a:pt x="442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70" name="Rectangle 78"/>
            <p:cNvSpPr>
              <a:spLocks noChangeAspect="1" noChangeArrowheads="1"/>
            </p:cNvSpPr>
            <p:nvPr/>
          </p:nvSpPr>
          <p:spPr bwMode="auto">
            <a:xfrm>
              <a:off x="1831" y="2668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6" name="Group 79"/>
          <p:cNvGrpSpPr>
            <a:grpSpLocks noChangeAspect="1"/>
          </p:cNvGrpSpPr>
          <p:nvPr/>
        </p:nvGrpSpPr>
        <p:grpSpPr bwMode="auto">
          <a:xfrm>
            <a:off x="6100763" y="1730375"/>
            <a:ext cx="1036637" cy="584200"/>
            <a:chOff x="328" y="1704"/>
            <a:chExt cx="995" cy="561"/>
          </a:xfrm>
        </p:grpSpPr>
        <p:sp>
          <p:nvSpPr>
            <p:cNvPr id="196667" name="Freeform 80"/>
            <p:cNvSpPr>
              <a:spLocks noChangeAspect="1"/>
            </p:cNvSpPr>
            <p:nvPr/>
          </p:nvSpPr>
          <p:spPr bwMode="auto">
            <a:xfrm>
              <a:off x="328" y="1881"/>
              <a:ext cx="995" cy="384"/>
            </a:xfrm>
            <a:custGeom>
              <a:avLst/>
              <a:gdLst>
                <a:gd name="T0" fmla="*/ 514 w 995"/>
                <a:gd name="T1" fmla="*/ 4 h 384"/>
                <a:gd name="T2" fmla="*/ 576 w 995"/>
                <a:gd name="T3" fmla="*/ 10 h 384"/>
                <a:gd name="T4" fmla="*/ 638 w 995"/>
                <a:gd name="T5" fmla="*/ 21 h 384"/>
                <a:gd name="T6" fmla="*/ 695 w 995"/>
                <a:gd name="T7" fmla="*/ 34 h 384"/>
                <a:gd name="T8" fmla="*/ 752 w 995"/>
                <a:gd name="T9" fmla="*/ 49 h 384"/>
                <a:gd name="T10" fmla="*/ 803 w 995"/>
                <a:gd name="T11" fmla="*/ 66 h 384"/>
                <a:gd name="T12" fmla="*/ 850 w 995"/>
                <a:gd name="T13" fmla="*/ 85 h 384"/>
                <a:gd name="T14" fmla="*/ 891 w 995"/>
                <a:gd name="T15" fmla="*/ 106 h 384"/>
                <a:gd name="T16" fmla="*/ 927 w 995"/>
                <a:gd name="T17" fmla="*/ 127 h 384"/>
                <a:gd name="T18" fmla="*/ 954 w 995"/>
                <a:gd name="T19" fmla="*/ 150 h 384"/>
                <a:gd name="T20" fmla="*/ 976 w 995"/>
                <a:gd name="T21" fmla="*/ 176 h 384"/>
                <a:gd name="T22" fmla="*/ 988 w 995"/>
                <a:gd name="T23" fmla="*/ 199 h 384"/>
                <a:gd name="T24" fmla="*/ 995 w 995"/>
                <a:gd name="T25" fmla="*/ 222 h 384"/>
                <a:gd name="T26" fmla="*/ 993 w 995"/>
                <a:gd name="T27" fmla="*/ 248 h 384"/>
                <a:gd name="T28" fmla="*/ 982 w 995"/>
                <a:gd name="T29" fmla="*/ 269 h 384"/>
                <a:gd name="T30" fmla="*/ 965 w 995"/>
                <a:gd name="T31" fmla="*/ 290 h 384"/>
                <a:gd name="T32" fmla="*/ 940 w 995"/>
                <a:gd name="T33" fmla="*/ 312 h 384"/>
                <a:gd name="T34" fmla="*/ 908 w 995"/>
                <a:gd name="T35" fmla="*/ 329 h 384"/>
                <a:gd name="T36" fmla="*/ 869 w 995"/>
                <a:gd name="T37" fmla="*/ 345 h 384"/>
                <a:gd name="T38" fmla="*/ 827 w 995"/>
                <a:gd name="T39" fmla="*/ 358 h 384"/>
                <a:gd name="T40" fmla="*/ 776 w 995"/>
                <a:gd name="T41" fmla="*/ 369 h 384"/>
                <a:gd name="T42" fmla="*/ 723 w 995"/>
                <a:gd name="T43" fmla="*/ 377 h 384"/>
                <a:gd name="T44" fmla="*/ 665 w 995"/>
                <a:gd name="T45" fmla="*/ 382 h 384"/>
                <a:gd name="T46" fmla="*/ 606 w 995"/>
                <a:gd name="T47" fmla="*/ 384 h 384"/>
                <a:gd name="T48" fmla="*/ 544 w 995"/>
                <a:gd name="T49" fmla="*/ 384 h 384"/>
                <a:gd name="T50" fmla="*/ 480 w 995"/>
                <a:gd name="T51" fmla="*/ 379 h 384"/>
                <a:gd name="T52" fmla="*/ 419 w 995"/>
                <a:gd name="T53" fmla="*/ 373 h 384"/>
                <a:gd name="T54" fmla="*/ 357 w 995"/>
                <a:gd name="T55" fmla="*/ 362 h 384"/>
                <a:gd name="T56" fmla="*/ 300 w 995"/>
                <a:gd name="T57" fmla="*/ 350 h 384"/>
                <a:gd name="T58" fmla="*/ 242 w 995"/>
                <a:gd name="T59" fmla="*/ 335 h 384"/>
                <a:gd name="T60" fmla="*/ 191 w 995"/>
                <a:gd name="T61" fmla="*/ 318 h 384"/>
                <a:gd name="T62" fmla="*/ 144 w 995"/>
                <a:gd name="T63" fmla="*/ 299 h 384"/>
                <a:gd name="T64" fmla="*/ 104 w 995"/>
                <a:gd name="T65" fmla="*/ 278 h 384"/>
                <a:gd name="T66" fmla="*/ 68 w 995"/>
                <a:gd name="T67" fmla="*/ 256 h 384"/>
                <a:gd name="T68" fmla="*/ 40 w 995"/>
                <a:gd name="T69" fmla="*/ 233 h 384"/>
                <a:gd name="T70" fmla="*/ 19 w 995"/>
                <a:gd name="T71" fmla="*/ 208 h 384"/>
                <a:gd name="T72" fmla="*/ 6 w 995"/>
                <a:gd name="T73" fmla="*/ 184 h 384"/>
                <a:gd name="T74" fmla="*/ 0 w 995"/>
                <a:gd name="T75" fmla="*/ 161 h 384"/>
                <a:gd name="T76" fmla="*/ 2 w 995"/>
                <a:gd name="T77" fmla="*/ 138 h 384"/>
                <a:gd name="T78" fmla="*/ 13 w 995"/>
                <a:gd name="T79" fmla="*/ 114 h 384"/>
                <a:gd name="T80" fmla="*/ 30 w 995"/>
                <a:gd name="T81" fmla="*/ 93 h 384"/>
                <a:gd name="T82" fmla="*/ 55 w 995"/>
                <a:gd name="T83" fmla="*/ 72 h 384"/>
                <a:gd name="T84" fmla="*/ 87 w 995"/>
                <a:gd name="T85" fmla="*/ 55 h 384"/>
                <a:gd name="T86" fmla="*/ 125 w 995"/>
                <a:gd name="T87" fmla="*/ 38 h 384"/>
                <a:gd name="T88" fmla="*/ 168 w 995"/>
                <a:gd name="T89" fmla="*/ 25 h 384"/>
                <a:gd name="T90" fmla="*/ 219 w 995"/>
                <a:gd name="T91" fmla="*/ 15 h 384"/>
                <a:gd name="T92" fmla="*/ 272 w 995"/>
                <a:gd name="T93" fmla="*/ 6 h 384"/>
                <a:gd name="T94" fmla="*/ 329 w 995"/>
                <a:gd name="T95" fmla="*/ 2 h 384"/>
                <a:gd name="T96" fmla="*/ 389 w 995"/>
                <a:gd name="T97" fmla="*/ 0 h 384"/>
                <a:gd name="T98" fmla="*/ 450 w 995"/>
                <a:gd name="T99" fmla="*/ 0 h 384"/>
                <a:gd name="T100" fmla="*/ 514 w 995"/>
                <a:gd name="T101" fmla="*/ 4 h 38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995"/>
                <a:gd name="T154" fmla="*/ 0 h 384"/>
                <a:gd name="T155" fmla="*/ 995 w 995"/>
                <a:gd name="T156" fmla="*/ 384 h 384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995" h="384">
                  <a:moveTo>
                    <a:pt x="514" y="4"/>
                  </a:moveTo>
                  <a:lnTo>
                    <a:pt x="576" y="10"/>
                  </a:lnTo>
                  <a:lnTo>
                    <a:pt x="638" y="21"/>
                  </a:lnTo>
                  <a:lnTo>
                    <a:pt x="695" y="34"/>
                  </a:lnTo>
                  <a:lnTo>
                    <a:pt x="752" y="49"/>
                  </a:lnTo>
                  <a:lnTo>
                    <a:pt x="803" y="66"/>
                  </a:lnTo>
                  <a:lnTo>
                    <a:pt x="850" y="85"/>
                  </a:lnTo>
                  <a:lnTo>
                    <a:pt x="891" y="106"/>
                  </a:lnTo>
                  <a:lnTo>
                    <a:pt x="927" y="127"/>
                  </a:lnTo>
                  <a:lnTo>
                    <a:pt x="954" y="150"/>
                  </a:lnTo>
                  <a:lnTo>
                    <a:pt x="976" y="176"/>
                  </a:lnTo>
                  <a:lnTo>
                    <a:pt x="988" y="199"/>
                  </a:lnTo>
                  <a:lnTo>
                    <a:pt x="995" y="222"/>
                  </a:lnTo>
                  <a:lnTo>
                    <a:pt x="993" y="248"/>
                  </a:lnTo>
                  <a:lnTo>
                    <a:pt x="982" y="269"/>
                  </a:lnTo>
                  <a:lnTo>
                    <a:pt x="965" y="290"/>
                  </a:lnTo>
                  <a:lnTo>
                    <a:pt x="940" y="312"/>
                  </a:lnTo>
                  <a:lnTo>
                    <a:pt x="908" y="329"/>
                  </a:lnTo>
                  <a:lnTo>
                    <a:pt x="869" y="345"/>
                  </a:lnTo>
                  <a:lnTo>
                    <a:pt x="827" y="358"/>
                  </a:lnTo>
                  <a:lnTo>
                    <a:pt x="776" y="369"/>
                  </a:lnTo>
                  <a:lnTo>
                    <a:pt x="723" y="377"/>
                  </a:lnTo>
                  <a:lnTo>
                    <a:pt x="665" y="382"/>
                  </a:lnTo>
                  <a:lnTo>
                    <a:pt x="606" y="384"/>
                  </a:lnTo>
                  <a:lnTo>
                    <a:pt x="544" y="384"/>
                  </a:lnTo>
                  <a:lnTo>
                    <a:pt x="480" y="379"/>
                  </a:lnTo>
                  <a:lnTo>
                    <a:pt x="419" y="373"/>
                  </a:lnTo>
                  <a:lnTo>
                    <a:pt x="357" y="362"/>
                  </a:lnTo>
                  <a:lnTo>
                    <a:pt x="300" y="350"/>
                  </a:lnTo>
                  <a:lnTo>
                    <a:pt x="242" y="335"/>
                  </a:lnTo>
                  <a:lnTo>
                    <a:pt x="191" y="318"/>
                  </a:lnTo>
                  <a:lnTo>
                    <a:pt x="144" y="299"/>
                  </a:lnTo>
                  <a:lnTo>
                    <a:pt x="104" y="278"/>
                  </a:lnTo>
                  <a:lnTo>
                    <a:pt x="68" y="256"/>
                  </a:lnTo>
                  <a:lnTo>
                    <a:pt x="40" y="233"/>
                  </a:lnTo>
                  <a:lnTo>
                    <a:pt x="19" y="208"/>
                  </a:lnTo>
                  <a:lnTo>
                    <a:pt x="6" y="184"/>
                  </a:lnTo>
                  <a:lnTo>
                    <a:pt x="0" y="161"/>
                  </a:lnTo>
                  <a:lnTo>
                    <a:pt x="2" y="138"/>
                  </a:lnTo>
                  <a:lnTo>
                    <a:pt x="13" y="114"/>
                  </a:lnTo>
                  <a:lnTo>
                    <a:pt x="30" y="93"/>
                  </a:lnTo>
                  <a:lnTo>
                    <a:pt x="55" y="72"/>
                  </a:lnTo>
                  <a:lnTo>
                    <a:pt x="87" y="55"/>
                  </a:lnTo>
                  <a:lnTo>
                    <a:pt x="125" y="38"/>
                  </a:lnTo>
                  <a:lnTo>
                    <a:pt x="168" y="25"/>
                  </a:lnTo>
                  <a:lnTo>
                    <a:pt x="219" y="15"/>
                  </a:lnTo>
                  <a:lnTo>
                    <a:pt x="272" y="6"/>
                  </a:lnTo>
                  <a:lnTo>
                    <a:pt x="329" y="2"/>
                  </a:lnTo>
                  <a:lnTo>
                    <a:pt x="389" y="0"/>
                  </a:lnTo>
                  <a:lnTo>
                    <a:pt x="450" y="0"/>
                  </a:lnTo>
                  <a:lnTo>
                    <a:pt x="514" y="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68" name="Rectangle 81"/>
            <p:cNvSpPr>
              <a:spLocks noChangeAspect="1" noChangeArrowheads="1"/>
            </p:cNvSpPr>
            <p:nvPr/>
          </p:nvSpPr>
          <p:spPr bwMode="auto">
            <a:xfrm>
              <a:off x="85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82"/>
          <p:cNvGrpSpPr>
            <a:grpSpLocks noChangeAspect="1"/>
          </p:cNvGrpSpPr>
          <p:nvPr/>
        </p:nvGrpSpPr>
        <p:grpSpPr bwMode="auto">
          <a:xfrm>
            <a:off x="5875338" y="1293813"/>
            <a:ext cx="2582862" cy="2287587"/>
            <a:chOff x="111" y="1285"/>
            <a:chExt cx="2481" cy="2197"/>
          </a:xfrm>
        </p:grpSpPr>
        <p:sp>
          <p:nvSpPr>
            <p:cNvPr id="196665" name="Rectangle 83"/>
            <p:cNvSpPr>
              <a:spLocks noChangeAspect="1" noChangeArrowheads="1"/>
            </p:cNvSpPr>
            <p:nvPr/>
          </p:nvSpPr>
          <p:spPr bwMode="auto">
            <a:xfrm>
              <a:off x="2484" y="1704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6" name="Freeform 84"/>
            <p:cNvSpPr>
              <a:spLocks noChangeAspect="1"/>
            </p:cNvSpPr>
            <p:nvPr/>
          </p:nvSpPr>
          <p:spPr bwMode="auto">
            <a:xfrm>
              <a:off x="111" y="1285"/>
              <a:ext cx="2479" cy="2197"/>
            </a:xfrm>
            <a:custGeom>
              <a:avLst/>
              <a:gdLst>
                <a:gd name="T0" fmla="*/ 1339 w 2479"/>
                <a:gd name="T1" fmla="*/ 2 h 2197"/>
                <a:gd name="T2" fmla="*/ 1541 w 2479"/>
                <a:gd name="T3" fmla="*/ 32 h 2197"/>
                <a:gd name="T4" fmla="*/ 1735 w 2479"/>
                <a:gd name="T5" fmla="*/ 91 h 2197"/>
                <a:gd name="T6" fmla="*/ 1916 w 2479"/>
                <a:gd name="T7" fmla="*/ 178 h 2197"/>
                <a:gd name="T8" fmla="*/ 2077 w 2479"/>
                <a:gd name="T9" fmla="*/ 288 h 2197"/>
                <a:gd name="T10" fmla="*/ 2215 w 2479"/>
                <a:gd name="T11" fmla="*/ 422 h 2197"/>
                <a:gd name="T12" fmla="*/ 2328 w 2479"/>
                <a:gd name="T13" fmla="*/ 572 h 2197"/>
                <a:gd name="T14" fmla="*/ 2411 w 2479"/>
                <a:gd name="T15" fmla="*/ 740 h 2197"/>
                <a:gd name="T16" fmla="*/ 2462 w 2479"/>
                <a:gd name="T17" fmla="*/ 916 h 2197"/>
                <a:gd name="T18" fmla="*/ 2479 w 2479"/>
                <a:gd name="T19" fmla="*/ 1096 h 2197"/>
                <a:gd name="T20" fmla="*/ 2462 w 2479"/>
                <a:gd name="T21" fmla="*/ 1277 h 2197"/>
                <a:gd name="T22" fmla="*/ 2411 w 2479"/>
                <a:gd name="T23" fmla="*/ 1453 h 2197"/>
                <a:gd name="T24" fmla="*/ 2330 w 2479"/>
                <a:gd name="T25" fmla="*/ 1620 h 2197"/>
                <a:gd name="T26" fmla="*/ 2217 w 2479"/>
                <a:gd name="T27" fmla="*/ 1771 h 2197"/>
                <a:gd name="T28" fmla="*/ 2079 w 2479"/>
                <a:gd name="T29" fmla="*/ 1904 h 2197"/>
                <a:gd name="T30" fmla="*/ 1918 w 2479"/>
                <a:gd name="T31" fmla="*/ 2017 h 2197"/>
                <a:gd name="T32" fmla="*/ 1739 w 2479"/>
                <a:gd name="T33" fmla="*/ 2104 h 2197"/>
                <a:gd name="T34" fmla="*/ 1546 w 2479"/>
                <a:gd name="T35" fmla="*/ 2163 h 2197"/>
                <a:gd name="T36" fmla="*/ 1344 w 2479"/>
                <a:gd name="T37" fmla="*/ 2193 h 2197"/>
                <a:gd name="T38" fmla="*/ 1139 w 2479"/>
                <a:gd name="T39" fmla="*/ 2193 h 2197"/>
                <a:gd name="T40" fmla="*/ 938 w 2479"/>
                <a:gd name="T41" fmla="*/ 2163 h 2197"/>
                <a:gd name="T42" fmla="*/ 744 w 2479"/>
                <a:gd name="T43" fmla="*/ 2106 h 2197"/>
                <a:gd name="T44" fmla="*/ 563 w 2479"/>
                <a:gd name="T45" fmla="*/ 2019 h 2197"/>
                <a:gd name="T46" fmla="*/ 402 w 2479"/>
                <a:gd name="T47" fmla="*/ 1909 h 2197"/>
                <a:gd name="T48" fmla="*/ 264 w 2479"/>
                <a:gd name="T49" fmla="*/ 1775 h 2197"/>
                <a:gd name="T50" fmla="*/ 151 w 2479"/>
                <a:gd name="T51" fmla="*/ 1622 h 2197"/>
                <a:gd name="T52" fmla="*/ 68 w 2479"/>
                <a:gd name="T53" fmla="*/ 1457 h 2197"/>
                <a:gd name="T54" fmla="*/ 17 w 2479"/>
                <a:gd name="T55" fmla="*/ 1281 h 2197"/>
                <a:gd name="T56" fmla="*/ 0 w 2479"/>
                <a:gd name="T57" fmla="*/ 1101 h 2197"/>
                <a:gd name="T58" fmla="*/ 17 w 2479"/>
                <a:gd name="T59" fmla="*/ 920 h 2197"/>
                <a:gd name="T60" fmla="*/ 68 w 2479"/>
                <a:gd name="T61" fmla="*/ 744 h 2197"/>
                <a:gd name="T62" fmla="*/ 149 w 2479"/>
                <a:gd name="T63" fmla="*/ 577 h 2197"/>
                <a:gd name="T64" fmla="*/ 261 w 2479"/>
                <a:gd name="T65" fmla="*/ 424 h 2197"/>
                <a:gd name="T66" fmla="*/ 400 w 2479"/>
                <a:gd name="T67" fmla="*/ 290 h 2197"/>
                <a:gd name="T68" fmla="*/ 559 w 2479"/>
                <a:gd name="T69" fmla="*/ 180 h 2197"/>
                <a:gd name="T70" fmla="*/ 740 w 2479"/>
                <a:gd name="T71" fmla="*/ 93 h 2197"/>
                <a:gd name="T72" fmla="*/ 933 w 2479"/>
                <a:gd name="T73" fmla="*/ 34 h 2197"/>
                <a:gd name="T74" fmla="*/ 1135 w 2479"/>
                <a:gd name="T75" fmla="*/ 4 h 219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479"/>
                <a:gd name="T115" fmla="*/ 0 h 2197"/>
                <a:gd name="T116" fmla="*/ 2479 w 2479"/>
                <a:gd name="T117" fmla="*/ 2197 h 219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479" h="2197">
                  <a:moveTo>
                    <a:pt x="1237" y="0"/>
                  </a:moveTo>
                  <a:lnTo>
                    <a:pt x="1339" y="2"/>
                  </a:lnTo>
                  <a:lnTo>
                    <a:pt x="1441" y="15"/>
                  </a:lnTo>
                  <a:lnTo>
                    <a:pt x="1541" y="32"/>
                  </a:lnTo>
                  <a:lnTo>
                    <a:pt x="1639" y="59"/>
                  </a:lnTo>
                  <a:lnTo>
                    <a:pt x="1735" y="91"/>
                  </a:lnTo>
                  <a:lnTo>
                    <a:pt x="1826" y="131"/>
                  </a:lnTo>
                  <a:lnTo>
                    <a:pt x="1916" y="178"/>
                  </a:lnTo>
                  <a:lnTo>
                    <a:pt x="1998" y="229"/>
                  </a:lnTo>
                  <a:lnTo>
                    <a:pt x="2077" y="288"/>
                  </a:lnTo>
                  <a:lnTo>
                    <a:pt x="2149" y="352"/>
                  </a:lnTo>
                  <a:lnTo>
                    <a:pt x="2215" y="422"/>
                  </a:lnTo>
                  <a:lnTo>
                    <a:pt x="2275" y="496"/>
                  </a:lnTo>
                  <a:lnTo>
                    <a:pt x="2328" y="572"/>
                  </a:lnTo>
                  <a:lnTo>
                    <a:pt x="2373" y="655"/>
                  </a:lnTo>
                  <a:lnTo>
                    <a:pt x="2411" y="740"/>
                  </a:lnTo>
                  <a:lnTo>
                    <a:pt x="2441" y="827"/>
                  </a:lnTo>
                  <a:lnTo>
                    <a:pt x="2462" y="916"/>
                  </a:lnTo>
                  <a:lnTo>
                    <a:pt x="2475" y="1005"/>
                  </a:lnTo>
                  <a:lnTo>
                    <a:pt x="2479" y="1096"/>
                  </a:lnTo>
                  <a:lnTo>
                    <a:pt x="2475" y="1188"/>
                  </a:lnTo>
                  <a:lnTo>
                    <a:pt x="2462" y="1277"/>
                  </a:lnTo>
                  <a:lnTo>
                    <a:pt x="2441" y="1366"/>
                  </a:lnTo>
                  <a:lnTo>
                    <a:pt x="2411" y="1453"/>
                  </a:lnTo>
                  <a:lnTo>
                    <a:pt x="2375" y="1537"/>
                  </a:lnTo>
                  <a:lnTo>
                    <a:pt x="2330" y="1620"/>
                  </a:lnTo>
                  <a:lnTo>
                    <a:pt x="2277" y="1697"/>
                  </a:lnTo>
                  <a:lnTo>
                    <a:pt x="2217" y="1771"/>
                  </a:lnTo>
                  <a:lnTo>
                    <a:pt x="2152" y="1841"/>
                  </a:lnTo>
                  <a:lnTo>
                    <a:pt x="2079" y="1904"/>
                  </a:lnTo>
                  <a:lnTo>
                    <a:pt x="2003" y="1964"/>
                  </a:lnTo>
                  <a:lnTo>
                    <a:pt x="1918" y="2017"/>
                  </a:lnTo>
                  <a:lnTo>
                    <a:pt x="1830" y="2063"/>
                  </a:lnTo>
                  <a:lnTo>
                    <a:pt x="1739" y="2104"/>
                  </a:lnTo>
                  <a:lnTo>
                    <a:pt x="1643" y="2136"/>
                  </a:lnTo>
                  <a:lnTo>
                    <a:pt x="1546" y="2163"/>
                  </a:lnTo>
                  <a:lnTo>
                    <a:pt x="1446" y="2182"/>
                  </a:lnTo>
                  <a:lnTo>
                    <a:pt x="1344" y="2193"/>
                  </a:lnTo>
                  <a:lnTo>
                    <a:pt x="1242" y="2197"/>
                  </a:lnTo>
                  <a:lnTo>
                    <a:pt x="1139" y="2193"/>
                  </a:lnTo>
                  <a:lnTo>
                    <a:pt x="1037" y="2182"/>
                  </a:lnTo>
                  <a:lnTo>
                    <a:pt x="938" y="2163"/>
                  </a:lnTo>
                  <a:lnTo>
                    <a:pt x="840" y="2138"/>
                  </a:lnTo>
                  <a:lnTo>
                    <a:pt x="744" y="2106"/>
                  </a:lnTo>
                  <a:lnTo>
                    <a:pt x="650" y="2066"/>
                  </a:lnTo>
                  <a:lnTo>
                    <a:pt x="563" y="2019"/>
                  </a:lnTo>
                  <a:lnTo>
                    <a:pt x="480" y="1966"/>
                  </a:lnTo>
                  <a:lnTo>
                    <a:pt x="402" y="1909"/>
                  </a:lnTo>
                  <a:lnTo>
                    <a:pt x="329" y="1843"/>
                  </a:lnTo>
                  <a:lnTo>
                    <a:pt x="264" y="1775"/>
                  </a:lnTo>
                  <a:lnTo>
                    <a:pt x="204" y="1701"/>
                  </a:lnTo>
                  <a:lnTo>
                    <a:pt x="151" y="1622"/>
                  </a:lnTo>
                  <a:lnTo>
                    <a:pt x="106" y="1542"/>
                  </a:lnTo>
                  <a:lnTo>
                    <a:pt x="68" y="1457"/>
                  </a:lnTo>
                  <a:lnTo>
                    <a:pt x="38" y="1370"/>
                  </a:lnTo>
                  <a:lnTo>
                    <a:pt x="17" y="1281"/>
                  </a:lnTo>
                  <a:lnTo>
                    <a:pt x="4" y="1192"/>
                  </a:lnTo>
                  <a:lnTo>
                    <a:pt x="0" y="1101"/>
                  </a:lnTo>
                  <a:lnTo>
                    <a:pt x="4" y="1009"/>
                  </a:lnTo>
                  <a:lnTo>
                    <a:pt x="17" y="920"/>
                  </a:lnTo>
                  <a:lnTo>
                    <a:pt x="38" y="831"/>
                  </a:lnTo>
                  <a:lnTo>
                    <a:pt x="68" y="744"/>
                  </a:lnTo>
                  <a:lnTo>
                    <a:pt x="104" y="659"/>
                  </a:lnTo>
                  <a:lnTo>
                    <a:pt x="149" y="577"/>
                  </a:lnTo>
                  <a:lnTo>
                    <a:pt x="202" y="498"/>
                  </a:lnTo>
                  <a:lnTo>
                    <a:pt x="261" y="424"/>
                  </a:lnTo>
                  <a:lnTo>
                    <a:pt x="327" y="356"/>
                  </a:lnTo>
                  <a:lnTo>
                    <a:pt x="400" y="290"/>
                  </a:lnTo>
                  <a:lnTo>
                    <a:pt x="476" y="233"/>
                  </a:lnTo>
                  <a:lnTo>
                    <a:pt x="559" y="180"/>
                  </a:lnTo>
                  <a:lnTo>
                    <a:pt x="648" y="133"/>
                  </a:lnTo>
                  <a:lnTo>
                    <a:pt x="740" y="93"/>
                  </a:lnTo>
                  <a:lnTo>
                    <a:pt x="835" y="59"/>
                  </a:lnTo>
                  <a:lnTo>
                    <a:pt x="933" y="34"/>
                  </a:lnTo>
                  <a:lnTo>
                    <a:pt x="1033" y="15"/>
                  </a:lnTo>
                  <a:lnTo>
                    <a:pt x="1135" y="4"/>
                  </a:lnTo>
                  <a:lnTo>
                    <a:pt x="123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85"/>
          <p:cNvGrpSpPr>
            <a:grpSpLocks noChangeAspect="1"/>
          </p:cNvGrpSpPr>
          <p:nvPr/>
        </p:nvGrpSpPr>
        <p:grpSpPr bwMode="auto">
          <a:xfrm>
            <a:off x="6873875" y="2211388"/>
            <a:ext cx="1416050" cy="1084262"/>
            <a:chOff x="1070" y="2167"/>
            <a:chExt cx="1361" cy="1041"/>
          </a:xfrm>
        </p:grpSpPr>
        <p:sp>
          <p:nvSpPr>
            <p:cNvPr id="196663" name="Rectangle 86"/>
            <p:cNvSpPr>
              <a:spLocks noChangeAspect="1" noChangeArrowheads="1"/>
            </p:cNvSpPr>
            <p:nvPr/>
          </p:nvSpPr>
          <p:spPr bwMode="auto">
            <a:xfrm>
              <a:off x="1070" y="256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4" name="Freeform 87"/>
            <p:cNvSpPr>
              <a:spLocks noChangeAspect="1"/>
            </p:cNvSpPr>
            <p:nvPr/>
          </p:nvSpPr>
          <p:spPr bwMode="auto">
            <a:xfrm>
              <a:off x="1114" y="2167"/>
              <a:ext cx="1317" cy="1041"/>
            </a:xfrm>
            <a:custGeom>
              <a:avLst/>
              <a:gdLst>
                <a:gd name="T0" fmla="*/ 441 w 1317"/>
                <a:gd name="T1" fmla="*/ 174 h 1041"/>
                <a:gd name="T2" fmla="*/ 506 w 1317"/>
                <a:gd name="T3" fmla="*/ 134 h 1041"/>
                <a:gd name="T4" fmla="*/ 574 w 1317"/>
                <a:gd name="T5" fmla="*/ 100 h 1041"/>
                <a:gd name="T6" fmla="*/ 643 w 1317"/>
                <a:gd name="T7" fmla="*/ 70 h 1041"/>
                <a:gd name="T8" fmla="*/ 711 w 1317"/>
                <a:gd name="T9" fmla="*/ 47 h 1041"/>
                <a:gd name="T10" fmla="*/ 781 w 1317"/>
                <a:gd name="T11" fmla="*/ 26 h 1041"/>
                <a:gd name="T12" fmla="*/ 847 w 1317"/>
                <a:gd name="T13" fmla="*/ 13 h 1041"/>
                <a:gd name="T14" fmla="*/ 910 w 1317"/>
                <a:gd name="T15" fmla="*/ 4 h 1041"/>
                <a:gd name="T16" fmla="*/ 974 w 1317"/>
                <a:gd name="T17" fmla="*/ 0 h 1041"/>
                <a:gd name="T18" fmla="*/ 1032 w 1317"/>
                <a:gd name="T19" fmla="*/ 4 h 1041"/>
                <a:gd name="T20" fmla="*/ 1087 w 1317"/>
                <a:gd name="T21" fmla="*/ 13 h 1041"/>
                <a:gd name="T22" fmla="*/ 1136 w 1317"/>
                <a:gd name="T23" fmla="*/ 26 h 1041"/>
                <a:gd name="T24" fmla="*/ 1180 w 1317"/>
                <a:gd name="T25" fmla="*/ 45 h 1041"/>
                <a:gd name="T26" fmla="*/ 1219 w 1317"/>
                <a:gd name="T27" fmla="*/ 70 h 1041"/>
                <a:gd name="T28" fmla="*/ 1253 w 1317"/>
                <a:gd name="T29" fmla="*/ 100 h 1041"/>
                <a:gd name="T30" fmla="*/ 1278 w 1317"/>
                <a:gd name="T31" fmla="*/ 134 h 1041"/>
                <a:gd name="T32" fmla="*/ 1297 w 1317"/>
                <a:gd name="T33" fmla="*/ 172 h 1041"/>
                <a:gd name="T34" fmla="*/ 1310 w 1317"/>
                <a:gd name="T35" fmla="*/ 214 h 1041"/>
                <a:gd name="T36" fmla="*/ 1317 w 1317"/>
                <a:gd name="T37" fmla="*/ 261 h 1041"/>
                <a:gd name="T38" fmla="*/ 1314 w 1317"/>
                <a:gd name="T39" fmla="*/ 310 h 1041"/>
                <a:gd name="T40" fmla="*/ 1304 w 1317"/>
                <a:gd name="T41" fmla="*/ 359 h 1041"/>
                <a:gd name="T42" fmla="*/ 1289 w 1317"/>
                <a:gd name="T43" fmla="*/ 412 h 1041"/>
                <a:gd name="T44" fmla="*/ 1265 w 1317"/>
                <a:gd name="T45" fmla="*/ 467 h 1041"/>
                <a:gd name="T46" fmla="*/ 1236 w 1317"/>
                <a:gd name="T47" fmla="*/ 520 h 1041"/>
                <a:gd name="T48" fmla="*/ 1200 w 1317"/>
                <a:gd name="T49" fmla="*/ 575 h 1041"/>
                <a:gd name="T50" fmla="*/ 1157 w 1317"/>
                <a:gd name="T51" fmla="*/ 628 h 1041"/>
                <a:gd name="T52" fmla="*/ 1110 w 1317"/>
                <a:gd name="T53" fmla="*/ 681 h 1041"/>
                <a:gd name="T54" fmla="*/ 1057 w 1317"/>
                <a:gd name="T55" fmla="*/ 732 h 1041"/>
                <a:gd name="T56" fmla="*/ 1000 w 1317"/>
                <a:gd name="T57" fmla="*/ 781 h 1041"/>
                <a:gd name="T58" fmla="*/ 940 w 1317"/>
                <a:gd name="T59" fmla="*/ 825 h 1041"/>
                <a:gd name="T60" fmla="*/ 876 w 1317"/>
                <a:gd name="T61" fmla="*/ 868 h 1041"/>
                <a:gd name="T62" fmla="*/ 810 w 1317"/>
                <a:gd name="T63" fmla="*/ 908 h 1041"/>
                <a:gd name="T64" fmla="*/ 742 w 1317"/>
                <a:gd name="T65" fmla="*/ 942 h 1041"/>
                <a:gd name="T66" fmla="*/ 674 w 1317"/>
                <a:gd name="T67" fmla="*/ 971 h 1041"/>
                <a:gd name="T68" fmla="*/ 604 w 1317"/>
                <a:gd name="T69" fmla="*/ 995 h 1041"/>
                <a:gd name="T70" fmla="*/ 536 w 1317"/>
                <a:gd name="T71" fmla="*/ 1016 h 1041"/>
                <a:gd name="T72" fmla="*/ 470 w 1317"/>
                <a:gd name="T73" fmla="*/ 1029 h 1041"/>
                <a:gd name="T74" fmla="*/ 404 w 1317"/>
                <a:gd name="T75" fmla="*/ 1037 h 1041"/>
                <a:gd name="T76" fmla="*/ 343 w 1317"/>
                <a:gd name="T77" fmla="*/ 1041 h 1041"/>
                <a:gd name="T78" fmla="*/ 283 w 1317"/>
                <a:gd name="T79" fmla="*/ 1037 h 1041"/>
                <a:gd name="T80" fmla="*/ 230 w 1317"/>
                <a:gd name="T81" fmla="*/ 1029 h 1041"/>
                <a:gd name="T82" fmla="*/ 179 w 1317"/>
                <a:gd name="T83" fmla="*/ 1016 h 1041"/>
                <a:gd name="T84" fmla="*/ 134 w 1317"/>
                <a:gd name="T85" fmla="*/ 997 h 1041"/>
                <a:gd name="T86" fmla="*/ 96 w 1317"/>
                <a:gd name="T87" fmla="*/ 971 h 1041"/>
                <a:gd name="T88" fmla="*/ 64 w 1317"/>
                <a:gd name="T89" fmla="*/ 942 h 1041"/>
                <a:gd name="T90" fmla="*/ 37 w 1317"/>
                <a:gd name="T91" fmla="*/ 908 h 1041"/>
                <a:gd name="T92" fmla="*/ 17 w 1317"/>
                <a:gd name="T93" fmla="*/ 870 h 1041"/>
                <a:gd name="T94" fmla="*/ 7 w 1317"/>
                <a:gd name="T95" fmla="*/ 827 h 1041"/>
                <a:gd name="T96" fmla="*/ 0 w 1317"/>
                <a:gd name="T97" fmla="*/ 781 h 1041"/>
                <a:gd name="T98" fmla="*/ 3 w 1317"/>
                <a:gd name="T99" fmla="*/ 732 h 1041"/>
                <a:gd name="T100" fmla="*/ 11 w 1317"/>
                <a:gd name="T101" fmla="*/ 681 h 1041"/>
                <a:gd name="T102" fmla="*/ 28 w 1317"/>
                <a:gd name="T103" fmla="*/ 630 h 1041"/>
                <a:gd name="T104" fmla="*/ 51 w 1317"/>
                <a:gd name="T105" fmla="*/ 575 h 1041"/>
                <a:gd name="T106" fmla="*/ 81 w 1317"/>
                <a:gd name="T107" fmla="*/ 522 h 1041"/>
                <a:gd name="T108" fmla="*/ 117 w 1317"/>
                <a:gd name="T109" fmla="*/ 467 h 1041"/>
                <a:gd name="T110" fmla="*/ 160 w 1317"/>
                <a:gd name="T111" fmla="*/ 414 h 1041"/>
                <a:gd name="T112" fmla="*/ 207 w 1317"/>
                <a:gd name="T113" fmla="*/ 361 h 1041"/>
                <a:gd name="T114" fmla="*/ 260 w 1317"/>
                <a:gd name="T115" fmla="*/ 310 h 1041"/>
                <a:gd name="T116" fmla="*/ 315 w 1317"/>
                <a:gd name="T117" fmla="*/ 261 h 1041"/>
                <a:gd name="T118" fmla="*/ 377 w 1317"/>
                <a:gd name="T119" fmla="*/ 216 h 1041"/>
                <a:gd name="T120" fmla="*/ 441 w 1317"/>
                <a:gd name="T121" fmla="*/ 174 h 104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1317"/>
                <a:gd name="T184" fmla="*/ 0 h 1041"/>
                <a:gd name="T185" fmla="*/ 1317 w 1317"/>
                <a:gd name="T186" fmla="*/ 1041 h 104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1317" h="1041">
                  <a:moveTo>
                    <a:pt x="441" y="174"/>
                  </a:moveTo>
                  <a:lnTo>
                    <a:pt x="506" y="134"/>
                  </a:lnTo>
                  <a:lnTo>
                    <a:pt x="574" y="100"/>
                  </a:lnTo>
                  <a:lnTo>
                    <a:pt x="643" y="70"/>
                  </a:lnTo>
                  <a:lnTo>
                    <a:pt x="711" y="47"/>
                  </a:lnTo>
                  <a:lnTo>
                    <a:pt x="781" y="26"/>
                  </a:lnTo>
                  <a:lnTo>
                    <a:pt x="847" y="13"/>
                  </a:lnTo>
                  <a:lnTo>
                    <a:pt x="910" y="4"/>
                  </a:lnTo>
                  <a:lnTo>
                    <a:pt x="974" y="0"/>
                  </a:lnTo>
                  <a:lnTo>
                    <a:pt x="1032" y="4"/>
                  </a:lnTo>
                  <a:lnTo>
                    <a:pt x="1087" y="13"/>
                  </a:lnTo>
                  <a:lnTo>
                    <a:pt x="1136" y="26"/>
                  </a:lnTo>
                  <a:lnTo>
                    <a:pt x="1180" y="45"/>
                  </a:lnTo>
                  <a:lnTo>
                    <a:pt x="1219" y="70"/>
                  </a:lnTo>
                  <a:lnTo>
                    <a:pt x="1253" y="100"/>
                  </a:lnTo>
                  <a:lnTo>
                    <a:pt x="1278" y="134"/>
                  </a:lnTo>
                  <a:lnTo>
                    <a:pt x="1297" y="172"/>
                  </a:lnTo>
                  <a:lnTo>
                    <a:pt x="1310" y="214"/>
                  </a:lnTo>
                  <a:lnTo>
                    <a:pt x="1317" y="261"/>
                  </a:lnTo>
                  <a:lnTo>
                    <a:pt x="1314" y="310"/>
                  </a:lnTo>
                  <a:lnTo>
                    <a:pt x="1304" y="359"/>
                  </a:lnTo>
                  <a:lnTo>
                    <a:pt x="1289" y="412"/>
                  </a:lnTo>
                  <a:lnTo>
                    <a:pt x="1265" y="467"/>
                  </a:lnTo>
                  <a:lnTo>
                    <a:pt x="1236" y="520"/>
                  </a:lnTo>
                  <a:lnTo>
                    <a:pt x="1200" y="575"/>
                  </a:lnTo>
                  <a:lnTo>
                    <a:pt x="1157" y="628"/>
                  </a:lnTo>
                  <a:lnTo>
                    <a:pt x="1110" y="681"/>
                  </a:lnTo>
                  <a:lnTo>
                    <a:pt x="1057" y="732"/>
                  </a:lnTo>
                  <a:lnTo>
                    <a:pt x="1000" y="781"/>
                  </a:lnTo>
                  <a:lnTo>
                    <a:pt x="940" y="825"/>
                  </a:lnTo>
                  <a:lnTo>
                    <a:pt x="876" y="868"/>
                  </a:lnTo>
                  <a:lnTo>
                    <a:pt x="810" y="908"/>
                  </a:lnTo>
                  <a:lnTo>
                    <a:pt x="742" y="942"/>
                  </a:lnTo>
                  <a:lnTo>
                    <a:pt x="674" y="971"/>
                  </a:lnTo>
                  <a:lnTo>
                    <a:pt x="604" y="995"/>
                  </a:lnTo>
                  <a:lnTo>
                    <a:pt x="536" y="1016"/>
                  </a:lnTo>
                  <a:lnTo>
                    <a:pt x="470" y="1029"/>
                  </a:lnTo>
                  <a:lnTo>
                    <a:pt x="404" y="1037"/>
                  </a:lnTo>
                  <a:lnTo>
                    <a:pt x="343" y="1041"/>
                  </a:lnTo>
                  <a:lnTo>
                    <a:pt x="283" y="1037"/>
                  </a:lnTo>
                  <a:lnTo>
                    <a:pt x="230" y="1029"/>
                  </a:lnTo>
                  <a:lnTo>
                    <a:pt x="179" y="1016"/>
                  </a:lnTo>
                  <a:lnTo>
                    <a:pt x="134" y="997"/>
                  </a:lnTo>
                  <a:lnTo>
                    <a:pt x="96" y="971"/>
                  </a:lnTo>
                  <a:lnTo>
                    <a:pt x="64" y="942"/>
                  </a:lnTo>
                  <a:lnTo>
                    <a:pt x="37" y="908"/>
                  </a:lnTo>
                  <a:lnTo>
                    <a:pt x="17" y="870"/>
                  </a:lnTo>
                  <a:lnTo>
                    <a:pt x="7" y="827"/>
                  </a:lnTo>
                  <a:lnTo>
                    <a:pt x="0" y="781"/>
                  </a:lnTo>
                  <a:lnTo>
                    <a:pt x="3" y="732"/>
                  </a:lnTo>
                  <a:lnTo>
                    <a:pt x="11" y="681"/>
                  </a:lnTo>
                  <a:lnTo>
                    <a:pt x="28" y="630"/>
                  </a:lnTo>
                  <a:lnTo>
                    <a:pt x="51" y="575"/>
                  </a:lnTo>
                  <a:lnTo>
                    <a:pt x="81" y="522"/>
                  </a:lnTo>
                  <a:lnTo>
                    <a:pt x="117" y="467"/>
                  </a:lnTo>
                  <a:lnTo>
                    <a:pt x="160" y="414"/>
                  </a:lnTo>
                  <a:lnTo>
                    <a:pt x="207" y="361"/>
                  </a:lnTo>
                  <a:lnTo>
                    <a:pt x="260" y="310"/>
                  </a:lnTo>
                  <a:lnTo>
                    <a:pt x="315" y="261"/>
                  </a:lnTo>
                  <a:lnTo>
                    <a:pt x="377" y="216"/>
                  </a:lnTo>
                  <a:lnTo>
                    <a:pt x="441" y="174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88"/>
          <p:cNvGrpSpPr>
            <a:grpSpLocks noChangeAspect="1"/>
          </p:cNvGrpSpPr>
          <p:nvPr/>
        </p:nvGrpSpPr>
        <p:grpSpPr bwMode="auto">
          <a:xfrm>
            <a:off x="6043613" y="1384300"/>
            <a:ext cx="1905000" cy="996950"/>
            <a:chOff x="272" y="1372"/>
            <a:chExt cx="1831" cy="958"/>
          </a:xfrm>
        </p:grpSpPr>
        <p:sp>
          <p:nvSpPr>
            <p:cNvPr id="196661" name="Rectangle 89"/>
            <p:cNvSpPr>
              <a:spLocks noChangeAspect="1" noChangeArrowheads="1"/>
            </p:cNvSpPr>
            <p:nvPr/>
          </p:nvSpPr>
          <p:spPr bwMode="auto">
            <a:xfrm>
              <a:off x="1165" y="1380"/>
              <a:ext cx="108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2" name="Freeform 90"/>
            <p:cNvSpPr>
              <a:spLocks noChangeAspect="1"/>
            </p:cNvSpPr>
            <p:nvPr/>
          </p:nvSpPr>
          <p:spPr bwMode="auto">
            <a:xfrm>
              <a:off x="272" y="1372"/>
              <a:ext cx="1831" cy="958"/>
            </a:xfrm>
            <a:custGeom>
              <a:avLst/>
              <a:gdLst>
                <a:gd name="T0" fmla="*/ 906 w 1831"/>
                <a:gd name="T1" fmla="*/ 25 h 958"/>
                <a:gd name="T2" fmla="*/ 1081 w 1831"/>
                <a:gd name="T3" fmla="*/ 4 h 958"/>
                <a:gd name="T4" fmla="*/ 1246 w 1831"/>
                <a:gd name="T5" fmla="*/ 0 h 958"/>
                <a:gd name="T6" fmla="*/ 1404 w 1831"/>
                <a:gd name="T7" fmla="*/ 13 h 958"/>
                <a:gd name="T8" fmla="*/ 1542 w 1831"/>
                <a:gd name="T9" fmla="*/ 42 h 958"/>
                <a:gd name="T10" fmla="*/ 1657 w 1831"/>
                <a:gd name="T11" fmla="*/ 87 h 958"/>
                <a:gd name="T12" fmla="*/ 1744 w 1831"/>
                <a:gd name="T13" fmla="*/ 146 h 958"/>
                <a:gd name="T14" fmla="*/ 1803 w 1831"/>
                <a:gd name="T15" fmla="*/ 218 h 958"/>
                <a:gd name="T16" fmla="*/ 1829 w 1831"/>
                <a:gd name="T17" fmla="*/ 299 h 958"/>
                <a:gd name="T18" fmla="*/ 1823 w 1831"/>
                <a:gd name="T19" fmla="*/ 388 h 958"/>
                <a:gd name="T20" fmla="*/ 1784 w 1831"/>
                <a:gd name="T21" fmla="*/ 477 h 958"/>
                <a:gd name="T22" fmla="*/ 1714 w 1831"/>
                <a:gd name="T23" fmla="*/ 568 h 958"/>
                <a:gd name="T24" fmla="*/ 1614 w 1831"/>
                <a:gd name="T25" fmla="*/ 657 h 958"/>
                <a:gd name="T26" fmla="*/ 1489 w 1831"/>
                <a:gd name="T27" fmla="*/ 738 h 958"/>
                <a:gd name="T28" fmla="*/ 1344 w 1831"/>
                <a:gd name="T29" fmla="*/ 810 h 958"/>
                <a:gd name="T30" fmla="*/ 1183 w 1831"/>
                <a:gd name="T31" fmla="*/ 869 h 958"/>
                <a:gd name="T32" fmla="*/ 1010 w 1831"/>
                <a:gd name="T33" fmla="*/ 914 h 958"/>
                <a:gd name="T34" fmla="*/ 838 w 1831"/>
                <a:gd name="T35" fmla="*/ 946 h 958"/>
                <a:gd name="T36" fmla="*/ 666 w 1831"/>
                <a:gd name="T37" fmla="*/ 958 h 958"/>
                <a:gd name="T38" fmla="*/ 504 w 1831"/>
                <a:gd name="T39" fmla="*/ 954 h 958"/>
                <a:gd name="T40" fmla="*/ 356 w 1831"/>
                <a:gd name="T41" fmla="*/ 933 h 958"/>
                <a:gd name="T42" fmla="*/ 228 w 1831"/>
                <a:gd name="T43" fmla="*/ 895 h 958"/>
                <a:gd name="T44" fmla="*/ 126 w 1831"/>
                <a:gd name="T45" fmla="*/ 842 h 958"/>
                <a:gd name="T46" fmla="*/ 51 w 1831"/>
                <a:gd name="T47" fmla="*/ 776 h 958"/>
                <a:gd name="T48" fmla="*/ 9 w 1831"/>
                <a:gd name="T49" fmla="*/ 700 h 958"/>
                <a:gd name="T50" fmla="*/ 0 w 1831"/>
                <a:gd name="T51" fmla="*/ 615 h 958"/>
                <a:gd name="T52" fmla="*/ 22 w 1831"/>
                <a:gd name="T53" fmla="*/ 524 h 958"/>
                <a:gd name="T54" fmla="*/ 77 w 1831"/>
                <a:gd name="T55" fmla="*/ 432 h 958"/>
                <a:gd name="T56" fmla="*/ 164 w 1831"/>
                <a:gd name="T57" fmla="*/ 343 h 958"/>
                <a:gd name="T58" fmla="*/ 277 w 1831"/>
                <a:gd name="T59" fmla="*/ 259 h 958"/>
                <a:gd name="T60" fmla="*/ 413 w 1831"/>
                <a:gd name="T61" fmla="*/ 182 h 958"/>
                <a:gd name="T62" fmla="*/ 566 w 1831"/>
                <a:gd name="T63" fmla="*/ 116 h 958"/>
                <a:gd name="T64" fmla="*/ 732 w 1831"/>
                <a:gd name="T65" fmla="*/ 63 h 95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31"/>
                <a:gd name="T100" fmla="*/ 0 h 958"/>
                <a:gd name="T101" fmla="*/ 1831 w 1831"/>
                <a:gd name="T102" fmla="*/ 958 h 958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31" h="958">
                  <a:moveTo>
                    <a:pt x="819" y="42"/>
                  </a:moveTo>
                  <a:lnTo>
                    <a:pt x="906" y="25"/>
                  </a:lnTo>
                  <a:lnTo>
                    <a:pt x="993" y="13"/>
                  </a:lnTo>
                  <a:lnTo>
                    <a:pt x="1081" y="4"/>
                  </a:lnTo>
                  <a:lnTo>
                    <a:pt x="1166" y="0"/>
                  </a:lnTo>
                  <a:lnTo>
                    <a:pt x="1246" y="0"/>
                  </a:lnTo>
                  <a:lnTo>
                    <a:pt x="1327" y="4"/>
                  </a:lnTo>
                  <a:lnTo>
                    <a:pt x="1404" y="13"/>
                  </a:lnTo>
                  <a:lnTo>
                    <a:pt x="1474" y="25"/>
                  </a:lnTo>
                  <a:lnTo>
                    <a:pt x="1542" y="42"/>
                  </a:lnTo>
                  <a:lnTo>
                    <a:pt x="1601" y="63"/>
                  </a:lnTo>
                  <a:lnTo>
                    <a:pt x="1657" y="87"/>
                  </a:lnTo>
                  <a:lnTo>
                    <a:pt x="1704" y="116"/>
                  </a:lnTo>
                  <a:lnTo>
                    <a:pt x="1744" y="146"/>
                  </a:lnTo>
                  <a:lnTo>
                    <a:pt x="1778" y="182"/>
                  </a:lnTo>
                  <a:lnTo>
                    <a:pt x="1803" y="218"/>
                  </a:lnTo>
                  <a:lnTo>
                    <a:pt x="1820" y="259"/>
                  </a:lnTo>
                  <a:lnTo>
                    <a:pt x="1829" y="299"/>
                  </a:lnTo>
                  <a:lnTo>
                    <a:pt x="1831" y="343"/>
                  </a:lnTo>
                  <a:lnTo>
                    <a:pt x="1823" y="388"/>
                  </a:lnTo>
                  <a:lnTo>
                    <a:pt x="1808" y="432"/>
                  </a:lnTo>
                  <a:lnTo>
                    <a:pt x="1784" y="477"/>
                  </a:lnTo>
                  <a:lnTo>
                    <a:pt x="1752" y="524"/>
                  </a:lnTo>
                  <a:lnTo>
                    <a:pt x="1714" y="568"/>
                  </a:lnTo>
                  <a:lnTo>
                    <a:pt x="1667" y="613"/>
                  </a:lnTo>
                  <a:lnTo>
                    <a:pt x="1614" y="657"/>
                  </a:lnTo>
                  <a:lnTo>
                    <a:pt x="1555" y="698"/>
                  </a:lnTo>
                  <a:lnTo>
                    <a:pt x="1489" y="738"/>
                  </a:lnTo>
                  <a:lnTo>
                    <a:pt x="1419" y="774"/>
                  </a:lnTo>
                  <a:lnTo>
                    <a:pt x="1344" y="810"/>
                  </a:lnTo>
                  <a:lnTo>
                    <a:pt x="1263" y="842"/>
                  </a:lnTo>
                  <a:lnTo>
                    <a:pt x="1183" y="869"/>
                  </a:lnTo>
                  <a:lnTo>
                    <a:pt x="1098" y="895"/>
                  </a:lnTo>
                  <a:lnTo>
                    <a:pt x="1010" y="914"/>
                  </a:lnTo>
                  <a:lnTo>
                    <a:pt x="925" y="931"/>
                  </a:lnTo>
                  <a:lnTo>
                    <a:pt x="838" y="946"/>
                  </a:lnTo>
                  <a:lnTo>
                    <a:pt x="751" y="954"/>
                  </a:lnTo>
                  <a:lnTo>
                    <a:pt x="666" y="958"/>
                  </a:lnTo>
                  <a:lnTo>
                    <a:pt x="583" y="958"/>
                  </a:lnTo>
                  <a:lnTo>
                    <a:pt x="504" y="954"/>
                  </a:lnTo>
                  <a:lnTo>
                    <a:pt x="428" y="946"/>
                  </a:lnTo>
                  <a:lnTo>
                    <a:pt x="356" y="933"/>
                  </a:lnTo>
                  <a:lnTo>
                    <a:pt x="290" y="916"/>
                  </a:lnTo>
                  <a:lnTo>
                    <a:pt x="228" y="895"/>
                  </a:lnTo>
                  <a:lnTo>
                    <a:pt x="175" y="869"/>
                  </a:lnTo>
                  <a:lnTo>
                    <a:pt x="126" y="842"/>
                  </a:lnTo>
                  <a:lnTo>
                    <a:pt x="86" y="810"/>
                  </a:lnTo>
                  <a:lnTo>
                    <a:pt x="51" y="776"/>
                  </a:lnTo>
                  <a:lnTo>
                    <a:pt x="26" y="738"/>
                  </a:lnTo>
                  <a:lnTo>
                    <a:pt x="9" y="700"/>
                  </a:lnTo>
                  <a:lnTo>
                    <a:pt x="0" y="657"/>
                  </a:lnTo>
                  <a:lnTo>
                    <a:pt x="0" y="615"/>
                  </a:lnTo>
                  <a:lnTo>
                    <a:pt x="7" y="570"/>
                  </a:lnTo>
                  <a:lnTo>
                    <a:pt x="22" y="524"/>
                  </a:lnTo>
                  <a:lnTo>
                    <a:pt x="47" y="479"/>
                  </a:lnTo>
                  <a:lnTo>
                    <a:pt x="77" y="432"/>
                  </a:lnTo>
                  <a:lnTo>
                    <a:pt x="117" y="388"/>
                  </a:lnTo>
                  <a:lnTo>
                    <a:pt x="164" y="343"/>
                  </a:lnTo>
                  <a:lnTo>
                    <a:pt x="217" y="301"/>
                  </a:lnTo>
                  <a:lnTo>
                    <a:pt x="277" y="259"/>
                  </a:lnTo>
                  <a:lnTo>
                    <a:pt x="341" y="220"/>
                  </a:lnTo>
                  <a:lnTo>
                    <a:pt x="413" y="182"/>
                  </a:lnTo>
                  <a:lnTo>
                    <a:pt x="487" y="148"/>
                  </a:lnTo>
                  <a:lnTo>
                    <a:pt x="566" y="116"/>
                  </a:lnTo>
                  <a:lnTo>
                    <a:pt x="649" y="89"/>
                  </a:lnTo>
                  <a:lnTo>
                    <a:pt x="732" y="63"/>
                  </a:lnTo>
                  <a:lnTo>
                    <a:pt x="819" y="42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633" name="Group 91"/>
          <p:cNvGrpSpPr>
            <a:grpSpLocks noChangeAspect="1"/>
          </p:cNvGrpSpPr>
          <p:nvPr/>
        </p:nvGrpSpPr>
        <p:grpSpPr bwMode="auto">
          <a:xfrm>
            <a:off x="1009650" y="1362075"/>
            <a:ext cx="1990725" cy="1806575"/>
            <a:chOff x="471" y="1117"/>
            <a:chExt cx="1935" cy="1755"/>
          </a:xfrm>
        </p:grpSpPr>
        <p:sp>
          <p:nvSpPr>
            <p:cNvPr id="196649" name="Freeform 92"/>
            <p:cNvSpPr>
              <a:spLocks noChangeAspect="1"/>
            </p:cNvSpPr>
            <p:nvPr/>
          </p:nvSpPr>
          <p:spPr bwMode="auto">
            <a:xfrm>
              <a:off x="1072" y="1810"/>
              <a:ext cx="89" cy="87"/>
            </a:xfrm>
            <a:custGeom>
              <a:avLst/>
              <a:gdLst>
                <a:gd name="T0" fmla="*/ 0 w 89"/>
                <a:gd name="T1" fmla="*/ 43 h 87"/>
                <a:gd name="T2" fmla="*/ 4 w 89"/>
                <a:gd name="T3" fmla="*/ 26 h 87"/>
                <a:gd name="T4" fmla="*/ 13 w 89"/>
                <a:gd name="T5" fmla="*/ 11 h 87"/>
                <a:gd name="T6" fmla="*/ 28 w 89"/>
                <a:gd name="T7" fmla="*/ 2 h 87"/>
                <a:gd name="T8" fmla="*/ 43 w 89"/>
                <a:gd name="T9" fmla="*/ 0 h 87"/>
                <a:gd name="T10" fmla="*/ 61 w 89"/>
                <a:gd name="T11" fmla="*/ 2 h 87"/>
                <a:gd name="T12" fmla="*/ 76 w 89"/>
                <a:gd name="T13" fmla="*/ 11 h 87"/>
                <a:gd name="T14" fmla="*/ 84 w 89"/>
                <a:gd name="T15" fmla="*/ 26 h 87"/>
                <a:gd name="T16" fmla="*/ 89 w 89"/>
                <a:gd name="T17" fmla="*/ 43 h 87"/>
                <a:gd name="T18" fmla="*/ 84 w 89"/>
                <a:gd name="T19" fmla="*/ 61 h 87"/>
                <a:gd name="T20" fmla="*/ 76 w 89"/>
                <a:gd name="T21" fmla="*/ 74 h 87"/>
                <a:gd name="T22" fmla="*/ 61 w 89"/>
                <a:gd name="T23" fmla="*/ 84 h 87"/>
                <a:gd name="T24" fmla="*/ 43 w 89"/>
                <a:gd name="T25" fmla="*/ 87 h 87"/>
                <a:gd name="T26" fmla="*/ 28 w 89"/>
                <a:gd name="T27" fmla="*/ 84 h 87"/>
                <a:gd name="T28" fmla="*/ 13 w 89"/>
                <a:gd name="T29" fmla="*/ 74 h 87"/>
                <a:gd name="T30" fmla="*/ 4 w 89"/>
                <a:gd name="T31" fmla="*/ 61 h 87"/>
                <a:gd name="T32" fmla="*/ 0 w 89"/>
                <a:gd name="T33" fmla="*/ 43 h 8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7"/>
                <a:gd name="T53" fmla="*/ 89 w 89"/>
                <a:gd name="T54" fmla="*/ 87 h 87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7">
                  <a:moveTo>
                    <a:pt x="0" y="43"/>
                  </a:moveTo>
                  <a:lnTo>
                    <a:pt x="4" y="26"/>
                  </a:lnTo>
                  <a:lnTo>
                    <a:pt x="13" y="11"/>
                  </a:lnTo>
                  <a:lnTo>
                    <a:pt x="28" y="2"/>
                  </a:lnTo>
                  <a:lnTo>
                    <a:pt x="43" y="0"/>
                  </a:lnTo>
                  <a:lnTo>
                    <a:pt x="61" y="2"/>
                  </a:lnTo>
                  <a:lnTo>
                    <a:pt x="76" y="11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1"/>
                  </a:lnTo>
                  <a:lnTo>
                    <a:pt x="76" y="74"/>
                  </a:lnTo>
                  <a:lnTo>
                    <a:pt x="61" y="84"/>
                  </a:lnTo>
                  <a:lnTo>
                    <a:pt x="43" y="87"/>
                  </a:lnTo>
                  <a:lnTo>
                    <a:pt x="28" y="84"/>
                  </a:lnTo>
                  <a:lnTo>
                    <a:pt x="13" y="74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0" name="Freeform 93"/>
            <p:cNvSpPr>
              <a:spLocks noChangeAspect="1"/>
            </p:cNvSpPr>
            <p:nvPr/>
          </p:nvSpPr>
          <p:spPr bwMode="auto">
            <a:xfrm>
              <a:off x="1894" y="1169"/>
              <a:ext cx="89" cy="86"/>
            </a:xfrm>
            <a:custGeom>
              <a:avLst/>
              <a:gdLst>
                <a:gd name="T0" fmla="*/ 0 w 89"/>
                <a:gd name="T1" fmla="*/ 43 h 86"/>
                <a:gd name="T2" fmla="*/ 4 w 89"/>
                <a:gd name="T3" fmla="*/ 26 h 86"/>
                <a:gd name="T4" fmla="*/ 13 w 89"/>
                <a:gd name="T5" fmla="*/ 13 h 86"/>
                <a:gd name="T6" fmla="*/ 28 w 89"/>
                <a:gd name="T7" fmla="*/ 2 h 86"/>
                <a:gd name="T8" fmla="*/ 45 w 89"/>
                <a:gd name="T9" fmla="*/ 0 h 86"/>
                <a:gd name="T10" fmla="*/ 61 w 89"/>
                <a:gd name="T11" fmla="*/ 2 h 86"/>
                <a:gd name="T12" fmla="*/ 76 w 89"/>
                <a:gd name="T13" fmla="*/ 13 h 86"/>
                <a:gd name="T14" fmla="*/ 84 w 89"/>
                <a:gd name="T15" fmla="*/ 26 h 86"/>
                <a:gd name="T16" fmla="*/ 89 w 89"/>
                <a:gd name="T17" fmla="*/ 43 h 86"/>
                <a:gd name="T18" fmla="*/ 84 w 89"/>
                <a:gd name="T19" fmla="*/ 60 h 86"/>
                <a:gd name="T20" fmla="*/ 76 w 89"/>
                <a:gd name="T21" fmla="*/ 73 h 86"/>
                <a:gd name="T22" fmla="*/ 61 w 89"/>
                <a:gd name="T23" fmla="*/ 84 h 86"/>
                <a:gd name="T24" fmla="*/ 45 w 89"/>
                <a:gd name="T25" fmla="*/ 86 h 86"/>
                <a:gd name="T26" fmla="*/ 28 w 89"/>
                <a:gd name="T27" fmla="*/ 84 h 86"/>
                <a:gd name="T28" fmla="*/ 13 w 89"/>
                <a:gd name="T29" fmla="*/ 73 h 86"/>
                <a:gd name="T30" fmla="*/ 4 w 89"/>
                <a:gd name="T31" fmla="*/ 60 h 86"/>
                <a:gd name="T32" fmla="*/ 0 w 89"/>
                <a:gd name="T33" fmla="*/ 43 h 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6"/>
                <a:gd name="T53" fmla="*/ 89 w 89"/>
                <a:gd name="T54" fmla="*/ 86 h 8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6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5" y="0"/>
                  </a:lnTo>
                  <a:lnTo>
                    <a:pt x="61" y="2"/>
                  </a:lnTo>
                  <a:lnTo>
                    <a:pt x="76" y="13"/>
                  </a:lnTo>
                  <a:lnTo>
                    <a:pt x="84" y="26"/>
                  </a:lnTo>
                  <a:lnTo>
                    <a:pt x="89" y="43"/>
                  </a:lnTo>
                  <a:lnTo>
                    <a:pt x="84" y="60"/>
                  </a:lnTo>
                  <a:lnTo>
                    <a:pt x="76" y="73"/>
                  </a:lnTo>
                  <a:lnTo>
                    <a:pt x="61" y="84"/>
                  </a:lnTo>
                  <a:lnTo>
                    <a:pt x="45" y="86"/>
                  </a:lnTo>
                  <a:lnTo>
                    <a:pt x="28" y="84"/>
                  </a:lnTo>
                  <a:lnTo>
                    <a:pt x="13" y="73"/>
                  </a:lnTo>
                  <a:lnTo>
                    <a:pt x="4" y="60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1" name="Freeform 94"/>
            <p:cNvSpPr>
              <a:spLocks noChangeAspect="1"/>
            </p:cNvSpPr>
            <p:nvPr/>
          </p:nvSpPr>
          <p:spPr bwMode="auto">
            <a:xfrm>
              <a:off x="1295" y="2683"/>
              <a:ext cx="89" cy="88"/>
            </a:xfrm>
            <a:custGeom>
              <a:avLst/>
              <a:gdLst>
                <a:gd name="T0" fmla="*/ 0 w 89"/>
                <a:gd name="T1" fmla="*/ 45 h 88"/>
                <a:gd name="T2" fmla="*/ 4 w 89"/>
                <a:gd name="T3" fmla="*/ 28 h 88"/>
                <a:gd name="T4" fmla="*/ 13 w 89"/>
                <a:gd name="T5" fmla="*/ 12 h 88"/>
                <a:gd name="T6" fmla="*/ 28 w 89"/>
                <a:gd name="T7" fmla="*/ 4 h 88"/>
                <a:gd name="T8" fmla="*/ 45 w 89"/>
                <a:gd name="T9" fmla="*/ 0 h 88"/>
                <a:gd name="T10" fmla="*/ 60 w 89"/>
                <a:gd name="T11" fmla="*/ 4 h 88"/>
                <a:gd name="T12" fmla="*/ 76 w 89"/>
                <a:gd name="T13" fmla="*/ 12 h 88"/>
                <a:gd name="T14" fmla="*/ 86 w 89"/>
                <a:gd name="T15" fmla="*/ 28 h 88"/>
                <a:gd name="T16" fmla="*/ 89 w 89"/>
                <a:gd name="T17" fmla="*/ 45 h 88"/>
                <a:gd name="T18" fmla="*/ 86 w 89"/>
                <a:gd name="T19" fmla="*/ 62 h 88"/>
                <a:gd name="T20" fmla="*/ 76 w 89"/>
                <a:gd name="T21" fmla="*/ 75 h 88"/>
                <a:gd name="T22" fmla="*/ 60 w 89"/>
                <a:gd name="T23" fmla="*/ 86 h 88"/>
                <a:gd name="T24" fmla="*/ 45 w 89"/>
                <a:gd name="T25" fmla="*/ 88 h 88"/>
                <a:gd name="T26" fmla="*/ 28 w 89"/>
                <a:gd name="T27" fmla="*/ 86 h 88"/>
                <a:gd name="T28" fmla="*/ 13 w 89"/>
                <a:gd name="T29" fmla="*/ 75 h 88"/>
                <a:gd name="T30" fmla="*/ 4 w 89"/>
                <a:gd name="T31" fmla="*/ 62 h 88"/>
                <a:gd name="T32" fmla="*/ 0 w 89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8"/>
                <a:gd name="T53" fmla="*/ 89 w 89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8">
                  <a:moveTo>
                    <a:pt x="0" y="45"/>
                  </a:moveTo>
                  <a:lnTo>
                    <a:pt x="4" y="28"/>
                  </a:lnTo>
                  <a:lnTo>
                    <a:pt x="13" y="12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6" y="12"/>
                  </a:lnTo>
                  <a:lnTo>
                    <a:pt x="86" y="28"/>
                  </a:lnTo>
                  <a:lnTo>
                    <a:pt x="89" y="45"/>
                  </a:lnTo>
                  <a:lnTo>
                    <a:pt x="86" y="62"/>
                  </a:lnTo>
                  <a:lnTo>
                    <a:pt x="76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2" name="Freeform 95"/>
            <p:cNvSpPr>
              <a:spLocks noChangeAspect="1"/>
            </p:cNvSpPr>
            <p:nvPr/>
          </p:nvSpPr>
          <p:spPr bwMode="auto">
            <a:xfrm>
              <a:off x="471" y="1683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4 w 88"/>
                <a:gd name="T3" fmla="*/ 28 h 88"/>
                <a:gd name="T4" fmla="*/ 13 w 88"/>
                <a:gd name="T5" fmla="*/ 13 h 88"/>
                <a:gd name="T6" fmla="*/ 28 w 88"/>
                <a:gd name="T7" fmla="*/ 4 h 88"/>
                <a:gd name="T8" fmla="*/ 45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0 h 88"/>
                <a:gd name="T20" fmla="*/ 75 w 88"/>
                <a:gd name="T21" fmla="*/ 75 h 88"/>
                <a:gd name="T22" fmla="*/ 60 w 88"/>
                <a:gd name="T23" fmla="*/ 86 h 88"/>
                <a:gd name="T24" fmla="*/ 45 w 88"/>
                <a:gd name="T25" fmla="*/ 88 h 88"/>
                <a:gd name="T26" fmla="*/ 28 w 88"/>
                <a:gd name="T27" fmla="*/ 86 h 88"/>
                <a:gd name="T28" fmla="*/ 13 w 88"/>
                <a:gd name="T29" fmla="*/ 75 h 88"/>
                <a:gd name="T30" fmla="*/ 4 w 88"/>
                <a:gd name="T31" fmla="*/ 60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4" y="28"/>
                  </a:lnTo>
                  <a:lnTo>
                    <a:pt x="13" y="13"/>
                  </a:lnTo>
                  <a:lnTo>
                    <a:pt x="28" y="4"/>
                  </a:lnTo>
                  <a:lnTo>
                    <a:pt x="45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0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5" y="88"/>
                  </a:lnTo>
                  <a:lnTo>
                    <a:pt x="28" y="86"/>
                  </a:lnTo>
                  <a:lnTo>
                    <a:pt x="13" y="75"/>
                  </a:lnTo>
                  <a:lnTo>
                    <a:pt x="4" y="60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3" name="Freeform 96"/>
            <p:cNvSpPr>
              <a:spLocks noChangeAspect="1"/>
            </p:cNvSpPr>
            <p:nvPr/>
          </p:nvSpPr>
          <p:spPr bwMode="auto">
            <a:xfrm>
              <a:off x="1652" y="2117"/>
              <a:ext cx="88" cy="88"/>
            </a:xfrm>
            <a:custGeom>
              <a:avLst/>
              <a:gdLst>
                <a:gd name="T0" fmla="*/ 0 w 88"/>
                <a:gd name="T1" fmla="*/ 45 h 88"/>
                <a:gd name="T2" fmla="*/ 2 w 88"/>
                <a:gd name="T3" fmla="*/ 28 h 88"/>
                <a:gd name="T4" fmla="*/ 13 w 88"/>
                <a:gd name="T5" fmla="*/ 13 h 88"/>
                <a:gd name="T6" fmla="*/ 26 w 88"/>
                <a:gd name="T7" fmla="*/ 4 h 88"/>
                <a:gd name="T8" fmla="*/ 43 w 88"/>
                <a:gd name="T9" fmla="*/ 0 h 88"/>
                <a:gd name="T10" fmla="*/ 60 w 88"/>
                <a:gd name="T11" fmla="*/ 4 h 88"/>
                <a:gd name="T12" fmla="*/ 75 w 88"/>
                <a:gd name="T13" fmla="*/ 13 h 88"/>
                <a:gd name="T14" fmla="*/ 84 w 88"/>
                <a:gd name="T15" fmla="*/ 28 h 88"/>
                <a:gd name="T16" fmla="*/ 88 w 88"/>
                <a:gd name="T17" fmla="*/ 45 h 88"/>
                <a:gd name="T18" fmla="*/ 84 w 88"/>
                <a:gd name="T19" fmla="*/ 62 h 88"/>
                <a:gd name="T20" fmla="*/ 75 w 88"/>
                <a:gd name="T21" fmla="*/ 75 h 88"/>
                <a:gd name="T22" fmla="*/ 60 w 88"/>
                <a:gd name="T23" fmla="*/ 86 h 88"/>
                <a:gd name="T24" fmla="*/ 43 w 88"/>
                <a:gd name="T25" fmla="*/ 88 h 88"/>
                <a:gd name="T26" fmla="*/ 26 w 88"/>
                <a:gd name="T27" fmla="*/ 86 h 88"/>
                <a:gd name="T28" fmla="*/ 13 w 88"/>
                <a:gd name="T29" fmla="*/ 75 h 88"/>
                <a:gd name="T30" fmla="*/ 2 w 88"/>
                <a:gd name="T31" fmla="*/ 62 h 88"/>
                <a:gd name="T32" fmla="*/ 0 w 88"/>
                <a:gd name="T33" fmla="*/ 45 h 8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8"/>
                <a:gd name="T52" fmla="*/ 0 h 88"/>
                <a:gd name="T53" fmla="*/ 88 w 88"/>
                <a:gd name="T54" fmla="*/ 88 h 8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8" h="88">
                  <a:moveTo>
                    <a:pt x="0" y="45"/>
                  </a:moveTo>
                  <a:lnTo>
                    <a:pt x="2" y="28"/>
                  </a:lnTo>
                  <a:lnTo>
                    <a:pt x="13" y="13"/>
                  </a:lnTo>
                  <a:lnTo>
                    <a:pt x="26" y="4"/>
                  </a:lnTo>
                  <a:lnTo>
                    <a:pt x="43" y="0"/>
                  </a:lnTo>
                  <a:lnTo>
                    <a:pt x="60" y="4"/>
                  </a:lnTo>
                  <a:lnTo>
                    <a:pt x="75" y="13"/>
                  </a:lnTo>
                  <a:lnTo>
                    <a:pt x="84" y="28"/>
                  </a:lnTo>
                  <a:lnTo>
                    <a:pt x="88" y="45"/>
                  </a:lnTo>
                  <a:lnTo>
                    <a:pt x="84" y="62"/>
                  </a:lnTo>
                  <a:lnTo>
                    <a:pt x="75" y="75"/>
                  </a:lnTo>
                  <a:lnTo>
                    <a:pt x="60" y="86"/>
                  </a:lnTo>
                  <a:lnTo>
                    <a:pt x="43" y="88"/>
                  </a:lnTo>
                  <a:lnTo>
                    <a:pt x="26" y="86"/>
                  </a:lnTo>
                  <a:lnTo>
                    <a:pt x="13" y="75"/>
                  </a:lnTo>
                  <a:lnTo>
                    <a:pt x="2" y="62"/>
                  </a:lnTo>
                  <a:lnTo>
                    <a:pt x="0" y="45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4" name="Freeform 97"/>
            <p:cNvSpPr>
              <a:spLocks noChangeAspect="1"/>
            </p:cNvSpPr>
            <p:nvPr/>
          </p:nvSpPr>
          <p:spPr bwMode="auto">
            <a:xfrm>
              <a:off x="2134" y="2177"/>
              <a:ext cx="89" cy="89"/>
            </a:xfrm>
            <a:custGeom>
              <a:avLst/>
              <a:gdLst>
                <a:gd name="T0" fmla="*/ 0 w 89"/>
                <a:gd name="T1" fmla="*/ 43 h 89"/>
                <a:gd name="T2" fmla="*/ 4 w 89"/>
                <a:gd name="T3" fmla="*/ 26 h 89"/>
                <a:gd name="T4" fmla="*/ 13 w 89"/>
                <a:gd name="T5" fmla="*/ 13 h 89"/>
                <a:gd name="T6" fmla="*/ 28 w 89"/>
                <a:gd name="T7" fmla="*/ 2 h 89"/>
                <a:gd name="T8" fmla="*/ 46 w 89"/>
                <a:gd name="T9" fmla="*/ 0 h 89"/>
                <a:gd name="T10" fmla="*/ 63 w 89"/>
                <a:gd name="T11" fmla="*/ 2 h 89"/>
                <a:gd name="T12" fmla="*/ 76 w 89"/>
                <a:gd name="T13" fmla="*/ 13 h 89"/>
                <a:gd name="T14" fmla="*/ 87 w 89"/>
                <a:gd name="T15" fmla="*/ 26 h 89"/>
                <a:gd name="T16" fmla="*/ 89 w 89"/>
                <a:gd name="T17" fmla="*/ 43 h 89"/>
                <a:gd name="T18" fmla="*/ 87 w 89"/>
                <a:gd name="T19" fmla="*/ 61 h 89"/>
                <a:gd name="T20" fmla="*/ 76 w 89"/>
                <a:gd name="T21" fmla="*/ 76 h 89"/>
                <a:gd name="T22" fmla="*/ 63 w 89"/>
                <a:gd name="T23" fmla="*/ 84 h 89"/>
                <a:gd name="T24" fmla="*/ 46 w 89"/>
                <a:gd name="T25" fmla="*/ 89 h 89"/>
                <a:gd name="T26" fmla="*/ 28 w 89"/>
                <a:gd name="T27" fmla="*/ 84 h 89"/>
                <a:gd name="T28" fmla="*/ 13 w 89"/>
                <a:gd name="T29" fmla="*/ 76 h 89"/>
                <a:gd name="T30" fmla="*/ 4 w 89"/>
                <a:gd name="T31" fmla="*/ 61 h 89"/>
                <a:gd name="T32" fmla="*/ 0 w 89"/>
                <a:gd name="T33" fmla="*/ 43 h 8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89"/>
                <a:gd name="T52" fmla="*/ 0 h 89"/>
                <a:gd name="T53" fmla="*/ 89 w 89"/>
                <a:gd name="T54" fmla="*/ 89 h 8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89" h="89">
                  <a:moveTo>
                    <a:pt x="0" y="43"/>
                  </a:moveTo>
                  <a:lnTo>
                    <a:pt x="4" y="26"/>
                  </a:lnTo>
                  <a:lnTo>
                    <a:pt x="13" y="13"/>
                  </a:lnTo>
                  <a:lnTo>
                    <a:pt x="28" y="2"/>
                  </a:lnTo>
                  <a:lnTo>
                    <a:pt x="46" y="0"/>
                  </a:lnTo>
                  <a:lnTo>
                    <a:pt x="63" y="2"/>
                  </a:lnTo>
                  <a:lnTo>
                    <a:pt x="76" y="13"/>
                  </a:lnTo>
                  <a:lnTo>
                    <a:pt x="87" y="26"/>
                  </a:lnTo>
                  <a:lnTo>
                    <a:pt x="89" y="43"/>
                  </a:lnTo>
                  <a:lnTo>
                    <a:pt x="87" y="61"/>
                  </a:lnTo>
                  <a:lnTo>
                    <a:pt x="76" y="76"/>
                  </a:lnTo>
                  <a:lnTo>
                    <a:pt x="63" y="84"/>
                  </a:lnTo>
                  <a:lnTo>
                    <a:pt x="46" y="89"/>
                  </a:lnTo>
                  <a:lnTo>
                    <a:pt x="28" y="84"/>
                  </a:lnTo>
                  <a:lnTo>
                    <a:pt x="13" y="76"/>
                  </a:lnTo>
                  <a:lnTo>
                    <a:pt x="4" y="61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1A1A1A"/>
            </a:solidFill>
            <a:ln w="31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55" name="Rectangle 98"/>
            <p:cNvSpPr>
              <a:spLocks noChangeAspect="1" noChangeArrowheads="1"/>
            </p:cNvSpPr>
            <p:nvPr/>
          </p:nvSpPr>
          <p:spPr bwMode="auto">
            <a:xfrm>
              <a:off x="2033" y="1117"/>
              <a:ext cx="98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6" name="Rectangle 99"/>
            <p:cNvSpPr>
              <a:spLocks noChangeAspect="1" noChangeArrowheads="1"/>
            </p:cNvSpPr>
            <p:nvPr/>
          </p:nvSpPr>
          <p:spPr bwMode="auto">
            <a:xfrm>
              <a:off x="1256" y="1765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7" name="Rectangle 100"/>
            <p:cNvSpPr>
              <a:spLocks noChangeAspect="1" noChangeArrowheads="1"/>
            </p:cNvSpPr>
            <p:nvPr/>
          </p:nvSpPr>
          <p:spPr bwMode="auto">
            <a:xfrm>
              <a:off x="1810" y="2069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8" name="Rectangle 101"/>
            <p:cNvSpPr>
              <a:spLocks noChangeAspect="1" noChangeArrowheads="1"/>
            </p:cNvSpPr>
            <p:nvPr/>
          </p:nvSpPr>
          <p:spPr bwMode="auto">
            <a:xfrm>
              <a:off x="1422" y="2635"/>
              <a:ext cx="98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59" name="Rectangle 102"/>
            <p:cNvSpPr>
              <a:spLocks noChangeAspect="1" noChangeArrowheads="1"/>
            </p:cNvSpPr>
            <p:nvPr/>
          </p:nvSpPr>
          <p:spPr bwMode="auto">
            <a:xfrm>
              <a:off x="648" y="16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60" name="Rectangle 103"/>
            <p:cNvSpPr>
              <a:spLocks noChangeAspect="1" noChangeArrowheads="1"/>
            </p:cNvSpPr>
            <p:nvPr/>
          </p:nvSpPr>
          <p:spPr bwMode="auto">
            <a:xfrm>
              <a:off x="2307" y="2126"/>
              <a:ext cx="9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104"/>
          <p:cNvGrpSpPr>
            <a:grpSpLocks noChangeAspect="1"/>
          </p:cNvGrpSpPr>
          <p:nvPr/>
        </p:nvGrpSpPr>
        <p:grpSpPr bwMode="auto">
          <a:xfrm>
            <a:off x="2141538" y="2070100"/>
            <a:ext cx="923925" cy="592138"/>
            <a:chOff x="1572" y="1805"/>
            <a:chExt cx="897" cy="575"/>
          </a:xfrm>
        </p:grpSpPr>
        <p:sp>
          <p:nvSpPr>
            <p:cNvPr id="196647" name="Freeform 105"/>
            <p:cNvSpPr>
              <a:spLocks noChangeAspect="1"/>
            </p:cNvSpPr>
            <p:nvPr/>
          </p:nvSpPr>
          <p:spPr bwMode="auto">
            <a:xfrm>
              <a:off x="1572" y="2005"/>
              <a:ext cx="897" cy="375"/>
            </a:xfrm>
            <a:custGeom>
              <a:avLst/>
              <a:gdLst>
                <a:gd name="T0" fmla="*/ 450 w 897"/>
                <a:gd name="T1" fmla="*/ 0 h 375"/>
                <a:gd name="T2" fmla="*/ 510 w 897"/>
                <a:gd name="T3" fmla="*/ 2 h 375"/>
                <a:gd name="T4" fmla="*/ 571 w 897"/>
                <a:gd name="T5" fmla="*/ 6 h 375"/>
                <a:gd name="T6" fmla="*/ 629 w 897"/>
                <a:gd name="T7" fmla="*/ 15 h 375"/>
                <a:gd name="T8" fmla="*/ 683 w 897"/>
                <a:gd name="T9" fmla="*/ 28 h 375"/>
                <a:gd name="T10" fmla="*/ 733 w 897"/>
                <a:gd name="T11" fmla="*/ 43 h 375"/>
                <a:gd name="T12" fmla="*/ 778 w 897"/>
                <a:gd name="T13" fmla="*/ 60 h 375"/>
                <a:gd name="T14" fmla="*/ 817 w 897"/>
                <a:gd name="T15" fmla="*/ 79 h 375"/>
                <a:gd name="T16" fmla="*/ 850 w 897"/>
                <a:gd name="T17" fmla="*/ 101 h 375"/>
                <a:gd name="T18" fmla="*/ 874 w 897"/>
                <a:gd name="T19" fmla="*/ 125 h 375"/>
                <a:gd name="T20" fmla="*/ 891 w 897"/>
                <a:gd name="T21" fmla="*/ 149 h 375"/>
                <a:gd name="T22" fmla="*/ 897 w 897"/>
                <a:gd name="T23" fmla="*/ 174 h 375"/>
                <a:gd name="T24" fmla="*/ 897 w 897"/>
                <a:gd name="T25" fmla="*/ 200 h 375"/>
                <a:gd name="T26" fmla="*/ 891 w 897"/>
                <a:gd name="T27" fmla="*/ 226 h 375"/>
                <a:gd name="T28" fmla="*/ 874 w 897"/>
                <a:gd name="T29" fmla="*/ 250 h 375"/>
                <a:gd name="T30" fmla="*/ 850 w 897"/>
                <a:gd name="T31" fmla="*/ 274 h 375"/>
                <a:gd name="T32" fmla="*/ 817 w 897"/>
                <a:gd name="T33" fmla="*/ 295 h 375"/>
                <a:gd name="T34" fmla="*/ 778 w 897"/>
                <a:gd name="T35" fmla="*/ 315 h 375"/>
                <a:gd name="T36" fmla="*/ 733 w 897"/>
                <a:gd name="T37" fmla="*/ 332 h 375"/>
                <a:gd name="T38" fmla="*/ 683 w 897"/>
                <a:gd name="T39" fmla="*/ 347 h 375"/>
                <a:gd name="T40" fmla="*/ 629 w 897"/>
                <a:gd name="T41" fmla="*/ 360 h 375"/>
                <a:gd name="T42" fmla="*/ 571 w 897"/>
                <a:gd name="T43" fmla="*/ 369 h 375"/>
                <a:gd name="T44" fmla="*/ 510 w 897"/>
                <a:gd name="T45" fmla="*/ 373 h 375"/>
                <a:gd name="T46" fmla="*/ 450 w 897"/>
                <a:gd name="T47" fmla="*/ 375 h 375"/>
                <a:gd name="T48" fmla="*/ 387 w 897"/>
                <a:gd name="T49" fmla="*/ 373 h 375"/>
                <a:gd name="T50" fmla="*/ 329 w 897"/>
                <a:gd name="T51" fmla="*/ 369 h 375"/>
                <a:gd name="T52" fmla="*/ 270 w 897"/>
                <a:gd name="T53" fmla="*/ 360 h 375"/>
                <a:gd name="T54" fmla="*/ 216 w 897"/>
                <a:gd name="T55" fmla="*/ 347 h 375"/>
                <a:gd name="T56" fmla="*/ 164 w 897"/>
                <a:gd name="T57" fmla="*/ 332 h 375"/>
                <a:gd name="T58" fmla="*/ 121 w 897"/>
                <a:gd name="T59" fmla="*/ 315 h 375"/>
                <a:gd name="T60" fmla="*/ 82 w 897"/>
                <a:gd name="T61" fmla="*/ 295 h 375"/>
                <a:gd name="T62" fmla="*/ 49 w 897"/>
                <a:gd name="T63" fmla="*/ 274 h 375"/>
                <a:gd name="T64" fmla="*/ 26 w 897"/>
                <a:gd name="T65" fmla="*/ 250 h 375"/>
                <a:gd name="T66" fmla="*/ 8 w 897"/>
                <a:gd name="T67" fmla="*/ 226 h 375"/>
                <a:gd name="T68" fmla="*/ 0 w 897"/>
                <a:gd name="T69" fmla="*/ 200 h 375"/>
                <a:gd name="T70" fmla="*/ 0 w 897"/>
                <a:gd name="T71" fmla="*/ 174 h 375"/>
                <a:gd name="T72" fmla="*/ 8 w 897"/>
                <a:gd name="T73" fmla="*/ 149 h 375"/>
                <a:gd name="T74" fmla="*/ 26 w 897"/>
                <a:gd name="T75" fmla="*/ 125 h 375"/>
                <a:gd name="T76" fmla="*/ 49 w 897"/>
                <a:gd name="T77" fmla="*/ 101 h 375"/>
                <a:gd name="T78" fmla="*/ 82 w 897"/>
                <a:gd name="T79" fmla="*/ 79 h 375"/>
                <a:gd name="T80" fmla="*/ 121 w 897"/>
                <a:gd name="T81" fmla="*/ 60 h 375"/>
                <a:gd name="T82" fmla="*/ 164 w 897"/>
                <a:gd name="T83" fmla="*/ 43 h 375"/>
                <a:gd name="T84" fmla="*/ 216 w 897"/>
                <a:gd name="T85" fmla="*/ 28 h 375"/>
                <a:gd name="T86" fmla="*/ 270 w 897"/>
                <a:gd name="T87" fmla="*/ 15 h 375"/>
                <a:gd name="T88" fmla="*/ 329 w 897"/>
                <a:gd name="T89" fmla="*/ 6 h 375"/>
                <a:gd name="T90" fmla="*/ 387 w 897"/>
                <a:gd name="T91" fmla="*/ 2 h 375"/>
                <a:gd name="T92" fmla="*/ 450 w 897"/>
                <a:gd name="T93" fmla="*/ 0 h 375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897"/>
                <a:gd name="T142" fmla="*/ 0 h 375"/>
                <a:gd name="T143" fmla="*/ 897 w 897"/>
                <a:gd name="T144" fmla="*/ 375 h 375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897" h="375">
                  <a:moveTo>
                    <a:pt x="450" y="0"/>
                  </a:moveTo>
                  <a:lnTo>
                    <a:pt x="510" y="2"/>
                  </a:lnTo>
                  <a:lnTo>
                    <a:pt x="571" y="6"/>
                  </a:lnTo>
                  <a:lnTo>
                    <a:pt x="629" y="15"/>
                  </a:lnTo>
                  <a:lnTo>
                    <a:pt x="683" y="28"/>
                  </a:lnTo>
                  <a:lnTo>
                    <a:pt x="733" y="43"/>
                  </a:lnTo>
                  <a:lnTo>
                    <a:pt x="778" y="60"/>
                  </a:lnTo>
                  <a:lnTo>
                    <a:pt x="817" y="79"/>
                  </a:lnTo>
                  <a:lnTo>
                    <a:pt x="850" y="101"/>
                  </a:lnTo>
                  <a:lnTo>
                    <a:pt x="874" y="125"/>
                  </a:lnTo>
                  <a:lnTo>
                    <a:pt x="891" y="149"/>
                  </a:lnTo>
                  <a:lnTo>
                    <a:pt x="897" y="174"/>
                  </a:lnTo>
                  <a:lnTo>
                    <a:pt x="897" y="200"/>
                  </a:lnTo>
                  <a:lnTo>
                    <a:pt x="891" y="226"/>
                  </a:lnTo>
                  <a:lnTo>
                    <a:pt x="874" y="250"/>
                  </a:lnTo>
                  <a:lnTo>
                    <a:pt x="850" y="274"/>
                  </a:lnTo>
                  <a:lnTo>
                    <a:pt x="817" y="295"/>
                  </a:lnTo>
                  <a:lnTo>
                    <a:pt x="778" y="315"/>
                  </a:lnTo>
                  <a:lnTo>
                    <a:pt x="733" y="332"/>
                  </a:lnTo>
                  <a:lnTo>
                    <a:pt x="683" y="347"/>
                  </a:lnTo>
                  <a:lnTo>
                    <a:pt x="629" y="360"/>
                  </a:lnTo>
                  <a:lnTo>
                    <a:pt x="571" y="369"/>
                  </a:lnTo>
                  <a:lnTo>
                    <a:pt x="510" y="373"/>
                  </a:lnTo>
                  <a:lnTo>
                    <a:pt x="450" y="375"/>
                  </a:lnTo>
                  <a:lnTo>
                    <a:pt x="387" y="373"/>
                  </a:lnTo>
                  <a:lnTo>
                    <a:pt x="329" y="369"/>
                  </a:lnTo>
                  <a:lnTo>
                    <a:pt x="270" y="360"/>
                  </a:lnTo>
                  <a:lnTo>
                    <a:pt x="216" y="347"/>
                  </a:lnTo>
                  <a:lnTo>
                    <a:pt x="164" y="332"/>
                  </a:lnTo>
                  <a:lnTo>
                    <a:pt x="121" y="315"/>
                  </a:lnTo>
                  <a:lnTo>
                    <a:pt x="82" y="295"/>
                  </a:lnTo>
                  <a:lnTo>
                    <a:pt x="49" y="274"/>
                  </a:lnTo>
                  <a:lnTo>
                    <a:pt x="26" y="250"/>
                  </a:lnTo>
                  <a:lnTo>
                    <a:pt x="8" y="226"/>
                  </a:lnTo>
                  <a:lnTo>
                    <a:pt x="0" y="200"/>
                  </a:lnTo>
                  <a:lnTo>
                    <a:pt x="0" y="174"/>
                  </a:lnTo>
                  <a:lnTo>
                    <a:pt x="8" y="149"/>
                  </a:lnTo>
                  <a:lnTo>
                    <a:pt x="26" y="125"/>
                  </a:lnTo>
                  <a:lnTo>
                    <a:pt x="49" y="101"/>
                  </a:lnTo>
                  <a:lnTo>
                    <a:pt x="82" y="79"/>
                  </a:lnTo>
                  <a:lnTo>
                    <a:pt x="121" y="60"/>
                  </a:lnTo>
                  <a:lnTo>
                    <a:pt x="164" y="43"/>
                  </a:lnTo>
                  <a:lnTo>
                    <a:pt x="216" y="28"/>
                  </a:lnTo>
                  <a:lnTo>
                    <a:pt x="270" y="15"/>
                  </a:lnTo>
                  <a:lnTo>
                    <a:pt x="329" y="6"/>
                  </a:lnTo>
                  <a:lnTo>
                    <a:pt x="387" y="2"/>
                  </a:lnTo>
                  <a:lnTo>
                    <a:pt x="450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8" name="Rectangle 106"/>
            <p:cNvSpPr>
              <a:spLocks noChangeAspect="1" noChangeArrowheads="1"/>
            </p:cNvSpPr>
            <p:nvPr/>
          </p:nvSpPr>
          <p:spPr bwMode="auto">
            <a:xfrm>
              <a:off x="1943" y="1805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2" name="Group 107"/>
          <p:cNvGrpSpPr>
            <a:grpSpLocks noChangeAspect="1"/>
          </p:cNvGrpSpPr>
          <p:nvPr/>
        </p:nvGrpSpPr>
        <p:grpSpPr bwMode="auto">
          <a:xfrm>
            <a:off x="865188" y="1825625"/>
            <a:ext cx="1125537" cy="742950"/>
            <a:chOff x="332" y="1568"/>
            <a:chExt cx="1093" cy="721"/>
          </a:xfrm>
        </p:grpSpPr>
        <p:sp>
          <p:nvSpPr>
            <p:cNvPr id="196645" name="Freeform 108"/>
            <p:cNvSpPr>
              <a:spLocks noChangeAspect="1"/>
            </p:cNvSpPr>
            <p:nvPr/>
          </p:nvSpPr>
          <p:spPr bwMode="auto">
            <a:xfrm>
              <a:off x="332" y="1568"/>
              <a:ext cx="1093" cy="497"/>
            </a:xfrm>
            <a:custGeom>
              <a:avLst/>
              <a:gdLst>
                <a:gd name="T0" fmla="*/ 547 w 1093"/>
                <a:gd name="T1" fmla="*/ 0 h 497"/>
                <a:gd name="T2" fmla="*/ 615 w 1093"/>
                <a:gd name="T3" fmla="*/ 3 h 497"/>
                <a:gd name="T4" fmla="*/ 684 w 1093"/>
                <a:gd name="T5" fmla="*/ 7 h 497"/>
                <a:gd name="T6" fmla="*/ 749 w 1093"/>
                <a:gd name="T7" fmla="*/ 18 h 497"/>
                <a:gd name="T8" fmla="*/ 811 w 1093"/>
                <a:gd name="T9" fmla="*/ 31 h 497"/>
                <a:gd name="T10" fmla="*/ 868 w 1093"/>
                <a:gd name="T11" fmla="*/ 48 h 497"/>
                <a:gd name="T12" fmla="*/ 922 w 1093"/>
                <a:gd name="T13" fmla="*/ 67 h 497"/>
                <a:gd name="T14" fmla="*/ 969 w 1093"/>
                <a:gd name="T15" fmla="*/ 91 h 497"/>
                <a:gd name="T16" fmla="*/ 1008 w 1093"/>
                <a:gd name="T17" fmla="*/ 115 h 497"/>
                <a:gd name="T18" fmla="*/ 1043 w 1093"/>
                <a:gd name="T19" fmla="*/ 143 h 497"/>
                <a:gd name="T20" fmla="*/ 1067 w 1093"/>
                <a:gd name="T21" fmla="*/ 171 h 497"/>
                <a:gd name="T22" fmla="*/ 1084 w 1093"/>
                <a:gd name="T23" fmla="*/ 201 h 497"/>
                <a:gd name="T24" fmla="*/ 1093 w 1093"/>
                <a:gd name="T25" fmla="*/ 234 h 497"/>
                <a:gd name="T26" fmla="*/ 1093 w 1093"/>
                <a:gd name="T27" fmla="*/ 264 h 497"/>
                <a:gd name="T28" fmla="*/ 1084 w 1093"/>
                <a:gd name="T29" fmla="*/ 294 h 497"/>
                <a:gd name="T30" fmla="*/ 1067 w 1093"/>
                <a:gd name="T31" fmla="*/ 324 h 497"/>
                <a:gd name="T32" fmla="*/ 1043 w 1093"/>
                <a:gd name="T33" fmla="*/ 354 h 497"/>
                <a:gd name="T34" fmla="*/ 1008 w 1093"/>
                <a:gd name="T35" fmla="*/ 383 h 497"/>
                <a:gd name="T36" fmla="*/ 969 w 1093"/>
                <a:gd name="T37" fmla="*/ 406 h 497"/>
                <a:gd name="T38" fmla="*/ 922 w 1093"/>
                <a:gd name="T39" fmla="*/ 430 h 497"/>
                <a:gd name="T40" fmla="*/ 868 w 1093"/>
                <a:gd name="T41" fmla="*/ 449 h 497"/>
                <a:gd name="T42" fmla="*/ 811 w 1093"/>
                <a:gd name="T43" fmla="*/ 467 h 497"/>
                <a:gd name="T44" fmla="*/ 749 w 1093"/>
                <a:gd name="T45" fmla="*/ 480 h 497"/>
                <a:gd name="T46" fmla="*/ 684 w 1093"/>
                <a:gd name="T47" fmla="*/ 488 h 497"/>
                <a:gd name="T48" fmla="*/ 615 w 1093"/>
                <a:gd name="T49" fmla="*/ 495 h 497"/>
                <a:gd name="T50" fmla="*/ 547 w 1093"/>
                <a:gd name="T51" fmla="*/ 497 h 497"/>
                <a:gd name="T52" fmla="*/ 478 w 1093"/>
                <a:gd name="T53" fmla="*/ 495 h 497"/>
                <a:gd name="T54" fmla="*/ 411 w 1093"/>
                <a:gd name="T55" fmla="*/ 488 h 497"/>
                <a:gd name="T56" fmla="*/ 346 w 1093"/>
                <a:gd name="T57" fmla="*/ 480 h 497"/>
                <a:gd name="T58" fmla="*/ 284 w 1093"/>
                <a:gd name="T59" fmla="*/ 467 h 497"/>
                <a:gd name="T60" fmla="*/ 225 w 1093"/>
                <a:gd name="T61" fmla="*/ 449 h 497"/>
                <a:gd name="T62" fmla="*/ 173 w 1093"/>
                <a:gd name="T63" fmla="*/ 430 h 497"/>
                <a:gd name="T64" fmla="*/ 126 w 1093"/>
                <a:gd name="T65" fmla="*/ 406 h 497"/>
                <a:gd name="T66" fmla="*/ 85 w 1093"/>
                <a:gd name="T67" fmla="*/ 383 h 497"/>
                <a:gd name="T68" fmla="*/ 52 w 1093"/>
                <a:gd name="T69" fmla="*/ 354 h 497"/>
                <a:gd name="T70" fmla="*/ 26 w 1093"/>
                <a:gd name="T71" fmla="*/ 324 h 497"/>
                <a:gd name="T72" fmla="*/ 9 w 1093"/>
                <a:gd name="T73" fmla="*/ 294 h 497"/>
                <a:gd name="T74" fmla="*/ 0 w 1093"/>
                <a:gd name="T75" fmla="*/ 264 h 497"/>
                <a:gd name="T76" fmla="*/ 0 w 1093"/>
                <a:gd name="T77" fmla="*/ 234 h 497"/>
                <a:gd name="T78" fmla="*/ 9 w 1093"/>
                <a:gd name="T79" fmla="*/ 201 h 497"/>
                <a:gd name="T80" fmla="*/ 26 w 1093"/>
                <a:gd name="T81" fmla="*/ 171 h 497"/>
                <a:gd name="T82" fmla="*/ 52 w 1093"/>
                <a:gd name="T83" fmla="*/ 143 h 497"/>
                <a:gd name="T84" fmla="*/ 85 w 1093"/>
                <a:gd name="T85" fmla="*/ 115 h 497"/>
                <a:gd name="T86" fmla="*/ 126 w 1093"/>
                <a:gd name="T87" fmla="*/ 91 h 497"/>
                <a:gd name="T88" fmla="*/ 173 w 1093"/>
                <a:gd name="T89" fmla="*/ 67 h 497"/>
                <a:gd name="T90" fmla="*/ 225 w 1093"/>
                <a:gd name="T91" fmla="*/ 48 h 497"/>
                <a:gd name="T92" fmla="*/ 284 w 1093"/>
                <a:gd name="T93" fmla="*/ 31 h 497"/>
                <a:gd name="T94" fmla="*/ 346 w 1093"/>
                <a:gd name="T95" fmla="*/ 18 h 497"/>
                <a:gd name="T96" fmla="*/ 411 w 1093"/>
                <a:gd name="T97" fmla="*/ 7 h 497"/>
                <a:gd name="T98" fmla="*/ 478 w 1093"/>
                <a:gd name="T99" fmla="*/ 3 h 497"/>
                <a:gd name="T100" fmla="*/ 547 w 1093"/>
                <a:gd name="T101" fmla="*/ 0 h 4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1093"/>
                <a:gd name="T154" fmla="*/ 0 h 497"/>
                <a:gd name="T155" fmla="*/ 1093 w 1093"/>
                <a:gd name="T156" fmla="*/ 497 h 4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1093" h="497">
                  <a:moveTo>
                    <a:pt x="547" y="0"/>
                  </a:moveTo>
                  <a:lnTo>
                    <a:pt x="615" y="3"/>
                  </a:lnTo>
                  <a:lnTo>
                    <a:pt x="684" y="7"/>
                  </a:lnTo>
                  <a:lnTo>
                    <a:pt x="749" y="18"/>
                  </a:lnTo>
                  <a:lnTo>
                    <a:pt x="811" y="31"/>
                  </a:lnTo>
                  <a:lnTo>
                    <a:pt x="868" y="48"/>
                  </a:lnTo>
                  <a:lnTo>
                    <a:pt x="922" y="67"/>
                  </a:lnTo>
                  <a:lnTo>
                    <a:pt x="969" y="91"/>
                  </a:lnTo>
                  <a:lnTo>
                    <a:pt x="1008" y="115"/>
                  </a:lnTo>
                  <a:lnTo>
                    <a:pt x="1043" y="143"/>
                  </a:lnTo>
                  <a:lnTo>
                    <a:pt x="1067" y="171"/>
                  </a:lnTo>
                  <a:lnTo>
                    <a:pt x="1084" y="201"/>
                  </a:lnTo>
                  <a:lnTo>
                    <a:pt x="1093" y="234"/>
                  </a:lnTo>
                  <a:lnTo>
                    <a:pt x="1093" y="264"/>
                  </a:lnTo>
                  <a:lnTo>
                    <a:pt x="1084" y="294"/>
                  </a:lnTo>
                  <a:lnTo>
                    <a:pt x="1067" y="324"/>
                  </a:lnTo>
                  <a:lnTo>
                    <a:pt x="1043" y="354"/>
                  </a:lnTo>
                  <a:lnTo>
                    <a:pt x="1008" y="383"/>
                  </a:lnTo>
                  <a:lnTo>
                    <a:pt x="969" y="406"/>
                  </a:lnTo>
                  <a:lnTo>
                    <a:pt x="922" y="430"/>
                  </a:lnTo>
                  <a:lnTo>
                    <a:pt x="868" y="449"/>
                  </a:lnTo>
                  <a:lnTo>
                    <a:pt x="811" y="467"/>
                  </a:lnTo>
                  <a:lnTo>
                    <a:pt x="749" y="480"/>
                  </a:lnTo>
                  <a:lnTo>
                    <a:pt x="684" y="488"/>
                  </a:lnTo>
                  <a:lnTo>
                    <a:pt x="615" y="495"/>
                  </a:lnTo>
                  <a:lnTo>
                    <a:pt x="547" y="497"/>
                  </a:lnTo>
                  <a:lnTo>
                    <a:pt x="478" y="495"/>
                  </a:lnTo>
                  <a:lnTo>
                    <a:pt x="411" y="488"/>
                  </a:lnTo>
                  <a:lnTo>
                    <a:pt x="346" y="480"/>
                  </a:lnTo>
                  <a:lnTo>
                    <a:pt x="284" y="467"/>
                  </a:lnTo>
                  <a:lnTo>
                    <a:pt x="225" y="449"/>
                  </a:lnTo>
                  <a:lnTo>
                    <a:pt x="173" y="430"/>
                  </a:lnTo>
                  <a:lnTo>
                    <a:pt x="126" y="406"/>
                  </a:lnTo>
                  <a:lnTo>
                    <a:pt x="85" y="383"/>
                  </a:lnTo>
                  <a:lnTo>
                    <a:pt x="52" y="354"/>
                  </a:lnTo>
                  <a:lnTo>
                    <a:pt x="26" y="324"/>
                  </a:lnTo>
                  <a:lnTo>
                    <a:pt x="9" y="294"/>
                  </a:lnTo>
                  <a:lnTo>
                    <a:pt x="0" y="264"/>
                  </a:lnTo>
                  <a:lnTo>
                    <a:pt x="0" y="234"/>
                  </a:lnTo>
                  <a:lnTo>
                    <a:pt x="9" y="201"/>
                  </a:lnTo>
                  <a:lnTo>
                    <a:pt x="26" y="171"/>
                  </a:lnTo>
                  <a:lnTo>
                    <a:pt x="52" y="143"/>
                  </a:lnTo>
                  <a:lnTo>
                    <a:pt x="85" y="115"/>
                  </a:lnTo>
                  <a:lnTo>
                    <a:pt x="126" y="91"/>
                  </a:lnTo>
                  <a:lnTo>
                    <a:pt x="173" y="67"/>
                  </a:lnTo>
                  <a:lnTo>
                    <a:pt x="225" y="48"/>
                  </a:lnTo>
                  <a:lnTo>
                    <a:pt x="284" y="31"/>
                  </a:lnTo>
                  <a:lnTo>
                    <a:pt x="346" y="18"/>
                  </a:lnTo>
                  <a:lnTo>
                    <a:pt x="411" y="7"/>
                  </a:lnTo>
                  <a:lnTo>
                    <a:pt x="478" y="3"/>
                  </a:lnTo>
                  <a:lnTo>
                    <a:pt x="547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6" name="Rectangle 109"/>
            <p:cNvSpPr>
              <a:spLocks noChangeAspect="1" noChangeArrowheads="1"/>
            </p:cNvSpPr>
            <p:nvPr/>
          </p:nvSpPr>
          <p:spPr bwMode="auto">
            <a:xfrm>
              <a:off x="949" y="2052"/>
              <a:ext cx="109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Group 110"/>
          <p:cNvGrpSpPr>
            <a:grpSpLocks noChangeAspect="1"/>
          </p:cNvGrpSpPr>
          <p:nvPr/>
        </p:nvGrpSpPr>
        <p:grpSpPr bwMode="auto">
          <a:xfrm>
            <a:off x="812800" y="1555750"/>
            <a:ext cx="2382838" cy="1358900"/>
            <a:chOff x="280" y="1305"/>
            <a:chExt cx="2315" cy="1321"/>
          </a:xfrm>
        </p:grpSpPr>
        <p:sp>
          <p:nvSpPr>
            <p:cNvPr id="196643" name="Freeform 111"/>
            <p:cNvSpPr>
              <a:spLocks noChangeAspect="1"/>
            </p:cNvSpPr>
            <p:nvPr/>
          </p:nvSpPr>
          <p:spPr bwMode="auto">
            <a:xfrm>
              <a:off x="280" y="1314"/>
              <a:ext cx="2315" cy="1312"/>
            </a:xfrm>
            <a:custGeom>
              <a:avLst/>
              <a:gdLst>
                <a:gd name="T0" fmla="*/ 1326 w 2315"/>
                <a:gd name="T1" fmla="*/ 23 h 1312"/>
                <a:gd name="T2" fmla="*/ 1519 w 2315"/>
                <a:gd name="T3" fmla="*/ 64 h 1312"/>
                <a:gd name="T4" fmla="*/ 1698 w 2315"/>
                <a:gd name="T5" fmla="*/ 121 h 1312"/>
                <a:gd name="T6" fmla="*/ 1865 w 2315"/>
                <a:gd name="T7" fmla="*/ 194 h 1312"/>
                <a:gd name="T8" fmla="*/ 2008 w 2315"/>
                <a:gd name="T9" fmla="*/ 278 h 1312"/>
                <a:gd name="T10" fmla="*/ 2129 w 2315"/>
                <a:gd name="T11" fmla="*/ 375 h 1312"/>
                <a:gd name="T12" fmla="*/ 2222 w 2315"/>
                <a:gd name="T13" fmla="*/ 479 h 1312"/>
                <a:gd name="T14" fmla="*/ 2282 w 2315"/>
                <a:gd name="T15" fmla="*/ 589 h 1312"/>
                <a:gd name="T16" fmla="*/ 2313 w 2315"/>
                <a:gd name="T17" fmla="*/ 699 h 1312"/>
                <a:gd name="T18" fmla="*/ 2308 w 2315"/>
                <a:gd name="T19" fmla="*/ 809 h 1312"/>
                <a:gd name="T20" fmla="*/ 2272 w 2315"/>
                <a:gd name="T21" fmla="*/ 915 h 1312"/>
                <a:gd name="T22" fmla="*/ 2202 w 2315"/>
                <a:gd name="T23" fmla="*/ 1014 h 1312"/>
                <a:gd name="T24" fmla="*/ 2105 w 2315"/>
                <a:gd name="T25" fmla="*/ 1101 h 1312"/>
                <a:gd name="T26" fmla="*/ 1977 w 2315"/>
                <a:gd name="T27" fmla="*/ 1176 h 1312"/>
                <a:gd name="T28" fmla="*/ 1828 w 2315"/>
                <a:gd name="T29" fmla="*/ 1237 h 1312"/>
                <a:gd name="T30" fmla="*/ 1659 w 2315"/>
                <a:gd name="T31" fmla="*/ 1280 h 1312"/>
                <a:gd name="T32" fmla="*/ 1476 w 2315"/>
                <a:gd name="T33" fmla="*/ 1306 h 1312"/>
                <a:gd name="T34" fmla="*/ 1283 w 2315"/>
                <a:gd name="T35" fmla="*/ 1312 h 1312"/>
                <a:gd name="T36" fmla="*/ 1086 w 2315"/>
                <a:gd name="T37" fmla="*/ 1299 h 1312"/>
                <a:gd name="T38" fmla="*/ 894 w 2315"/>
                <a:gd name="T39" fmla="*/ 1269 h 1312"/>
                <a:gd name="T40" fmla="*/ 705 w 2315"/>
                <a:gd name="T41" fmla="*/ 1220 h 1312"/>
                <a:gd name="T42" fmla="*/ 532 w 2315"/>
                <a:gd name="T43" fmla="*/ 1155 h 1312"/>
                <a:gd name="T44" fmla="*/ 377 w 2315"/>
                <a:gd name="T45" fmla="*/ 1077 h 1312"/>
                <a:gd name="T46" fmla="*/ 245 w 2315"/>
                <a:gd name="T47" fmla="*/ 984 h 1312"/>
                <a:gd name="T48" fmla="*/ 137 w 2315"/>
                <a:gd name="T49" fmla="*/ 885 h 1312"/>
                <a:gd name="T50" fmla="*/ 61 w 2315"/>
                <a:gd name="T51" fmla="*/ 777 h 1312"/>
                <a:gd name="T52" fmla="*/ 13 w 2315"/>
                <a:gd name="T53" fmla="*/ 667 h 1312"/>
                <a:gd name="T54" fmla="*/ 0 w 2315"/>
                <a:gd name="T55" fmla="*/ 555 h 1312"/>
                <a:gd name="T56" fmla="*/ 22 w 2315"/>
                <a:gd name="T57" fmla="*/ 447 h 1312"/>
                <a:gd name="T58" fmla="*/ 74 w 2315"/>
                <a:gd name="T59" fmla="*/ 345 h 1312"/>
                <a:gd name="T60" fmla="*/ 158 w 2315"/>
                <a:gd name="T61" fmla="*/ 252 h 1312"/>
                <a:gd name="T62" fmla="*/ 273 w 2315"/>
                <a:gd name="T63" fmla="*/ 170 h 1312"/>
                <a:gd name="T64" fmla="*/ 411 w 2315"/>
                <a:gd name="T65" fmla="*/ 103 h 1312"/>
                <a:gd name="T66" fmla="*/ 571 w 2315"/>
                <a:gd name="T67" fmla="*/ 49 h 1312"/>
                <a:gd name="T68" fmla="*/ 747 w 2315"/>
                <a:gd name="T69" fmla="*/ 17 h 1312"/>
                <a:gd name="T70" fmla="*/ 937 w 2315"/>
                <a:gd name="T71" fmla="*/ 0 h 1312"/>
                <a:gd name="T72" fmla="*/ 1132 w 2315"/>
                <a:gd name="T73" fmla="*/ 2 h 13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15"/>
                <a:gd name="T112" fmla="*/ 0 h 1312"/>
                <a:gd name="T113" fmla="*/ 2315 w 2315"/>
                <a:gd name="T114" fmla="*/ 1312 h 1312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15" h="1312">
                  <a:moveTo>
                    <a:pt x="1229" y="10"/>
                  </a:moveTo>
                  <a:lnTo>
                    <a:pt x="1326" y="23"/>
                  </a:lnTo>
                  <a:lnTo>
                    <a:pt x="1424" y="43"/>
                  </a:lnTo>
                  <a:lnTo>
                    <a:pt x="1519" y="64"/>
                  </a:lnTo>
                  <a:lnTo>
                    <a:pt x="1610" y="90"/>
                  </a:lnTo>
                  <a:lnTo>
                    <a:pt x="1698" y="121"/>
                  </a:lnTo>
                  <a:lnTo>
                    <a:pt x="1783" y="155"/>
                  </a:lnTo>
                  <a:lnTo>
                    <a:pt x="1865" y="194"/>
                  </a:lnTo>
                  <a:lnTo>
                    <a:pt x="1938" y="235"/>
                  </a:lnTo>
                  <a:lnTo>
                    <a:pt x="2008" y="278"/>
                  </a:lnTo>
                  <a:lnTo>
                    <a:pt x="2073" y="326"/>
                  </a:lnTo>
                  <a:lnTo>
                    <a:pt x="2129" y="375"/>
                  </a:lnTo>
                  <a:lnTo>
                    <a:pt x="2179" y="425"/>
                  </a:lnTo>
                  <a:lnTo>
                    <a:pt x="2222" y="479"/>
                  </a:lnTo>
                  <a:lnTo>
                    <a:pt x="2256" y="533"/>
                  </a:lnTo>
                  <a:lnTo>
                    <a:pt x="2282" y="589"/>
                  </a:lnTo>
                  <a:lnTo>
                    <a:pt x="2302" y="643"/>
                  </a:lnTo>
                  <a:lnTo>
                    <a:pt x="2313" y="699"/>
                  </a:lnTo>
                  <a:lnTo>
                    <a:pt x="2315" y="755"/>
                  </a:lnTo>
                  <a:lnTo>
                    <a:pt x="2308" y="809"/>
                  </a:lnTo>
                  <a:lnTo>
                    <a:pt x="2295" y="863"/>
                  </a:lnTo>
                  <a:lnTo>
                    <a:pt x="2272" y="915"/>
                  </a:lnTo>
                  <a:lnTo>
                    <a:pt x="2241" y="965"/>
                  </a:lnTo>
                  <a:lnTo>
                    <a:pt x="2202" y="1014"/>
                  </a:lnTo>
                  <a:lnTo>
                    <a:pt x="2157" y="1060"/>
                  </a:lnTo>
                  <a:lnTo>
                    <a:pt x="2105" y="1101"/>
                  </a:lnTo>
                  <a:lnTo>
                    <a:pt x="2044" y="1140"/>
                  </a:lnTo>
                  <a:lnTo>
                    <a:pt x="1977" y="1176"/>
                  </a:lnTo>
                  <a:lnTo>
                    <a:pt x="1906" y="1209"/>
                  </a:lnTo>
                  <a:lnTo>
                    <a:pt x="1828" y="1237"/>
                  </a:lnTo>
                  <a:lnTo>
                    <a:pt x="1746" y="1261"/>
                  </a:lnTo>
                  <a:lnTo>
                    <a:pt x="1659" y="1280"/>
                  </a:lnTo>
                  <a:lnTo>
                    <a:pt x="1569" y="1295"/>
                  </a:lnTo>
                  <a:lnTo>
                    <a:pt x="1476" y="1306"/>
                  </a:lnTo>
                  <a:lnTo>
                    <a:pt x="1380" y="1310"/>
                  </a:lnTo>
                  <a:lnTo>
                    <a:pt x="1283" y="1312"/>
                  </a:lnTo>
                  <a:lnTo>
                    <a:pt x="1186" y="1308"/>
                  </a:lnTo>
                  <a:lnTo>
                    <a:pt x="1086" y="1299"/>
                  </a:lnTo>
                  <a:lnTo>
                    <a:pt x="989" y="1286"/>
                  </a:lnTo>
                  <a:lnTo>
                    <a:pt x="894" y="1269"/>
                  </a:lnTo>
                  <a:lnTo>
                    <a:pt x="798" y="1245"/>
                  </a:lnTo>
                  <a:lnTo>
                    <a:pt x="705" y="1220"/>
                  </a:lnTo>
                  <a:lnTo>
                    <a:pt x="617" y="1189"/>
                  </a:lnTo>
                  <a:lnTo>
                    <a:pt x="532" y="1155"/>
                  </a:lnTo>
                  <a:lnTo>
                    <a:pt x="452" y="1118"/>
                  </a:lnTo>
                  <a:lnTo>
                    <a:pt x="377" y="1077"/>
                  </a:lnTo>
                  <a:lnTo>
                    <a:pt x="307" y="1032"/>
                  </a:lnTo>
                  <a:lnTo>
                    <a:pt x="245" y="984"/>
                  </a:lnTo>
                  <a:lnTo>
                    <a:pt x="186" y="937"/>
                  </a:lnTo>
                  <a:lnTo>
                    <a:pt x="137" y="885"/>
                  </a:lnTo>
                  <a:lnTo>
                    <a:pt x="95" y="831"/>
                  </a:lnTo>
                  <a:lnTo>
                    <a:pt x="61" y="777"/>
                  </a:lnTo>
                  <a:lnTo>
                    <a:pt x="33" y="723"/>
                  </a:lnTo>
                  <a:lnTo>
                    <a:pt x="13" y="667"/>
                  </a:lnTo>
                  <a:lnTo>
                    <a:pt x="5" y="611"/>
                  </a:lnTo>
                  <a:lnTo>
                    <a:pt x="0" y="555"/>
                  </a:lnTo>
                  <a:lnTo>
                    <a:pt x="7" y="501"/>
                  </a:lnTo>
                  <a:lnTo>
                    <a:pt x="22" y="447"/>
                  </a:lnTo>
                  <a:lnTo>
                    <a:pt x="44" y="395"/>
                  </a:lnTo>
                  <a:lnTo>
                    <a:pt x="74" y="345"/>
                  </a:lnTo>
                  <a:lnTo>
                    <a:pt x="113" y="298"/>
                  </a:lnTo>
                  <a:lnTo>
                    <a:pt x="158" y="252"/>
                  </a:lnTo>
                  <a:lnTo>
                    <a:pt x="212" y="209"/>
                  </a:lnTo>
                  <a:lnTo>
                    <a:pt x="273" y="170"/>
                  </a:lnTo>
                  <a:lnTo>
                    <a:pt x="338" y="133"/>
                  </a:lnTo>
                  <a:lnTo>
                    <a:pt x="411" y="103"/>
                  </a:lnTo>
                  <a:lnTo>
                    <a:pt x="489" y="75"/>
                  </a:lnTo>
                  <a:lnTo>
                    <a:pt x="571" y="49"/>
                  </a:lnTo>
                  <a:lnTo>
                    <a:pt x="658" y="30"/>
                  </a:lnTo>
                  <a:lnTo>
                    <a:pt x="747" y="17"/>
                  </a:lnTo>
                  <a:lnTo>
                    <a:pt x="840" y="6"/>
                  </a:lnTo>
                  <a:lnTo>
                    <a:pt x="937" y="0"/>
                  </a:lnTo>
                  <a:lnTo>
                    <a:pt x="1034" y="0"/>
                  </a:lnTo>
                  <a:lnTo>
                    <a:pt x="1132" y="2"/>
                  </a:lnTo>
                  <a:lnTo>
                    <a:pt x="1229" y="1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4" name="Rectangle 112"/>
            <p:cNvSpPr>
              <a:spLocks noChangeAspect="1" noChangeArrowheads="1"/>
            </p:cNvSpPr>
            <p:nvPr/>
          </p:nvSpPr>
          <p:spPr bwMode="auto">
            <a:xfrm>
              <a:off x="1390" y="1305"/>
              <a:ext cx="1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4" name="Group 113"/>
          <p:cNvGrpSpPr>
            <a:grpSpLocks noChangeAspect="1"/>
          </p:cNvGrpSpPr>
          <p:nvPr/>
        </p:nvGrpSpPr>
        <p:grpSpPr bwMode="auto">
          <a:xfrm>
            <a:off x="771525" y="1477963"/>
            <a:ext cx="2462213" cy="1887537"/>
            <a:chOff x="241" y="1229"/>
            <a:chExt cx="2391" cy="1834"/>
          </a:xfrm>
        </p:grpSpPr>
        <p:sp>
          <p:nvSpPr>
            <p:cNvPr id="196641" name="Freeform 114"/>
            <p:cNvSpPr>
              <a:spLocks noChangeAspect="1"/>
            </p:cNvSpPr>
            <p:nvPr/>
          </p:nvSpPr>
          <p:spPr bwMode="auto">
            <a:xfrm>
              <a:off x="241" y="1229"/>
              <a:ext cx="2391" cy="1611"/>
            </a:xfrm>
            <a:custGeom>
              <a:avLst/>
              <a:gdLst>
                <a:gd name="T0" fmla="*/ 1385 w 2391"/>
                <a:gd name="T1" fmla="*/ 24 h 1611"/>
                <a:gd name="T2" fmla="*/ 1582 w 2391"/>
                <a:gd name="T3" fmla="*/ 69 h 1611"/>
                <a:gd name="T4" fmla="*/ 1768 w 2391"/>
                <a:gd name="T5" fmla="*/ 136 h 1611"/>
                <a:gd name="T6" fmla="*/ 1936 w 2391"/>
                <a:gd name="T7" fmla="*/ 221 h 1611"/>
                <a:gd name="T8" fmla="*/ 2083 w 2391"/>
                <a:gd name="T9" fmla="*/ 322 h 1611"/>
                <a:gd name="T10" fmla="*/ 2207 w 2391"/>
                <a:gd name="T11" fmla="*/ 439 h 1611"/>
                <a:gd name="T12" fmla="*/ 2300 w 2391"/>
                <a:gd name="T13" fmla="*/ 566 h 1611"/>
                <a:gd name="T14" fmla="*/ 2360 w 2391"/>
                <a:gd name="T15" fmla="*/ 698 h 1611"/>
                <a:gd name="T16" fmla="*/ 2388 w 2391"/>
                <a:gd name="T17" fmla="*/ 836 h 1611"/>
                <a:gd name="T18" fmla="*/ 2382 w 2391"/>
                <a:gd name="T19" fmla="*/ 970 h 1611"/>
                <a:gd name="T20" fmla="*/ 2343 w 2391"/>
                <a:gd name="T21" fmla="*/ 1102 h 1611"/>
                <a:gd name="T22" fmla="*/ 2270 w 2391"/>
                <a:gd name="T23" fmla="*/ 1225 h 1611"/>
                <a:gd name="T24" fmla="*/ 2166 w 2391"/>
                <a:gd name="T25" fmla="*/ 1335 h 1611"/>
                <a:gd name="T26" fmla="*/ 2032 w 2391"/>
                <a:gd name="T27" fmla="*/ 1430 h 1611"/>
                <a:gd name="T28" fmla="*/ 1876 w 2391"/>
                <a:gd name="T29" fmla="*/ 1508 h 1611"/>
                <a:gd name="T30" fmla="*/ 1701 w 2391"/>
                <a:gd name="T31" fmla="*/ 1564 h 1611"/>
                <a:gd name="T32" fmla="*/ 1510 w 2391"/>
                <a:gd name="T33" fmla="*/ 1598 h 1611"/>
                <a:gd name="T34" fmla="*/ 1311 w 2391"/>
                <a:gd name="T35" fmla="*/ 1611 h 1611"/>
                <a:gd name="T36" fmla="*/ 1108 w 2391"/>
                <a:gd name="T37" fmla="*/ 1600 h 1611"/>
                <a:gd name="T38" fmla="*/ 907 w 2391"/>
                <a:gd name="T39" fmla="*/ 1568 h 1611"/>
                <a:gd name="T40" fmla="*/ 716 w 2391"/>
                <a:gd name="T41" fmla="*/ 1512 h 1611"/>
                <a:gd name="T42" fmla="*/ 537 w 2391"/>
                <a:gd name="T43" fmla="*/ 1436 h 1611"/>
                <a:gd name="T44" fmla="*/ 379 w 2391"/>
                <a:gd name="T45" fmla="*/ 1341 h 1611"/>
                <a:gd name="T46" fmla="*/ 243 w 2391"/>
                <a:gd name="T47" fmla="*/ 1233 h 1611"/>
                <a:gd name="T48" fmla="*/ 134 w 2391"/>
                <a:gd name="T49" fmla="*/ 1110 h 1611"/>
                <a:gd name="T50" fmla="*/ 57 w 2391"/>
                <a:gd name="T51" fmla="*/ 981 h 1611"/>
                <a:gd name="T52" fmla="*/ 11 w 2391"/>
                <a:gd name="T53" fmla="*/ 845 h 1611"/>
                <a:gd name="T54" fmla="*/ 0 w 2391"/>
                <a:gd name="T55" fmla="*/ 709 h 1611"/>
                <a:gd name="T56" fmla="*/ 24 w 2391"/>
                <a:gd name="T57" fmla="*/ 575 h 1611"/>
                <a:gd name="T58" fmla="*/ 83 w 2391"/>
                <a:gd name="T59" fmla="*/ 447 h 1611"/>
                <a:gd name="T60" fmla="*/ 171 w 2391"/>
                <a:gd name="T61" fmla="*/ 331 h 1611"/>
                <a:gd name="T62" fmla="*/ 290 w 2391"/>
                <a:gd name="T63" fmla="*/ 227 h 1611"/>
                <a:gd name="T64" fmla="*/ 435 w 2391"/>
                <a:gd name="T65" fmla="*/ 141 h 1611"/>
                <a:gd name="T66" fmla="*/ 602 w 2391"/>
                <a:gd name="T67" fmla="*/ 74 h 1611"/>
                <a:gd name="T68" fmla="*/ 786 w 2391"/>
                <a:gd name="T69" fmla="*/ 28 h 1611"/>
                <a:gd name="T70" fmla="*/ 980 w 2391"/>
                <a:gd name="T71" fmla="*/ 3 h 1611"/>
                <a:gd name="T72" fmla="*/ 1181 w 2391"/>
                <a:gd name="T73" fmla="*/ 3 h 161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2391"/>
                <a:gd name="T112" fmla="*/ 0 h 1611"/>
                <a:gd name="T113" fmla="*/ 2391 w 2391"/>
                <a:gd name="T114" fmla="*/ 1611 h 161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2391" h="1611">
                  <a:moveTo>
                    <a:pt x="1283" y="11"/>
                  </a:moveTo>
                  <a:lnTo>
                    <a:pt x="1385" y="24"/>
                  </a:lnTo>
                  <a:lnTo>
                    <a:pt x="1484" y="46"/>
                  </a:lnTo>
                  <a:lnTo>
                    <a:pt x="1582" y="69"/>
                  </a:lnTo>
                  <a:lnTo>
                    <a:pt x="1675" y="100"/>
                  </a:lnTo>
                  <a:lnTo>
                    <a:pt x="1768" y="136"/>
                  </a:lnTo>
                  <a:lnTo>
                    <a:pt x="1854" y="175"/>
                  </a:lnTo>
                  <a:lnTo>
                    <a:pt x="1936" y="221"/>
                  </a:lnTo>
                  <a:lnTo>
                    <a:pt x="2012" y="270"/>
                  </a:lnTo>
                  <a:lnTo>
                    <a:pt x="2083" y="322"/>
                  </a:lnTo>
                  <a:lnTo>
                    <a:pt x="2148" y="380"/>
                  </a:lnTo>
                  <a:lnTo>
                    <a:pt x="2207" y="439"/>
                  </a:lnTo>
                  <a:lnTo>
                    <a:pt x="2257" y="501"/>
                  </a:lnTo>
                  <a:lnTo>
                    <a:pt x="2300" y="566"/>
                  </a:lnTo>
                  <a:lnTo>
                    <a:pt x="2334" y="631"/>
                  </a:lnTo>
                  <a:lnTo>
                    <a:pt x="2360" y="698"/>
                  </a:lnTo>
                  <a:lnTo>
                    <a:pt x="2380" y="767"/>
                  </a:lnTo>
                  <a:lnTo>
                    <a:pt x="2388" y="836"/>
                  </a:lnTo>
                  <a:lnTo>
                    <a:pt x="2391" y="903"/>
                  </a:lnTo>
                  <a:lnTo>
                    <a:pt x="2382" y="970"/>
                  </a:lnTo>
                  <a:lnTo>
                    <a:pt x="2367" y="1037"/>
                  </a:lnTo>
                  <a:lnTo>
                    <a:pt x="2343" y="1102"/>
                  </a:lnTo>
                  <a:lnTo>
                    <a:pt x="2311" y="1164"/>
                  </a:lnTo>
                  <a:lnTo>
                    <a:pt x="2270" y="1225"/>
                  </a:lnTo>
                  <a:lnTo>
                    <a:pt x="2220" y="1281"/>
                  </a:lnTo>
                  <a:lnTo>
                    <a:pt x="2166" y="1335"/>
                  </a:lnTo>
                  <a:lnTo>
                    <a:pt x="2101" y="1384"/>
                  </a:lnTo>
                  <a:lnTo>
                    <a:pt x="2032" y="1430"/>
                  </a:lnTo>
                  <a:lnTo>
                    <a:pt x="1958" y="1471"/>
                  </a:lnTo>
                  <a:lnTo>
                    <a:pt x="1876" y="1508"/>
                  </a:lnTo>
                  <a:lnTo>
                    <a:pt x="1789" y="1538"/>
                  </a:lnTo>
                  <a:lnTo>
                    <a:pt x="1701" y="1564"/>
                  </a:lnTo>
                  <a:lnTo>
                    <a:pt x="1608" y="1585"/>
                  </a:lnTo>
                  <a:lnTo>
                    <a:pt x="1510" y="1598"/>
                  </a:lnTo>
                  <a:lnTo>
                    <a:pt x="1411" y="1609"/>
                  </a:lnTo>
                  <a:lnTo>
                    <a:pt x="1311" y="1611"/>
                  </a:lnTo>
                  <a:lnTo>
                    <a:pt x="1210" y="1609"/>
                  </a:lnTo>
                  <a:lnTo>
                    <a:pt x="1108" y="1600"/>
                  </a:lnTo>
                  <a:lnTo>
                    <a:pt x="1006" y="1587"/>
                  </a:lnTo>
                  <a:lnTo>
                    <a:pt x="907" y="1568"/>
                  </a:lnTo>
                  <a:lnTo>
                    <a:pt x="809" y="1542"/>
                  </a:lnTo>
                  <a:lnTo>
                    <a:pt x="716" y="1512"/>
                  </a:lnTo>
                  <a:lnTo>
                    <a:pt x="626" y="1475"/>
                  </a:lnTo>
                  <a:lnTo>
                    <a:pt x="537" y="1436"/>
                  </a:lnTo>
                  <a:lnTo>
                    <a:pt x="455" y="1391"/>
                  </a:lnTo>
                  <a:lnTo>
                    <a:pt x="379" y="1341"/>
                  </a:lnTo>
                  <a:lnTo>
                    <a:pt x="308" y="1289"/>
                  </a:lnTo>
                  <a:lnTo>
                    <a:pt x="243" y="1233"/>
                  </a:lnTo>
                  <a:lnTo>
                    <a:pt x="184" y="1173"/>
                  </a:lnTo>
                  <a:lnTo>
                    <a:pt x="134" y="1110"/>
                  </a:lnTo>
                  <a:lnTo>
                    <a:pt x="91" y="1045"/>
                  </a:lnTo>
                  <a:lnTo>
                    <a:pt x="57" y="981"/>
                  </a:lnTo>
                  <a:lnTo>
                    <a:pt x="31" y="914"/>
                  </a:lnTo>
                  <a:lnTo>
                    <a:pt x="11" y="845"/>
                  </a:lnTo>
                  <a:lnTo>
                    <a:pt x="3" y="776"/>
                  </a:lnTo>
                  <a:lnTo>
                    <a:pt x="0" y="709"/>
                  </a:lnTo>
                  <a:lnTo>
                    <a:pt x="9" y="642"/>
                  </a:lnTo>
                  <a:lnTo>
                    <a:pt x="24" y="575"/>
                  </a:lnTo>
                  <a:lnTo>
                    <a:pt x="48" y="510"/>
                  </a:lnTo>
                  <a:lnTo>
                    <a:pt x="83" y="447"/>
                  </a:lnTo>
                  <a:lnTo>
                    <a:pt x="121" y="387"/>
                  </a:lnTo>
                  <a:lnTo>
                    <a:pt x="171" y="331"/>
                  </a:lnTo>
                  <a:lnTo>
                    <a:pt x="227" y="277"/>
                  </a:lnTo>
                  <a:lnTo>
                    <a:pt x="290" y="227"/>
                  </a:lnTo>
                  <a:lnTo>
                    <a:pt x="359" y="182"/>
                  </a:lnTo>
                  <a:lnTo>
                    <a:pt x="435" y="141"/>
                  </a:lnTo>
                  <a:lnTo>
                    <a:pt x="515" y="104"/>
                  </a:lnTo>
                  <a:lnTo>
                    <a:pt x="602" y="74"/>
                  </a:lnTo>
                  <a:lnTo>
                    <a:pt x="690" y="48"/>
                  </a:lnTo>
                  <a:lnTo>
                    <a:pt x="786" y="28"/>
                  </a:lnTo>
                  <a:lnTo>
                    <a:pt x="881" y="13"/>
                  </a:lnTo>
                  <a:lnTo>
                    <a:pt x="980" y="3"/>
                  </a:lnTo>
                  <a:lnTo>
                    <a:pt x="1082" y="0"/>
                  </a:lnTo>
                  <a:lnTo>
                    <a:pt x="1181" y="3"/>
                  </a:lnTo>
                  <a:lnTo>
                    <a:pt x="1283" y="11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6642" name="Rectangle 115"/>
            <p:cNvSpPr>
              <a:spLocks noChangeAspect="1" noChangeArrowheads="1"/>
            </p:cNvSpPr>
            <p:nvPr/>
          </p:nvSpPr>
          <p:spPr bwMode="auto">
            <a:xfrm>
              <a:off x="1238" y="2826"/>
              <a:ext cx="110" cy="2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</p:grpSp>
      <p:grpSp>
        <p:nvGrpSpPr>
          <p:cNvPr id="25" name="Group 116"/>
          <p:cNvGrpSpPr>
            <a:grpSpLocks noChangeAspect="1"/>
          </p:cNvGrpSpPr>
          <p:nvPr/>
        </p:nvGrpSpPr>
        <p:grpSpPr bwMode="auto">
          <a:xfrm>
            <a:off x="723900" y="1216025"/>
            <a:ext cx="2595563" cy="2289175"/>
            <a:chOff x="194" y="975"/>
            <a:chExt cx="2522" cy="2224"/>
          </a:xfrm>
        </p:grpSpPr>
        <p:sp>
          <p:nvSpPr>
            <p:cNvPr id="196639" name="Rectangle 117"/>
            <p:cNvSpPr>
              <a:spLocks noChangeAspect="1" noChangeArrowheads="1"/>
            </p:cNvSpPr>
            <p:nvPr/>
          </p:nvSpPr>
          <p:spPr bwMode="auto">
            <a:xfrm>
              <a:off x="2138" y="975"/>
              <a:ext cx="109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8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0000"/>
                <a:buFont typeface="Wingdings" panose="05000000000000000000" pitchFamily="2" charset="2"/>
                <a:buChar char="l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Arial" panose="020B0604020202020204" pitchFamily="34" charset="0"/>
                </a:rPr>
                <a:t>5</a:t>
              </a:r>
              <a:endParaRPr lang="en-US" altLang="en-US" sz="1600" b="1">
                <a:latin typeface="Arial" panose="020B0604020202020204" pitchFamily="34" charset="0"/>
              </a:endParaRPr>
            </a:p>
          </p:txBody>
        </p:sp>
        <p:sp>
          <p:nvSpPr>
            <p:cNvPr id="196640" name="Freeform 118"/>
            <p:cNvSpPr>
              <a:spLocks noChangeAspect="1"/>
            </p:cNvSpPr>
            <p:nvPr/>
          </p:nvSpPr>
          <p:spPr bwMode="auto">
            <a:xfrm>
              <a:off x="194" y="988"/>
              <a:ext cx="2522" cy="2211"/>
            </a:xfrm>
            <a:custGeom>
              <a:avLst/>
              <a:gdLst>
                <a:gd name="T0" fmla="*/ 1363 w 2522"/>
                <a:gd name="T1" fmla="*/ 4 h 2211"/>
                <a:gd name="T2" fmla="*/ 1568 w 2522"/>
                <a:gd name="T3" fmla="*/ 34 h 2211"/>
                <a:gd name="T4" fmla="*/ 1765 w 2522"/>
                <a:gd name="T5" fmla="*/ 92 h 2211"/>
                <a:gd name="T6" fmla="*/ 1949 w 2522"/>
                <a:gd name="T7" fmla="*/ 179 h 2211"/>
                <a:gd name="T8" fmla="*/ 2113 w 2522"/>
                <a:gd name="T9" fmla="*/ 291 h 2211"/>
                <a:gd name="T10" fmla="*/ 2254 w 2522"/>
                <a:gd name="T11" fmla="*/ 425 h 2211"/>
                <a:gd name="T12" fmla="*/ 2368 w 2522"/>
                <a:gd name="T13" fmla="*/ 578 h 2211"/>
                <a:gd name="T14" fmla="*/ 2453 w 2522"/>
                <a:gd name="T15" fmla="*/ 744 h 2211"/>
                <a:gd name="T16" fmla="*/ 2505 w 2522"/>
                <a:gd name="T17" fmla="*/ 922 h 2211"/>
                <a:gd name="T18" fmla="*/ 2522 w 2522"/>
                <a:gd name="T19" fmla="*/ 1103 h 2211"/>
                <a:gd name="T20" fmla="*/ 2505 w 2522"/>
                <a:gd name="T21" fmla="*/ 1284 h 2211"/>
                <a:gd name="T22" fmla="*/ 2453 w 2522"/>
                <a:gd name="T23" fmla="*/ 1461 h 2211"/>
                <a:gd name="T24" fmla="*/ 2371 w 2522"/>
                <a:gd name="T25" fmla="*/ 1630 h 2211"/>
                <a:gd name="T26" fmla="*/ 2256 w 2522"/>
                <a:gd name="T27" fmla="*/ 1783 h 2211"/>
                <a:gd name="T28" fmla="*/ 2115 w 2522"/>
                <a:gd name="T29" fmla="*/ 1917 h 2211"/>
                <a:gd name="T30" fmla="*/ 1951 w 2522"/>
                <a:gd name="T31" fmla="*/ 2029 h 2211"/>
                <a:gd name="T32" fmla="*/ 1769 w 2522"/>
                <a:gd name="T33" fmla="*/ 2118 h 2211"/>
                <a:gd name="T34" fmla="*/ 1572 w 2522"/>
                <a:gd name="T35" fmla="*/ 2176 h 2211"/>
                <a:gd name="T36" fmla="*/ 1367 w 2522"/>
                <a:gd name="T37" fmla="*/ 2206 h 2211"/>
                <a:gd name="T38" fmla="*/ 1159 w 2522"/>
                <a:gd name="T39" fmla="*/ 2206 h 2211"/>
                <a:gd name="T40" fmla="*/ 954 w 2522"/>
                <a:gd name="T41" fmla="*/ 2178 h 2211"/>
                <a:gd name="T42" fmla="*/ 755 w 2522"/>
                <a:gd name="T43" fmla="*/ 2118 h 2211"/>
                <a:gd name="T44" fmla="*/ 573 w 2522"/>
                <a:gd name="T45" fmla="*/ 2031 h 2211"/>
                <a:gd name="T46" fmla="*/ 409 w 2522"/>
                <a:gd name="T47" fmla="*/ 1919 h 2211"/>
                <a:gd name="T48" fmla="*/ 266 w 2522"/>
                <a:gd name="T49" fmla="*/ 1785 h 2211"/>
                <a:gd name="T50" fmla="*/ 151 w 2522"/>
                <a:gd name="T51" fmla="*/ 1634 h 2211"/>
                <a:gd name="T52" fmla="*/ 69 w 2522"/>
                <a:gd name="T53" fmla="*/ 1466 h 2211"/>
                <a:gd name="T54" fmla="*/ 17 w 2522"/>
                <a:gd name="T55" fmla="*/ 1289 h 2211"/>
                <a:gd name="T56" fmla="*/ 0 w 2522"/>
                <a:gd name="T57" fmla="*/ 1107 h 2211"/>
                <a:gd name="T58" fmla="*/ 17 w 2522"/>
                <a:gd name="T59" fmla="*/ 926 h 2211"/>
                <a:gd name="T60" fmla="*/ 67 w 2522"/>
                <a:gd name="T61" fmla="*/ 749 h 2211"/>
                <a:gd name="T62" fmla="*/ 151 w 2522"/>
                <a:gd name="T63" fmla="*/ 580 h 2211"/>
                <a:gd name="T64" fmla="*/ 264 w 2522"/>
                <a:gd name="T65" fmla="*/ 429 h 2211"/>
                <a:gd name="T66" fmla="*/ 404 w 2522"/>
                <a:gd name="T67" fmla="*/ 293 h 2211"/>
                <a:gd name="T68" fmla="*/ 569 w 2522"/>
                <a:gd name="T69" fmla="*/ 181 h 2211"/>
                <a:gd name="T70" fmla="*/ 753 w 2522"/>
                <a:gd name="T71" fmla="*/ 95 h 2211"/>
                <a:gd name="T72" fmla="*/ 949 w 2522"/>
                <a:gd name="T73" fmla="*/ 34 h 2211"/>
                <a:gd name="T74" fmla="*/ 1155 w 2522"/>
                <a:gd name="T75" fmla="*/ 4 h 2211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2522"/>
                <a:gd name="T115" fmla="*/ 0 h 2211"/>
                <a:gd name="T116" fmla="*/ 2522 w 2522"/>
                <a:gd name="T117" fmla="*/ 2211 h 2211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2522" h="2211">
                  <a:moveTo>
                    <a:pt x="1259" y="0"/>
                  </a:moveTo>
                  <a:lnTo>
                    <a:pt x="1363" y="4"/>
                  </a:lnTo>
                  <a:lnTo>
                    <a:pt x="1466" y="15"/>
                  </a:lnTo>
                  <a:lnTo>
                    <a:pt x="1568" y="34"/>
                  </a:lnTo>
                  <a:lnTo>
                    <a:pt x="1668" y="60"/>
                  </a:lnTo>
                  <a:lnTo>
                    <a:pt x="1765" y="92"/>
                  </a:lnTo>
                  <a:lnTo>
                    <a:pt x="1858" y="131"/>
                  </a:lnTo>
                  <a:lnTo>
                    <a:pt x="1949" y="179"/>
                  </a:lnTo>
                  <a:lnTo>
                    <a:pt x="2033" y="233"/>
                  </a:lnTo>
                  <a:lnTo>
                    <a:pt x="2113" y="291"/>
                  </a:lnTo>
                  <a:lnTo>
                    <a:pt x="2187" y="356"/>
                  </a:lnTo>
                  <a:lnTo>
                    <a:pt x="2254" y="425"/>
                  </a:lnTo>
                  <a:lnTo>
                    <a:pt x="2314" y="498"/>
                  </a:lnTo>
                  <a:lnTo>
                    <a:pt x="2368" y="578"/>
                  </a:lnTo>
                  <a:lnTo>
                    <a:pt x="2414" y="660"/>
                  </a:lnTo>
                  <a:lnTo>
                    <a:pt x="2453" y="744"/>
                  </a:lnTo>
                  <a:lnTo>
                    <a:pt x="2483" y="831"/>
                  </a:lnTo>
                  <a:lnTo>
                    <a:pt x="2505" y="922"/>
                  </a:lnTo>
                  <a:lnTo>
                    <a:pt x="2518" y="1012"/>
                  </a:lnTo>
                  <a:lnTo>
                    <a:pt x="2522" y="1103"/>
                  </a:lnTo>
                  <a:lnTo>
                    <a:pt x="2518" y="1194"/>
                  </a:lnTo>
                  <a:lnTo>
                    <a:pt x="2505" y="1284"/>
                  </a:lnTo>
                  <a:lnTo>
                    <a:pt x="2483" y="1375"/>
                  </a:lnTo>
                  <a:lnTo>
                    <a:pt x="2453" y="1461"/>
                  </a:lnTo>
                  <a:lnTo>
                    <a:pt x="2416" y="1548"/>
                  </a:lnTo>
                  <a:lnTo>
                    <a:pt x="2371" y="1630"/>
                  </a:lnTo>
                  <a:lnTo>
                    <a:pt x="2317" y="1707"/>
                  </a:lnTo>
                  <a:lnTo>
                    <a:pt x="2256" y="1783"/>
                  </a:lnTo>
                  <a:lnTo>
                    <a:pt x="2189" y="1852"/>
                  </a:lnTo>
                  <a:lnTo>
                    <a:pt x="2115" y="1917"/>
                  </a:lnTo>
                  <a:lnTo>
                    <a:pt x="2037" y="1975"/>
                  </a:lnTo>
                  <a:lnTo>
                    <a:pt x="1951" y="2029"/>
                  </a:lnTo>
                  <a:lnTo>
                    <a:pt x="1862" y="2077"/>
                  </a:lnTo>
                  <a:lnTo>
                    <a:pt x="1769" y="2118"/>
                  </a:lnTo>
                  <a:lnTo>
                    <a:pt x="1672" y="2150"/>
                  </a:lnTo>
                  <a:lnTo>
                    <a:pt x="1572" y="2176"/>
                  </a:lnTo>
                  <a:lnTo>
                    <a:pt x="1471" y="2195"/>
                  </a:lnTo>
                  <a:lnTo>
                    <a:pt x="1367" y="2206"/>
                  </a:lnTo>
                  <a:lnTo>
                    <a:pt x="1263" y="2211"/>
                  </a:lnTo>
                  <a:lnTo>
                    <a:pt x="1159" y="2206"/>
                  </a:lnTo>
                  <a:lnTo>
                    <a:pt x="1055" y="2195"/>
                  </a:lnTo>
                  <a:lnTo>
                    <a:pt x="954" y="2178"/>
                  </a:lnTo>
                  <a:lnTo>
                    <a:pt x="852" y="2152"/>
                  </a:lnTo>
                  <a:lnTo>
                    <a:pt x="755" y="2118"/>
                  </a:lnTo>
                  <a:lnTo>
                    <a:pt x="662" y="2079"/>
                  </a:lnTo>
                  <a:lnTo>
                    <a:pt x="573" y="2031"/>
                  </a:lnTo>
                  <a:lnTo>
                    <a:pt x="486" y="1980"/>
                  </a:lnTo>
                  <a:lnTo>
                    <a:pt x="409" y="1919"/>
                  </a:lnTo>
                  <a:lnTo>
                    <a:pt x="333" y="1856"/>
                  </a:lnTo>
                  <a:lnTo>
                    <a:pt x="266" y="1785"/>
                  </a:lnTo>
                  <a:lnTo>
                    <a:pt x="205" y="1712"/>
                  </a:lnTo>
                  <a:lnTo>
                    <a:pt x="151" y="1634"/>
                  </a:lnTo>
                  <a:lnTo>
                    <a:pt x="106" y="1552"/>
                  </a:lnTo>
                  <a:lnTo>
                    <a:pt x="69" y="1466"/>
                  </a:lnTo>
                  <a:lnTo>
                    <a:pt x="39" y="1379"/>
                  </a:lnTo>
                  <a:lnTo>
                    <a:pt x="17" y="1289"/>
                  </a:lnTo>
                  <a:lnTo>
                    <a:pt x="4" y="1198"/>
                  </a:lnTo>
                  <a:lnTo>
                    <a:pt x="0" y="1107"/>
                  </a:lnTo>
                  <a:lnTo>
                    <a:pt x="4" y="1017"/>
                  </a:lnTo>
                  <a:lnTo>
                    <a:pt x="17" y="926"/>
                  </a:lnTo>
                  <a:lnTo>
                    <a:pt x="37" y="835"/>
                  </a:lnTo>
                  <a:lnTo>
                    <a:pt x="67" y="749"/>
                  </a:lnTo>
                  <a:lnTo>
                    <a:pt x="106" y="662"/>
                  </a:lnTo>
                  <a:lnTo>
                    <a:pt x="151" y="580"/>
                  </a:lnTo>
                  <a:lnTo>
                    <a:pt x="203" y="503"/>
                  </a:lnTo>
                  <a:lnTo>
                    <a:pt x="264" y="429"/>
                  </a:lnTo>
                  <a:lnTo>
                    <a:pt x="331" y="358"/>
                  </a:lnTo>
                  <a:lnTo>
                    <a:pt x="404" y="293"/>
                  </a:lnTo>
                  <a:lnTo>
                    <a:pt x="484" y="235"/>
                  </a:lnTo>
                  <a:lnTo>
                    <a:pt x="569" y="181"/>
                  </a:lnTo>
                  <a:lnTo>
                    <a:pt x="660" y="133"/>
                  </a:lnTo>
                  <a:lnTo>
                    <a:pt x="753" y="95"/>
                  </a:lnTo>
                  <a:lnTo>
                    <a:pt x="850" y="60"/>
                  </a:lnTo>
                  <a:lnTo>
                    <a:pt x="949" y="34"/>
                  </a:lnTo>
                  <a:lnTo>
                    <a:pt x="1051" y="15"/>
                  </a:lnTo>
                  <a:lnTo>
                    <a:pt x="1155" y="4"/>
                  </a:lnTo>
                  <a:lnTo>
                    <a:pt x="1259" y="0"/>
                  </a:lnTo>
                </a:path>
              </a:pathLst>
            </a:custGeom>
            <a:noFill/>
            <a:ln w="31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10556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8839200" cy="1139825"/>
          </a:xfrm>
        </p:spPr>
        <p:txBody>
          <a:bodyPr/>
          <a:lstStyle/>
          <a:p>
            <a:pPr eaLnBrk="1" hangingPunct="1">
              <a:defRPr/>
            </a:pPr>
            <a:r>
              <a:rPr lang="en-US" sz="3400" dirty="0" smtClean="0"/>
              <a:t>Hierarchical Clustering: Problems and Limitations</a:t>
            </a:r>
          </a:p>
        </p:txBody>
      </p:sp>
      <p:sp>
        <p:nvSpPr>
          <p:cNvPr id="517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371600"/>
            <a:ext cx="9144000" cy="5334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Once a decision is made to combine two clusters, it cannot be undone</a:t>
            </a:r>
          </a:p>
          <a:p>
            <a:pPr lvl="4" eaLnBrk="1" hangingPunct="1">
              <a:defRPr/>
            </a:pPr>
            <a:endParaRPr lang="en-US" sz="800" dirty="0" smtClean="0"/>
          </a:p>
          <a:p>
            <a:pPr eaLnBrk="1" hangingPunct="1">
              <a:defRPr/>
            </a:pPr>
            <a:r>
              <a:rPr lang="en-US" dirty="0" smtClean="0"/>
              <a:t>No objective function is directly minimized</a:t>
            </a:r>
          </a:p>
          <a:p>
            <a:pPr lvl="4" eaLnBrk="1" hangingPunct="1">
              <a:defRPr/>
            </a:pPr>
            <a:endParaRPr lang="en-US" sz="800" dirty="0" smtClean="0"/>
          </a:p>
          <a:p>
            <a:pPr eaLnBrk="1" hangingPunct="1">
              <a:defRPr/>
            </a:pPr>
            <a:r>
              <a:rPr lang="en-US" dirty="0" smtClean="0"/>
              <a:t>Different schemes have problems with one or more of the following:</a:t>
            </a:r>
          </a:p>
          <a:p>
            <a:pPr lvl="1" eaLnBrk="1" hangingPunct="1">
              <a:defRPr/>
            </a:pPr>
            <a:r>
              <a:rPr lang="en-US" dirty="0" smtClean="0"/>
              <a:t>Sensitivity to noise and outliers</a:t>
            </a:r>
          </a:p>
          <a:p>
            <a:pPr lvl="1" eaLnBrk="1" hangingPunct="1">
              <a:defRPr/>
            </a:pPr>
            <a:r>
              <a:rPr lang="en-US" dirty="0" smtClean="0"/>
              <a:t>Difficulty handling different sized clusters and convex shapes</a:t>
            </a:r>
          </a:p>
          <a:p>
            <a:pPr lvl="1" eaLnBrk="1" hangingPunct="1">
              <a:defRPr/>
            </a:pPr>
            <a:r>
              <a:rPr lang="en-US" dirty="0" smtClean="0"/>
              <a:t>Breaking large clusters</a:t>
            </a:r>
          </a:p>
        </p:txBody>
      </p:sp>
    </p:spTree>
    <p:extLst>
      <p:ext uri="{BB962C8B-B14F-4D97-AF65-F5344CB8AC3E}">
        <p14:creationId xmlns:p14="http://schemas.microsoft.com/office/powerpoint/2010/main" val="319676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0"/>
            <a:ext cx="84582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/>
            </a:r>
            <a:br>
              <a:rPr lang="en-US"/>
            </a:br>
            <a:endParaRPr lang="en-GB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1752600"/>
            <a:ext cx="8763000" cy="533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800" smtClean="0">
                <a:effectLst/>
                <a:ea typeface="宋体" panose="02010600030101010101" pitchFamily="2" charset="-122"/>
              </a:rPr>
              <a:t>Messy to construct if number of points is large.</a:t>
            </a:r>
          </a:p>
        </p:txBody>
      </p:sp>
      <p:sp>
        <p:nvSpPr>
          <p:cNvPr id="140292" name="Rectangle 4"/>
          <p:cNvSpPr>
            <a:spLocks noChangeArrowheads="1"/>
          </p:cNvSpPr>
          <p:nvPr/>
        </p:nvSpPr>
        <p:spPr bwMode="auto">
          <a:xfrm>
            <a:off x="228600" y="673100"/>
            <a:ext cx="79089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1"/>
              <a:t>Problems with Dendrogram</a:t>
            </a:r>
            <a:endParaRPr lang="en-GB" altLang="en-US" sz="4400" b="1"/>
          </a:p>
        </p:txBody>
      </p:sp>
      <p:pic>
        <p:nvPicPr>
          <p:cNvPr id="14029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438400"/>
            <a:ext cx="8153400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4" name="Text Box 6"/>
          <p:cNvSpPr txBox="1">
            <a:spLocks noChangeArrowheads="1"/>
          </p:cNvSpPr>
          <p:nvPr/>
        </p:nvSpPr>
        <p:spPr bwMode="auto">
          <a:xfrm>
            <a:off x="1219200" y="6400800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chemeClr val="bg1"/>
                </a:solidFill>
              </a:rPr>
              <a:t>Number of observations = 6113</a:t>
            </a:r>
            <a:endParaRPr lang="en-GB" altLang="en-US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489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8763000" cy="1143000"/>
          </a:xfrm>
        </p:spPr>
        <p:txBody>
          <a:bodyPr>
            <a:normAutofit fontScale="90000"/>
          </a:bodyPr>
          <a:lstStyle/>
          <a:p>
            <a:r>
              <a:rPr lang="en-US" altLang="en-US" sz="4000" b="1" smtClean="0">
                <a:effectLst/>
              </a:rPr>
              <a:t>Deciding where to cut the Dendrogram can be difficult</a:t>
            </a:r>
            <a:endParaRPr lang="en-GB" altLang="en-US" sz="4000" b="1" smtClean="0">
              <a:effectLst/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219700" y="2133600"/>
            <a:ext cx="3924300" cy="3417888"/>
          </a:xfrm>
        </p:spPr>
        <p:txBody>
          <a:bodyPr/>
          <a:lstStyle/>
          <a:p>
            <a:pPr>
              <a:buClr>
                <a:srgbClr val="666699"/>
              </a:buClr>
              <a:buSzPct val="130000"/>
              <a:buFont typeface="Wingdings" panose="05000000000000000000" pitchFamily="2" charset="2"/>
              <a:buChar char="§"/>
            </a:pPr>
            <a:r>
              <a:rPr lang="en-US" altLang="en-US" sz="2400" smtClean="0">
                <a:effectLst/>
              </a:rPr>
              <a:t>As shown, if there are no sharp elbow knicks in the Inverse Scree Test, then it is difficult to find the number of clusters from the dendrogram</a:t>
            </a:r>
            <a:endParaRPr lang="en-GB" altLang="en-US" sz="2400" smtClean="0">
              <a:effectLst/>
            </a:endParaRPr>
          </a:p>
        </p:txBody>
      </p:sp>
      <p:sp>
        <p:nvSpPr>
          <p:cNvPr id="141316" name="Text Box 4"/>
          <p:cNvSpPr txBox="1">
            <a:spLocks noChangeArrowheads="1"/>
          </p:cNvSpPr>
          <p:nvPr/>
        </p:nvSpPr>
        <p:spPr bwMode="auto">
          <a:xfrm>
            <a:off x="1371600" y="60960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Inverse Scree test</a:t>
            </a:r>
            <a:endParaRPr lang="en-GB" altLang="en-US" sz="1800"/>
          </a:p>
        </p:txBody>
      </p:sp>
      <p:graphicFrame>
        <p:nvGraphicFramePr>
          <p:cNvPr id="141317" name="Object 2"/>
          <p:cNvGraphicFramePr>
            <a:graphicFrameLocks noChangeAspect="1"/>
          </p:cNvGraphicFramePr>
          <p:nvPr/>
        </p:nvGraphicFramePr>
        <p:xfrm>
          <a:off x="228600" y="1895475"/>
          <a:ext cx="4953000" cy="404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1" name="Bitmap Image" r:id="rId3" imgW="4580952" imgH="3742857" progId="Paint.Picture">
                  <p:embed/>
                </p:oleObj>
              </mc:Choice>
              <mc:Fallback>
                <p:oleObj name="Bitmap Image" r:id="rId3" imgW="4580952" imgH="3742857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895475"/>
                        <a:ext cx="4953000" cy="4048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7303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1066800"/>
          </a:xfrm>
        </p:spPr>
        <p:txBody>
          <a:bodyPr>
            <a:normAutofit fontScale="90000"/>
          </a:bodyPr>
          <a:lstStyle/>
          <a:p>
            <a:r>
              <a:rPr lang="en-US" altLang="en-US" sz="4000" b="1" smtClean="0">
                <a:effectLst/>
              </a:rPr>
              <a:t>Comparing two Dendrograms is not straightforward</a:t>
            </a:r>
            <a:endParaRPr lang="en-GB" altLang="en-US" sz="4000" b="1" smtClean="0">
              <a:effectLst/>
            </a:endParaRPr>
          </a:p>
        </p:txBody>
      </p:sp>
      <p:sp>
        <p:nvSpPr>
          <p:cNvPr id="14233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4953000" y="4724400"/>
            <a:ext cx="3581400" cy="1905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400" smtClean="0">
                <a:effectLst/>
              </a:rPr>
              <a:t>  </a:t>
            </a:r>
            <a:r>
              <a:rPr lang="en-US" altLang="en-US" sz="2400" b="1" smtClean="0">
                <a:effectLst/>
              </a:rPr>
              <a:t>H</a:t>
            </a:r>
            <a:r>
              <a:rPr lang="en-US" altLang="en-US" sz="2400" b="1" baseline="-25000" smtClean="0">
                <a:effectLst/>
              </a:rPr>
              <a:t>n</a:t>
            </a:r>
            <a:r>
              <a:rPr lang="en-US" altLang="en-US" sz="2400" smtClean="0">
                <a:effectLst/>
              </a:rPr>
              <a:t> denotes the number of simply equivalent dendrograms for n objects.</a:t>
            </a:r>
            <a:endParaRPr lang="en-GB" altLang="en-US" sz="2400" smtClean="0">
              <a:effectLst/>
            </a:endParaRPr>
          </a:p>
        </p:txBody>
      </p:sp>
      <p:pic>
        <p:nvPicPr>
          <p:cNvPr id="142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181600"/>
            <a:ext cx="4114800" cy="1262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23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81200"/>
            <a:ext cx="4343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5105400" y="1981200"/>
            <a:ext cx="358140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8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The four dendrograms all represent the same data.  They can be obtained from each other by rotating a few branches.</a:t>
            </a:r>
            <a:endParaRPr lang="en-GB" altLang="en-US" sz="1800"/>
          </a:p>
        </p:txBody>
      </p:sp>
    </p:spTree>
    <p:extLst>
      <p:ext uri="{BB962C8B-B14F-4D97-AF65-F5344CB8AC3E}">
        <p14:creationId xmlns:p14="http://schemas.microsoft.com/office/powerpoint/2010/main" val="170505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2292</TotalTime>
  <Words>1820</Words>
  <Application>Microsoft Office PowerPoint</Application>
  <PresentationFormat>On-screen Show (4:3)</PresentationFormat>
  <Paragraphs>584</Paragraphs>
  <Slides>59</Slides>
  <Notes>31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59</vt:i4>
      </vt:variant>
    </vt:vector>
  </HeadingPairs>
  <TitlesOfParts>
    <vt:vector size="75" baseType="lpstr">
      <vt:lpstr>ＭＳ Ｐゴシック</vt:lpstr>
      <vt:lpstr>宋体</vt:lpstr>
      <vt:lpstr>Arial</vt:lpstr>
      <vt:lpstr>Calibri</vt:lpstr>
      <vt:lpstr>Comic Sans MS</vt:lpstr>
      <vt:lpstr>굴림</vt:lpstr>
      <vt:lpstr>Symbol</vt:lpstr>
      <vt:lpstr>Tahoma</vt:lpstr>
      <vt:lpstr>Times New Roman</vt:lpstr>
      <vt:lpstr>Wingdings</vt:lpstr>
      <vt:lpstr>Office Theme</vt:lpstr>
      <vt:lpstr>Visio</vt:lpstr>
      <vt:lpstr>Bitmap Image</vt:lpstr>
      <vt:lpstr>Equation</vt:lpstr>
      <vt:lpstr>VISIO</vt:lpstr>
      <vt:lpstr>Worksheet</vt:lpstr>
      <vt:lpstr>Clustering</vt:lpstr>
      <vt:lpstr>Hierarchical Clustering</vt:lpstr>
      <vt:lpstr>Agglomerative Clustering Algorithm</vt:lpstr>
      <vt:lpstr>Starting Situation </vt:lpstr>
      <vt:lpstr>Intermediate Situation</vt:lpstr>
      <vt:lpstr>Intermediate Situation</vt:lpstr>
      <vt:lpstr>After Merging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How to Define Inter-Cluster Similarity</vt:lpstr>
      <vt:lpstr>Hierarchical Clustering:  Time and Space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Single Linkage Clustering</vt:lpstr>
      <vt:lpstr>Algorithm</vt:lpstr>
      <vt:lpstr>  Interpreting Dendrograms</vt:lpstr>
      <vt:lpstr>PowerPoint Presentation</vt:lpstr>
      <vt:lpstr>Advantages</vt:lpstr>
      <vt:lpstr>Problems</vt:lpstr>
      <vt:lpstr>PowerPoint Presentation</vt:lpstr>
      <vt:lpstr>PowerPoint Presentation</vt:lpstr>
      <vt:lpstr>Hierarchical: Single Link</vt:lpstr>
      <vt:lpstr>Example: single link</vt:lpstr>
      <vt:lpstr>Example: single link</vt:lpstr>
      <vt:lpstr>Example: single link</vt:lpstr>
      <vt:lpstr>Hierarchical: Complete Link</vt:lpstr>
      <vt:lpstr>Example: complete link</vt:lpstr>
      <vt:lpstr>Example: complete link</vt:lpstr>
      <vt:lpstr>Example: complete link</vt:lpstr>
      <vt:lpstr>Hierarchical: Average Link</vt:lpstr>
      <vt:lpstr>Example: average link</vt:lpstr>
      <vt:lpstr>Example: average link</vt:lpstr>
      <vt:lpstr>Example: average link</vt:lpstr>
      <vt:lpstr>PowerPoint Presentation</vt:lpstr>
      <vt:lpstr>Hierarchical Clustering </vt:lpstr>
      <vt:lpstr>Strengths of Hierarchical Clustering</vt:lpstr>
      <vt:lpstr>Cluster Similarity: MIN or Single Link </vt:lpstr>
      <vt:lpstr>Hierarchical Clustering: MIN</vt:lpstr>
      <vt:lpstr>Strength of MIN</vt:lpstr>
      <vt:lpstr>Limitations of MIN</vt:lpstr>
      <vt:lpstr>Cluster Similarity: MAX or Complete Linkage</vt:lpstr>
      <vt:lpstr>Hierarchical Clustering: MAX</vt:lpstr>
      <vt:lpstr>Strength of MAX</vt:lpstr>
      <vt:lpstr>Limitations of MAX</vt:lpstr>
      <vt:lpstr>Cluster Similarity: Group Average</vt:lpstr>
      <vt:lpstr>Hierarchical Clustering: Group Average</vt:lpstr>
      <vt:lpstr>Hierarchical Clustering: Group Average</vt:lpstr>
      <vt:lpstr>Cluster Similarity: Ward’s Method</vt:lpstr>
      <vt:lpstr>Hierarchical Clustering: Comparison</vt:lpstr>
      <vt:lpstr>Hierarchical Clustering: Problems and Limitations</vt:lpstr>
      <vt:lpstr> </vt:lpstr>
      <vt:lpstr>Deciding where to cut the Dendrogram can be difficult</vt:lpstr>
      <vt:lpstr>Comparing two Dendrograms is not straightforward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User</cp:lastModifiedBy>
  <cp:revision>53</cp:revision>
  <dcterms:created xsi:type="dcterms:W3CDTF">2016-03-31T23:17:38Z</dcterms:created>
  <dcterms:modified xsi:type="dcterms:W3CDTF">2018-04-12T11:21:31Z</dcterms:modified>
</cp:coreProperties>
</file>