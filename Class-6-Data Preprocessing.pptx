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notesMasterIdLst>
    <p:notesMasterId r:id="rId51"/>
  </p:notesMasterIdLst>
  <p:handoutMasterIdLst>
    <p:handoutMasterId r:id="rId52"/>
  </p:handoutMasterIdLst>
  <p:sldIdLst>
    <p:sldId id="256" r:id="rId2"/>
    <p:sldId id="286" r:id="rId3"/>
    <p:sldId id="334" r:id="rId4"/>
    <p:sldId id="332" r:id="rId5"/>
    <p:sldId id="333" r:id="rId6"/>
    <p:sldId id="33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56" r:id="rId28"/>
    <p:sldId id="357" r:id="rId29"/>
    <p:sldId id="358" r:id="rId30"/>
    <p:sldId id="359" r:id="rId31"/>
    <p:sldId id="360" r:id="rId32"/>
    <p:sldId id="361" r:id="rId33"/>
    <p:sldId id="362" r:id="rId34"/>
    <p:sldId id="363" r:id="rId35"/>
    <p:sldId id="364" r:id="rId36"/>
    <p:sldId id="365" r:id="rId37"/>
    <p:sldId id="366" r:id="rId38"/>
    <p:sldId id="367" r:id="rId39"/>
    <p:sldId id="368" r:id="rId40"/>
    <p:sldId id="369" r:id="rId41"/>
    <p:sldId id="370" r:id="rId42"/>
    <p:sldId id="371" r:id="rId43"/>
    <p:sldId id="372" r:id="rId44"/>
    <p:sldId id="373" r:id="rId45"/>
    <p:sldId id="374" r:id="rId46"/>
    <p:sldId id="375" r:id="rId47"/>
    <p:sldId id="376" r:id="rId48"/>
    <p:sldId id="377" r:id="rId49"/>
    <p:sldId id="378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6187" autoAdjust="0"/>
  </p:normalViewPr>
  <p:slideViewPr>
    <p:cSldViewPr snapToGrid="0">
      <p:cViewPr varScale="1">
        <p:scale>
          <a:sx n="76" d="100"/>
          <a:sy n="76" d="100"/>
        </p:scale>
        <p:origin x="126" y="7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46CB8-2939-4328-A02D-99F3E6A6D046}" type="datetimeFigureOut">
              <a:rPr lang="en-US" smtClean="0"/>
              <a:t>20-Jan-18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BDEDA-E45B-4E72-A9D1-B2012FFB3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01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533B1-ABAD-4103-B8A0-D2B6277FAC4A}" type="datetimeFigureOut">
              <a:rPr lang="en-US" smtClean="0"/>
              <a:t>20-Jan-18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6DEC1-8E65-4C55-915F-73857AE24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6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1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44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8835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4326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7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2744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8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695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1500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8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2695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9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7851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BC9879-B6AE-4F5C-B693-7A22D1CBA368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256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5215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AB57CE-6418-4875-BE73-1EDACADDAF42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8316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D49612-0668-441F-AB0A-F8C2FEF5D167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58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1937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7DC2E7-96CD-4DCE-A85E-96C8B09B9935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6038" cy="3598863"/>
          </a:xfrm>
          <a:ln/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19587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60870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AAECB-88B6-42B1-A49C-40644B2B309B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25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636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ACFCF1-CB51-4E72-9206-78E3501A2C49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260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13787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9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16243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9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77389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4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65541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71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7681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0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74582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0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29885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11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01140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13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13541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4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6264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04FE-F24E-43EF-8A12-6490B835D045}" type="datetime5">
              <a:rPr lang="en-US" smtClean="0"/>
              <a:t>20-Jan-18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3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F465A-C2E8-41D1-AEDC-CD362C421DD2}" type="datetime5">
              <a:rPr lang="en-US" smtClean="0"/>
              <a:t>20-Jan-18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36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2661-2D44-4F65-BA2F-22C9E7709B6C}" type="datetime5">
              <a:rPr lang="en-US" smtClean="0"/>
              <a:t>20-Jan-18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10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1F3E-789E-49BE-B955-6073698F7D3E}" type="datetime5">
              <a:rPr lang="en-US" smtClean="0"/>
              <a:t>20-Jan-18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6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B19F8-9C81-422D-8FA1-E4CBFA041265}" type="datetime5">
              <a:rPr lang="en-US" smtClean="0"/>
              <a:t>20-Jan-18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53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FBD8-005A-440F-B9CE-290ECB9B3336}" type="datetime5">
              <a:rPr lang="en-US" smtClean="0"/>
              <a:t>20-Jan-18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1AF6-FCBB-40F9-8F1C-67DF7A3FF201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0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AD604-102C-42BD-9AAF-064BC73A8289}" type="datetime5">
              <a:rPr lang="en-US" smtClean="0"/>
              <a:t>20-Jan-18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525E-E759-4305-B03F-B80164A5C229}" type="datetime5">
              <a:rPr lang="en-US" smtClean="0"/>
              <a:t>20-Jan-18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4063-5E7B-4B70-9E31-1958694D71C5}" type="datetime5">
              <a:rPr lang="en-US" smtClean="0"/>
              <a:t>20-Jan-18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0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2E10-9B6D-4994-BAB1-9D7B7E8AB9DD}" type="datetime5">
              <a:rPr lang="en-US" smtClean="0"/>
              <a:t>20-Jan-18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68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2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729C8-8443-4621-88CB-F9C273FD9D36}" type="datetime5">
              <a:rPr lang="en-US" smtClean="0"/>
              <a:t>20-Jan-18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65237"/>
          </a:xfrm>
        </p:spPr>
        <p:txBody>
          <a:bodyPr>
            <a:noAutofit/>
          </a:bodyPr>
          <a:lstStyle/>
          <a:p>
            <a:r>
              <a:rPr lang="en-US" sz="4000" dirty="0" smtClean="0"/>
              <a:t>CS F415: Data Mining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3112" y="3619500"/>
            <a:ext cx="8689976" cy="1371599"/>
          </a:xfrm>
        </p:spPr>
        <p:txBody>
          <a:bodyPr>
            <a:normAutofit/>
          </a:bodyPr>
          <a:lstStyle/>
          <a:p>
            <a:pPr algn="r"/>
            <a:endParaRPr lang="en-US" sz="4000" dirty="0" smtClean="0">
              <a:solidFill>
                <a:srgbClr val="0070C0"/>
              </a:solidFill>
            </a:endParaRPr>
          </a:p>
          <a:p>
            <a:pPr algn="r"/>
            <a:r>
              <a:rPr lang="en-US" sz="4000" dirty="0" err="1" smtClean="0">
                <a:solidFill>
                  <a:srgbClr val="0070C0"/>
                </a:solidFill>
              </a:rPr>
              <a:t>Yashvardhan</a:t>
            </a:r>
            <a:r>
              <a:rPr lang="en-US" sz="4000" dirty="0" smtClean="0">
                <a:solidFill>
                  <a:srgbClr val="0070C0"/>
                </a:solidFill>
              </a:rPr>
              <a:t> Sharma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F87B-EAC7-4DD9-A00A-2C5A9B6D8CDF}" type="datetime5">
              <a:rPr lang="en-US" smtClean="0"/>
              <a:t>20-Jan-18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fld id="{BAC8B44D-8A6F-4EC5-8711-F07CE7DFA75E}" type="slidenum">
              <a:rPr lang="en-US" smtClean="0"/>
              <a:t>1</a:t>
            </a:fld>
            <a:r>
              <a:rPr lang="en-US" dirty="0" smtClean="0"/>
              <a:t>S F415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2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8150"/>
            <a:ext cx="10515600" cy="1325563"/>
          </a:xfrm>
        </p:spPr>
        <p:txBody>
          <a:bodyPr/>
          <a:lstStyle/>
          <a:p>
            <a:r>
              <a:rPr lang="en-US" dirty="0" smtClean="0"/>
              <a:t>Today’s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3713"/>
            <a:ext cx="8534400" cy="361526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Data Preprocessing</a:t>
            </a:r>
          </a:p>
          <a:p>
            <a:pPr lvl="1"/>
            <a:r>
              <a:rPr lang="en-US" altLang="en-US" sz="3600" dirty="0">
                <a:solidFill>
                  <a:schemeClr val="accent2"/>
                </a:solidFill>
              </a:rPr>
              <a:t>Types of Data Sets</a:t>
            </a:r>
          </a:p>
          <a:p>
            <a:pPr lvl="1"/>
            <a:r>
              <a:rPr lang="en-US" altLang="en-US" sz="3600" dirty="0">
                <a:solidFill>
                  <a:schemeClr val="accent2"/>
                </a:solidFill>
              </a:rPr>
              <a:t>Why preprocess the data?</a:t>
            </a:r>
          </a:p>
          <a:p>
            <a:pPr lvl="1"/>
            <a:r>
              <a:rPr lang="en-US" altLang="en-US" sz="3600" dirty="0">
                <a:solidFill>
                  <a:schemeClr val="accent2"/>
                </a:solidFill>
              </a:rPr>
              <a:t>Types of Data </a:t>
            </a:r>
          </a:p>
          <a:p>
            <a:pPr lvl="1"/>
            <a:r>
              <a:rPr lang="en-US" altLang="en-US" sz="3600" dirty="0">
                <a:solidFill>
                  <a:schemeClr val="accent2"/>
                </a:solidFill>
              </a:rPr>
              <a:t>Data Quality</a:t>
            </a:r>
          </a:p>
          <a:p>
            <a:endParaRPr lang="en-US" sz="4000" dirty="0" smtClean="0"/>
          </a:p>
          <a:p>
            <a:pPr lvl="1"/>
            <a:endParaRPr lang="en-US" sz="3600" dirty="0" smtClean="0"/>
          </a:p>
          <a:p>
            <a:endParaRPr lang="en-US" sz="4000" dirty="0" smtClean="0"/>
          </a:p>
          <a:p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E015-6ABD-424D-B5F0-6A6356E99314}" type="datetime5">
              <a:rPr lang="en-US" smtClean="0"/>
              <a:t>20-Jan-18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2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4" name="Rectangle 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2735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Transaction Data</a:t>
            </a:r>
          </a:p>
        </p:txBody>
      </p:sp>
      <p:sp>
        <p:nvSpPr>
          <p:cNvPr id="7751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533400" y="1021080"/>
            <a:ext cx="10820400" cy="515588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A special type of record data, where </a:t>
            </a:r>
          </a:p>
          <a:p>
            <a:pPr lvl="1"/>
            <a:r>
              <a:rPr lang="en-US" altLang="en-US" sz="2800" dirty="0"/>
              <a:t>each record (transaction) involves a set of items.  </a:t>
            </a:r>
          </a:p>
          <a:p>
            <a:pPr lvl="1"/>
            <a:r>
              <a:rPr lang="en-US" altLang="en-US" sz="2800" dirty="0"/>
              <a:t>For example, consider a grocery store.  The set of products purchased by a customer during one shopping trip constitute a transaction, while the individual products that were purchased are the items. </a:t>
            </a:r>
          </a:p>
          <a:p>
            <a:pPr lvl="1"/>
            <a:endParaRPr lang="en-US" altLang="en-US" sz="2800" dirty="0"/>
          </a:p>
          <a:p>
            <a:pPr lvl="1"/>
            <a:endParaRPr lang="en-US" altLang="en-US" sz="2800" dirty="0"/>
          </a:p>
        </p:txBody>
      </p:sp>
      <p:graphicFrame>
        <p:nvGraphicFramePr>
          <p:cNvPr id="775173" name="Object 5"/>
          <p:cNvGraphicFramePr>
            <a:graphicFrameLocks noChangeAspect="1"/>
          </p:cNvGraphicFramePr>
          <p:nvPr>
            <p:extLst/>
          </p:nvPr>
        </p:nvGraphicFramePr>
        <p:xfrm>
          <a:off x="2621280" y="3503297"/>
          <a:ext cx="5394960" cy="2821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Document" r:id="rId4" imgW="3823200" imgH="1999080" progId="Word.Document.8">
                  <p:embed/>
                </p:oleObj>
              </mc:Choice>
              <mc:Fallback>
                <p:oleObj name="Document" r:id="rId4" imgW="3823200" imgH="19990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1280" y="3503297"/>
                        <a:ext cx="5394960" cy="28213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5A3A-8FE1-4DA1-B8CB-C41DEC7C6483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2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9" name="Rectangle 5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5783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Data Matrix </a:t>
            </a:r>
          </a:p>
        </p:txBody>
      </p:sp>
      <p:sp>
        <p:nvSpPr>
          <p:cNvPr id="76903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838200" y="1007109"/>
            <a:ext cx="9415463" cy="3260091"/>
          </a:xfrm>
        </p:spPr>
        <p:txBody>
          <a:bodyPr>
            <a:normAutofit/>
          </a:bodyPr>
          <a:lstStyle/>
          <a:p>
            <a:r>
              <a:rPr lang="en-US" altLang="en-US" dirty="0"/>
              <a:t>If data objects have the same fixed set of numeric attributes, then the data objects can be thought of as points in a multi-dimensional space, where each dimension represents a distinct attribute </a:t>
            </a:r>
          </a:p>
          <a:p>
            <a:pPr lvl="4"/>
            <a:endParaRPr lang="en-US" altLang="en-US" sz="2000" dirty="0"/>
          </a:p>
          <a:p>
            <a:r>
              <a:rPr lang="en-US" altLang="en-US" dirty="0"/>
              <a:t>Such data set can be represented by an </a:t>
            </a:r>
            <a:r>
              <a:rPr lang="en-US" altLang="en-US" b="1" i="1" dirty="0"/>
              <a:t>m</a:t>
            </a:r>
            <a:r>
              <a:rPr lang="en-US" altLang="en-US" dirty="0"/>
              <a:t> by </a:t>
            </a:r>
            <a:r>
              <a:rPr lang="en-US" altLang="en-US" b="1" i="1" dirty="0"/>
              <a:t>n</a:t>
            </a:r>
            <a:r>
              <a:rPr lang="en-US" altLang="en-US" dirty="0"/>
              <a:t> matrix, where there are </a:t>
            </a:r>
            <a:r>
              <a:rPr lang="en-US" altLang="en-US" b="1" i="1" dirty="0"/>
              <a:t>m</a:t>
            </a:r>
            <a:r>
              <a:rPr lang="en-US" altLang="en-US" dirty="0"/>
              <a:t> rows, one for each object, and </a:t>
            </a:r>
            <a:r>
              <a:rPr lang="en-US" altLang="en-US" b="1" i="1" dirty="0"/>
              <a:t>n</a:t>
            </a:r>
            <a:r>
              <a:rPr lang="en-US" altLang="en-US" dirty="0"/>
              <a:t> columns, one for each attribute</a:t>
            </a:r>
          </a:p>
        </p:txBody>
      </p:sp>
      <p:graphicFrame>
        <p:nvGraphicFramePr>
          <p:cNvPr id="769028" name="Object 4"/>
          <p:cNvGraphicFramePr>
            <a:graphicFrameLocks noChangeAspect="1"/>
          </p:cNvGraphicFramePr>
          <p:nvPr/>
        </p:nvGraphicFramePr>
        <p:xfrm>
          <a:off x="2514600" y="4435476"/>
          <a:ext cx="6705600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VISIO" r:id="rId4" imgW="5705280" imgH="1477440" progId="Visio.Drawing.6">
                  <p:embed/>
                </p:oleObj>
              </mc:Choice>
              <mc:Fallback>
                <p:oleObj name="VISIO" r:id="rId4" imgW="5705280" imgH="14774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435476"/>
                        <a:ext cx="6705600" cy="173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78E1-55A5-44E2-9D2D-E2E937682834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4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6" name="Rectangle 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3403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Document </a:t>
            </a:r>
            <a:r>
              <a:rPr lang="en-US" altLang="en-US" dirty="0" smtClean="0"/>
              <a:t>– term matrix</a:t>
            </a:r>
            <a:endParaRPr lang="en-US" altLang="en-US" dirty="0"/>
          </a:p>
        </p:txBody>
      </p:sp>
      <p:sp>
        <p:nvSpPr>
          <p:cNvPr id="7731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20040" y="1007110"/>
            <a:ext cx="11033760" cy="516985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Each document becomes a </a:t>
            </a:r>
            <a:r>
              <a:rPr lang="en-US" altLang="en-US" sz="3200" dirty="0" smtClean="0"/>
              <a:t>‘term’ </a:t>
            </a:r>
            <a:r>
              <a:rPr lang="en-US" altLang="en-US" sz="3200" dirty="0"/>
              <a:t>vector, </a:t>
            </a:r>
          </a:p>
          <a:p>
            <a:pPr lvl="1"/>
            <a:r>
              <a:rPr lang="en-US" altLang="en-US" sz="2800" dirty="0"/>
              <a:t>each term is a component (attribute) of the vector,</a:t>
            </a:r>
          </a:p>
          <a:p>
            <a:pPr lvl="1"/>
            <a:r>
              <a:rPr lang="en-US" altLang="en-US" sz="2800" dirty="0"/>
              <a:t>the value of each component is the number of times the corresponding term occurs in the document. </a:t>
            </a:r>
          </a:p>
          <a:p>
            <a:pPr lvl="1"/>
            <a:endParaRPr lang="en-US" altLang="en-US" sz="2800" dirty="0"/>
          </a:p>
          <a:p>
            <a:pPr lvl="1"/>
            <a:endParaRPr lang="en-US" altLang="en-US" sz="2800" dirty="0"/>
          </a:p>
        </p:txBody>
      </p:sp>
      <p:graphicFrame>
        <p:nvGraphicFramePr>
          <p:cNvPr id="773125" name="Object 5"/>
          <p:cNvGraphicFramePr>
            <a:graphicFrameLocks noChangeAspect="1"/>
          </p:cNvGraphicFramePr>
          <p:nvPr>
            <p:extLst/>
          </p:nvPr>
        </p:nvGraphicFramePr>
        <p:xfrm>
          <a:off x="2164080" y="2863005"/>
          <a:ext cx="8321040" cy="3866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Visio" r:id="rId4" imgW="5925718" imgH="2693902" progId="Visio.Drawing.6">
                  <p:embed/>
                </p:oleObj>
              </mc:Choice>
              <mc:Fallback>
                <p:oleObj name="Visio" r:id="rId4" imgW="5925718" imgH="269390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4080" y="2863005"/>
                        <a:ext cx="8321040" cy="3866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C64B4-323B-4DC2-A8A5-5E6859296E02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5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7" name="Rectangle 7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Graph Data </a:t>
            </a:r>
          </a:p>
        </p:txBody>
      </p:sp>
      <p:sp>
        <p:nvSpPr>
          <p:cNvPr id="78336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40080" y="1264920"/>
            <a:ext cx="10713720" cy="4912043"/>
          </a:xfrm>
        </p:spPr>
        <p:txBody>
          <a:bodyPr/>
          <a:lstStyle/>
          <a:p>
            <a:r>
              <a:rPr lang="en-US" altLang="en-US" dirty="0"/>
              <a:t>Examples: Generic graph and HTML Links </a:t>
            </a:r>
          </a:p>
        </p:txBody>
      </p:sp>
      <p:graphicFrame>
        <p:nvGraphicFramePr>
          <p:cNvPr id="783365" name="Object 5"/>
          <p:cNvGraphicFramePr>
            <a:graphicFrameLocks noChangeAspect="1"/>
          </p:cNvGraphicFramePr>
          <p:nvPr/>
        </p:nvGraphicFramePr>
        <p:xfrm>
          <a:off x="1752600" y="2133600"/>
          <a:ext cx="3556000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VISIO" r:id="rId4" imgW="840600" imgH="646200" progId="Visio.Drawing.6">
                  <p:embed/>
                </p:oleObj>
              </mc:Choice>
              <mc:Fallback>
                <p:oleObj name="VISIO" r:id="rId4" imgW="840600" imgH="6462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133600"/>
                        <a:ext cx="3556000" cy="273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3366" name="Object 6"/>
          <p:cNvGraphicFramePr>
            <a:graphicFrameLocks noChangeAspect="1"/>
          </p:cNvGraphicFramePr>
          <p:nvPr>
            <p:extLst/>
          </p:nvPr>
        </p:nvGraphicFramePr>
        <p:xfrm>
          <a:off x="5943599" y="2112964"/>
          <a:ext cx="5933725" cy="3053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VISIO" r:id="rId6" imgW="4234680" imgH="2179800" progId="Visio.Drawing.6">
                  <p:embed/>
                </p:oleObj>
              </mc:Choice>
              <mc:Fallback>
                <p:oleObj name="VISIO" r:id="rId6" imgW="4234680" imgH="21798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599" y="2112964"/>
                        <a:ext cx="5933725" cy="30533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E86A9-90F4-45FE-8AE0-D5476EEF0BE8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9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87" name="Rectangle 7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8163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Chemical Data </a:t>
            </a:r>
          </a:p>
        </p:txBody>
      </p:sp>
      <p:sp>
        <p:nvSpPr>
          <p:cNvPr id="78848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72440" y="1036320"/>
            <a:ext cx="10881360" cy="5140643"/>
          </a:xfrm>
        </p:spPr>
        <p:txBody>
          <a:bodyPr/>
          <a:lstStyle/>
          <a:p>
            <a:r>
              <a:rPr lang="en-US" altLang="en-US" dirty="0"/>
              <a:t>Benzene Molecule: C</a:t>
            </a:r>
            <a:r>
              <a:rPr lang="en-US" altLang="en-US" baseline="-25000" dirty="0"/>
              <a:t>6</a:t>
            </a:r>
            <a:r>
              <a:rPr lang="en-US" altLang="en-US" dirty="0"/>
              <a:t>H</a:t>
            </a:r>
            <a:r>
              <a:rPr lang="en-US" altLang="en-US" baseline="-25000" dirty="0"/>
              <a:t>6</a:t>
            </a:r>
          </a:p>
          <a:p>
            <a:endParaRPr lang="en-US" altLang="en-US" dirty="0"/>
          </a:p>
        </p:txBody>
      </p:sp>
      <p:graphicFrame>
        <p:nvGraphicFramePr>
          <p:cNvPr id="788486" name="Object 6"/>
          <p:cNvGraphicFramePr>
            <a:graphicFrameLocks noChangeAspect="1"/>
          </p:cNvGraphicFramePr>
          <p:nvPr>
            <p:extLst/>
          </p:nvPr>
        </p:nvGraphicFramePr>
        <p:xfrm>
          <a:off x="3886201" y="2057401"/>
          <a:ext cx="4724399" cy="4404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VISIO" r:id="rId4" imgW="5801400" imgH="5407920" progId="Visio.Drawing.6">
                  <p:embed/>
                </p:oleObj>
              </mc:Choice>
              <mc:Fallback>
                <p:oleObj name="VISIO" r:id="rId4" imgW="5801400" imgH="54079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2057401"/>
                        <a:ext cx="4724399" cy="44049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1E34-31F8-4107-804E-1F8DF6D3ECB4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49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20" name="Rectangle 1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8831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Ordered Data </a:t>
            </a:r>
          </a:p>
        </p:txBody>
      </p:sp>
      <p:sp>
        <p:nvSpPr>
          <p:cNvPr id="78542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502920" y="1036002"/>
            <a:ext cx="10850880" cy="5140961"/>
          </a:xfrm>
        </p:spPr>
        <p:txBody>
          <a:bodyPr/>
          <a:lstStyle/>
          <a:p>
            <a:r>
              <a:rPr lang="en-US" altLang="en-US" dirty="0"/>
              <a:t>Sequences of transactions</a:t>
            </a:r>
          </a:p>
        </p:txBody>
      </p:sp>
      <p:pic>
        <p:nvPicPr>
          <p:cNvPr id="78541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726" y="2408238"/>
            <a:ext cx="5121275" cy="384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85415" name="Text Box 7"/>
          <p:cNvSpPr txBox="1">
            <a:spLocks noChangeArrowheads="1"/>
          </p:cNvSpPr>
          <p:nvPr/>
        </p:nvSpPr>
        <p:spPr bwMode="auto">
          <a:xfrm>
            <a:off x="3946525" y="5486401"/>
            <a:ext cx="2057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An element of the sequence</a:t>
            </a:r>
          </a:p>
        </p:txBody>
      </p:sp>
      <p:sp>
        <p:nvSpPr>
          <p:cNvPr id="785416" name="AutoShape 8"/>
          <p:cNvSpPr>
            <a:spLocks/>
          </p:cNvSpPr>
          <p:nvPr/>
        </p:nvSpPr>
        <p:spPr bwMode="auto">
          <a:xfrm rot="16200000">
            <a:off x="4518025" y="4457700"/>
            <a:ext cx="533400" cy="1371600"/>
          </a:xfrm>
          <a:prstGeom prst="leftBrace">
            <a:avLst>
              <a:gd name="adj1" fmla="val 21429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5417" name="Text Box 9"/>
          <p:cNvSpPr txBox="1">
            <a:spLocks noChangeArrowheads="1"/>
          </p:cNvSpPr>
          <p:nvPr/>
        </p:nvSpPr>
        <p:spPr bwMode="auto">
          <a:xfrm>
            <a:off x="4038600" y="1828801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Items/Events</a:t>
            </a:r>
          </a:p>
        </p:txBody>
      </p:sp>
      <p:sp>
        <p:nvSpPr>
          <p:cNvPr id="785418" name="Line 10"/>
          <p:cNvSpPr>
            <a:spLocks noChangeShapeType="1"/>
          </p:cNvSpPr>
          <p:nvPr/>
        </p:nvSpPr>
        <p:spPr bwMode="auto">
          <a:xfrm>
            <a:off x="46482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5419" name="Line 11"/>
          <p:cNvSpPr>
            <a:spLocks noChangeShapeType="1"/>
          </p:cNvSpPr>
          <p:nvPr/>
        </p:nvSpPr>
        <p:spPr bwMode="auto">
          <a:xfrm>
            <a:off x="51054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07028-D534-4F7D-851F-5B9ADA3422B6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9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533" name="Rectangle 5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3591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Ordered Data </a:t>
            </a:r>
          </a:p>
        </p:txBody>
      </p:sp>
      <p:sp>
        <p:nvSpPr>
          <p:cNvPr id="79053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28600" y="899160"/>
            <a:ext cx="11125200" cy="5277803"/>
          </a:xfrm>
        </p:spPr>
        <p:txBody>
          <a:bodyPr/>
          <a:lstStyle/>
          <a:p>
            <a:r>
              <a:rPr lang="en-US" altLang="en-US" dirty="0"/>
              <a:t> Genomic sequence data</a:t>
            </a:r>
          </a:p>
        </p:txBody>
      </p:sp>
      <p:graphicFrame>
        <p:nvGraphicFramePr>
          <p:cNvPr id="790532" name="Object 4"/>
          <p:cNvGraphicFramePr>
            <a:graphicFrameLocks noChangeAspect="1"/>
          </p:cNvGraphicFramePr>
          <p:nvPr>
            <p:extLst/>
          </p:nvPr>
        </p:nvGraphicFramePr>
        <p:xfrm>
          <a:off x="3185160" y="1313983"/>
          <a:ext cx="5212079" cy="4448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VISIO" r:id="rId4" imgW="2332800" imgH="1990080" progId="Visio.Drawing.6">
                  <p:embed/>
                </p:oleObj>
              </mc:Choice>
              <mc:Fallback>
                <p:oleObj name="VISIO" r:id="rId4" imgW="2332800" imgH="1990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5160" y="1313983"/>
                        <a:ext cx="5212079" cy="44481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3A9E-FBAD-4570-A8B2-C9ED560361FE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3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465" name="Picture 9" descr="sst_land_temp_82_best"/>
          <p:cNvPicPr>
            <a:picLocks noGrp="1" noChangeAspect="1" noChangeArrowheads="1" noCrop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38599" y="1356361"/>
            <a:ext cx="6938551" cy="520557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8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34431"/>
          </a:xfrm>
        </p:spPr>
        <p:txBody>
          <a:bodyPr>
            <a:noAutofit/>
          </a:bodyPr>
          <a:lstStyle/>
          <a:p>
            <a:r>
              <a:rPr lang="en-US" altLang="en-US" sz="3600" b="1" dirty="0"/>
              <a:t>Ordered Data</a:t>
            </a:r>
          </a:p>
        </p:txBody>
      </p:sp>
      <p:sp>
        <p:nvSpPr>
          <p:cNvPr id="787467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472440" y="1234440"/>
            <a:ext cx="10881360" cy="4942523"/>
          </a:xfrm>
        </p:spPr>
        <p:txBody>
          <a:bodyPr/>
          <a:lstStyle/>
          <a:p>
            <a:r>
              <a:rPr lang="en-US" altLang="en-US" dirty="0" err="1"/>
              <a:t>Spatio</a:t>
            </a:r>
            <a:r>
              <a:rPr lang="en-US" altLang="en-US" dirty="0"/>
              <a:t>-Temporal Data</a:t>
            </a:r>
          </a:p>
        </p:txBody>
      </p:sp>
      <p:sp>
        <p:nvSpPr>
          <p:cNvPr id="787459" name="Rectangle 3"/>
          <p:cNvSpPr>
            <a:spLocks noChangeArrowheads="1"/>
          </p:cNvSpPr>
          <p:nvPr/>
        </p:nvSpPr>
        <p:spPr bwMode="auto">
          <a:xfrm>
            <a:off x="4191000" y="26670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87468" name="Text Box 12"/>
          <p:cNvSpPr txBox="1">
            <a:spLocks noChangeArrowheads="1"/>
          </p:cNvSpPr>
          <p:nvPr/>
        </p:nvSpPr>
        <p:spPr bwMode="auto">
          <a:xfrm>
            <a:off x="2362200" y="2955926"/>
            <a:ext cx="2286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Average Monthly Temperature of land and ocean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8F18E-11F0-4933-88C7-AF4B1DD1F4E5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0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2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85750"/>
            <a:ext cx="10236200" cy="641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E25D6-1846-41DE-AA17-C657D828827F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089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304800"/>
            <a:ext cx="7315200" cy="762000"/>
          </a:xfrm>
        </p:spPr>
        <p:txBody>
          <a:bodyPr/>
          <a:lstStyle/>
          <a:p>
            <a:r>
              <a:rPr lang="en-US" altLang="en-US"/>
              <a:t>Why Data Preprocessing?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066800"/>
            <a:ext cx="9448800" cy="5410200"/>
          </a:xfrm>
        </p:spPr>
        <p:txBody>
          <a:bodyPr>
            <a:normAutofit/>
          </a:bodyPr>
          <a:lstStyle/>
          <a:p>
            <a:r>
              <a:rPr lang="en-US" altLang="en-US" dirty="0"/>
              <a:t>Data in the real world is dirty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</a:rPr>
              <a:t>incomplete</a:t>
            </a:r>
            <a:r>
              <a:rPr lang="en-US" altLang="en-US" dirty="0"/>
              <a:t>: lacking </a:t>
            </a:r>
            <a:r>
              <a:rPr lang="en-US" altLang="en-US" i="1" dirty="0"/>
              <a:t>attribute values</a:t>
            </a:r>
            <a:r>
              <a:rPr lang="en-US" altLang="en-US" dirty="0"/>
              <a:t>, lacking certain </a:t>
            </a:r>
            <a:r>
              <a:rPr lang="en-US" altLang="en-US" i="1" dirty="0"/>
              <a:t>attributes of interest</a:t>
            </a:r>
            <a:r>
              <a:rPr lang="en-US" altLang="en-US" dirty="0"/>
              <a:t>, or containing only aggregate data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</a:rPr>
              <a:t>noisy</a:t>
            </a:r>
            <a:r>
              <a:rPr lang="en-US" altLang="en-US" dirty="0"/>
              <a:t>: containing errors or outliers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</a:rPr>
              <a:t>inconsistent</a:t>
            </a:r>
            <a:r>
              <a:rPr lang="en-US" altLang="en-US" dirty="0"/>
              <a:t>: containing discrepancies in codes or names</a:t>
            </a:r>
          </a:p>
          <a:p>
            <a:r>
              <a:rPr lang="en-US" altLang="en-US" dirty="0"/>
              <a:t>No quality data, no quality mining results!</a:t>
            </a:r>
          </a:p>
          <a:p>
            <a:pPr lvl="1"/>
            <a:r>
              <a:rPr lang="en-US" altLang="en-US" dirty="0"/>
              <a:t>Quality decisions must be based on quality data</a:t>
            </a:r>
          </a:p>
          <a:p>
            <a:pPr lvl="1"/>
            <a:r>
              <a:rPr lang="en-US" altLang="en-US" dirty="0"/>
              <a:t>Data warehouse needs consistent integration of quality data</a:t>
            </a:r>
          </a:p>
          <a:p>
            <a:pPr lvl="1"/>
            <a:r>
              <a:rPr lang="en-US" altLang="en-US" dirty="0"/>
              <a:t>Required for both OLAP and Data Mining!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795D0-4CDC-495C-9975-E073734CF102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45885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2819400" y="457200"/>
            <a:ext cx="7315200" cy="762000"/>
          </a:xfrm>
        </p:spPr>
        <p:txBody>
          <a:bodyPr/>
          <a:lstStyle/>
          <a:p>
            <a:r>
              <a:rPr lang="en-US" altLang="en-US"/>
              <a:t>Why can Data be Incomplete?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58900"/>
            <a:ext cx="10820400" cy="4800600"/>
          </a:xfrm>
        </p:spPr>
        <p:txBody>
          <a:bodyPr>
            <a:normAutofit/>
          </a:bodyPr>
          <a:lstStyle/>
          <a:p>
            <a:r>
              <a:rPr lang="en-US" altLang="en-US" dirty="0"/>
              <a:t>Attributes of interest are not available (e.g., customer information for sales transaction data)</a:t>
            </a:r>
          </a:p>
          <a:p>
            <a:r>
              <a:rPr lang="en-US" altLang="en-US" dirty="0"/>
              <a:t>Data were not considered important at the time of transactions, so they were not recorded!</a:t>
            </a:r>
          </a:p>
          <a:p>
            <a:r>
              <a:rPr lang="en-US" altLang="en-US" dirty="0"/>
              <a:t>Data not </a:t>
            </a:r>
            <a:r>
              <a:rPr lang="en-US" altLang="en-US" dirty="0" smtClean="0"/>
              <a:t>recorded </a:t>
            </a:r>
            <a:r>
              <a:rPr lang="en-US" altLang="en-US" dirty="0"/>
              <a:t>because of misunderstanding or malfunctions</a:t>
            </a:r>
          </a:p>
          <a:p>
            <a:r>
              <a:rPr lang="en-US" altLang="en-US" dirty="0"/>
              <a:t>Data may have been recorded and later deleted!</a:t>
            </a:r>
          </a:p>
          <a:p>
            <a:r>
              <a:rPr lang="en-US" altLang="en-US" dirty="0"/>
              <a:t>Missing/unknown values for some data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9B18-5FF1-488A-B5DF-0791DDBA3D64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26766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457200"/>
            <a:ext cx="8077200" cy="762000"/>
          </a:xfrm>
        </p:spPr>
        <p:txBody>
          <a:bodyPr/>
          <a:lstStyle/>
          <a:p>
            <a:r>
              <a:rPr lang="en-US" altLang="en-US" sz="4000"/>
              <a:t>Why can Data be Noisy/Inconsistent?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219200"/>
            <a:ext cx="9563100" cy="5257800"/>
          </a:xfrm>
        </p:spPr>
        <p:txBody>
          <a:bodyPr>
            <a:normAutofit/>
          </a:bodyPr>
          <a:lstStyle/>
          <a:p>
            <a:r>
              <a:rPr lang="en-US" altLang="en-US" dirty="0"/>
              <a:t>Faulty instruments for data collection </a:t>
            </a:r>
          </a:p>
          <a:p>
            <a:r>
              <a:rPr lang="en-US" altLang="en-US" dirty="0"/>
              <a:t>Human or computer errors</a:t>
            </a:r>
          </a:p>
          <a:p>
            <a:r>
              <a:rPr lang="en-US" altLang="en-US" dirty="0"/>
              <a:t>Errors in data transmission</a:t>
            </a:r>
          </a:p>
          <a:p>
            <a:r>
              <a:rPr lang="en-US" altLang="en-US" dirty="0"/>
              <a:t>Technology limitations (e.g., sensor data come at a faster rate than they can be processed)</a:t>
            </a:r>
          </a:p>
          <a:p>
            <a:r>
              <a:rPr lang="en-US" altLang="en-US" dirty="0"/>
              <a:t>Inconsistencies in naming conventions or data codes (e.g., 2/5/2002 could be 2 May 2002 or 5 Feb 2002)</a:t>
            </a:r>
          </a:p>
          <a:p>
            <a:r>
              <a:rPr lang="en-US" altLang="en-US" dirty="0"/>
              <a:t>Duplicate tuples, which were received twice should also be removed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03141-B1D8-4084-ADA4-5FAEADF05FA3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78334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685800"/>
            <a:ext cx="89154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Multi-Dimensional Measure of Data Quality</a:t>
            </a:r>
            <a:endParaRPr lang="en-US" altLang="en-US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107823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A well-accepted multidimensional view: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Accuracy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Completeness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Consistency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Timeliness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Believability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Value added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Interpretability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Accessibility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Broad categories: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intrinsic, contextual, representational, and accessibility.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5643-C2AD-4FF2-9635-267A42BB1E03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80942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3900" y="369888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Major Tasks in Data Preprocessing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524000"/>
            <a:ext cx="8153400" cy="4800600"/>
          </a:xfrm>
        </p:spPr>
        <p:txBody>
          <a:bodyPr>
            <a:noAutofit/>
          </a:bodyPr>
          <a:lstStyle/>
          <a:p>
            <a:r>
              <a:rPr lang="en-US" altLang="en-US" dirty="0"/>
              <a:t>Data cleaning</a:t>
            </a:r>
          </a:p>
          <a:p>
            <a:pPr lvl="1"/>
            <a:r>
              <a:rPr lang="en-US" altLang="en-US" sz="2000" dirty="0"/>
              <a:t>Fill in missing values, smooth noisy data, identify or remove </a:t>
            </a:r>
            <a:endParaRPr lang="en-US" altLang="en-US" sz="2000" dirty="0" smtClean="0"/>
          </a:p>
          <a:p>
            <a:pPr marL="457200" lvl="1" indent="0"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smtClean="0">
                <a:solidFill>
                  <a:srgbClr val="FF0000"/>
                </a:solidFill>
              </a:rPr>
              <a:t>  outliers</a:t>
            </a:r>
            <a:r>
              <a:rPr lang="en-US" altLang="en-US" sz="2000" dirty="0"/>
              <a:t>, and resolve inconsistencies</a:t>
            </a:r>
          </a:p>
          <a:p>
            <a:r>
              <a:rPr lang="en-US" altLang="en-US" dirty="0"/>
              <a:t>Data integration</a:t>
            </a:r>
          </a:p>
          <a:p>
            <a:pPr lvl="1"/>
            <a:r>
              <a:rPr lang="en-US" altLang="en-US" sz="2000" dirty="0"/>
              <a:t>Integration of multiple databases, data cubes, or files</a:t>
            </a:r>
          </a:p>
          <a:p>
            <a:r>
              <a:rPr lang="en-US" altLang="en-US" dirty="0"/>
              <a:t>Data transformation</a:t>
            </a:r>
          </a:p>
          <a:p>
            <a:pPr lvl="1"/>
            <a:r>
              <a:rPr lang="en-US" altLang="en-US" sz="2000" dirty="0"/>
              <a:t>Normalization and aggregation</a:t>
            </a:r>
          </a:p>
          <a:p>
            <a:r>
              <a:rPr lang="en-US" altLang="en-US" dirty="0"/>
              <a:t>Data reduction</a:t>
            </a:r>
          </a:p>
          <a:p>
            <a:pPr lvl="1"/>
            <a:r>
              <a:rPr lang="en-US" altLang="en-US" sz="2000" dirty="0"/>
              <a:t>Obtains reduced representation in volume but produces the same or similar analytical results</a:t>
            </a:r>
          </a:p>
          <a:p>
            <a:r>
              <a:rPr lang="en-US" altLang="en-US" dirty="0"/>
              <a:t>Data discretization</a:t>
            </a:r>
          </a:p>
          <a:p>
            <a:pPr lvl="1"/>
            <a:r>
              <a:rPr lang="en-US" altLang="en-US" sz="2000" dirty="0"/>
              <a:t>Part of data reduction but with particular importance, especially for numerical data</a:t>
            </a:r>
          </a:p>
        </p:txBody>
      </p:sp>
      <p:grpSp>
        <p:nvGrpSpPr>
          <p:cNvPr id="183302" name="Group 6"/>
          <p:cNvGrpSpPr>
            <a:grpSpLocks/>
          </p:cNvGrpSpPr>
          <p:nvPr/>
        </p:nvGrpSpPr>
        <p:grpSpPr bwMode="auto">
          <a:xfrm>
            <a:off x="3733801" y="1447800"/>
            <a:ext cx="3916363" cy="914400"/>
            <a:chOff x="1392" y="912"/>
            <a:chExt cx="2467" cy="576"/>
          </a:xfrm>
        </p:grpSpPr>
        <p:sp>
          <p:nvSpPr>
            <p:cNvPr id="183300" name="Line 4"/>
            <p:cNvSpPr>
              <a:spLocks noChangeShapeType="1"/>
            </p:cNvSpPr>
            <p:nvPr/>
          </p:nvSpPr>
          <p:spPr bwMode="auto">
            <a:xfrm flipV="1">
              <a:off x="1392" y="1056"/>
              <a:ext cx="1200" cy="4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endParaRPr lang="en-US"/>
            </a:p>
          </p:txBody>
        </p:sp>
        <p:sp>
          <p:nvSpPr>
            <p:cNvPr id="183301" name="Text Box 5"/>
            <p:cNvSpPr txBox="1">
              <a:spLocks noChangeArrowheads="1"/>
            </p:cNvSpPr>
            <p:nvPr/>
          </p:nvSpPr>
          <p:spPr bwMode="auto">
            <a:xfrm>
              <a:off x="2544" y="912"/>
              <a:ext cx="131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FF0000"/>
                  </a:solidFill>
                </a:rPr>
                <a:t>outliers=exceptions!</a:t>
              </a: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B6E13-639F-417F-B877-801B950C3D8D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34493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Forms of data preprocessing</a:t>
            </a:r>
            <a:r>
              <a:rPr lang="en-US" altLang="en-US" dirty="0"/>
              <a:t> </a:t>
            </a:r>
          </a:p>
        </p:txBody>
      </p:sp>
      <p:pic>
        <p:nvPicPr>
          <p:cNvPr id="184324" name="Picture 4" descr="chap3preproc_forms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4572" y="990601"/>
            <a:ext cx="9222428" cy="566261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B5BF0-DE9E-49AC-A57C-085A3610C235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82633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581" name="Rectangle 5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84175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Data Quality </a:t>
            </a:r>
          </a:p>
        </p:txBody>
      </p:sp>
      <p:sp>
        <p:nvSpPr>
          <p:cNvPr id="79258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96900" y="1066800"/>
            <a:ext cx="10756900" cy="51101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What kinds of data quality problems?</a:t>
            </a:r>
          </a:p>
          <a:p>
            <a:r>
              <a:rPr lang="en-US" altLang="en-US" sz="3200" dirty="0"/>
              <a:t>How can we detect problems with the data? </a:t>
            </a:r>
          </a:p>
          <a:p>
            <a:r>
              <a:rPr lang="en-US" altLang="en-US" sz="3200" dirty="0"/>
              <a:t>What can we do about these problems? </a:t>
            </a:r>
          </a:p>
          <a:p>
            <a:pPr lvl="4"/>
            <a:endParaRPr lang="en-US" altLang="en-US" sz="2000" dirty="0"/>
          </a:p>
          <a:p>
            <a:pPr lvl="4"/>
            <a:endParaRPr lang="en-US" altLang="en-US" sz="2000" dirty="0"/>
          </a:p>
          <a:p>
            <a:r>
              <a:rPr lang="en-US" altLang="en-US" sz="3200" dirty="0"/>
              <a:t>Examples of data quality problems: </a:t>
            </a:r>
          </a:p>
          <a:p>
            <a:pPr lvl="1"/>
            <a:r>
              <a:rPr lang="en-US" altLang="en-US" sz="2800" dirty="0"/>
              <a:t>Noise and outliers </a:t>
            </a:r>
          </a:p>
          <a:p>
            <a:pPr lvl="1"/>
            <a:r>
              <a:rPr lang="en-US" altLang="en-US" sz="2800" dirty="0"/>
              <a:t>missing values </a:t>
            </a:r>
          </a:p>
          <a:p>
            <a:pPr lvl="1"/>
            <a:r>
              <a:rPr lang="en-US" altLang="en-US" sz="2800" dirty="0"/>
              <a:t>duplicate data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11D4-0F96-443C-BF9F-5EF0DFFE258A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2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08874F-489E-4C0F-8DD1-A110B986AB56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Data Cleaning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Importance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“Data cleaning is one of the three biggest problems in data warehousing”—Ralph Kimball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“Data cleaning is the number one problem in data warehousing”—DCI survey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Data cleaning tasks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Fill in missing values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Identify outliers and smooth out noisy data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Correct inconsistent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Resolve redundancy caused by data integration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0967-8D1E-4322-BB31-F1CBA6590A46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867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6BA522-F9F1-4772-968B-3E1CE7A39348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206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Missing Data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35000" y="1092200"/>
            <a:ext cx="10718800" cy="50847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Data is not always available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E.g., many tuples have no recorded value for several attributes, such as customer income in sales data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Missing data may be due to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equipment malfunction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inconsistent with other recorded data and thus deleted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data not entered due to misunderstanding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certain data may not be considered important at the time of entry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not register history or changes of the data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Missing data may need to be inferred.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6FEE5-82C8-4DA7-AFD2-96E25BF59993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4574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6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Missing Values</a:t>
            </a:r>
          </a:p>
        </p:txBody>
      </p:sp>
      <p:sp>
        <p:nvSpPr>
          <p:cNvPr id="79667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95300" y="1143000"/>
            <a:ext cx="10858500" cy="5033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200" dirty="0"/>
              <a:t>Reasons for missing values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Information is not collected </a:t>
            </a:r>
            <a:br>
              <a:rPr lang="en-US" altLang="en-US" sz="2800" dirty="0"/>
            </a:br>
            <a:r>
              <a:rPr lang="en-US" altLang="en-US" sz="2800" dirty="0"/>
              <a:t>(e.g., people decline to give their age and weight)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Attributes may not be applicable to all cases </a:t>
            </a:r>
            <a:br>
              <a:rPr lang="en-US" altLang="en-US" sz="2800" dirty="0"/>
            </a:br>
            <a:r>
              <a:rPr lang="en-US" altLang="en-US" sz="2800" dirty="0"/>
              <a:t>(e.g., annual income is not applicable to children)</a:t>
            </a:r>
          </a:p>
          <a:p>
            <a:pPr lvl="1">
              <a:lnSpc>
                <a:spcPct val="90000"/>
              </a:lnSpc>
            </a:pPr>
            <a:endParaRPr lang="en-US" altLang="en-US" sz="2800" dirty="0"/>
          </a:p>
          <a:p>
            <a:pPr>
              <a:lnSpc>
                <a:spcPct val="90000"/>
              </a:lnSpc>
            </a:pPr>
            <a:r>
              <a:rPr lang="en-US" altLang="en-US" sz="3200" dirty="0"/>
              <a:t>Handling missing values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Eliminate Data Objects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Estimate Missing Values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Ignore the Missing Value During Analysis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Replace with all possible values (weighted by their probabilities)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DE0D2-E88D-4A41-82EF-3B5AE92240E1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8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184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4ADB21-7EDE-436B-9995-C018D77963B8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365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How to Handle Missing Data?</a:t>
            </a:r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06400" y="990600"/>
            <a:ext cx="10947400" cy="51863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Ignore the tuple: usually done when class label is missing (assuming the tasks in classification—not effective when the percentage of missing values per attribute varies considerably.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Fill in the missing value manually: tedious + infeasible?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Fill in it automatically with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a global constant : e.g., “unknown”, a new class?!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the attribute mean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the attribute mean for all samples belonging to the same class: smarter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hlink"/>
                </a:solidFill>
              </a:rPr>
              <a:t>the most probable value: inference-based such as Bayesian formula or decision tree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AFA8F-C15D-4765-A456-DAA1EABDD8F2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4822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194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1AE22C-0CBB-40A8-90D7-CF59B8F729FF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619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Noisy Data</a:t>
            </a: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9600" y="1041400"/>
            <a:ext cx="10744200" cy="51355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Noise: random error or variance in a measured variable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Incorrect attribute values may due to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faulty data collection instruments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data entry problems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data transmission problems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technology limitation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inconsistency in naming convention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Other data problems which requires data cleaning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duplicate records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incomplete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inconsistent data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8421-93C3-4078-9E7F-8E031E77D1D9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0389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472" name="Rectangle 8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22275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Noise</a:t>
            </a:r>
          </a:p>
        </p:txBody>
      </p:sp>
      <p:sp>
        <p:nvSpPr>
          <p:cNvPr id="830473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292100" y="931862"/>
            <a:ext cx="11061700" cy="5245101"/>
          </a:xfrm>
        </p:spPr>
        <p:txBody>
          <a:bodyPr/>
          <a:lstStyle/>
          <a:p>
            <a:r>
              <a:rPr lang="en-US" altLang="en-US" dirty="0"/>
              <a:t>Noise refers to modification of original values</a:t>
            </a:r>
          </a:p>
          <a:p>
            <a:pPr lvl="1"/>
            <a:r>
              <a:rPr lang="en-US" altLang="en-US" dirty="0"/>
              <a:t>Examples: distortion of a person’s voice when talking on a poor </a:t>
            </a:r>
            <a:r>
              <a:rPr lang="en-US" altLang="en-US" dirty="0" smtClean="0"/>
              <a:t>phone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8304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/>
          <a:stretch>
            <a:fillRect/>
          </a:stretch>
        </p:blipFill>
        <p:spPr bwMode="auto">
          <a:xfrm>
            <a:off x="1562100" y="2051050"/>
            <a:ext cx="4675188" cy="374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304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2" r="6250"/>
          <a:stretch>
            <a:fillRect/>
          </a:stretch>
        </p:blipFill>
        <p:spPr bwMode="auto">
          <a:xfrm>
            <a:off x="6489700" y="1994372"/>
            <a:ext cx="4330700" cy="380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30470" name="Text Box 6"/>
          <p:cNvSpPr txBox="1">
            <a:spLocks noChangeArrowheads="1"/>
          </p:cNvSpPr>
          <p:nvPr/>
        </p:nvSpPr>
        <p:spPr bwMode="auto">
          <a:xfrm>
            <a:off x="2743200" y="5943600"/>
            <a:ext cx="1905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 dirty="0"/>
              <a:t>Two Sine Waves</a:t>
            </a:r>
          </a:p>
        </p:txBody>
      </p:sp>
      <p:sp>
        <p:nvSpPr>
          <p:cNvPr id="830471" name="Text Box 7"/>
          <p:cNvSpPr txBox="1">
            <a:spLocks noChangeArrowheads="1"/>
          </p:cNvSpPr>
          <p:nvPr/>
        </p:nvSpPr>
        <p:spPr bwMode="auto">
          <a:xfrm>
            <a:off x="7099300" y="5943600"/>
            <a:ext cx="32385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 dirty="0"/>
              <a:t>Two Sine Waves + Noise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A8A69-C361-4ACA-AEF9-77CD9C7F915B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67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9D8514-4DB1-4DEC-B0A9-7ED86A2675F2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How to Handle Noisy Data?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Binning method: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first sort data and partition into (equi-depth) bins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then one can </a:t>
            </a:r>
            <a:r>
              <a:rPr lang="en-US" altLang="en-US">
                <a:solidFill>
                  <a:schemeClr val="hlink"/>
                </a:solidFill>
              </a:rPr>
              <a:t>smooth by bin means,  smooth by bin median, smooth by bin boundaries</a:t>
            </a:r>
            <a:r>
              <a:rPr lang="en-US" altLang="en-US"/>
              <a:t>, etc.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Clustering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detect and remove outliers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Combined computer and human inspection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detect suspicious values and check by human (e.g., deal with possible outliers)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Regression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smooth by fitting the data into regression functions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3D654-57FC-4D4F-BE10-B8F1BA409A0A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1112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D1950E-C2D4-443F-925C-2BC420D2CA58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Simple Discretization Methods: Binning</a:t>
            </a:r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308100"/>
            <a:ext cx="10515600" cy="48688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hlink"/>
                </a:solidFill>
              </a:rPr>
              <a:t>Equal-width</a:t>
            </a:r>
            <a:r>
              <a:rPr lang="en-US" altLang="en-US" dirty="0"/>
              <a:t> (distance) partitioning: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Divides the range into N intervals of equal size: uniform grid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if A and B are the lowest and highest values of the attribute, the width of intervals will be: </a:t>
            </a:r>
            <a:r>
              <a:rPr lang="en-US" altLang="en-US" dirty="0" smtClean="0"/>
              <a:t>   W </a:t>
            </a:r>
            <a:r>
              <a:rPr lang="en-US" altLang="en-US" dirty="0"/>
              <a:t>= (B –A)/N.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The most straightforward, but outliers may dominate presentation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Skewed data is not handled well.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hlink"/>
                </a:solidFill>
              </a:rPr>
              <a:t>Equal-depth</a:t>
            </a:r>
            <a:r>
              <a:rPr lang="en-US" altLang="en-US" dirty="0"/>
              <a:t> (frequency) partitioning: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Divides the range into N intervals, each containing approximately same number of samples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Good data scaling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Managing categorical attributes can be tricky.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4F0B-4231-45C2-9853-843DF6734E50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95718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682018-3CBD-45BE-BBC5-3381C252BAC0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Binning Methods for Data Smoothing</a:t>
            </a: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460500"/>
            <a:ext cx="10668000" cy="47164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Sorted data (e.g., by price)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4, 8, 9, 15, 21, 21, 24, 25, 26, 28, 29, 34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Partition into (</a:t>
            </a:r>
            <a:r>
              <a:rPr lang="en-US" altLang="en-US" sz="2400" dirty="0" err="1"/>
              <a:t>equi</a:t>
            </a:r>
            <a:r>
              <a:rPr lang="en-US" altLang="en-US" sz="2400" dirty="0"/>
              <a:t>-depth) bins: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1: 4, 8, 9, 15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2: 21, 21, 24, 25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3: 26, 28, 29, 34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Smoothing by bin means: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1: 9, 9, 9, 9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2: 23, 23, 23, 23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3: 29, 29, 29, 29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Smoothing by bin boundaries: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1: 4, 4, 4, 15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2: 21, 21, 25, 25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3: 26, 26, 26, 34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513C-7F8E-40D2-8CB6-62701CC00BCE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2265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2471B9-F127-493C-B261-3B384492F3D8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23556" name="Rectangle 4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Cluster Analysis</a:t>
            </a:r>
          </a:p>
        </p:txBody>
      </p:sp>
      <p:sp>
        <p:nvSpPr>
          <p:cNvPr id="23557" name="AutoShape 3"/>
          <p:cNvSpPr>
            <a:spLocks noChangeArrowheads="1"/>
          </p:cNvSpPr>
          <p:nvPr/>
        </p:nvSpPr>
        <p:spPr bwMode="auto">
          <a:xfrm>
            <a:off x="8153401" y="533400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8" name="AutoShape 4"/>
          <p:cNvSpPr>
            <a:spLocks noChangeArrowheads="1"/>
          </p:cNvSpPr>
          <p:nvPr/>
        </p:nvSpPr>
        <p:spPr bwMode="auto">
          <a:xfrm>
            <a:off x="4800601" y="525780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9" name="AutoShape 5"/>
          <p:cNvSpPr>
            <a:spLocks noChangeArrowheads="1"/>
          </p:cNvSpPr>
          <p:nvPr/>
        </p:nvSpPr>
        <p:spPr bwMode="auto">
          <a:xfrm>
            <a:off x="7772401" y="236220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3560" name="Group 6"/>
          <p:cNvGrpSpPr>
            <a:grpSpLocks/>
          </p:cNvGrpSpPr>
          <p:nvPr/>
        </p:nvGrpSpPr>
        <p:grpSpPr bwMode="auto">
          <a:xfrm>
            <a:off x="5665789" y="4845050"/>
            <a:ext cx="173037" cy="173038"/>
            <a:chOff x="1900" y="3589"/>
            <a:chExt cx="109" cy="109"/>
          </a:xfrm>
        </p:grpSpPr>
        <p:sp>
          <p:nvSpPr>
            <p:cNvPr id="23599" name="Line 7"/>
            <p:cNvSpPr>
              <a:spLocks noChangeShapeType="1"/>
            </p:cNvSpPr>
            <p:nvPr/>
          </p:nvSpPr>
          <p:spPr bwMode="auto">
            <a:xfrm>
              <a:off x="1900" y="3637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Line 8"/>
            <p:cNvSpPr>
              <a:spLocks noChangeShapeType="1"/>
            </p:cNvSpPr>
            <p:nvPr/>
          </p:nvSpPr>
          <p:spPr bwMode="auto">
            <a:xfrm rot="-5400000">
              <a:off x="1896" y="3644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61" name="Group 9"/>
          <p:cNvGrpSpPr>
            <a:grpSpLocks/>
          </p:cNvGrpSpPr>
          <p:nvPr/>
        </p:nvGrpSpPr>
        <p:grpSpPr bwMode="auto">
          <a:xfrm>
            <a:off x="6684964" y="3625850"/>
            <a:ext cx="173037" cy="173038"/>
            <a:chOff x="1900" y="3589"/>
            <a:chExt cx="109" cy="109"/>
          </a:xfrm>
        </p:grpSpPr>
        <p:sp>
          <p:nvSpPr>
            <p:cNvPr id="23597" name="Line 10"/>
            <p:cNvSpPr>
              <a:spLocks noChangeShapeType="1"/>
            </p:cNvSpPr>
            <p:nvPr/>
          </p:nvSpPr>
          <p:spPr bwMode="auto">
            <a:xfrm>
              <a:off x="1900" y="3637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8" name="Line 11"/>
            <p:cNvSpPr>
              <a:spLocks noChangeShapeType="1"/>
            </p:cNvSpPr>
            <p:nvPr/>
          </p:nvSpPr>
          <p:spPr bwMode="auto">
            <a:xfrm rot="-5400000">
              <a:off x="1896" y="3644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62" name="Group 12"/>
          <p:cNvGrpSpPr>
            <a:grpSpLocks/>
          </p:cNvGrpSpPr>
          <p:nvPr/>
        </p:nvGrpSpPr>
        <p:grpSpPr bwMode="auto">
          <a:xfrm>
            <a:off x="4448175" y="3959225"/>
            <a:ext cx="173038" cy="173038"/>
            <a:chOff x="1900" y="3589"/>
            <a:chExt cx="109" cy="109"/>
          </a:xfrm>
        </p:grpSpPr>
        <p:sp>
          <p:nvSpPr>
            <p:cNvPr id="23595" name="Line 13"/>
            <p:cNvSpPr>
              <a:spLocks noChangeShapeType="1"/>
            </p:cNvSpPr>
            <p:nvPr/>
          </p:nvSpPr>
          <p:spPr bwMode="auto">
            <a:xfrm>
              <a:off x="1900" y="3637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6" name="Line 14"/>
            <p:cNvSpPr>
              <a:spLocks noChangeShapeType="1"/>
            </p:cNvSpPr>
            <p:nvPr/>
          </p:nvSpPr>
          <p:spPr bwMode="auto">
            <a:xfrm rot="-5400000">
              <a:off x="1896" y="3644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63" name="Group 15"/>
          <p:cNvGrpSpPr>
            <a:grpSpLocks/>
          </p:cNvGrpSpPr>
          <p:nvPr/>
        </p:nvGrpSpPr>
        <p:grpSpPr bwMode="auto">
          <a:xfrm>
            <a:off x="2895601" y="1828801"/>
            <a:ext cx="6016625" cy="4113213"/>
            <a:chOff x="1028" y="1418"/>
            <a:chExt cx="3790" cy="2591"/>
          </a:xfrm>
        </p:grpSpPr>
        <p:sp>
          <p:nvSpPr>
            <p:cNvPr id="23564" name="AutoShape 16"/>
            <p:cNvSpPr>
              <a:spLocks noChangeArrowheads="1"/>
            </p:cNvSpPr>
            <p:nvPr/>
          </p:nvSpPr>
          <p:spPr bwMode="auto">
            <a:xfrm>
              <a:off x="1755" y="2737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5" name="AutoShape 17"/>
            <p:cNvSpPr>
              <a:spLocks noChangeArrowheads="1"/>
            </p:cNvSpPr>
            <p:nvPr/>
          </p:nvSpPr>
          <p:spPr bwMode="auto">
            <a:xfrm>
              <a:off x="1633" y="2615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6" name="AutoShape 18"/>
            <p:cNvSpPr>
              <a:spLocks noChangeArrowheads="1"/>
            </p:cNvSpPr>
            <p:nvPr/>
          </p:nvSpPr>
          <p:spPr bwMode="auto">
            <a:xfrm>
              <a:off x="1948" y="2630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7" name="AutoShape 19"/>
            <p:cNvSpPr>
              <a:spLocks noChangeArrowheads="1"/>
            </p:cNvSpPr>
            <p:nvPr/>
          </p:nvSpPr>
          <p:spPr bwMode="auto">
            <a:xfrm>
              <a:off x="1797" y="2416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8" name="AutoShape 20"/>
            <p:cNvSpPr>
              <a:spLocks noChangeArrowheads="1"/>
            </p:cNvSpPr>
            <p:nvPr/>
          </p:nvSpPr>
          <p:spPr bwMode="auto">
            <a:xfrm>
              <a:off x="1575" y="2757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9" name="AutoShape 21"/>
            <p:cNvSpPr>
              <a:spLocks noChangeArrowheads="1"/>
            </p:cNvSpPr>
            <p:nvPr/>
          </p:nvSpPr>
          <p:spPr bwMode="auto">
            <a:xfrm>
              <a:off x="1662" y="246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0" name="AutoShape 22"/>
            <p:cNvSpPr>
              <a:spLocks noChangeArrowheads="1"/>
            </p:cNvSpPr>
            <p:nvPr/>
          </p:nvSpPr>
          <p:spPr bwMode="auto">
            <a:xfrm>
              <a:off x="3169" y="2124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1" name="AutoShape 23"/>
            <p:cNvSpPr>
              <a:spLocks noChangeArrowheads="1"/>
            </p:cNvSpPr>
            <p:nvPr/>
          </p:nvSpPr>
          <p:spPr bwMode="auto">
            <a:xfrm>
              <a:off x="3100" y="2521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2" name="AutoShape 24"/>
            <p:cNvSpPr>
              <a:spLocks noChangeArrowheads="1"/>
            </p:cNvSpPr>
            <p:nvPr/>
          </p:nvSpPr>
          <p:spPr bwMode="auto">
            <a:xfrm>
              <a:off x="3333" y="229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3" name="AutoShape 25"/>
            <p:cNvSpPr>
              <a:spLocks noChangeArrowheads="1"/>
            </p:cNvSpPr>
            <p:nvPr/>
          </p:nvSpPr>
          <p:spPr bwMode="auto">
            <a:xfrm>
              <a:off x="3010" y="2339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4" name="AutoShape 26"/>
            <p:cNvSpPr>
              <a:spLocks noChangeArrowheads="1"/>
            </p:cNvSpPr>
            <p:nvPr/>
          </p:nvSpPr>
          <p:spPr bwMode="auto">
            <a:xfrm>
              <a:off x="3706" y="237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5" name="AutoShape 27"/>
            <p:cNvSpPr>
              <a:spLocks noChangeArrowheads="1"/>
            </p:cNvSpPr>
            <p:nvPr/>
          </p:nvSpPr>
          <p:spPr bwMode="auto">
            <a:xfrm>
              <a:off x="3594" y="256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6" name="Rectangle 28"/>
            <p:cNvSpPr>
              <a:spLocks noChangeArrowheads="1"/>
            </p:cNvSpPr>
            <p:nvPr/>
          </p:nvSpPr>
          <p:spPr bwMode="auto">
            <a:xfrm>
              <a:off x="1028" y="1418"/>
              <a:ext cx="3790" cy="25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7" name="AutoShape 29"/>
            <p:cNvSpPr>
              <a:spLocks noChangeArrowheads="1"/>
            </p:cNvSpPr>
            <p:nvPr/>
          </p:nvSpPr>
          <p:spPr bwMode="auto">
            <a:xfrm>
              <a:off x="1963" y="282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8" name="AutoShape 30"/>
            <p:cNvSpPr>
              <a:spLocks noChangeArrowheads="1"/>
            </p:cNvSpPr>
            <p:nvPr/>
          </p:nvSpPr>
          <p:spPr bwMode="auto">
            <a:xfrm>
              <a:off x="2359" y="2851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9" name="AutoShape 31"/>
            <p:cNvSpPr>
              <a:spLocks noChangeArrowheads="1"/>
            </p:cNvSpPr>
            <p:nvPr/>
          </p:nvSpPr>
          <p:spPr bwMode="auto">
            <a:xfrm>
              <a:off x="3380" y="2616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0" name="AutoShape 32"/>
            <p:cNvSpPr>
              <a:spLocks noChangeArrowheads="1"/>
            </p:cNvSpPr>
            <p:nvPr/>
          </p:nvSpPr>
          <p:spPr bwMode="auto">
            <a:xfrm>
              <a:off x="2819" y="292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1" name="AutoShape 33"/>
            <p:cNvSpPr>
              <a:spLocks noChangeArrowheads="1"/>
            </p:cNvSpPr>
            <p:nvPr/>
          </p:nvSpPr>
          <p:spPr bwMode="auto">
            <a:xfrm>
              <a:off x="2651" y="324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2" name="AutoShape 34"/>
            <p:cNvSpPr>
              <a:spLocks noChangeArrowheads="1"/>
            </p:cNvSpPr>
            <p:nvPr/>
          </p:nvSpPr>
          <p:spPr bwMode="auto">
            <a:xfrm>
              <a:off x="2746" y="3110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3" name="AutoShape 35"/>
            <p:cNvSpPr>
              <a:spLocks noChangeArrowheads="1"/>
            </p:cNvSpPr>
            <p:nvPr/>
          </p:nvSpPr>
          <p:spPr bwMode="auto">
            <a:xfrm>
              <a:off x="2070" y="245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4" name="AutoShape 36"/>
            <p:cNvSpPr>
              <a:spLocks noChangeArrowheads="1"/>
            </p:cNvSpPr>
            <p:nvPr/>
          </p:nvSpPr>
          <p:spPr bwMode="auto">
            <a:xfrm>
              <a:off x="2466" y="3057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5" name="AutoShape 37"/>
            <p:cNvSpPr>
              <a:spLocks noChangeArrowheads="1"/>
            </p:cNvSpPr>
            <p:nvPr/>
          </p:nvSpPr>
          <p:spPr bwMode="auto">
            <a:xfrm>
              <a:off x="2462" y="320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6" name="AutoShape 38"/>
            <p:cNvSpPr>
              <a:spLocks noChangeArrowheads="1"/>
            </p:cNvSpPr>
            <p:nvPr/>
          </p:nvSpPr>
          <p:spPr bwMode="auto">
            <a:xfrm>
              <a:off x="2082" y="2246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7" name="AutoShape 39"/>
            <p:cNvSpPr>
              <a:spLocks noChangeArrowheads="1"/>
            </p:cNvSpPr>
            <p:nvPr/>
          </p:nvSpPr>
          <p:spPr bwMode="auto">
            <a:xfrm>
              <a:off x="2887" y="194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8" name="AutoShape 40"/>
            <p:cNvSpPr>
              <a:spLocks noChangeArrowheads="1"/>
            </p:cNvSpPr>
            <p:nvPr/>
          </p:nvSpPr>
          <p:spPr bwMode="auto">
            <a:xfrm>
              <a:off x="2001" y="2066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9" name="AutoShape 41"/>
            <p:cNvSpPr>
              <a:spLocks noChangeArrowheads="1"/>
            </p:cNvSpPr>
            <p:nvPr/>
          </p:nvSpPr>
          <p:spPr bwMode="auto">
            <a:xfrm>
              <a:off x="2552" y="275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90" name="AutoShape 42"/>
            <p:cNvSpPr>
              <a:spLocks noChangeArrowheads="1"/>
            </p:cNvSpPr>
            <p:nvPr/>
          </p:nvSpPr>
          <p:spPr bwMode="auto">
            <a:xfrm>
              <a:off x="2656" y="2904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91" name="AutoShape 43"/>
            <p:cNvSpPr>
              <a:spLocks noChangeArrowheads="1"/>
            </p:cNvSpPr>
            <p:nvPr/>
          </p:nvSpPr>
          <p:spPr bwMode="auto">
            <a:xfrm>
              <a:off x="2880" y="3217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92" name="Freeform 44"/>
            <p:cNvSpPr>
              <a:spLocks/>
            </p:cNvSpPr>
            <p:nvPr/>
          </p:nvSpPr>
          <p:spPr bwMode="auto">
            <a:xfrm>
              <a:off x="2795" y="1842"/>
              <a:ext cx="1101" cy="1077"/>
            </a:xfrm>
            <a:custGeom>
              <a:avLst/>
              <a:gdLst>
                <a:gd name="T0" fmla="*/ 1041 w 1101"/>
                <a:gd name="T1" fmla="*/ 294 h 1077"/>
                <a:gd name="T2" fmla="*/ 1077 w 1101"/>
                <a:gd name="T3" fmla="*/ 485 h 1077"/>
                <a:gd name="T4" fmla="*/ 1013 w 1101"/>
                <a:gd name="T5" fmla="*/ 930 h 1077"/>
                <a:gd name="T6" fmla="*/ 950 w 1101"/>
                <a:gd name="T7" fmla="*/ 1040 h 1077"/>
                <a:gd name="T8" fmla="*/ 850 w 1101"/>
                <a:gd name="T9" fmla="*/ 1076 h 1077"/>
                <a:gd name="T10" fmla="*/ 595 w 1101"/>
                <a:gd name="T11" fmla="*/ 1040 h 1077"/>
                <a:gd name="T12" fmla="*/ 486 w 1101"/>
                <a:gd name="T13" fmla="*/ 994 h 1077"/>
                <a:gd name="T14" fmla="*/ 459 w 1101"/>
                <a:gd name="T15" fmla="*/ 985 h 1077"/>
                <a:gd name="T16" fmla="*/ 322 w 1101"/>
                <a:gd name="T17" fmla="*/ 876 h 1077"/>
                <a:gd name="T18" fmla="*/ 232 w 1101"/>
                <a:gd name="T19" fmla="*/ 803 h 1077"/>
                <a:gd name="T20" fmla="*/ 104 w 1101"/>
                <a:gd name="T21" fmla="*/ 685 h 1077"/>
                <a:gd name="T22" fmla="*/ 4 w 1101"/>
                <a:gd name="T23" fmla="*/ 449 h 1077"/>
                <a:gd name="T24" fmla="*/ 13 w 1101"/>
                <a:gd name="T25" fmla="*/ 130 h 1077"/>
                <a:gd name="T26" fmla="*/ 186 w 1101"/>
                <a:gd name="T27" fmla="*/ 21 h 1077"/>
                <a:gd name="T28" fmla="*/ 222 w 1101"/>
                <a:gd name="T29" fmla="*/ 12 h 1077"/>
                <a:gd name="T30" fmla="*/ 422 w 1101"/>
                <a:gd name="T31" fmla="*/ 30 h 1077"/>
                <a:gd name="T32" fmla="*/ 577 w 1101"/>
                <a:gd name="T33" fmla="*/ 103 h 1077"/>
                <a:gd name="T34" fmla="*/ 695 w 1101"/>
                <a:gd name="T35" fmla="*/ 176 h 1077"/>
                <a:gd name="T36" fmla="*/ 768 w 1101"/>
                <a:gd name="T37" fmla="*/ 203 h 1077"/>
                <a:gd name="T38" fmla="*/ 1041 w 1101"/>
                <a:gd name="T39" fmla="*/ 294 h 107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101" h="1077">
                  <a:moveTo>
                    <a:pt x="1041" y="294"/>
                  </a:moveTo>
                  <a:cubicBezTo>
                    <a:pt x="1062" y="357"/>
                    <a:pt x="1070" y="419"/>
                    <a:pt x="1077" y="485"/>
                  </a:cubicBezTo>
                  <a:cubicBezTo>
                    <a:pt x="1072" y="641"/>
                    <a:pt x="1101" y="797"/>
                    <a:pt x="1013" y="930"/>
                  </a:cubicBezTo>
                  <a:cubicBezTo>
                    <a:pt x="1001" y="966"/>
                    <a:pt x="984" y="1017"/>
                    <a:pt x="950" y="1040"/>
                  </a:cubicBezTo>
                  <a:cubicBezTo>
                    <a:pt x="920" y="1060"/>
                    <a:pt x="884" y="1065"/>
                    <a:pt x="850" y="1076"/>
                  </a:cubicBezTo>
                  <a:cubicBezTo>
                    <a:pt x="677" y="1068"/>
                    <a:pt x="701" y="1077"/>
                    <a:pt x="595" y="1040"/>
                  </a:cubicBezTo>
                  <a:cubicBezTo>
                    <a:pt x="556" y="1026"/>
                    <a:pt x="527" y="1007"/>
                    <a:pt x="486" y="994"/>
                  </a:cubicBezTo>
                  <a:cubicBezTo>
                    <a:pt x="477" y="991"/>
                    <a:pt x="459" y="985"/>
                    <a:pt x="459" y="985"/>
                  </a:cubicBezTo>
                  <a:cubicBezTo>
                    <a:pt x="417" y="943"/>
                    <a:pt x="369" y="911"/>
                    <a:pt x="322" y="876"/>
                  </a:cubicBezTo>
                  <a:cubicBezTo>
                    <a:pt x="287" y="850"/>
                    <a:pt x="271" y="816"/>
                    <a:pt x="232" y="803"/>
                  </a:cubicBezTo>
                  <a:cubicBezTo>
                    <a:pt x="196" y="768"/>
                    <a:pt x="131" y="726"/>
                    <a:pt x="104" y="685"/>
                  </a:cubicBezTo>
                  <a:cubicBezTo>
                    <a:pt x="56" y="611"/>
                    <a:pt x="21" y="536"/>
                    <a:pt x="4" y="449"/>
                  </a:cubicBezTo>
                  <a:cubicBezTo>
                    <a:pt x="7" y="343"/>
                    <a:pt x="0" y="236"/>
                    <a:pt x="13" y="130"/>
                  </a:cubicBezTo>
                  <a:cubicBezTo>
                    <a:pt x="22" y="60"/>
                    <a:pt x="139" y="33"/>
                    <a:pt x="186" y="21"/>
                  </a:cubicBezTo>
                  <a:cubicBezTo>
                    <a:pt x="198" y="18"/>
                    <a:pt x="222" y="12"/>
                    <a:pt x="222" y="12"/>
                  </a:cubicBezTo>
                  <a:cubicBezTo>
                    <a:pt x="289" y="15"/>
                    <a:pt x="362" y="0"/>
                    <a:pt x="422" y="30"/>
                  </a:cubicBezTo>
                  <a:cubicBezTo>
                    <a:pt x="473" y="56"/>
                    <a:pt x="525" y="77"/>
                    <a:pt x="577" y="103"/>
                  </a:cubicBezTo>
                  <a:cubicBezTo>
                    <a:pt x="619" y="124"/>
                    <a:pt x="655" y="153"/>
                    <a:pt x="695" y="176"/>
                  </a:cubicBezTo>
                  <a:cubicBezTo>
                    <a:pt x="718" y="189"/>
                    <a:pt x="745" y="192"/>
                    <a:pt x="768" y="203"/>
                  </a:cubicBezTo>
                  <a:cubicBezTo>
                    <a:pt x="844" y="240"/>
                    <a:pt x="955" y="294"/>
                    <a:pt x="1041" y="294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3" name="Freeform 45"/>
            <p:cNvSpPr>
              <a:spLocks/>
            </p:cNvSpPr>
            <p:nvPr/>
          </p:nvSpPr>
          <p:spPr bwMode="auto">
            <a:xfrm>
              <a:off x="2291" y="2591"/>
              <a:ext cx="918" cy="965"/>
            </a:xfrm>
            <a:custGeom>
              <a:avLst/>
              <a:gdLst>
                <a:gd name="T0" fmla="*/ 227 w 918"/>
                <a:gd name="T1" fmla="*/ 818 h 965"/>
                <a:gd name="T2" fmla="*/ 191 w 918"/>
                <a:gd name="T3" fmla="*/ 782 h 965"/>
                <a:gd name="T4" fmla="*/ 118 w 918"/>
                <a:gd name="T5" fmla="*/ 737 h 965"/>
                <a:gd name="T6" fmla="*/ 81 w 918"/>
                <a:gd name="T7" fmla="*/ 700 h 965"/>
                <a:gd name="T8" fmla="*/ 45 w 918"/>
                <a:gd name="T9" fmla="*/ 646 h 965"/>
                <a:gd name="T10" fmla="*/ 0 w 918"/>
                <a:gd name="T11" fmla="*/ 464 h 965"/>
                <a:gd name="T12" fmla="*/ 9 w 918"/>
                <a:gd name="T13" fmla="*/ 200 h 965"/>
                <a:gd name="T14" fmla="*/ 81 w 918"/>
                <a:gd name="T15" fmla="*/ 136 h 965"/>
                <a:gd name="T16" fmla="*/ 291 w 918"/>
                <a:gd name="T17" fmla="*/ 0 h 965"/>
                <a:gd name="T18" fmla="*/ 391 w 918"/>
                <a:gd name="T19" fmla="*/ 18 h 965"/>
                <a:gd name="T20" fmla="*/ 491 w 918"/>
                <a:gd name="T21" fmla="*/ 55 h 965"/>
                <a:gd name="T22" fmla="*/ 691 w 918"/>
                <a:gd name="T23" fmla="*/ 164 h 965"/>
                <a:gd name="T24" fmla="*/ 718 w 918"/>
                <a:gd name="T25" fmla="*/ 218 h 965"/>
                <a:gd name="T26" fmla="*/ 745 w 918"/>
                <a:gd name="T27" fmla="*/ 246 h 965"/>
                <a:gd name="T28" fmla="*/ 809 w 918"/>
                <a:gd name="T29" fmla="*/ 346 h 965"/>
                <a:gd name="T30" fmla="*/ 845 w 918"/>
                <a:gd name="T31" fmla="*/ 427 h 965"/>
                <a:gd name="T32" fmla="*/ 863 w 918"/>
                <a:gd name="T33" fmla="*/ 518 h 965"/>
                <a:gd name="T34" fmla="*/ 890 w 918"/>
                <a:gd name="T35" fmla="*/ 609 h 965"/>
                <a:gd name="T36" fmla="*/ 918 w 918"/>
                <a:gd name="T37" fmla="*/ 773 h 965"/>
                <a:gd name="T38" fmla="*/ 827 w 918"/>
                <a:gd name="T39" fmla="*/ 927 h 965"/>
                <a:gd name="T40" fmla="*/ 754 w 918"/>
                <a:gd name="T41" fmla="*/ 946 h 965"/>
                <a:gd name="T42" fmla="*/ 718 w 918"/>
                <a:gd name="T43" fmla="*/ 955 h 965"/>
                <a:gd name="T44" fmla="*/ 354 w 918"/>
                <a:gd name="T45" fmla="*/ 937 h 965"/>
                <a:gd name="T46" fmla="*/ 245 w 918"/>
                <a:gd name="T47" fmla="*/ 864 h 965"/>
                <a:gd name="T48" fmla="*/ 227 w 918"/>
                <a:gd name="T49" fmla="*/ 818 h 96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918" h="965">
                  <a:moveTo>
                    <a:pt x="227" y="818"/>
                  </a:moveTo>
                  <a:cubicBezTo>
                    <a:pt x="178" y="802"/>
                    <a:pt x="216" y="822"/>
                    <a:pt x="191" y="782"/>
                  </a:cubicBezTo>
                  <a:cubicBezTo>
                    <a:pt x="176" y="757"/>
                    <a:pt x="144" y="746"/>
                    <a:pt x="118" y="737"/>
                  </a:cubicBezTo>
                  <a:cubicBezTo>
                    <a:pt x="106" y="724"/>
                    <a:pt x="92" y="714"/>
                    <a:pt x="81" y="700"/>
                  </a:cubicBezTo>
                  <a:cubicBezTo>
                    <a:pt x="68" y="683"/>
                    <a:pt x="45" y="646"/>
                    <a:pt x="45" y="646"/>
                  </a:cubicBezTo>
                  <a:cubicBezTo>
                    <a:pt x="30" y="585"/>
                    <a:pt x="10" y="526"/>
                    <a:pt x="0" y="464"/>
                  </a:cubicBezTo>
                  <a:cubicBezTo>
                    <a:pt x="3" y="376"/>
                    <a:pt x="1" y="288"/>
                    <a:pt x="9" y="200"/>
                  </a:cubicBezTo>
                  <a:cubicBezTo>
                    <a:pt x="11" y="175"/>
                    <a:pt x="74" y="139"/>
                    <a:pt x="81" y="136"/>
                  </a:cubicBezTo>
                  <a:cubicBezTo>
                    <a:pt x="153" y="101"/>
                    <a:pt x="222" y="22"/>
                    <a:pt x="291" y="0"/>
                  </a:cubicBezTo>
                  <a:cubicBezTo>
                    <a:pt x="314" y="3"/>
                    <a:pt x="364" y="5"/>
                    <a:pt x="391" y="18"/>
                  </a:cubicBezTo>
                  <a:cubicBezTo>
                    <a:pt x="430" y="37"/>
                    <a:pt x="446" y="46"/>
                    <a:pt x="491" y="55"/>
                  </a:cubicBezTo>
                  <a:cubicBezTo>
                    <a:pt x="555" y="98"/>
                    <a:pt x="638" y="100"/>
                    <a:pt x="691" y="164"/>
                  </a:cubicBezTo>
                  <a:cubicBezTo>
                    <a:pt x="760" y="248"/>
                    <a:pt x="665" y="138"/>
                    <a:pt x="718" y="218"/>
                  </a:cubicBezTo>
                  <a:cubicBezTo>
                    <a:pt x="725" y="229"/>
                    <a:pt x="737" y="236"/>
                    <a:pt x="745" y="246"/>
                  </a:cubicBezTo>
                  <a:cubicBezTo>
                    <a:pt x="770" y="278"/>
                    <a:pt x="782" y="319"/>
                    <a:pt x="809" y="346"/>
                  </a:cubicBezTo>
                  <a:cubicBezTo>
                    <a:pt x="830" y="410"/>
                    <a:pt x="816" y="384"/>
                    <a:pt x="845" y="427"/>
                  </a:cubicBezTo>
                  <a:cubicBezTo>
                    <a:pt x="851" y="457"/>
                    <a:pt x="856" y="488"/>
                    <a:pt x="863" y="518"/>
                  </a:cubicBezTo>
                  <a:cubicBezTo>
                    <a:pt x="871" y="549"/>
                    <a:pt x="884" y="578"/>
                    <a:pt x="890" y="609"/>
                  </a:cubicBezTo>
                  <a:cubicBezTo>
                    <a:pt x="902" y="666"/>
                    <a:pt x="900" y="718"/>
                    <a:pt x="918" y="773"/>
                  </a:cubicBezTo>
                  <a:cubicBezTo>
                    <a:pt x="910" y="845"/>
                    <a:pt x="904" y="901"/>
                    <a:pt x="827" y="927"/>
                  </a:cubicBezTo>
                  <a:cubicBezTo>
                    <a:pt x="803" y="935"/>
                    <a:pt x="778" y="940"/>
                    <a:pt x="754" y="946"/>
                  </a:cubicBezTo>
                  <a:cubicBezTo>
                    <a:pt x="742" y="949"/>
                    <a:pt x="718" y="955"/>
                    <a:pt x="718" y="955"/>
                  </a:cubicBezTo>
                  <a:cubicBezTo>
                    <a:pt x="668" y="954"/>
                    <a:pt x="462" y="965"/>
                    <a:pt x="354" y="937"/>
                  </a:cubicBezTo>
                  <a:cubicBezTo>
                    <a:pt x="316" y="927"/>
                    <a:pt x="272" y="891"/>
                    <a:pt x="245" y="864"/>
                  </a:cubicBezTo>
                  <a:cubicBezTo>
                    <a:pt x="231" y="850"/>
                    <a:pt x="192" y="818"/>
                    <a:pt x="227" y="818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4" name="Freeform 46"/>
            <p:cNvSpPr>
              <a:spLocks/>
            </p:cNvSpPr>
            <p:nvPr/>
          </p:nvSpPr>
          <p:spPr bwMode="auto">
            <a:xfrm>
              <a:off x="1473" y="1882"/>
              <a:ext cx="869" cy="1173"/>
            </a:xfrm>
            <a:custGeom>
              <a:avLst/>
              <a:gdLst>
                <a:gd name="T0" fmla="*/ 754 w 869"/>
                <a:gd name="T1" fmla="*/ 791 h 1173"/>
                <a:gd name="T2" fmla="*/ 699 w 869"/>
                <a:gd name="T3" fmla="*/ 945 h 1173"/>
                <a:gd name="T4" fmla="*/ 654 w 869"/>
                <a:gd name="T5" fmla="*/ 1082 h 1173"/>
                <a:gd name="T6" fmla="*/ 636 w 869"/>
                <a:gd name="T7" fmla="*/ 1136 h 1173"/>
                <a:gd name="T8" fmla="*/ 618 w 869"/>
                <a:gd name="T9" fmla="*/ 1155 h 1173"/>
                <a:gd name="T10" fmla="*/ 563 w 869"/>
                <a:gd name="T11" fmla="*/ 1173 h 1173"/>
                <a:gd name="T12" fmla="*/ 290 w 869"/>
                <a:gd name="T13" fmla="*/ 1145 h 1173"/>
                <a:gd name="T14" fmla="*/ 127 w 869"/>
                <a:gd name="T15" fmla="*/ 1073 h 1173"/>
                <a:gd name="T16" fmla="*/ 36 w 869"/>
                <a:gd name="T17" fmla="*/ 1009 h 1173"/>
                <a:gd name="T18" fmla="*/ 0 w 869"/>
                <a:gd name="T19" fmla="*/ 955 h 1173"/>
                <a:gd name="T20" fmla="*/ 81 w 869"/>
                <a:gd name="T21" fmla="*/ 500 h 1173"/>
                <a:gd name="T22" fmla="*/ 109 w 869"/>
                <a:gd name="T23" fmla="*/ 236 h 1173"/>
                <a:gd name="T24" fmla="*/ 154 w 869"/>
                <a:gd name="T25" fmla="*/ 164 h 1173"/>
                <a:gd name="T26" fmla="*/ 200 w 869"/>
                <a:gd name="T27" fmla="*/ 136 h 1173"/>
                <a:gd name="T28" fmla="*/ 309 w 869"/>
                <a:gd name="T29" fmla="*/ 73 h 1173"/>
                <a:gd name="T30" fmla="*/ 354 w 869"/>
                <a:gd name="T31" fmla="*/ 45 h 1173"/>
                <a:gd name="T32" fmla="*/ 427 w 869"/>
                <a:gd name="T33" fmla="*/ 0 h 1173"/>
                <a:gd name="T34" fmla="*/ 709 w 869"/>
                <a:gd name="T35" fmla="*/ 82 h 1173"/>
                <a:gd name="T36" fmla="*/ 809 w 869"/>
                <a:gd name="T37" fmla="*/ 200 h 1173"/>
                <a:gd name="T38" fmla="*/ 845 w 869"/>
                <a:gd name="T39" fmla="*/ 255 h 1173"/>
                <a:gd name="T40" fmla="*/ 863 w 869"/>
                <a:gd name="T41" fmla="*/ 309 h 1173"/>
                <a:gd name="T42" fmla="*/ 790 w 869"/>
                <a:gd name="T43" fmla="*/ 709 h 1173"/>
                <a:gd name="T44" fmla="*/ 754 w 869"/>
                <a:gd name="T45" fmla="*/ 791 h 117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869" h="1173">
                  <a:moveTo>
                    <a:pt x="754" y="791"/>
                  </a:moveTo>
                  <a:cubicBezTo>
                    <a:pt x="743" y="846"/>
                    <a:pt x="731" y="899"/>
                    <a:pt x="699" y="945"/>
                  </a:cubicBezTo>
                  <a:cubicBezTo>
                    <a:pt x="684" y="991"/>
                    <a:pt x="669" y="1036"/>
                    <a:pt x="654" y="1082"/>
                  </a:cubicBezTo>
                  <a:cubicBezTo>
                    <a:pt x="648" y="1100"/>
                    <a:pt x="649" y="1122"/>
                    <a:pt x="636" y="1136"/>
                  </a:cubicBezTo>
                  <a:cubicBezTo>
                    <a:pt x="630" y="1142"/>
                    <a:pt x="626" y="1151"/>
                    <a:pt x="618" y="1155"/>
                  </a:cubicBezTo>
                  <a:cubicBezTo>
                    <a:pt x="601" y="1164"/>
                    <a:pt x="563" y="1173"/>
                    <a:pt x="563" y="1173"/>
                  </a:cubicBezTo>
                  <a:cubicBezTo>
                    <a:pt x="471" y="1168"/>
                    <a:pt x="379" y="1170"/>
                    <a:pt x="290" y="1145"/>
                  </a:cubicBezTo>
                  <a:cubicBezTo>
                    <a:pt x="231" y="1129"/>
                    <a:pt x="182" y="1097"/>
                    <a:pt x="127" y="1073"/>
                  </a:cubicBezTo>
                  <a:cubicBezTo>
                    <a:pt x="93" y="1058"/>
                    <a:pt x="60" y="1039"/>
                    <a:pt x="36" y="1009"/>
                  </a:cubicBezTo>
                  <a:cubicBezTo>
                    <a:pt x="23" y="992"/>
                    <a:pt x="0" y="955"/>
                    <a:pt x="0" y="955"/>
                  </a:cubicBezTo>
                  <a:cubicBezTo>
                    <a:pt x="11" y="805"/>
                    <a:pt x="33" y="644"/>
                    <a:pt x="81" y="500"/>
                  </a:cubicBezTo>
                  <a:cubicBezTo>
                    <a:pt x="92" y="412"/>
                    <a:pt x="99" y="324"/>
                    <a:pt x="109" y="236"/>
                  </a:cubicBezTo>
                  <a:cubicBezTo>
                    <a:pt x="113" y="197"/>
                    <a:pt x="118" y="176"/>
                    <a:pt x="154" y="164"/>
                  </a:cubicBezTo>
                  <a:cubicBezTo>
                    <a:pt x="193" y="123"/>
                    <a:pt x="147" y="165"/>
                    <a:pt x="200" y="136"/>
                  </a:cubicBezTo>
                  <a:cubicBezTo>
                    <a:pt x="241" y="114"/>
                    <a:pt x="266" y="87"/>
                    <a:pt x="309" y="73"/>
                  </a:cubicBezTo>
                  <a:cubicBezTo>
                    <a:pt x="343" y="37"/>
                    <a:pt x="308" y="68"/>
                    <a:pt x="354" y="45"/>
                  </a:cubicBezTo>
                  <a:cubicBezTo>
                    <a:pt x="383" y="30"/>
                    <a:pt x="395" y="11"/>
                    <a:pt x="427" y="0"/>
                  </a:cubicBezTo>
                  <a:cubicBezTo>
                    <a:pt x="520" y="23"/>
                    <a:pt x="626" y="29"/>
                    <a:pt x="709" y="82"/>
                  </a:cubicBezTo>
                  <a:cubicBezTo>
                    <a:pt x="738" y="125"/>
                    <a:pt x="765" y="172"/>
                    <a:pt x="809" y="200"/>
                  </a:cubicBezTo>
                  <a:cubicBezTo>
                    <a:pt x="821" y="218"/>
                    <a:pt x="838" y="234"/>
                    <a:pt x="845" y="255"/>
                  </a:cubicBezTo>
                  <a:cubicBezTo>
                    <a:pt x="851" y="273"/>
                    <a:pt x="863" y="309"/>
                    <a:pt x="863" y="309"/>
                  </a:cubicBezTo>
                  <a:cubicBezTo>
                    <a:pt x="858" y="436"/>
                    <a:pt x="869" y="596"/>
                    <a:pt x="790" y="709"/>
                  </a:cubicBezTo>
                  <a:cubicBezTo>
                    <a:pt x="787" y="717"/>
                    <a:pt x="776" y="791"/>
                    <a:pt x="754" y="791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C066-4EDE-41DA-8A4F-1A49FB60B8BB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7908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457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6FE337-E6D8-4C87-BBFB-5C5D40F97007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24580" name="Rectangle 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Regression</a:t>
            </a:r>
          </a:p>
        </p:txBody>
      </p:sp>
      <p:sp>
        <p:nvSpPr>
          <p:cNvPr id="24581" name="Line 3"/>
          <p:cNvSpPr>
            <a:spLocks noChangeShapeType="1"/>
          </p:cNvSpPr>
          <p:nvPr/>
        </p:nvSpPr>
        <p:spPr bwMode="auto">
          <a:xfrm>
            <a:off x="2830514" y="4392613"/>
            <a:ext cx="69230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2" name="Line 4"/>
          <p:cNvSpPr>
            <a:spLocks noChangeShapeType="1"/>
          </p:cNvSpPr>
          <p:nvPr/>
        </p:nvSpPr>
        <p:spPr bwMode="auto">
          <a:xfrm flipV="1">
            <a:off x="6080125" y="1633539"/>
            <a:ext cx="0" cy="4702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Oval 5"/>
          <p:cNvSpPr>
            <a:spLocks noChangeArrowheads="1"/>
          </p:cNvSpPr>
          <p:nvPr/>
        </p:nvSpPr>
        <p:spPr bwMode="auto">
          <a:xfrm flipV="1">
            <a:off x="7466013" y="3303588"/>
            <a:ext cx="42862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4" name="Oval 6"/>
          <p:cNvSpPr>
            <a:spLocks noChangeArrowheads="1"/>
          </p:cNvSpPr>
          <p:nvPr/>
        </p:nvSpPr>
        <p:spPr bwMode="auto">
          <a:xfrm flipV="1">
            <a:off x="7048501" y="3408363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5" name="Oval 7"/>
          <p:cNvSpPr>
            <a:spLocks noChangeArrowheads="1"/>
          </p:cNvSpPr>
          <p:nvPr/>
        </p:nvSpPr>
        <p:spPr bwMode="auto">
          <a:xfrm flipV="1">
            <a:off x="6873876" y="2484438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6" name="Oval 8"/>
          <p:cNvSpPr>
            <a:spLocks noChangeArrowheads="1"/>
          </p:cNvSpPr>
          <p:nvPr/>
        </p:nvSpPr>
        <p:spPr bwMode="auto">
          <a:xfrm flipV="1">
            <a:off x="6699251" y="3876676"/>
            <a:ext cx="42863" cy="42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7" name="Oval 9"/>
          <p:cNvSpPr>
            <a:spLocks noChangeArrowheads="1"/>
          </p:cNvSpPr>
          <p:nvPr/>
        </p:nvSpPr>
        <p:spPr bwMode="auto">
          <a:xfrm flipV="1">
            <a:off x="7570788" y="2951163"/>
            <a:ext cx="42862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8" name="Oval 10"/>
          <p:cNvSpPr>
            <a:spLocks noChangeArrowheads="1"/>
          </p:cNvSpPr>
          <p:nvPr/>
        </p:nvSpPr>
        <p:spPr bwMode="auto">
          <a:xfrm flipV="1">
            <a:off x="7772401" y="2678113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9" name="Oval 11"/>
          <p:cNvSpPr>
            <a:spLocks noChangeArrowheads="1"/>
          </p:cNvSpPr>
          <p:nvPr/>
        </p:nvSpPr>
        <p:spPr bwMode="auto">
          <a:xfrm flipV="1">
            <a:off x="6340476" y="3973513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0" name="Oval 12"/>
          <p:cNvSpPr>
            <a:spLocks noChangeArrowheads="1"/>
          </p:cNvSpPr>
          <p:nvPr/>
        </p:nvSpPr>
        <p:spPr bwMode="auto">
          <a:xfrm flipV="1">
            <a:off x="8093076" y="2673351"/>
            <a:ext cx="42863" cy="42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1" name="Oval 13"/>
          <p:cNvSpPr>
            <a:spLocks noChangeArrowheads="1"/>
          </p:cNvSpPr>
          <p:nvPr/>
        </p:nvSpPr>
        <p:spPr bwMode="auto">
          <a:xfrm flipV="1">
            <a:off x="8113713" y="2433638"/>
            <a:ext cx="42862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2" name="Oval 14"/>
          <p:cNvSpPr>
            <a:spLocks noChangeArrowheads="1"/>
          </p:cNvSpPr>
          <p:nvPr/>
        </p:nvSpPr>
        <p:spPr bwMode="auto">
          <a:xfrm flipV="1">
            <a:off x="8528051" y="2406651"/>
            <a:ext cx="42863" cy="42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3" name="Oval 15"/>
          <p:cNvSpPr>
            <a:spLocks noChangeArrowheads="1"/>
          </p:cNvSpPr>
          <p:nvPr/>
        </p:nvSpPr>
        <p:spPr bwMode="auto">
          <a:xfrm flipV="1">
            <a:off x="6296026" y="4240213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4" name="Oval 16"/>
          <p:cNvSpPr>
            <a:spLocks noChangeArrowheads="1"/>
          </p:cNvSpPr>
          <p:nvPr/>
        </p:nvSpPr>
        <p:spPr bwMode="auto">
          <a:xfrm flipV="1">
            <a:off x="8507413" y="2155826"/>
            <a:ext cx="42862" cy="42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5" name="Oval 17"/>
          <p:cNvSpPr>
            <a:spLocks noChangeArrowheads="1"/>
          </p:cNvSpPr>
          <p:nvPr/>
        </p:nvSpPr>
        <p:spPr bwMode="auto">
          <a:xfrm flipV="1">
            <a:off x="8837613" y="2030413"/>
            <a:ext cx="42862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6" name="Line 18"/>
          <p:cNvSpPr>
            <a:spLocks noChangeShapeType="1"/>
          </p:cNvSpPr>
          <p:nvPr/>
        </p:nvSpPr>
        <p:spPr bwMode="auto">
          <a:xfrm flipV="1">
            <a:off x="6062663" y="1943101"/>
            <a:ext cx="2906712" cy="22701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7" name="Text Box 19"/>
          <p:cNvSpPr txBox="1">
            <a:spLocks noChangeArrowheads="1"/>
          </p:cNvSpPr>
          <p:nvPr/>
        </p:nvSpPr>
        <p:spPr bwMode="auto">
          <a:xfrm>
            <a:off x="9628188" y="43799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4598" name="Text Box 20"/>
          <p:cNvSpPr txBox="1">
            <a:spLocks noChangeArrowheads="1"/>
          </p:cNvSpPr>
          <p:nvPr/>
        </p:nvSpPr>
        <p:spPr bwMode="auto">
          <a:xfrm>
            <a:off x="6281738" y="14557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4599" name="Text Box 21"/>
          <p:cNvSpPr txBox="1">
            <a:spLocks noChangeArrowheads="1"/>
          </p:cNvSpPr>
          <p:nvPr/>
        </p:nvSpPr>
        <p:spPr bwMode="auto">
          <a:xfrm>
            <a:off x="7848600" y="3219450"/>
            <a:ext cx="1289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y = x + 1</a:t>
            </a:r>
          </a:p>
        </p:txBody>
      </p:sp>
      <p:sp>
        <p:nvSpPr>
          <p:cNvPr id="24600" name="Line 22"/>
          <p:cNvSpPr>
            <a:spLocks noChangeShapeType="1"/>
          </p:cNvSpPr>
          <p:nvPr/>
        </p:nvSpPr>
        <p:spPr bwMode="auto">
          <a:xfrm>
            <a:off x="6896100" y="2498726"/>
            <a:ext cx="0" cy="1909763"/>
          </a:xfrm>
          <a:prstGeom prst="line">
            <a:avLst/>
          </a:prstGeom>
          <a:noFill/>
          <a:ln w="9525">
            <a:solidFill>
              <a:srgbClr val="0066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1" name="Line 23"/>
          <p:cNvSpPr>
            <a:spLocks noChangeShapeType="1"/>
          </p:cNvSpPr>
          <p:nvPr/>
        </p:nvSpPr>
        <p:spPr bwMode="auto">
          <a:xfrm flipH="1">
            <a:off x="6080125" y="2514600"/>
            <a:ext cx="800100" cy="0"/>
          </a:xfrm>
          <a:prstGeom prst="line">
            <a:avLst/>
          </a:prstGeom>
          <a:noFill/>
          <a:ln w="9525">
            <a:solidFill>
              <a:srgbClr val="0066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2" name="Line 24"/>
          <p:cNvSpPr>
            <a:spLocks noChangeShapeType="1"/>
          </p:cNvSpPr>
          <p:nvPr/>
        </p:nvSpPr>
        <p:spPr bwMode="auto">
          <a:xfrm flipH="1">
            <a:off x="6064251" y="3525838"/>
            <a:ext cx="815975" cy="0"/>
          </a:xfrm>
          <a:prstGeom prst="line">
            <a:avLst/>
          </a:prstGeom>
          <a:noFill/>
          <a:ln w="9525">
            <a:solidFill>
              <a:srgbClr val="0066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3" name="Text Box 25"/>
          <p:cNvSpPr txBox="1">
            <a:spLocks noChangeArrowheads="1"/>
          </p:cNvSpPr>
          <p:nvPr/>
        </p:nvSpPr>
        <p:spPr bwMode="auto">
          <a:xfrm>
            <a:off x="6819900" y="4411664"/>
            <a:ext cx="495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X1</a:t>
            </a:r>
          </a:p>
        </p:txBody>
      </p:sp>
      <p:sp>
        <p:nvSpPr>
          <p:cNvPr id="24604" name="Text Box 26"/>
          <p:cNvSpPr txBox="1">
            <a:spLocks noChangeArrowheads="1"/>
          </p:cNvSpPr>
          <p:nvPr/>
        </p:nvSpPr>
        <p:spPr bwMode="auto">
          <a:xfrm>
            <a:off x="5595938" y="2322514"/>
            <a:ext cx="495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Y1</a:t>
            </a:r>
          </a:p>
        </p:txBody>
      </p:sp>
      <p:sp>
        <p:nvSpPr>
          <p:cNvPr id="24605" name="Text Box 27"/>
          <p:cNvSpPr txBox="1">
            <a:spLocks noChangeArrowheads="1"/>
          </p:cNvSpPr>
          <p:nvPr/>
        </p:nvSpPr>
        <p:spPr bwMode="auto">
          <a:xfrm>
            <a:off x="5595939" y="3268664"/>
            <a:ext cx="579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Y1’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348F-A22E-4F2C-B67D-E2671044C4E3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0764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Outliers</a:t>
            </a:r>
          </a:p>
        </p:txBody>
      </p:sp>
      <p:sp>
        <p:nvSpPr>
          <p:cNvPr id="83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206500"/>
            <a:ext cx="10858500" cy="49704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Outliers are data objects with characteristics that are considerably different than most of the other data objects in the data set</a:t>
            </a:r>
          </a:p>
          <a:p>
            <a:endParaRPr lang="en-US" altLang="en-US" sz="3200" dirty="0"/>
          </a:p>
        </p:txBody>
      </p:sp>
      <p:grpSp>
        <p:nvGrpSpPr>
          <p:cNvPr id="831492" name="Group 4"/>
          <p:cNvGrpSpPr>
            <a:grpSpLocks/>
          </p:cNvGrpSpPr>
          <p:nvPr/>
        </p:nvGrpSpPr>
        <p:grpSpPr bwMode="auto">
          <a:xfrm>
            <a:off x="3048000" y="2667000"/>
            <a:ext cx="4267200" cy="3505200"/>
            <a:chOff x="3648" y="2448"/>
            <a:chExt cx="2112" cy="1872"/>
          </a:xfrm>
        </p:grpSpPr>
        <p:pic>
          <p:nvPicPr>
            <p:cNvPr id="83149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31494" name="Oval 6"/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495" name="Oval 7"/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496" name="Oval 8"/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497" name="Oval 9"/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498" name="Rectangle 10"/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499" name="Rectangle 11"/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BC2EB-C6C9-42F4-8BA5-91F39F5EE9EB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2387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Duplicate Data</a:t>
            </a:r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1041400"/>
            <a:ext cx="10807700" cy="51355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Data set may include data objects that are duplicates, or almost duplicates of one another</a:t>
            </a:r>
          </a:p>
          <a:p>
            <a:pPr lvl="1"/>
            <a:r>
              <a:rPr lang="en-US" altLang="en-US" sz="2800" dirty="0"/>
              <a:t>Major issue when merging data from </a:t>
            </a:r>
            <a:r>
              <a:rPr lang="en-US" altLang="en-US" sz="2800" dirty="0" smtClean="0"/>
              <a:t>heterogeneous </a:t>
            </a:r>
            <a:r>
              <a:rPr lang="en-US" altLang="en-US" sz="2800" dirty="0"/>
              <a:t>sources</a:t>
            </a:r>
          </a:p>
          <a:p>
            <a:pPr lvl="1"/>
            <a:endParaRPr lang="en-US" altLang="en-US" sz="2800" dirty="0"/>
          </a:p>
          <a:p>
            <a:r>
              <a:rPr lang="en-US" altLang="en-US" sz="3200" dirty="0"/>
              <a:t>Examples:</a:t>
            </a:r>
          </a:p>
          <a:p>
            <a:pPr lvl="1"/>
            <a:r>
              <a:rPr lang="en-US" altLang="en-US" sz="2800" dirty="0"/>
              <a:t>Same person with multiple email addresses</a:t>
            </a:r>
          </a:p>
          <a:p>
            <a:pPr lvl="1"/>
            <a:endParaRPr lang="en-US" altLang="en-US" sz="2800" dirty="0"/>
          </a:p>
          <a:p>
            <a:r>
              <a:rPr lang="en-US" altLang="en-US" sz="3200" dirty="0"/>
              <a:t>Data cleaning</a:t>
            </a:r>
          </a:p>
          <a:p>
            <a:pPr lvl="1"/>
            <a:r>
              <a:rPr lang="en-US" altLang="en-US" sz="2800" dirty="0"/>
              <a:t>Process of dealing with duplicate data issues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8DAE-0AF3-4418-85D7-13AD605F5EB5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9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5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Data Preprocessing</a:t>
            </a:r>
          </a:p>
        </p:txBody>
      </p:sp>
      <p:sp>
        <p:nvSpPr>
          <p:cNvPr id="83251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96900" y="1130300"/>
            <a:ext cx="10756900" cy="50466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Aggregation</a:t>
            </a:r>
          </a:p>
          <a:p>
            <a:r>
              <a:rPr lang="en-US" altLang="en-US" sz="3200" dirty="0"/>
              <a:t>Sampling</a:t>
            </a:r>
          </a:p>
          <a:p>
            <a:r>
              <a:rPr lang="en-US" altLang="en-US" sz="3200" dirty="0"/>
              <a:t>Dimensionality Reduction</a:t>
            </a:r>
          </a:p>
          <a:p>
            <a:r>
              <a:rPr lang="en-US" altLang="en-US" sz="3200" dirty="0"/>
              <a:t>Feature subset selection</a:t>
            </a:r>
          </a:p>
          <a:p>
            <a:r>
              <a:rPr lang="en-US" altLang="en-US" sz="3200" dirty="0"/>
              <a:t>Feature creation</a:t>
            </a:r>
          </a:p>
          <a:p>
            <a:r>
              <a:rPr lang="en-US" altLang="en-US" sz="3200" dirty="0"/>
              <a:t>Discretization and </a:t>
            </a:r>
            <a:r>
              <a:rPr lang="en-US" altLang="en-US" sz="3200" dirty="0" err="1"/>
              <a:t>Binarization</a:t>
            </a:r>
            <a:endParaRPr lang="en-US" altLang="en-US" sz="3200" dirty="0"/>
          </a:p>
          <a:p>
            <a:r>
              <a:rPr lang="en-US" altLang="en-US" sz="3200" dirty="0"/>
              <a:t>Attribute Transformation</a:t>
            </a:r>
          </a:p>
          <a:p>
            <a:endParaRPr lang="en-US" altLang="en-US" sz="3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EE0B-1475-4E9C-A2D1-503A64CB5F42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8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337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EA0A11-E05E-448C-A581-570D13C05FA9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476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Data Reduction Strategies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20700" y="1162049"/>
            <a:ext cx="10833100" cy="53641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A data warehouse may store terabytes of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Complex data analysis/mining may take a very long time to run on the complete data set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Data reduction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Obtain a reduced representation of the data set that is much smaller in volume but yet produce the same (or almost the same) analytical results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Data reduction strategies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hlink"/>
                </a:solidFill>
              </a:rPr>
              <a:t>Data cube aggregation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hlink"/>
                </a:solidFill>
              </a:rPr>
              <a:t>Dimensionality reduction</a:t>
            </a:r>
            <a:r>
              <a:rPr lang="en-US" altLang="en-US" dirty="0"/>
              <a:t> — remove unimportant attributes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hlink"/>
                </a:solidFill>
              </a:rPr>
              <a:t>Data Compression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chemeClr val="hlink"/>
                </a:solidFill>
              </a:rPr>
              <a:t>Discretization</a:t>
            </a:r>
            <a:r>
              <a:rPr lang="en-US" altLang="en-US" dirty="0" smtClean="0"/>
              <a:t> </a:t>
            </a:r>
            <a:r>
              <a:rPr lang="en-US" altLang="en-US" dirty="0"/>
              <a:t>and concept hierarchy generation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DDFCA-3507-466A-B483-5A8BC02245B4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5486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Aggregation</a:t>
            </a:r>
          </a:p>
        </p:txBody>
      </p:sp>
      <p:sp>
        <p:nvSpPr>
          <p:cNvPr id="83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4200" y="1028700"/>
            <a:ext cx="10769600" cy="51482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Combining two or more attributes (or objects) into a single attribute (or object)</a:t>
            </a:r>
          </a:p>
          <a:p>
            <a:r>
              <a:rPr lang="en-US" altLang="en-US" sz="3200" dirty="0" smtClean="0"/>
              <a:t>Purpose</a:t>
            </a:r>
            <a:endParaRPr lang="en-US" altLang="en-US" sz="3200" dirty="0"/>
          </a:p>
          <a:p>
            <a:pPr lvl="1"/>
            <a:r>
              <a:rPr lang="en-US" altLang="en-US" sz="2800" dirty="0"/>
              <a:t>Data reduction</a:t>
            </a:r>
          </a:p>
          <a:p>
            <a:pPr lvl="2"/>
            <a:r>
              <a:rPr lang="en-US" altLang="en-US" sz="2400" dirty="0"/>
              <a:t> Reduce the number of attributes or objects</a:t>
            </a:r>
          </a:p>
          <a:p>
            <a:pPr lvl="1"/>
            <a:r>
              <a:rPr lang="en-US" altLang="en-US" sz="2800" dirty="0"/>
              <a:t>Change of scale</a:t>
            </a:r>
          </a:p>
          <a:p>
            <a:pPr lvl="2"/>
            <a:r>
              <a:rPr lang="en-US" altLang="en-US" sz="2400" dirty="0"/>
              <a:t> Cities aggregated into regions, states, countries, </a:t>
            </a:r>
            <a:r>
              <a:rPr lang="en-US" altLang="en-US" sz="2400" dirty="0" err="1"/>
              <a:t>etc</a:t>
            </a:r>
            <a:endParaRPr lang="en-US" altLang="en-US" sz="2400" dirty="0"/>
          </a:p>
          <a:p>
            <a:pPr lvl="1"/>
            <a:r>
              <a:rPr lang="en-US" altLang="en-US" sz="2800" dirty="0"/>
              <a:t>More “stable” data</a:t>
            </a:r>
          </a:p>
          <a:p>
            <a:pPr lvl="2"/>
            <a:r>
              <a:rPr lang="en-US" altLang="en-US" sz="2400" dirty="0"/>
              <a:t> Aggregated data tends to have less variability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B259F-599A-4585-A909-B0074CB19369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37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348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E95246-C0B9-4EFE-8E1C-525023BB6EAF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Data Cube Aggregation</a:t>
            </a:r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208087"/>
            <a:ext cx="10515600" cy="51482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The lowest level of a data cube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the aggregated data for an individual entity of interest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e.g., a customer in a phone calling data warehouse.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Multiple levels of aggregation in data cubes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Further reduce the size of data to deal with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Reference appropriate levels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Use the smallest representation which is enough to solve the task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Queries regarding aggregated information should be answered using data cube, when possible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F2F2-68F0-465A-BAB5-4CCEF5AEF531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2697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549276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Aggregation</a:t>
            </a:r>
          </a:p>
        </p:txBody>
      </p:sp>
      <p:sp>
        <p:nvSpPr>
          <p:cNvPr id="844804" name="Text Box 4"/>
          <p:cNvSpPr txBox="1">
            <a:spLocks noChangeArrowheads="1"/>
          </p:cNvSpPr>
          <p:nvPr/>
        </p:nvSpPr>
        <p:spPr bwMode="auto">
          <a:xfrm>
            <a:off x="3200400" y="3657600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44805" name="Text Box 5"/>
          <p:cNvSpPr txBox="1">
            <a:spLocks noChangeArrowheads="1"/>
          </p:cNvSpPr>
          <p:nvPr/>
        </p:nvSpPr>
        <p:spPr bwMode="auto">
          <a:xfrm>
            <a:off x="2298700" y="5709881"/>
            <a:ext cx="2895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 dirty="0"/>
              <a:t>Standard Deviation of Average Monthly Precipitation</a:t>
            </a:r>
          </a:p>
        </p:txBody>
      </p:sp>
      <p:sp>
        <p:nvSpPr>
          <p:cNvPr id="844806" name="Rectangle 6"/>
          <p:cNvSpPr>
            <a:spLocks noChangeArrowheads="1"/>
          </p:cNvSpPr>
          <p:nvPr/>
        </p:nvSpPr>
        <p:spPr bwMode="auto">
          <a:xfrm>
            <a:off x="3241676" y="59848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44807" name="Text Box 7"/>
          <p:cNvSpPr txBox="1">
            <a:spLocks noChangeArrowheads="1"/>
          </p:cNvSpPr>
          <p:nvPr/>
        </p:nvSpPr>
        <p:spPr bwMode="auto">
          <a:xfrm>
            <a:off x="6934200" y="5654676"/>
            <a:ext cx="2895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/>
              <a:t>Standard Deviation of Average Yearly Precipitation</a:t>
            </a:r>
          </a:p>
        </p:txBody>
      </p:sp>
      <p:pic>
        <p:nvPicPr>
          <p:cNvPr id="84480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" r="18164"/>
          <a:stretch>
            <a:fillRect/>
          </a:stretch>
        </p:blipFill>
        <p:spPr bwMode="auto">
          <a:xfrm>
            <a:off x="667041" y="1514853"/>
            <a:ext cx="5334000" cy="4057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4480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1" r="5850"/>
          <a:stretch>
            <a:fillRect/>
          </a:stretch>
        </p:blipFill>
        <p:spPr bwMode="auto">
          <a:xfrm>
            <a:off x="6350000" y="1620309"/>
            <a:ext cx="5664200" cy="4046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44810" name="Text Box 10"/>
          <p:cNvSpPr txBox="1">
            <a:spLocks noChangeArrowheads="1"/>
          </p:cNvSpPr>
          <p:nvPr/>
        </p:nvSpPr>
        <p:spPr bwMode="auto">
          <a:xfrm>
            <a:off x="1295400" y="1107396"/>
            <a:ext cx="59563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dirty="0"/>
              <a:t>Variation of Precipitation in Australia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31EA4-ABDF-4C35-B962-05D421E7EB1A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75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585200" cy="685800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Sampling </a:t>
            </a:r>
          </a:p>
        </p:txBody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4700" y="990600"/>
            <a:ext cx="10947400" cy="5499100"/>
          </a:xfrm>
          <a:noFill/>
          <a:ln/>
        </p:spPr>
        <p:txBody>
          <a:bodyPr>
            <a:normAutofit/>
          </a:bodyPr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latin typeface="Times New Roman" panose="02020603050405020304" pitchFamily="18" charset="0"/>
                <a:ea typeface="MS Mincho" pitchFamily="49" charset="-128"/>
              </a:rPr>
              <a:t>Sampling is the main technique employed for data selection.</a:t>
            </a:r>
          </a:p>
          <a:p>
            <a:pPr lvl="1" algn="just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latin typeface="Times New Roman" panose="02020603050405020304" pitchFamily="18" charset="0"/>
                <a:ea typeface="MS Mincho" pitchFamily="49" charset="-128"/>
              </a:rPr>
              <a:t>It is often used for both the preliminary investigation of the data and the final data analysis.</a:t>
            </a:r>
          </a:p>
          <a:p>
            <a:pPr lvl="1" algn="just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dirty="0">
                <a:latin typeface="Times New Roman" panose="02020603050405020304" pitchFamily="18" charset="0"/>
                <a:ea typeface="MS Mincho" pitchFamily="49" charset="-128"/>
              </a:rPr>
              <a:t>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Statisticians sample because </a:t>
            </a:r>
            <a:r>
              <a:rPr lang="en-US" altLang="en-US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obtaining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entire set of data of interest is too expensive or time consuming.</a:t>
            </a: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is used in data mining because </a:t>
            </a:r>
            <a:r>
              <a:rPr lang="en-US" altLang="en-US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entire set of data of interest is too expensive or time consuming.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AA4C9-7827-4A8D-B5F4-D74D84741FB8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43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8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Sampling … </a:t>
            </a:r>
          </a:p>
        </p:txBody>
      </p:sp>
      <p:sp>
        <p:nvSpPr>
          <p:cNvPr id="80589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key principle for effective sampling is the following: </a:t>
            </a:r>
          </a:p>
          <a:p>
            <a:pPr lvl="1"/>
            <a:r>
              <a:rPr lang="en-US" altLang="en-US" dirty="0"/>
              <a:t>using a sample will work almost as well as using the entire data sets, if the sample is representative</a:t>
            </a: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dirty="0"/>
              <a:t>A sample is representative if it has approximately the same property (of interest) as the original set of data 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92169-64B9-412F-AF38-C1E6D163D5C9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940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Types of Sampling</a:t>
            </a:r>
          </a:p>
        </p:txBody>
      </p:sp>
      <p:sp>
        <p:nvSpPr>
          <p:cNvPr id="8079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3700" y="1016000"/>
            <a:ext cx="10960100" cy="516096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Simple Random Sampling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There is an equal probability of selecting any particular </a:t>
            </a:r>
            <a:r>
              <a:rPr lang="en-US" altLang="en-US" dirty="0" smtClean="0"/>
              <a:t>item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dirty="0"/>
              <a:t>Sampling without replacement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As each item is selected, it is removed from the </a:t>
            </a:r>
            <a:r>
              <a:rPr lang="en-US" altLang="en-US" dirty="0" smtClean="0"/>
              <a:t>population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dirty="0"/>
              <a:t>Sampling with replacement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Objects are not removed from the population as they are selected for the sample.  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  </a:t>
            </a:r>
            <a:r>
              <a:rPr lang="en-US" altLang="en-US" sz="2200" dirty="0"/>
              <a:t>In sampling with replacement, the same object can be picked up more than </a:t>
            </a:r>
            <a:r>
              <a:rPr lang="en-US" altLang="en-US" sz="2200" dirty="0" smtClean="0"/>
              <a:t>once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dirty="0"/>
              <a:t>Stratified sampling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Split the data into several partitions; then draw random samples from each partition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9BE05-FCD8-4164-92BA-DB423D345B46}" type="datetime5">
              <a:rPr lang="en-US" smtClean="0"/>
              <a:t>20-Jan-18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906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512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038586-240D-448C-936F-FC3CF3F54736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968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Sampling</a:t>
            </a:r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9900" y="1055687"/>
            <a:ext cx="10985500" cy="530066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Allow a mining algorithm to run in complexity that is potentially sub-linear to the size of the data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Choose a </a:t>
            </a:r>
            <a:r>
              <a:rPr lang="en-US" altLang="en-US" dirty="0">
                <a:solidFill>
                  <a:srgbClr val="FF0000"/>
                </a:solidFill>
              </a:rPr>
              <a:t>representative</a:t>
            </a:r>
            <a:r>
              <a:rPr lang="en-US" altLang="en-US" dirty="0"/>
              <a:t> subset of the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Simple random sampling may have very poor performance in the presence of skew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Develop adaptive sampling methods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Stratified sampling: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200" dirty="0"/>
              <a:t>Approximate the percentage of each class (or subpopulation of interest) in the overall database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200" dirty="0"/>
              <a:t>Used in conjunction with skewed data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Sampling may not reduce database I/</a:t>
            </a:r>
            <a:r>
              <a:rPr lang="en-US" altLang="en-US" dirty="0" err="1"/>
              <a:t>Os</a:t>
            </a:r>
            <a:r>
              <a:rPr lang="en-US" altLang="en-US" dirty="0"/>
              <a:t> (page at a time).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070B-09D2-4AA8-AE0A-158D060A78D7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1268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5222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DD01A16-3C3D-46DA-B675-91B7EB57C8BC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52228" name="Text Box 3"/>
          <p:cNvSpPr txBox="1">
            <a:spLocks noChangeArrowheads="1"/>
          </p:cNvSpPr>
          <p:nvPr/>
        </p:nvSpPr>
        <p:spPr bwMode="auto">
          <a:xfrm rot="-1013563">
            <a:off x="5247676" y="2810858"/>
            <a:ext cx="222528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SRSWOR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(simple random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 sample without 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replacement)</a:t>
            </a:r>
          </a:p>
        </p:txBody>
      </p:sp>
      <p:grpSp>
        <p:nvGrpSpPr>
          <p:cNvPr id="52229" name="Group 4"/>
          <p:cNvGrpSpPr>
            <a:grpSpLocks/>
          </p:cNvGrpSpPr>
          <p:nvPr/>
        </p:nvGrpSpPr>
        <p:grpSpPr bwMode="auto">
          <a:xfrm>
            <a:off x="7219950" y="1771650"/>
            <a:ext cx="2438400" cy="1676400"/>
            <a:chOff x="3588" y="1116"/>
            <a:chExt cx="1536" cy="1056"/>
          </a:xfrm>
        </p:grpSpPr>
        <p:sp>
          <p:nvSpPr>
            <p:cNvPr id="52251" name="AutoShape 5"/>
            <p:cNvSpPr>
              <a:spLocks noChangeArrowheads="1"/>
            </p:cNvSpPr>
            <p:nvPr/>
          </p:nvSpPr>
          <p:spPr bwMode="auto">
            <a:xfrm>
              <a:off x="3588" y="1116"/>
              <a:ext cx="1536" cy="1056"/>
            </a:xfrm>
            <a:prstGeom prst="can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52" name="Oval 6"/>
            <p:cNvSpPr>
              <a:spLocks noChangeArrowheads="1"/>
            </p:cNvSpPr>
            <p:nvPr/>
          </p:nvSpPr>
          <p:spPr bwMode="auto">
            <a:xfrm>
              <a:off x="4092" y="1788"/>
              <a:ext cx="540" cy="36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53" name="Oval 7"/>
            <p:cNvSpPr>
              <a:spLocks noChangeArrowheads="1"/>
            </p:cNvSpPr>
            <p:nvPr/>
          </p:nvSpPr>
          <p:spPr bwMode="auto">
            <a:xfrm>
              <a:off x="4632" y="1632"/>
              <a:ext cx="492" cy="3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54" name="Oval 8"/>
            <p:cNvSpPr>
              <a:spLocks noChangeArrowheads="1"/>
            </p:cNvSpPr>
            <p:nvPr/>
          </p:nvSpPr>
          <p:spPr bwMode="auto">
            <a:xfrm>
              <a:off x="3588" y="1668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52230" name="Text Box 9"/>
          <p:cNvSpPr txBox="1">
            <a:spLocks noChangeArrowheads="1"/>
          </p:cNvSpPr>
          <p:nvPr/>
        </p:nvSpPr>
        <p:spPr bwMode="auto">
          <a:xfrm rot="848056">
            <a:off x="5486401" y="5105400"/>
            <a:ext cx="1217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SRSWR</a:t>
            </a:r>
          </a:p>
        </p:txBody>
      </p:sp>
      <p:grpSp>
        <p:nvGrpSpPr>
          <p:cNvPr id="52231" name="Group 10"/>
          <p:cNvGrpSpPr>
            <a:grpSpLocks/>
          </p:cNvGrpSpPr>
          <p:nvPr/>
        </p:nvGrpSpPr>
        <p:grpSpPr bwMode="auto">
          <a:xfrm>
            <a:off x="7296150" y="4457700"/>
            <a:ext cx="2438400" cy="1676400"/>
            <a:chOff x="3636" y="2808"/>
            <a:chExt cx="1536" cy="1056"/>
          </a:xfrm>
        </p:grpSpPr>
        <p:sp>
          <p:nvSpPr>
            <p:cNvPr id="52247" name="AutoShape 11"/>
            <p:cNvSpPr>
              <a:spLocks noChangeArrowheads="1"/>
            </p:cNvSpPr>
            <p:nvPr/>
          </p:nvSpPr>
          <p:spPr bwMode="auto">
            <a:xfrm>
              <a:off x="3636" y="2808"/>
              <a:ext cx="1536" cy="1056"/>
            </a:xfrm>
            <a:prstGeom prst="can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8" name="Oval 12"/>
            <p:cNvSpPr>
              <a:spLocks noChangeArrowheads="1"/>
            </p:cNvSpPr>
            <p:nvPr/>
          </p:nvSpPr>
          <p:spPr bwMode="auto">
            <a:xfrm>
              <a:off x="3648" y="3372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9" name="Oval 13"/>
            <p:cNvSpPr>
              <a:spLocks noChangeArrowheads="1"/>
            </p:cNvSpPr>
            <p:nvPr/>
          </p:nvSpPr>
          <p:spPr bwMode="auto">
            <a:xfrm>
              <a:off x="4188" y="3480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50" name="Oval 14"/>
            <p:cNvSpPr>
              <a:spLocks noChangeArrowheads="1"/>
            </p:cNvSpPr>
            <p:nvPr/>
          </p:nvSpPr>
          <p:spPr bwMode="auto">
            <a:xfrm>
              <a:off x="4656" y="3288"/>
              <a:ext cx="516" cy="396"/>
            </a:xfrm>
            <a:prstGeom prst="ellipse">
              <a:avLst/>
            </a:prstGeom>
            <a:solidFill>
              <a:srgbClr val="FAE2F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52232" name="Group 15"/>
          <p:cNvGrpSpPr>
            <a:grpSpLocks/>
          </p:cNvGrpSpPr>
          <p:nvPr/>
        </p:nvGrpSpPr>
        <p:grpSpPr bwMode="auto">
          <a:xfrm>
            <a:off x="2400300" y="1905001"/>
            <a:ext cx="2724150" cy="4556125"/>
            <a:chOff x="564" y="1284"/>
            <a:chExt cx="1716" cy="2870"/>
          </a:xfrm>
        </p:grpSpPr>
        <p:sp>
          <p:nvSpPr>
            <p:cNvPr id="52236" name="AutoShape 16"/>
            <p:cNvSpPr>
              <a:spLocks noChangeArrowheads="1"/>
            </p:cNvSpPr>
            <p:nvPr/>
          </p:nvSpPr>
          <p:spPr bwMode="auto">
            <a:xfrm>
              <a:off x="564" y="1284"/>
              <a:ext cx="1716" cy="2616"/>
            </a:xfrm>
            <a:prstGeom prst="can">
              <a:avLst>
                <a:gd name="adj" fmla="val 38112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37" name="Oval 17"/>
            <p:cNvSpPr>
              <a:spLocks noChangeArrowheads="1"/>
            </p:cNvSpPr>
            <p:nvPr/>
          </p:nvSpPr>
          <p:spPr bwMode="auto">
            <a:xfrm>
              <a:off x="672" y="3336"/>
              <a:ext cx="516" cy="396"/>
            </a:xfrm>
            <a:prstGeom prst="ellipse">
              <a:avLst/>
            </a:prstGeom>
            <a:solidFill>
              <a:srgbClr val="FAE2F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38" name="Oval 18"/>
            <p:cNvSpPr>
              <a:spLocks noChangeArrowheads="1"/>
            </p:cNvSpPr>
            <p:nvPr/>
          </p:nvSpPr>
          <p:spPr bwMode="auto">
            <a:xfrm>
              <a:off x="660" y="2916"/>
              <a:ext cx="540" cy="360"/>
            </a:xfrm>
            <a:prstGeom prst="ellipse">
              <a:avLst/>
            </a:prstGeom>
            <a:solidFill>
              <a:srgbClr val="006666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39" name="Oval 19"/>
            <p:cNvSpPr>
              <a:spLocks noChangeArrowheads="1"/>
            </p:cNvSpPr>
            <p:nvPr/>
          </p:nvSpPr>
          <p:spPr bwMode="auto">
            <a:xfrm>
              <a:off x="1236" y="3468"/>
              <a:ext cx="564" cy="396"/>
            </a:xfrm>
            <a:prstGeom prst="ellipse">
              <a:avLst/>
            </a:prstGeom>
            <a:solidFill>
              <a:srgbClr val="121328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0" name="Oval 20"/>
            <p:cNvSpPr>
              <a:spLocks noChangeArrowheads="1"/>
            </p:cNvSpPr>
            <p:nvPr/>
          </p:nvSpPr>
          <p:spPr bwMode="auto">
            <a:xfrm>
              <a:off x="1764" y="3240"/>
              <a:ext cx="492" cy="3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1" name="Oval 21"/>
            <p:cNvSpPr>
              <a:spLocks noChangeArrowheads="1"/>
            </p:cNvSpPr>
            <p:nvPr/>
          </p:nvSpPr>
          <p:spPr bwMode="auto">
            <a:xfrm>
              <a:off x="1236" y="3084"/>
              <a:ext cx="468" cy="372"/>
            </a:xfrm>
            <a:prstGeom prst="ellipse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2" name="Oval 22"/>
            <p:cNvSpPr>
              <a:spLocks noChangeArrowheads="1"/>
            </p:cNvSpPr>
            <p:nvPr/>
          </p:nvSpPr>
          <p:spPr bwMode="auto">
            <a:xfrm>
              <a:off x="1680" y="2808"/>
              <a:ext cx="540" cy="36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3" name="Oval 23"/>
            <p:cNvSpPr>
              <a:spLocks noChangeArrowheads="1"/>
            </p:cNvSpPr>
            <p:nvPr/>
          </p:nvSpPr>
          <p:spPr bwMode="auto">
            <a:xfrm>
              <a:off x="1092" y="2664"/>
              <a:ext cx="540" cy="36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4" name="Oval 24"/>
            <p:cNvSpPr>
              <a:spLocks noChangeArrowheads="1"/>
            </p:cNvSpPr>
            <p:nvPr/>
          </p:nvSpPr>
          <p:spPr bwMode="auto">
            <a:xfrm>
              <a:off x="564" y="2556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5" name="Oval 25"/>
            <p:cNvSpPr>
              <a:spLocks noChangeArrowheads="1"/>
            </p:cNvSpPr>
            <p:nvPr/>
          </p:nvSpPr>
          <p:spPr bwMode="auto">
            <a:xfrm>
              <a:off x="1620" y="2424"/>
              <a:ext cx="540" cy="360"/>
            </a:xfrm>
            <a:prstGeom prst="ellipse">
              <a:avLst/>
            </a:prstGeom>
            <a:solidFill>
              <a:srgbClr val="423E78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6" name="Text Box 26"/>
            <p:cNvSpPr txBox="1">
              <a:spLocks noChangeArrowheads="1"/>
            </p:cNvSpPr>
            <p:nvPr/>
          </p:nvSpPr>
          <p:spPr bwMode="auto">
            <a:xfrm>
              <a:off x="974" y="3866"/>
              <a:ext cx="8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Times New Roman" panose="02020603050405020304" pitchFamily="18" charset="0"/>
                </a:rPr>
                <a:t>Raw Data</a:t>
              </a:r>
            </a:p>
          </p:txBody>
        </p:sp>
      </p:grpSp>
      <p:sp>
        <p:nvSpPr>
          <p:cNvPr id="52233" name="Line 27"/>
          <p:cNvSpPr>
            <a:spLocks noChangeShapeType="1"/>
          </p:cNvSpPr>
          <p:nvPr/>
        </p:nvSpPr>
        <p:spPr bwMode="auto">
          <a:xfrm flipV="1">
            <a:off x="5334000" y="2971800"/>
            <a:ext cx="165735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Line 28"/>
          <p:cNvSpPr>
            <a:spLocks noChangeShapeType="1"/>
          </p:cNvSpPr>
          <p:nvPr/>
        </p:nvSpPr>
        <p:spPr bwMode="auto">
          <a:xfrm>
            <a:off x="5353050" y="4895850"/>
            <a:ext cx="1790700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5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Sampling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1C0CA-CC9A-4BFD-87B7-600B3ACC7805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7027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5325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E67805-E252-4F3A-8EF3-3B081FF08139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53252" name="Rectangle 5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Sampling</a:t>
            </a:r>
          </a:p>
        </p:txBody>
      </p:sp>
      <p:grpSp>
        <p:nvGrpSpPr>
          <p:cNvPr id="53253" name="Group 3"/>
          <p:cNvGrpSpPr>
            <a:grpSpLocks/>
          </p:cNvGrpSpPr>
          <p:nvPr/>
        </p:nvGrpSpPr>
        <p:grpSpPr bwMode="auto">
          <a:xfrm>
            <a:off x="2044701" y="2698750"/>
            <a:ext cx="3751263" cy="3348038"/>
            <a:chOff x="274" y="1418"/>
            <a:chExt cx="2363" cy="2109"/>
          </a:xfrm>
        </p:grpSpPr>
        <p:sp>
          <p:nvSpPr>
            <p:cNvPr id="53274" name="Rectangle 4"/>
            <p:cNvSpPr>
              <a:spLocks noChangeArrowheads="1"/>
            </p:cNvSpPr>
            <p:nvPr/>
          </p:nvSpPr>
          <p:spPr bwMode="auto">
            <a:xfrm>
              <a:off x="274" y="1418"/>
              <a:ext cx="2363" cy="21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75" name="AutoShape 5"/>
            <p:cNvSpPr>
              <a:spLocks noChangeArrowheads="1"/>
            </p:cNvSpPr>
            <p:nvPr/>
          </p:nvSpPr>
          <p:spPr bwMode="auto">
            <a:xfrm>
              <a:off x="1609" y="1993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76" name="AutoShape 6"/>
            <p:cNvSpPr>
              <a:spLocks noChangeArrowheads="1"/>
            </p:cNvSpPr>
            <p:nvPr/>
          </p:nvSpPr>
          <p:spPr bwMode="auto">
            <a:xfrm>
              <a:off x="1566" y="2316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77" name="AutoShape 7"/>
            <p:cNvSpPr>
              <a:spLocks noChangeArrowheads="1"/>
            </p:cNvSpPr>
            <p:nvPr/>
          </p:nvSpPr>
          <p:spPr bwMode="auto">
            <a:xfrm>
              <a:off x="1711" y="2134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78" name="AutoShape 8"/>
            <p:cNvSpPr>
              <a:spLocks noChangeArrowheads="1"/>
            </p:cNvSpPr>
            <p:nvPr/>
          </p:nvSpPr>
          <p:spPr bwMode="auto">
            <a:xfrm>
              <a:off x="1510" y="2168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79" name="AutoShape 9"/>
            <p:cNvSpPr>
              <a:spLocks noChangeArrowheads="1"/>
            </p:cNvSpPr>
            <p:nvPr/>
          </p:nvSpPr>
          <p:spPr bwMode="auto">
            <a:xfrm>
              <a:off x="1944" y="2195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0" name="AutoShape 10"/>
            <p:cNvSpPr>
              <a:spLocks noChangeArrowheads="1"/>
            </p:cNvSpPr>
            <p:nvPr/>
          </p:nvSpPr>
          <p:spPr bwMode="auto">
            <a:xfrm>
              <a:off x="1874" y="2354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1" name="AutoShape 11"/>
            <p:cNvSpPr>
              <a:spLocks noChangeArrowheads="1"/>
            </p:cNvSpPr>
            <p:nvPr/>
          </p:nvSpPr>
          <p:spPr bwMode="auto">
            <a:xfrm>
              <a:off x="1740" y="2393"/>
              <a:ext cx="57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2" name="AutoShape 12"/>
            <p:cNvSpPr>
              <a:spLocks noChangeArrowheads="1"/>
            </p:cNvSpPr>
            <p:nvPr/>
          </p:nvSpPr>
          <p:spPr bwMode="auto">
            <a:xfrm>
              <a:off x="1433" y="1845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3" name="Freeform 13"/>
            <p:cNvSpPr>
              <a:spLocks/>
            </p:cNvSpPr>
            <p:nvPr/>
          </p:nvSpPr>
          <p:spPr bwMode="auto">
            <a:xfrm>
              <a:off x="1376" y="1763"/>
              <a:ext cx="686" cy="877"/>
            </a:xfrm>
            <a:custGeom>
              <a:avLst/>
              <a:gdLst>
                <a:gd name="T0" fmla="*/ 649 w 1101"/>
                <a:gd name="T1" fmla="*/ 239 h 1077"/>
                <a:gd name="T2" fmla="*/ 671 w 1101"/>
                <a:gd name="T3" fmla="*/ 395 h 1077"/>
                <a:gd name="T4" fmla="*/ 631 w 1101"/>
                <a:gd name="T5" fmla="*/ 757 h 1077"/>
                <a:gd name="T6" fmla="*/ 592 w 1101"/>
                <a:gd name="T7" fmla="*/ 847 h 1077"/>
                <a:gd name="T8" fmla="*/ 530 w 1101"/>
                <a:gd name="T9" fmla="*/ 876 h 1077"/>
                <a:gd name="T10" fmla="*/ 371 w 1101"/>
                <a:gd name="T11" fmla="*/ 847 h 1077"/>
                <a:gd name="T12" fmla="*/ 303 w 1101"/>
                <a:gd name="T13" fmla="*/ 809 h 1077"/>
                <a:gd name="T14" fmla="*/ 286 w 1101"/>
                <a:gd name="T15" fmla="*/ 802 h 1077"/>
                <a:gd name="T16" fmla="*/ 201 w 1101"/>
                <a:gd name="T17" fmla="*/ 713 h 1077"/>
                <a:gd name="T18" fmla="*/ 145 w 1101"/>
                <a:gd name="T19" fmla="*/ 654 h 1077"/>
                <a:gd name="T20" fmla="*/ 65 w 1101"/>
                <a:gd name="T21" fmla="*/ 558 h 1077"/>
                <a:gd name="T22" fmla="*/ 2 w 1101"/>
                <a:gd name="T23" fmla="*/ 366 h 1077"/>
                <a:gd name="T24" fmla="*/ 8 w 1101"/>
                <a:gd name="T25" fmla="*/ 106 h 1077"/>
                <a:gd name="T26" fmla="*/ 116 w 1101"/>
                <a:gd name="T27" fmla="*/ 17 h 1077"/>
                <a:gd name="T28" fmla="*/ 138 w 1101"/>
                <a:gd name="T29" fmla="*/ 10 h 1077"/>
                <a:gd name="T30" fmla="*/ 263 w 1101"/>
                <a:gd name="T31" fmla="*/ 24 h 1077"/>
                <a:gd name="T32" fmla="*/ 360 w 1101"/>
                <a:gd name="T33" fmla="*/ 84 h 1077"/>
                <a:gd name="T34" fmla="*/ 433 w 1101"/>
                <a:gd name="T35" fmla="*/ 143 h 1077"/>
                <a:gd name="T36" fmla="*/ 479 w 1101"/>
                <a:gd name="T37" fmla="*/ 165 h 1077"/>
                <a:gd name="T38" fmla="*/ 649 w 1101"/>
                <a:gd name="T39" fmla="*/ 239 h 107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101" h="1077">
                  <a:moveTo>
                    <a:pt x="1041" y="294"/>
                  </a:moveTo>
                  <a:cubicBezTo>
                    <a:pt x="1062" y="357"/>
                    <a:pt x="1070" y="419"/>
                    <a:pt x="1077" y="485"/>
                  </a:cubicBezTo>
                  <a:cubicBezTo>
                    <a:pt x="1072" y="641"/>
                    <a:pt x="1101" y="797"/>
                    <a:pt x="1013" y="930"/>
                  </a:cubicBezTo>
                  <a:cubicBezTo>
                    <a:pt x="1001" y="966"/>
                    <a:pt x="984" y="1017"/>
                    <a:pt x="950" y="1040"/>
                  </a:cubicBezTo>
                  <a:cubicBezTo>
                    <a:pt x="920" y="1060"/>
                    <a:pt x="884" y="1065"/>
                    <a:pt x="850" y="1076"/>
                  </a:cubicBezTo>
                  <a:cubicBezTo>
                    <a:pt x="677" y="1068"/>
                    <a:pt x="701" y="1077"/>
                    <a:pt x="595" y="1040"/>
                  </a:cubicBezTo>
                  <a:cubicBezTo>
                    <a:pt x="556" y="1026"/>
                    <a:pt x="527" y="1007"/>
                    <a:pt x="486" y="994"/>
                  </a:cubicBezTo>
                  <a:cubicBezTo>
                    <a:pt x="477" y="991"/>
                    <a:pt x="459" y="985"/>
                    <a:pt x="459" y="985"/>
                  </a:cubicBezTo>
                  <a:cubicBezTo>
                    <a:pt x="417" y="943"/>
                    <a:pt x="369" y="911"/>
                    <a:pt x="322" y="876"/>
                  </a:cubicBezTo>
                  <a:cubicBezTo>
                    <a:pt x="287" y="850"/>
                    <a:pt x="271" y="816"/>
                    <a:pt x="232" y="803"/>
                  </a:cubicBezTo>
                  <a:cubicBezTo>
                    <a:pt x="196" y="768"/>
                    <a:pt x="131" y="726"/>
                    <a:pt x="104" y="685"/>
                  </a:cubicBezTo>
                  <a:cubicBezTo>
                    <a:pt x="56" y="611"/>
                    <a:pt x="21" y="536"/>
                    <a:pt x="4" y="449"/>
                  </a:cubicBezTo>
                  <a:cubicBezTo>
                    <a:pt x="7" y="343"/>
                    <a:pt x="0" y="236"/>
                    <a:pt x="13" y="130"/>
                  </a:cubicBezTo>
                  <a:cubicBezTo>
                    <a:pt x="22" y="60"/>
                    <a:pt x="139" y="33"/>
                    <a:pt x="186" y="21"/>
                  </a:cubicBezTo>
                  <a:cubicBezTo>
                    <a:pt x="198" y="18"/>
                    <a:pt x="222" y="12"/>
                    <a:pt x="222" y="12"/>
                  </a:cubicBezTo>
                  <a:cubicBezTo>
                    <a:pt x="289" y="15"/>
                    <a:pt x="362" y="0"/>
                    <a:pt x="422" y="30"/>
                  </a:cubicBezTo>
                  <a:cubicBezTo>
                    <a:pt x="473" y="56"/>
                    <a:pt x="525" y="77"/>
                    <a:pt x="577" y="103"/>
                  </a:cubicBezTo>
                  <a:cubicBezTo>
                    <a:pt x="619" y="124"/>
                    <a:pt x="655" y="153"/>
                    <a:pt x="695" y="176"/>
                  </a:cubicBezTo>
                  <a:cubicBezTo>
                    <a:pt x="718" y="189"/>
                    <a:pt x="745" y="192"/>
                    <a:pt x="768" y="203"/>
                  </a:cubicBezTo>
                  <a:cubicBezTo>
                    <a:pt x="844" y="240"/>
                    <a:pt x="955" y="294"/>
                    <a:pt x="1041" y="294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84" name="AutoShape 14"/>
            <p:cNvSpPr>
              <a:spLocks noChangeArrowheads="1"/>
            </p:cNvSpPr>
            <p:nvPr/>
          </p:nvSpPr>
          <p:spPr bwMode="auto">
            <a:xfrm>
              <a:off x="1104" y="2584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5" name="AutoShape 15"/>
            <p:cNvSpPr>
              <a:spLocks noChangeArrowheads="1"/>
            </p:cNvSpPr>
            <p:nvPr/>
          </p:nvSpPr>
          <p:spPr bwMode="auto">
            <a:xfrm>
              <a:off x="1391" y="2647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6" name="AutoShape 16"/>
            <p:cNvSpPr>
              <a:spLocks noChangeArrowheads="1"/>
            </p:cNvSpPr>
            <p:nvPr/>
          </p:nvSpPr>
          <p:spPr bwMode="auto">
            <a:xfrm>
              <a:off x="1286" y="2903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7" name="AutoShape 17"/>
            <p:cNvSpPr>
              <a:spLocks noChangeArrowheads="1"/>
            </p:cNvSpPr>
            <p:nvPr/>
          </p:nvSpPr>
          <p:spPr bwMode="auto">
            <a:xfrm>
              <a:off x="1345" y="2795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8" name="AutoShape 18"/>
            <p:cNvSpPr>
              <a:spLocks noChangeArrowheads="1"/>
            </p:cNvSpPr>
            <p:nvPr/>
          </p:nvSpPr>
          <p:spPr bwMode="auto">
            <a:xfrm>
              <a:off x="1171" y="2752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9" name="AutoShape 19"/>
            <p:cNvSpPr>
              <a:spLocks noChangeArrowheads="1"/>
            </p:cNvSpPr>
            <p:nvPr/>
          </p:nvSpPr>
          <p:spPr bwMode="auto">
            <a:xfrm>
              <a:off x="1168" y="2875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90" name="AutoShape 20"/>
            <p:cNvSpPr>
              <a:spLocks noChangeArrowheads="1"/>
            </p:cNvSpPr>
            <p:nvPr/>
          </p:nvSpPr>
          <p:spPr bwMode="auto">
            <a:xfrm>
              <a:off x="1224" y="2504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91" name="AutoShape 21"/>
            <p:cNvSpPr>
              <a:spLocks noChangeArrowheads="1"/>
            </p:cNvSpPr>
            <p:nvPr/>
          </p:nvSpPr>
          <p:spPr bwMode="auto">
            <a:xfrm>
              <a:off x="1289" y="2628"/>
              <a:ext cx="56" cy="74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92" name="AutoShape 22"/>
            <p:cNvSpPr>
              <a:spLocks noChangeArrowheads="1"/>
            </p:cNvSpPr>
            <p:nvPr/>
          </p:nvSpPr>
          <p:spPr bwMode="auto">
            <a:xfrm>
              <a:off x="1429" y="2882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93" name="Freeform 23"/>
            <p:cNvSpPr>
              <a:spLocks/>
            </p:cNvSpPr>
            <p:nvPr/>
          </p:nvSpPr>
          <p:spPr bwMode="auto">
            <a:xfrm>
              <a:off x="1061" y="2373"/>
              <a:ext cx="573" cy="785"/>
            </a:xfrm>
            <a:custGeom>
              <a:avLst/>
              <a:gdLst>
                <a:gd name="T0" fmla="*/ 142 w 918"/>
                <a:gd name="T1" fmla="*/ 665 h 965"/>
                <a:gd name="T2" fmla="*/ 119 w 918"/>
                <a:gd name="T3" fmla="*/ 636 h 965"/>
                <a:gd name="T4" fmla="*/ 74 w 918"/>
                <a:gd name="T5" fmla="*/ 600 h 965"/>
                <a:gd name="T6" fmla="*/ 51 w 918"/>
                <a:gd name="T7" fmla="*/ 569 h 965"/>
                <a:gd name="T8" fmla="*/ 28 w 918"/>
                <a:gd name="T9" fmla="*/ 526 h 965"/>
                <a:gd name="T10" fmla="*/ 0 w 918"/>
                <a:gd name="T11" fmla="*/ 377 h 965"/>
                <a:gd name="T12" fmla="*/ 6 w 918"/>
                <a:gd name="T13" fmla="*/ 163 h 965"/>
                <a:gd name="T14" fmla="*/ 51 w 918"/>
                <a:gd name="T15" fmla="*/ 111 h 965"/>
                <a:gd name="T16" fmla="*/ 182 w 918"/>
                <a:gd name="T17" fmla="*/ 0 h 965"/>
                <a:gd name="T18" fmla="*/ 244 w 918"/>
                <a:gd name="T19" fmla="*/ 15 h 965"/>
                <a:gd name="T20" fmla="*/ 306 w 918"/>
                <a:gd name="T21" fmla="*/ 45 h 965"/>
                <a:gd name="T22" fmla="*/ 431 w 918"/>
                <a:gd name="T23" fmla="*/ 133 h 965"/>
                <a:gd name="T24" fmla="*/ 448 w 918"/>
                <a:gd name="T25" fmla="*/ 177 h 965"/>
                <a:gd name="T26" fmla="*/ 465 w 918"/>
                <a:gd name="T27" fmla="*/ 200 h 965"/>
                <a:gd name="T28" fmla="*/ 505 w 918"/>
                <a:gd name="T29" fmla="*/ 281 h 965"/>
                <a:gd name="T30" fmla="*/ 527 w 918"/>
                <a:gd name="T31" fmla="*/ 347 h 965"/>
                <a:gd name="T32" fmla="*/ 539 w 918"/>
                <a:gd name="T33" fmla="*/ 421 h 965"/>
                <a:gd name="T34" fmla="*/ 556 w 918"/>
                <a:gd name="T35" fmla="*/ 495 h 965"/>
                <a:gd name="T36" fmla="*/ 573 w 918"/>
                <a:gd name="T37" fmla="*/ 629 h 965"/>
                <a:gd name="T38" fmla="*/ 516 w 918"/>
                <a:gd name="T39" fmla="*/ 754 h 965"/>
                <a:gd name="T40" fmla="*/ 471 w 918"/>
                <a:gd name="T41" fmla="*/ 770 h 965"/>
                <a:gd name="T42" fmla="*/ 448 w 918"/>
                <a:gd name="T43" fmla="*/ 777 h 965"/>
                <a:gd name="T44" fmla="*/ 221 w 918"/>
                <a:gd name="T45" fmla="*/ 762 h 965"/>
                <a:gd name="T46" fmla="*/ 153 w 918"/>
                <a:gd name="T47" fmla="*/ 703 h 965"/>
                <a:gd name="T48" fmla="*/ 142 w 918"/>
                <a:gd name="T49" fmla="*/ 665 h 96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918" h="965">
                  <a:moveTo>
                    <a:pt x="227" y="818"/>
                  </a:moveTo>
                  <a:cubicBezTo>
                    <a:pt x="178" y="802"/>
                    <a:pt x="216" y="822"/>
                    <a:pt x="191" y="782"/>
                  </a:cubicBezTo>
                  <a:cubicBezTo>
                    <a:pt x="176" y="757"/>
                    <a:pt x="144" y="746"/>
                    <a:pt x="118" y="737"/>
                  </a:cubicBezTo>
                  <a:cubicBezTo>
                    <a:pt x="106" y="724"/>
                    <a:pt x="92" y="714"/>
                    <a:pt x="81" y="700"/>
                  </a:cubicBezTo>
                  <a:cubicBezTo>
                    <a:pt x="68" y="683"/>
                    <a:pt x="45" y="646"/>
                    <a:pt x="45" y="646"/>
                  </a:cubicBezTo>
                  <a:cubicBezTo>
                    <a:pt x="30" y="585"/>
                    <a:pt x="10" y="526"/>
                    <a:pt x="0" y="464"/>
                  </a:cubicBezTo>
                  <a:cubicBezTo>
                    <a:pt x="3" y="376"/>
                    <a:pt x="1" y="288"/>
                    <a:pt x="9" y="200"/>
                  </a:cubicBezTo>
                  <a:cubicBezTo>
                    <a:pt x="11" y="175"/>
                    <a:pt x="74" y="139"/>
                    <a:pt x="81" y="136"/>
                  </a:cubicBezTo>
                  <a:cubicBezTo>
                    <a:pt x="153" y="101"/>
                    <a:pt x="222" y="22"/>
                    <a:pt x="291" y="0"/>
                  </a:cubicBezTo>
                  <a:cubicBezTo>
                    <a:pt x="314" y="3"/>
                    <a:pt x="364" y="5"/>
                    <a:pt x="391" y="18"/>
                  </a:cubicBezTo>
                  <a:cubicBezTo>
                    <a:pt x="430" y="37"/>
                    <a:pt x="446" y="46"/>
                    <a:pt x="491" y="55"/>
                  </a:cubicBezTo>
                  <a:cubicBezTo>
                    <a:pt x="555" y="98"/>
                    <a:pt x="638" y="100"/>
                    <a:pt x="691" y="164"/>
                  </a:cubicBezTo>
                  <a:cubicBezTo>
                    <a:pt x="760" y="248"/>
                    <a:pt x="665" y="138"/>
                    <a:pt x="718" y="218"/>
                  </a:cubicBezTo>
                  <a:cubicBezTo>
                    <a:pt x="725" y="229"/>
                    <a:pt x="737" y="236"/>
                    <a:pt x="745" y="246"/>
                  </a:cubicBezTo>
                  <a:cubicBezTo>
                    <a:pt x="770" y="278"/>
                    <a:pt x="782" y="319"/>
                    <a:pt x="809" y="346"/>
                  </a:cubicBezTo>
                  <a:cubicBezTo>
                    <a:pt x="830" y="410"/>
                    <a:pt x="816" y="384"/>
                    <a:pt x="845" y="427"/>
                  </a:cubicBezTo>
                  <a:cubicBezTo>
                    <a:pt x="851" y="457"/>
                    <a:pt x="856" y="488"/>
                    <a:pt x="863" y="518"/>
                  </a:cubicBezTo>
                  <a:cubicBezTo>
                    <a:pt x="871" y="549"/>
                    <a:pt x="884" y="578"/>
                    <a:pt x="890" y="609"/>
                  </a:cubicBezTo>
                  <a:cubicBezTo>
                    <a:pt x="902" y="666"/>
                    <a:pt x="900" y="718"/>
                    <a:pt x="918" y="773"/>
                  </a:cubicBezTo>
                  <a:cubicBezTo>
                    <a:pt x="910" y="845"/>
                    <a:pt x="904" y="901"/>
                    <a:pt x="827" y="927"/>
                  </a:cubicBezTo>
                  <a:cubicBezTo>
                    <a:pt x="803" y="935"/>
                    <a:pt x="778" y="940"/>
                    <a:pt x="754" y="946"/>
                  </a:cubicBezTo>
                  <a:cubicBezTo>
                    <a:pt x="742" y="949"/>
                    <a:pt x="718" y="955"/>
                    <a:pt x="718" y="955"/>
                  </a:cubicBezTo>
                  <a:cubicBezTo>
                    <a:pt x="668" y="954"/>
                    <a:pt x="462" y="965"/>
                    <a:pt x="354" y="937"/>
                  </a:cubicBezTo>
                  <a:cubicBezTo>
                    <a:pt x="316" y="927"/>
                    <a:pt x="272" y="891"/>
                    <a:pt x="245" y="864"/>
                  </a:cubicBezTo>
                  <a:cubicBezTo>
                    <a:pt x="231" y="850"/>
                    <a:pt x="192" y="818"/>
                    <a:pt x="227" y="818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294" name="Group 24"/>
            <p:cNvGrpSpPr>
              <a:grpSpLocks/>
            </p:cNvGrpSpPr>
            <p:nvPr/>
          </p:nvGrpSpPr>
          <p:grpSpPr bwMode="auto">
            <a:xfrm>
              <a:off x="551" y="1796"/>
              <a:ext cx="542" cy="954"/>
              <a:chOff x="551" y="1796"/>
              <a:chExt cx="542" cy="954"/>
            </a:xfrm>
          </p:grpSpPr>
          <p:sp>
            <p:nvSpPr>
              <p:cNvPr id="53295" name="AutoShape 25"/>
              <p:cNvSpPr>
                <a:spLocks noChangeArrowheads="1"/>
              </p:cNvSpPr>
              <p:nvPr/>
            </p:nvSpPr>
            <p:spPr bwMode="auto">
              <a:xfrm>
                <a:off x="727" y="2492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96" name="AutoShape 26"/>
              <p:cNvSpPr>
                <a:spLocks noChangeArrowheads="1"/>
              </p:cNvSpPr>
              <p:nvPr/>
            </p:nvSpPr>
            <p:spPr bwMode="auto">
              <a:xfrm>
                <a:off x="651" y="2392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97" name="AutoShape 27"/>
              <p:cNvSpPr>
                <a:spLocks noChangeArrowheads="1"/>
              </p:cNvSpPr>
              <p:nvPr/>
            </p:nvSpPr>
            <p:spPr bwMode="auto">
              <a:xfrm>
                <a:off x="848" y="2405"/>
                <a:ext cx="56" cy="74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98" name="AutoShape 28"/>
              <p:cNvSpPr>
                <a:spLocks noChangeArrowheads="1"/>
              </p:cNvSpPr>
              <p:nvPr/>
            </p:nvSpPr>
            <p:spPr bwMode="auto">
              <a:xfrm>
                <a:off x="753" y="2230"/>
                <a:ext cx="57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99" name="AutoShape 29"/>
              <p:cNvSpPr>
                <a:spLocks noChangeArrowheads="1"/>
              </p:cNvSpPr>
              <p:nvPr/>
            </p:nvSpPr>
            <p:spPr bwMode="auto">
              <a:xfrm>
                <a:off x="615" y="2508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0" name="AutoShape 30"/>
              <p:cNvSpPr>
                <a:spLocks noChangeArrowheads="1"/>
              </p:cNvSpPr>
              <p:nvPr/>
            </p:nvSpPr>
            <p:spPr bwMode="auto">
              <a:xfrm>
                <a:off x="669" y="2268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1" name="AutoShape 31"/>
              <p:cNvSpPr>
                <a:spLocks noChangeArrowheads="1"/>
              </p:cNvSpPr>
              <p:nvPr/>
            </p:nvSpPr>
            <p:spPr bwMode="auto">
              <a:xfrm>
                <a:off x="857" y="2566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2" name="AutoShape 32"/>
              <p:cNvSpPr>
                <a:spLocks noChangeArrowheads="1"/>
              </p:cNvSpPr>
              <p:nvPr/>
            </p:nvSpPr>
            <p:spPr bwMode="auto">
              <a:xfrm>
                <a:off x="924" y="2260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3" name="AutoShape 33"/>
              <p:cNvSpPr>
                <a:spLocks noChangeArrowheads="1"/>
              </p:cNvSpPr>
              <p:nvPr/>
            </p:nvSpPr>
            <p:spPr bwMode="auto">
              <a:xfrm>
                <a:off x="931" y="2092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4" name="AutoShape 34"/>
              <p:cNvSpPr>
                <a:spLocks noChangeArrowheads="1"/>
              </p:cNvSpPr>
              <p:nvPr/>
            </p:nvSpPr>
            <p:spPr bwMode="auto">
              <a:xfrm>
                <a:off x="881" y="1945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5" name="Freeform 35"/>
              <p:cNvSpPr>
                <a:spLocks/>
              </p:cNvSpPr>
              <p:nvPr/>
            </p:nvSpPr>
            <p:spPr bwMode="auto">
              <a:xfrm>
                <a:off x="551" y="1796"/>
                <a:ext cx="542" cy="954"/>
              </a:xfrm>
              <a:custGeom>
                <a:avLst/>
                <a:gdLst>
                  <a:gd name="T0" fmla="*/ 470 w 869"/>
                  <a:gd name="T1" fmla="*/ 643 h 1173"/>
                  <a:gd name="T2" fmla="*/ 436 w 869"/>
                  <a:gd name="T3" fmla="*/ 769 h 1173"/>
                  <a:gd name="T4" fmla="*/ 408 w 869"/>
                  <a:gd name="T5" fmla="*/ 880 h 1173"/>
                  <a:gd name="T6" fmla="*/ 397 w 869"/>
                  <a:gd name="T7" fmla="*/ 924 h 1173"/>
                  <a:gd name="T8" fmla="*/ 385 w 869"/>
                  <a:gd name="T9" fmla="*/ 939 h 1173"/>
                  <a:gd name="T10" fmla="*/ 351 w 869"/>
                  <a:gd name="T11" fmla="*/ 954 h 1173"/>
                  <a:gd name="T12" fmla="*/ 181 w 869"/>
                  <a:gd name="T13" fmla="*/ 931 h 1173"/>
                  <a:gd name="T14" fmla="*/ 79 w 869"/>
                  <a:gd name="T15" fmla="*/ 873 h 1173"/>
                  <a:gd name="T16" fmla="*/ 22 w 869"/>
                  <a:gd name="T17" fmla="*/ 821 h 1173"/>
                  <a:gd name="T18" fmla="*/ 0 w 869"/>
                  <a:gd name="T19" fmla="*/ 777 h 1173"/>
                  <a:gd name="T20" fmla="*/ 51 w 869"/>
                  <a:gd name="T21" fmla="*/ 407 h 1173"/>
                  <a:gd name="T22" fmla="*/ 68 w 869"/>
                  <a:gd name="T23" fmla="*/ 192 h 1173"/>
                  <a:gd name="T24" fmla="*/ 96 w 869"/>
                  <a:gd name="T25" fmla="*/ 133 h 1173"/>
                  <a:gd name="T26" fmla="*/ 125 w 869"/>
                  <a:gd name="T27" fmla="*/ 111 h 1173"/>
                  <a:gd name="T28" fmla="*/ 193 w 869"/>
                  <a:gd name="T29" fmla="*/ 59 h 1173"/>
                  <a:gd name="T30" fmla="*/ 221 w 869"/>
                  <a:gd name="T31" fmla="*/ 37 h 1173"/>
                  <a:gd name="T32" fmla="*/ 266 w 869"/>
                  <a:gd name="T33" fmla="*/ 0 h 1173"/>
                  <a:gd name="T34" fmla="*/ 442 w 869"/>
                  <a:gd name="T35" fmla="*/ 67 h 1173"/>
                  <a:gd name="T36" fmla="*/ 505 w 869"/>
                  <a:gd name="T37" fmla="*/ 163 h 1173"/>
                  <a:gd name="T38" fmla="*/ 527 w 869"/>
                  <a:gd name="T39" fmla="*/ 207 h 1173"/>
                  <a:gd name="T40" fmla="*/ 538 w 869"/>
                  <a:gd name="T41" fmla="*/ 251 h 1173"/>
                  <a:gd name="T42" fmla="*/ 493 w 869"/>
                  <a:gd name="T43" fmla="*/ 577 h 1173"/>
                  <a:gd name="T44" fmla="*/ 470 w 869"/>
                  <a:gd name="T45" fmla="*/ 643 h 117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869" h="1173">
                    <a:moveTo>
                      <a:pt x="754" y="791"/>
                    </a:moveTo>
                    <a:cubicBezTo>
                      <a:pt x="743" y="846"/>
                      <a:pt x="731" y="899"/>
                      <a:pt x="699" y="945"/>
                    </a:cubicBezTo>
                    <a:cubicBezTo>
                      <a:pt x="684" y="991"/>
                      <a:pt x="669" y="1036"/>
                      <a:pt x="654" y="1082"/>
                    </a:cubicBezTo>
                    <a:cubicBezTo>
                      <a:pt x="648" y="1100"/>
                      <a:pt x="649" y="1122"/>
                      <a:pt x="636" y="1136"/>
                    </a:cubicBezTo>
                    <a:cubicBezTo>
                      <a:pt x="630" y="1142"/>
                      <a:pt x="626" y="1151"/>
                      <a:pt x="618" y="1155"/>
                    </a:cubicBezTo>
                    <a:cubicBezTo>
                      <a:pt x="601" y="1164"/>
                      <a:pt x="563" y="1173"/>
                      <a:pt x="563" y="1173"/>
                    </a:cubicBezTo>
                    <a:cubicBezTo>
                      <a:pt x="471" y="1168"/>
                      <a:pt x="379" y="1170"/>
                      <a:pt x="290" y="1145"/>
                    </a:cubicBezTo>
                    <a:cubicBezTo>
                      <a:pt x="231" y="1129"/>
                      <a:pt x="182" y="1097"/>
                      <a:pt x="127" y="1073"/>
                    </a:cubicBezTo>
                    <a:cubicBezTo>
                      <a:pt x="93" y="1058"/>
                      <a:pt x="60" y="1039"/>
                      <a:pt x="36" y="1009"/>
                    </a:cubicBezTo>
                    <a:cubicBezTo>
                      <a:pt x="23" y="992"/>
                      <a:pt x="0" y="955"/>
                      <a:pt x="0" y="955"/>
                    </a:cubicBezTo>
                    <a:cubicBezTo>
                      <a:pt x="11" y="805"/>
                      <a:pt x="33" y="644"/>
                      <a:pt x="81" y="500"/>
                    </a:cubicBezTo>
                    <a:cubicBezTo>
                      <a:pt x="92" y="412"/>
                      <a:pt x="99" y="324"/>
                      <a:pt x="109" y="236"/>
                    </a:cubicBezTo>
                    <a:cubicBezTo>
                      <a:pt x="113" y="197"/>
                      <a:pt x="118" y="176"/>
                      <a:pt x="154" y="164"/>
                    </a:cubicBezTo>
                    <a:cubicBezTo>
                      <a:pt x="193" y="123"/>
                      <a:pt x="147" y="165"/>
                      <a:pt x="200" y="136"/>
                    </a:cubicBezTo>
                    <a:cubicBezTo>
                      <a:pt x="241" y="114"/>
                      <a:pt x="266" y="87"/>
                      <a:pt x="309" y="73"/>
                    </a:cubicBezTo>
                    <a:cubicBezTo>
                      <a:pt x="343" y="37"/>
                      <a:pt x="308" y="68"/>
                      <a:pt x="354" y="45"/>
                    </a:cubicBezTo>
                    <a:cubicBezTo>
                      <a:pt x="383" y="30"/>
                      <a:pt x="395" y="11"/>
                      <a:pt x="427" y="0"/>
                    </a:cubicBezTo>
                    <a:cubicBezTo>
                      <a:pt x="520" y="23"/>
                      <a:pt x="626" y="29"/>
                      <a:pt x="709" y="82"/>
                    </a:cubicBezTo>
                    <a:cubicBezTo>
                      <a:pt x="738" y="125"/>
                      <a:pt x="765" y="172"/>
                      <a:pt x="809" y="200"/>
                    </a:cubicBezTo>
                    <a:cubicBezTo>
                      <a:pt x="821" y="218"/>
                      <a:pt x="838" y="234"/>
                      <a:pt x="845" y="255"/>
                    </a:cubicBezTo>
                    <a:cubicBezTo>
                      <a:pt x="851" y="273"/>
                      <a:pt x="863" y="309"/>
                      <a:pt x="863" y="309"/>
                    </a:cubicBezTo>
                    <a:cubicBezTo>
                      <a:pt x="858" y="436"/>
                      <a:pt x="869" y="596"/>
                      <a:pt x="790" y="709"/>
                    </a:cubicBezTo>
                    <a:cubicBezTo>
                      <a:pt x="787" y="717"/>
                      <a:pt x="776" y="791"/>
                      <a:pt x="754" y="791"/>
                    </a:cubicBez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3254" name="Rectangle 36"/>
          <p:cNvSpPr>
            <a:spLocks noChangeArrowheads="1"/>
          </p:cNvSpPr>
          <p:nvPr/>
        </p:nvSpPr>
        <p:spPr bwMode="auto">
          <a:xfrm>
            <a:off x="6326188" y="2678114"/>
            <a:ext cx="3751262" cy="33480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53255" name="Group 37"/>
          <p:cNvGrpSpPr>
            <a:grpSpLocks/>
          </p:cNvGrpSpPr>
          <p:nvPr/>
        </p:nvGrpSpPr>
        <p:grpSpPr bwMode="auto">
          <a:xfrm>
            <a:off x="6765926" y="3225801"/>
            <a:ext cx="2398713" cy="2214563"/>
            <a:chOff x="3302" y="2032"/>
            <a:chExt cx="1511" cy="1395"/>
          </a:xfrm>
        </p:grpSpPr>
        <p:sp>
          <p:nvSpPr>
            <p:cNvPr id="53258" name="AutoShape 38"/>
            <p:cNvSpPr>
              <a:spLocks noChangeArrowheads="1"/>
            </p:cNvSpPr>
            <p:nvPr/>
          </p:nvSpPr>
          <p:spPr bwMode="auto">
            <a:xfrm>
              <a:off x="3366" y="2777"/>
              <a:ext cx="56" cy="75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59" name="AutoShape 39"/>
            <p:cNvSpPr>
              <a:spLocks noChangeArrowheads="1"/>
            </p:cNvSpPr>
            <p:nvPr/>
          </p:nvSpPr>
          <p:spPr bwMode="auto">
            <a:xfrm>
              <a:off x="3420" y="2537"/>
              <a:ext cx="56" cy="75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0" name="AutoShape 40"/>
            <p:cNvSpPr>
              <a:spLocks noChangeArrowheads="1"/>
            </p:cNvSpPr>
            <p:nvPr/>
          </p:nvSpPr>
          <p:spPr bwMode="auto">
            <a:xfrm>
              <a:off x="4360" y="2262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1" name="AutoShape 41"/>
            <p:cNvSpPr>
              <a:spLocks noChangeArrowheads="1"/>
            </p:cNvSpPr>
            <p:nvPr/>
          </p:nvSpPr>
          <p:spPr bwMode="auto">
            <a:xfrm>
              <a:off x="4317" y="2585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2" name="AutoShape 42"/>
            <p:cNvSpPr>
              <a:spLocks noChangeArrowheads="1"/>
            </p:cNvSpPr>
            <p:nvPr/>
          </p:nvSpPr>
          <p:spPr bwMode="auto">
            <a:xfrm>
              <a:off x="4695" y="2464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3" name="AutoShape 43"/>
            <p:cNvSpPr>
              <a:spLocks noChangeArrowheads="1"/>
            </p:cNvSpPr>
            <p:nvPr/>
          </p:nvSpPr>
          <p:spPr bwMode="auto">
            <a:xfrm>
              <a:off x="3608" y="2835"/>
              <a:ext cx="56" cy="75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4" name="AutoShape 44"/>
            <p:cNvSpPr>
              <a:spLocks noChangeArrowheads="1"/>
            </p:cNvSpPr>
            <p:nvPr/>
          </p:nvSpPr>
          <p:spPr bwMode="auto">
            <a:xfrm>
              <a:off x="4037" y="3172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5" name="AutoShape 45"/>
            <p:cNvSpPr>
              <a:spLocks noChangeArrowheads="1"/>
            </p:cNvSpPr>
            <p:nvPr/>
          </p:nvSpPr>
          <p:spPr bwMode="auto">
            <a:xfrm>
              <a:off x="4096" y="3064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6" name="AutoShape 46"/>
            <p:cNvSpPr>
              <a:spLocks noChangeArrowheads="1"/>
            </p:cNvSpPr>
            <p:nvPr/>
          </p:nvSpPr>
          <p:spPr bwMode="auto">
            <a:xfrm>
              <a:off x="3675" y="2529"/>
              <a:ext cx="56" cy="75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7" name="AutoShape 47"/>
            <p:cNvSpPr>
              <a:spLocks noChangeArrowheads="1"/>
            </p:cNvSpPr>
            <p:nvPr/>
          </p:nvSpPr>
          <p:spPr bwMode="auto">
            <a:xfrm>
              <a:off x="3922" y="3021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8" name="AutoShape 48"/>
            <p:cNvSpPr>
              <a:spLocks noChangeArrowheads="1"/>
            </p:cNvSpPr>
            <p:nvPr/>
          </p:nvSpPr>
          <p:spPr bwMode="auto">
            <a:xfrm>
              <a:off x="3682" y="2361"/>
              <a:ext cx="56" cy="75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9" name="AutoShape 49"/>
            <p:cNvSpPr>
              <a:spLocks noChangeArrowheads="1"/>
            </p:cNvSpPr>
            <p:nvPr/>
          </p:nvSpPr>
          <p:spPr bwMode="auto">
            <a:xfrm>
              <a:off x="4184" y="2114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70" name="AutoShape 50"/>
            <p:cNvSpPr>
              <a:spLocks noChangeArrowheads="1"/>
            </p:cNvSpPr>
            <p:nvPr/>
          </p:nvSpPr>
          <p:spPr bwMode="auto">
            <a:xfrm>
              <a:off x="3975" y="2773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71" name="Freeform 51"/>
            <p:cNvSpPr>
              <a:spLocks/>
            </p:cNvSpPr>
            <p:nvPr/>
          </p:nvSpPr>
          <p:spPr bwMode="auto">
            <a:xfrm>
              <a:off x="4127" y="2032"/>
              <a:ext cx="686" cy="877"/>
            </a:xfrm>
            <a:custGeom>
              <a:avLst/>
              <a:gdLst>
                <a:gd name="T0" fmla="*/ 649 w 1101"/>
                <a:gd name="T1" fmla="*/ 239 h 1077"/>
                <a:gd name="T2" fmla="*/ 671 w 1101"/>
                <a:gd name="T3" fmla="*/ 395 h 1077"/>
                <a:gd name="T4" fmla="*/ 631 w 1101"/>
                <a:gd name="T5" fmla="*/ 757 h 1077"/>
                <a:gd name="T6" fmla="*/ 592 w 1101"/>
                <a:gd name="T7" fmla="*/ 847 h 1077"/>
                <a:gd name="T8" fmla="*/ 530 w 1101"/>
                <a:gd name="T9" fmla="*/ 876 h 1077"/>
                <a:gd name="T10" fmla="*/ 371 w 1101"/>
                <a:gd name="T11" fmla="*/ 847 h 1077"/>
                <a:gd name="T12" fmla="*/ 303 w 1101"/>
                <a:gd name="T13" fmla="*/ 809 h 1077"/>
                <a:gd name="T14" fmla="*/ 286 w 1101"/>
                <a:gd name="T15" fmla="*/ 802 h 1077"/>
                <a:gd name="T16" fmla="*/ 201 w 1101"/>
                <a:gd name="T17" fmla="*/ 713 h 1077"/>
                <a:gd name="T18" fmla="*/ 145 w 1101"/>
                <a:gd name="T19" fmla="*/ 654 h 1077"/>
                <a:gd name="T20" fmla="*/ 65 w 1101"/>
                <a:gd name="T21" fmla="*/ 558 h 1077"/>
                <a:gd name="T22" fmla="*/ 2 w 1101"/>
                <a:gd name="T23" fmla="*/ 366 h 1077"/>
                <a:gd name="T24" fmla="*/ 8 w 1101"/>
                <a:gd name="T25" fmla="*/ 106 h 1077"/>
                <a:gd name="T26" fmla="*/ 116 w 1101"/>
                <a:gd name="T27" fmla="*/ 17 h 1077"/>
                <a:gd name="T28" fmla="*/ 138 w 1101"/>
                <a:gd name="T29" fmla="*/ 10 h 1077"/>
                <a:gd name="T30" fmla="*/ 263 w 1101"/>
                <a:gd name="T31" fmla="*/ 24 h 1077"/>
                <a:gd name="T32" fmla="*/ 360 w 1101"/>
                <a:gd name="T33" fmla="*/ 84 h 1077"/>
                <a:gd name="T34" fmla="*/ 433 w 1101"/>
                <a:gd name="T35" fmla="*/ 143 h 1077"/>
                <a:gd name="T36" fmla="*/ 479 w 1101"/>
                <a:gd name="T37" fmla="*/ 165 h 1077"/>
                <a:gd name="T38" fmla="*/ 649 w 1101"/>
                <a:gd name="T39" fmla="*/ 239 h 107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101" h="1077">
                  <a:moveTo>
                    <a:pt x="1041" y="294"/>
                  </a:moveTo>
                  <a:cubicBezTo>
                    <a:pt x="1062" y="357"/>
                    <a:pt x="1070" y="419"/>
                    <a:pt x="1077" y="485"/>
                  </a:cubicBezTo>
                  <a:cubicBezTo>
                    <a:pt x="1072" y="641"/>
                    <a:pt x="1101" y="797"/>
                    <a:pt x="1013" y="930"/>
                  </a:cubicBezTo>
                  <a:cubicBezTo>
                    <a:pt x="1001" y="966"/>
                    <a:pt x="984" y="1017"/>
                    <a:pt x="950" y="1040"/>
                  </a:cubicBezTo>
                  <a:cubicBezTo>
                    <a:pt x="920" y="1060"/>
                    <a:pt x="884" y="1065"/>
                    <a:pt x="850" y="1076"/>
                  </a:cubicBezTo>
                  <a:cubicBezTo>
                    <a:pt x="677" y="1068"/>
                    <a:pt x="701" y="1077"/>
                    <a:pt x="595" y="1040"/>
                  </a:cubicBezTo>
                  <a:cubicBezTo>
                    <a:pt x="556" y="1026"/>
                    <a:pt x="527" y="1007"/>
                    <a:pt x="486" y="994"/>
                  </a:cubicBezTo>
                  <a:cubicBezTo>
                    <a:pt x="477" y="991"/>
                    <a:pt x="459" y="985"/>
                    <a:pt x="459" y="985"/>
                  </a:cubicBezTo>
                  <a:cubicBezTo>
                    <a:pt x="417" y="943"/>
                    <a:pt x="369" y="911"/>
                    <a:pt x="322" y="876"/>
                  </a:cubicBezTo>
                  <a:cubicBezTo>
                    <a:pt x="287" y="850"/>
                    <a:pt x="271" y="816"/>
                    <a:pt x="232" y="803"/>
                  </a:cubicBezTo>
                  <a:cubicBezTo>
                    <a:pt x="196" y="768"/>
                    <a:pt x="131" y="726"/>
                    <a:pt x="104" y="685"/>
                  </a:cubicBezTo>
                  <a:cubicBezTo>
                    <a:pt x="56" y="611"/>
                    <a:pt x="21" y="536"/>
                    <a:pt x="4" y="449"/>
                  </a:cubicBezTo>
                  <a:cubicBezTo>
                    <a:pt x="7" y="343"/>
                    <a:pt x="0" y="236"/>
                    <a:pt x="13" y="130"/>
                  </a:cubicBezTo>
                  <a:cubicBezTo>
                    <a:pt x="22" y="60"/>
                    <a:pt x="139" y="33"/>
                    <a:pt x="186" y="21"/>
                  </a:cubicBezTo>
                  <a:cubicBezTo>
                    <a:pt x="198" y="18"/>
                    <a:pt x="222" y="12"/>
                    <a:pt x="222" y="12"/>
                  </a:cubicBezTo>
                  <a:cubicBezTo>
                    <a:pt x="289" y="15"/>
                    <a:pt x="362" y="0"/>
                    <a:pt x="422" y="30"/>
                  </a:cubicBezTo>
                  <a:cubicBezTo>
                    <a:pt x="473" y="56"/>
                    <a:pt x="525" y="77"/>
                    <a:pt x="577" y="103"/>
                  </a:cubicBezTo>
                  <a:cubicBezTo>
                    <a:pt x="619" y="124"/>
                    <a:pt x="655" y="153"/>
                    <a:pt x="695" y="176"/>
                  </a:cubicBezTo>
                  <a:cubicBezTo>
                    <a:pt x="718" y="189"/>
                    <a:pt x="745" y="192"/>
                    <a:pt x="768" y="203"/>
                  </a:cubicBezTo>
                  <a:cubicBezTo>
                    <a:pt x="844" y="240"/>
                    <a:pt x="955" y="294"/>
                    <a:pt x="1041" y="294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2" name="Freeform 52"/>
            <p:cNvSpPr>
              <a:spLocks/>
            </p:cNvSpPr>
            <p:nvPr/>
          </p:nvSpPr>
          <p:spPr bwMode="auto">
            <a:xfrm>
              <a:off x="3812" y="2642"/>
              <a:ext cx="573" cy="785"/>
            </a:xfrm>
            <a:custGeom>
              <a:avLst/>
              <a:gdLst>
                <a:gd name="T0" fmla="*/ 142 w 918"/>
                <a:gd name="T1" fmla="*/ 665 h 965"/>
                <a:gd name="T2" fmla="*/ 119 w 918"/>
                <a:gd name="T3" fmla="*/ 636 h 965"/>
                <a:gd name="T4" fmla="*/ 74 w 918"/>
                <a:gd name="T5" fmla="*/ 600 h 965"/>
                <a:gd name="T6" fmla="*/ 51 w 918"/>
                <a:gd name="T7" fmla="*/ 569 h 965"/>
                <a:gd name="T8" fmla="*/ 28 w 918"/>
                <a:gd name="T9" fmla="*/ 526 h 965"/>
                <a:gd name="T10" fmla="*/ 0 w 918"/>
                <a:gd name="T11" fmla="*/ 377 h 965"/>
                <a:gd name="T12" fmla="*/ 6 w 918"/>
                <a:gd name="T13" fmla="*/ 163 h 965"/>
                <a:gd name="T14" fmla="*/ 51 w 918"/>
                <a:gd name="T15" fmla="*/ 111 h 965"/>
                <a:gd name="T16" fmla="*/ 182 w 918"/>
                <a:gd name="T17" fmla="*/ 0 h 965"/>
                <a:gd name="T18" fmla="*/ 244 w 918"/>
                <a:gd name="T19" fmla="*/ 15 h 965"/>
                <a:gd name="T20" fmla="*/ 306 w 918"/>
                <a:gd name="T21" fmla="*/ 45 h 965"/>
                <a:gd name="T22" fmla="*/ 431 w 918"/>
                <a:gd name="T23" fmla="*/ 133 h 965"/>
                <a:gd name="T24" fmla="*/ 448 w 918"/>
                <a:gd name="T25" fmla="*/ 177 h 965"/>
                <a:gd name="T26" fmla="*/ 465 w 918"/>
                <a:gd name="T27" fmla="*/ 200 h 965"/>
                <a:gd name="T28" fmla="*/ 505 w 918"/>
                <a:gd name="T29" fmla="*/ 281 h 965"/>
                <a:gd name="T30" fmla="*/ 527 w 918"/>
                <a:gd name="T31" fmla="*/ 347 h 965"/>
                <a:gd name="T32" fmla="*/ 539 w 918"/>
                <a:gd name="T33" fmla="*/ 421 h 965"/>
                <a:gd name="T34" fmla="*/ 556 w 918"/>
                <a:gd name="T35" fmla="*/ 495 h 965"/>
                <a:gd name="T36" fmla="*/ 573 w 918"/>
                <a:gd name="T37" fmla="*/ 629 h 965"/>
                <a:gd name="T38" fmla="*/ 516 w 918"/>
                <a:gd name="T39" fmla="*/ 754 h 965"/>
                <a:gd name="T40" fmla="*/ 471 w 918"/>
                <a:gd name="T41" fmla="*/ 770 h 965"/>
                <a:gd name="T42" fmla="*/ 448 w 918"/>
                <a:gd name="T43" fmla="*/ 777 h 965"/>
                <a:gd name="T44" fmla="*/ 221 w 918"/>
                <a:gd name="T45" fmla="*/ 762 h 965"/>
                <a:gd name="T46" fmla="*/ 153 w 918"/>
                <a:gd name="T47" fmla="*/ 703 h 965"/>
                <a:gd name="T48" fmla="*/ 142 w 918"/>
                <a:gd name="T49" fmla="*/ 665 h 96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918" h="965">
                  <a:moveTo>
                    <a:pt x="227" y="818"/>
                  </a:moveTo>
                  <a:cubicBezTo>
                    <a:pt x="178" y="802"/>
                    <a:pt x="216" y="822"/>
                    <a:pt x="191" y="782"/>
                  </a:cubicBezTo>
                  <a:cubicBezTo>
                    <a:pt x="176" y="757"/>
                    <a:pt x="144" y="746"/>
                    <a:pt x="118" y="737"/>
                  </a:cubicBezTo>
                  <a:cubicBezTo>
                    <a:pt x="106" y="724"/>
                    <a:pt x="92" y="714"/>
                    <a:pt x="81" y="700"/>
                  </a:cubicBezTo>
                  <a:cubicBezTo>
                    <a:pt x="68" y="683"/>
                    <a:pt x="45" y="646"/>
                    <a:pt x="45" y="646"/>
                  </a:cubicBezTo>
                  <a:cubicBezTo>
                    <a:pt x="30" y="585"/>
                    <a:pt x="10" y="526"/>
                    <a:pt x="0" y="464"/>
                  </a:cubicBezTo>
                  <a:cubicBezTo>
                    <a:pt x="3" y="376"/>
                    <a:pt x="1" y="288"/>
                    <a:pt x="9" y="200"/>
                  </a:cubicBezTo>
                  <a:cubicBezTo>
                    <a:pt x="11" y="175"/>
                    <a:pt x="74" y="139"/>
                    <a:pt x="81" y="136"/>
                  </a:cubicBezTo>
                  <a:cubicBezTo>
                    <a:pt x="153" y="101"/>
                    <a:pt x="222" y="22"/>
                    <a:pt x="291" y="0"/>
                  </a:cubicBezTo>
                  <a:cubicBezTo>
                    <a:pt x="314" y="3"/>
                    <a:pt x="364" y="5"/>
                    <a:pt x="391" y="18"/>
                  </a:cubicBezTo>
                  <a:cubicBezTo>
                    <a:pt x="430" y="37"/>
                    <a:pt x="446" y="46"/>
                    <a:pt x="491" y="55"/>
                  </a:cubicBezTo>
                  <a:cubicBezTo>
                    <a:pt x="555" y="98"/>
                    <a:pt x="638" y="100"/>
                    <a:pt x="691" y="164"/>
                  </a:cubicBezTo>
                  <a:cubicBezTo>
                    <a:pt x="760" y="248"/>
                    <a:pt x="665" y="138"/>
                    <a:pt x="718" y="218"/>
                  </a:cubicBezTo>
                  <a:cubicBezTo>
                    <a:pt x="725" y="229"/>
                    <a:pt x="737" y="236"/>
                    <a:pt x="745" y="246"/>
                  </a:cubicBezTo>
                  <a:cubicBezTo>
                    <a:pt x="770" y="278"/>
                    <a:pt x="782" y="319"/>
                    <a:pt x="809" y="346"/>
                  </a:cubicBezTo>
                  <a:cubicBezTo>
                    <a:pt x="830" y="410"/>
                    <a:pt x="816" y="384"/>
                    <a:pt x="845" y="427"/>
                  </a:cubicBezTo>
                  <a:cubicBezTo>
                    <a:pt x="851" y="457"/>
                    <a:pt x="856" y="488"/>
                    <a:pt x="863" y="518"/>
                  </a:cubicBezTo>
                  <a:cubicBezTo>
                    <a:pt x="871" y="549"/>
                    <a:pt x="884" y="578"/>
                    <a:pt x="890" y="609"/>
                  </a:cubicBezTo>
                  <a:cubicBezTo>
                    <a:pt x="902" y="666"/>
                    <a:pt x="900" y="718"/>
                    <a:pt x="918" y="773"/>
                  </a:cubicBezTo>
                  <a:cubicBezTo>
                    <a:pt x="910" y="845"/>
                    <a:pt x="904" y="901"/>
                    <a:pt x="827" y="927"/>
                  </a:cubicBezTo>
                  <a:cubicBezTo>
                    <a:pt x="803" y="935"/>
                    <a:pt x="778" y="940"/>
                    <a:pt x="754" y="946"/>
                  </a:cubicBezTo>
                  <a:cubicBezTo>
                    <a:pt x="742" y="949"/>
                    <a:pt x="718" y="955"/>
                    <a:pt x="718" y="955"/>
                  </a:cubicBezTo>
                  <a:cubicBezTo>
                    <a:pt x="668" y="954"/>
                    <a:pt x="462" y="965"/>
                    <a:pt x="354" y="937"/>
                  </a:cubicBezTo>
                  <a:cubicBezTo>
                    <a:pt x="316" y="927"/>
                    <a:pt x="272" y="891"/>
                    <a:pt x="245" y="864"/>
                  </a:cubicBezTo>
                  <a:cubicBezTo>
                    <a:pt x="231" y="850"/>
                    <a:pt x="192" y="818"/>
                    <a:pt x="227" y="818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3" name="Freeform 53"/>
            <p:cNvSpPr>
              <a:spLocks/>
            </p:cNvSpPr>
            <p:nvPr/>
          </p:nvSpPr>
          <p:spPr bwMode="auto">
            <a:xfrm>
              <a:off x="3302" y="2065"/>
              <a:ext cx="542" cy="954"/>
            </a:xfrm>
            <a:custGeom>
              <a:avLst/>
              <a:gdLst>
                <a:gd name="T0" fmla="*/ 470 w 869"/>
                <a:gd name="T1" fmla="*/ 643 h 1173"/>
                <a:gd name="T2" fmla="*/ 436 w 869"/>
                <a:gd name="T3" fmla="*/ 769 h 1173"/>
                <a:gd name="T4" fmla="*/ 408 w 869"/>
                <a:gd name="T5" fmla="*/ 880 h 1173"/>
                <a:gd name="T6" fmla="*/ 397 w 869"/>
                <a:gd name="T7" fmla="*/ 924 h 1173"/>
                <a:gd name="T8" fmla="*/ 385 w 869"/>
                <a:gd name="T9" fmla="*/ 939 h 1173"/>
                <a:gd name="T10" fmla="*/ 351 w 869"/>
                <a:gd name="T11" fmla="*/ 954 h 1173"/>
                <a:gd name="T12" fmla="*/ 181 w 869"/>
                <a:gd name="T13" fmla="*/ 931 h 1173"/>
                <a:gd name="T14" fmla="*/ 79 w 869"/>
                <a:gd name="T15" fmla="*/ 873 h 1173"/>
                <a:gd name="T16" fmla="*/ 22 w 869"/>
                <a:gd name="T17" fmla="*/ 821 h 1173"/>
                <a:gd name="T18" fmla="*/ 0 w 869"/>
                <a:gd name="T19" fmla="*/ 777 h 1173"/>
                <a:gd name="T20" fmla="*/ 51 w 869"/>
                <a:gd name="T21" fmla="*/ 407 h 1173"/>
                <a:gd name="T22" fmla="*/ 68 w 869"/>
                <a:gd name="T23" fmla="*/ 192 h 1173"/>
                <a:gd name="T24" fmla="*/ 96 w 869"/>
                <a:gd name="T25" fmla="*/ 133 h 1173"/>
                <a:gd name="T26" fmla="*/ 125 w 869"/>
                <a:gd name="T27" fmla="*/ 111 h 1173"/>
                <a:gd name="T28" fmla="*/ 193 w 869"/>
                <a:gd name="T29" fmla="*/ 59 h 1173"/>
                <a:gd name="T30" fmla="*/ 221 w 869"/>
                <a:gd name="T31" fmla="*/ 37 h 1173"/>
                <a:gd name="T32" fmla="*/ 266 w 869"/>
                <a:gd name="T33" fmla="*/ 0 h 1173"/>
                <a:gd name="T34" fmla="*/ 442 w 869"/>
                <a:gd name="T35" fmla="*/ 67 h 1173"/>
                <a:gd name="T36" fmla="*/ 505 w 869"/>
                <a:gd name="T37" fmla="*/ 163 h 1173"/>
                <a:gd name="T38" fmla="*/ 527 w 869"/>
                <a:gd name="T39" fmla="*/ 207 h 1173"/>
                <a:gd name="T40" fmla="*/ 538 w 869"/>
                <a:gd name="T41" fmla="*/ 251 h 1173"/>
                <a:gd name="T42" fmla="*/ 493 w 869"/>
                <a:gd name="T43" fmla="*/ 577 h 1173"/>
                <a:gd name="T44" fmla="*/ 470 w 869"/>
                <a:gd name="T45" fmla="*/ 643 h 117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869" h="1173">
                  <a:moveTo>
                    <a:pt x="754" y="791"/>
                  </a:moveTo>
                  <a:cubicBezTo>
                    <a:pt x="743" y="846"/>
                    <a:pt x="731" y="899"/>
                    <a:pt x="699" y="945"/>
                  </a:cubicBezTo>
                  <a:cubicBezTo>
                    <a:pt x="684" y="991"/>
                    <a:pt x="669" y="1036"/>
                    <a:pt x="654" y="1082"/>
                  </a:cubicBezTo>
                  <a:cubicBezTo>
                    <a:pt x="648" y="1100"/>
                    <a:pt x="649" y="1122"/>
                    <a:pt x="636" y="1136"/>
                  </a:cubicBezTo>
                  <a:cubicBezTo>
                    <a:pt x="630" y="1142"/>
                    <a:pt x="626" y="1151"/>
                    <a:pt x="618" y="1155"/>
                  </a:cubicBezTo>
                  <a:cubicBezTo>
                    <a:pt x="601" y="1164"/>
                    <a:pt x="563" y="1173"/>
                    <a:pt x="563" y="1173"/>
                  </a:cubicBezTo>
                  <a:cubicBezTo>
                    <a:pt x="471" y="1168"/>
                    <a:pt x="379" y="1170"/>
                    <a:pt x="290" y="1145"/>
                  </a:cubicBezTo>
                  <a:cubicBezTo>
                    <a:pt x="231" y="1129"/>
                    <a:pt x="182" y="1097"/>
                    <a:pt x="127" y="1073"/>
                  </a:cubicBezTo>
                  <a:cubicBezTo>
                    <a:pt x="93" y="1058"/>
                    <a:pt x="60" y="1039"/>
                    <a:pt x="36" y="1009"/>
                  </a:cubicBezTo>
                  <a:cubicBezTo>
                    <a:pt x="23" y="992"/>
                    <a:pt x="0" y="955"/>
                    <a:pt x="0" y="955"/>
                  </a:cubicBezTo>
                  <a:cubicBezTo>
                    <a:pt x="11" y="805"/>
                    <a:pt x="33" y="644"/>
                    <a:pt x="81" y="500"/>
                  </a:cubicBezTo>
                  <a:cubicBezTo>
                    <a:pt x="92" y="412"/>
                    <a:pt x="99" y="324"/>
                    <a:pt x="109" y="236"/>
                  </a:cubicBezTo>
                  <a:cubicBezTo>
                    <a:pt x="113" y="197"/>
                    <a:pt x="118" y="176"/>
                    <a:pt x="154" y="164"/>
                  </a:cubicBezTo>
                  <a:cubicBezTo>
                    <a:pt x="193" y="123"/>
                    <a:pt x="147" y="165"/>
                    <a:pt x="200" y="136"/>
                  </a:cubicBezTo>
                  <a:cubicBezTo>
                    <a:pt x="241" y="114"/>
                    <a:pt x="266" y="87"/>
                    <a:pt x="309" y="73"/>
                  </a:cubicBezTo>
                  <a:cubicBezTo>
                    <a:pt x="343" y="37"/>
                    <a:pt x="308" y="68"/>
                    <a:pt x="354" y="45"/>
                  </a:cubicBezTo>
                  <a:cubicBezTo>
                    <a:pt x="383" y="30"/>
                    <a:pt x="395" y="11"/>
                    <a:pt x="427" y="0"/>
                  </a:cubicBezTo>
                  <a:cubicBezTo>
                    <a:pt x="520" y="23"/>
                    <a:pt x="626" y="29"/>
                    <a:pt x="709" y="82"/>
                  </a:cubicBezTo>
                  <a:cubicBezTo>
                    <a:pt x="738" y="125"/>
                    <a:pt x="765" y="172"/>
                    <a:pt x="809" y="200"/>
                  </a:cubicBezTo>
                  <a:cubicBezTo>
                    <a:pt x="821" y="218"/>
                    <a:pt x="838" y="234"/>
                    <a:pt x="845" y="255"/>
                  </a:cubicBezTo>
                  <a:cubicBezTo>
                    <a:pt x="851" y="273"/>
                    <a:pt x="863" y="309"/>
                    <a:pt x="863" y="309"/>
                  </a:cubicBezTo>
                  <a:cubicBezTo>
                    <a:pt x="858" y="436"/>
                    <a:pt x="869" y="596"/>
                    <a:pt x="790" y="709"/>
                  </a:cubicBezTo>
                  <a:cubicBezTo>
                    <a:pt x="787" y="717"/>
                    <a:pt x="776" y="791"/>
                    <a:pt x="754" y="791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3256" name="Text Box 54"/>
          <p:cNvSpPr txBox="1">
            <a:spLocks noChangeArrowheads="1"/>
          </p:cNvSpPr>
          <p:nvPr/>
        </p:nvSpPr>
        <p:spPr bwMode="auto">
          <a:xfrm>
            <a:off x="2987676" y="1897063"/>
            <a:ext cx="1470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Raw Data </a:t>
            </a:r>
          </a:p>
        </p:txBody>
      </p:sp>
      <p:sp>
        <p:nvSpPr>
          <p:cNvPr id="53257" name="Text Box 55"/>
          <p:cNvSpPr txBox="1">
            <a:spLocks noChangeArrowheads="1"/>
          </p:cNvSpPr>
          <p:nvPr/>
        </p:nvSpPr>
        <p:spPr bwMode="auto">
          <a:xfrm>
            <a:off x="6567488" y="1839913"/>
            <a:ext cx="3268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Cluster/Stratified Sample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3E35-2E3B-42FB-9202-D4A7CBEB629A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42546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9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778000" y="190500"/>
            <a:ext cx="8585200" cy="685800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Sample Size</a:t>
            </a:r>
          </a:p>
        </p:txBody>
      </p:sp>
      <p:sp>
        <p:nvSpPr>
          <p:cNvPr id="8099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670050" y="990600"/>
            <a:ext cx="8394700" cy="5029200"/>
          </a:xfrm>
          <a:noFill/>
          <a:ln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09988" name="Picture 10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2" r="12462"/>
          <a:stretch>
            <a:fillRect/>
          </a:stretch>
        </p:blipFill>
        <p:spPr bwMode="auto">
          <a:xfrm>
            <a:off x="1371600" y="1159821"/>
            <a:ext cx="3429000" cy="3334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9989" name="Picture 102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2" t="13898" r="14546" b="11060"/>
          <a:stretch>
            <a:fillRect/>
          </a:stretch>
        </p:blipFill>
        <p:spPr bwMode="auto">
          <a:xfrm>
            <a:off x="4800599" y="1714501"/>
            <a:ext cx="3403599" cy="2552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9990" name="Picture 103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1" r="13287"/>
          <a:stretch>
            <a:fillRect/>
          </a:stretch>
        </p:blipFill>
        <p:spPr bwMode="auto">
          <a:xfrm>
            <a:off x="7810500" y="1455118"/>
            <a:ext cx="3041650" cy="3039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09991" name="Text Box 1031"/>
          <p:cNvSpPr txBox="1">
            <a:spLocks noChangeArrowheads="1"/>
          </p:cNvSpPr>
          <p:nvPr/>
        </p:nvSpPr>
        <p:spPr bwMode="auto">
          <a:xfrm>
            <a:off x="1333500" y="4495799"/>
            <a:ext cx="91821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/>
              <a:t>8000 points		        </a:t>
            </a:r>
            <a:r>
              <a:rPr lang="en-US" altLang="en-US" b="1" dirty="0" smtClean="0"/>
              <a:t>	 </a:t>
            </a:r>
            <a:r>
              <a:rPr lang="en-US" altLang="en-US" b="1" dirty="0"/>
              <a:t>2000 Points			500 Points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A78C9-CA87-483B-A50E-58F498332111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526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5852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Sample Size</a:t>
            </a:r>
          </a:p>
        </p:txBody>
      </p:sp>
      <p:sp>
        <p:nvSpPr>
          <p:cNvPr id="81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0050" y="990600"/>
            <a:ext cx="8394700" cy="5029200"/>
          </a:xfrm>
          <a:noFill/>
          <a:ln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What sample size is necessary to get at least one object from each of 10 groups.</a:t>
            </a:r>
          </a:p>
        </p:txBody>
      </p:sp>
      <p:pic>
        <p:nvPicPr>
          <p:cNvPr id="8120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2"/>
          <a:stretch>
            <a:fillRect/>
          </a:stretch>
        </p:blipFill>
        <p:spPr bwMode="auto">
          <a:xfrm>
            <a:off x="1828800" y="2590800"/>
            <a:ext cx="3132138" cy="274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203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1" y="1905001"/>
            <a:ext cx="5484813" cy="411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0951-E104-4EED-B99A-345618A67939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141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358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F26C10-2B4E-4F1F-AB7D-561B2207563A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2317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Dimensionality Reduction</a:t>
            </a:r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016000"/>
            <a:ext cx="10515600" cy="5160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Feature selection (i.e., attribute subset selection):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Select a minimum set of features </a:t>
            </a:r>
            <a:r>
              <a:rPr lang="en-US" altLang="en-US" dirty="0">
                <a:sym typeface="Symbol" panose="05050102010706020507" pitchFamily="18" charset="2"/>
              </a:rPr>
              <a:t>such that the probability distribution of different classes given the values for those features is as close as possible to the original distribution given the values of all features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reduce # of patterns in the patterns, easier to understand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Heuristic methods (due to exponential # of choices):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step-wise forward selection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step-wise backward elimination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combining forward selection and backward elimination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decision-tree induction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D2730-91A1-419D-9491-7BF5BCB10550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8853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1277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Dimensionality Reduction</a:t>
            </a:r>
          </a:p>
        </p:txBody>
      </p:sp>
      <p:sp>
        <p:nvSpPr>
          <p:cNvPr id="84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300" y="1066800"/>
            <a:ext cx="10731500" cy="51101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Purpose: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Avoid curse of dimensionality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Reduce amount of time and memory required by data mining algorithms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Allow data to be more easily visualized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May help to eliminate irrelevant features or reduce noise</a:t>
            </a:r>
          </a:p>
          <a:p>
            <a:pPr lvl="4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Techniques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Principle Component Analysis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Singular Value Decomposition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Others: supervised and non-linear techniques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393D7-9C99-4893-AEB0-D628207AFDA1}" type="datetime5">
              <a:rPr lang="en-US" smtClean="0"/>
              <a:t>20-Jan-18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5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3686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15C442-8C66-481F-8F04-0091D15F23C5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36868" name="Text Box 3"/>
          <p:cNvSpPr txBox="1">
            <a:spLocks noChangeArrowheads="1"/>
          </p:cNvSpPr>
          <p:nvPr/>
        </p:nvSpPr>
        <p:spPr bwMode="auto">
          <a:xfrm>
            <a:off x="2819401" y="1752601"/>
            <a:ext cx="342433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Initial attribute set: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{A1, A2, A3, A4, A5, A6}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5405439" y="2598738"/>
            <a:ext cx="865187" cy="519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5487988" y="2619375"/>
            <a:ext cx="882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A4 ?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3986214" y="3616326"/>
            <a:ext cx="777875" cy="519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2" name="Rectangle 7"/>
          <p:cNvSpPr>
            <a:spLocks noChangeArrowheads="1"/>
          </p:cNvSpPr>
          <p:nvPr/>
        </p:nvSpPr>
        <p:spPr bwMode="auto">
          <a:xfrm>
            <a:off x="6805614" y="3551239"/>
            <a:ext cx="808037" cy="5476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3" name="Text Box 8"/>
          <p:cNvSpPr txBox="1">
            <a:spLocks noChangeArrowheads="1"/>
          </p:cNvSpPr>
          <p:nvPr/>
        </p:nvSpPr>
        <p:spPr bwMode="auto">
          <a:xfrm>
            <a:off x="3984625" y="3643313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A1?</a:t>
            </a: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6829425" y="361473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A6?</a:t>
            </a:r>
          </a:p>
        </p:txBody>
      </p:sp>
      <p:sp>
        <p:nvSpPr>
          <p:cNvPr id="36875" name="Oval 10"/>
          <p:cNvSpPr>
            <a:spLocks noChangeArrowheads="1"/>
          </p:cNvSpPr>
          <p:nvPr/>
        </p:nvSpPr>
        <p:spPr bwMode="auto">
          <a:xfrm>
            <a:off x="2967039" y="4935539"/>
            <a:ext cx="1139825" cy="606425"/>
          </a:xfrm>
          <a:prstGeom prst="ellips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3033713" y="5030788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Class 1</a:t>
            </a: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4651375" y="4983163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Class 2</a:t>
            </a:r>
          </a:p>
        </p:txBody>
      </p:sp>
      <p:sp>
        <p:nvSpPr>
          <p:cNvPr id="36878" name="Rectangle 13"/>
          <p:cNvSpPr>
            <a:spLocks noChangeArrowheads="1"/>
          </p:cNvSpPr>
          <p:nvPr/>
        </p:nvSpPr>
        <p:spPr bwMode="auto">
          <a:xfrm>
            <a:off x="6178550" y="5024438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Class 1</a:t>
            </a:r>
          </a:p>
        </p:txBody>
      </p:sp>
      <p:sp>
        <p:nvSpPr>
          <p:cNvPr id="36879" name="Rectangle 14"/>
          <p:cNvSpPr>
            <a:spLocks noChangeArrowheads="1"/>
          </p:cNvSpPr>
          <p:nvPr/>
        </p:nvSpPr>
        <p:spPr bwMode="auto">
          <a:xfrm>
            <a:off x="7580313" y="4954588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Class 2</a:t>
            </a:r>
          </a:p>
        </p:txBody>
      </p:sp>
      <p:sp>
        <p:nvSpPr>
          <p:cNvPr id="36880" name="Oval 15"/>
          <p:cNvSpPr>
            <a:spLocks noChangeArrowheads="1"/>
          </p:cNvSpPr>
          <p:nvPr/>
        </p:nvSpPr>
        <p:spPr bwMode="auto">
          <a:xfrm>
            <a:off x="4576764" y="4929189"/>
            <a:ext cx="1139825" cy="606425"/>
          </a:xfrm>
          <a:prstGeom prst="ellips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81" name="Oval 16"/>
          <p:cNvSpPr>
            <a:spLocks noChangeArrowheads="1"/>
          </p:cNvSpPr>
          <p:nvPr/>
        </p:nvSpPr>
        <p:spPr bwMode="auto">
          <a:xfrm>
            <a:off x="6149976" y="4943476"/>
            <a:ext cx="1139825" cy="606425"/>
          </a:xfrm>
          <a:prstGeom prst="ellips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82" name="Oval 17"/>
          <p:cNvSpPr>
            <a:spLocks noChangeArrowheads="1"/>
          </p:cNvSpPr>
          <p:nvPr/>
        </p:nvSpPr>
        <p:spPr bwMode="auto">
          <a:xfrm>
            <a:off x="7477126" y="4899026"/>
            <a:ext cx="1139825" cy="606425"/>
          </a:xfrm>
          <a:prstGeom prst="ellips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83" name="Line 18"/>
          <p:cNvSpPr>
            <a:spLocks noChangeShapeType="1"/>
          </p:cNvSpPr>
          <p:nvPr/>
        </p:nvSpPr>
        <p:spPr bwMode="auto">
          <a:xfrm flipH="1">
            <a:off x="4367213" y="3132138"/>
            <a:ext cx="1414462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4" name="Line 19"/>
          <p:cNvSpPr>
            <a:spLocks noChangeShapeType="1"/>
          </p:cNvSpPr>
          <p:nvPr/>
        </p:nvSpPr>
        <p:spPr bwMode="auto">
          <a:xfrm>
            <a:off x="5795964" y="3132139"/>
            <a:ext cx="1355725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5" name="Line 20"/>
          <p:cNvSpPr>
            <a:spLocks noChangeShapeType="1"/>
          </p:cNvSpPr>
          <p:nvPr/>
        </p:nvSpPr>
        <p:spPr bwMode="auto">
          <a:xfrm flipH="1">
            <a:off x="3544889" y="4141788"/>
            <a:ext cx="808037" cy="779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6" name="Line 21"/>
          <p:cNvSpPr>
            <a:spLocks noChangeShapeType="1"/>
          </p:cNvSpPr>
          <p:nvPr/>
        </p:nvSpPr>
        <p:spPr bwMode="auto">
          <a:xfrm>
            <a:off x="4352925" y="4141788"/>
            <a:ext cx="763588" cy="793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Line 22"/>
          <p:cNvSpPr>
            <a:spLocks noChangeShapeType="1"/>
          </p:cNvSpPr>
          <p:nvPr/>
        </p:nvSpPr>
        <p:spPr bwMode="auto">
          <a:xfrm flipH="1">
            <a:off x="6704014" y="4113213"/>
            <a:ext cx="504825" cy="836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8" name="Line 23"/>
          <p:cNvSpPr>
            <a:spLocks noChangeShapeType="1"/>
          </p:cNvSpPr>
          <p:nvPr/>
        </p:nvSpPr>
        <p:spPr bwMode="auto">
          <a:xfrm>
            <a:off x="7239000" y="4098925"/>
            <a:ext cx="808038" cy="793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9" name="Text Box 24"/>
          <p:cNvSpPr txBox="1">
            <a:spLocks noChangeArrowheads="1"/>
          </p:cNvSpPr>
          <p:nvPr/>
        </p:nvSpPr>
        <p:spPr bwMode="auto">
          <a:xfrm>
            <a:off x="2239963" y="56784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36890" name="Group 25"/>
          <p:cNvGrpSpPr>
            <a:grpSpLocks/>
          </p:cNvGrpSpPr>
          <p:nvPr/>
        </p:nvGrpSpPr>
        <p:grpSpPr bwMode="auto">
          <a:xfrm>
            <a:off x="2303463" y="5810251"/>
            <a:ext cx="652462" cy="366713"/>
            <a:chOff x="491" y="3660"/>
            <a:chExt cx="411" cy="231"/>
          </a:xfrm>
        </p:grpSpPr>
        <p:sp>
          <p:nvSpPr>
            <p:cNvPr id="36893" name="Line 26"/>
            <p:cNvSpPr>
              <a:spLocks noChangeShapeType="1"/>
            </p:cNvSpPr>
            <p:nvPr/>
          </p:nvSpPr>
          <p:spPr bwMode="auto">
            <a:xfrm>
              <a:off x="491" y="3773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4" name="Text Box 27"/>
            <p:cNvSpPr txBox="1">
              <a:spLocks noChangeArrowheads="1"/>
            </p:cNvSpPr>
            <p:nvPr/>
          </p:nvSpPr>
          <p:spPr bwMode="auto">
            <a:xfrm>
              <a:off x="705" y="3660"/>
              <a:ext cx="1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latin typeface="Times New Roman" panose="02020603050405020304" pitchFamily="18" charset="0"/>
                </a:rPr>
                <a:t>&gt;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6891" name="Text Box 28"/>
          <p:cNvSpPr txBox="1">
            <a:spLocks noChangeArrowheads="1"/>
          </p:cNvSpPr>
          <p:nvPr/>
        </p:nvSpPr>
        <p:spPr bwMode="auto">
          <a:xfrm>
            <a:off x="2946400" y="5737225"/>
            <a:ext cx="470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Reduced attribute set:  {A1, A4, A6}</a:t>
            </a:r>
          </a:p>
        </p:txBody>
      </p:sp>
      <p:sp>
        <p:nvSpPr>
          <p:cNvPr id="36892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Example of</a:t>
            </a:r>
            <a:br>
              <a:rPr lang="en-US" altLang="en-US" sz="4000"/>
            </a:br>
            <a:r>
              <a:rPr lang="en-US" altLang="en-US" sz="4000"/>
              <a:t>Decision Tree Induction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3162-1106-46B0-A419-2B52C15743B4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060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378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2530C2-EFEE-48B7-9DC3-A1CE32EEBBE9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Heuristic Feature Selection Methods</a:t>
            </a:r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There are 2</a:t>
            </a:r>
            <a:r>
              <a:rPr lang="en-US" altLang="en-US" baseline="30000"/>
              <a:t>d</a:t>
            </a:r>
            <a:r>
              <a:rPr lang="en-US" altLang="en-US"/>
              <a:t> possible sub-features of d features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Several heuristic feature selection methods: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Best single features under the feature independence assumption: choose by significance tests.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Best step-wise feature selection: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/>
              <a:t>The best single-feature is picked first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/>
              <a:t>Then next best feature condition to the first, ...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Step-wise feature elimination: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/>
              <a:t>Repeatedly eliminate the worst feature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Best combined feature selection and elimination: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Optimal branch and bound: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>
                <a:sym typeface="Symbol" panose="05050102010706020507" pitchFamily="18" charset="2"/>
              </a:rPr>
              <a:t>Use feature elimination and backtracking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73C7C-3B30-49C3-92FD-27154930025C}" type="datetime5">
              <a:rPr lang="en-US" smtClean="0"/>
              <a:t>20-Jan-18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09673"/>
      </p:ext>
    </p:extLst>
  </p:cSld>
  <p:clrMapOvr>
    <a:masterClrMapping/>
  </p:clrMapOvr>
  <p:transition>
    <p:wipe dir="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713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Curse of Dimensionality</a:t>
            </a:r>
          </a:p>
        </p:txBody>
      </p:sp>
      <p:sp>
        <p:nvSpPr>
          <p:cNvPr id="840714" name="Rectangle 10"/>
          <p:cNvSpPr>
            <a:spLocks noGrp="1" noChangeArrowheads="1"/>
          </p:cNvSpPr>
          <p:nvPr>
            <p:ph type="body" sz="half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When dimensionality increases, data becomes increasingly sparse in the space that it occupies</a:t>
            </a:r>
          </a:p>
          <a:p>
            <a:endParaRPr lang="en-US" altLang="en-US" dirty="0"/>
          </a:p>
          <a:p>
            <a:r>
              <a:rPr lang="en-US" altLang="en-US" dirty="0"/>
              <a:t>Definitions of density and distance between points, which is critical for clustering and outlier detection, become less meaningful</a:t>
            </a:r>
          </a:p>
        </p:txBody>
      </p:sp>
      <p:sp>
        <p:nvSpPr>
          <p:cNvPr id="840708" name="Text Box 4"/>
          <p:cNvSpPr txBox="1">
            <a:spLocks noChangeArrowheads="1"/>
          </p:cNvSpPr>
          <p:nvPr/>
        </p:nvSpPr>
        <p:spPr bwMode="auto">
          <a:xfrm>
            <a:off x="3200400" y="3657600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40709" name="Rectangle 5"/>
          <p:cNvSpPr>
            <a:spLocks noChangeArrowheads="1"/>
          </p:cNvSpPr>
          <p:nvPr/>
        </p:nvSpPr>
        <p:spPr bwMode="auto">
          <a:xfrm>
            <a:off x="3241676" y="59848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840715" name="Picture 11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685800"/>
            <a:ext cx="5588000" cy="4191000"/>
          </a:xfrm>
          <a:noFill/>
          <a:ln/>
        </p:spPr>
      </p:pic>
      <p:sp>
        <p:nvSpPr>
          <p:cNvPr id="840717" name="Text Box 13"/>
          <p:cNvSpPr txBox="1">
            <a:spLocks noChangeArrowheads="1"/>
          </p:cNvSpPr>
          <p:nvPr/>
        </p:nvSpPr>
        <p:spPr bwMode="auto">
          <a:xfrm>
            <a:off x="6172200" y="5181600"/>
            <a:ext cx="5194300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14300" indent="-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Randomly generate 500 points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Compute difference between max and min distance between any pair of points</a:t>
            </a:r>
          </a:p>
        </p:txBody>
      </p:sp>
    </p:spTree>
    <p:extLst>
      <p:ext uri="{BB962C8B-B14F-4D97-AF65-F5344CB8AC3E}">
        <p14:creationId xmlns:p14="http://schemas.microsoft.com/office/powerpoint/2010/main" val="3479305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1304</TotalTime>
  <Words>2343</Words>
  <Application>Microsoft Office PowerPoint</Application>
  <PresentationFormat>Widescreen</PresentationFormat>
  <Paragraphs>490</Paragraphs>
  <Slides>49</Slides>
  <Notes>24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Arial</vt:lpstr>
      <vt:lpstr>Calibri</vt:lpstr>
      <vt:lpstr>Calibri Light</vt:lpstr>
      <vt:lpstr>MS Mincho</vt:lpstr>
      <vt:lpstr>Symbol</vt:lpstr>
      <vt:lpstr>Times New Roman</vt:lpstr>
      <vt:lpstr>Office Theme</vt:lpstr>
      <vt:lpstr>Document</vt:lpstr>
      <vt:lpstr>VISIO</vt:lpstr>
      <vt:lpstr>Visio</vt:lpstr>
      <vt:lpstr>CS F415: Data Mining</vt:lpstr>
      <vt:lpstr>Today’s Outline</vt:lpstr>
      <vt:lpstr>Transaction Data</vt:lpstr>
      <vt:lpstr>Data Matrix </vt:lpstr>
      <vt:lpstr>Document – term matrix</vt:lpstr>
      <vt:lpstr>Graph Data </vt:lpstr>
      <vt:lpstr>Chemical Data </vt:lpstr>
      <vt:lpstr>Ordered Data </vt:lpstr>
      <vt:lpstr>Ordered Data </vt:lpstr>
      <vt:lpstr>Ordered Data</vt:lpstr>
      <vt:lpstr>PowerPoint Presentation</vt:lpstr>
      <vt:lpstr>Why Data Preprocessing?</vt:lpstr>
      <vt:lpstr>Why can Data be Incomplete?</vt:lpstr>
      <vt:lpstr>Why can Data be Noisy/Inconsistent?</vt:lpstr>
      <vt:lpstr>Multi-Dimensional Measure of Data Quality</vt:lpstr>
      <vt:lpstr>Major Tasks in Data Preprocessing</vt:lpstr>
      <vt:lpstr>Forms of data preprocessing </vt:lpstr>
      <vt:lpstr>Data Quality </vt:lpstr>
      <vt:lpstr>Data Cleaning</vt:lpstr>
      <vt:lpstr>Missing Data</vt:lpstr>
      <vt:lpstr>Missing Values</vt:lpstr>
      <vt:lpstr>How to Handle Missing Data?</vt:lpstr>
      <vt:lpstr>Noisy Data</vt:lpstr>
      <vt:lpstr>Noise</vt:lpstr>
      <vt:lpstr>How to Handle Noisy Data?</vt:lpstr>
      <vt:lpstr>Simple Discretization Methods: Binning</vt:lpstr>
      <vt:lpstr>Binning Methods for Data Smoothing</vt:lpstr>
      <vt:lpstr>Cluster Analysis</vt:lpstr>
      <vt:lpstr>Regression</vt:lpstr>
      <vt:lpstr>Outliers</vt:lpstr>
      <vt:lpstr>Duplicate Data</vt:lpstr>
      <vt:lpstr>Data Preprocessing</vt:lpstr>
      <vt:lpstr>Data Reduction Strategies</vt:lpstr>
      <vt:lpstr>Aggregation</vt:lpstr>
      <vt:lpstr>Data Cube Aggregation</vt:lpstr>
      <vt:lpstr>Aggregation</vt:lpstr>
      <vt:lpstr>Sampling </vt:lpstr>
      <vt:lpstr>Sampling … </vt:lpstr>
      <vt:lpstr>Types of Sampling</vt:lpstr>
      <vt:lpstr>Sampling</vt:lpstr>
      <vt:lpstr>Sampling</vt:lpstr>
      <vt:lpstr>Sampling</vt:lpstr>
      <vt:lpstr>Sample Size</vt:lpstr>
      <vt:lpstr>Sample Size</vt:lpstr>
      <vt:lpstr>Dimensionality Reduction</vt:lpstr>
      <vt:lpstr>Dimensionality Reduction</vt:lpstr>
      <vt:lpstr>Example of Decision Tree Induction</vt:lpstr>
      <vt:lpstr>Heuristic Feature Selection Methods</vt:lpstr>
      <vt:lpstr>Curse of Dimensionality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F415: Data Mining</dc:title>
  <dc:creator>yash Sharma</dc:creator>
  <cp:lastModifiedBy>yash Sharma</cp:lastModifiedBy>
  <cp:revision>27</cp:revision>
  <dcterms:created xsi:type="dcterms:W3CDTF">2016-01-15T03:52:31Z</dcterms:created>
  <dcterms:modified xsi:type="dcterms:W3CDTF">2018-01-20T09:53:40Z</dcterms:modified>
</cp:coreProperties>
</file>