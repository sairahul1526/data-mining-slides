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9" r:id="rId1"/>
  </p:sldMasterIdLst>
  <p:notesMasterIdLst>
    <p:notesMasterId r:id="rId27"/>
  </p:notesMasterIdLst>
  <p:sldIdLst>
    <p:sldId id="256" r:id="rId2"/>
    <p:sldId id="417" r:id="rId3"/>
    <p:sldId id="407" r:id="rId4"/>
    <p:sldId id="408" r:id="rId5"/>
    <p:sldId id="409" r:id="rId6"/>
    <p:sldId id="410" r:id="rId7"/>
    <p:sldId id="411" r:id="rId8"/>
    <p:sldId id="412" r:id="rId9"/>
    <p:sldId id="429" r:id="rId10"/>
    <p:sldId id="430" r:id="rId11"/>
    <p:sldId id="431" r:id="rId12"/>
    <p:sldId id="432" r:id="rId13"/>
    <p:sldId id="433" r:id="rId14"/>
    <p:sldId id="434" r:id="rId15"/>
    <p:sldId id="435" r:id="rId16"/>
    <p:sldId id="436" r:id="rId17"/>
    <p:sldId id="437" r:id="rId18"/>
    <p:sldId id="438" r:id="rId19"/>
    <p:sldId id="440" r:id="rId20"/>
    <p:sldId id="446" r:id="rId21"/>
    <p:sldId id="439" r:id="rId22"/>
    <p:sldId id="441" r:id="rId23"/>
    <p:sldId id="442" r:id="rId24"/>
    <p:sldId id="443" r:id="rId25"/>
    <p:sldId id="445" r:id="rId26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8E2635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7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4538"/>
            <a:ext cx="5842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B7CBCB5-AD2F-4B40-865E-77C0A819D5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73771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48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94495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49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08629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E502EBC-928F-41F0-956C-9303E9E1C5EF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14-Feb-18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50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50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380861F-7466-4E0E-88E1-5415802CECAA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50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26952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8CCC25C-20E9-44E0-A4F7-718BFCD7B297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14-Feb-18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515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515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664518-7C00-40A2-86ED-C5ACA18CC991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515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86332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0373884-7B47-465A-AF69-DD50979AD065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14-Feb-18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536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53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59714A6-84BE-4498-87C2-07EB1F5AFD5C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53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63769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041400"/>
            <a:ext cx="6858000" cy="2387600"/>
          </a:xfr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44F4E-2C72-4152-887A-3D43B5DE434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93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22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4406901"/>
            <a:ext cx="7886700" cy="1362075"/>
          </a:xfrm>
        </p:spPr>
        <p:txBody>
          <a:bodyPr anchor="t"/>
          <a:lstStyle>
            <a:lvl1pPr>
              <a:defRPr sz="3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906713"/>
            <a:ext cx="78867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9CA3F4-4238-430B-87CE-577B9175E4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871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DC1B73-D32C-4321-9BBF-954A8D3FF08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0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4638"/>
            <a:ext cx="78867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535113"/>
            <a:ext cx="386715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888" y="2174876"/>
            <a:ext cx="386715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248" y="1535113"/>
            <a:ext cx="386834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248" y="2174876"/>
            <a:ext cx="386834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3D44-90D9-4320-8616-48C84A8F550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946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29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26231F-AE74-4592-B491-F5FC77EC005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138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85801"/>
            <a:ext cx="3009900" cy="1160463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998" y="685800"/>
            <a:ext cx="4725590" cy="54864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3888" y="1846264"/>
            <a:ext cx="3009900" cy="432593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2E0B5-74EE-4158-8226-5C46F62395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11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8806" y="4800600"/>
            <a:ext cx="5382816" cy="566738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78806" y="685801"/>
            <a:ext cx="5382816" cy="40417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8806" y="5367338"/>
            <a:ext cx="5382816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6B6A00-779D-4AD5-BC72-98EADCD1953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33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420840-1552-4FE9-A273-06437259782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86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800725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93BE88-9395-4C19-B7FB-C3D637D97B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20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0863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D601AF9-070E-4758-9256-B5E4926B0AF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17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l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9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1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3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838200"/>
            <a:ext cx="44196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smtClean="0"/>
              <a:t>Classification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Model </a:t>
            </a:r>
            <a:r>
              <a:rPr lang="en-US" dirty="0" smtClean="0"/>
              <a:t>Overfitting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K-NN Classifier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3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75" y="1214438"/>
            <a:ext cx="7232650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4597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smtClean="0"/>
              <a:t>How to Address Overfitting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763000" cy="5181600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smtClean="0">
                <a:solidFill>
                  <a:srgbClr val="FF0000"/>
                </a:solidFill>
              </a:rPr>
              <a:t>Pre-Pruning (Early Stopping Rule)</a:t>
            </a:r>
          </a:p>
          <a:p>
            <a:pPr lvl="1"/>
            <a:r>
              <a:rPr lang="en-US" altLang="en-US" sz="2400" smtClean="0"/>
              <a:t>Stop the algorithm before it becomes a fully-grown tree</a:t>
            </a:r>
          </a:p>
          <a:p>
            <a:pPr lvl="1"/>
            <a:r>
              <a:rPr lang="en-US" altLang="en-US" sz="2400" smtClean="0"/>
              <a:t>Typical stopping conditions for a node:</a:t>
            </a:r>
          </a:p>
          <a:p>
            <a:pPr lvl="2"/>
            <a:r>
              <a:rPr lang="en-US" altLang="en-US" sz="2000" smtClean="0"/>
              <a:t> Stop if all instances belong to the same class</a:t>
            </a:r>
          </a:p>
          <a:p>
            <a:pPr lvl="2"/>
            <a:r>
              <a:rPr lang="en-US" altLang="en-US" sz="2000" smtClean="0"/>
              <a:t> Stop if all the attribute values are the same</a:t>
            </a:r>
          </a:p>
          <a:p>
            <a:pPr lvl="1"/>
            <a:r>
              <a:rPr lang="en-US" altLang="en-US" sz="2400" smtClean="0"/>
              <a:t>More restrictive conditions:</a:t>
            </a:r>
          </a:p>
          <a:p>
            <a:pPr lvl="2"/>
            <a:r>
              <a:rPr lang="en-US" altLang="en-US" sz="2000" smtClean="0"/>
              <a:t> Stop if number of instances is less than some user-specified threshold</a:t>
            </a:r>
          </a:p>
          <a:p>
            <a:pPr lvl="2"/>
            <a:r>
              <a:rPr lang="en-US" altLang="en-US" sz="2000" smtClean="0"/>
              <a:t> Stop if class distribution of instances are independent of the available features (e.g., using </a:t>
            </a:r>
            <a:r>
              <a:rPr lang="en-US" altLang="en-US" sz="2000" smtClean="0">
                <a:sym typeface="Symbol" panose="05050102010706020507" pitchFamily="18" charset="2"/>
              </a:rPr>
              <a:t></a:t>
            </a:r>
            <a:r>
              <a:rPr lang="en-US" altLang="en-US" sz="2000" baseline="30000" smtClean="0">
                <a:sym typeface="Symbol" panose="05050102010706020507" pitchFamily="18" charset="2"/>
              </a:rPr>
              <a:t> 2</a:t>
            </a:r>
            <a:r>
              <a:rPr lang="en-US" altLang="en-US" sz="2000" smtClean="0">
                <a:sym typeface="Symbol" panose="05050102010706020507" pitchFamily="18" charset="2"/>
              </a:rPr>
              <a:t> test)</a:t>
            </a:r>
            <a:endParaRPr lang="en-US" altLang="en-US" sz="2000" baseline="30000" smtClean="0"/>
          </a:p>
          <a:p>
            <a:pPr lvl="2"/>
            <a:r>
              <a:rPr lang="en-US" altLang="en-US" sz="2000" smtClean="0"/>
              <a:t> Stop if expanding the current node does not improve impurity</a:t>
            </a:r>
            <a:br>
              <a:rPr lang="en-US" altLang="en-US" sz="2000" smtClean="0"/>
            </a:br>
            <a:r>
              <a:rPr lang="en-US" altLang="en-US" sz="2000" smtClean="0"/>
              <a:t>    measures (e.g., Gini or information gain).</a:t>
            </a:r>
          </a:p>
        </p:txBody>
      </p:sp>
    </p:spTree>
    <p:extLst>
      <p:ext uri="{BB962C8B-B14F-4D97-AF65-F5344CB8AC3E}">
        <p14:creationId xmlns:p14="http://schemas.microsoft.com/office/powerpoint/2010/main" val="16891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8153400" cy="874713"/>
          </a:xfrm>
        </p:spPr>
        <p:txBody>
          <a:bodyPr/>
          <a:lstStyle/>
          <a:p>
            <a:pPr algn="l"/>
            <a:r>
              <a:rPr lang="en-US" altLang="en-US" b="1" dirty="0" smtClean="0"/>
              <a:t>How to Address Overfitting…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447800"/>
            <a:ext cx="7543800" cy="4953000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n-US" altLang="en-US" sz="2800" dirty="0" smtClean="0">
                <a:solidFill>
                  <a:srgbClr val="FF0000"/>
                </a:solidFill>
              </a:rPr>
              <a:t>Post-pruning</a:t>
            </a:r>
          </a:p>
          <a:p>
            <a:pPr lvl="1"/>
            <a:r>
              <a:rPr lang="en-US" altLang="en-US" sz="2400" dirty="0" smtClean="0"/>
              <a:t>Grow decision tree to its entirety</a:t>
            </a:r>
          </a:p>
          <a:p>
            <a:pPr lvl="1"/>
            <a:r>
              <a:rPr lang="en-US" altLang="en-US" sz="2400" dirty="0" smtClean="0"/>
              <a:t>Trim the nodes of the decision tree in a bottom-up fashion</a:t>
            </a:r>
          </a:p>
          <a:p>
            <a:pPr lvl="1"/>
            <a:r>
              <a:rPr lang="en-US" altLang="en-US" sz="2400" dirty="0" smtClean="0"/>
              <a:t>If generalization error improves after trimming, replace sub-tree by a leaf node.</a:t>
            </a:r>
          </a:p>
          <a:p>
            <a:pPr lvl="1"/>
            <a:r>
              <a:rPr lang="en-US" altLang="en-US" sz="2400" dirty="0" smtClean="0"/>
              <a:t>Class label of leaf node is determined from majority class of instances in the sub-tree</a:t>
            </a:r>
          </a:p>
          <a:p>
            <a:pPr lvl="1"/>
            <a:r>
              <a:rPr lang="en-US" altLang="en-US" sz="2400" dirty="0" smtClean="0"/>
              <a:t>Can use MDL for post-pruning</a:t>
            </a:r>
          </a:p>
        </p:txBody>
      </p:sp>
    </p:spTree>
    <p:extLst>
      <p:ext uri="{BB962C8B-B14F-4D97-AF65-F5344CB8AC3E}">
        <p14:creationId xmlns:p14="http://schemas.microsoft.com/office/powerpoint/2010/main" val="32943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Example of Post-Pruning</a:t>
            </a:r>
          </a:p>
        </p:txBody>
      </p:sp>
      <p:graphicFrame>
        <p:nvGraphicFramePr>
          <p:cNvPr id="76803" name="Object 3"/>
          <p:cNvGraphicFramePr>
            <a:graphicFrameLocks noChangeAspect="1"/>
          </p:cNvGraphicFramePr>
          <p:nvPr/>
        </p:nvGraphicFramePr>
        <p:xfrm>
          <a:off x="1524000" y="3124200"/>
          <a:ext cx="4953000" cy="252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1" name="VISIO" r:id="rId3" imgW="4689544" imgH="2395148" progId="Visio.Drawing.6">
                  <p:embed/>
                </p:oleObj>
              </mc:Choice>
              <mc:Fallback>
                <p:oleObj name="VISIO" r:id="rId3" imgW="4689544" imgH="239514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124200"/>
                        <a:ext cx="4953000" cy="252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735" name="Group 71"/>
          <p:cNvGraphicFramePr>
            <a:graphicFrameLocks noGrp="1"/>
          </p:cNvGraphicFramePr>
          <p:nvPr/>
        </p:nvGraphicFramePr>
        <p:xfrm>
          <a:off x="762000" y="1524000"/>
          <a:ext cx="2057400" cy="1249366"/>
        </p:xfrm>
        <a:graphic>
          <a:graphicData uri="http://schemas.openxmlformats.org/drawingml/2006/table">
            <a:tbl>
              <a:tblPr/>
              <a:tblGrid>
                <a:gridCol w="1563688"/>
                <a:gridCol w="493712"/>
              </a:tblGrid>
              <a:tr h="4569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Yes</a:t>
                      </a: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20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No</a:t>
                      </a: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Error = 10/30</a:t>
                      </a: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833" name="Text Box 17"/>
          <p:cNvSpPr txBox="1">
            <a:spLocks noChangeArrowheads="1"/>
          </p:cNvSpPr>
          <p:nvPr/>
        </p:nvSpPr>
        <p:spPr bwMode="auto">
          <a:xfrm>
            <a:off x="4495800" y="1295400"/>
            <a:ext cx="4648200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Training Error (Before splitting) = 10/30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Pessimistic error = (10 + 0.5)/30 = 10.5/30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Training Error (After splitting) = 9/30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Pessimistic error (After splitting)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	= (9 + 4 </a:t>
            </a:r>
            <a:r>
              <a:rPr lang="en-US" altLang="en-US" sz="1800" b="1" dirty="0">
                <a:latin typeface="Arial" panose="020B0604020202020204" pitchFamily="34" charset="0"/>
                <a:sym typeface="Symbol" panose="05050102010706020507" pitchFamily="18" charset="2"/>
              </a:rPr>
              <a:t> 0.5)/30 = 11/30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	</a:t>
            </a:r>
            <a:r>
              <a:rPr lang="en-US" altLang="en-U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PRUNE!</a:t>
            </a:r>
          </a:p>
        </p:txBody>
      </p:sp>
      <p:graphicFrame>
        <p:nvGraphicFramePr>
          <p:cNvPr id="241736" name="Group 72"/>
          <p:cNvGraphicFramePr>
            <a:graphicFrameLocks noGrp="1"/>
          </p:cNvGraphicFramePr>
          <p:nvPr/>
        </p:nvGraphicFramePr>
        <p:xfrm>
          <a:off x="228600" y="5638800"/>
          <a:ext cx="1981200" cy="746126"/>
        </p:xfrm>
        <a:graphic>
          <a:graphicData uri="http://schemas.openxmlformats.org/drawingml/2006/table">
            <a:tbl>
              <a:tblPr/>
              <a:tblGrid>
                <a:gridCol w="1465263"/>
                <a:gridCol w="515937"/>
              </a:tblGrid>
              <a:tr h="3656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Yes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8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No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4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41746" name="Group 82"/>
          <p:cNvGraphicFramePr>
            <a:graphicFrameLocks noGrp="1"/>
          </p:cNvGraphicFramePr>
          <p:nvPr/>
        </p:nvGraphicFramePr>
        <p:xfrm>
          <a:off x="2252663" y="5640388"/>
          <a:ext cx="1905000" cy="731838"/>
        </p:xfrm>
        <a:graphic>
          <a:graphicData uri="http://schemas.openxmlformats.org/drawingml/2006/table">
            <a:tbl>
              <a:tblPr/>
              <a:tblGrid>
                <a:gridCol w="1408112"/>
                <a:gridCol w="496888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Yes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No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41745" name="Group 81"/>
          <p:cNvGraphicFramePr>
            <a:graphicFrameLocks noGrp="1"/>
          </p:cNvGraphicFramePr>
          <p:nvPr/>
        </p:nvGraphicFramePr>
        <p:xfrm>
          <a:off x="4191000" y="5638800"/>
          <a:ext cx="1905000" cy="731838"/>
        </p:xfrm>
        <a:graphic>
          <a:graphicData uri="http://schemas.openxmlformats.org/drawingml/2006/table">
            <a:tbl>
              <a:tblPr/>
              <a:tblGrid>
                <a:gridCol w="1408113"/>
                <a:gridCol w="496887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Yes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No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41747" name="Group 83"/>
          <p:cNvGraphicFramePr>
            <a:graphicFrameLocks noGrp="1"/>
          </p:cNvGraphicFramePr>
          <p:nvPr/>
        </p:nvGraphicFramePr>
        <p:xfrm>
          <a:off x="6248400" y="5638800"/>
          <a:ext cx="1981200" cy="746126"/>
        </p:xfrm>
        <a:graphic>
          <a:graphicData uri="http://schemas.openxmlformats.org/drawingml/2006/table">
            <a:tbl>
              <a:tblPr/>
              <a:tblGrid>
                <a:gridCol w="1463675"/>
                <a:gridCol w="517525"/>
              </a:tblGrid>
              <a:tr h="3656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Yes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5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Class = No</a:t>
                      </a:r>
                    </a:p>
                  </a:txBody>
                  <a:tcPr marT="45659" marB="4565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</a:t>
                      </a:r>
                    </a:p>
                  </a:txBody>
                  <a:tcPr marT="45659" marB="4565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27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48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48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48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48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48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3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1066800" y="381000"/>
            <a:ext cx="7086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Post-pruning </a:t>
            </a:r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-228600" y="1905000"/>
            <a:ext cx="9372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Post-pruning approach-</a:t>
            </a:r>
            <a:r>
              <a:rPr kumimoji="1" lang="en-US" altLang="en-US" sz="24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b="0" dirty="0">
                <a:solidFill>
                  <a:schemeClr val="tx1"/>
                </a:solidFill>
                <a:latin typeface="Arial" panose="020B0604020202020204" pitchFamily="34" charset="0"/>
              </a:rPr>
              <a:t>removes branches of a fully grown tree.</a:t>
            </a:r>
            <a:endParaRPr kumimoji="1" lang="en-US" altLang="en-US" sz="2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3400" y="2895600"/>
            <a:ext cx="7848600" cy="838200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10000"/>
          </a:bodyPr>
          <a:lstStyle/>
          <a:p>
            <a:r>
              <a:rPr lang="en-US" altLang="en-US" sz="2800" smtClean="0"/>
              <a:t>Subtree replacement replaces a subtree with a single leaf node</a:t>
            </a:r>
          </a:p>
        </p:txBody>
      </p:sp>
      <p:sp>
        <p:nvSpPr>
          <p:cNvPr id="76805" name="Oval 5"/>
          <p:cNvSpPr>
            <a:spLocks noChangeArrowheads="1"/>
          </p:cNvSpPr>
          <p:nvPr/>
        </p:nvSpPr>
        <p:spPr bwMode="auto">
          <a:xfrm>
            <a:off x="1905000" y="4038600"/>
            <a:ext cx="1447800" cy="609600"/>
          </a:xfrm>
          <a:prstGeom prst="ellipse">
            <a:avLst/>
          </a:prstGeom>
          <a:solidFill>
            <a:srgbClr val="0099FF"/>
          </a:solidFill>
          <a:ln w="9525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b="0">
                <a:solidFill>
                  <a:srgbClr val="000000"/>
                </a:solidFill>
              </a:rPr>
              <a:t>Alt</a:t>
            </a:r>
          </a:p>
        </p:txBody>
      </p:sp>
      <p:sp>
        <p:nvSpPr>
          <p:cNvPr id="76806" name="Line 6"/>
          <p:cNvSpPr>
            <a:spLocks noChangeShapeType="1"/>
          </p:cNvSpPr>
          <p:nvPr/>
        </p:nvSpPr>
        <p:spPr bwMode="auto">
          <a:xfrm flipH="1">
            <a:off x="1981200" y="4572000"/>
            <a:ext cx="228600" cy="457200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07" name="Line 7"/>
          <p:cNvSpPr>
            <a:spLocks noChangeShapeType="1"/>
          </p:cNvSpPr>
          <p:nvPr/>
        </p:nvSpPr>
        <p:spPr bwMode="auto">
          <a:xfrm>
            <a:off x="3124200" y="4572000"/>
            <a:ext cx="228600" cy="381000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08" name="Oval 8"/>
          <p:cNvSpPr>
            <a:spLocks noChangeArrowheads="1"/>
          </p:cNvSpPr>
          <p:nvPr/>
        </p:nvSpPr>
        <p:spPr bwMode="auto">
          <a:xfrm>
            <a:off x="1447800" y="5029200"/>
            <a:ext cx="1295400" cy="609600"/>
          </a:xfrm>
          <a:prstGeom prst="ellipse">
            <a:avLst/>
          </a:prstGeom>
          <a:solidFill>
            <a:srgbClr val="0099FF"/>
          </a:solidFill>
          <a:ln w="9525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b="0">
                <a:solidFill>
                  <a:srgbClr val="000000"/>
                </a:solidFill>
              </a:rPr>
              <a:t>Price</a:t>
            </a:r>
          </a:p>
        </p:txBody>
      </p:sp>
      <p:sp>
        <p:nvSpPr>
          <p:cNvPr id="76809" name="Line 9"/>
          <p:cNvSpPr>
            <a:spLocks noChangeShapeType="1"/>
          </p:cNvSpPr>
          <p:nvPr/>
        </p:nvSpPr>
        <p:spPr bwMode="auto">
          <a:xfrm flipH="1">
            <a:off x="1447800" y="5562600"/>
            <a:ext cx="304800" cy="381000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10" name="Line 10"/>
          <p:cNvSpPr>
            <a:spLocks noChangeShapeType="1"/>
          </p:cNvSpPr>
          <p:nvPr/>
        </p:nvSpPr>
        <p:spPr bwMode="auto">
          <a:xfrm>
            <a:off x="2514600" y="5562600"/>
            <a:ext cx="228600" cy="304800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11" name="Rectangle 11"/>
          <p:cNvSpPr>
            <a:spLocks noChangeArrowheads="1"/>
          </p:cNvSpPr>
          <p:nvPr/>
        </p:nvSpPr>
        <p:spPr bwMode="auto">
          <a:xfrm>
            <a:off x="1143000" y="5943600"/>
            <a:ext cx="609600" cy="381000"/>
          </a:xfrm>
          <a:prstGeom prst="rect">
            <a:avLst/>
          </a:prstGeom>
          <a:solidFill>
            <a:srgbClr val="0099FF"/>
          </a:solidFill>
          <a:ln w="9525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b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76812" name="Rectangle 12"/>
          <p:cNvSpPr>
            <a:spLocks noChangeArrowheads="1"/>
          </p:cNvSpPr>
          <p:nvPr/>
        </p:nvSpPr>
        <p:spPr bwMode="auto">
          <a:xfrm>
            <a:off x="1828800" y="5943600"/>
            <a:ext cx="609600" cy="381000"/>
          </a:xfrm>
          <a:prstGeom prst="rect">
            <a:avLst/>
          </a:prstGeom>
          <a:solidFill>
            <a:srgbClr val="0099FF"/>
          </a:solidFill>
          <a:ln w="9525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b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76813" name="Rectangle 13"/>
          <p:cNvSpPr>
            <a:spLocks noChangeArrowheads="1"/>
          </p:cNvSpPr>
          <p:nvPr/>
        </p:nvSpPr>
        <p:spPr bwMode="auto">
          <a:xfrm>
            <a:off x="2590800" y="5867400"/>
            <a:ext cx="609600" cy="381000"/>
          </a:xfrm>
          <a:prstGeom prst="rect">
            <a:avLst/>
          </a:prstGeom>
          <a:solidFill>
            <a:srgbClr val="0099FF"/>
          </a:solidFill>
          <a:ln w="9525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b="0">
                <a:solidFill>
                  <a:srgbClr val="000000"/>
                </a:solidFill>
              </a:rPr>
              <a:t>No</a:t>
            </a:r>
          </a:p>
        </p:txBody>
      </p:sp>
      <p:sp>
        <p:nvSpPr>
          <p:cNvPr id="76814" name="Line 14"/>
          <p:cNvSpPr>
            <a:spLocks noChangeShapeType="1"/>
          </p:cNvSpPr>
          <p:nvPr/>
        </p:nvSpPr>
        <p:spPr bwMode="auto">
          <a:xfrm>
            <a:off x="2057400" y="5638800"/>
            <a:ext cx="0" cy="381000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15" name="Text Box 15"/>
          <p:cNvSpPr txBox="1">
            <a:spLocks noChangeArrowheads="1"/>
          </p:cNvSpPr>
          <p:nvPr/>
        </p:nvSpPr>
        <p:spPr bwMode="auto">
          <a:xfrm>
            <a:off x="1203325" y="54483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$</a:t>
            </a:r>
          </a:p>
        </p:txBody>
      </p:sp>
      <p:sp>
        <p:nvSpPr>
          <p:cNvPr id="76816" name="Text Box 16"/>
          <p:cNvSpPr txBox="1">
            <a:spLocks noChangeArrowheads="1"/>
          </p:cNvSpPr>
          <p:nvPr/>
        </p:nvSpPr>
        <p:spPr bwMode="auto">
          <a:xfrm>
            <a:off x="1682750" y="56007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$$</a:t>
            </a:r>
          </a:p>
        </p:txBody>
      </p:sp>
      <p:sp>
        <p:nvSpPr>
          <p:cNvPr id="76817" name="Text Box 17"/>
          <p:cNvSpPr txBox="1">
            <a:spLocks noChangeArrowheads="1"/>
          </p:cNvSpPr>
          <p:nvPr/>
        </p:nvSpPr>
        <p:spPr bwMode="auto">
          <a:xfrm>
            <a:off x="2590800" y="5410200"/>
            <a:ext cx="52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$$$</a:t>
            </a:r>
          </a:p>
        </p:txBody>
      </p:sp>
      <p:sp>
        <p:nvSpPr>
          <p:cNvPr id="76818" name="Text Box 18"/>
          <p:cNvSpPr txBox="1">
            <a:spLocks noChangeArrowheads="1"/>
          </p:cNvSpPr>
          <p:nvPr/>
        </p:nvSpPr>
        <p:spPr bwMode="auto">
          <a:xfrm>
            <a:off x="1524000" y="4572000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76819" name="Line 19"/>
          <p:cNvSpPr>
            <a:spLocks noChangeShapeType="1"/>
          </p:cNvSpPr>
          <p:nvPr/>
        </p:nvSpPr>
        <p:spPr bwMode="auto">
          <a:xfrm>
            <a:off x="3962400" y="5105400"/>
            <a:ext cx="1828800" cy="0"/>
          </a:xfrm>
          <a:prstGeom prst="line">
            <a:avLst/>
          </a:prstGeom>
          <a:noFill/>
          <a:ln w="7620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20" name="Oval 20"/>
          <p:cNvSpPr>
            <a:spLocks noChangeArrowheads="1"/>
          </p:cNvSpPr>
          <p:nvPr/>
        </p:nvSpPr>
        <p:spPr bwMode="auto">
          <a:xfrm>
            <a:off x="6858000" y="3962400"/>
            <a:ext cx="1447800" cy="609600"/>
          </a:xfrm>
          <a:prstGeom prst="ellipse">
            <a:avLst/>
          </a:prstGeom>
          <a:solidFill>
            <a:srgbClr val="0099FF"/>
          </a:solidFill>
          <a:ln w="9525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b="0">
                <a:solidFill>
                  <a:srgbClr val="000000"/>
                </a:solidFill>
              </a:rPr>
              <a:t>Alt</a:t>
            </a:r>
          </a:p>
        </p:txBody>
      </p:sp>
      <p:sp>
        <p:nvSpPr>
          <p:cNvPr id="76821" name="Line 21"/>
          <p:cNvSpPr>
            <a:spLocks noChangeShapeType="1"/>
          </p:cNvSpPr>
          <p:nvPr/>
        </p:nvSpPr>
        <p:spPr bwMode="auto">
          <a:xfrm flipH="1">
            <a:off x="6934200" y="4495800"/>
            <a:ext cx="228600" cy="457200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22" name="Line 22"/>
          <p:cNvSpPr>
            <a:spLocks noChangeShapeType="1"/>
          </p:cNvSpPr>
          <p:nvPr/>
        </p:nvSpPr>
        <p:spPr bwMode="auto">
          <a:xfrm>
            <a:off x="8077200" y="4495800"/>
            <a:ext cx="228600" cy="381000"/>
          </a:xfrm>
          <a:prstGeom prst="line">
            <a:avLst/>
          </a:prstGeom>
          <a:noFill/>
          <a:ln w="9525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6823" name="Text Box 23"/>
          <p:cNvSpPr txBox="1">
            <a:spLocks noChangeArrowheads="1"/>
          </p:cNvSpPr>
          <p:nvPr/>
        </p:nvSpPr>
        <p:spPr bwMode="auto">
          <a:xfrm>
            <a:off x="6477000" y="4495800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76824" name="Rectangle 24"/>
          <p:cNvSpPr>
            <a:spLocks noChangeArrowheads="1"/>
          </p:cNvSpPr>
          <p:nvPr/>
        </p:nvSpPr>
        <p:spPr bwMode="auto">
          <a:xfrm>
            <a:off x="6629400" y="4953000"/>
            <a:ext cx="609600" cy="381000"/>
          </a:xfrm>
          <a:prstGeom prst="rect">
            <a:avLst/>
          </a:prstGeom>
          <a:solidFill>
            <a:srgbClr val="0099FF"/>
          </a:solidFill>
          <a:ln w="9525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b="0">
                <a:solidFill>
                  <a:srgbClr val="000000"/>
                </a:solidFill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25750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1143000" y="0"/>
            <a:ext cx="6858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Post-pruning</a:t>
            </a:r>
            <a:r>
              <a:rPr kumimoji="1" lang="en-US" altLang="en-US" sz="44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001000" cy="1066800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i="1" smtClean="0"/>
              <a:t>Subtree raising</a:t>
            </a:r>
            <a:r>
              <a:rPr lang="en-US" altLang="en-US" sz="2800" smtClean="0"/>
              <a:t> moves a subtree to a higher level in the decision tree, subsuming its parent</a:t>
            </a:r>
          </a:p>
        </p:txBody>
      </p:sp>
      <p:grpSp>
        <p:nvGrpSpPr>
          <p:cNvPr id="77828" name="Group 40"/>
          <p:cNvGrpSpPr>
            <a:grpSpLocks/>
          </p:cNvGrpSpPr>
          <p:nvPr/>
        </p:nvGrpSpPr>
        <p:grpSpPr bwMode="auto">
          <a:xfrm>
            <a:off x="762000" y="2895600"/>
            <a:ext cx="7467600" cy="3810000"/>
            <a:chOff x="384" y="2016"/>
            <a:chExt cx="4704" cy="2016"/>
          </a:xfrm>
        </p:grpSpPr>
        <p:sp>
          <p:nvSpPr>
            <p:cNvPr id="77829" name="Oval 41"/>
            <p:cNvSpPr>
              <a:spLocks noChangeArrowheads="1"/>
            </p:cNvSpPr>
            <p:nvPr/>
          </p:nvSpPr>
          <p:spPr bwMode="auto">
            <a:xfrm>
              <a:off x="1008" y="2016"/>
              <a:ext cx="912" cy="384"/>
            </a:xfrm>
            <a:prstGeom prst="ellipse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Alt</a:t>
              </a:r>
            </a:p>
          </p:txBody>
        </p:sp>
        <p:sp>
          <p:nvSpPr>
            <p:cNvPr id="77830" name="Line 6"/>
            <p:cNvSpPr>
              <a:spLocks noChangeShapeType="1"/>
            </p:cNvSpPr>
            <p:nvPr/>
          </p:nvSpPr>
          <p:spPr bwMode="auto">
            <a:xfrm flipH="1">
              <a:off x="1056" y="2352"/>
              <a:ext cx="144" cy="28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31" name="Line 7"/>
            <p:cNvSpPr>
              <a:spLocks noChangeShapeType="1"/>
            </p:cNvSpPr>
            <p:nvPr/>
          </p:nvSpPr>
          <p:spPr bwMode="auto">
            <a:xfrm>
              <a:off x="1776" y="2352"/>
              <a:ext cx="144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32" name="Oval 44"/>
            <p:cNvSpPr>
              <a:spLocks noChangeArrowheads="1"/>
            </p:cNvSpPr>
            <p:nvPr/>
          </p:nvSpPr>
          <p:spPr bwMode="auto">
            <a:xfrm>
              <a:off x="576" y="3216"/>
              <a:ext cx="816" cy="384"/>
            </a:xfrm>
            <a:prstGeom prst="ellipse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Price</a:t>
              </a:r>
            </a:p>
          </p:txBody>
        </p:sp>
        <p:sp>
          <p:nvSpPr>
            <p:cNvPr id="77833" name="Line 9"/>
            <p:cNvSpPr>
              <a:spLocks noChangeShapeType="1"/>
            </p:cNvSpPr>
            <p:nvPr/>
          </p:nvSpPr>
          <p:spPr bwMode="auto">
            <a:xfrm flipH="1">
              <a:off x="576" y="3552"/>
              <a:ext cx="192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34" name="Line 10"/>
            <p:cNvSpPr>
              <a:spLocks noChangeShapeType="1"/>
            </p:cNvSpPr>
            <p:nvPr/>
          </p:nvSpPr>
          <p:spPr bwMode="auto">
            <a:xfrm>
              <a:off x="1248" y="3552"/>
              <a:ext cx="144" cy="19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35" name="Rectangle 47"/>
            <p:cNvSpPr>
              <a:spLocks noChangeArrowheads="1"/>
            </p:cNvSpPr>
            <p:nvPr/>
          </p:nvSpPr>
          <p:spPr bwMode="auto">
            <a:xfrm>
              <a:off x="384" y="3792"/>
              <a:ext cx="384" cy="240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77836" name="Rectangle 48"/>
            <p:cNvSpPr>
              <a:spLocks noChangeArrowheads="1"/>
            </p:cNvSpPr>
            <p:nvPr/>
          </p:nvSpPr>
          <p:spPr bwMode="auto">
            <a:xfrm>
              <a:off x="816" y="3792"/>
              <a:ext cx="384" cy="240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77837" name="Rectangle 49"/>
            <p:cNvSpPr>
              <a:spLocks noChangeArrowheads="1"/>
            </p:cNvSpPr>
            <p:nvPr/>
          </p:nvSpPr>
          <p:spPr bwMode="auto">
            <a:xfrm>
              <a:off x="1296" y="3744"/>
              <a:ext cx="384" cy="240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77838" name="Line 14"/>
            <p:cNvSpPr>
              <a:spLocks noChangeShapeType="1"/>
            </p:cNvSpPr>
            <p:nvPr/>
          </p:nvSpPr>
          <p:spPr bwMode="auto">
            <a:xfrm>
              <a:off x="960" y="3600"/>
              <a:ext cx="0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39" name="Text Box 15"/>
            <p:cNvSpPr txBox="1">
              <a:spLocks noChangeArrowheads="1"/>
            </p:cNvSpPr>
            <p:nvPr/>
          </p:nvSpPr>
          <p:spPr bwMode="auto">
            <a:xfrm>
              <a:off x="422" y="348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$</a:t>
              </a:r>
            </a:p>
          </p:txBody>
        </p:sp>
        <p:sp>
          <p:nvSpPr>
            <p:cNvPr id="77840" name="Text Box 16"/>
            <p:cNvSpPr txBox="1">
              <a:spLocks noChangeArrowheads="1"/>
            </p:cNvSpPr>
            <p:nvPr/>
          </p:nvSpPr>
          <p:spPr bwMode="auto">
            <a:xfrm>
              <a:off x="724" y="3576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$$</a:t>
              </a:r>
            </a:p>
          </p:txBody>
        </p:sp>
        <p:sp>
          <p:nvSpPr>
            <p:cNvPr id="77841" name="Text Box 17"/>
            <p:cNvSpPr txBox="1">
              <a:spLocks noChangeArrowheads="1"/>
            </p:cNvSpPr>
            <p:nvPr/>
          </p:nvSpPr>
          <p:spPr bwMode="auto">
            <a:xfrm>
              <a:off x="1296" y="3456"/>
              <a:ext cx="3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$$$</a:t>
              </a:r>
            </a:p>
          </p:txBody>
        </p:sp>
        <p:sp>
          <p:nvSpPr>
            <p:cNvPr id="77842" name="Text Box 18"/>
            <p:cNvSpPr txBox="1">
              <a:spLocks noChangeArrowheads="1"/>
            </p:cNvSpPr>
            <p:nvPr/>
          </p:nvSpPr>
          <p:spPr bwMode="auto">
            <a:xfrm>
              <a:off x="768" y="2352"/>
              <a:ext cx="3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77843" name="Oval 55"/>
            <p:cNvSpPr>
              <a:spLocks noChangeArrowheads="1"/>
            </p:cNvSpPr>
            <p:nvPr/>
          </p:nvSpPr>
          <p:spPr bwMode="auto">
            <a:xfrm>
              <a:off x="720" y="2640"/>
              <a:ext cx="768" cy="384"/>
            </a:xfrm>
            <a:prstGeom prst="ellipse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Res</a:t>
              </a:r>
            </a:p>
          </p:txBody>
        </p:sp>
        <p:sp>
          <p:nvSpPr>
            <p:cNvPr id="77844" name="Line 20"/>
            <p:cNvSpPr>
              <a:spLocks noChangeShapeType="1"/>
            </p:cNvSpPr>
            <p:nvPr/>
          </p:nvSpPr>
          <p:spPr bwMode="auto">
            <a:xfrm flipH="1">
              <a:off x="816" y="3024"/>
              <a:ext cx="192" cy="19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45" name="Line 21"/>
            <p:cNvSpPr>
              <a:spLocks noChangeShapeType="1"/>
            </p:cNvSpPr>
            <p:nvPr/>
          </p:nvSpPr>
          <p:spPr bwMode="auto">
            <a:xfrm>
              <a:off x="1344" y="2976"/>
              <a:ext cx="240" cy="19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46" name="Text Box 22"/>
            <p:cNvSpPr txBox="1">
              <a:spLocks noChangeArrowheads="1"/>
            </p:cNvSpPr>
            <p:nvPr/>
          </p:nvSpPr>
          <p:spPr bwMode="auto">
            <a:xfrm>
              <a:off x="1488" y="2880"/>
              <a:ext cx="3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77847" name="Text Box 23"/>
            <p:cNvSpPr txBox="1">
              <a:spLocks noChangeArrowheads="1"/>
            </p:cNvSpPr>
            <p:nvPr/>
          </p:nvSpPr>
          <p:spPr bwMode="auto">
            <a:xfrm>
              <a:off x="528" y="292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77848" name="Rectangle 60"/>
            <p:cNvSpPr>
              <a:spLocks noChangeArrowheads="1"/>
            </p:cNvSpPr>
            <p:nvPr/>
          </p:nvSpPr>
          <p:spPr bwMode="auto">
            <a:xfrm>
              <a:off x="1536" y="3168"/>
              <a:ext cx="384" cy="240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77849" name="Text Box 25"/>
            <p:cNvSpPr txBox="1">
              <a:spLocks noChangeArrowheads="1"/>
            </p:cNvSpPr>
            <p:nvPr/>
          </p:nvSpPr>
          <p:spPr bwMode="auto">
            <a:xfrm>
              <a:off x="1636" y="3360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4/4</a:t>
              </a:r>
            </a:p>
          </p:txBody>
        </p:sp>
        <p:sp>
          <p:nvSpPr>
            <p:cNvPr id="77850" name="Line 26"/>
            <p:cNvSpPr>
              <a:spLocks noChangeShapeType="1"/>
            </p:cNvSpPr>
            <p:nvPr/>
          </p:nvSpPr>
          <p:spPr bwMode="auto">
            <a:xfrm>
              <a:off x="2304" y="2688"/>
              <a:ext cx="1152" cy="0"/>
            </a:xfrm>
            <a:prstGeom prst="line">
              <a:avLst/>
            </a:prstGeom>
            <a:noFill/>
            <a:ln w="76200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51" name="Oval 63"/>
            <p:cNvSpPr>
              <a:spLocks noChangeArrowheads="1"/>
            </p:cNvSpPr>
            <p:nvPr/>
          </p:nvSpPr>
          <p:spPr bwMode="auto">
            <a:xfrm>
              <a:off x="4176" y="2160"/>
              <a:ext cx="912" cy="384"/>
            </a:xfrm>
            <a:prstGeom prst="ellipse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Alt</a:t>
              </a:r>
            </a:p>
          </p:txBody>
        </p:sp>
        <p:sp>
          <p:nvSpPr>
            <p:cNvPr id="77852" name="Line 28"/>
            <p:cNvSpPr>
              <a:spLocks noChangeShapeType="1"/>
            </p:cNvSpPr>
            <p:nvPr/>
          </p:nvSpPr>
          <p:spPr bwMode="auto">
            <a:xfrm flipH="1">
              <a:off x="4224" y="2496"/>
              <a:ext cx="144" cy="28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53" name="Line 29"/>
            <p:cNvSpPr>
              <a:spLocks noChangeShapeType="1"/>
            </p:cNvSpPr>
            <p:nvPr/>
          </p:nvSpPr>
          <p:spPr bwMode="auto">
            <a:xfrm>
              <a:off x="4944" y="2496"/>
              <a:ext cx="144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54" name="Oval 66"/>
            <p:cNvSpPr>
              <a:spLocks noChangeArrowheads="1"/>
            </p:cNvSpPr>
            <p:nvPr/>
          </p:nvSpPr>
          <p:spPr bwMode="auto">
            <a:xfrm>
              <a:off x="3744" y="2784"/>
              <a:ext cx="816" cy="384"/>
            </a:xfrm>
            <a:prstGeom prst="ellipse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Price</a:t>
              </a:r>
            </a:p>
          </p:txBody>
        </p:sp>
        <p:sp>
          <p:nvSpPr>
            <p:cNvPr id="77855" name="Line 31"/>
            <p:cNvSpPr>
              <a:spLocks noChangeShapeType="1"/>
            </p:cNvSpPr>
            <p:nvPr/>
          </p:nvSpPr>
          <p:spPr bwMode="auto">
            <a:xfrm flipH="1">
              <a:off x="3744" y="3120"/>
              <a:ext cx="192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56" name="Line 32"/>
            <p:cNvSpPr>
              <a:spLocks noChangeShapeType="1"/>
            </p:cNvSpPr>
            <p:nvPr/>
          </p:nvSpPr>
          <p:spPr bwMode="auto">
            <a:xfrm>
              <a:off x="4416" y="3120"/>
              <a:ext cx="144" cy="19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57" name="Rectangle 69"/>
            <p:cNvSpPr>
              <a:spLocks noChangeArrowheads="1"/>
            </p:cNvSpPr>
            <p:nvPr/>
          </p:nvSpPr>
          <p:spPr bwMode="auto">
            <a:xfrm>
              <a:off x="3552" y="3360"/>
              <a:ext cx="384" cy="240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77858" name="Rectangle 70"/>
            <p:cNvSpPr>
              <a:spLocks noChangeArrowheads="1"/>
            </p:cNvSpPr>
            <p:nvPr/>
          </p:nvSpPr>
          <p:spPr bwMode="auto">
            <a:xfrm>
              <a:off x="3984" y="3360"/>
              <a:ext cx="384" cy="240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77859" name="Rectangle 71"/>
            <p:cNvSpPr>
              <a:spLocks noChangeArrowheads="1"/>
            </p:cNvSpPr>
            <p:nvPr/>
          </p:nvSpPr>
          <p:spPr bwMode="auto">
            <a:xfrm>
              <a:off x="4464" y="3312"/>
              <a:ext cx="384" cy="240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400" b="0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77860" name="Line 36"/>
            <p:cNvSpPr>
              <a:spLocks noChangeShapeType="1"/>
            </p:cNvSpPr>
            <p:nvPr/>
          </p:nvSpPr>
          <p:spPr bwMode="auto">
            <a:xfrm>
              <a:off x="4128" y="3168"/>
              <a:ext cx="0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7861" name="Text Box 37"/>
            <p:cNvSpPr txBox="1">
              <a:spLocks noChangeArrowheads="1"/>
            </p:cNvSpPr>
            <p:nvPr/>
          </p:nvSpPr>
          <p:spPr bwMode="auto">
            <a:xfrm>
              <a:off x="3590" y="304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$</a:t>
              </a:r>
            </a:p>
          </p:txBody>
        </p:sp>
        <p:sp>
          <p:nvSpPr>
            <p:cNvPr id="77862" name="Text Box 38"/>
            <p:cNvSpPr txBox="1">
              <a:spLocks noChangeArrowheads="1"/>
            </p:cNvSpPr>
            <p:nvPr/>
          </p:nvSpPr>
          <p:spPr bwMode="auto">
            <a:xfrm>
              <a:off x="3892" y="3144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$$</a:t>
              </a:r>
            </a:p>
          </p:txBody>
        </p:sp>
        <p:sp>
          <p:nvSpPr>
            <p:cNvPr id="77863" name="Text Box 39"/>
            <p:cNvSpPr txBox="1">
              <a:spLocks noChangeArrowheads="1"/>
            </p:cNvSpPr>
            <p:nvPr/>
          </p:nvSpPr>
          <p:spPr bwMode="auto">
            <a:xfrm>
              <a:off x="4464" y="3024"/>
              <a:ext cx="3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$$$</a:t>
              </a:r>
            </a:p>
          </p:txBody>
        </p:sp>
        <p:sp>
          <p:nvSpPr>
            <p:cNvPr id="77864" name="Text Box 40"/>
            <p:cNvSpPr txBox="1">
              <a:spLocks noChangeArrowheads="1"/>
            </p:cNvSpPr>
            <p:nvPr/>
          </p:nvSpPr>
          <p:spPr bwMode="auto">
            <a:xfrm>
              <a:off x="3936" y="2496"/>
              <a:ext cx="3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8216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1143000" y="381000"/>
            <a:ext cx="7543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Post-pruning: Techniques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839200" cy="3124200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20000"/>
          </a:bodyPr>
          <a:lstStyle/>
          <a:p>
            <a:r>
              <a:rPr lang="en-US" altLang="en-US" sz="2800" b="1" smtClean="0">
                <a:solidFill>
                  <a:srgbClr val="000066"/>
                </a:solidFill>
              </a:rPr>
              <a:t>Cost Complexity pruning Algorithm:</a:t>
            </a:r>
            <a:r>
              <a:rPr lang="en-US" altLang="en-US" sz="2800" smtClean="0"/>
              <a:t> pruning operation is performed if it does not increase the estimated error rate.</a:t>
            </a:r>
          </a:p>
          <a:p>
            <a:pPr lvl="1">
              <a:buClr>
                <a:srgbClr val="000066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smtClean="0"/>
              <a:t>Of course, error on the training data is not the useful estimator (would result in almost no pruning)</a:t>
            </a:r>
          </a:p>
          <a:p>
            <a:r>
              <a:rPr lang="en-US" altLang="en-US" sz="2800" b="1" smtClean="0">
                <a:solidFill>
                  <a:srgbClr val="000066"/>
                </a:solidFill>
              </a:rPr>
              <a:t>Minimum Description Length Algorithm:</a:t>
            </a:r>
            <a:r>
              <a:rPr lang="en-US" altLang="en-US" sz="2800" smtClean="0"/>
              <a:t> states that the best tree is the one that can be encoded using the fewest number of bits.</a:t>
            </a:r>
          </a:p>
          <a:p>
            <a:pPr lvl="1">
              <a:buClr>
                <a:srgbClr val="000066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2400" smtClean="0"/>
              <a:t>The challenge for the pruning phase is to find the subtree that can be encoded with the least number of bits.</a:t>
            </a:r>
          </a:p>
        </p:txBody>
      </p:sp>
    </p:spTree>
    <p:extLst>
      <p:ext uri="{BB962C8B-B14F-4D97-AF65-F5344CB8AC3E}">
        <p14:creationId xmlns:p14="http://schemas.microsoft.com/office/powerpoint/2010/main" val="308139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Methods of Estimation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580438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Holdout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Reserve 2/3 for training and 1/3 for testing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Random subsampling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Repeated holdout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Cross validation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Partition data into k disjoint subsets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k-fold: train on k-1 partitions, test on the remaining one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Leave-one-out:   k=n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Stratified sampling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oversampling vs undersampling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Bootstrap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Sampling with replacement</a:t>
            </a:r>
          </a:p>
        </p:txBody>
      </p:sp>
    </p:spTree>
    <p:extLst>
      <p:ext uri="{BB962C8B-B14F-4D97-AF65-F5344CB8AC3E}">
        <p14:creationId xmlns:p14="http://schemas.microsoft.com/office/powerpoint/2010/main" val="97936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en-US" altLang="en-US"/>
              <a:t>Different Learning Methods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Eager Learning</a:t>
            </a:r>
          </a:p>
          <a:p>
            <a:pPr lvl="1"/>
            <a:r>
              <a:rPr lang="en-US" altLang="en-US"/>
              <a:t>Explicit description of target function on the whole training set</a:t>
            </a:r>
          </a:p>
          <a:p>
            <a:r>
              <a:rPr lang="en-US" altLang="en-US"/>
              <a:t>Instance-based Learning</a:t>
            </a:r>
          </a:p>
          <a:p>
            <a:pPr lvl="1"/>
            <a:r>
              <a:rPr lang="en-US" altLang="en-US"/>
              <a:t>Learning=storing all training instances</a:t>
            </a:r>
          </a:p>
          <a:p>
            <a:pPr lvl="1"/>
            <a:r>
              <a:rPr lang="en-US" altLang="en-US"/>
              <a:t>Classification=assigning target function to a new instance</a:t>
            </a:r>
          </a:p>
          <a:p>
            <a:pPr lvl="1"/>
            <a:r>
              <a:rPr lang="en-US" altLang="en-US"/>
              <a:t>Referred to as “Lazy” learning</a:t>
            </a:r>
          </a:p>
        </p:txBody>
      </p:sp>
    </p:spTree>
    <p:extLst>
      <p:ext uri="{BB962C8B-B14F-4D97-AF65-F5344CB8AC3E}">
        <p14:creationId xmlns:p14="http://schemas.microsoft.com/office/powerpoint/2010/main" val="335978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en-US" altLang="en-US"/>
              <a:t>Different Learning Methods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Eager Learning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600200" y="3352800"/>
            <a:ext cx="1444625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ECA5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37" name="Oval 13"/>
          <p:cNvSpPr>
            <a:spLocks noChangeArrowheads="1"/>
          </p:cNvSpPr>
          <p:nvPr/>
        </p:nvSpPr>
        <p:spPr bwMode="auto">
          <a:xfrm>
            <a:off x="2895600" y="2590800"/>
            <a:ext cx="4267200" cy="1143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/>
              <a:t>Any random movement</a:t>
            </a:r>
          </a:p>
          <a:p>
            <a:pPr algn="ctr"/>
            <a:r>
              <a:rPr lang="en-US" altLang="en-US" sz="2000"/>
              <a:t>=&gt;It’s a mouse</a:t>
            </a:r>
          </a:p>
        </p:txBody>
      </p:sp>
      <p:sp>
        <p:nvSpPr>
          <p:cNvPr id="1038" name="Freeform 14"/>
          <p:cNvSpPr>
            <a:spLocks/>
          </p:cNvSpPr>
          <p:nvPr/>
        </p:nvSpPr>
        <p:spPr bwMode="auto">
          <a:xfrm>
            <a:off x="2133600" y="3276600"/>
            <a:ext cx="762000" cy="685800"/>
          </a:xfrm>
          <a:custGeom>
            <a:avLst/>
            <a:gdLst>
              <a:gd name="T0" fmla="*/ 0 w 720"/>
              <a:gd name="T1" fmla="*/ 288 h 288"/>
              <a:gd name="T2" fmla="*/ 528 w 720"/>
              <a:gd name="T3" fmla="*/ 192 h 288"/>
              <a:gd name="T4" fmla="*/ 288 w 720"/>
              <a:gd name="T5" fmla="*/ 144 h 288"/>
              <a:gd name="T6" fmla="*/ 720 w 720"/>
              <a:gd name="T7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20" h="288">
                <a:moveTo>
                  <a:pt x="0" y="288"/>
                </a:moveTo>
                <a:cubicBezTo>
                  <a:pt x="240" y="252"/>
                  <a:pt x="480" y="216"/>
                  <a:pt x="528" y="192"/>
                </a:cubicBezTo>
                <a:cubicBezTo>
                  <a:pt x="576" y="168"/>
                  <a:pt x="256" y="176"/>
                  <a:pt x="288" y="144"/>
                </a:cubicBezTo>
                <a:cubicBezTo>
                  <a:pt x="320" y="112"/>
                  <a:pt x="648" y="24"/>
                  <a:pt x="72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40" name="Oval 16"/>
          <p:cNvSpPr>
            <a:spLocks noChangeArrowheads="1"/>
          </p:cNvSpPr>
          <p:nvPr/>
        </p:nvSpPr>
        <p:spPr bwMode="auto">
          <a:xfrm>
            <a:off x="3429000" y="4648200"/>
            <a:ext cx="8382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1" name="Oval 17"/>
          <p:cNvSpPr>
            <a:spLocks noChangeArrowheads="1"/>
          </p:cNvSpPr>
          <p:nvPr/>
        </p:nvSpPr>
        <p:spPr bwMode="auto">
          <a:xfrm>
            <a:off x="4495800" y="4267200"/>
            <a:ext cx="25908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/>
              <a:t>I saw a mouse!</a:t>
            </a:r>
          </a:p>
        </p:txBody>
      </p:sp>
      <p:sp>
        <p:nvSpPr>
          <p:cNvPr id="1042" name="Line 18"/>
          <p:cNvSpPr>
            <a:spLocks noChangeShapeType="1"/>
          </p:cNvSpPr>
          <p:nvPr/>
        </p:nvSpPr>
        <p:spPr bwMode="auto">
          <a:xfrm>
            <a:off x="2590800" y="3962400"/>
            <a:ext cx="23622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07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7" grpId="0" animBg="1" autoUpdateAnimBg="0"/>
      <p:bldP spid="1038" grpId="0" animBg="1"/>
      <p:bldP spid="1040" grpId="0" animBg="1"/>
      <p:bldP spid="1041" grpId="0" animBg="1" autoUpdateAnimBg="0"/>
      <p:bldP spid="104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en-US" altLang="en-US"/>
              <a:t>Instance-based Learning</a:t>
            </a:r>
          </a:p>
        </p:txBody>
      </p:sp>
      <p:pic>
        <p:nvPicPr>
          <p:cNvPr id="8196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143000" y="3962400"/>
            <a:ext cx="1341438" cy="1905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D1ECA5"/>
                </a:solidFill>
              </a14:hiddenFill>
            </a:ext>
          </a:extLst>
        </p:spPr>
      </p:pic>
      <p:pic>
        <p:nvPicPr>
          <p:cNvPr id="8205" name="Picture 13" descr="graphic_prodserv_palm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362200"/>
            <a:ext cx="6858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dim_b_seri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514600"/>
            <a:ext cx="1143000" cy="86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7" name="Picture 1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667000" y="2743200"/>
            <a:ext cx="4953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ECA5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8" name="Picture 1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4953000" y="5029200"/>
            <a:ext cx="1066800" cy="81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ECA5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10" name="Picture 1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486400" y="2971800"/>
            <a:ext cx="9144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ECA5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12" name="Oval 20"/>
          <p:cNvSpPr>
            <a:spLocks noChangeArrowheads="1"/>
          </p:cNvSpPr>
          <p:nvPr/>
        </p:nvSpPr>
        <p:spPr bwMode="auto">
          <a:xfrm>
            <a:off x="2819400" y="3733800"/>
            <a:ext cx="3048000" cy="990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/>
              <a:t>Its very similar to a</a:t>
            </a:r>
          </a:p>
          <a:p>
            <a:pPr algn="ctr"/>
            <a:r>
              <a:rPr lang="en-US" altLang="en-US" sz="2000"/>
              <a:t>Desktop!!</a:t>
            </a:r>
          </a:p>
        </p:txBody>
      </p:sp>
      <p:sp>
        <p:nvSpPr>
          <p:cNvPr id="8213" name="Line 21"/>
          <p:cNvSpPr>
            <a:spLocks noChangeShapeType="1"/>
          </p:cNvSpPr>
          <p:nvPr/>
        </p:nvSpPr>
        <p:spPr bwMode="auto">
          <a:xfrm flipV="1">
            <a:off x="1981200" y="4267200"/>
            <a:ext cx="8382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6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" grpId="0" animBg="1" autoUpdateAnimBg="0"/>
      <p:bldP spid="82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Instance-Based Classifiers</a:t>
            </a:r>
          </a:p>
        </p:txBody>
      </p:sp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228600" y="1447800"/>
          <a:ext cx="457200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6" name="VISIO" r:id="rId3" imgW="4564380" imgH="5306568" progId="Visio.Drawing.6">
                  <p:embed/>
                </p:oleObj>
              </mc:Choice>
              <mc:Fallback>
                <p:oleObj name="VISIO" r:id="rId3" imgW="4564380" imgH="530656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447800"/>
                        <a:ext cx="4572000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4114800" y="3370263"/>
          <a:ext cx="2209800" cy="236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7" name="VISIO" r:id="rId5" imgW="2784348" imgH="2633472" progId="Visio.Drawing.6">
                  <p:embed/>
                </p:oleObj>
              </mc:Choice>
              <mc:Fallback>
                <p:oleObj name="VISIO" r:id="rId5" imgW="2784348" imgH="263347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70263"/>
                        <a:ext cx="2209800" cy="236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6096000" y="3733800"/>
          <a:ext cx="2895600" cy="198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8" name="VISIO" r:id="rId7" imgW="3229356" imgH="2029968" progId="Visio.Drawing.6">
                  <p:embed/>
                </p:oleObj>
              </mc:Choice>
              <mc:Fallback>
                <p:oleObj name="VISIO" r:id="rId7" imgW="3229356" imgH="202996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733800"/>
                        <a:ext cx="2895600" cy="198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5334000" y="1752600"/>
            <a:ext cx="3581400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Store the training records 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Use training records to </a:t>
            </a:r>
            <a:br>
              <a:rPr lang="en-US" altLang="en-US" sz="1800" b="1">
                <a:latin typeface="Arial" panose="020B0604020202020204" pitchFamily="34" charset="0"/>
              </a:rPr>
            </a:br>
            <a:r>
              <a:rPr lang="en-US" altLang="en-US" sz="1800" b="1">
                <a:latin typeface="Arial" panose="020B0604020202020204" pitchFamily="34" charset="0"/>
              </a:rPr>
              <a:t>   predict the class label of </a:t>
            </a:r>
            <a:br>
              <a:rPr lang="en-US" altLang="en-US" sz="1800" b="1">
                <a:latin typeface="Arial" panose="020B0604020202020204" pitchFamily="34" charset="0"/>
              </a:rPr>
            </a:br>
            <a:r>
              <a:rPr lang="en-US" altLang="en-US" sz="1800" b="1">
                <a:latin typeface="Arial" panose="020B0604020202020204" pitchFamily="34" charset="0"/>
              </a:rPr>
              <a:t>   unseen cases</a:t>
            </a:r>
          </a:p>
        </p:txBody>
      </p:sp>
    </p:spTree>
    <p:extLst>
      <p:ext uri="{BB962C8B-B14F-4D97-AF65-F5344CB8AC3E}">
        <p14:creationId xmlns:p14="http://schemas.microsoft.com/office/powerpoint/2010/main" val="1159502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Instance Based Classifiers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1"/>
            <a:ext cx="7981950" cy="4800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 smtClean="0"/>
              <a:t>Examples:</a:t>
            </a:r>
          </a:p>
          <a:p>
            <a:pPr lvl="1" eaLnBrk="1" hangingPunct="1">
              <a:defRPr/>
            </a:pPr>
            <a:r>
              <a:rPr lang="en-US" sz="2400" dirty="0" smtClean="0"/>
              <a:t>Rote-learner</a:t>
            </a:r>
          </a:p>
          <a:p>
            <a:pPr lvl="2" eaLnBrk="1" hangingPunct="1">
              <a:defRPr/>
            </a:pPr>
            <a:r>
              <a:rPr lang="en-US" sz="2000" dirty="0" smtClean="0"/>
              <a:t> </a:t>
            </a:r>
            <a:r>
              <a:rPr lang="en-US" sz="2200" dirty="0" smtClean="0"/>
              <a:t>Memorizes entire training data and performs classification only if attributes of record match one of the training examples exactly</a:t>
            </a:r>
          </a:p>
          <a:p>
            <a:pPr lvl="1" eaLnBrk="1" hangingPunct="1">
              <a:defRPr/>
            </a:pPr>
            <a:endParaRPr lang="en-US" sz="2400" dirty="0" smtClean="0"/>
          </a:p>
          <a:p>
            <a:pPr lvl="1" eaLnBrk="1" hangingPunct="1">
              <a:defRPr/>
            </a:pPr>
            <a:r>
              <a:rPr lang="en-US" sz="2400" dirty="0" smtClean="0"/>
              <a:t>Nearest neighbor</a:t>
            </a:r>
          </a:p>
          <a:p>
            <a:pPr lvl="2" eaLnBrk="1" hangingPunct="1">
              <a:defRPr/>
            </a:pPr>
            <a:r>
              <a:rPr lang="en-US" sz="2200" dirty="0" smtClean="0"/>
              <a:t> Uses k “closest” points (nearest neighbors) for performing classification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98480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Nearest Neighbor Classifiers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Basic idea:</a:t>
            </a:r>
          </a:p>
          <a:p>
            <a:pPr lvl="1" eaLnBrk="1" hangingPunct="1">
              <a:defRPr/>
            </a:pPr>
            <a:r>
              <a:rPr lang="en-US" smtClean="0"/>
              <a:t>If it walks like a duck, quacks like a duck, then it’s probably a duck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" y="2819400"/>
            <a:ext cx="8229600" cy="3429000"/>
            <a:chOff x="192" y="1776"/>
            <a:chExt cx="5184" cy="2160"/>
          </a:xfrm>
        </p:grpSpPr>
        <p:pic>
          <p:nvPicPr>
            <p:cNvPr id="7186" name="Picture 5" descr="j034580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4" y="2267"/>
              <a:ext cx="522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87" name="Picture 6" descr="j023958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8" y="2687"/>
              <a:ext cx="712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88" name="Picture 7" descr="j035038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4" y="2099"/>
              <a:ext cx="439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89" name="Picture 8" descr="j033063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1" y="2981"/>
              <a:ext cx="369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90" name="Picture 9" descr="j035038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3168"/>
              <a:ext cx="624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91" name="Picture 10" descr="j035035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9" y="2519"/>
              <a:ext cx="712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92" name="Oval 11"/>
            <p:cNvSpPr>
              <a:spLocks noChangeArrowheads="1"/>
            </p:cNvSpPr>
            <p:nvPr/>
          </p:nvSpPr>
          <p:spPr bwMode="auto">
            <a:xfrm>
              <a:off x="816" y="1776"/>
              <a:ext cx="2544" cy="216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7193" name="Text Box 12"/>
            <p:cNvSpPr txBox="1">
              <a:spLocks noChangeArrowheads="1"/>
            </p:cNvSpPr>
            <p:nvPr/>
          </p:nvSpPr>
          <p:spPr bwMode="auto">
            <a:xfrm>
              <a:off x="192" y="3312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Training Records</a:t>
              </a:r>
            </a:p>
          </p:txBody>
        </p:sp>
        <p:sp>
          <p:nvSpPr>
            <p:cNvPr id="7194" name="Text Box 13"/>
            <p:cNvSpPr txBox="1">
              <a:spLocks noChangeArrowheads="1"/>
            </p:cNvSpPr>
            <p:nvPr/>
          </p:nvSpPr>
          <p:spPr bwMode="auto">
            <a:xfrm>
              <a:off x="4512" y="2064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Test Record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2667000" y="3048000"/>
            <a:ext cx="4572000" cy="2286000"/>
            <a:chOff x="1680" y="1920"/>
            <a:chExt cx="2880" cy="1440"/>
          </a:xfrm>
        </p:grpSpPr>
        <p:sp>
          <p:nvSpPr>
            <p:cNvPr id="7179" name="Text Box 15"/>
            <p:cNvSpPr txBox="1">
              <a:spLocks noChangeArrowheads="1"/>
            </p:cNvSpPr>
            <p:nvPr/>
          </p:nvSpPr>
          <p:spPr bwMode="auto">
            <a:xfrm>
              <a:off x="3312" y="1920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Compute Distance</a:t>
              </a:r>
            </a:p>
          </p:txBody>
        </p:sp>
        <p:grpSp>
          <p:nvGrpSpPr>
            <p:cNvPr id="7180" name="Group 16"/>
            <p:cNvGrpSpPr>
              <a:grpSpLocks/>
            </p:cNvGrpSpPr>
            <p:nvPr/>
          </p:nvGrpSpPr>
          <p:grpSpPr bwMode="auto">
            <a:xfrm>
              <a:off x="1680" y="2256"/>
              <a:ext cx="2880" cy="1104"/>
              <a:chOff x="1680" y="2256"/>
              <a:chExt cx="2880" cy="1104"/>
            </a:xfrm>
          </p:grpSpPr>
          <p:sp>
            <p:nvSpPr>
              <p:cNvPr id="7181" name="Line 17"/>
              <p:cNvSpPr>
                <a:spLocks noChangeShapeType="1"/>
              </p:cNvSpPr>
              <p:nvPr/>
            </p:nvSpPr>
            <p:spPr bwMode="auto">
              <a:xfrm>
                <a:off x="2832" y="2256"/>
                <a:ext cx="1680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2" name="Line 18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3" name="Line 19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4" name="Line 20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283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5" name="Line 21"/>
              <p:cNvSpPr>
                <a:spLocks noChangeShapeType="1"/>
              </p:cNvSpPr>
              <p:nvPr/>
            </p:nvSpPr>
            <p:spPr bwMode="auto">
              <a:xfrm>
                <a:off x="1920" y="2352"/>
                <a:ext cx="2544" cy="5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4038600" y="4572000"/>
            <a:ext cx="3352800" cy="1327150"/>
            <a:chOff x="2544" y="2880"/>
            <a:chExt cx="2112" cy="836"/>
          </a:xfrm>
        </p:grpSpPr>
        <p:sp>
          <p:nvSpPr>
            <p:cNvPr id="7175" name="Text Box 23"/>
            <p:cNvSpPr txBox="1">
              <a:spLocks noChangeArrowheads="1"/>
            </p:cNvSpPr>
            <p:nvPr/>
          </p:nvSpPr>
          <p:spPr bwMode="auto">
            <a:xfrm>
              <a:off x="3264" y="3312"/>
              <a:ext cx="13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Choose k of the “nearest” records</a:t>
              </a:r>
            </a:p>
          </p:txBody>
        </p:sp>
        <p:grpSp>
          <p:nvGrpSpPr>
            <p:cNvPr id="7176" name="Group 24"/>
            <p:cNvGrpSpPr>
              <a:grpSpLocks/>
            </p:cNvGrpSpPr>
            <p:nvPr/>
          </p:nvGrpSpPr>
          <p:grpSpPr bwMode="auto">
            <a:xfrm>
              <a:off x="2544" y="2880"/>
              <a:ext cx="2016" cy="480"/>
              <a:chOff x="2544" y="2880"/>
              <a:chExt cx="2016" cy="480"/>
            </a:xfrm>
          </p:grpSpPr>
          <p:sp>
            <p:nvSpPr>
              <p:cNvPr id="7177" name="Line 25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8" name="Line 26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046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74638"/>
            <a:ext cx="7886700" cy="5635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1 nearest-neighbor</a:t>
            </a:r>
          </a:p>
        </p:txBody>
      </p:sp>
      <p:pic>
        <p:nvPicPr>
          <p:cNvPr id="10577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447800"/>
            <a:ext cx="6172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57796" name="Rectangle 4"/>
          <p:cNvSpPr>
            <a:spLocks noChangeArrowheads="1"/>
          </p:cNvSpPr>
          <p:nvPr/>
        </p:nvSpPr>
        <p:spPr bwMode="auto">
          <a:xfrm>
            <a:off x="381000" y="870857"/>
            <a:ext cx="7239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</a:pPr>
            <a:r>
              <a:rPr lang="en-US" altLang="en-US" b="0" dirty="0" err="1">
                <a:latin typeface="Arial" panose="020B0604020202020204" pitchFamily="34" charset="0"/>
              </a:rPr>
              <a:t>Voronoi</a:t>
            </a:r>
            <a:r>
              <a:rPr lang="en-US" altLang="en-US" b="0" dirty="0">
                <a:latin typeface="Arial" panose="020B0604020202020204" pitchFamily="34" charset="0"/>
              </a:rPr>
              <a:t> </a:t>
            </a:r>
            <a:r>
              <a:rPr lang="en-US" altLang="en-US" b="0" dirty="0" smtClean="0">
                <a:latin typeface="Arial" panose="020B0604020202020204" pitchFamily="34" charset="0"/>
              </a:rPr>
              <a:t>Diagram : </a:t>
            </a:r>
            <a:r>
              <a:rPr lang="en-US" altLang="en-US" dirty="0" smtClean="0"/>
              <a:t>Decision </a:t>
            </a:r>
            <a:r>
              <a:rPr lang="en-US" altLang="en-US" dirty="0"/>
              <a:t>surface formed by the training examples</a:t>
            </a: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altLang="en-US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59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Nearest-Neighbor Classifiers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4800600" y="1143000"/>
            <a:ext cx="4191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000">
                <a:latin typeface="Arial" panose="020B0604020202020204" pitchFamily="34" charset="0"/>
              </a:rPr>
              <a:t>Requires three things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2000">
                <a:latin typeface="Arial" panose="020B0604020202020204" pitchFamily="34" charset="0"/>
              </a:rPr>
              <a:t>The set of stored records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2000">
                <a:latin typeface="Arial" panose="020B0604020202020204" pitchFamily="34" charset="0"/>
              </a:rPr>
              <a:t>Distance Metric to compute distance between records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2000">
                <a:latin typeface="Arial" panose="020B0604020202020204" pitchFamily="34" charset="0"/>
              </a:rPr>
              <a:t>The value of </a:t>
            </a:r>
            <a:r>
              <a:rPr lang="en-US" altLang="en-US" sz="2000" i="1">
                <a:latin typeface="Arial" panose="020B0604020202020204" pitchFamily="34" charset="0"/>
              </a:rPr>
              <a:t>k</a:t>
            </a:r>
            <a:r>
              <a:rPr lang="en-US" altLang="en-US" sz="2000">
                <a:latin typeface="Arial" panose="020B0604020202020204" pitchFamily="34" charset="0"/>
              </a:rPr>
              <a:t>, the number of nearest neighbors to retrieve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 sz="2000">
                <a:latin typeface="Arial" panose="020B0604020202020204" pitchFamily="34" charset="0"/>
              </a:rPr>
              <a:t>To classify an unknown record: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2000">
                <a:latin typeface="Arial" panose="020B0604020202020204" pitchFamily="34" charset="0"/>
              </a:rPr>
              <a:t>Compute distance to other training records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2000">
                <a:latin typeface="Arial" panose="020B0604020202020204" pitchFamily="34" charset="0"/>
              </a:rPr>
              <a:t>Identify </a:t>
            </a:r>
            <a:r>
              <a:rPr lang="en-US" altLang="en-US" sz="2000" i="1">
                <a:latin typeface="Arial" panose="020B0604020202020204" pitchFamily="34" charset="0"/>
              </a:rPr>
              <a:t>k</a:t>
            </a:r>
            <a:r>
              <a:rPr lang="en-US" altLang="en-US" sz="2000">
                <a:latin typeface="Arial" panose="020B0604020202020204" pitchFamily="34" charset="0"/>
              </a:rPr>
              <a:t> nearest neighbors 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en-US" sz="2000">
                <a:latin typeface="Arial" panose="020B0604020202020204" pitchFamily="34" charset="0"/>
              </a:rPr>
              <a:t>Use class labels of nearest neighbors to determine the class label of unknown record (e.g., by taking majority vote)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457200" y="1143000"/>
          <a:ext cx="4316413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76" name="Visio" r:id="rId3" imgW="7007454" imgH="8108144" progId="Visio.Drawing.6">
                  <p:embed/>
                </p:oleObj>
              </mc:Choice>
              <mc:Fallback>
                <p:oleObj name="Visio" r:id="rId3" imgW="7007454" imgH="810814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143000"/>
                        <a:ext cx="4316413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102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Definition of Nearest Neighbor</a:t>
            </a:r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533400" y="1600200"/>
          <a:ext cx="7848600" cy="364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0" name="VISIO" r:id="rId3" imgW="9761220" imgH="4517136" progId="Visio.Drawing.6">
                  <p:embed/>
                </p:oleObj>
              </mc:Choice>
              <mc:Fallback>
                <p:oleObj name="VISIO" r:id="rId3" imgW="9761220" imgH="451713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00200"/>
                        <a:ext cx="7848600" cy="364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762000" y="5257800"/>
            <a:ext cx="7696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    K-nearest neighbors of a record x are data points that have the k smallest distance to x</a:t>
            </a:r>
          </a:p>
        </p:txBody>
      </p:sp>
    </p:spTree>
    <p:extLst>
      <p:ext uri="{BB962C8B-B14F-4D97-AF65-F5344CB8AC3E}">
        <p14:creationId xmlns:p14="http://schemas.microsoft.com/office/powerpoint/2010/main" val="1891441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Nearest Neighbor Classification…</a:t>
            </a: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1"/>
            <a:ext cx="8058150" cy="4724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Choosing the value of k:</a:t>
            </a:r>
          </a:p>
          <a:p>
            <a:pPr lvl="1" eaLnBrk="1" hangingPunct="1">
              <a:defRPr/>
            </a:pPr>
            <a:r>
              <a:rPr lang="en-US" sz="2400" dirty="0" smtClean="0"/>
              <a:t>If k is too small, sensitive to noise points</a:t>
            </a:r>
          </a:p>
          <a:p>
            <a:pPr lvl="1" eaLnBrk="1" hangingPunct="1">
              <a:defRPr/>
            </a:pPr>
            <a:r>
              <a:rPr lang="en-US" sz="2400" dirty="0" smtClean="0"/>
              <a:t>If k is too large, neighborhood may include points from other classes</a:t>
            </a: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3962400" y="3505200"/>
          <a:ext cx="3738563" cy="317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8" name="Visio" r:id="rId3" imgW="6582512" imgH="5298053" progId="Visio.Drawing.6">
                  <p:embed/>
                </p:oleObj>
              </mc:Choice>
              <mc:Fallback>
                <p:oleObj name="Visio" r:id="rId3" imgW="6582512" imgH="5298053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505200"/>
                        <a:ext cx="3738563" cy="317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280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981201"/>
            <a:ext cx="7886700" cy="311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55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Nearest Neighbor Classification</a:t>
            </a:r>
          </a:p>
        </p:txBody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763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Compute distance between two points:</a:t>
            </a:r>
          </a:p>
          <a:p>
            <a:pPr lvl="1" eaLnBrk="1" hangingPunct="1">
              <a:defRPr/>
            </a:pPr>
            <a:r>
              <a:rPr lang="en-US" dirty="0" smtClean="0"/>
              <a:t>Euclidean distance </a:t>
            </a:r>
          </a:p>
          <a:p>
            <a:pPr lvl="1" eaLnBrk="1" hangingPunct="1">
              <a:defRPr/>
            </a:pPr>
            <a:endParaRPr lang="en-US" dirty="0" smtClean="0"/>
          </a:p>
          <a:p>
            <a:pPr lvl="1" eaLnBrk="1" hangingPunct="1">
              <a:defRPr/>
            </a:pPr>
            <a:endParaRPr lang="en-US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 smtClean="0"/>
              <a:t>Determine the class from nearest neighbor list</a:t>
            </a:r>
          </a:p>
          <a:p>
            <a:pPr lvl="1" eaLnBrk="1" hangingPunct="1">
              <a:defRPr/>
            </a:pPr>
            <a:r>
              <a:rPr lang="en-US" dirty="0" smtClean="0"/>
              <a:t>take the majority vote of class labels among the k-nearest neighbors</a:t>
            </a:r>
          </a:p>
          <a:p>
            <a:pPr lvl="1" eaLnBrk="1" hangingPunct="1">
              <a:defRPr/>
            </a:pPr>
            <a:r>
              <a:rPr lang="en-US" dirty="0" smtClean="0"/>
              <a:t>Weigh the vote according to distance</a:t>
            </a:r>
          </a:p>
          <a:p>
            <a:pPr lvl="2" eaLnBrk="1" hangingPunct="1">
              <a:defRPr/>
            </a:pPr>
            <a:r>
              <a:rPr lang="en-US" dirty="0" smtClean="0"/>
              <a:t> </a:t>
            </a:r>
            <a:r>
              <a:rPr lang="en-US" sz="2000" dirty="0" smtClean="0"/>
              <a:t>weight factor, w = 1/d</a:t>
            </a:r>
            <a:r>
              <a:rPr lang="en-US" sz="2000" baseline="30000" dirty="0" smtClean="0"/>
              <a:t>2</a:t>
            </a:r>
            <a:endParaRPr lang="en-US" baseline="30000" dirty="0" smtClean="0"/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/>
          </p:nvPr>
        </p:nvGraphicFramePr>
        <p:xfrm>
          <a:off x="1905000" y="2362200"/>
          <a:ext cx="48768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4" name="Equation" r:id="rId3" imgW="2705100" imgH="457200" progId="Equation.3">
                  <p:embed/>
                </p:oleObj>
              </mc:Choice>
              <mc:Fallback>
                <p:oleObj name="Equation" r:id="rId3" imgW="2705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362200"/>
                        <a:ext cx="48768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467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Distance-Weighted Nearest Neighbor Algorithm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Assign weights to the neighbors based on their ‘distance’ from the query point</a:t>
            </a:r>
          </a:p>
          <a:p>
            <a:pPr lvl="1"/>
            <a:r>
              <a:rPr lang="en-US" altLang="en-US" dirty="0"/>
              <a:t>Weight ‘may’ be inverse square of the distances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altLang="en-US" dirty="0"/>
              <a:t>All training points may influence a particular </a:t>
            </a:r>
            <a:r>
              <a:rPr lang="en-US" altLang="en-US" dirty="0" smtClean="0"/>
              <a:t>instance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35127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Nearest Neighbor Classification…</a:t>
            </a:r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058150" cy="4572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 smtClean="0"/>
              <a:t>Scaling issues</a:t>
            </a:r>
          </a:p>
          <a:p>
            <a:pPr lvl="1" eaLnBrk="1" hangingPunct="1">
              <a:defRPr/>
            </a:pPr>
            <a:r>
              <a:rPr lang="en-US" sz="2400" dirty="0" smtClean="0"/>
              <a:t>Attributes may have to be scaled to prevent distance measures from being dominated by one of the attributes</a:t>
            </a:r>
          </a:p>
          <a:p>
            <a:pPr lvl="1" eaLnBrk="1" hangingPunct="1">
              <a:defRPr/>
            </a:pPr>
            <a:r>
              <a:rPr lang="en-US" sz="2400" dirty="0" smtClean="0"/>
              <a:t>Example:</a:t>
            </a:r>
          </a:p>
          <a:p>
            <a:pPr lvl="2" eaLnBrk="1" hangingPunct="1">
              <a:defRPr/>
            </a:pPr>
            <a:r>
              <a:rPr lang="en-US" sz="2000" dirty="0" smtClean="0"/>
              <a:t> height of a person may vary from 1.5m to 1.8m</a:t>
            </a:r>
          </a:p>
          <a:p>
            <a:pPr lvl="2" eaLnBrk="1" hangingPunct="1">
              <a:defRPr/>
            </a:pPr>
            <a:r>
              <a:rPr lang="en-US" sz="2000" dirty="0" smtClean="0"/>
              <a:t> weight of a person may vary from 90lb to 300lb</a:t>
            </a:r>
          </a:p>
          <a:p>
            <a:pPr lvl="2" eaLnBrk="1" hangingPunct="1">
              <a:defRPr/>
            </a:pPr>
            <a:r>
              <a:rPr lang="en-US" sz="2000" dirty="0" smtClean="0"/>
              <a:t> income of a person may vary from $10K to $1M</a:t>
            </a:r>
          </a:p>
        </p:txBody>
      </p:sp>
    </p:spTree>
    <p:extLst>
      <p:ext uri="{BB962C8B-B14F-4D97-AF65-F5344CB8AC3E}">
        <p14:creationId xmlns:p14="http://schemas.microsoft.com/office/powerpoint/2010/main" val="190257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Nearest Neighbor Classification…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Problem with Euclidean measure:</a:t>
            </a:r>
          </a:p>
          <a:p>
            <a:pPr lvl="1" eaLnBrk="1" hangingPunct="1">
              <a:defRPr/>
            </a:pPr>
            <a:r>
              <a:rPr lang="en-US" smtClean="0"/>
              <a:t>High dimensional data </a:t>
            </a:r>
          </a:p>
          <a:p>
            <a:pPr lvl="2" eaLnBrk="1" hangingPunct="1">
              <a:defRPr/>
            </a:pPr>
            <a:r>
              <a:rPr lang="en-US" smtClean="0"/>
              <a:t> </a:t>
            </a:r>
            <a:r>
              <a:rPr lang="en-US" smtClean="0">
                <a:solidFill>
                  <a:srgbClr val="FF0000"/>
                </a:solidFill>
              </a:rPr>
              <a:t>curse of dimensionality</a:t>
            </a:r>
          </a:p>
          <a:p>
            <a:pPr lvl="1" eaLnBrk="1" hangingPunct="1">
              <a:defRPr/>
            </a:pPr>
            <a:r>
              <a:rPr lang="en-US" smtClean="0"/>
              <a:t>Can produce counter-intuitive results</a:t>
            </a:r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457200" y="3581400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1 1 1 1 1 1 1 1 1 1 1 0</a:t>
            </a: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457200" y="4267200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0 1 1 1 1 1 1 1 1 1 1 1</a:t>
            </a: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4876800" y="3594100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1 0 0 0 0 0 0 0 0 0 0 0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4876800" y="4279900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0 0 0 0 0 0 0 0 0 0 0 1</a:t>
            </a: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3962400" y="3898900"/>
            <a:ext cx="558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vs</a:t>
            </a:r>
          </a:p>
        </p:txBody>
      </p:sp>
      <p:sp>
        <p:nvSpPr>
          <p:cNvPr id="303113" name="Text Box 9"/>
          <p:cNvSpPr txBox="1">
            <a:spLocks noChangeArrowheads="1"/>
          </p:cNvSpPr>
          <p:nvPr/>
        </p:nvSpPr>
        <p:spPr bwMode="auto">
          <a:xfrm>
            <a:off x="1295400" y="487680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d = 1.4142</a:t>
            </a:r>
          </a:p>
        </p:txBody>
      </p:sp>
      <p:sp>
        <p:nvSpPr>
          <p:cNvPr id="303114" name="Text Box 10"/>
          <p:cNvSpPr txBox="1">
            <a:spLocks noChangeArrowheads="1"/>
          </p:cNvSpPr>
          <p:nvPr/>
        </p:nvSpPr>
        <p:spPr bwMode="auto">
          <a:xfrm>
            <a:off x="5715000" y="487680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d = 1.4142</a:t>
            </a:r>
          </a:p>
        </p:txBody>
      </p:sp>
      <p:sp>
        <p:nvSpPr>
          <p:cNvPr id="303115" name="Rectangle 11"/>
          <p:cNvSpPr>
            <a:spLocks noChangeArrowheads="1"/>
          </p:cNvSpPr>
          <p:nvPr/>
        </p:nvSpPr>
        <p:spPr bwMode="auto">
          <a:xfrm>
            <a:off x="457200" y="5334000"/>
            <a:ext cx="8318500" cy="106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1143000" lvl="2" indent="-228600" eaLnBrk="1" hangingPunct="1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 Solution: Normalize the vectors to unit length</a:t>
            </a:r>
          </a:p>
        </p:txBody>
      </p:sp>
    </p:spTree>
    <p:extLst>
      <p:ext uri="{BB962C8B-B14F-4D97-AF65-F5344CB8AC3E}">
        <p14:creationId xmlns:p14="http://schemas.microsoft.com/office/powerpoint/2010/main" val="361949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13" grpId="0" autoUpdateAnimBg="0"/>
      <p:bldP spid="303114" grpId="0" autoUpdateAnimBg="0"/>
      <p:bldP spid="30311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Classification…</a:t>
            </a:r>
          </a:p>
        </p:txBody>
      </p:sp>
      <p:sp>
        <p:nvSpPr>
          <p:cNvPr id="1062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k-NN classifiers are </a:t>
            </a:r>
            <a:r>
              <a:rPr lang="en-US" dirty="0">
                <a:solidFill>
                  <a:srgbClr val="FF0000"/>
                </a:solidFill>
              </a:rPr>
              <a:t>lazy learners </a:t>
            </a:r>
          </a:p>
          <a:p>
            <a:pPr lvl="1"/>
            <a:r>
              <a:rPr lang="en-US" dirty="0"/>
              <a:t>It does not build models explicitly</a:t>
            </a:r>
          </a:p>
          <a:p>
            <a:pPr lvl="1"/>
            <a:r>
              <a:rPr lang="en-US" dirty="0"/>
              <a:t>Unlike </a:t>
            </a:r>
            <a:r>
              <a:rPr lang="en-US" dirty="0">
                <a:solidFill>
                  <a:srgbClr val="0070C0"/>
                </a:solidFill>
              </a:rPr>
              <a:t>eager learners </a:t>
            </a:r>
            <a:r>
              <a:rPr lang="en-US" dirty="0"/>
              <a:t>such as decision tree induction and rule-based systems</a:t>
            </a:r>
          </a:p>
          <a:p>
            <a:r>
              <a:rPr lang="en-US" dirty="0"/>
              <a:t>Classifying unknown records are relatively </a:t>
            </a:r>
            <a:r>
              <a:rPr lang="en-US" dirty="0" smtClean="0"/>
              <a:t>expensive</a:t>
            </a:r>
          </a:p>
          <a:p>
            <a:pPr lvl="1"/>
            <a:r>
              <a:rPr lang="en-US" dirty="0" smtClean="0"/>
              <a:t>Naïve algorithm: O(n)</a:t>
            </a:r>
          </a:p>
          <a:p>
            <a:pPr lvl="1"/>
            <a:r>
              <a:rPr lang="en-US" dirty="0" smtClean="0"/>
              <a:t>Need for structures to retrieve nearest neighbors fast.</a:t>
            </a:r>
          </a:p>
          <a:p>
            <a:pPr lvl="2"/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Nearest Neighbor Search </a:t>
            </a:r>
            <a:r>
              <a:rPr lang="en-US" dirty="0" smtClean="0"/>
              <a:t>problem.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51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6009</TotalTime>
  <Words>1033</Words>
  <Application>Microsoft Office PowerPoint</Application>
  <PresentationFormat>On-screen Show (4:3)</PresentationFormat>
  <Paragraphs>208</Paragraphs>
  <Slides>25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Calibri</vt:lpstr>
      <vt:lpstr>Monotype Sorts</vt:lpstr>
      <vt:lpstr>Symbol</vt:lpstr>
      <vt:lpstr>Tahoma</vt:lpstr>
      <vt:lpstr>Times New Roman</vt:lpstr>
      <vt:lpstr>Wingdings</vt:lpstr>
      <vt:lpstr>Blank</vt:lpstr>
      <vt:lpstr>VISIO</vt:lpstr>
      <vt:lpstr>Visio</vt:lpstr>
      <vt:lpstr>Equation</vt:lpstr>
      <vt:lpstr>Classification</vt:lpstr>
      <vt:lpstr>PowerPoint Presentation</vt:lpstr>
      <vt:lpstr>How to Address Overfitting</vt:lpstr>
      <vt:lpstr>How to Address Overfitting…</vt:lpstr>
      <vt:lpstr>Example of Post-Pruning</vt:lpstr>
      <vt:lpstr>PowerPoint Presentation</vt:lpstr>
      <vt:lpstr>PowerPoint Presentation</vt:lpstr>
      <vt:lpstr>PowerPoint Presentation</vt:lpstr>
      <vt:lpstr>Methods of Estimation</vt:lpstr>
      <vt:lpstr>Different Learning Methods</vt:lpstr>
      <vt:lpstr>Different Learning Methods</vt:lpstr>
      <vt:lpstr>Instance-based Learning</vt:lpstr>
      <vt:lpstr>Instance-Based Classifiers</vt:lpstr>
      <vt:lpstr>Instance Based Classifiers</vt:lpstr>
      <vt:lpstr>Nearest Neighbor Classifiers</vt:lpstr>
      <vt:lpstr>1 nearest-neighbor</vt:lpstr>
      <vt:lpstr>Nearest-Neighbor Classifiers</vt:lpstr>
      <vt:lpstr>Definition of Nearest Neighbor</vt:lpstr>
      <vt:lpstr>Nearest Neighbor Classification…</vt:lpstr>
      <vt:lpstr>PowerPoint Presentation</vt:lpstr>
      <vt:lpstr>Nearest Neighbor Classification</vt:lpstr>
      <vt:lpstr>Distance-Weighted Nearest Neighbor Algorithm</vt:lpstr>
      <vt:lpstr>Nearest Neighbor Classification…</vt:lpstr>
      <vt:lpstr>Nearest Neighbor Classification…</vt:lpstr>
      <vt:lpstr>Nearest neighbor Classification…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Sharma</dc:creator>
  <cp:lastModifiedBy>yash Sharma</cp:lastModifiedBy>
  <cp:revision>248</cp:revision>
  <cp:lastPrinted>1601-01-01T00:00:00Z</cp:lastPrinted>
  <dcterms:created xsi:type="dcterms:W3CDTF">1601-01-01T00:00:00Z</dcterms:created>
  <dcterms:modified xsi:type="dcterms:W3CDTF">2018-02-14T10:20:27Z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