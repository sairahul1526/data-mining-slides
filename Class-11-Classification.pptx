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59" r:id="rId1"/>
  </p:sldMasterIdLst>
  <p:notesMasterIdLst>
    <p:notesMasterId r:id="rId42"/>
  </p:notesMasterIdLst>
  <p:sldIdLst>
    <p:sldId id="256" r:id="rId2"/>
    <p:sldId id="257" r:id="rId3"/>
    <p:sldId id="363" r:id="rId4"/>
    <p:sldId id="358" r:id="rId5"/>
    <p:sldId id="259" r:id="rId6"/>
    <p:sldId id="362" r:id="rId7"/>
    <p:sldId id="361"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x="9144000" cy="6858000" type="screen4x3"/>
  <p:notesSz cx="7302500" cy="95885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8E2635"/>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234" y="108"/>
      </p:cViewPr>
      <p:guideLst>
        <p:guide orient="horz" pos="2160"/>
        <p:guide pos="2880"/>
      </p:guideLst>
    </p:cSldViewPr>
  </p:slideViewPr>
  <p:notesTextViewPr>
    <p:cViewPr>
      <p:scale>
        <a:sx n="100" d="100"/>
        <a:sy n="100" d="100"/>
      </p:scale>
      <p:origin x="0" y="0"/>
    </p:cViewPr>
  </p:notesTextViewPr>
  <p:sorterViewPr>
    <p:cViewPr>
      <p:scale>
        <a:sx n="75" d="100"/>
        <a:sy n="75" d="100"/>
      </p:scale>
      <p:origin x="0" y="1718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image" Target="../media/image25.emf"/><Relationship Id="rId5" Type="http://schemas.openxmlformats.org/officeDocument/2006/relationships/image" Target="../media/image29.emf"/><Relationship Id="rId4" Type="http://schemas.openxmlformats.org/officeDocument/2006/relationships/image" Target="../media/image28.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 Id="rId5" Type="http://schemas.openxmlformats.org/officeDocument/2006/relationships/image" Target="../media/image34.wmf"/><Relationship Id="rId4" Type="http://schemas.openxmlformats.org/officeDocument/2006/relationships/image" Target="../media/image33.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4" Type="http://schemas.openxmlformats.org/officeDocument/2006/relationships/image" Target="../media/image30.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image" Target="../media/image44.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163888" cy="479425"/>
          </a:xfrm>
          <a:prstGeom prst="rect">
            <a:avLst/>
          </a:prstGeom>
          <a:noFill/>
          <a:ln w="9525">
            <a:noFill/>
            <a:miter lim="800000"/>
            <a:headEnd/>
            <a:tailEnd/>
          </a:ln>
          <a:effectLst/>
        </p:spPr>
        <p:txBody>
          <a:bodyPr vert="horz" wrap="square" lIns="96515" tIns="48257" rIns="96515" bIns="48257" numCol="1" anchor="t" anchorCtr="0" compatLnSpc="1">
            <a:prstTxWarp prst="textNoShape">
              <a:avLst/>
            </a:prstTxWarp>
          </a:bodyPr>
          <a:lstStyle>
            <a:lvl1pPr defTabSz="965200" eaLnBrk="1" hangingPunct="1">
              <a:defRPr sz="1300">
                <a:latin typeface="Arial" charset="0"/>
              </a:defRPr>
            </a:lvl1pPr>
          </a:lstStyle>
          <a:p>
            <a:pPr>
              <a:defRPr/>
            </a:pPr>
            <a:endParaRPr lang="en-US"/>
          </a:p>
        </p:txBody>
      </p:sp>
      <p:sp>
        <p:nvSpPr>
          <p:cNvPr id="11267" name="Rectangle 3"/>
          <p:cNvSpPr>
            <a:spLocks noGrp="1" noChangeArrowheads="1"/>
          </p:cNvSpPr>
          <p:nvPr>
            <p:ph type="dt" idx="1"/>
          </p:nvPr>
        </p:nvSpPr>
        <p:spPr bwMode="auto">
          <a:xfrm>
            <a:off x="4137025" y="0"/>
            <a:ext cx="3163888" cy="479425"/>
          </a:xfrm>
          <a:prstGeom prst="rect">
            <a:avLst/>
          </a:prstGeom>
          <a:noFill/>
          <a:ln w="9525">
            <a:noFill/>
            <a:miter lim="800000"/>
            <a:headEnd/>
            <a:tailEnd/>
          </a:ln>
          <a:effectLst/>
        </p:spPr>
        <p:txBody>
          <a:bodyPr vert="horz" wrap="square" lIns="96515" tIns="48257" rIns="96515" bIns="48257" numCol="1" anchor="t" anchorCtr="0" compatLnSpc="1">
            <a:prstTxWarp prst="textNoShape">
              <a:avLst/>
            </a:prstTxWarp>
          </a:bodyPr>
          <a:lstStyle>
            <a:lvl1pPr algn="r" defTabSz="965200" eaLnBrk="1" hangingPunct="1">
              <a:defRPr sz="1300">
                <a:latin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254125" y="719138"/>
            <a:ext cx="4794250" cy="3595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p:cNvSpPr>
            <a:spLocks noGrp="1" noChangeArrowheads="1"/>
          </p:cNvSpPr>
          <p:nvPr>
            <p:ph type="body" sz="quarter" idx="3"/>
          </p:nvPr>
        </p:nvSpPr>
        <p:spPr bwMode="auto">
          <a:xfrm>
            <a:off x="730250" y="4554538"/>
            <a:ext cx="5842000" cy="4314825"/>
          </a:xfrm>
          <a:prstGeom prst="rect">
            <a:avLst/>
          </a:prstGeom>
          <a:noFill/>
          <a:ln w="9525">
            <a:noFill/>
            <a:miter lim="800000"/>
            <a:headEnd/>
            <a:tailEnd/>
          </a:ln>
          <a:effectLst/>
        </p:spPr>
        <p:txBody>
          <a:bodyPr vert="horz" wrap="square" lIns="96515" tIns="48257" rIns="96515" bIns="4825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1270" name="Rectangle 6"/>
          <p:cNvSpPr>
            <a:spLocks noGrp="1" noChangeArrowheads="1"/>
          </p:cNvSpPr>
          <p:nvPr>
            <p:ph type="ftr" sz="quarter" idx="4"/>
          </p:nvPr>
        </p:nvSpPr>
        <p:spPr bwMode="auto">
          <a:xfrm>
            <a:off x="0" y="9107488"/>
            <a:ext cx="3163888" cy="479425"/>
          </a:xfrm>
          <a:prstGeom prst="rect">
            <a:avLst/>
          </a:prstGeom>
          <a:noFill/>
          <a:ln w="9525">
            <a:noFill/>
            <a:miter lim="800000"/>
            <a:headEnd/>
            <a:tailEnd/>
          </a:ln>
          <a:effectLst/>
        </p:spPr>
        <p:txBody>
          <a:bodyPr vert="horz" wrap="square" lIns="96515" tIns="48257" rIns="96515" bIns="48257" numCol="1" anchor="b" anchorCtr="0" compatLnSpc="1">
            <a:prstTxWarp prst="textNoShape">
              <a:avLst/>
            </a:prstTxWarp>
          </a:bodyPr>
          <a:lstStyle>
            <a:lvl1pPr defTabSz="965200" eaLnBrk="1" hangingPunct="1">
              <a:defRPr sz="1300">
                <a:latin typeface="Arial" charset="0"/>
              </a:defRPr>
            </a:lvl1pPr>
          </a:lstStyle>
          <a:p>
            <a:pPr>
              <a:defRPr/>
            </a:pPr>
            <a:endParaRPr lang="en-US"/>
          </a:p>
        </p:txBody>
      </p:sp>
      <p:sp>
        <p:nvSpPr>
          <p:cNvPr id="11271" name="Rectangle 7"/>
          <p:cNvSpPr>
            <a:spLocks noGrp="1" noChangeArrowheads="1"/>
          </p:cNvSpPr>
          <p:nvPr>
            <p:ph type="sldNum" sz="quarter" idx="5"/>
          </p:nvPr>
        </p:nvSpPr>
        <p:spPr bwMode="auto">
          <a:xfrm>
            <a:off x="4137025" y="9107488"/>
            <a:ext cx="3163888" cy="479425"/>
          </a:xfrm>
          <a:prstGeom prst="rect">
            <a:avLst/>
          </a:prstGeom>
          <a:noFill/>
          <a:ln w="9525">
            <a:noFill/>
            <a:miter lim="800000"/>
            <a:headEnd/>
            <a:tailEnd/>
          </a:ln>
          <a:effectLst/>
        </p:spPr>
        <p:txBody>
          <a:bodyPr vert="horz" wrap="square" lIns="96515" tIns="48257" rIns="96515" bIns="48257" numCol="1" anchor="b" anchorCtr="0" compatLnSpc="1">
            <a:prstTxWarp prst="textNoShape">
              <a:avLst/>
            </a:prstTxWarp>
          </a:bodyPr>
          <a:lstStyle>
            <a:lvl1pPr algn="r" defTabSz="965200" eaLnBrk="1" hangingPunct="1">
              <a:defRPr sz="1300">
                <a:latin typeface="Arial" panose="020B0604020202020204" pitchFamily="34" charset="0"/>
              </a:defRPr>
            </a:lvl1pPr>
          </a:lstStyle>
          <a:p>
            <a:pPr>
              <a:defRPr/>
            </a:pPr>
            <a:fld id="{BB7CBCB5-AD2F-4B40-865E-77C0A819D52F}" type="slidenum">
              <a:rPr lang="en-US" altLang="en-US"/>
              <a:pPr>
                <a:defRPr/>
              </a:pPr>
              <a:t>‹#›</a:t>
            </a:fld>
            <a:endParaRPr lang="en-US" altLang="en-US"/>
          </a:p>
        </p:txBody>
      </p:sp>
    </p:spTree>
    <p:extLst>
      <p:ext uri="{BB962C8B-B14F-4D97-AF65-F5344CB8AC3E}">
        <p14:creationId xmlns:p14="http://schemas.microsoft.com/office/powerpoint/2010/main" val="30173771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0BD4A51E-FF96-449E-84F2-6968A6A9B5B9}" type="slidenum">
              <a:rPr lang="en-US" altLang="en-US" smtClean="0">
                <a:latin typeface="Arial" panose="020B0604020202020204" pitchFamily="34" charset="0"/>
              </a:rPr>
              <a:pPr/>
              <a:t>2</a:t>
            </a:fld>
            <a:endParaRPr lang="en-US" altLang="en-US" smtClean="0">
              <a:latin typeface="Arial" panose="020B0604020202020204" pitchFamily="34" charset="0"/>
            </a:endParaRPr>
          </a:p>
        </p:txBody>
      </p:sp>
      <p:sp>
        <p:nvSpPr>
          <p:cNvPr id="6147" name="Rectangle 2"/>
          <p:cNvSpPr>
            <a:spLocks noGrp="1" noRot="1" noChangeAspect="1" noChangeArrowheads="1" noTextEdit="1"/>
          </p:cNvSpPr>
          <p:nvPr>
            <p:ph type="sldImg"/>
          </p:nvPr>
        </p:nvSpPr>
        <p:spPr>
          <a:xfrm>
            <a:off x="1258888" y="719138"/>
            <a:ext cx="4792662" cy="3594100"/>
          </a:xfrm>
          <a:ln/>
        </p:spPr>
      </p:sp>
      <p:sp>
        <p:nvSpPr>
          <p:cNvPr id="6148" name="Rectangle 3"/>
          <p:cNvSpPr>
            <a:spLocks noGrp="1" noChangeArrowheads="1"/>
          </p:cNvSpPr>
          <p:nvPr>
            <p:ph type="body" idx="1"/>
          </p:nvPr>
        </p:nvSpPr>
        <p:spPr>
          <a:xfrm>
            <a:off x="973138" y="4552950"/>
            <a:ext cx="5356225" cy="43164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873" tIns="47437" rIns="94873" bIns="47437"/>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834199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74DD3F5C-DBE0-49D9-BCF2-221D7252C7AD}" type="slidenum">
              <a:rPr lang="en-US" altLang="en-US" smtClean="0">
                <a:latin typeface="Arial" panose="020B0604020202020204" pitchFamily="34" charset="0"/>
              </a:rPr>
              <a:pPr/>
              <a:t>4</a:t>
            </a:fld>
            <a:endParaRPr lang="en-US" altLang="en-US" smtClean="0">
              <a:latin typeface="Arial" panose="020B0604020202020204" pitchFamily="34" charset="0"/>
            </a:endParaRPr>
          </a:p>
        </p:txBody>
      </p:sp>
      <p:sp>
        <p:nvSpPr>
          <p:cNvPr id="10243" name="Rectangle 2"/>
          <p:cNvSpPr>
            <a:spLocks noGrp="1" noRot="1" noChangeAspect="1" noChangeArrowheads="1" noTextEdit="1"/>
          </p:cNvSpPr>
          <p:nvPr>
            <p:ph type="sldImg"/>
          </p:nvPr>
        </p:nvSpPr>
        <p:spPr>
          <a:xfrm>
            <a:off x="1257300" y="720725"/>
            <a:ext cx="4789488" cy="3592513"/>
          </a:xfrm>
          <a:ln w="12700" cap="flat"/>
        </p:spPr>
      </p:sp>
      <p:sp>
        <p:nvSpPr>
          <p:cNvPr id="10244" name="Rectangle 3"/>
          <p:cNvSpPr>
            <a:spLocks noGrp="1" noChangeArrowheads="1"/>
          </p:cNvSpPr>
          <p:nvPr>
            <p:ph type="body" idx="1"/>
          </p:nvPr>
        </p:nvSpPr>
        <p:spPr>
          <a:xfrm>
            <a:off x="973138" y="4554538"/>
            <a:ext cx="5356225" cy="43148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185" tIns="48593" rIns="97185" bIns="4859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709033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041400"/>
            <a:ext cx="6858000" cy="2387600"/>
          </a:xfrm>
        </p:spPr>
        <p:txBody>
          <a:bodyPr anchor="b"/>
          <a:lstStyle>
            <a:lvl1pPr algn="ctr">
              <a:defRPr sz="405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0144F4E-2C72-4152-887A-3D43B5DE4346}" type="slidenum">
              <a:rPr lang="en-US" altLang="en-US" smtClean="0"/>
              <a:pPr>
                <a:defRPr/>
              </a:pPr>
              <a:t>‹#›</a:t>
            </a:fld>
            <a:endParaRPr lang="en-US" altLang="en-US"/>
          </a:p>
        </p:txBody>
      </p:sp>
    </p:spTree>
    <p:extLst>
      <p:ext uri="{BB962C8B-B14F-4D97-AF65-F5344CB8AC3E}">
        <p14:creationId xmlns:p14="http://schemas.microsoft.com/office/powerpoint/2010/main" val="2078933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71DEC12-5F10-4113-B84E-03EF1309E230}" type="slidenum">
              <a:rPr lang="en-US" altLang="en-US" smtClean="0"/>
              <a:pPr>
                <a:defRPr/>
              </a:pPr>
              <a:t>‹#›</a:t>
            </a:fld>
            <a:endParaRPr lang="en-US" altLang="en-US"/>
          </a:p>
        </p:txBody>
      </p:sp>
    </p:spTree>
    <p:extLst>
      <p:ext uri="{BB962C8B-B14F-4D97-AF65-F5344CB8AC3E}">
        <p14:creationId xmlns:p14="http://schemas.microsoft.com/office/powerpoint/2010/main" val="4266226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4406901"/>
            <a:ext cx="7886700" cy="1362075"/>
          </a:xfrm>
        </p:spPr>
        <p:txBody>
          <a:bodyPr anchor="t"/>
          <a:lstStyle>
            <a:lvl1pPr>
              <a:defRPr sz="3000" b="1"/>
            </a:lvl1pPr>
          </a:lstStyle>
          <a:p>
            <a:r>
              <a:rPr lang="en-US" smtClean="0"/>
              <a:t>Click to edit Master title style</a:t>
            </a:r>
            <a:endParaRPr lang="en-US"/>
          </a:p>
        </p:txBody>
      </p:sp>
      <p:sp>
        <p:nvSpPr>
          <p:cNvPr id="3" name="Text Placeholder 2"/>
          <p:cNvSpPr>
            <a:spLocks noGrp="1"/>
          </p:cNvSpPr>
          <p:nvPr>
            <p:ph type="body" idx="1"/>
          </p:nvPr>
        </p:nvSpPr>
        <p:spPr>
          <a:xfrm>
            <a:off x="623888" y="2906713"/>
            <a:ext cx="78867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79CA3F4-4238-430B-87CE-577B9175E4F0}" type="slidenum">
              <a:rPr lang="en-US" altLang="en-US" smtClean="0"/>
              <a:pPr>
                <a:defRPr/>
              </a:pPr>
              <a:t>‹#›</a:t>
            </a:fld>
            <a:endParaRPr lang="en-US" altLang="en-US"/>
          </a:p>
        </p:txBody>
      </p:sp>
    </p:spTree>
    <p:extLst>
      <p:ext uri="{BB962C8B-B14F-4D97-AF65-F5344CB8AC3E}">
        <p14:creationId xmlns:p14="http://schemas.microsoft.com/office/powerpoint/2010/main" val="3538710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0863"/>
            <a:ext cx="3886200" cy="4351337"/>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0863"/>
            <a:ext cx="3886200" cy="4351337"/>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83DC1B73-D32C-4321-9BBF-954A8D3FF080}" type="slidenum">
              <a:rPr lang="en-US" altLang="en-US" smtClean="0"/>
              <a:pPr>
                <a:defRPr/>
              </a:pPr>
              <a:t>‹#›</a:t>
            </a:fld>
            <a:endParaRPr lang="en-US" altLang="en-US"/>
          </a:p>
        </p:txBody>
      </p:sp>
    </p:spTree>
    <p:extLst>
      <p:ext uri="{BB962C8B-B14F-4D97-AF65-F5344CB8AC3E}">
        <p14:creationId xmlns:p14="http://schemas.microsoft.com/office/powerpoint/2010/main" val="390206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3888" y="274638"/>
            <a:ext cx="7886700" cy="1143000"/>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3888" y="1535113"/>
            <a:ext cx="3867150"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3888" y="2174876"/>
            <a:ext cx="3867150" cy="399732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2248" y="1535113"/>
            <a:ext cx="3868340"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2248" y="2174876"/>
            <a:ext cx="3868340" cy="399732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2F993D44-90D9-4320-8616-48C84A8F550C}" type="slidenum">
              <a:rPr lang="en-US" altLang="en-US" smtClean="0"/>
              <a:pPr>
                <a:defRPr/>
              </a:pPr>
              <a:t>‹#›</a:t>
            </a:fld>
            <a:endParaRPr lang="en-US" altLang="en-US"/>
          </a:p>
        </p:txBody>
      </p:sp>
    </p:spTree>
    <p:extLst>
      <p:ext uri="{BB962C8B-B14F-4D97-AF65-F5344CB8AC3E}">
        <p14:creationId xmlns:p14="http://schemas.microsoft.com/office/powerpoint/2010/main" val="3099462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4B871072-3085-4697-854F-610669DD1396}" type="slidenum">
              <a:rPr lang="en-US" altLang="en-US" smtClean="0"/>
              <a:pPr>
                <a:defRPr/>
              </a:pPr>
              <a:t>‹#›</a:t>
            </a:fld>
            <a:endParaRPr lang="en-US" altLang="en-US"/>
          </a:p>
        </p:txBody>
      </p:sp>
    </p:spTree>
    <p:extLst>
      <p:ext uri="{BB962C8B-B14F-4D97-AF65-F5344CB8AC3E}">
        <p14:creationId xmlns:p14="http://schemas.microsoft.com/office/powerpoint/2010/main" val="22452945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9526231F-AE74-4592-B491-F5FC77EC005D}" type="slidenum">
              <a:rPr lang="en-US" altLang="en-US" smtClean="0"/>
              <a:pPr>
                <a:defRPr/>
              </a:pPr>
              <a:t>‹#›</a:t>
            </a:fld>
            <a:endParaRPr lang="en-US" altLang="en-US"/>
          </a:p>
        </p:txBody>
      </p:sp>
    </p:spTree>
    <p:extLst>
      <p:ext uri="{BB962C8B-B14F-4D97-AF65-F5344CB8AC3E}">
        <p14:creationId xmlns:p14="http://schemas.microsoft.com/office/powerpoint/2010/main" val="2640138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685801"/>
            <a:ext cx="3009900" cy="1160463"/>
          </a:xfrm>
        </p:spPr>
        <p:txBody>
          <a:bodyPr anchor="b"/>
          <a:lstStyle>
            <a:lvl1pPr>
              <a:defRPr sz="1500" b="1"/>
            </a:lvl1pPr>
          </a:lstStyle>
          <a:p>
            <a:r>
              <a:rPr lang="en-US" smtClean="0"/>
              <a:t>Click to edit Master title style</a:t>
            </a:r>
            <a:endParaRPr lang="en-US"/>
          </a:p>
        </p:txBody>
      </p:sp>
      <p:sp>
        <p:nvSpPr>
          <p:cNvPr id="3" name="Content Placeholder 2"/>
          <p:cNvSpPr>
            <a:spLocks noGrp="1"/>
          </p:cNvSpPr>
          <p:nvPr>
            <p:ph idx="1"/>
          </p:nvPr>
        </p:nvSpPr>
        <p:spPr>
          <a:xfrm>
            <a:off x="3784998" y="685800"/>
            <a:ext cx="4725590" cy="54864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3888" y="1846264"/>
            <a:ext cx="3009900" cy="432593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322E0B5-74EE-4158-8226-5C46F6239538}" type="slidenum">
              <a:rPr lang="en-US" altLang="en-US" smtClean="0"/>
              <a:pPr>
                <a:defRPr/>
              </a:pPr>
              <a:t>‹#›</a:t>
            </a:fld>
            <a:endParaRPr lang="en-US" altLang="en-US"/>
          </a:p>
        </p:txBody>
      </p:sp>
    </p:spTree>
    <p:extLst>
      <p:ext uri="{BB962C8B-B14F-4D97-AF65-F5344CB8AC3E}">
        <p14:creationId xmlns:p14="http://schemas.microsoft.com/office/powerpoint/2010/main" val="3653115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78806" y="4800600"/>
            <a:ext cx="5382816" cy="566738"/>
          </a:xfrm>
        </p:spPr>
        <p:txBody>
          <a:bodyPr anchor="b"/>
          <a:lstStyle>
            <a:lvl1pPr>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878806" y="685801"/>
            <a:ext cx="5382816" cy="404177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a:p>
        </p:txBody>
      </p:sp>
      <p:sp>
        <p:nvSpPr>
          <p:cNvPr id="4" name="Text Placeholder 3"/>
          <p:cNvSpPr>
            <a:spLocks noGrp="1"/>
          </p:cNvSpPr>
          <p:nvPr>
            <p:ph type="body" sz="half" idx="2"/>
          </p:nvPr>
        </p:nvSpPr>
        <p:spPr>
          <a:xfrm>
            <a:off x="1878806" y="5367338"/>
            <a:ext cx="5382816"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86B6A00-779D-4AD5-BC72-98EADCD19539}" type="slidenum">
              <a:rPr lang="en-US" altLang="en-US" smtClean="0"/>
              <a:pPr>
                <a:defRPr/>
              </a:pPr>
              <a:t>‹#›</a:t>
            </a:fld>
            <a:endParaRPr lang="en-US" altLang="en-US"/>
          </a:p>
        </p:txBody>
      </p:sp>
    </p:spTree>
    <p:extLst>
      <p:ext uri="{BB962C8B-B14F-4D97-AF65-F5344CB8AC3E}">
        <p14:creationId xmlns:p14="http://schemas.microsoft.com/office/powerpoint/2010/main" val="2788336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1420840-1552-4FE9-A273-064372597821}" type="slidenum">
              <a:rPr lang="en-US" altLang="en-US" smtClean="0"/>
              <a:pPr>
                <a:defRPr/>
              </a:pPr>
              <a:t>‹#›</a:t>
            </a:fld>
            <a:endParaRPr lang="en-US" altLang="en-US"/>
          </a:p>
        </p:txBody>
      </p:sp>
    </p:spTree>
    <p:extLst>
      <p:ext uri="{BB962C8B-B14F-4D97-AF65-F5344CB8AC3E}">
        <p14:creationId xmlns:p14="http://schemas.microsoft.com/office/powerpoint/2010/main" val="467865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589756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4638"/>
            <a:ext cx="5800725" cy="58975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893BE88-9395-4C19-B7FB-C3D637D97B4B}" type="slidenum">
              <a:rPr lang="en-US" altLang="en-US" smtClean="0"/>
              <a:pPr>
                <a:defRPr/>
              </a:pPr>
              <a:t>‹#›</a:t>
            </a:fld>
            <a:endParaRPr lang="en-US" altLang="en-US"/>
          </a:p>
        </p:txBody>
      </p:sp>
    </p:spTree>
    <p:extLst>
      <p:ext uri="{BB962C8B-B14F-4D97-AF65-F5344CB8AC3E}">
        <p14:creationId xmlns:p14="http://schemas.microsoft.com/office/powerpoint/2010/main" val="2034202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8229600" cy="2189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57200" y="3941763"/>
            <a:ext cx="8229600" cy="21891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6"/>
          <p:cNvSpPr>
            <a:spLocks noGrp="1" noChangeArrowheads="1"/>
          </p:cNvSpPr>
          <p:nvPr>
            <p:ph type="ftr" sz="quarter" idx="10"/>
          </p:nvPr>
        </p:nvSpPr>
        <p:spPr>
          <a:ln/>
        </p:spPr>
        <p:txBody>
          <a:bodyPr/>
          <a:lstStyle>
            <a:lvl1pPr>
              <a:defRPr/>
            </a:lvl1pPr>
          </a:lstStyle>
          <a:p>
            <a:pPr>
              <a:defRPr/>
            </a:pPr>
            <a:endParaRPr lang="en-US"/>
          </a:p>
        </p:txBody>
      </p:sp>
      <p:sp>
        <p:nvSpPr>
          <p:cNvPr id="6" name="Rectangle 27"/>
          <p:cNvSpPr>
            <a:spLocks noGrp="1" noChangeArrowheads="1"/>
          </p:cNvSpPr>
          <p:nvPr>
            <p:ph type="sldNum" sz="quarter" idx="11"/>
          </p:nvPr>
        </p:nvSpPr>
        <p:spPr>
          <a:ln/>
        </p:spPr>
        <p:txBody>
          <a:bodyPr/>
          <a:lstStyle>
            <a:lvl1pPr>
              <a:defRPr/>
            </a:lvl1pPr>
          </a:lstStyle>
          <a:p>
            <a:pPr>
              <a:defRPr/>
            </a:pPr>
            <a:fld id="{319A7025-B4A2-48F7-A60C-4CF2B963C575}" type="slidenum">
              <a:rPr lang="en-US" altLang="en-US"/>
              <a:pPr>
                <a:defRPr/>
              </a:pPr>
              <a:t>‹#›</a:t>
            </a:fld>
            <a:endParaRPr lang="en-US" altLang="en-US"/>
          </a:p>
        </p:txBody>
      </p:sp>
      <p:sp>
        <p:nvSpPr>
          <p:cNvPr id="7" name="Rectangle 28"/>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40570323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9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41763"/>
            <a:ext cx="4038600" cy="21891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6"/>
          <p:cNvSpPr>
            <a:spLocks noGrp="1" noChangeArrowheads="1"/>
          </p:cNvSpPr>
          <p:nvPr>
            <p:ph type="ftr" sz="quarter" idx="10"/>
          </p:nvPr>
        </p:nvSpPr>
        <p:spPr>
          <a:ln/>
        </p:spPr>
        <p:txBody>
          <a:bodyPr/>
          <a:lstStyle>
            <a:lvl1pPr>
              <a:defRPr/>
            </a:lvl1pPr>
          </a:lstStyle>
          <a:p>
            <a:pPr>
              <a:defRPr/>
            </a:pPr>
            <a:endParaRPr lang="en-US"/>
          </a:p>
        </p:txBody>
      </p:sp>
      <p:sp>
        <p:nvSpPr>
          <p:cNvPr id="7" name="Rectangle 27"/>
          <p:cNvSpPr>
            <a:spLocks noGrp="1" noChangeArrowheads="1"/>
          </p:cNvSpPr>
          <p:nvPr>
            <p:ph type="sldNum" sz="quarter" idx="11"/>
          </p:nvPr>
        </p:nvSpPr>
        <p:spPr>
          <a:ln/>
        </p:spPr>
        <p:txBody>
          <a:bodyPr/>
          <a:lstStyle>
            <a:lvl1pPr>
              <a:defRPr/>
            </a:lvl1pPr>
          </a:lstStyle>
          <a:p>
            <a:pPr>
              <a:defRPr/>
            </a:pPr>
            <a:fld id="{60931810-C970-49DB-B4AD-2A99C242AE72}" type="slidenum">
              <a:rPr lang="en-US" altLang="en-US"/>
              <a:pPr>
                <a:defRPr/>
              </a:pPr>
              <a:t>‹#›</a:t>
            </a:fld>
            <a:endParaRPr lang="en-US" altLang="en-US"/>
          </a:p>
        </p:txBody>
      </p:sp>
      <p:sp>
        <p:nvSpPr>
          <p:cNvPr id="8" name="Rectangle 28"/>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031053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132556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0863"/>
            <a:ext cx="7886700" cy="435133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45745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486150" y="6356351"/>
            <a:ext cx="21717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057900" y="6356351"/>
            <a:ext cx="245745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9D601AF9-070E-4758-9256-B5E4926B0AF3}" type="slidenum">
              <a:rPr lang="en-US" altLang="en-US" smtClean="0"/>
              <a:pPr>
                <a:defRPr/>
              </a:pPr>
              <a:t>‹#›</a:t>
            </a:fld>
            <a:endParaRPr lang="en-US" altLang="en-US"/>
          </a:p>
        </p:txBody>
      </p:sp>
    </p:spTree>
    <p:extLst>
      <p:ext uri="{BB962C8B-B14F-4D97-AF65-F5344CB8AC3E}">
        <p14:creationId xmlns:p14="http://schemas.microsoft.com/office/powerpoint/2010/main" val="2746170365"/>
      </p:ext>
    </p:extLst>
  </p:cSld>
  <p:clrMap bg1="lt1" tx1="dk1" bg2="lt2" tx2="dk2" accent1="accent1" accent2="accent2" accent3="accent3" accent4="accent4" accent5="accent5" accent6="accent6" hlink="hlink" folHlink="folHlink"/>
  <p:sldLayoutIdLst>
    <p:sldLayoutId id="2147484060" r:id="rId1"/>
    <p:sldLayoutId id="2147484061" r:id="rId2"/>
    <p:sldLayoutId id="2147484062" r:id="rId3"/>
    <p:sldLayoutId id="2147484063" r:id="rId4"/>
    <p:sldLayoutId id="2147484064" r:id="rId5"/>
    <p:sldLayoutId id="2147484065" r:id="rId6"/>
    <p:sldLayoutId id="2147484066" r:id="rId7"/>
    <p:sldLayoutId id="2147484067" r:id="rId8"/>
    <p:sldLayoutId id="2147484068" r:id="rId9"/>
    <p:sldLayoutId id="2147484069" r:id="rId10"/>
    <p:sldLayoutId id="2147484070" r:id="rId11"/>
    <p:sldLayoutId id="2147484071" r:id="rId12"/>
    <p:sldLayoutId id="2147484072" r:id="rId13"/>
  </p:sldLayoutIdLst>
  <p:txStyles>
    <p:titleStyle>
      <a:lvl1pPr algn="l"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image" Target="../media/image1.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notesSlide" Target="../notesSlides/notesSlide2.xml"/><Relationship Id="rId7" Type="http://schemas.openxmlformats.org/officeDocument/2006/relationships/image" Target="../media/image4.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6.wmf"/><Relationship Id="rId4" Type="http://schemas.openxmlformats.org/officeDocument/2006/relationships/image" Target="../media/image5.wmf"/><Relationship Id="rId9" Type="http://schemas.openxmlformats.org/officeDocument/2006/relationships/image" Target="../media/image8.wmf"/></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1.jpeg"/><Relationship Id="rId7" Type="http://schemas.openxmlformats.org/officeDocument/2006/relationships/image" Target="../media/image10.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9.wmf"/><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vmlDrawing" Target="../drawings/vmlDrawing4.vml"/><Relationship Id="rId4" Type="http://schemas.openxmlformats.org/officeDocument/2006/relationships/image" Target="../media/image13.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vmlDrawing" Target="../drawings/vmlDrawing5.vml"/><Relationship Id="rId4" Type="http://schemas.openxmlformats.org/officeDocument/2006/relationships/image" Target="../media/image13.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4.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6.xml"/><Relationship Id="rId1" Type="http://schemas.openxmlformats.org/officeDocument/2006/relationships/vmlDrawing" Target="../drawings/vmlDrawing7.vml"/><Relationship Id="rId4" Type="http://schemas.openxmlformats.org/officeDocument/2006/relationships/image" Target="../media/image15.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vmlDrawing" Target="../drawings/vmlDrawing8.vml"/><Relationship Id="rId4" Type="http://schemas.openxmlformats.org/officeDocument/2006/relationships/image" Target="../media/image15.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vmlDrawing" Target="../drawings/vmlDrawing9.vml"/><Relationship Id="rId4" Type="http://schemas.openxmlformats.org/officeDocument/2006/relationships/image" Target="../media/image16.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6.xml"/><Relationship Id="rId1" Type="http://schemas.openxmlformats.org/officeDocument/2006/relationships/vmlDrawing" Target="../drawings/vmlDrawing10.vml"/><Relationship Id="rId4" Type="http://schemas.openxmlformats.org/officeDocument/2006/relationships/image" Target="../media/image16.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vmlDrawing" Target="../drawings/vmlDrawing11.vml"/><Relationship Id="rId4" Type="http://schemas.openxmlformats.org/officeDocument/2006/relationships/image" Target="../media/image17.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6.xml"/><Relationship Id="rId1" Type="http://schemas.openxmlformats.org/officeDocument/2006/relationships/vmlDrawing" Target="../drawings/vmlDrawing12.vml"/><Relationship Id="rId4" Type="http://schemas.openxmlformats.org/officeDocument/2006/relationships/image" Target="../media/image17.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18.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19.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6.xml"/><Relationship Id="rId1" Type="http://schemas.openxmlformats.org/officeDocument/2006/relationships/vmlDrawing" Target="../drawings/vmlDrawing15.vml"/><Relationship Id="rId4" Type="http://schemas.openxmlformats.org/officeDocument/2006/relationships/image" Target="../media/image20.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21.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22.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24.emf"/><Relationship Id="rId5" Type="http://schemas.openxmlformats.org/officeDocument/2006/relationships/oleObject" Target="../embeddings/oleObject20.bin"/><Relationship Id="rId4" Type="http://schemas.openxmlformats.org/officeDocument/2006/relationships/image" Target="../media/image23.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29.emf"/><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26.e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28.emf"/><Relationship Id="rId4" Type="http://schemas.openxmlformats.org/officeDocument/2006/relationships/image" Target="../media/image25.emf"/><Relationship Id="rId9" Type="http://schemas.openxmlformats.org/officeDocument/2006/relationships/oleObject" Target="../embeddings/oleObject24.bin"/></Relationships>
</file>

<file path=ppt/slides/_rels/slide34.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34.wmf"/><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31.wmf"/><Relationship Id="rId11" Type="http://schemas.openxmlformats.org/officeDocument/2006/relationships/oleObject" Target="../embeddings/oleObject30.bin"/><Relationship Id="rId5" Type="http://schemas.openxmlformats.org/officeDocument/2006/relationships/oleObject" Target="../embeddings/oleObject27.bin"/><Relationship Id="rId10" Type="http://schemas.openxmlformats.org/officeDocument/2006/relationships/image" Target="../media/image33.wmf"/><Relationship Id="rId4" Type="http://schemas.openxmlformats.org/officeDocument/2006/relationships/image" Target="../media/image30.wmf"/><Relationship Id="rId9" Type="http://schemas.openxmlformats.org/officeDocument/2006/relationships/oleObject" Target="../embeddings/oleObject29.bin"/></Relationships>
</file>

<file path=ppt/slides/_rels/slide35.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6.xml"/><Relationship Id="rId1" Type="http://schemas.openxmlformats.org/officeDocument/2006/relationships/vmlDrawing" Target="../drawings/vmlDrawing21.vml"/><Relationship Id="rId6" Type="http://schemas.openxmlformats.org/officeDocument/2006/relationships/image" Target="../media/image36.wmf"/><Relationship Id="rId5" Type="http://schemas.openxmlformats.org/officeDocument/2006/relationships/oleObject" Target="../embeddings/oleObject32.bin"/><Relationship Id="rId10" Type="http://schemas.openxmlformats.org/officeDocument/2006/relationships/image" Target="../media/image30.wmf"/><Relationship Id="rId4" Type="http://schemas.openxmlformats.org/officeDocument/2006/relationships/image" Target="../media/image35.wmf"/><Relationship Id="rId9" Type="http://schemas.openxmlformats.org/officeDocument/2006/relationships/oleObject" Target="../embeddings/oleObject34.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12.xml"/><Relationship Id="rId1" Type="http://schemas.openxmlformats.org/officeDocument/2006/relationships/vmlDrawing" Target="../drawings/vmlDrawing22.vml"/><Relationship Id="rId4" Type="http://schemas.openxmlformats.org/officeDocument/2006/relationships/image" Target="../media/image38.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12.xml"/><Relationship Id="rId1" Type="http://schemas.openxmlformats.org/officeDocument/2006/relationships/vmlDrawing" Target="../drawings/vmlDrawing23.vml"/><Relationship Id="rId6" Type="http://schemas.openxmlformats.org/officeDocument/2006/relationships/image" Target="../media/image40.wmf"/><Relationship Id="rId5" Type="http://schemas.openxmlformats.org/officeDocument/2006/relationships/oleObject" Target="../embeddings/oleObject37.bin"/><Relationship Id="rId4" Type="http://schemas.openxmlformats.org/officeDocument/2006/relationships/image" Target="../media/image39.wmf"/></Relationships>
</file>

<file path=ppt/slides/_rels/slide38.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38.bin"/><Relationship Id="rId7"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42.wmf"/><Relationship Id="rId5" Type="http://schemas.openxmlformats.org/officeDocument/2006/relationships/oleObject" Target="../embeddings/oleObject39.bin"/><Relationship Id="rId4" Type="http://schemas.openxmlformats.org/officeDocument/2006/relationships/image" Target="../media/image41.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13.xml"/><Relationship Id="rId1" Type="http://schemas.openxmlformats.org/officeDocument/2006/relationships/vmlDrawing" Target="../drawings/vmlDrawing25.vml"/><Relationship Id="rId6" Type="http://schemas.openxmlformats.org/officeDocument/2006/relationships/image" Target="../media/image45.emf"/><Relationship Id="rId5" Type="http://schemas.openxmlformats.org/officeDocument/2006/relationships/oleObject" Target="../embeddings/oleObject42.bin"/><Relationship Id="rId4" Type="http://schemas.openxmlformats.org/officeDocument/2006/relationships/image" Target="../media/image44.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46.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81000" y="838200"/>
            <a:ext cx="4419600" cy="1828800"/>
          </a:xfrm>
        </p:spPr>
        <p:txBody>
          <a:bodyPr/>
          <a:lstStyle/>
          <a:p>
            <a:pPr eaLnBrk="1" hangingPunct="1">
              <a:defRPr/>
            </a:pPr>
            <a:r>
              <a:rPr lang="en-US" sz="5400" smtClean="0"/>
              <a:t>Classification</a:t>
            </a:r>
          </a:p>
        </p:txBody>
      </p:sp>
      <p:sp>
        <p:nvSpPr>
          <p:cNvPr id="2" name="Subtitle 1"/>
          <p:cNvSpPr>
            <a:spLocks noGrp="1"/>
          </p:cNvSpPr>
          <p:nvPr>
            <p:ph type="subTitle" idx="1"/>
          </p:nvPr>
        </p:nvSpPr>
        <p:spPr/>
        <p:txBody>
          <a:bodyPr/>
          <a:lstStyle/>
          <a:p>
            <a:pPr marL="457200" indent="-457200" algn="l">
              <a:buFont typeface="Arial" panose="020B0604020202020204" pitchFamily="34" charset="0"/>
              <a:buChar char="•"/>
            </a:pPr>
            <a:r>
              <a:rPr lang="en-US" dirty="0" smtClean="0"/>
              <a:t>Definition</a:t>
            </a:r>
          </a:p>
          <a:p>
            <a:pPr marL="457200" indent="-457200" algn="l">
              <a:buFont typeface="Arial" panose="020B0604020202020204" pitchFamily="34" charset="0"/>
              <a:buChar char="•"/>
            </a:pPr>
            <a:r>
              <a:rPr lang="en-US" dirty="0"/>
              <a:t>Classification </a:t>
            </a:r>
            <a:r>
              <a:rPr lang="en-US" dirty="0" smtClean="0"/>
              <a:t>Techniques</a:t>
            </a:r>
          </a:p>
          <a:p>
            <a:pPr marL="457200" indent="-457200" algn="l">
              <a:buFont typeface="Arial" panose="020B0604020202020204" pitchFamily="34" charset="0"/>
              <a:buChar char="•"/>
            </a:pPr>
            <a:r>
              <a:rPr lang="en-US" dirty="0"/>
              <a:t>Decision Tree Induction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a:xfrm>
            <a:off x="457200" y="0"/>
            <a:ext cx="8229600" cy="1139825"/>
          </a:xfrm>
        </p:spPr>
        <p:txBody>
          <a:bodyPr/>
          <a:lstStyle/>
          <a:p>
            <a:pPr eaLnBrk="1" hangingPunct="1">
              <a:defRPr/>
            </a:pPr>
            <a:r>
              <a:rPr lang="en-US" smtClean="0"/>
              <a:t>Classification: Definition</a:t>
            </a:r>
          </a:p>
        </p:txBody>
      </p:sp>
      <p:sp>
        <p:nvSpPr>
          <p:cNvPr id="180227" name="Rectangle 3"/>
          <p:cNvSpPr>
            <a:spLocks noGrp="1" noChangeArrowheads="1"/>
          </p:cNvSpPr>
          <p:nvPr>
            <p:ph idx="1"/>
          </p:nvPr>
        </p:nvSpPr>
        <p:spPr>
          <a:xfrm>
            <a:off x="228600" y="1295400"/>
            <a:ext cx="8686800" cy="4572000"/>
          </a:xfrm>
        </p:spPr>
        <p:txBody>
          <a:bodyPr>
            <a:noAutofit/>
          </a:bodyPr>
          <a:lstStyle/>
          <a:p>
            <a:pPr eaLnBrk="1" hangingPunct="1">
              <a:lnSpc>
                <a:spcPct val="90000"/>
              </a:lnSpc>
              <a:defRPr/>
            </a:pPr>
            <a:r>
              <a:rPr lang="en-US" sz="2800" dirty="0" smtClean="0"/>
              <a:t>Given a collection of records (</a:t>
            </a:r>
            <a:r>
              <a:rPr lang="en-US" sz="2800" i="1" dirty="0" smtClean="0">
                <a:solidFill>
                  <a:srgbClr val="CC0000"/>
                </a:solidFill>
              </a:rPr>
              <a:t>training set </a:t>
            </a:r>
            <a:r>
              <a:rPr lang="en-US" sz="2800" dirty="0" smtClean="0"/>
              <a:t>)</a:t>
            </a:r>
          </a:p>
          <a:p>
            <a:pPr lvl="1" eaLnBrk="1" hangingPunct="1">
              <a:lnSpc>
                <a:spcPct val="90000"/>
              </a:lnSpc>
              <a:defRPr/>
            </a:pPr>
            <a:r>
              <a:rPr lang="en-US" sz="2800" dirty="0" smtClean="0"/>
              <a:t>Each record contains a set of </a:t>
            </a:r>
            <a:r>
              <a:rPr lang="en-US" sz="2800" i="1" dirty="0" smtClean="0">
                <a:solidFill>
                  <a:srgbClr val="CC0000"/>
                </a:solidFill>
              </a:rPr>
              <a:t>attributes</a:t>
            </a:r>
            <a:r>
              <a:rPr lang="en-US" sz="2800" dirty="0" smtClean="0"/>
              <a:t>, one of the attributes is the </a:t>
            </a:r>
            <a:r>
              <a:rPr lang="en-US" sz="2800" i="1" dirty="0" smtClean="0">
                <a:solidFill>
                  <a:srgbClr val="CC0000"/>
                </a:solidFill>
              </a:rPr>
              <a:t>class</a:t>
            </a:r>
            <a:r>
              <a:rPr lang="en-US" sz="2800" dirty="0" smtClean="0"/>
              <a:t>.</a:t>
            </a:r>
            <a:endParaRPr lang="en-US" sz="2400" dirty="0" smtClean="0"/>
          </a:p>
          <a:p>
            <a:pPr eaLnBrk="1" hangingPunct="1">
              <a:lnSpc>
                <a:spcPct val="90000"/>
              </a:lnSpc>
              <a:defRPr/>
            </a:pPr>
            <a:r>
              <a:rPr lang="en-US" sz="2800" dirty="0" smtClean="0"/>
              <a:t>Find a </a:t>
            </a:r>
            <a:r>
              <a:rPr lang="en-US" sz="2800" i="1" dirty="0" smtClean="0">
                <a:solidFill>
                  <a:srgbClr val="CC0000"/>
                </a:solidFill>
              </a:rPr>
              <a:t>model</a:t>
            </a:r>
            <a:r>
              <a:rPr lang="en-US" sz="2800" dirty="0" smtClean="0"/>
              <a:t>  for class attribute as a function of the values of other attributes.</a:t>
            </a:r>
          </a:p>
          <a:p>
            <a:pPr eaLnBrk="1" hangingPunct="1">
              <a:lnSpc>
                <a:spcPct val="90000"/>
              </a:lnSpc>
              <a:defRPr/>
            </a:pPr>
            <a:r>
              <a:rPr lang="en-US" sz="2800" dirty="0" smtClean="0"/>
              <a:t>Goal: </a:t>
            </a:r>
            <a:r>
              <a:rPr lang="en-US" sz="2800" u="sng" dirty="0" smtClean="0"/>
              <a:t>previously unseen</a:t>
            </a:r>
            <a:r>
              <a:rPr lang="en-US" sz="2800" dirty="0" smtClean="0"/>
              <a:t> records should be assigned a class as accurately as possible.</a:t>
            </a:r>
          </a:p>
          <a:p>
            <a:pPr lvl="1" eaLnBrk="1" hangingPunct="1">
              <a:lnSpc>
                <a:spcPct val="90000"/>
              </a:lnSpc>
              <a:defRPr/>
            </a:pPr>
            <a:r>
              <a:rPr lang="en-US" sz="2800" dirty="0" smtClean="0"/>
              <a:t>A </a:t>
            </a:r>
            <a:r>
              <a:rPr lang="en-US" sz="2800" i="1" dirty="0" smtClean="0">
                <a:solidFill>
                  <a:srgbClr val="CC0000"/>
                </a:solidFill>
              </a:rPr>
              <a:t>test set</a:t>
            </a:r>
            <a:r>
              <a:rPr lang="en-US" sz="2800" dirty="0" smtClean="0"/>
              <a:t> is used to determine the accuracy of the model. Usually, the given data set is divided into training and test sets, with training set used to build the model and test set used to validate it.</a:t>
            </a:r>
            <a:endParaRPr lang="en-US" sz="24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781050" y="427038"/>
            <a:ext cx="7886700" cy="639762"/>
          </a:xfrm>
          <a:prstGeom prst="rect">
            <a:avLst/>
          </a:prstGeom>
        </p:spPr>
        <p:txBody>
          <a:bodyPr vert="horz" lIns="91440" tIns="45720" rIns="91440" bIns="45720" rtlCol="0" anchor="ctr">
            <a:normAutofit/>
          </a:bodyPr>
          <a:lstStyle>
            <a:lvl1pPr algn="l" defTabSz="685800" rtl="0" eaLnBrk="1" latinLnBrk="0" hangingPunct="1">
              <a:spcBef>
                <a:spcPct val="0"/>
              </a:spcBef>
              <a:buNone/>
              <a:defRPr sz="3300" kern="1200">
                <a:solidFill>
                  <a:schemeClr val="tx1"/>
                </a:solidFill>
                <a:latin typeface="+mj-lt"/>
                <a:ea typeface="+mj-ea"/>
                <a:cs typeface="+mj-cs"/>
              </a:defRPr>
            </a:lvl1pPr>
          </a:lstStyle>
          <a:p>
            <a:pPr fontAlgn="auto">
              <a:spcAft>
                <a:spcPts val="0"/>
              </a:spcAft>
            </a:pPr>
            <a:r>
              <a:rPr lang="en-US" dirty="0" smtClean="0"/>
              <a:t>Classification: Model Construction</a:t>
            </a:r>
          </a:p>
        </p:txBody>
      </p:sp>
      <p:grpSp>
        <p:nvGrpSpPr>
          <p:cNvPr id="5" name="Group 3"/>
          <p:cNvGrpSpPr>
            <a:grpSpLocks/>
          </p:cNvGrpSpPr>
          <p:nvPr/>
        </p:nvGrpSpPr>
        <p:grpSpPr bwMode="auto">
          <a:xfrm>
            <a:off x="228600" y="1066800"/>
            <a:ext cx="8667750" cy="4987925"/>
            <a:chOff x="156" y="1056"/>
            <a:chExt cx="5460" cy="3142"/>
          </a:xfrm>
        </p:grpSpPr>
        <p:grpSp>
          <p:nvGrpSpPr>
            <p:cNvPr id="6" name="Group 4"/>
            <p:cNvGrpSpPr>
              <a:grpSpLocks/>
            </p:cNvGrpSpPr>
            <p:nvPr/>
          </p:nvGrpSpPr>
          <p:grpSpPr bwMode="auto">
            <a:xfrm>
              <a:off x="1248" y="1200"/>
              <a:ext cx="1078" cy="957"/>
              <a:chOff x="1248" y="1200"/>
              <a:chExt cx="1078" cy="957"/>
            </a:xfrm>
          </p:grpSpPr>
          <p:pic>
            <p:nvPicPr>
              <p:cNvPr id="19"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48" y="1200"/>
                <a:ext cx="1078" cy="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6"/>
              <p:cNvSpPr>
                <a:spLocks noChangeArrowheads="1"/>
              </p:cNvSpPr>
              <p:nvPr/>
            </p:nvSpPr>
            <p:spPr bwMode="auto">
              <a:xfrm>
                <a:off x="1312" y="1480"/>
                <a:ext cx="93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2400">
                    <a:solidFill>
                      <a:srgbClr val="000000"/>
                    </a:solidFill>
                    <a:latin typeface="Times New Roman" panose="02020603050405020304" pitchFamily="18" charset="0"/>
                  </a:rPr>
                  <a:t>Training</a:t>
                </a:r>
              </a:p>
              <a:p>
                <a:pPr algn="ctr">
                  <a:spcBef>
                    <a:spcPct val="0"/>
                  </a:spcBef>
                  <a:buClrTx/>
                  <a:buSzTx/>
                  <a:buFontTx/>
                  <a:buNone/>
                </a:pPr>
                <a:r>
                  <a:rPr lang="en-US" altLang="en-US" sz="2400">
                    <a:solidFill>
                      <a:srgbClr val="000000"/>
                    </a:solidFill>
                    <a:latin typeface="Times New Roman" panose="02020603050405020304" pitchFamily="18" charset="0"/>
                  </a:rPr>
                  <a:t>Data</a:t>
                </a:r>
              </a:p>
            </p:txBody>
          </p:sp>
        </p:grpSp>
        <p:graphicFrame>
          <p:nvGraphicFramePr>
            <p:cNvPr id="7" name="Object 7"/>
            <p:cNvGraphicFramePr>
              <a:graphicFrameLocks/>
            </p:cNvGraphicFramePr>
            <p:nvPr/>
          </p:nvGraphicFramePr>
          <p:xfrm>
            <a:off x="156" y="2506"/>
            <a:ext cx="3433" cy="1580"/>
          </p:xfrm>
          <a:graphic>
            <a:graphicData uri="http://schemas.openxmlformats.org/presentationml/2006/ole">
              <mc:AlternateContent xmlns:mc="http://schemas.openxmlformats.org/markup-compatibility/2006">
                <mc:Choice xmlns:v="urn:schemas-microsoft-com:vml" Requires="v">
                  <p:oleObj spid="_x0000_s46087" name="Worksheet" r:id="rId4" imgW="5449888" imgH="2508250" progId="Excel.Sheet.8">
                    <p:embed/>
                  </p:oleObj>
                </mc:Choice>
                <mc:Fallback>
                  <p:oleObj name="Worksheet" r:id="rId4" imgW="5449888" imgH="2508250" progId="Excel.Sheet.8">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 y="2506"/>
                          <a:ext cx="3433" cy="1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Line 8"/>
            <p:cNvSpPr>
              <a:spLocks noChangeShapeType="1"/>
            </p:cNvSpPr>
            <p:nvPr/>
          </p:nvSpPr>
          <p:spPr bwMode="auto">
            <a:xfrm flipH="1">
              <a:off x="167" y="2056"/>
              <a:ext cx="1036" cy="44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9" name="Line 9"/>
            <p:cNvSpPr>
              <a:spLocks noChangeShapeType="1"/>
            </p:cNvSpPr>
            <p:nvPr/>
          </p:nvSpPr>
          <p:spPr bwMode="auto">
            <a:xfrm>
              <a:off x="2328" y="2056"/>
              <a:ext cx="1276" cy="44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 name="Rectangle 10"/>
            <p:cNvSpPr>
              <a:spLocks noChangeArrowheads="1"/>
            </p:cNvSpPr>
            <p:nvPr/>
          </p:nvSpPr>
          <p:spPr bwMode="auto">
            <a:xfrm>
              <a:off x="3936" y="1056"/>
              <a:ext cx="1178" cy="526"/>
            </a:xfrm>
            <a:prstGeom prst="rect">
              <a:avLst/>
            </a:prstGeom>
            <a:solidFill>
              <a:srgbClr val="C0C0C0"/>
            </a:solidFill>
            <a:ln w="12700">
              <a:solidFill>
                <a:srgbClr val="666699"/>
              </a:solidFill>
              <a:miter lim="800000"/>
              <a:headEnd/>
              <a:tailEnd/>
            </a:ln>
          </p:spPr>
          <p:txBody>
            <a:bodyPr wrap="none" lIns="92075" tIns="46038" rIns="92075" bIns="46038"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2400">
                  <a:solidFill>
                    <a:srgbClr val="000000"/>
                  </a:solidFill>
                  <a:latin typeface="Times New Roman" panose="02020603050405020304" pitchFamily="18" charset="0"/>
                </a:rPr>
                <a:t>Classification</a:t>
              </a:r>
            </a:p>
            <a:p>
              <a:pPr algn="ctr">
                <a:spcBef>
                  <a:spcPct val="0"/>
                </a:spcBef>
                <a:buClrTx/>
                <a:buSzTx/>
                <a:buFontTx/>
                <a:buNone/>
              </a:pPr>
              <a:r>
                <a:rPr lang="en-US" altLang="en-US" sz="2400">
                  <a:solidFill>
                    <a:srgbClr val="000000"/>
                  </a:solidFill>
                  <a:latin typeface="Times New Roman" panose="02020603050405020304" pitchFamily="18" charset="0"/>
                </a:rPr>
                <a:t>Algorithms</a:t>
              </a:r>
            </a:p>
          </p:txBody>
        </p:sp>
        <p:sp>
          <p:nvSpPr>
            <p:cNvPr id="11" name="AutoShape 11"/>
            <p:cNvSpPr>
              <a:spLocks noChangeArrowheads="1"/>
            </p:cNvSpPr>
            <p:nvPr/>
          </p:nvSpPr>
          <p:spPr bwMode="auto">
            <a:xfrm rot="-1140000">
              <a:off x="2642" y="1403"/>
              <a:ext cx="1044" cy="305"/>
            </a:xfrm>
            <a:prstGeom prst="rightArrow">
              <a:avLst>
                <a:gd name="adj1" fmla="val 50000"/>
                <a:gd name="adj2" fmla="val 85637"/>
              </a:avLst>
            </a:prstGeom>
            <a:solidFill>
              <a:srgbClr val="2597B8"/>
            </a:solidFill>
            <a:ln w="12700">
              <a:solidFill>
                <a:srgbClr val="000000"/>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 name="Rectangle 12"/>
            <p:cNvSpPr>
              <a:spLocks noChangeArrowheads="1"/>
            </p:cNvSpPr>
            <p:nvPr/>
          </p:nvSpPr>
          <p:spPr bwMode="auto">
            <a:xfrm>
              <a:off x="3721" y="3442"/>
              <a:ext cx="1895" cy="756"/>
            </a:xfrm>
            <a:prstGeom prst="rect">
              <a:avLst/>
            </a:prstGeom>
            <a:solidFill>
              <a:srgbClr val="CCFFCC"/>
            </a:solidFill>
            <a:ln w="12700">
              <a:solidFill>
                <a:srgbClr val="808080"/>
              </a:solidFill>
              <a:miter lim="800000"/>
              <a:headEnd/>
              <a:tailEnd/>
            </a:ln>
          </p:spPr>
          <p:txBody>
            <a:bodyPr wrap="none" lIns="92075" tIns="46038" rIns="92075" bIns="46038"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2400">
                  <a:solidFill>
                    <a:srgbClr val="000000"/>
                  </a:solidFill>
                  <a:latin typeface="Times New Roman" panose="02020603050405020304" pitchFamily="18" charset="0"/>
                </a:rPr>
                <a:t>IF rank = ‘professor’</a:t>
              </a:r>
            </a:p>
            <a:p>
              <a:pPr>
                <a:spcBef>
                  <a:spcPct val="0"/>
                </a:spcBef>
                <a:buClrTx/>
                <a:buSzTx/>
                <a:buFontTx/>
                <a:buNone/>
              </a:pPr>
              <a:r>
                <a:rPr lang="en-US" altLang="en-US" sz="2400">
                  <a:solidFill>
                    <a:srgbClr val="000000"/>
                  </a:solidFill>
                  <a:latin typeface="Times New Roman" panose="02020603050405020304" pitchFamily="18" charset="0"/>
                </a:rPr>
                <a:t>OR years &gt; 6</a:t>
              </a:r>
            </a:p>
            <a:p>
              <a:pPr>
                <a:spcBef>
                  <a:spcPct val="0"/>
                </a:spcBef>
                <a:buClrTx/>
                <a:buSzTx/>
                <a:buFontTx/>
                <a:buNone/>
              </a:pPr>
              <a:r>
                <a:rPr lang="en-US" altLang="en-US" sz="2400">
                  <a:solidFill>
                    <a:srgbClr val="000000"/>
                  </a:solidFill>
                  <a:latin typeface="Times New Roman" panose="02020603050405020304" pitchFamily="18" charset="0"/>
                </a:rPr>
                <a:t>THEN tenured = ‘yes’ </a:t>
              </a:r>
            </a:p>
          </p:txBody>
        </p:sp>
        <p:grpSp>
          <p:nvGrpSpPr>
            <p:cNvPr id="13" name="Group 13"/>
            <p:cNvGrpSpPr>
              <a:grpSpLocks/>
            </p:cNvGrpSpPr>
            <p:nvPr/>
          </p:nvGrpSpPr>
          <p:grpSpPr bwMode="auto">
            <a:xfrm>
              <a:off x="4055" y="2122"/>
              <a:ext cx="1198" cy="957"/>
              <a:chOff x="4055" y="2122"/>
              <a:chExt cx="1198" cy="957"/>
            </a:xfrm>
          </p:grpSpPr>
          <p:pic>
            <p:nvPicPr>
              <p:cNvPr id="17" name="Picture 14"/>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55" y="2122"/>
                <a:ext cx="1198" cy="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5"/>
              <p:cNvSpPr>
                <a:spLocks noChangeArrowheads="1"/>
              </p:cNvSpPr>
              <p:nvPr/>
            </p:nvSpPr>
            <p:spPr bwMode="auto">
              <a:xfrm>
                <a:off x="4219" y="2402"/>
                <a:ext cx="851"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2400">
                    <a:solidFill>
                      <a:srgbClr val="000000"/>
                    </a:solidFill>
                    <a:latin typeface="Times New Roman" panose="02020603050405020304" pitchFamily="18" charset="0"/>
                  </a:rPr>
                  <a:t>Classifier</a:t>
                </a:r>
              </a:p>
              <a:p>
                <a:pPr algn="ctr">
                  <a:spcBef>
                    <a:spcPct val="0"/>
                  </a:spcBef>
                  <a:buClrTx/>
                  <a:buSzTx/>
                  <a:buFontTx/>
                  <a:buNone/>
                </a:pPr>
                <a:r>
                  <a:rPr lang="en-US" altLang="en-US" sz="2400">
                    <a:solidFill>
                      <a:srgbClr val="000000"/>
                    </a:solidFill>
                    <a:latin typeface="Times New Roman" panose="02020603050405020304" pitchFamily="18" charset="0"/>
                  </a:rPr>
                  <a:t>(Model)</a:t>
                </a:r>
              </a:p>
            </p:txBody>
          </p:sp>
        </p:grpSp>
        <p:sp>
          <p:nvSpPr>
            <p:cNvPr id="14" name="Line 16"/>
            <p:cNvSpPr>
              <a:spLocks noChangeShapeType="1"/>
            </p:cNvSpPr>
            <p:nvPr/>
          </p:nvSpPr>
          <p:spPr bwMode="auto">
            <a:xfrm flipH="1">
              <a:off x="3720" y="3007"/>
              <a:ext cx="335" cy="45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5" name="Line 17"/>
            <p:cNvSpPr>
              <a:spLocks noChangeShapeType="1"/>
            </p:cNvSpPr>
            <p:nvPr/>
          </p:nvSpPr>
          <p:spPr bwMode="auto">
            <a:xfrm>
              <a:off x="5246" y="2958"/>
              <a:ext cx="364" cy="49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6" name="AutoShape 18"/>
            <p:cNvSpPr>
              <a:spLocks noChangeArrowheads="1"/>
            </p:cNvSpPr>
            <p:nvPr/>
          </p:nvSpPr>
          <p:spPr bwMode="auto">
            <a:xfrm>
              <a:off x="4474" y="1719"/>
              <a:ext cx="344" cy="373"/>
            </a:xfrm>
            <a:prstGeom prst="downArrow">
              <a:avLst>
                <a:gd name="adj1" fmla="val 50000"/>
                <a:gd name="adj2" fmla="val 27128"/>
              </a:avLst>
            </a:prstGeom>
            <a:solidFill>
              <a:srgbClr val="2597B8"/>
            </a:solidFill>
            <a:ln w="12700">
              <a:solidFill>
                <a:srgbClr val="000000"/>
              </a:solidFill>
              <a:miter lim="800000"/>
              <a:headEnd/>
              <a:tailEnd/>
            </a:ln>
          </p:spPr>
          <p:txBody>
            <a:bodyPr vert="eaVert"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grpSp>
    </p:spTree>
    <p:extLst>
      <p:ext uri="{BB962C8B-B14F-4D97-AF65-F5344CB8AC3E}">
        <p14:creationId xmlns:p14="http://schemas.microsoft.com/office/powerpoint/2010/main" val="32009076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268788" y="1273175"/>
            <a:ext cx="1901825" cy="1519238"/>
            <a:chOff x="2688" y="1056"/>
            <a:chExt cx="1198" cy="957"/>
          </a:xfrm>
        </p:grpSpPr>
        <p:pic>
          <p:nvPicPr>
            <p:cNvPr id="9237" name="Picture 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88" y="1056"/>
              <a:ext cx="1198" cy="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8" name="Rectangle 4"/>
            <p:cNvSpPr>
              <a:spLocks noChangeArrowheads="1"/>
            </p:cNvSpPr>
            <p:nvPr/>
          </p:nvSpPr>
          <p:spPr bwMode="auto">
            <a:xfrm>
              <a:off x="2852" y="1451"/>
              <a:ext cx="8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2400">
                  <a:solidFill>
                    <a:srgbClr val="000000"/>
                  </a:solidFill>
                  <a:latin typeface="Times New Roman" panose="02020603050405020304" pitchFamily="18" charset="0"/>
                </a:rPr>
                <a:t>Classifier</a:t>
              </a:r>
            </a:p>
          </p:txBody>
        </p:sp>
      </p:grpSp>
      <p:grpSp>
        <p:nvGrpSpPr>
          <p:cNvPr id="9219" name="Group 5"/>
          <p:cNvGrpSpPr>
            <a:grpSpLocks/>
          </p:cNvGrpSpPr>
          <p:nvPr/>
        </p:nvGrpSpPr>
        <p:grpSpPr bwMode="auto">
          <a:xfrm>
            <a:off x="1981200" y="2438400"/>
            <a:ext cx="1711325" cy="1519238"/>
            <a:chOff x="1247" y="1790"/>
            <a:chExt cx="1078" cy="957"/>
          </a:xfrm>
        </p:grpSpPr>
        <p:pic>
          <p:nvPicPr>
            <p:cNvPr id="9235" name="Picture 6"/>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47" y="1790"/>
              <a:ext cx="1078" cy="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6" name="Rectangle 7"/>
            <p:cNvSpPr>
              <a:spLocks noChangeArrowheads="1"/>
            </p:cNvSpPr>
            <p:nvPr/>
          </p:nvSpPr>
          <p:spPr bwMode="auto">
            <a:xfrm>
              <a:off x="1311" y="2070"/>
              <a:ext cx="93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2400">
                  <a:solidFill>
                    <a:srgbClr val="000000"/>
                  </a:solidFill>
                  <a:latin typeface="Times New Roman" panose="02020603050405020304" pitchFamily="18" charset="0"/>
                </a:rPr>
                <a:t>Testing</a:t>
              </a:r>
            </a:p>
            <a:p>
              <a:pPr algn="ctr">
                <a:spcBef>
                  <a:spcPct val="0"/>
                </a:spcBef>
                <a:buClrTx/>
                <a:buSzTx/>
                <a:buFontTx/>
                <a:buNone/>
              </a:pPr>
              <a:r>
                <a:rPr lang="en-US" altLang="en-US" sz="2400">
                  <a:solidFill>
                    <a:srgbClr val="000000"/>
                  </a:solidFill>
                  <a:latin typeface="Times New Roman" panose="02020603050405020304" pitchFamily="18" charset="0"/>
                </a:rPr>
                <a:t>Data</a:t>
              </a:r>
            </a:p>
          </p:txBody>
        </p:sp>
      </p:grpSp>
      <p:graphicFrame>
        <p:nvGraphicFramePr>
          <p:cNvPr id="9220" name="Object 8"/>
          <p:cNvGraphicFramePr>
            <a:graphicFrameLocks/>
          </p:cNvGraphicFramePr>
          <p:nvPr/>
        </p:nvGraphicFramePr>
        <p:xfrm>
          <a:off x="280988" y="4503738"/>
          <a:ext cx="5451475" cy="1778000"/>
        </p:xfrm>
        <a:graphic>
          <a:graphicData uri="http://schemas.openxmlformats.org/presentationml/2006/ole">
            <mc:AlternateContent xmlns:mc="http://schemas.openxmlformats.org/markup-compatibility/2006">
              <mc:Choice xmlns:v="urn:schemas-microsoft-com:vml" Requires="v">
                <p:oleObj spid="_x0000_s9253" name="Worksheet" r:id="rId6" imgW="5451475" imgH="1778000" progId="Excel.Sheet.8">
                  <p:embed/>
                </p:oleObj>
              </mc:Choice>
              <mc:Fallback>
                <p:oleObj name="Worksheet" r:id="rId6" imgW="5451475" imgH="1778000" progId="Excel.Sheet.8">
                  <p:embed/>
                  <p:pic>
                    <p:nvPicPr>
                      <p:cNvPr id="0" name="Object 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0988" y="4503738"/>
                        <a:ext cx="5451475" cy="177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1" name="Line 9"/>
          <p:cNvSpPr>
            <a:spLocks noChangeShapeType="1"/>
          </p:cNvSpPr>
          <p:nvPr/>
        </p:nvSpPr>
        <p:spPr bwMode="auto">
          <a:xfrm flipH="1">
            <a:off x="250825" y="3775075"/>
            <a:ext cx="1644650" cy="70008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9222" name="Line 10"/>
          <p:cNvSpPr>
            <a:spLocks noChangeShapeType="1"/>
          </p:cNvSpPr>
          <p:nvPr/>
        </p:nvSpPr>
        <p:spPr bwMode="auto">
          <a:xfrm>
            <a:off x="3681413" y="3775075"/>
            <a:ext cx="2025650" cy="70008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5707" name="AutoShape 11"/>
          <p:cNvSpPr>
            <a:spLocks noChangeArrowheads="1"/>
          </p:cNvSpPr>
          <p:nvPr/>
        </p:nvSpPr>
        <p:spPr bwMode="auto">
          <a:xfrm>
            <a:off x="7616825" y="4703763"/>
            <a:ext cx="546100" cy="592137"/>
          </a:xfrm>
          <a:prstGeom prst="downArrow">
            <a:avLst>
              <a:gd name="adj1" fmla="val 50000"/>
              <a:gd name="adj2" fmla="val 27128"/>
            </a:avLst>
          </a:prstGeom>
          <a:solidFill>
            <a:srgbClr val="2597B8"/>
          </a:solidFill>
          <a:ln w="12700">
            <a:solidFill>
              <a:srgbClr val="000000"/>
            </a:solidFill>
            <a:miter lim="800000"/>
            <a:headEnd/>
            <a:tailEnd/>
          </a:ln>
        </p:spPr>
        <p:txBody>
          <a:bodyPr vert="eaVert"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85708" name="Freeform 12"/>
          <p:cNvSpPr>
            <a:spLocks/>
          </p:cNvSpPr>
          <p:nvPr/>
        </p:nvSpPr>
        <p:spPr bwMode="auto">
          <a:xfrm>
            <a:off x="6346825" y="1876425"/>
            <a:ext cx="941388" cy="766763"/>
          </a:xfrm>
          <a:custGeom>
            <a:avLst/>
            <a:gdLst>
              <a:gd name="T0" fmla="*/ 0 w 593"/>
              <a:gd name="T1" fmla="*/ 2147483646 h 483"/>
              <a:gd name="T2" fmla="*/ 2147483646 w 593"/>
              <a:gd name="T3" fmla="*/ 0 h 483"/>
              <a:gd name="T4" fmla="*/ 2147483646 w 593"/>
              <a:gd name="T5" fmla="*/ 2147483646 h 483"/>
              <a:gd name="T6" fmla="*/ 2147483646 w 593"/>
              <a:gd name="T7" fmla="*/ 2147483646 h 483"/>
              <a:gd name="T8" fmla="*/ 2147483646 w 593"/>
              <a:gd name="T9" fmla="*/ 2147483646 h 483"/>
              <a:gd name="T10" fmla="*/ 2147483646 w 593"/>
              <a:gd name="T11" fmla="*/ 2147483646 h 483"/>
              <a:gd name="T12" fmla="*/ 2147483646 w 593"/>
              <a:gd name="T13" fmla="*/ 2147483646 h 483"/>
              <a:gd name="T14" fmla="*/ 2147483646 w 593"/>
              <a:gd name="T15" fmla="*/ 2147483646 h 483"/>
              <a:gd name="T16" fmla="*/ 2147483646 w 593"/>
              <a:gd name="T17" fmla="*/ 2147483646 h 483"/>
              <a:gd name="T18" fmla="*/ 2147483646 w 593"/>
              <a:gd name="T19" fmla="*/ 2147483646 h 483"/>
              <a:gd name="T20" fmla="*/ 0 w 593"/>
              <a:gd name="T21" fmla="*/ 2147483646 h 4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93"/>
              <a:gd name="T34" fmla="*/ 0 h 483"/>
              <a:gd name="T35" fmla="*/ 593 w 593"/>
              <a:gd name="T36" fmla="*/ 483 h 4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93" h="483">
                <a:moveTo>
                  <a:pt x="0" y="34"/>
                </a:moveTo>
                <a:lnTo>
                  <a:pt x="200" y="0"/>
                </a:lnTo>
                <a:lnTo>
                  <a:pt x="159" y="58"/>
                </a:lnTo>
                <a:lnTo>
                  <a:pt x="515" y="306"/>
                </a:lnTo>
                <a:lnTo>
                  <a:pt x="555" y="248"/>
                </a:lnTo>
                <a:lnTo>
                  <a:pt x="592" y="448"/>
                </a:lnTo>
                <a:lnTo>
                  <a:pt x="392" y="482"/>
                </a:lnTo>
                <a:lnTo>
                  <a:pt x="433" y="424"/>
                </a:lnTo>
                <a:lnTo>
                  <a:pt x="77" y="176"/>
                </a:lnTo>
                <a:lnTo>
                  <a:pt x="37" y="234"/>
                </a:lnTo>
                <a:lnTo>
                  <a:pt x="0" y="34"/>
                </a:lnTo>
              </a:path>
            </a:pathLst>
          </a:custGeom>
          <a:solidFill>
            <a:srgbClr val="2597B8"/>
          </a:solidFill>
          <a:ln w="12700" cap="rnd">
            <a:solidFill>
              <a:srgbClr val="000000"/>
            </a:solidFill>
            <a:round/>
            <a:headEnd type="none" w="sm" len="sm"/>
            <a:tailEnd type="none" w="sm" len="sm"/>
          </a:ln>
        </p:spPr>
        <p:txBody>
          <a:bodyPr/>
          <a:lstStyle/>
          <a:p>
            <a:endParaRPr lang="en-US"/>
          </a:p>
        </p:txBody>
      </p:sp>
      <p:grpSp>
        <p:nvGrpSpPr>
          <p:cNvPr id="4" name="Group 13"/>
          <p:cNvGrpSpPr>
            <a:grpSpLocks/>
          </p:cNvGrpSpPr>
          <p:nvPr/>
        </p:nvGrpSpPr>
        <p:grpSpPr bwMode="auto">
          <a:xfrm>
            <a:off x="6470650" y="2890838"/>
            <a:ext cx="1793875" cy="828675"/>
            <a:chOff x="4075" y="2075"/>
            <a:chExt cx="1130" cy="522"/>
          </a:xfrm>
        </p:grpSpPr>
        <p:pic>
          <p:nvPicPr>
            <p:cNvPr id="9233" name="Picture 14"/>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075" y="2075"/>
              <a:ext cx="1130"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4" name="Rectangle 15"/>
            <p:cNvSpPr>
              <a:spLocks noChangeArrowheads="1"/>
            </p:cNvSpPr>
            <p:nvPr/>
          </p:nvSpPr>
          <p:spPr bwMode="auto">
            <a:xfrm>
              <a:off x="4081" y="2218"/>
              <a:ext cx="11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2400">
                  <a:solidFill>
                    <a:srgbClr val="000000"/>
                  </a:solidFill>
                  <a:latin typeface="Times New Roman" panose="02020603050405020304" pitchFamily="18" charset="0"/>
                </a:rPr>
                <a:t>Unseen Data</a:t>
              </a:r>
            </a:p>
          </p:txBody>
        </p:sp>
      </p:grpSp>
      <p:sp>
        <p:nvSpPr>
          <p:cNvPr id="285712" name="Rectangle 16"/>
          <p:cNvSpPr>
            <a:spLocks noChangeArrowheads="1"/>
          </p:cNvSpPr>
          <p:nvPr/>
        </p:nvSpPr>
        <p:spPr bwMode="auto">
          <a:xfrm>
            <a:off x="6224588" y="4122738"/>
            <a:ext cx="2454275" cy="45720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2400">
                <a:solidFill>
                  <a:srgbClr val="000000"/>
                </a:solidFill>
                <a:latin typeface="Times New Roman" panose="02020603050405020304" pitchFamily="18" charset="0"/>
              </a:rPr>
              <a:t>(Jeff, Professor, 4)</a:t>
            </a:r>
          </a:p>
        </p:txBody>
      </p:sp>
      <p:sp>
        <p:nvSpPr>
          <p:cNvPr id="285713" name="Line 17"/>
          <p:cNvSpPr>
            <a:spLocks noChangeShapeType="1"/>
          </p:cNvSpPr>
          <p:nvPr/>
        </p:nvSpPr>
        <p:spPr bwMode="auto">
          <a:xfrm>
            <a:off x="8272463" y="3606800"/>
            <a:ext cx="314325" cy="43973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5714" name="Freeform 18"/>
          <p:cNvSpPr>
            <a:spLocks/>
          </p:cNvSpPr>
          <p:nvPr/>
        </p:nvSpPr>
        <p:spPr bwMode="auto">
          <a:xfrm>
            <a:off x="3184525" y="1735138"/>
            <a:ext cx="901700" cy="593725"/>
          </a:xfrm>
          <a:custGeom>
            <a:avLst/>
            <a:gdLst>
              <a:gd name="T0" fmla="*/ 2147483646 w 568"/>
              <a:gd name="T1" fmla="*/ 2147483646 h 374"/>
              <a:gd name="T2" fmla="*/ 2147483646 w 568"/>
              <a:gd name="T3" fmla="*/ 2147483646 h 374"/>
              <a:gd name="T4" fmla="*/ 2147483646 w 568"/>
              <a:gd name="T5" fmla="*/ 2147483646 h 374"/>
              <a:gd name="T6" fmla="*/ 2147483646 w 568"/>
              <a:gd name="T7" fmla="*/ 2147483646 h 374"/>
              <a:gd name="T8" fmla="*/ 2147483646 w 568"/>
              <a:gd name="T9" fmla="*/ 2147483646 h 374"/>
              <a:gd name="T10" fmla="*/ 0 w 568"/>
              <a:gd name="T11" fmla="*/ 2147483646 h 374"/>
              <a:gd name="T12" fmla="*/ 2147483646 w 568"/>
              <a:gd name="T13" fmla="*/ 2147483646 h 374"/>
              <a:gd name="T14" fmla="*/ 2147483646 w 568"/>
              <a:gd name="T15" fmla="*/ 2147483646 h 374"/>
              <a:gd name="T16" fmla="*/ 2147483646 w 568"/>
              <a:gd name="T17" fmla="*/ 2147483646 h 374"/>
              <a:gd name="T18" fmla="*/ 2147483646 w 568"/>
              <a:gd name="T19" fmla="*/ 0 h 374"/>
              <a:gd name="T20" fmla="*/ 2147483646 w 568"/>
              <a:gd name="T21" fmla="*/ 2147483646 h 3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8"/>
              <a:gd name="T34" fmla="*/ 0 h 374"/>
              <a:gd name="T35" fmla="*/ 568 w 568"/>
              <a:gd name="T36" fmla="*/ 374 h 3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8" h="374">
                <a:moveTo>
                  <a:pt x="567" y="59"/>
                </a:moveTo>
                <a:lnTo>
                  <a:pt x="503" y="220"/>
                </a:lnTo>
                <a:lnTo>
                  <a:pt x="478" y="165"/>
                </a:lnTo>
                <a:lnTo>
                  <a:pt x="138" y="318"/>
                </a:lnTo>
                <a:lnTo>
                  <a:pt x="163" y="373"/>
                </a:lnTo>
                <a:lnTo>
                  <a:pt x="0" y="314"/>
                </a:lnTo>
                <a:lnTo>
                  <a:pt x="64" y="153"/>
                </a:lnTo>
                <a:lnTo>
                  <a:pt x="89" y="208"/>
                </a:lnTo>
                <a:lnTo>
                  <a:pt x="429" y="55"/>
                </a:lnTo>
                <a:lnTo>
                  <a:pt x="404" y="0"/>
                </a:lnTo>
                <a:lnTo>
                  <a:pt x="567" y="59"/>
                </a:lnTo>
              </a:path>
            </a:pathLst>
          </a:custGeom>
          <a:solidFill>
            <a:srgbClr val="2597B8"/>
          </a:solidFill>
          <a:ln w="12700" cap="rnd">
            <a:solidFill>
              <a:srgbClr val="000000"/>
            </a:solidFill>
            <a:round/>
            <a:headEnd type="none" w="sm" len="sm"/>
            <a:tailEnd type="none" w="sm" len="sm"/>
          </a:ln>
        </p:spPr>
        <p:txBody>
          <a:bodyPr/>
          <a:lstStyle/>
          <a:p>
            <a:endParaRPr lang="en-US"/>
          </a:p>
        </p:txBody>
      </p:sp>
      <p:pic>
        <p:nvPicPr>
          <p:cNvPr id="285715" name="Picture 19"/>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543800" y="5441950"/>
            <a:ext cx="733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5716" name="Rectangle 20"/>
          <p:cNvSpPr>
            <a:spLocks noChangeArrowheads="1"/>
          </p:cNvSpPr>
          <p:nvPr/>
        </p:nvSpPr>
        <p:spPr bwMode="auto">
          <a:xfrm>
            <a:off x="6045200" y="4662488"/>
            <a:ext cx="1525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2800">
                <a:solidFill>
                  <a:srgbClr val="000000"/>
                </a:solidFill>
                <a:latin typeface="Times New Roman" panose="02020603050405020304" pitchFamily="18" charset="0"/>
              </a:rPr>
              <a:t>Tenured?</a:t>
            </a:r>
          </a:p>
        </p:txBody>
      </p:sp>
      <p:sp>
        <p:nvSpPr>
          <p:cNvPr id="285717" name="Rectangle 21"/>
          <p:cNvSpPr>
            <a:spLocks noGrp="1" noChangeArrowheads="1"/>
          </p:cNvSpPr>
          <p:nvPr>
            <p:ph type="title"/>
          </p:nvPr>
        </p:nvSpPr>
        <p:spPr>
          <a:xfrm>
            <a:off x="228600" y="228600"/>
            <a:ext cx="8686800" cy="762000"/>
          </a:xfrm>
        </p:spPr>
        <p:txBody>
          <a:bodyPr lIns="92075" tIns="46038" rIns="92075" bIns="46038" anchor="b" anchorCtr="0"/>
          <a:lstStyle/>
          <a:p>
            <a:pPr eaLnBrk="1" hangingPunct="1">
              <a:defRPr/>
            </a:pPr>
            <a:r>
              <a:rPr lang="en-US" smtClean="0"/>
              <a:t>Classification: Use the Model</a:t>
            </a:r>
          </a:p>
        </p:txBody>
      </p:sp>
      <p:sp>
        <p:nvSpPr>
          <p:cNvPr id="285718" name="Line 22"/>
          <p:cNvSpPr>
            <a:spLocks noChangeShapeType="1"/>
          </p:cNvSpPr>
          <p:nvPr/>
        </p:nvSpPr>
        <p:spPr bwMode="auto">
          <a:xfrm flipH="1">
            <a:off x="6224588" y="3665538"/>
            <a:ext cx="319087" cy="4572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28571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28570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857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2857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28571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8570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285716"/>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499"/>
                                          </p:stCondLst>
                                        </p:cTn>
                                        <p:tgtEl>
                                          <p:spTgt spid="2857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707" grpId="0" animBg="1"/>
      <p:bldP spid="285708" grpId="0" animBg="1"/>
      <p:bldP spid="285712" grpId="0" animBg="1" autoUpdateAnimBg="0"/>
      <p:bldP spid="285713" grpId="0" animBg="1"/>
      <p:bldP spid="285714" grpId="0" animBg="1"/>
      <p:bldP spid="285716" grpId="0" autoUpdateAnimBg="0"/>
      <p:bldP spid="2857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a:xfrm>
            <a:off x="457200" y="0"/>
            <a:ext cx="8229600" cy="990600"/>
          </a:xfrm>
        </p:spPr>
        <p:txBody>
          <a:bodyPr/>
          <a:lstStyle/>
          <a:p>
            <a:pPr eaLnBrk="1" hangingPunct="1">
              <a:defRPr/>
            </a:pPr>
            <a:r>
              <a:rPr lang="en-US" smtClean="0"/>
              <a:t>Examples of Classification Task</a:t>
            </a:r>
          </a:p>
        </p:txBody>
      </p:sp>
      <p:sp>
        <p:nvSpPr>
          <p:cNvPr id="183299" name="Rectangle 3"/>
          <p:cNvSpPr>
            <a:spLocks noGrp="1" noChangeArrowheads="1"/>
          </p:cNvSpPr>
          <p:nvPr>
            <p:ph idx="1"/>
          </p:nvPr>
        </p:nvSpPr>
        <p:spPr>
          <a:xfrm>
            <a:off x="130175" y="1219200"/>
            <a:ext cx="6705600" cy="4530725"/>
          </a:xfrm>
        </p:spPr>
        <p:txBody>
          <a:bodyPr>
            <a:normAutofit/>
          </a:bodyPr>
          <a:lstStyle/>
          <a:p>
            <a:pPr eaLnBrk="1" hangingPunct="1">
              <a:defRPr/>
            </a:pPr>
            <a:r>
              <a:rPr lang="en-US" sz="2800" dirty="0" smtClean="0"/>
              <a:t>Predicting tumor cells as benign or malignant</a:t>
            </a:r>
          </a:p>
          <a:p>
            <a:pPr eaLnBrk="1" hangingPunct="1">
              <a:defRPr/>
            </a:pPr>
            <a:r>
              <a:rPr lang="en-US" sz="2800" dirty="0" smtClean="0"/>
              <a:t>Classifying credit card transactions </a:t>
            </a:r>
            <a:br>
              <a:rPr lang="en-US" sz="2800" dirty="0" smtClean="0"/>
            </a:br>
            <a:r>
              <a:rPr lang="en-US" sz="2800" dirty="0" smtClean="0"/>
              <a:t>as legitimate or fraudulent</a:t>
            </a:r>
          </a:p>
          <a:p>
            <a:pPr eaLnBrk="1" hangingPunct="1">
              <a:defRPr/>
            </a:pPr>
            <a:r>
              <a:rPr lang="en-US" sz="2800" dirty="0" smtClean="0"/>
              <a:t>Classifying secondary structures of protein </a:t>
            </a:r>
            <a:br>
              <a:rPr lang="en-US" sz="2800" dirty="0" smtClean="0"/>
            </a:br>
            <a:r>
              <a:rPr lang="en-US" sz="2800" dirty="0" smtClean="0"/>
              <a:t>as alpha-helix, beta-sheet, or random </a:t>
            </a:r>
            <a:br>
              <a:rPr lang="en-US" sz="2800" dirty="0" smtClean="0"/>
            </a:br>
            <a:r>
              <a:rPr lang="en-US" sz="2800" dirty="0" smtClean="0"/>
              <a:t>coil</a:t>
            </a:r>
          </a:p>
          <a:p>
            <a:pPr eaLnBrk="1" hangingPunct="1">
              <a:defRPr/>
            </a:pPr>
            <a:r>
              <a:rPr lang="en-US" sz="2800" dirty="0" smtClean="0"/>
              <a:t>Categorizing news stories as finance, </a:t>
            </a:r>
            <a:br>
              <a:rPr lang="en-US" sz="2800" dirty="0" smtClean="0"/>
            </a:br>
            <a:r>
              <a:rPr lang="en-US" sz="2800" dirty="0" smtClean="0"/>
              <a:t>weather, entertainment, sports, </a:t>
            </a:r>
            <a:r>
              <a:rPr lang="en-US" sz="2800" dirty="0" err="1" smtClean="0"/>
              <a:t>etc</a:t>
            </a:r>
            <a:endParaRPr lang="en-US" sz="2800" dirty="0" smtClean="0"/>
          </a:p>
        </p:txBody>
      </p:sp>
      <p:grpSp>
        <p:nvGrpSpPr>
          <p:cNvPr id="11268" name="Group 4"/>
          <p:cNvGrpSpPr>
            <a:grpSpLocks/>
          </p:cNvGrpSpPr>
          <p:nvPr/>
        </p:nvGrpSpPr>
        <p:grpSpPr bwMode="auto">
          <a:xfrm>
            <a:off x="6172200" y="838200"/>
            <a:ext cx="2743200" cy="1874838"/>
            <a:chOff x="3360" y="768"/>
            <a:chExt cx="1296" cy="893"/>
          </a:xfrm>
        </p:grpSpPr>
        <p:pic>
          <p:nvPicPr>
            <p:cNvPr id="11270" name="Picture 5" descr="story-3dimensional-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8" y="768"/>
              <a:ext cx="1238" cy="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271" name="Object 6"/>
            <p:cNvGraphicFramePr>
              <a:graphicFrameLocks noChangeAspect="1"/>
            </p:cNvGraphicFramePr>
            <p:nvPr/>
          </p:nvGraphicFramePr>
          <p:xfrm>
            <a:off x="3370" y="1155"/>
            <a:ext cx="432" cy="429"/>
          </p:xfrm>
          <a:graphic>
            <a:graphicData uri="http://schemas.openxmlformats.org/presentationml/2006/ole">
              <mc:AlternateContent xmlns:mc="http://schemas.openxmlformats.org/markup-compatibility/2006">
                <mc:Choice xmlns:v="urn:schemas-microsoft-com:vml" Requires="v">
                  <p:oleObj spid="_x0000_s11303" name="VISIO" r:id="rId4" imgW="617220" imgH="615696" progId="Visio.Drawing.6">
                    <p:embed/>
                  </p:oleObj>
                </mc:Choice>
                <mc:Fallback>
                  <p:oleObj name="VISIO" r:id="rId4" imgW="617220" imgH="615696" progId="Visio.Drawing.6">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0" y="1155"/>
                          <a:ext cx="432" cy="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2" name="Object 7"/>
            <p:cNvGraphicFramePr>
              <a:graphicFrameLocks noChangeAspect="1"/>
            </p:cNvGraphicFramePr>
            <p:nvPr/>
          </p:nvGraphicFramePr>
          <p:xfrm>
            <a:off x="3360" y="912"/>
            <a:ext cx="432" cy="355"/>
          </p:xfrm>
          <a:graphic>
            <a:graphicData uri="http://schemas.openxmlformats.org/presentationml/2006/ole">
              <mc:AlternateContent xmlns:mc="http://schemas.openxmlformats.org/markup-compatibility/2006">
                <mc:Choice xmlns:v="urn:schemas-microsoft-com:vml" Requires="v">
                  <p:oleObj spid="_x0000_s11304" name="VISIO" r:id="rId6" imgW="806196" imgH="662940" progId="Visio.Drawing.6">
                    <p:embed/>
                  </p:oleObj>
                </mc:Choice>
                <mc:Fallback>
                  <p:oleObj name="VISIO" r:id="rId6" imgW="806196" imgH="662940" progId="Visio.Drawing.6">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60" y="912"/>
                          <a:ext cx="432"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pic>
        <p:nvPicPr>
          <p:cNvPr id="11269" name="Picture 8" descr="pr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05600" y="3054472"/>
            <a:ext cx="2068513" cy="3125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solidFill>
                  <a:schemeClr val="folHlink"/>
                </a:solidFill>
              </a:rPr>
              <a:t>Classification: 2 Step Process</a:t>
            </a:r>
            <a:endParaRPr lang="en-US" dirty="0"/>
          </a:p>
        </p:txBody>
      </p:sp>
      <p:sp>
        <p:nvSpPr>
          <p:cNvPr id="3" name="Content Placeholder 2"/>
          <p:cNvSpPr>
            <a:spLocks noGrp="1"/>
          </p:cNvSpPr>
          <p:nvPr>
            <p:ph idx="1"/>
          </p:nvPr>
        </p:nvSpPr>
        <p:spPr>
          <a:xfrm>
            <a:off x="533400" y="1295401"/>
            <a:ext cx="7981950" cy="4876800"/>
          </a:xfrm>
        </p:spPr>
        <p:txBody>
          <a:bodyPr>
            <a:normAutofit/>
          </a:bodyPr>
          <a:lstStyle/>
          <a:p>
            <a:pPr>
              <a:lnSpc>
                <a:spcPct val="90000"/>
              </a:lnSpc>
              <a:buSzPct val="120000"/>
              <a:buFont typeface="Wingdings" panose="05000000000000000000" pitchFamily="2" charset="2"/>
              <a:buChar char="§"/>
            </a:pPr>
            <a:r>
              <a:rPr lang="en-US" altLang="en-US" dirty="0">
                <a:solidFill>
                  <a:schemeClr val="folHlink"/>
                </a:solidFill>
                <a:latin typeface="Tahoma" panose="020B0604030504040204" pitchFamily="34" charset="0"/>
              </a:rPr>
              <a:t>Model construction: describing a set of predetermined classes</a:t>
            </a:r>
          </a:p>
          <a:p>
            <a:pPr lvl="1">
              <a:lnSpc>
                <a:spcPct val="90000"/>
              </a:lnSpc>
              <a:buSzPct val="120000"/>
              <a:buFont typeface="Wingdings" panose="05000000000000000000" pitchFamily="2" charset="2"/>
              <a:buChar char="§"/>
            </a:pPr>
            <a:r>
              <a:rPr lang="en-US" altLang="en-US" sz="2000" dirty="0">
                <a:solidFill>
                  <a:schemeClr val="folHlink"/>
                </a:solidFill>
                <a:latin typeface="Tahoma" panose="020B0604030504040204" pitchFamily="34" charset="0"/>
              </a:rPr>
              <a:t>Each tuple/sample is assumed to belong to a predefined class, as determined by the </a:t>
            </a:r>
            <a:r>
              <a:rPr lang="en-US" altLang="en-US" sz="2000" i="1" dirty="0">
                <a:solidFill>
                  <a:schemeClr val="folHlink"/>
                </a:solidFill>
                <a:latin typeface="Tahoma" panose="020B0604030504040204" pitchFamily="34" charset="0"/>
              </a:rPr>
              <a:t>class label attribute</a:t>
            </a:r>
          </a:p>
          <a:p>
            <a:pPr lvl="1">
              <a:lnSpc>
                <a:spcPct val="90000"/>
              </a:lnSpc>
              <a:buSzPct val="120000"/>
              <a:buFont typeface="Wingdings" panose="05000000000000000000" pitchFamily="2" charset="2"/>
              <a:buChar char="§"/>
            </a:pPr>
            <a:r>
              <a:rPr lang="en-US" altLang="en-US" sz="2000" dirty="0">
                <a:solidFill>
                  <a:schemeClr val="folHlink"/>
                </a:solidFill>
                <a:latin typeface="Tahoma" panose="020B0604030504040204" pitchFamily="34" charset="0"/>
              </a:rPr>
              <a:t>The set of tuples used for model construction: </a:t>
            </a:r>
            <a:r>
              <a:rPr lang="en-US" altLang="en-US" sz="2000" i="1" dirty="0">
                <a:solidFill>
                  <a:schemeClr val="folHlink"/>
                </a:solidFill>
                <a:latin typeface="Tahoma" panose="020B0604030504040204" pitchFamily="34" charset="0"/>
              </a:rPr>
              <a:t>training set</a:t>
            </a:r>
          </a:p>
          <a:p>
            <a:pPr lvl="1">
              <a:lnSpc>
                <a:spcPct val="90000"/>
              </a:lnSpc>
              <a:buSzPct val="120000"/>
              <a:buFont typeface="Wingdings" panose="05000000000000000000" pitchFamily="2" charset="2"/>
              <a:buChar char="§"/>
            </a:pPr>
            <a:r>
              <a:rPr lang="en-US" altLang="en-US" sz="2000" dirty="0">
                <a:solidFill>
                  <a:schemeClr val="folHlink"/>
                </a:solidFill>
                <a:latin typeface="Tahoma" panose="020B0604030504040204" pitchFamily="34" charset="0"/>
              </a:rPr>
              <a:t>The model is represented as classification rules, decision trees, or mathematical formulae</a:t>
            </a:r>
          </a:p>
          <a:p>
            <a:pPr>
              <a:lnSpc>
                <a:spcPct val="90000"/>
              </a:lnSpc>
              <a:buSzPct val="120000"/>
              <a:buFont typeface="Wingdings" panose="05000000000000000000" pitchFamily="2" charset="2"/>
              <a:buChar char="§"/>
            </a:pPr>
            <a:r>
              <a:rPr lang="en-US" altLang="en-US" dirty="0">
                <a:solidFill>
                  <a:schemeClr val="folHlink"/>
                </a:solidFill>
                <a:latin typeface="Tahoma" panose="020B0604030504040204" pitchFamily="34" charset="0"/>
              </a:rPr>
              <a:t>Model usage: for classifying future or unknown objects</a:t>
            </a:r>
          </a:p>
          <a:p>
            <a:pPr lvl="1">
              <a:lnSpc>
                <a:spcPct val="90000"/>
              </a:lnSpc>
              <a:buSzPct val="120000"/>
              <a:buFont typeface="Wingdings" panose="05000000000000000000" pitchFamily="2" charset="2"/>
              <a:buChar char="§"/>
            </a:pPr>
            <a:r>
              <a:rPr lang="en-US" altLang="en-US" sz="2000" dirty="0">
                <a:solidFill>
                  <a:schemeClr val="folHlink"/>
                </a:solidFill>
                <a:latin typeface="Tahoma" panose="020B0604030504040204" pitchFamily="34" charset="0"/>
              </a:rPr>
              <a:t>Estimate accuracy of the model</a:t>
            </a:r>
          </a:p>
          <a:p>
            <a:pPr lvl="2">
              <a:lnSpc>
                <a:spcPct val="90000"/>
              </a:lnSpc>
              <a:buSzPct val="120000"/>
              <a:buFont typeface="Wingdings" panose="05000000000000000000" pitchFamily="2" charset="2"/>
              <a:buChar char="§"/>
            </a:pPr>
            <a:r>
              <a:rPr lang="en-US" altLang="en-US" sz="2000" dirty="0">
                <a:solidFill>
                  <a:schemeClr val="folHlink"/>
                </a:solidFill>
                <a:latin typeface="Tahoma" panose="020B0604030504040204" pitchFamily="34" charset="0"/>
              </a:rPr>
              <a:t>The known label of test sample is compared with the classified result from the model</a:t>
            </a:r>
          </a:p>
          <a:p>
            <a:pPr lvl="2">
              <a:lnSpc>
                <a:spcPct val="90000"/>
              </a:lnSpc>
              <a:buSzPct val="120000"/>
              <a:buFont typeface="Wingdings" panose="05000000000000000000" pitchFamily="2" charset="2"/>
              <a:buChar char="§"/>
            </a:pPr>
            <a:r>
              <a:rPr lang="en-US" altLang="en-US" sz="2000" dirty="0">
                <a:solidFill>
                  <a:schemeClr val="folHlink"/>
                </a:solidFill>
                <a:latin typeface="Tahoma" panose="020B0604030504040204" pitchFamily="34" charset="0"/>
              </a:rPr>
              <a:t>Accuracy rate is the percentage of test set samples that are correctly classified by the model</a:t>
            </a:r>
          </a:p>
          <a:p>
            <a:pPr lvl="2">
              <a:lnSpc>
                <a:spcPct val="90000"/>
              </a:lnSpc>
              <a:buSzPct val="120000"/>
              <a:buFont typeface="Wingdings" panose="05000000000000000000" pitchFamily="2" charset="2"/>
              <a:buChar char="§"/>
            </a:pPr>
            <a:r>
              <a:rPr lang="en-US" altLang="en-US" sz="2000" dirty="0">
                <a:solidFill>
                  <a:schemeClr val="folHlink"/>
                </a:solidFill>
                <a:latin typeface="Tahoma" panose="020B0604030504040204" pitchFamily="34" charset="0"/>
              </a:rPr>
              <a:t>Test set is independent of training set, otherwise over-fitting will occur</a:t>
            </a:r>
          </a:p>
          <a:p>
            <a:endParaRPr lang="en-US" dirty="0"/>
          </a:p>
        </p:txBody>
      </p:sp>
    </p:spTree>
    <p:extLst>
      <p:ext uri="{BB962C8B-B14F-4D97-AF65-F5344CB8AC3E}">
        <p14:creationId xmlns:p14="http://schemas.microsoft.com/office/powerpoint/2010/main" val="17325193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solidFill>
                  <a:schemeClr val="folHlink"/>
                </a:solidFill>
              </a:rPr>
              <a:t>Classifier Accuracy</a:t>
            </a:r>
            <a:br>
              <a:rPr lang="en-US" altLang="en-US" sz="3600" dirty="0">
                <a:solidFill>
                  <a:schemeClr val="folHlink"/>
                </a:solidFill>
              </a:rPr>
            </a:br>
            <a:endParaRPr lang="en-US" dirty="0"/>
          </a:p>
        </p:txBody>
      </p:sp>
      <p:sp>
        <p:nvSpPr>
          <p:cNvPr id="3" name="Content Placeholder 2"/>
          <p:cNvSpPr>
            <a:spLocks noGrp="1"/>
          </p:cNvSpPr>
          <p:nvPr>
            <p:ph idx="1"/>
          </p:nvPr>
        </p:nvSpPr>
        <p:spPr>
          <a:xfrm>
            <a:off x="533400" y="1143001"/>
            <a:ext cx="7981950" cy="5029200"/>
          </a:xfrm>
        </p:spPr>
        <p:txBody>
          <a:bodyPr>
            <a:normAutofit/>
          </a:bodyPr>
          <a:lstStyle/>
          <a:p>
            <a:pPr>
              <a:lnSpc>
                <a:spcPct val="110000"/>
              </a:lnSpc>
              <a:buClr>
                <a:schemeClr val="folHlink"/>
              </a:buClr>
              <a:buSzPct val="60000"/>
              <a:buFont typeface="Wingdings" panose="05000000000000000000" pitchFamily="2" charset="2"/>
              <a:buChar char="n"/>
            </a:pPr>
            <a:r>
              <a:rPr lang="en-US" altLang="en-US" sz="2000" dirty="0">
                <a:latin typeface="Tahoma" panose="020B0604030504040204" pitchFamily="34" charset="0"/>
              </a:rPr>
              <a:t>Partition: Training-and-testing</a:t>
            </a:r>
          </a:p>
          <a:p>
            <a:pPr lvl="1">
              <a:lnSpc>
                <a:spcPct val="110000"/>
              </a:lnSpc>
              <a:buClr>
                <a:schemeClr val="hlink"/>
              </a:buClr>
              <a:buSzPct val="55000"/>
              <a:buFont typeface="Wingdings" panose="05000000000000000000" pitchFamily="2" charset="2"/>
              <a:buChar char="n"/>
            </a:pPr>
            <a:r>
              <a:rPr lang="en-US" altLang="en-US" sz="2400" dirty="0">
                <a:latin typeface="Tahoma" panose="020B0604030504040204" pitchFamily="34" charset="0"/>
              </a:rPr>
              <a:t>use two independent data sets, e.g., training set (2/3), test set(1/3)</a:t>
            </a:r>
          </a:p>
          <a:p>
            <a:pPr lvl="1">
              <a:lnSpc>
                <a:spcPct val="110000"/>
              </a:lnSpc>
              <a:buClr>
                <a:schemeClr val="hlink"/>
              </a:buClr>
              <a:buSzPct val="55000"/>
              <a:buFont typeface="Wingdings" panose="05000000000000000000" pitchFamily="2" charset="2"/>
              <a:buChar char="n"/>
            </a:pPr>
            <a:r>
              <a:rPr lang="en-US" altLang="en-US" sz="2400" dirty="0">
                <a:latin typeface="Tahoma" panose="020B0604030504040204" pitchFamily="34" charset="0"/>
              </a:rPr>
              <a:t>used for data set with large number of samples</a:t>
            </a:r>
          </a:p>
          <a:p>
            <a:pPr>
              <a:lnSpc>
                <a:spcPct val="110000"/>
              </a:lnSpc>
              <a:buClr>
                <a:schemeClr val="folHlink"/>
              </a:buClr>
              <a:buSzPct val="60000"/>
              <a:buFont typeface="Wingdings" panose="05000000000000000000" pitchFamily="2" charset="2"/>
              <a:buChar char="n"/>
            </a:pPr>
            <a:r>
              <a:rPr lang="en-US" altLang="en-US" sz="2000" dirty="0">
                <a:latin typeface="Tahoma" panose="020B0604030504040204" pitchFamily="34" charset="0"/>
              </a:rPr>
              <a:t>Cross-validation</a:t>
            </a:r>
          </a:p>
          <a:p>
            <a:pPr lvl="1">
              <a:lnSpc>
                <a:spcPct val="110000"/>
              </a:lnSpc>
              <a:buClr>
                <a:schemeClr val="hlink"/>
              </a:buClr>
              <a:buSzPct val="55000"/>
              <a:buFont typeface="Wingdings" panose="05000000000000000000" pitchFamily="2" charset="2"/>
              <a:buChar char="n"/>
            </a:pPr>
            <a:r>
              <a:rPr lang="en-US" altLang="en-US" sz="2400" dirty="0">
                <a:latin typeface="Tahoma" panose="020B0604030504040204" pitchFamily="34" charset="0"/>
              </a:rPr>
              <a:t>divide the data set into k subsamples</a:t>
            </a:r>
          </a:p>
          <a:p>
            <a:pPr lvl="1">
              <a:lnSpc>
                <a:spcPct val="110000"/>
              </a:lnSpc>
              <a:buClr>
                <a:schemeClr val="hlink"/>
              </a:buClr>
              <a:buSzPct val="55000"/>
              <a:buFont typeface="Wingdings" panose="05000000000000000000" pitchFamily="2" charset="2"/>
              <a:buChar char="n"/>
            </a:pPr>
            <a:r>
              <a:rPr lang="en-US" altLang="en-US" sz="2400" dirty="0">
                <a:latin typeface="Tahoma" panose="020B0604030504040204" pitchFamily="34" charset="0"/>
              </a:rPr>
              <a:t>use k-1 subsamples as training data and one sub-sample as test data --- k-fold cross-validation</a:t>
            </a:r>
          </a:p>
          <a:p>
            <a:pPr lvl="1">
              <a:lnSpc>
                <a:spcPct val="110000"/>
              </a:lnSpc>
              <a:buClr>
                <a:schemeClr val="hlink"/>
              </a:buClr>
              <a:buSzPct val="55000"/>
              <a:buFont typeface="Wingdings" panose="05000000000000000000" pitchFamily="2" charset="2"/>
              <a:buChar char="n"/>
            </a:pPr>
            <a:r>
              <a:rPr lang="en-US" altLang="en-US" sz="2400" dirty="0">
                <a:latin typeface="Tahoma" panose="020B0604030504040204" pitchFamily="34" charset="0"/>
              </a:rPr>
              <a:t>for data set with moderate size</a:t>
            </a:r>
          </a:p>
          <a:p>
            <a:pPr>
              <a:lnSpc>
                <a:spcPct val="110000"/>
              </a:lnSpc>
              <a:buClr>
                <a:schemeClr val="folHlink"/>
              </a:buClr>
              <a:buSzPct val="60000"/>
              <a:buFont typeface="Wingdings" panose="05000000000000000000" pitchFamily="2" charset="2"/>
              <a:buChar char="n"/>
            </a:pPr>
            <a:r>
              <a:rPr lang="en-US" dirty="0"/>
              <a:t>Leave-one-out cross validation </a:t>
            </a:r>
            <a:endParaRPr lang="en-US" dirty="0" smtClean="0"/>
          </a:p>
          <a:p>
            <a:pPr lvl="1">
              <a:lnSpc>
                <a:spcPct val="110000"/>
              </a:lnSpc>
              <a:buClr>
                <a:schemeClr val="folHlink"/>
              </a:buClr>
              <a:buSzPct val="60000"/>
              <a:buFont typeface="Wingdings" panose="05000000000000000000" pitchFamily="2" charset="2"/>
              <a:buChar char="n"/>
            </a:pPr>
            <a:r>
              <a:rPr lang="en-US" altLang="en-US" sz="2100" dirty="0" smtClean="0">
                <a:latin typeface="Tahoma" panose="020B0604030504040204" pitchFamily="34" charset="0"/>
              </a:rPr>
              <a:t>for </a:t>
            </a:r>
            <a:r>
              <a:rPr lang="en-US" altLang="en-US" sz="2100" dirty="0">
                <a:latin typeface="Tahoma" panose="020B0604030504040204" pitchFamily="34" charset="0"/>
              </a:rPr>
              <a:t>small size data</a:t>
            </a:r>
          </a:p>
          <a:p>
            <a:endParaRPr lang="en-US" dirty="0"/>
          </a:p>
        </p:txBody>
      </p:sp>
    </p:spTree>
    <p:extLst>
      <p:ext uri="{BB962C8B-B14F-4D97-AF65-F5344CB8AC3E}">
        <p14:creationId xmlns:p14="http://schemas.microsoft.com/office/powerpoint/2010/main" val="10415396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defRPr/>
            </a:pPr>
            <a:r>
              <a:rPr lang="en-US" dirty="0" smtClean="0"/>
              <a:t>Classification Techniques</a:t>
            </a:r>
          </a:p>
        </p:txBody>
      </p:sp>
      <p:sp>
        <p:nvSpPr>
          <p:cNvPr id="184323" name="Rectangle 3"/>
          <p:cNvSpPr>
            <a:spLocks noGrp="1" noChangeArrowheads="1"/>
          </p:cNvSpPr>
          <p:nvPr>
            <p:ph idx="1"/>
          </p:nvPr>
        </p:nvSpPr>
        <p:spPr/>
        <p:txBody>
          <a:bodyPr>
            <a:normAutofit/>
          </a:bodyPr>
          <a:lstStyle/>
          <a:p>
            <a:pPr eaLnBrk="1" hangingPunct="1">
              <a:defRPr/>
            </a:pPr>
            <a:r>
              <a:rPr lang="en-US" sz="2800" dirty="0" smtClean="0"/>
              <a:t>Decision Tree based Methods</a:t>
            </a:r>
          </a:p>
          <a:p>
            <a:pPr eaLnBrk="1" hangingPunct="1">
              <a:defRPr/>
            </a:pPr>
            <a:r>
              <a:rPr lang="en-US" sz="2800" dirty="0" smtClean="0"/>
              <a:t>Rule-based Methods</a:t>
            </a:r>
          </a:p>
          <a:p>
            <a:pPr eaLnBrk="1" hangingPunct="1">
              <a:defRPr/>
            </a:pPr>
            <a:r>
              <a:rPr lang="en-US" sz="2800" dirty="0" smtClean="0"/>
              <a:t>Neural </a:t>
            </a:r>
            <a:r>
              <a:rPr lang="en-US" sz="2800" dirty="0" smtClean="0"/>
              <a:t>Networks</a:t>
            </a:r>
          </a:p>
          <a:p>
            <a:pPr eaLnBrk="1" hangingPunct="1">
              <a:defRPr/>
            </a:pPr>
            <a:r>
              <a:rPr lang="en-US" sz="2800" dirty="0" smtClean="0"/>
              <a:t>Naïve Bayes and Bayesian Belief Networks</a:t>
            </a:r>
          </a:p>
          <a:p>
            <a:pPr eaLnBrk="1" hangingPunct="1">
              <a:defRPr/>
            </a:pPr>
            <a:r>
              <a:rPr lang="en-US" sz="2800" dirty="0" smtClean="0"/>
              <a:t>Support Vector Machines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a:xfrm>
            <a:off x="628650" y="274638"/>
            <a:ext cx="7886700" cy="674989"/>
          </a:xfrm>
        </p:spPr>
        <p:txBody>
          <a:bodyPr/>
          <a:lstStyle/>
          <a:p>
            <a:pPr eaLnBrk="1" hangingPunct="1">
              <a:defRPr/>
            </a:pPr>
            <a:r>
              <a:rPr lang="en-US" dirty="0" smtClean="0"/>
              <a:t>Example of a Decision Tree</a:t>
            </a:r>
          </a:p>
        </p:txBody>
      </p:sp>
      <p:grpSp>
        <p:nvGrpSpPr>
          <p:cNvPr id="13315" name="Group 3"/>
          <p:cNvGrpSpPr>
            <a:grpSpLocks/>
          </p:cNvGrpSpPr>
          <p:nvPr/>
        </p:nvGrpSpPr>
        <p:grpSpPr bwMode="auto">
          <a:xfrm>
            <a:off x="228600" y="1371600"/>
            <a:ext cx="3587750" cy="4311650"/>
            <a:chOff x="288" y="951"/>
            <a:chExt cx="2260" cy="2716"/>
          </a:xfrm>
        </p:grpSpPr>
        <p:graphicFrame>
          <p:nvGraphicFramePr>
            <p:cNvPr id="13345" name="Object 4"/>
            <p:cNvGraphicFramePr>
              <a:graphicFrameLocks noChangeAspect="1"/>
            </p:cNvGraphicFramePr>
            <p:nvPr/>
          </p:nvGraphicFramePr>
          <p:xfrm>
            <a:off x="288" y="1344"/>
            <a:ext cx="2246" cy="2323"/>
          </p:xfrm>
          <a:graphic>
            <a:graphicData uri="http://schemas.openxmlformats.org/presentationml/2006/ole">
              <mc:AlternateContent xmlns:mc="http://schemas.openxmlformats.org/markup-compatibility/2006">
                <mc:Choice xmlns:v="urn:schemas-microsoft-com:vml" Requires="v">
                  <p:oleObj spid="_x0000_s13365" name="Document" r:id="rId3" imgW="5404104" imgH="5779008" progId="Word.Document.8">
                    <p:embed/>
                  </p:oleObj>
                </mc:Choice>
                <mc:Fallback>
                  <p:oleObj name="Document" r:id="rId3" imgW="5404104" imgH="5779008"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 y="1344"/>
                          <a:ext cx="2246" cy="23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46" name="Text Box 5"/>
            <p:cNvSpPr txBox="1">
              <a:spLocks noChangeArrowheads="1"/>
            </p:cNvSpPr>
            <p:nvPr/>
          </p:nvSpPr>
          <p:spPr bwMode="auto">
            <a:xfrm rot="-2416809">
              <a:off x="672" y="951"/>
              <a:ext cx="7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006600"/>
                  </a:solidFill>
                  <a:latin typeface="Arial" panose="020B0604020202020204" pitchFamily="34" charset="0"/>
                </a:rPr>
                <a:t>categorical</a:t>
              </a:r>
              <a:endParaRPr lang="en-US" altLang="en-US" sz="1600" b="1">
                <a:solidFill>
                  <a:schemeClr val="bg2"/>
                </a:solidFill>
                <a:latin typeface="Arial" panose="020B0604020202020204" pitchFamily="34" charset="0"/>
              </a:endParaRPr>
            </a:p>
          </p:txBody>
        </p:sp>
        <p:sp>
          <p:nvSpPr>
            <p:cNvPr id="13347" name="Text Box 6"/>
            <p:cNvSpPr txBox="1">
              <a:spLocks noChangeArrowheads="1"/>
            </p:cNvSpPr>
            <p:nvPr/>
          </p:nvSpPr>
          <p:spPr bwMode="auto">
            <a:xfrm rot="-2416809">
              <a:off x="1104" y="951"/>
              <a:ext cx="7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006600"/>
                  </a:solidFill>
                  <a:latin typeface="Arial" panose="020B0604020202020204" pitchFamily="34" charset="0"/>
                </a:rPr>
                <a:t>categorical</a:t>
              </a:r>
              <a:endParaRPr lang="en-US" altLang="en-US" sz="1600" b="1">
                <a:solidFill>
                  <a:schemeClr val="bg2"/>
                </a:solidFill>
                <a:latin typeface="Arial" panose="020B0604020202020204" pitchFamily="34" charset="0"/>
              </a:endParaRPr>
            </a:p>
          </p:txBody>
        </p:sp>
        <p:sp>
          <p:nvSpPr>
            <p:cNvPr id="13348" name="Text Box 7"/>
            <p:cNvSpPr txBox="1">
              <a:spLocks noChangeArrowheads="1"/>
            </p:cNvSpPr>
            <p:nvPr/>
          </p:nvSpPr>
          <p:spPr bwMode="auto">
            <a:xfrm rot="-2416809">
              <a:off x="1632" y="951"/>
              <a:ext cx="80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006600"/>
                  </a:solidFill>
                  <a:latin typeface="Arial" panose="020B0604020202020204" pitchFamily="34" charset="0"/>
                </a:rPr>
                <a:t>continuous</a:t>
              </a:r>
              <a:endParaRPr lang="en-US" altLang="en-US" sz="1600" b="1">
                <a:solidFill>
                  <a:schemeClr val="bg2"/>
                </a:solidFill>
                <a:latin typeface="Arial" panose="020B0604020202020204" pitchFamily="34" charset="0"/>
              </a:endParaRPr>
            </a:p>
          </p:txBody>
        </p:sp>
        <p:sp>
          <p:nvSpPr>
            <p:cNvPr id="13349" name="Text Box 8"/>
            <p:cNvSpPr txBox="1">
              <a:spLocks noChangeArrowheads="1"/>
            </p:cNvSpPr>
            <p:nvPr/>
          </p:nvSpPr>
          <p:spPr bwMode="auto">
            <a:xfrm rot="-2416809">
              <a:off x="2112" y="1047"/>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006600"/>
                  </a:solidFill>
                  <a:latin typeface="Arial" panose="020B0604020202020204" pitchFamily="34" charset="0"/>
                </a:rPr>
                <a:t>class</a:t>
              </a:r>
              <a:endParaRPr lang="en-US" altLang="en-US" sz="1600" b="1">
                <a:solidFill>
                  <a:schemeClr val="bg2"/>
                </a:solidFill>
                <a:latin typeface="Arial" panose="020B0604020202020204" pitchFamily="34" charset="0"/>
              </a:endParaRPr>
            </a:p>
          </p:txBody>
        </p:sp>
      </p:grpSp>
      <p:sp>
        <p:nvSpPr>
          <p:cNvPr id="13316" name="Line 9"/>
          <p:cNvSpPr>
            <a:spLocks noChangeShapeType="1"/>
          </p:cNvSpPr>
          <p:nvPr/>
        </p:nvSpPr>
        <p:spPr bwMode="auto">
          <a:xfrm>
            <a:off x="6965950" y="4505325"/>
            <a:ext cx="242888" cy="52705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17" name="Line 10"/>
          <p:cNvSpPr>
            <a:spLocks noChangeShapeType="1"/>
          </p:cNvSpPr>
          <p:nvPr/>
        </p:nvSpPr>
        <p:spPr bwMode="auto">
          <a:xfrm flipH="1">
            <a:off x="5835650" y="4505325"/>
            <a:ext cx="323850" cy="52705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18" name="Line 11"/>
          <p:cNvSpPr>
            <a:spLocks noChangeShapeType="1"/>
          </p:cNvSpPr>
          <p:nvPr/>
        </p:nvSpPr>
        <p:spPr bwMode="auto">
          <a:xfrm flipH="1">
            <a:off x="6481763" y="3711575"/>
            <a:ext cx="403225" cy="528638"/>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19" name="Line 12"/>
          <p:cNvSpPr>
            <a:spLocks noChangeShapeType="1"/>
          </p:cNvSpPr>
          <p:nvPr/>
        </p:nvSpPr>
        <p:spPr bwMode="auto">
          <a:xfrm>
            <a:off x="7693025" y="3711575"/>
            <a:ext cx="484188" cy="528638"/>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0" name="Line 13"/>
          <p:cNvSpPr>
            <a:spLocks noChangeShapeType="1"/>
          </p:cNvSpPr>
          <p:nvPr/>
        </p:nvSpPr>
        <p:spPr bwMode="auto">
          <a:xfrm>
            <a:off x="6643688" y="2984500"/>
            <a:ext cx="565150" cy="46355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1" name="Line 14"/>
          <p:cNvSpPr>
            <a:spLocks noChangeShapeType="1"/>
          </p:cNvSpPr>
          <p:nvPr/>
        </p:nvSpPr>
        <p:spPr bwMode="auto">
          <a:xfrm flipH="1">
            <a:off x="5270500" y="2984500"/>
            <a:ext cx="565150" cy="46355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2" name="Text Box 15"/>
          <p:cNvSpPr txBox="1">
            <a:spLocks noChangeArrowheads="1"/>
          </p:cNvSpPr>
          <p:nvPr/>
        </p:nvSpPr>
        <p:spPr bwMode="auto">
          <a:xfrm>
            <a:off x="5788025" y="2720975"/>
            <a:ext cx="936625"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Refund</a:t>
            </a:r>
            <a:endParaRPr lang="en-US" altLang="en-US" sz="1600">
              <a:solidFill>
                <a:schemeClr val="bg2"/>
              </a:solidFill>
              <a:latin typeface="Arial" panose="020B0604020202020204" pitchFamily="34" charset="0"/>
            </a:endParaRPr>
          </a:p>
        </p:txBody>
      </p:sp>
      <p:sp>
        <p:nvSpPr>
          <p:cNvPr id="13323" name="Text Box 16"/>
          <p:cNvSpPr txBox="1">
            <a:spLocks noChangeArrowheads="1"/>
          </p:cNvSpPr>
          <p:nvPr/>
        </p:nvSpPr>
        <p:spPr bwMode="auto">
          <a:xfrm>
            <a:off x="6804025" y="3448050"/>
            <a:ext cx="935038"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MarSt</a:t>
            </a:r>
            <a:endParaRPr lang="en-US" altLang="en-US" sz="1600">
              <a:solidFill>
                <a:schemeClr val="bg2"/>
              </a:solidFill>
              <a:latin typeface="Arial" panose="020B0604020202020204" pitchFamily="34" charset="0"/>
            </a:endParaRPr>
          </a:p>
        </p:txBody>
      </p:sp>
      <p:sp>
        <p:nvSpPr>
          <p:cNvPr id="13324" name="Text Box 17"/>
          <p:cNvSpPr txBox="1">
            <a:spLocks noChangeArrowheads="1"/>
          </p:cNvSpPr>
          <p:nvPr/>
        </p:nvSpPr>
        <p:spPr bwMode="auto">
          <a:xfrm>
            <a:off x="6078538" y="4240213"/>
            <a:ext cx="968375"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TaxInc</a:t>
            </a:r>
            <a:endParaRPr lang="en-US" altLang="en-US" sz="1600">
              <a:solidFill>
                <a:schemeClr val="bg2"/>
              </a:solidFill>
              <a:latin typeface="Arial" panose="020B0604020202020204" pitchFamily="34" charset="0"/>
            </a:endParaRPr>
          </a:p>
        </p:txBody>
      </p:sp>
      <p:sp>
        <p:nvSpPr>
          <p:cNvPr id="13325" name="AutoShape 18"/>
          <p:cNvSpPr>
            <a:spLocks noChangeArrowheads="1"/>
          </p:cNvSpPr>
          <p:nvPr/>
        </p:nvSpPr>
        <p:spPr bwMode="auto">
          <a:xfrm>
            <a:off x="7005638" y="5029200"/>
            <a:ext cx="627062" cy="366713"/>
          </a:xfrm>
          <a:prstGeom prst="roundRect">
            <a:avLst>
              <a:gd name="adj" fmla="val 16769"/>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3326" name="Text Box 19"/>
          <p:cNvSpPr txBox="1">
            <a:spLocks noChangeArrowheads="1"/>
          </p:cNvSpPr>
          <p:nvPr/>
        </p:nvSpPr>
        <p:spPr bwMode="auto">
          <a:xfrm>
            <a:off x="6929438" y="5029200"/>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YES</a:t>
            </a:r>
            <a:endParaRPr lang="en-US" altLang="en-US" sz="1600">
              <a:solidFill>
                <a:schemeClr val="bg2"/>
              </a:solidFill>
              <a:latin typeface="Arial" panose="020B0604020202020204" pitchFamily="34" charset="0"/>
            </a:endParaRPr>
          </a:p>
        </p:txBody>
      </p:sp>
      <p:sp>
        <p:nvSpPr>
          <p:cNvPr id="13327" name="AutoShape 20"/>
          <p:cNvSpPr>
            <a:spLocks noChangeArrowheads="1"/>
          </p:cNvSpPr>
          <p:nvPr/>
        </p:nvSpPr>
        <p:spPr bwMode="auto">
          <a:xfrm>
            <a:off x="5513388" y="5046663"/>
            <a:ext cx="654050" cy="363537"/>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3328" name="Text Box 21"/>
          <p:cNvSpPr txBox="1">
            <a:spLocks noChangeArrowheads="1"/>
          </p:cNvSpPr>
          <p:nvPr/>
        </p:nvSpPr>
        <p:spPr bwMode="auto">
          <a:xfrm>
            <a:off x="5610225" y="5032375"/>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13329" name="AutoShape 22"/>
          <p:cNvSpPr>
            <a:spLocks noChangeArrowheads="1"/>
          </p:cNvSpPr>
          <p:nvPr/>
        </p:nvSpPr>
        <p:spPr bwMode="auto">
          <a:xfrm>
            <a:off x="4948238" y="3462338"/>
            <a:ext cx="685800" cy="347662"/>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3330" name="Text Box 23"/>
          <p:cNvSpPr txBox="1">
            <a:spLocks noChangeArrowheads="1"/>
          </p:cNvSpPr>
          <p:nvPr/>
        </p:nvSpPr>
        <p:spPr bwMode="auto">
          <a:xfrm>
            <a:off x="5043488" y="3448050"/>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rgbClr val="00FFFF"/>
              </a:solidFill>
              <a:latin typeface="Arial" panose="020B0604020202020204" pitchFamily="34" charset="0"/>
            </a:endParaRPr>
          </a:p>
        </p:txBody>
      </p:sp>
      <p:sp>
        <p:nvSpPr>
          <p:cNvPr id="13331" name="AutoShape 24"/>
          <p:cNvSpPr>
            <a:spLocks noChangeArrowheads="1"/>
          </p:cNvSpPr>
          <p:nvPr/>
        </p:nvSpPr>
        <p:spPr bwMode="auto">
          <a:xfrm>
            <a:off x="7843838" y="4267200"/>
            <a:ext cx="685800" cy="381000"/>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3332" name="Text Box 25"/>
          <p:cNvSpPr txBox="1">
            <a:spLocks noChangeArrowheads="1"/>
          </p:cNvSpPr>
          <p:nvPr/>
        </p:nvSpPr>
        <p:spPr bwMode="auto">
          <a:xfrm>
            <a:off x="7920038" y="4267200"/>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13333" name="Text Box 26"/>
          <p:cNvSpPr txBox="1">
            <a:spLocks noChangeArrowheads="1"/>
          </p:cNvSpPr>
          <p:nvPr/>
        </p:nvSpPr>
        <p:spPr bwMode="auto">
          <a:xfrm>
            <a:off x="5060950" y="2984500"/>
            <a:ext cx="533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Yes</a:t>
            </a:r>
            <a:endParaRPr lang="en-US" altLang="en-US" sz="1600">
              <a:solidFill>
                <a:schemeClr val="bg2"/>
              </a:solidFill>
              <a:latin typeface="Arial" panose="020B0604020202020204" pitchFamily="34" charset="0"/>
            </a:endParaRPr>
          </a:p>
        </p:txBody>
      </p:sp>
      <p:sp>
        <p:nvSpPr>
          <p:cNvPr id="13334" name="Text Box 27"/>
          <p:cNvSpPr txBox="1">
            <a:spLocks noChangeArrowheads="1"/>
          </p:cNvSpPr>
          <p:nvPr/>
        </p:nvSpPr>
        <p:spPr bwMode="auto">
          <a:xfrm>
            <a:off x="6926263" y="2984500"/>
            <a:ext cx="4429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13335" name="Text Box 28"/>
          <p:cNvSpPr txBox="1">
            <a:spLocks noChangeArrowheads="1"/>
          </p:cNvSpPr>
          <p:nvPr/>
        </p:nvSpPr>
        <p:spPr bwMode="auto">
          <a:xfrm>
            <a:off x="7908925" y="3749675"/>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Married</a:t>
            </a:r>
            <a:r>
              <a:rPr lang="en-US" altLang="en-US" sz="1600">
                <a:solidFill>
                  <a:schemeClr val="bg2"/>
                </a:solidFill>
                <a:latin typeface="Arial" panose="020B0604020202020204" pitchFamily="34" charset="0"/>
              </a:rPr>
              <a:t> </a:t>
            </a:r>
          </a:p>
        </p:txBody>
      </p:sp>
      <p:sp>
        <p:nvSpPr>
          <p:cNvPr id="13336" name="Text Box 29"/>
          <p:cNvSpPr txBox="1">
            <a:spLocks noChangeArrowheads="1"/>
          </p:cNvSpPr>
          <p:nvPr/>
        </p:nvSpPr>
        <p:spPr bwMode="auto">
          <a:xfrm>
            <a:off x="5692775" y="3778250"/>
            <a:ext cx="1660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Single, Divorced</a:t>
            </a:r>
            <a:endParaRPr lang="en-US" altLang="en-US" sz="1600">
              <a:solidFill>
                <a:schemeClr val="bg2"/>
              </a:solidFill>
              <a:latin typeface="Arial" panose="020B0604020202020204" pitchFamily="34" charset="0"/>
            </a:endParaRPr>
          </a:p>
        </p:txBody>
      </p:sp>
      <p:sp>
        <p:nvSpPr>
          <p:cNvPr id="13337" name="Text Box 30"/>
          <p:cNvSpPr txBox="1">
            <a:spLocks noChangeArrowheads="1"/>
          </p:cNvSpPr>
          <p:nvPr/>
        </p:nvSpPr>
        <p:spPr bwMode="auto">
          <a:xfrm>
            <a:off x="5313363" y="4570413"/>
            <a:ext cx="72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&lt; 80K</a:t>
            </a:r>
            <a:endParaRPr lang="en-US" altLang="en-US" sz="1600">
              <a:solidFill>
                <a:schemeClr val="bg2"/>
              </a:solidFill>
              <a:latin typeface="Arial" panose="020B0604020202020204" pitchFamily="34" charset="0"/>
            </a:endParaRPr>
          </a:p>
        </p:txBody>
      </p:sp>
      <p:sp>
        <p:nvSpPr>
          <p:cNvPr id="13338" name="Text Box 31"/>
          <p:cNvSpPr txBox="1">
            <a:spLocks noChangeArrowheads="1"/>
          </p:cNvSpPr>
          <p:nvPr/>
        </p:nvSpPr>
        <p:spPr bwMode="auto">
          <a:xfrm>
            <a:off x="7088188" y="4570413"/>
            <a:ext cx="72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&gt; 80K</a:t>
            </a:r>
            <a:endParaRPr lang="en-US" altLang="en-US" sz="1600">
              <a:solidFill>
                <a:schemeClr val="bg2"/>
              </a:solidFill>
              <a:latin typeface="Arial" panose="020B0604020202020204" pitchFamily="34" charset="0"/>
            </a:endParaRPr>
          </a:p>
        </p:txBody>
      </p:sp>
      <p:sp>
        <p:nvSpPr>
          <p:cNvPr id="13339" name="Text Box 32"/>
          <p:cNvSpPr txBox="1">
            <a:spLocks noChangeArrowheads="1"/>
          </p:cNvSpPr>
          <p:nvPr/>
        </p:nvSpPr>
        <p:spPr bwMode="auto">
          <a:xfrm>
            <a:off x="6427788" y="1766888"/>
            <a:ext cx="2241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800" b="1" i="1">
                <a:solidFill>
                  <a:srgbClr val="FF0000"/>
                </a:solidFill>
                <a:latin typeface="Arial" panose="020B0604020202020204" pitchFamily="34" charset="0"/>
              </a:rPr>
              <a:t>Splitting Attributes</a:t>
            </a:r>
          </a:p>
        </p:txBody>
      </p:sp>
      <p:sp>
        <p:nvSpPr>
          <p:cNvPr id="13340" name="Line 33"/>
          <p:cNvSpPr>
            <a:spLocks noChangeShapeType="1"/>
          </p:cNvSpPr>
          <p:nvPr/>
        </p:nvSpPr>
        <p:spPr bwMode="auto">
          <a:xfrm flipH="1">
            <a:off x="6805613" y="2147888"/>
            <a:ext cx="536575" cy="534987"/>
          </a:xfrm>
          <a:prstGeom prst="line">
            <a:avLst/>
          </a:prstGeom>
          <a:noFill/>
          <a:ln w="158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41" name="AutoShape 34"/>
          <p:cNvSpPr>
            <a:spLocks noChangeArrowheads="1"/>
          </p:cNvSpPr>
          <p:nvPr/>
        </p:nvSpPr>
        <p:spPr bwMode="auto">
          <a:xfrm>
            <a:off x="3810000" y="3810000"/>
            <a:ext cx="914400" cy="293688"/>
          </a:xfrm>
          <a:prstGeom prst="rightArrow">
            <a:avLst>
              <a:gd name="adj1" fmla="val 50000"/>
              <a:gd name="adj2" fmla="val 77838"/>
            </a:avLst>
          </a:prstGeom>
          <a:solidFill>
            <a:srgbClr val="CC0000"/>
          </a:solidFill>
          <a:ln w="12700">
            <a:solidFill>
              <a:srgbClr val="CC0000"/>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3342" name="Line 35"/>
          <p:cNvSpPr>
            <a:spLocks noChangeShapeType="1"/>
          </p:cNvSpPr>
          <p:nvPr/>
        </p:nvSpPr>
        <p:spPr bwMode="auto">
          <a:xfrm>
            <a:off x="7418388" y="2147888"/>
            <a:ext cx="76200" cy="1144587"/>
          </a:xfrm>
          <a:prstGeom prst="line">
            <a:avLst/>
          </a:prstGeom>
          <a:noFill/>
          <a:ln w="158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43" name="Text Box 36"/>
          <p:cNvSpPr txBox="1">
            <a:spLocks noChangeArrowheads="1"/>
          </p:cNvSpPr>
          <p:nvPr/>
        </p:nvSpPr>
        <p:spPr bwMode="auto">
          <a:xfrm>
            <a:off x="762000" y="5867400"/>
            <a:ext cx="2514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lnSpc>
                <a:spcPct val="80000"/>
              </a:lnSpc>
              <a:buClr>
                <a:schemeClr val="accent2"/>
              </a:buClr>
              <a:buSzPct val="75000"/>
              <a:buFont typeface="Monotype Sorts" pitchFamily="2" charset="2"/>
              <a:buNone/>
            </a:pPr>
            <a:r>
              <a:rPr lang="en-US" altLang="en-US" sz="2000" b="1">
                <a:solidFill>
                  <a:schemeClr val="tx2"/>
                </a:solidFill>
                <a:latin typeface="Arial" panose="020B0604020202020204" pitchFamily="34" charset="0"/>
              </a:rPr>
              <a:t>Training Data</a:t>
            </a:r>
            <a:endParaRPr lang="en-US" altLang="en-US" sz="2000">
              <a:solidFill>
                <a:schemeClr val="bg2"/>
              </a:solidFill>
              <a:latin typeface="Arial" panose="020B0604020202020204" pitchFamily="34" charset="0"/>
            </a:endParaRPr>
          </a:p>
        </p:txBody>
      </p:sp>
      <p:sp>
        <p:nvSpPr>
          <p:cNvPr id="13344" name="Text Box 37"/>
          <p:cNvSpPr txBox="1">
            <a:spLocks noChangeArrowheads="1"/>
          </p:cNvSpPr>
          <p:nvPr/>
        </p:nvSpPr>
        <p:spPr bwMode="auto">
          <a:xfrm>
            <a:off x="5029200" y="5835650"/>
            <a:ext cx="3124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lnSpc>
                <a:spcPct val="80000"/>
              </a:lnSpc>
              <a:buClr>
                <a:schemeClr val="accent2"/>
              </a:buClr>
              <a:buSzPct val="75000"/>
              <a:buFont typeface="Monotype Sorts" pitchFamily="2" charset="2"/>
              <a:buNone/>
            </a:pPr>
            <a:r>
              <a:rPr lang="en-US" altLang="en-US" sz="2000" b="1">
                <a:solidFill>
                  <a:schemeClr val="tx2"/>
                </a:solidFill>
                <a:latin typeface="Arial" panose="020B0604020202020204" pitchFamily="34" charset="0"/>
              </a:rPr>
              <a:t>Model:  Decision Tree</a:t>
            </a:r>
            <a:endParaRPr lang="en-US" altLang="en-US" sz="2000">
              <a:solidFill>
                <a:schemeClr val="bg2"/>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xfrm>
            <a:off x="457200" y="0"/>
            <a:ext cx="8229600" cy="1139825"/>
          </a:xfrm>
        </p:spPr>
        <p:txBody>
          <a:bodyPr>
            <a:normAutofit/>
          </a:bodyPr>
          <a:lstStyle/>
          <a:p>
            <a:pPr eaLnBrk="1" hangingPunct="1">
              <a:defRPr/>
            </a:pPr>
            <a:r>
              <a:rPr lang="en-US" smtClean="0"/>
              <a:t>Another Example of Decision Tree</a:t>
            </a:r>
          </a:p>
        </p:txBody>
      </p:sp>
      <p:graphicFrame>
        <p:nvGraphicFramePr>
          <p:cNvPr id="14339" name="Object 3"/>
          <p:cNvGraphicFramePr>
            <a:graphicFrameLocks noChangeAspect="1"/>
          </p:cNvGraphicFramePr>
          <p:nvPr/>
        </p:nvGraphicFramePr>
        <p:xfrm>
          <a:off x="457200" y="2743200"/>
          <a:ext cx="3565525" cy="3687763"/>
        </p:xfrm>
        <a:graphic>
          <a:graphicData uri="http://schemas.openxmlformats.org/presentationml/2006/ole">
            <mc:AlternateContent xmlns:mc="http://schemas.openxmlformats.org/markup-compatibility/2006">
              <mc:Choice xmlns:v="urn:schemas-microsoft-com:vml" Requires="v">
                <p:oleObj spid="_x0000_s14384" name="Document" r:id="rId3" imgW="5404104" imgH="5779008" progId="Word.Document.8">
                  <p:embed/>
                </p:oleObj>
              </mc:Choice>
              <mc:Fallback>
                <p:oleObj name="Document" r:id="rId3" imgW="5404104" imgH="5779008"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743200"/>
                        <a:ext cx="3565525" cy="3687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0" name="Text Box 4"/>
          <p:cNvSpPr txBox="1">
            <a:spLocks noChangeArrowheads="1"/>
          </p:cNvSpPr>
          <p:nvPr/>
        </p:nvSpPr>
        <p:spPr bwMode="auto">
          <a:xfrm rot="-2416809">
            <a:off x="1066800" y="2119313"/>
            <a:ext cx="1257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006600"/>
                </a:solidFill>
                <a:latin typeface="Arial" panose="020B0604020202020204" pitchFamily="34" charset="0"/>
              </a:rPr>
              <a:t>categorical</a:t>
            </a:r>
            <a:endParaRPr lang="en-US" altLang="en-US" sz="1600" b="1">
              <a:solidFill>
                <a:schemeClr val="bg2"/>
              </a:solidFill>
              <a:latin typeface="Arial" panose="020B0604020202020204" pitchFamily="34" charset="0"/>
            </a:endParaRPr>
          </a:p>
        </p:txBody>
      </p:sp>
      <p:sp>
        <p:nvSpPr>
          <p:cNvPr id="14341" name="Text Box 5"/>
          <p:cNvSpPr txBox="1">
            <a:spLocks noChangeArrowheads="1"/>
          </p:cNvSpPr>
          <p:nvPr/>
        </p:nvSpPr>
        <p:spPr bwMode="auto">
          <a:xfrm rot="-2416809">
            <a:off x="1752600" y="2119313"/>
            <a:ext cx="1257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006600"/>
                </a:solidFill>
                <a:latin typeface="Arial" panose="020B0604020202020204" pitchFamily="34" charset="0"/>
              </a:rPr>
              <a:t>categorical</a:t>
            </a:r>
            <a:endParaRPr lang="en-US" altLang="en-US" sz="1600" b="1">
              <a:solidFill>
                <a:schemeClr val="bg2"/>
              </a:solidFill>
              <a:latin typeface="Arial" panose="020B0604020202020204" pitchFamily="34" charset="0"/>
            </a:endParaRPr>
          </a:p>
        </p:txBody>
      </p:sp>
      <p:sp>
        <p:nvSpPr>
          <p:cNvPr id="14342" name="Text Box 6"/>
          <p:cNvSpPr txBox="1">
            <a:spLocks noChangeArrowheads="1"/>
          </p:cNvSpPr>
          <p:nvPr/>
        </p:nvSpPr>
        <p:spPr bwMode="auto">
          <a:xfrm rot="-2416809">
            <a:off x="2590800" y="2119313"/>
            <a:ext cx="12779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006600"/>
                </a:solidFill>
                <a:latin typeface="Arial" panose="020B0604020202020204" pitchFamily="34" charset="0"/>
              </a:rPr>
              <a:t>continuous</a:t>
            </a:r>
            <a:endParaRPr lang="en-US" altLang="en-US" sz="1600" b="1">
              <a:solidFill>
                <a:schemeClr val="bg2"/>
              </a:solidFill>
              <a:latin typeface="Arial" panose="020B0604020202020204" pitchFamily="34" charset="0"/>
            </a:endParaRPr>
          </a:p>
        </p:txBody>
      </p:sp>
      <p:sp>
        <p:nvSpPr>
          <p:cNvPr id="14343" name="Text Box 7"/>
          <p:cNvSpPr txBox="1">
            <a:spLocks noChangeArrowheads="1"/>
          </p:cNvSpPr>
          <p:nvPr/>
        </p:nvSpPr>
        <p:spPr bwMode="auto">
          <a:xfrm rot="-2416809">
            <a:off x="3352800" y="2271713"/>
            <a:ext cx="692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006600"/>
                </a:solidFill>
                <a:latin typeface="Arial" panose="020B0604020202020204" pitchFamily="34" charset="0"/>
              </a:rPr>
              <a:t>class</a:t>
            </a:r>
            <a:endParaRPr lang="en-US" altLang="en-US" sz="1600" b="1">
              <a:solidFill>
                <a:schemeClr val="bg2"/>
              </a:solidFill>
              <a:latin typeface="Arial" panose="020B0604020202020204" pitchFamily="34" charset="0"/>
            </a:endParaRPr>
          </a:p>
        </p:txBody>
      </p:sp>
      <p:sp>
        <p:nvSpPr>
          <p:cNvPr id="14344" name="Line 8"/>
          <p:cNvSpPr>
            <a:spLocks noChangeShapeType="1"/>
          </p:cNvSpPr>
          <p:nvPr/>
        </p:nvSpPr>
        <p:spPr bwMode="auto">
          <a:xfrm>
            <a:off x="8005763" y="4106863"/>
            <a:ext cx="242887" cy="52705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45" name="Line 9"/>
          <p:cNvSpPr>
            <a:spLocks noChangeShapeType="1"/>
          </p:cNvSpPr>
          <p:nvPr/>
        </p:nvSpPr>
        <p:spPr bwMode="auto">
          <a:xfrm flipH="1">
            <a:off x="6875463" y="4106863"/>
            <a:ext cx="323850" cy="52705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46" name="Line 10"/>
          <p:cNvSpPr>
            <a:spLocks noChangeShapeType="1"/>
          </p:cNvSpPr>
          <p:nvPr/>
        </p:nvSpPr>
        <p:spPr bwMode="auto">
          <a:xfrm flipH="1">
            <a:off x="5881688" y="3343275"/>
            <a:ext cx="403225" cy="528638"/>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47" name="Line 11"/>
          <p:cNvSpPr>
            <a:spLocks noChangeShapeType="1"/>
          </p:cNvSpPr>
          <p:nvPr/>
        </p:nvSpPr>
        <p:spPr bwMode="auto">
          <a:xfrm>
            <a:off x="7092950" y="3343275"/>
            <a:ext cx="484188" cy="528638"/>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48" name="Line 12"/>
          <p:cNvSpPr>
            <a:spLocks noChangeShapeType="1"/>
          </p:cNvSpPr>
          <p:nvPr/>
        </p:nvSpPr>
        <p:spPr bwMode="auto">
          <a:xfrm>
            <a:off x="6043613" y="2616200"/>
            <a:ext cx="565150" cy="46355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49" name="Line 13"/>
          <p:cNvSpPr>
            <a:spLocks noChangeShapeType="1"/>
          </p:cNvSpPr>
          <p:nvPr/>
        </p:nvSpPr>
        <p:spPr bwMode="auto">
          <a:xfrm flipH="1">
            <a:off x="4670425" y="2616200"/>
            <a:ext cx="565150" cy="46355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50" name="Text Box 14"/>
          <p:cNvSpPr txBox="1">
            <a:spLocks noChangeArrowheads="1"/>
          </p:cNvSpPr>
          <p:nvPr/>
        </p:nvSpPr>
        <p:spPr bwMode="auto">
          <a:xfrm>
            <a:off x="5187950" y="2352675"/>
            <a:ext cx="936625"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MarSt</a:t>
            </a:r>
            <a:endParaRPr lang="en-US" altLang="en-US" sz="1600">
              <a:solidFill>
                <a:schemeClr val="bg2"/>
              </a:solidFill>
              <a:latin typeface="Arial" panose="020B0604020202020204" pitchFamily="34" charset="0"/>
            </a:endParaRPr>
          </a:p>
        </p:txBody>
      </p:sp>
      <p:sp>
        <p:nvSpPr>
          <p:cNvPr id="14351" name="Text Box 15"/>
          <p:cNvSpPr txBox="1">
            <a:spLocks noChangeArrowheads="1"/>
          </p:cNvSpPr>
          <p:nvPr/>
        </p:nvSpPr>
        <p:spPr bwMode="auto">
          <a:xfrm>
            <a:off x="6203950" y="3079750"/>
            <a:ext cx="935038"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Refund</a:t>
            </a:r>
            <a:endParaRPr lang="en-US" altLang="en-US" sz="1600">
              <a:solidFill>
                <a:schemeClr val="bg2"/>
              </a:solidFill>
              <a:latin typeface="Arial" panose="020B0604020202020204" pitchFamily="34" charset="0"/>
            </a:endParaRPr>
          </a:p>
        </p:txBody>
      </p:sp>
      <p:sp>
        <p:nvSpPr>
          <p:cNvPr id="14352" name="Text Box 16"/>
          <p:cNvSpPr txBox="1">
            <a:spLocks noChangeArrowheads="1"/>
          </p:cNvSpPr>
          <p:nvPr/>
        </p:nvSpPr>
        <p:spPr bwMode="auto">
          <a:xfrm>
            <a:off x="7118350" y="3841750"/>
            <a:ext cx="968375"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TaxInc</a:t>
            </a:r>
            <a:endParaRPr lang="en-US" altLang="en-US" sz="1600">
              <a:solidFill>
                <a:schemeClr val="bg2"/>
              </a:solidFill>
              <a:latin typeface="Arial" panose="020B0604020202020204" pitchFamily="34" charset="0"/>
            </a:endParaRPr>
          </a:p>
        </p:txBody>
      </p:sp>
      <p:sp>
        <p:nvSpPr>
          <p:cNvPr id="14353" name="AutoShape 17"/>
          <p:cNvSpPr>
            <a:spLocks noChangeArrowheads="1"/>
          </p:cNvSpPr>
          <p:nvPr/>
        </p:nvSpPr>
        <p:spPr bwMode="auto">
          <a:xfrm>
            <a:off x="8045450" y="4630738"/>
            <a:ext cx="627063" cy="366712"/>
          </a:xfrm>
          <a:prstGeom prst="roundRect">
            <a:avLst>
              <a:gd name="adj" fmla="val 16769"/>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4354" name="Text Box 18"/>
          <p:cNvSpPr txBox="1">
            <a:spLocks noChangeArrowheads="1"/>
          </p:cNvSpPr>
          <p:nvPr/>
        </p:nvSpPr>
        <p:spPr bwMode="auto">
          <a:xfrm>
            <a:off x="7969250" y="4630738"/>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YES</a:t>
            </a:r>
            <a:endParaRPr lang="en-US" altLang="en-US" sz="1600">
              <a:solidFill>
                <a:schemeClr val="bg2"/>
              </a:solidFill>
              <a:latin typeface="Arial" panose="020B0604020202020204" pitchFamily="34" charset="0"/>
            </a:endParaRPr>
          </a:p>
        </p:txBody>
      </p:sp>
      <p:sp>
        <p:nvSpPr>
          <p:cNvPr id="14355" name="AutoShape 19"/>
          <p:cNvSpPr>
            <a:spLocks noChangeArrowheads="1"/>
          </p:cNvSpPr>
          <p:nvPr/>
        </p:nvSpPr>
        <p:spPr bwMode="auto">
          <a:xfrm>
            <a:off x="6553200" y="4648200"/>
            <a:ext cx="654050" cy="363538"/>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4356" name="Text Box 20"/>
          <p:cNvSpPr txBox="1">
            <a:spLocks noChangeArrowheads="1"/>
          </p:cNvSpPr>
          <p:nvPr/>
        </p:nvSpPr>
        <p:spPr bwMode="auto">
          <a:xfrm>
            <a:off x="6650038" y="4633913"/>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14357" name="AutoShape 21"/>
          <p:cNvSpPr>
            <a:spLocks noChangeArrowheads="1"/>
          </p:cNvSpPr>
          <p:nvPr/>
        </p:nvSpPr>
        <p:spPr bwMode="auto">
          <a:xfrm>
            <a:off x="4348163" y="3094038"/>
            <a:ext cx="685800" cy="347662"/>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4358" name="Text Box 22"/>
          <p:cNvSpPr txBox="1">
            <a:spLocks noChangeArrowheads="1"/>
          </p:cNvSpPr>
          <p:nvPr/>
        </p:nvSpPr>
        <p:spPr bwMode="auto">
          <a:xfrm>
            <a:off x="4443413" y="3079750"/>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rgbClr val="00FFFF"/>
              </a:solidFill>
              <a:latin typeface="Arial" panose="020B0604020202020204" pitchFamily="34" charset="0"/>
            </a:endParaRPr>
          </a:p>
        </p:txBody>
      </p:sp>
      <p:grpSp>
        <p:nvGrpSpPr>
          <p:cNvPr id="14359" name="Group 23"/>
          <p:cNvGrpSpPr>
            <a:grpSpLocks/>
          </p:cNvGrpSpPr>
          <p:nvPr/>
        </p:nvGrpSpPr>
        <p:grpSpPr bwMode="auto">
          <a:xfrm>
            <a:off x="5594350" y="3841750"/>
            <a:ext cx="685800" cy="381000"/>
            <a:chOff x="4927" y="2340"/>
            <a:chExt cx="432" cy="240"/>
          </a:xfrm>
        </p:grpSpPr>
        <p:sp>
          <p:nvSpPr>
            <p:cNvPr id="14367" name="AutoShape 24"/>
            <p:cNvSpPr>
              <a:spLocks noChangeArrowheads="1"/>
            </p:cNvSpPr>
            <p:nvPr/>
          </p:nvSpPr>
          <p:spPr bwMode="auto">
            <a:xfrm>
              <a:off x="4927" y="2340"/>
              <a:ext cx="432" cy="240"/>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4368" name="Text Box 25"/>
            <p:cNvSpPr txBox="1">
              <a:spLocks noChangeArrowheads="1"/>
            </p:cNvSpPr>
            <p:nvPr/>
          </p:nvSpPr>
          <p:spPr bwMode="auto">
            <a:xfrm>
              <a:off x="4975" y="2340"/>
              <a:ext cx="3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chemeClr val="bg2"/>
                </a:solidFill>
                <a:latin typeface="Arial" panose="020B0604020202020204" pitchFamily="34" charset="0"/>
              </a:endParaRPr>
            </a:p>
          </p:txBody>
        </p:sp>
      </p:grpSp>
      <p:sp>
        <p:nvSpPr>
          <p:cNvPr id="14360" name="Text Box 26"/>
          <p:cNvSpPr txBox="1">
            <a:spLocks noChangeArrowheads="1"/>
          </p:cNvSpPr>
          <p:nvPr/>
        </p:nvSpPr>
        <p:spPr bwMode="auto">
          <a:xfrm>
            <a:off x="5518150" y="3384550"/>
            <a:ext cx="533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Yes</a:t>
            </a:r>
            <a:endParaRPr lang="en-US" altLang="en-US" sz="1600">
              <a:solidFill>
                <a:schemeClr val="bg2"/>
              </a:solidFill>
              <a:latin typeface="Arial" panose="020B0604020202020204" pitchFamily="34" charset="0"/>
            </a:endParaRPr>
          </a:p>
        </p:txBody>
      </p:sp>
      <p:sp>
        <p:nvSpPr>
          <p:cNvPr id="14361" name="Text Box 27"/>
          <p:cNvSpPr txBox="1">
            <a:spLocks noChangeArrowheads="1"/>
          </p:cNvSpPr>
          <p:nvPr/>
        </p:nvSpPr>
        <p:spPr bwMode="auto">
          <a:xfrm>
            <a:off x="7270750" y="3308350"/>
            <a:ext cx="4429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14362" name="Text Box 28"/>
          <p:cNvSpPr txBox="1">
            <a:spLocks noChangeArrowheads="1"/>
          </p:cNvSpPr>
          <p:nvPr/>
        </p:nvSpPr>
        <p:spPr bwMode="auto">
          <a:xfrm>
            <a:off x="4146550" y="2546350"/>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Married</a:t>
            </a:r>
            <a:r>
              <a:rPr lang="en-US" altLang="en-US" sz="1600">
                <a:solidFill>
                  <a:schemeClr val="bg2"/>
                </a:solidFill>
                <a:latin typeface="Arial" panose="020B0604020202020204" pitchFamily="34" charset="0"/>
              </a:rPr>
              <a:t> </a:t>
            </a:r>
          </a:p>
        </p:txBody>
      </p:sp>
      <p:sp>
        <p:nvSpPr>
          <p:cNvPr id="14363" name="Text Box 29"/>
          <p:cNvSpPr txBox="1">
            <a:spLocks noChangeArrowheads="1"/>
          </p:cNvSpPr>
          <p:nvPr/>
        </p:nvSpPr>
        <p:spPr bwMode="auto">
          <a:xfrm>
            <a:off x="5746750" y="2317750"/>
            <a:ext cx="13985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Single, Divorced</a:t>
            </a:r>
            <a:endParaRPr lang="en-US" altLang="en-US" sz="1600">
              <a:solidFill>
                <a:schemeClr val="bg2"/>
              </a:solidFill>
              <a:latin typeface="Arial" panose="020B0604020202020204" pitchFamily="34" charset="0"/>
            </a:endParaRPr>
          </a:p>
        </p:txBody>
      </p:sp>
      <p:sp>
        <p:nvSpPr>
          <p:cNvPr id="14364" name="Text Box 30"/>
          <p:cNvSpPr txBox="1">
            <a:spLocks noChangeArrowheads="1"/>
          </p:cNvSpPr>
          <p:nvPr/>
        </p:nvSpPr>
        <p:spPr bwMode="auto">
          <a:xfrm>
            <a:off x="6353175" y="4171950"/>
            <a:ext cx="72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&lt; 80K</a:t>
            </a:r>
            <a:endParaRPr lang="en-US" altLang="en-US" sz="1600">
              <a:solidFill>
                <a:schemeClr val="bg2"/>
              </a:solidFill>
              <a:latin typeface="Arial" panose="020B0604020202020204" pitchFamily="34" charset="0"/>
            </a:endParaRPr>
          </a:p>
        </p:txBody>
      </p:sp>
      <p:sp>
        <p:nvSpPr>
          <p:cNvPr id="14365" name="Text Box 31"/>
          <p:cNvSpPr txBox="1">
            <a:spLocks noChangeArrowheads="1"/>
          </p:cNvSpPr>
          <p:nvPr/>
        </p:nvSpPr>
        <p:spPr bwMode="auto">
          <a:xfrm>
            <a:off x="8245540" y="4142064"/>
            <a:ext cx="72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dirty="0">
                <a:latin typeface="Arial" panose="020B0604020202020204" pitchFamily="34" charset="0"/>
              </a:rPr>
              <a:t>&gt; 80K</a:t>
            </a:r>
            <a:endParaRPr lang="en-US" altLang="en-US" sz="1600" dirty="0">
              <a:solidFill>
                <a:schemeClr val="bg2"/>
              </a:solidFill>
              <a:latin typeface="Arial" panose="020B0604020202020204" pitchFamily="34" charset="0"/>
            </a:endParaRPr>
          </a:p>
        </p:txBody>
      </p:sp>
      <p:sp>
        <p:nvSpPr>
          <p:cNvPr id="14366" name="Text Box 32"/>
          <p:cNvSpPr txBox="1">
            <a:spLocks noChangeArrowheads="1"/>
          </p:cNvSpPr>
          <p:nvPr/>
        </p:nvSpPr>
        <p:spPr bwMode="auto">
          <a:xfrm>
            <a:off x="4343400" y="5029200"/>
            <a:ext cx="4419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b="1">
                <a:solidFill>
                  <a:srgbClr val="CC3300"/>
                </a:solidFill>
                <a:latin typeface="Arial" panose="020B0604020202020204" pitchFamily="34" charset="0"/>
              </a:rPr>
              <a:t>There could be more than one tree that fits the same data!</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a:xfrm>
            <a:off x="457200" y="0"/>
            <a:ext cx="8229600" cy="1139825"/>
          </a:xfrm>
        </p:spPr>
        <p:txBody>
          <a:bodyPr/>
          <a:lstStyle/>
          <a:p>
            <a:pPr eaLnBrk="1" hangingPunct="1">
              <a:defRPr/>
            </a:pPr>
            <a:r>
              <a:rPr lang="en-US" smtClean="0"/>
              <a:t>Decision Tree Classification Task</a:t>
            </a:r>
          </a:p>
        </p:txBody>
      </p:sp>
      <p:graphicFrame>
        <p:nvGraphicFramePr>
          <p:cNvPr id="15363" name="Object 3"/>
          <p:cNvGraphicFramePr>
            <a:graphicFrameLocks noGrp="1" noChangeAspect="1"/>
          </p:cNvGraphicFramePr>
          <p:nvPr>
            <p:ph idx="1"/>
            <p:extLst>
              <p:ext uri="{D42A27DB-BD31-4B8C-83A1-F6EECF244321}">
                <p14:modId xmlns:p14="http://schemas.microsoft.com/office/powerpoint/2010/main" val="3580004185"/>
              </p:ext>
            </p:extLst>
          </p:nvPr>
        </p:nvGraphicFramePr>
        <p:xfrm>
          <a:off x="685800" y="1100176"/>
          <a:ext cx="7543800" cy="5623485"/>
        </p:xfrm>
        <a:graphic>
          <a:graphicData uri="http://schemas.openxmlformats.org/presentationml/2006/ole">
            <mc:AlternateContent xmlns:mc="http://schemas.openxmlformats.org/markup-compatibility/2006">
              <mc:Choice xmlns:v="urn:schemas-microsoft-com:vml" Requires="v">
                <p:oleObj spid="_x0000_s15381" name="Visio" r:id="rId3" imgW="8424875" imgH="6279741" progId="Visio.Drawing.6">
                  <p:embed/>
                </p:oleObj>
              </mc:Choice>
              <mc:Fallback>
                <p:oleObj name="Visio" r:id="rId3" imgW="8424875" imgH="6279741" progId="Visio.Drawing.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100176"/>
                        <a:ext cx="7543800" cy="5623485"/>
                      </a:xfrm>
                      <a:prstGeom prst="rect">
                        <a:avLst/>
                      </a:prstGeom>
                      <a:noFill/>
                      <a:ln>
                        <a:noFill/>
                      </a:ln>
                      <a:effectLst/>
                    </p:spPr>
                  </p:pic>
                </p:oleObj>
              </mc:Fallback>
            </mc:AlternateContent>
          </a:graphicData>
        </a:graphic>
      </p:graphicFrame>
      <p:sp>
        <p:nvSpPr>
          <p:cNvPr id="15364" name="Line 4"/>
          <p:cNvSpPr>
            <a:spLocks noChangeShapeType="1"/>
          </p:cNvSpPr>
          <p:nvPr/>
        </p:nvSpPr>
        <p:spPr bwMode="auto">
          <a:xfrm flipH="1" flipV="1">
            <a:off x="6019800" y="4953000"/>
            <a:ext cx="0" cy="685800"/>
          </a:xfrm>
          <a:prstGeom prst="line">
            <a:avLst/>
          </a:prstGeom>
          <a:noFill/>
          <a:ln w="635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65" name="Text Box 5"/>
          <p:cNvSpPr txBox="1">
            <a:spLocks noChangeArrowheads="1"/>
          </p:cNvSpPr>
          <p:nvPr/>
        </p:nvSpPr>
        <p:spPr bwMode="auto">
          <a:xfrm>
            <a:off x="6454581" y="4191000"/>
            <a:ext cx="1219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400" b="1" dirty="0">
                <a:latin typeface="Arial" panose="020B0604020202020204" pitchFamily="34" charset="0"/>
              </a:rPr>
              <a:t>Decision Tree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a:xfrm>
            <a:off x="457200" y="0"/>
            <a:ext cx="8229600" cy="1139825"/>
          </a:xfrm>
        </p:spPr>
        <p:txBody>
          <a:bodyPr/>
          <a:lstStyle/>
          <a:p>
            <a:pPr eaLnBrk="1" hangingPunct="1">
              <a:defRPr/>
            </a:pPr>
            <a:r>
              <a:rPr lang="en-US" smtClean="0"/>
              <a:t>Apply Model to Test Data</a:t>
            </a:r>
          </a:p>
        </p:txBody>
      </p:sp>
      <p:grpSp>
        <p:nvGrpSpPr>
          <p:cNvPr id="16387" name="Group 3"/>
          <p:cNvGrpSpPr>
            <a:grpSpLocks/>
          </p:cNvGrpSpPr>
          <p:nvPr/>
        </p:nvGrpSpPr>
        <p:grpSpPr bwMode="auto">
          <a:xfrm>
            <a:off x="685800" y="2362200"/>
            <a:ext cx="4267200" cy="3298825"/>
            <a:chOff x="384" y="1584"/>
            <a:chExt cx="2451" cy="1694"/>
          </a:xfrm>
        </p:grpSpPr>
        <p:sp>
          <p:nvSpPr>
            <p:cNvPr id="16392" name="Line 4"/>
            <p:cNvSpPr>
              <a:spLocks noChangeShapeType="1"/>
            </p:cNvSpPr>
            <p:nvPr/>
          </p:nvSpPr>
          <p:spPr bwMode="auto">
            <a:xfrm>
              <a:off x="1655" y="2708"/>
              <a:ext cx="153" cy="33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3" name="Line 5"/>
            <p:cNvSpPr>
              <a:spLocks noChangeShapeType="1"/>
            </p:cNvSpPr>
            <p:nvPr/>
          </p:nvSpPr>
          <p:spPr bwMode="auto">
            <a:xfrm flipH="1">
              <a:off x="943" y="2708"/>
              <a:ext cx="204" cy="33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4" name="Line 6"/>
            <p:cNvSpPr>
              <a:spLocks noChangeShapeType="1"/>
            </p:cNvSpPr>
            <p:nvPr/>
          </p:nvSpPr>
          <p:spPr bwMode="auto">
            <a:xfrm flipH="1">
              <a:off x="1350" y="2208"/>
              <a:ext cx="254" cy="333"/>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5" name="Line 7"/>
            <p:cNvSpPr>
              <a:spLocks noChangeShapeType="1"/>
            </p:cNvSpPr>
            <p:nvPr/>
          </p:nvSpPr>
          <p:spPr bwMode="auto">
            <a:xfrm>
              <a:off x="2113" y="2208"/>
              <a:ext cx="305" cy="333"/>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6" name="Line 8"/>
            <p:cNvSpPr>
              <a:spLocks noChangeShapeType="1"/>
            </p:cNvSpPr>
            <p:nvPr/>
          </p:nvSpPr>
          <p:spPr bwMode="auto">
            <a:xfrm>
              <a:off x="1452" y="1750"/>
              <a:ext cx="356" cy="29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7" name="Line 9"/>
            <p:cNvSpPr>
              <a:spLocks noChangeShapeType="1"/>
            </p:cNvSpPr>
            <p:nvPr/>
          </p:nvSpPr>
          <p:spPr bwMode="auto">
            <a:xfrm flipH="1">
              <a:off x="587" y="1750"/>
              <a:ext cx="356" cy="29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8" name="Text Box 10"/>
            <p:cNvSpPr txBox="1">
              <a:spLocks noChangeArrowheads="1"/>
            </p:cNvSpPr>
            <p:nvPr/>
          </p:nvSpPr>
          <p:spPr bwMode="auto">
            <a:xfrm>
              <a:off x="913" y="1584"/>
              <a:ext cx="590" cy="179"/>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Refund</a:t>
              </a:r>
              <a:endParaRPr lang="en-US" altLang="en-US" sz="1600">
                <a:solidFill>
                  <a:schemeClr val="bg2"/>
                </a:solidFill>
                <a:latin typeface="Arial" panose="020B0604020202020204" pitchFamily="34" charset="0"/>
              </a:endParaRPr>
            </a:p>
          </p:txBody>
        </p:sp>
        <p:sp>
          <p:nvSpPr>
            <p:cNvPr id="16399" name="Text Box 11"/>
            <p:cNvSpPr txBox="1">
              <a:spLocks noChangeArrowheads="1"/>
            </p:cNvSpPr>
            <p:nvPr/>
          </p:nvSpPr>
          <p:spPr bwMode="auto">
            <a:xfrm>
              <a:off x="1553" y="2042"/>
              <a:ext cx="589" cy="179"/>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MarSt</a:t>
              </a:r>
              <a:endParaRPr lang="en-US" altLang="en-US" sz="1600">
                <a:solidFill>
                  <a:schemeClr val="bg2"/>
                </a:solidFill>
                <a:latin typeface="Arial" panose="020B0604020202020204" pitchFamily="34" charset="0"/>
              </a:endParaRPr>
            </a:p>
          </p:txBody>
        </p:sp>
        <p:sp>
          <p:nvSpPr>
            <p:cNvPr id="16400" name="Text Box 12"/>
            <p:cNvSpPr txBox="1">
              <a:spLocks noChangeArrowheads="1"/>
            </p:cNvSpPr>
            <p:nvPr/>
          </p:nvSpPr>
          <p:spPr bwMode="auto">
            <a:xfrm>
              <a:off x="1096" y="2541"/>
              <a:ext cx="610" cy="179"/>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TaxInc</a:t>
              </a:r>
              <a:endParaRPr lang="en-US" altLang="en-US" sz="1600">
                <a:solidFill>
                  <a:schemeClr val="bg2"/>
                </a:solidFill>
                <a:latin typeface="Arial" panose="020B0604020202020204" pitchFamily="34" charset="0"/>
              </a:endParaRPr>
            </a:p>
          </p:txBody>
        </p:sp>
        <p:sp>
          <p:nvSpPr>
            <p:cNvPr id="16401" name="AutoShape 13"/>
            <p:cNvSpPr>
              <a:spLocks noChangeArrowheads="1"/>
            </p:cNvSpPr>
            <p:nvPr/>
          </p:nvSpPr>
          <p:spPr bwMode="auto">
            <a:xfrm>
              <a:off x="1680" y="3038"/>
              <a:ext cx="395" cy="231"/>
            </a:xfrm>
            <a:prstGeom prst="roundRect">
              <a:avLst>
                <a:gd name="adj" fmla="val 16769"/>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6402" name="Text Box 14"/>
            <p:cNvSpPr txBox="1">
              <a:spLocks noChangeArrowheads="1"/>
            </p:cNvSpPr>
            <p:nvPr/>
          </p:nvSpPr>
          <p:spPr bwMode="auto">
            <a:xfrm>
              <a:off x="1632" y="3038"/>
              <a:ext cx="43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YES</a:t>
              </a:r>
              <a:endParaRPr lang="en-US" altLang="en-US" sz="1600">
                <a:solidFill>
                  <a:schemeClr val="bg2"/>
                </a:solidFill>
                <a:latin typeface="Arial" panose="020B0604020202020204" pitchFamily="34" charset="0"/>
              </a:endParaRPr>
            </a:p>
          </p:txBody>
        </p:sp>
        <p:sp>
          <p:nvSpPr>
            <p:cNvPr id="16403" name="AutoShape 15"/>
            <p:cNvSpPr>
              <a:spLocks noChangeArrowheads="1"/>
            </p:cNvSpPr>
            <p:nvPr/>
          </p:nvSpPr>
          <p:spPr bwMode="auto">
            <a:xfrm>
              <a:off x="740" y="3049"/>
              <a:ext cx="412" cy="229"/>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6404" name="Text Box 16"/>
            <p:cNvSpPr txBox="1">
              <a:spLocks noChangeArrowheads="1"/>
            </p:cNvSpPr>
            <p:nvPr/>
          </p:nvSpPr>
          <p:spPr bwMode="auto">
            <a:xfrm>
              <a:off x="814" y="3040"/>
              <a:ext cx="28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16405" name="AutoShape 17"/>
            <p:cNvSpPr>
              <a:spLocks noChangeArrowheads="1"/>
            </p:cNvSpPr>
            <p:nvPr/>
          </p:nvSpPr>
          <p:spPr bwMode="auto">
            <a:xfrm>
              <a:off x="384" y="2051"/>
              <a:ext cx="432" cy="219"/>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6406" name="Text Box 18"/>
            <p:cNvSpPr txBox="1">
              <a:spLocks noChangeArrowheads="1"/>
            </p:cNvSpPr>
            <p:nvPr/>
          </p:nvSpPr>
          <p:spPr bwMode="auto">
            <a:xfrm>
              <a:off x="458" y="2042"/>
              <a:ext cx="28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rgbClr val="00FFFF"/>
                </a:solidFill>
                <a:latin typeface="Arial" panose="020B0604020202020204" pitchFamily="34" charset="0"/>
              </a:endParaRPr>
            </a:p>
          </p:txBody>
        </p:sp>
        <p:sp>
          <p:nvSpPr>
            <p:cNvPr id="16407" name="AutoShape 19"/>
            <p:cNvSpPr>
              <a:spLocks noChangeArrowheads="1"/>
            </p:cNvSpPr>
            <p:nvPr/>
          </p:nvSpPr>
          <p:spPr bwMode="auto">
            <a:xfrm>
              <a:off x="2208" y="2558"/>
              <a:ext cx="432" cy="240"/>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6408" name="Text Box 20"/>
            <p:cNvSpPr txBox="1">
              <a:spLocks noChangeArrowheads="1"/>
            </p:cNvSpPr>
            <p:nvPr/>
          </p:nvSpPr>
          <p:spPr bwMode="auto">
            <a:xfrm>
              <a:off x="2270" y="2558"/>
              <a:ext cx="28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16409" name="Text Box 21"/>
            <p:cNvSpPr txBox="1">
              <a:spLocks noChangeArrowheads="1"/>
            </p:cNvSpPr>
            <p:nvPr/>
          </p:nvSpPr>
          <p:spPr bwMode="auto">
            <a:xfrm>
              <a:off x="484" y="1750"/>
              <a:ext cx="30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Yes</a:t>
              </a:r>
              <a:endParaRPr lang="en-US" altLang="en-US" sz="1600">
                <a:solidFill>
                  <a:schemeClr val="bg2"/>
                </a:solidFill>
                <a:latin typeface="Arial" panose="020B0604020202020204" pitchFamily="34" charset="0"/>
              </a:endParaRPr>
            </a:p>
          </p:txBody>
        </p:sp>
        <p:sp>
          <p:nvSpPr>
            <p:cNvPr id="16410" name="Text Box 22"/>
            <p:cNvSpPr txBox="1">
              <a:spLocks noChangeArrowheads="1"/>
            </p:cNvSpPr>
            <p:nvPr/>
          </p:nvSpPr>
          <p:spPr bwMode="auto">
            <a:xfrm>
              <a:off x="1654" y="1750"/>
              <a:ext cx="25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16411" name="Text Box 23"/>
            <p:cNvSpPr txBox="1">
              <a:spLocks noChangeArrowheads="1"/>
            </p:cNvSpPr>
            <p:nvPr/>
          </p:nvSpPr>
          <p:spPr bwMode="auto">
            <a:xfrm>
              <a:off x="2301" y="2232"/>
              <a:ext cx="5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Married</a:t>
              </a:r>
              <a:r>
                <a:rPr lang="en-US" altLang="en-US" sz="1600">
                  <a:solidFill>
                    <a:schemeClr val="bg2"/>
                  </a:solidFill>
                  <a:latin typeface="Arial" panose="020B0604020202020204" pitchFamily="34" charset="0"/>
                </a:rPr>
                <a:t> </a:t>
              </a:r>
            </a:p>
          </p:txBody>
        </p:sp>
        <p:sp>
          <p:nvSpPr>
            <p:cNvPr id="16412" name="Text Box 24"/>
            <p:cNvSpPr txBox="1">
              <a:spLocks noChangeArrowheads="1"/>
            </p:cNvSpPr>
            <p:nvPr/>
          </p:nvSpPr>
          <p:spPr bwMode="auto">
            <a:xfrm>
              <a:off x="945" y="2250"/>
              <a:ext cx="95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Single, Divorced</a:t>
              </a:r>
              <a:endParaRPr lang="en-US" altLang="en-US" sz="1600">
                <a:solidFill>
                  <a:schemeClr val="bg2"/>
                </a:solidFill>
                <a:latin typeface="Arial" panose="020B0604020202020204" pitchFamily="34" charset="0"/>
              </a:endParaRPr>
            </a:p>
          </p:txBody>
        </p:sp>
        <p:sp>
          <p:nvSpPr>
            <p:cNvPr id="16413" name="Text Box 25"/>
            <p:cNvSpPr txBox="1">
              <a:spLocks noChangeArrowheads="1"/>
            </p:cNvSpPr>
            <p:nvPr/>
          </p:nvSpPr>
          <p:spPr bwMode="auto">
            <a:xfrm>
              <a:off x="654" y="2749"/>
              <a:ext cx="41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&lt; 80K</a:t>
              </a:r>
              <a:endParaRPr lang="en-US" altLang="en-US" sz="1600">
                <a:solidFill>
                  <a:schemeClr val="bg2"/>
                </a:solidFill>
                <a:latin typeface="Arial" panose="020B0604020202020204" pitchFamily="34" charset="0"/>
              </a:endParaRPr>
            </a:p>
          </p:txBody>
        </p:sp>
        <p:sp>
          <p:nvSpPr>
            <p:cNvPr id="16414" name="Text Box 26"/>
            <p:cNvSpPr txBox="1">
              <a:spLocks noChangeArrowheads="1"/>
            </p:cNvSpPr>
            <p:nvPr/>
          </p:nvSpPr>
          <p:spPr bwMode="auto">
            <a:xfrm>
              <a:off x="1772" y="2749"/>
              <a:ext cx="41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&gt; 80K</a:t>
              </a:r>
              <a:endParaRPr lang="en-US" altLang="en-US" sz="1600">
                <a:solidFill>
                  <a:schemeClr val="bg2"/>
                </a:solidFill>
                <a:latin typeface="Arial" panose="020B0604020202020204" pitchFamily="34" charset="0"/>
              </a:endParaRPr>
            </a:p>
          </p:txBody>
        </p:sp>
      </p:grpSp>
      <p:graphicFrame>
        <p:nvGraphicFramePr>
          <p:cNvPr id="16388" name="Object 27"/>
          <p:cNvGraphicFramePr>
            <a:graphicFrameLocks noChangeAspect="1"/>
          </p:cNvGraphicFramePr>
          <p:nvPr/>
        </p:nvGraphicFramePr>
        <p:xfrm>
          <a:off x="5181600" y="2438400"/>
          <a:ext cx="3343275" cy="1133475"/>
        </p:xfrm>
        <a:graphic>
          <a:graphicData uri="http://schemas.openxmlformats.org/presentationml/2006/ole">
            <mc:AlternateContent xmlns:mc="http://schemas.openxmlformats.org/markup-compatibility/2006">
              <mc:Choice xmlns:v="urn:schemas-microsoft-com:vml" Requires="v">
                <p:oleObj spid="_x0000_s16429" name="Document" r:id="rId3" imgW="4651248" imgH="1575816" progId="Word.Document.8">
                  <p:embed/>
                </p:oleObj>
              </mc:Choice>
              <mc:Fallback>
                <p:oleObj name="Document" r:id="rId3" imgW="4651248" imgH="1575816" progId="Word.Document.8">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2438400"/>
                        <a:ext cx="3343275" cy="113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9" name="Text Box 28"/>
          <p:cNvSpPr txBox="1">
            <a:spLocks noChangeArrowheads="1"/>
          </p:cNvSpPr>
          <p:nvPr/>
        </p:nvSpPr>
        <p:spPr bwMode="auto">
          <a:xfrm>
            <a:off x="5029200" y="1981200"/>
            <a:ext cx="160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lnSpc>
                <a:spcPct val="80000"/>
              </a:lnSpc>
              <a:buClr>
                <a:schemeClr val="accent2"/>
              </a:buClr>
              <a:buSzPct val="75000"/>
              <a:buFont typeface="Monotype Sorts" pitchFamily="2" charset="2"/>
              <a:buNone/>
            </a:pPr>
            <a:r>
              <a:rPr lang="en-US" altLang="en-US" sz="2000" b="1">
                <a:solidFill>
                  <a:schemeClr val="tx2"/>
                </a:solidFill>
                <a:latin typeface="Arial" panose="020B0604020202020204" pitchFamily="34" charset="0"/>
              </a:rPr>
              <a:t>Test Data</a:t>
            </a:r>
            <a:endParaRPr lang="en-US" altLang="en-US" sz="2000">
              <a:solidFill>
                <a:schemeClr val="bg2"/>
              </a:solidFill>
              <a:latin typeface="Arial" panose="020B0604020202020204" pitchFamily="34" charset="0"/>
            </a:endParaRPr>
          </a:p>
        </p:txBody>
      </p:sp>
      <p:sp>
        <p:nvSpPr>
          <p:cNvPr id="16390" name="Text Box 29"/>
          <p:cNvSpPr txBox="1">
            <a:spLocks noChangeArrowheads="1"/>
          </p:cNvSpPr>
          <p:nvPr/>
        </p:nvSpPr>
        <p:spPr bwMode="auto">
          <a:xfrm>
            <a:off x="990600" y="1447800"/>
            <a:ext cx="3429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nSpc>
                <a:spcPct val="80000"/>
              </a:lnSpc>
              <a:buClr>
                <a:schemeClr val="accent2"/>
              </a:buClr>
              <a:buSzPct val="75000"/>
              <a:buFont typeface="Monotype Sorts" pitchFamily="2" charset="2"/>
              <a:buNone/>
            </a:pPr>
            <a:r>
              <a:rPr lang="en-US" altLang="en-US" sz="2000">
                <a:latin typeface="Arial" panose="020B0604020202020204" pitchFamily="34" charset="0"/>
              </a:rPr>
              <a:t>Start from the root of tree.</a:t>
            </a:r>
          </a:p>
        </p:txBody>
      </p:sp>
      <p:sp>
        <p:nvSpPr>
          <p:cNvPr id="16391" name="Line 30"/>
          <p:cNvSpPr>
            <a:spLocks noChangeShapeType="1"/>
          </p:cNvSpPr>
          <p:nvPr/>
        </p:nvSpPr>
        <p:spPr bwMode="auto">
          <a:xfrm>
            <a:off x="2133600" y="1828800"/>
            <a:ext cx="0" cy="457200"/>
          </a:xfrm>
          <a:prstGeom prst="line">
            <a:avLst/>
          </a:prstGeom>
          <a:noFill/>
          <a:ln w="158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a:xfrm>
            <a:off x="381000" y="0"/>
            <a:ext cx="5791200" cy="1139825"/>
          </a:xfrm>
        </p:spPr>
        <p:txBody>
          <a:bodyPr/>
          <a:lstStyle/>
          <a:p>
            <a:pPr eaLnBrk="1" hangingPunct="1">
              <a:defRPr/>
            </a:pPr>
            <a:r>
              <a:rPr lang="en-US" sz="3800" smtClean="0"/>
              <a:t>Apply Model to Test Data</a:t>
            </a:r>
          </a:p>
        </p:txBody>
      </p:sp>
      <p:grpSp>
        <p:nvGrpSpPr>
          <p:cNvPr id="17411" name="Group 3"/>
          <p:cNvGrpSpPr>
            <a:grpSpLocks/>
          </p:cNvGrpSpPr>
          <p:nvPr/>
        </p:nvGrpSpPr>
        <p:grpSpPr bwMode="auto">
          <a:xfrm>
            <a:off x="685800" y="2362200"/>
            <a:ext cx="4267200" cy="3298825"/>
            <a:chOff x="384" y="1584"/>
            <a:chExt cx="2451" cy="1694"/>
          </a:xfrm>
        </p:grpSpPr>
        <p:sp>
          <p:nvSpPr>
            <p:cNvPr id="17415" name="Line 4"/>
            <p:cNvSpPr>
              <a:spLocks noChangeShapeType="1"/>
            </p:cNvSpPr>
            <p:nvPr/>
          </p:nvSpPr>
          <p:spPr bwMode="auto">
            <a:xfrm>
              <a:off x="1655" y="2708"/>
              <a:ext cx="153" cy="33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16" name="Line 5"/>
            <p:cNvSpPr>
              <a:spLocks noChangeShapeType="1"/>
            </p:cNvSpPr>
            <p:nvPr/>
          </p:nvSpPr>
          <p:spPr bwMode="auto">
            <a:xfrm flipH="1">
              <a:off x="943" y="2708"/>
              <a:ext cx="204" cy="33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17" name="Line 6"/>
            <p:cNvSpPr>
              <a:spLocks noChangeShapeType="1"/>
            </p:cNvSpPr>
            <p:nvPr/>
          </p:nvSpPr>
          <p:spPr bwMode="auto">
            <a:xfrm flipH="1">
              <a:off x="1350" y="2208"/>
              <a:ext cx="254" cy="333"/>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18" name="Line 7"/>
            <p:cNvSpPr>
              <a:spLocks noChangeShapeType="1"/>
            </p:cNvSpPr>
            <p:nvPr/>
          </p:nvSpPr>
          <p:spPr bwMode="auto">
            <a:xfrm>
              <a:off x="2113" y="2208"/>
              <a:ext cx="305" cy="333"/>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19" name="Line 8"/>
            <p:cNvSpPr>
              <a:spLocks noChangeShapeType="1"/>
            </p:cNvSpPr>
            <p:nvPr/>
          </p:nvSpPr>
          <p:spPr bwMode="auto">
            <a:xfrm>
              <a:off x="1452" y="1750"/>
              <a:ext cx="356" cy="29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20" name="Line 9"/>
            <p:cNvSpPr>
              <a:spLocks noChangeShapeType="1"/>
            </p:cNvSpPr>
            <p:nvPr/>
          </p:nvSpPr>
          <p:spPr bwMode="auto">
            <a:xfrm flipH="1">
              <a:off x="587" y="1750"/>
              <a:ext cx="356" cy="29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21" name="Text Box 10"/>
            <p:cNvSpPr txBox="1">
              <a:spLocks noChangeArrowheads="1"/>
            </p:cNvSpPr>
            <p:nvPr/>
          </p:nvSpPr>
          <p:spPr bwMode="auto">
            <a:xfrm>
              <a:off x="913" y="1584"/>
              <a:ext cx="590" cy="179"/>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Refund</a:t>
              </a:r>
              <a:endParaRPr lang="en-US" altLang="en-US" sz="1600">
                <a:solidFill>
                  <a:schemeClr val="bg2"/>
                </a:solidFill>
                <a:latin typeface="Arial" panose="020B0604020202020204" pitchFamily="34" charset="0"/>
              </a:endParaRPr>
            </a:p>
          </p:txBody>
        </p:sp>
        <p:sp>
          <p:nvSpPr>
            <p:cNvPr id="17422" name="Text Box 11"/>
            <p:cNvSpPr txBox="1">
              <a:spLocks noChangeArrowheads="1"/>
            </p:cNvSpPr>
            <p:nvPr/>
          </p:nvSpPr>
          <p:spPr bwMode="auto">
            <a:xfrm>
              <a:off x="1553" y="2042"/>
              <a:ext cx="589" cy="179"/>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MarSt</a:t>
              </a:r>
              <a:endParaRPr lang="en-US" altLang="en-US" sz="1600">
                <a:solidFill>
                  <a:schemeClr val="bg2"/>
                </a:solidFill>
                <a:latin typeface="Arial" panose="020B0604020202020204" pitchFamily="34" charset="0"/>
              </a:endParaRPr>
            </a:p>
          </p:txBody>
        </p:sp>
        <p:sp>
          <p:nvSpPr>
            <p:cNvPr id="17423" name="Text Box 12"/>
            <p:cNvSpPr txBox="1">
              <a:spLocks noChangeArrowheads="1"/>
            </p:cNvSpPr>
            <p:nvPr/>
          </p:nvSpPr>
          <p:spPr bwMode="auto">
            <a:xfrm>
              <a:off x="1096" y="2541"/>
              <a:ext cx="610" cy="179"/>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TaxInc</a:t>
              </a:r>
              <a:endParaRPr lang="en-US" altLang="en-US" sz="1600">
                <a:solidFill>
                  <a:schemeClr val="bg2"/>
                </a:solidFill>
                <a:latin typeface="Arial" panose="020B0604020202020204" pitchFamily="34" charset="0"/>
              </a:endParaRPr>
            </a:p>
          </p:txBody>
        </p:sp>
        <p:sp>
          <p:nvSpPr>
            <p:cNvPr id="17424" name="AutoShape 13"/>
            <p:cNvSpPr>
              <a:spLocks noChangeArrowheads="1"/>
            </p:cNvSpPr>
            <p:nvPr/>
          </p:nvSpPr>
          <p:spPr bwMode="auto">
            <a:xfrm>
              <a:off x="1680" y="3038"/>
              <a:ext cx="395" cy="231"/>
            </a:xfrm>
            <a:prstGeom prst="roundRect">
              <a:avLst>
                <a:gd name="adj" fmla="val 16769"/>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7425" name="Text Box 14"/>
            <p:cNvSpPr txBox="1">
              <a:spLocks noChangeArrowheads="1"/>
            </p:cNvSpPr>
            <p:nvPr/>
          </p:nvSpPr>
          <p:spPr bwMode="auto">
            <a:xfrm>
              <a:off x="1632" y="3038"/>
              <a:ext cx="43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YES</a:t>
              </a:r>
              <a:endParaRPr lang="en-US" altLang="en-US" sz="1600">
                <a:solidFill>
                  <a:schemeClr val="bg2"/>
                </a:solidFill>
                <a:latin typeface="Arial" panose="020B0604020202020204" pitchFamily="34" charset="0"/>
              </a:endParaRPr>
            </a:p>
          </p:txBody>
        </p:sp>
        <p:sp>
          <p:nvSpPr>
            <p:cNvPr id="17426" name="AutoShape 15"/>
            <p:cNvSpPr>
              <a:spLocks noChangeArrowheads="1"/>
            </p:cNvSpPr>
            <p:nvPr/>
          </p:nvSpPr>
          <p:spPr bwMode="auto">
            <a:xfrm>
              <a:off x="740" y="3049"/>
              <a:ext cx="412" cy="229"/>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7427" name="Text Box 16"/>
            <p:cNvSpPr txBox="1">
              <a:spLocks noChangeArrowheads="1"/>
            </p:cNvSpPr>
            <p:nvPr/>
          </p:nvSpPr>
          <p:spPr bwMode="auto">
            <a:xfrm>
              <a:off x="814" y="3040"/>
              <a:ext cx="28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17428" name="AutoShape 17"/>
            <p:cNvSpPr>
              <a:spLocks noChangeArrowheads="1"/>
            </p:cNvSpPr>
            <p:nvPr/>
          </p:nvSpPr>
          <p:spPr bwMode="auto">
            <a:xfrm>
              <a:off x="384" y="2051"/>
              <a:ext cx="432" cy="219"/>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7429" name="Text Box 18"/>
            <p:cNvSpPr txBox="1">
              <a:spLocks noChangeArrowheads="1"/>
            </p:cNvSpPr>
            <p:nvPr/>
          </p:nvSpPr>
          <p:spPr bwMode="auto">
            <a:xfrm>
              <a:off x="458" y="2042"/>
              <a:ext cx="28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rgbClr val="00FFFF"/>
                </a:solidFill>
                <a:latin typeface="Arial" panose="020B0604020202020204" pitchFamily="34" charset="0"/>
              </a:endParaRPr>
            </a:p>
          </p:txBody>
        </p:sp>
        <p:sp>
          <p:nvSpPr>
            <p:cNvPr id="17430" name="AutoShape 19"/>
            <p:cNvSpPr>
              <a:spLocks noChangeArrowheads="1"/>
            </p:cNvSpPr>
            <p:nvPr/>
          </p:nvSpPr>
          <p:spPr bwMode="auto">
            <a:xfrm>
              <a:off x="2208" y="2558"/>
              <a:ext cx="432" cy="240"/>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7431" name="Text Box 20"/>
            <p:cNvSpPr txBox="1">
              <a:spLocks noChangeArrowheads="1"/>
            </p:cNvSpPr>
            <p:nvPr/>
          </p:nvSpPr>
          <p:spPr bwMode="auto">
            <a:xfrm>
              <a:off x="2270" y="2558"/>
              <a:ext cx="28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17432" name="Text Box 21"/>
            <p:cNvSpPr txBox="1">
              <a:spLocks noChangeArrowheads="1"/>
            </p:cNvSpPr>
            <p:nvPr/>
          </p:nvSpPr>
          <p:spPr bwMode="auto">
            <a:xfrm>
              <a:off x="484" y="1750"/>
              <a:ext cx="30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Yes</a:t>
              </a:r>
              <a:endParaRPr lang="en-US" altLang="en-US" sz="1600">
                <a:solidFill>
                  <a:schemeClr val="bg2"/>
                </a:solidFill>
                <a:latin typeface="Arial" panose="020B0604020202020204" pitchFamily="34" charset="0"/>
              </a:endParaRPr>
            </a:p>
          </p:txBody>
        </p:sp>
        <p:sp>
          <p:nvSpPr>
            <p:cNvPr id="17433" name="Text Box 22"/>
            <p:cNvSpPr txBox="1">
              <a:spLocks noChangeArrowheads="1"/>
            </p:cNvSpPr>
            <p:nvPr/>
          </p:nvSpPr>
          <p:spPr bwMode="auto">
            <a:xfrm>
              <a:off x="1654" y="1750"/>
              <a:ext cx="25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17434" name="Text Box 23"/>
            <p:cNvSpPr txBox="1">
              <a:spLocks noChangeArrowheads="1"/>
            </p:cNvSpPr>
            <p:nvPr/>
          </p:nvSpPr>
          <p:spPr bwMode="auto">
            <a:xfrm>
              <a:off x="2301" y="2232"/>
              <a:ext cx="5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Married</a:t>
              </a:r>
              <a:r>
                <a:rPr lang="en-US" altLang="en-US" sz="1600">
                  <a:solidFill>
                    <a:schemeClr val="bg2"/>
                  </a:solidFill>
                  <a:latin typeface="Arial" panose="020B0604020202020204" pitchFamily="34" charset="0"/>
                </a:rPr>
                <a:t> </a:t>
              </a:r>
            </a:p>
          </p:txBody>
        </p:sp>
        <p:sp>
          <p:nvSpPr>
            <p:cNvPr id="17435" name="Text Box 24"/>
            <p:cNvSpPr txBox="1">
              <a:spLocks noChangeArrowheads="1"/>
            </p:cNvSpPr>
            <p:nvPr/>
          </p:nvSpPr>
          <p:spPr bwMode="auto">
            <a:xfrm>
              <a:off x="945" y="2250"/>
              <a:ext cx="95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Single, Divorced</a:t>
              </a:r>
              <a:endParaRPr lang="en-US" altLang="en-US" sz="1600">
                <a:solidFill>
                  <a:schemeClr val="bg2"/>
                </a:solidFill>
                <a:latin typeface="Arial" panose="020B0604020202020204" pitchFamily="34" charset="0"/>
              </a:endParaRPr>
            </a:p>
          </p:txBody>
        </p:sp>
        <p:sp>
          <p:nvSpPr>
            <p:cNvPr id="17436" name="Text Box 25"/>
            <p:cNvSpPr txBox="1">
              <a:spLocks noChangeArrowheads="1"/>
            </p:cNvSpPr>
            <p:nvPr/>
          </p:nvSpPr>
          <p:spPr bwMode="auto">
            <a:xfrm>
              <a:off x="654" y="2749"/>
              <a:ext cx="41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&lt; 80K</a:t>
              </a:r>
              <a:endParaRPr lang="en-US" altLang="en-US" sz="1600">
                <a:solidFill>
                  <a:schemeClr val="bg2"/>
                </a:solidFill>
                <a:latin typeface="Arial" panose="020B0604020202020204" pitchFamily="34" charset="0"/>
              </a:endParaRPr>
            </a:p>
          </p:txBody>
        </p:sp>
        <p:sp>
          <p:nvSpPr>
            <p:cNvPr id="17437" name="Text Box 26"/>
            <p:cNvSpPr txBox="1">
              <a:spLocks noChangeArrowheads="1"/>
            </p:cNvSpPr>
            <p:nvPr/>
          </p:nvSpPr>
          <p:spPr bwMode="auto">
            <a:xfrm>
              <a:off x="1772" y="2749"/>
              <a:ext cx="41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&gt; 80K</a:t>
              </a:r>
              <a:endParaRPr lang="en-US" altLang="en-US" sz="1600">
                <a:solidFill>
                  <a:schemeClr val="bg2"/>
                </a:solidFill>
                <a:latin typeface="Arial" panose="020B0604020202020204" pitchFamily="34" charset="0"/>
              </a:endParaRPr>
            </a:p>
          </p:txBody>
        </p:sp>
      </p:grpSp>
      <p:graphicFrame>
        <p:nvGraphicFramePr>
          <p:cNvPr id="17412" name="Object 27"/>
          <p:cNvGraphicFramePr>
            <a:graphicFrameLocks noChangeAspect="1"/>
          </p:cNvGraphicFramePr>
          <p:nvPr/>
        </p:nvGraphicFramePr>
        <p:xfrm>
          <a:off x="5105400" y="1905000"/>
          <a:ext cx="3343275" cy="1133475"/>
        </p:xfrm>
        <a:graphic>
          <a:graphicData uri="http://schemas.openxmlformats.org/presentationml/2006/ole">
            <mc:AlternateContent xmlns:mc="http://schemas.openxmlformats.org/markup-compatibility/2006">
              <mc:Choice xmlns:v="urn:schemas-microsoft-com:vml" Requires="v">
                <p:oleObj spid="_x0000_s17452" name="Document" r:id="rId3" imgW="4651248" imgH="1575816" progId="Word.Document.8">
                  <p:embed/>
                </p:oleObj>
              </mc:Choice>
              <mc:Fallback>
                <p:oleObj name="Document" r:id="rId3" imgW="4651248" imgH="1575816" progId="Word.Document.8">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1905000"/>
                        <a:ext cx="3343275" cy="113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3" name="Text Box 28"/>
          <p:cNvSpPr txBox="1">
            <a:spLocks noChangeArrowheads="1"/>
          </p:cNvSpPr>
          <p:nvPr/>
        </p:nvSpPr>
        <p:spPr bwMode="auto">
          <a:xfrm>
            <a:off x="4953000" y="1447800"/>
            <a:ext cx="160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lnSpc>
                <a:spcPct val="80000"/>
              </a:lnSpc>
              <a:buClr>
                <a:schemeClr val="accent2"/>
              </a:buClr>
              <a:buSzPct val="75000"/>
              <a:buFont typeface="Monotype Sorts" pitchFamily="2" charset="2"/>
              <a:buNone/>
            </a:pPr>
            <a:r>
              <a:rPr lang="en-US" altLang="en-US" sz="2000" b="1">
                <a:solidFill>
                  <a:schemeClr val="tx2"/>
                </a:solidFill>
                <a:latin typeface="Arial" panose="020B0604020202020204" pitchFamily="34" charset="0"/>
              </a:rPr>
              <a:t>Test Data</a:t>
            </a:r>
            <a:endParaRPr lang="en-US" altLang="en-US" sz="2000">
              <a:solidFill>
                <a:schemeClr val="bg2"/>
              </a:solidFill>
              <a:latin typeface="Arial" panose="020B0604020202020204" pitchFamily="34" charset="0"/>
            </a:endParaRPr>
          </a:p>
        </p:txBody>
      </p:sp>
      <p:sp>
        <p:nvSpPr>
          <p:cNvPr id="17414" name="Line 29"/>
          <p:cNvSpPr>
            <a:spLocks noChangeShapeType="1"/>
          </p:cNvSpPr>
          <p:nvPr/>
        </p:nvSpPr>
        <p:spPr bwMode="auto">
          <a:xfrm flipH="1">
            <a:off x="2667000" y="2133600"/>
            <a:ext cx="2819400" cy="381000"/>
          </a:xfrm>
          <a:prstGeom prst="line">
            <a:avLst/>
          </a:prstGeom>
          <a:noFill/>
          <a:ln w="15875">
            <a:solidFill>
              <a:srgbClr val="FF0000"/>
            </a:solidFill>
            <a:prstDash val="dash"/>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0" y="0"/>
            <a:ext cx="6248400" cy="1139825"/>
          </a:xfrm>
        </p:spPr>
        <p:txBody>
          <a:bodyPr/>
          <a:lstStyle/>
          <a:p>
            <a:pPr eaLnBrk="1" hangingPunct="1">
              <a:defRPr/>
            </a:pPr>
            <a:r>
              <a:rPr lang="en-US" smtClean="0"/>
              <a:t>Apply Model to Test Data</a:t>
            </a:r>
          </a:p>
        </p:txBody>
      </p:sp>
      <p:sp>
        <p:nvSpPr>
          <p:cNvPr id="18435" name="Line 3"/>
          <p:cNvSpPr>
            <a:spLocks noChangeShapeType="1"/>
          </p:cNvSpPr>
          <p:nvPr/>
        </p:nvSpPr>
        <p:spPr bwMode="auto">
          <a:xfrm>
            <a:off x="2898775" y="4551363"/>
            <a:ext cx="2667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36" name="Line 4"/>
          <p:cNvSpPr>
            <a:spLocks noChangeShapeType="1"/>
          </p:cNvSpPr>
          <p:nvPr/>
        </p:nvSpPr>
        <p:spPr bwMode="auto">
          <a:xfrm flipH="1">
            <a:off x="1658938" y="4551363"/>
            <a:ext cx="3556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37" name="Line 5"/>
          <p:cNvSpPr>
            <a:spLocks noChangeShapeType="1"/>
          </p:cNvSpPr>
          <p:nvPr/>
        </p:nvSpPr>
        <p:spPr bwMode="auto">
          <a:xfrm flipH="1">
            <a:off x="2366963" y="3576638"/>
            <a:ext cx="442912"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38" name="Line 6"/>
          <p:cNvSpPr>
            <a:spLocks noChangeShapeType="1"/>
          </p:cNvSpPr>
          <p:nvPr/>
        </p:nvSpPr>
        <p:spPr bwMode="auto">
          <a:xfrm>
            <a:off x="3695700" y="3576638"/>
            <a:ext cx="531813"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39" name="Line 7"/>
          <p:cNvSpPr>
            <a:spLocks noChangeShapeType="1"/>
          </p:cNvSpPr>
          <p:nvPr/>
        </p:nvSpPr>
        <p:spPr bwMode="auto">
          <a:xfrm>
            <a:off x="2544763" y="2686050"/>
            <a:ext cx="620712" cy="56832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40" name="Line 8"/>
          <p:cNvSpPr>
            <a:spLocks noChangeShapeType="1"/>
          </p:cNvSpPr>
          <p:nvPr/>
        </p:nvSpPr>
        <p:spPr bwMode="auto">
          <a:xfrm flipH="1">
            <a:off x="1039813" y="2686050"/>
            <a:ext cx="619125" cy="568325"/>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41" name="Text Box 9"/>
          <p:cNvSpPr txBox="1">
            <a:spLocks noChangeArrowheads="1"/>
          </p:cNvSpPr>
          <p:nvPr/>
        </p:nvSpPr>
        <p:spPr bwMode="auto">
          <a:xfrm>
            <a:off x="1606550" y="2362200"/>
            <a:ext cx="1027113"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Refund</a:t>
            </a:r>
            <a:endParaRPr lang="en-US" altLang="en-US" sz="1600">
              <a:solidFill>
                <a:schemeClr val="bg2"/>
              </a:solidFill>
              <a:latin typeface="Arial" panose="020B0604020202020204" pitchFamily="34" charset="0"/>
            </a:endParaRPr>
          </a:p>
        </p:txBody>
      </p:sp>
      <p:sp>
        <p:nvSpPr>
          <p:cNvPr id="18442" name="Text Box 10"/>
          <p:cNvSpPr txBox="1">
            <a:spLocks noChangeArrowheads="1"/>
          </p:cNvSpPr>
          <p:nvPr/>
        </p:nvSpPr>
        <p:spPr bwMode="auto">
          <a:xfrm>
            <a:off x="2720975" y="3254375"/>
            <a:ext cx="1025525" cy="347663"/>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MarSt</a:t>
            </a:r>
            <a:endParaRPr lang="en-US" altLang="en-US" sz="1600">
              <a:solidFill>
                <a:schemeClr val="bg2"/>
              </a:solidFill>
              <a:latin typeface="Arial" panose="020B0604020202020204" pitchFamily="34" charset="0"/>
            </a:endParaRPr>
          </a:p>
        </p:txBody>
      </p:sp>
      <p:sp>
        <p:nvSpPr>
          <p:cNvPr id="18443" name="Text Box 11"/>
          <p:cNvSpPr txBox="1">
            <a:spLocks noChangeArrowheads="1"/>
          </p:cNvSpPr>
          <p:nvPr/>
        </p:nvSpPr>
        <p:spPr bwMode="auto">
          <a:xfrm>
            <a:off x="1925638" y="4225925"/>
            <a:ext cx="1062037"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TaxInc</a:t>
            </a:r>
            <a:endParaRPr lang="en-US" altLang="en-US" sz="1600">
              <a:solidFill>
                <a:schemeClr val="bg2"/>
              </a:solidFill>
              <a:latin typeface="Arial" panose="020B0604020202020204" pitchFamily="34" charset="0"/>
            </a:endParaRPr>
          </a:p>
        </p:txBody>
      </p:sp>
      <p:sp>
        <p:nvSpPr>
          <p:cNvPr id="18444" name="AutoShape 12"/>
          <p:cNvSpPr>
            <a:spLocks noChangeArrowheads="1"/>
          </p:cNvSpPr>
          <p:nvPr/>
        </p:nvSpPr>
        <p:spPr bwMode="auto">
          <a:xfrm>
            <a:off x="2941638" y="5194300"/>
            <a:ext cx="688975" cy="449263"/>
          </a:xfrm>
          <a:prstGeom prst="roundRect">
            <a:avLst>
              <a:gd name="adj" fmla="val 16769"/>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8445" name="Text Box 13"/>
          <p:cNvSpPr txBox="1">
            <a:spLocks noChangeArrowheads="1"/>
          </p:cNvSpPr>
          <p:nvPr/>
        </p:nvSpPr>
        <p:spPr bwMode="auto">
          <a:xfrm>
            <a:off x="2859088" y="5194300"/>
            <a:ext cx="7508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YES</a:t>
            </a:r>
            <a:endParaRPr lang="en-US" altLang="en-US" sz="1600">
              <a:solidFill>
                <a:schemeClr val="bg2"/>
              </a:solidFill>
              <a:latin typeface="Arial" panose="020B0604020202020204" pitchFamily="34" charset="0"/>
            </a:endParaRPr>
          </a:p>
        </p:txBody>
      </p:sp>
      <p:sp>
        <p:nvSpPr>
          <p:cNvPr id="18446" name="AutoShape 14"/>
          <p:cNvSpPr>
            <a:spLocks noChangeArrowheads="1"/>
          </p:cNvSpPr>
          <p:nvPr/>
        </p:nvSpPr>
        <p:spPr bwMode="auto">
          <a:xfrm>
            <a:off x="1304925" y="5214938"/>
            <a:ext cx="717550" cy="446087"/>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8447" name="Text Box 15"/>
          <p:cNvSpPr txBox="1">
            <a:spLocks noChangeArrowheads="1"/>
          </p:cNvSpPr>
          <p:nvPr/>
        </p:nvSpPr>
        <p:spPr bwMode="auto">
          <a:xfrm>
            <a:off x="1435100" y="5197475"/>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18448" name="AutoShape 16"/>
          <p:cNvSpPr>
            <a:spLocks noChangeArrowheads="1"/>
          </p:cNvSpPr>
          <p:nvPr/>
        </p:nvSpPr>
        <p:spPr bwMode="auto">
          <a:xfrm>
            <a:off x="685800" y="3271838"/>
            <a:ext cx="752475" cy="427037"/>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8449" name="Text Box 17"/>
          <p:cNvSpPr txBox="1">
            <a:spLocks noChangeArrowheads="1"/>
          </p:cNvSpPr>
          <p:nvPr/>
        </p:nvSpPr>
        <p:spPr bwMode="auto">
          <a:xfrm>
            <a:off x="814388" y="3254375"/>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rgbClr val="00FFFF"/>
              </a:solidFill>
              <a:latin typeface="Arial" panose="020B0604020202020204" pitchFamily="34" charset="0"/>
            </a:endParaRPr>
          </a:p>
        </p:txBody>
      </p:sp>
      <p:sp>
        <p:nvSpPr>
          <p:cNvPr id="18450" name="AutoShape 18"/>
          <p:cNvSpPr>
            <a:spLocks noChangeArrowheads="1"/>
          </p:cNvSpPr>
          <p:nvPr/>
        </p:nvSpPr>
        <p:spPr bwMode="auto">
          <a:xfrm>
            <a:off x="3860800" y="4259263"/>
            <a:ext cx="752475" cy="466725"/>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8451" name="Text Box 19"/>
          <p:cNvSpPr txBox="1">
            <a:spLocks noChangeArrowheads="1"/>
          </p:cNvSpPr>
          <p:nvPr/>
        </p:nvSpPr>
        <p:spPr bwMode="auto">
          <a:xfrm>
            <a:off x="3968750" y="4259263"/>
            <a:ext cx="4905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18452" name="Text Box 20"/>
          <p:cNvSpPr txBox="1">
            <a:spLocks noChangeArrowheads="1"/>
          </p:cNvSpPr>
          <p:nvPr/>
        </p:nvSpPr>
        <p:spPr bwMode="auto">
          <a:xfrm>
            <a:off x="860425" y="2686050"/>
            <a:ext cx="533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Yes</a:t>
            </a:r>
            <a:endParaRPr lang="en-US" altLang="en-US" sz="1600">
              <a:solidFill>
                <a:schemeClr val="bg2"/>
              </a:solidFill>
              <a:latin typeface="Arial" panose="020B0604020202020204" pitchFamily="34" charset="0"/>
            </a:endParaRPr>
          </a:p>
        </p:txBody>
      </p:sp>
      <p:sp>
        <p:nvSpPr>
          <p:cNvPr id="18453" name="Text Box 21"/>
          <p:cNvSpPr txBox="1">
            <a:spLocks noChangeArrowheads="1"/>
          </p:cNvSpPr>
          <p:nvPr/>
        </p:nvSpPr>
        <p:spPr bwMode="auto">
          <a:xfrm>
            <a:off x="2897188" y="2686050"/>
            <a:ext cx="4429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solidFill>
                  <a:srgbClr val="FF0000"/>
                </a:solidFill>
                <a:latin typeface="Arial" panose="020B0604020202020204" pitchFamily="34" charset="0"/>
              </a:rPr>
              <a:t>No</a:t>
            </a:r>
          </a:p>
        </p:txBody>
      </p:sp>
      <p:sp>
        <p:nvSpPr>
          <p:cNvPr id="18454" name="Text Box 22"/>
          <p:cNvSpPr txBox="1">
            <a:spLocks noChangeArrowheads="1"/>
          </p:cNvSpPr>
          <p:nvPr/>
        </p:nvSpPr>
        <p:spPr bwMode="auto">
          <a:xfrm>
            <a:off x="4022725" y="3624263"/>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Married</a:t>
            </a:r>
            <a:r>
              <a:rPr lang="en-US" altLang="en-US" sz="1600">
                <a:solidFill>
                  <a:schemeClr val="bg2"/>
                </a:solidFill>
                <a:latin typeface="Arial" panose="020B0604020202020204" pitchFamily="34" charset="0"/>
              </a:rPr>
              <a:t> </a:t>
            </a:r>
          </a:p>
        </p:txBody>
      </p:sp>
      <p:sp>
        <p:nvSpPr>
          <p:cNvPr id="18455" name="Text Box 23"/>
          <p:cNvSpPr txBox="1">
            <a:spLocks noChangeArrowheads="1"/>
          </p:cNvSpPr>
          <p:nvPr/>
        </p:nvSpPr>
        <p:spPr bwMode="auto">
          <a:xfrm>
            <a:off x="1662113" y="3659188"/>
            <a:ext cx="1660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Single, Divorced</a:t>
            </a:r>
            <a:endParaRPr lang="en-US" altLang="en-US" sz="1600">
              <a:solidFill>
                <a:schemeClr val="bg2"/>
              </a:solidFill>
              <a:latin typeface="Arial" panose="020B0604020202020204" pitchFamily="34" charset="0"/>
            </a:endParaRPr>
          </a:p>
        </p:txBody>
      </p:sp>
      <p:sp>
        <p:nvSpPr>
          <p:cNvPr id="18456" name="Text Box 24"/>
          <p:cNvSpPr txBox="1">
            <a:spLocks noChangeArrowheads="1"/>
          </p:cNvSpPr>
          <p:nvPr/>
        </p:nvSpPr>
        <p:spPr bwMode="auto">
          <a:xfrm>
            <a:off x="1155700" y="4630738"/>
            <a:ext cx="72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&lt; 80K</a:t>
            </a:r>
            <a:endParaRPr lang="en-US" altLang="en-US" sz="1600">
              <a:solidFill>
                <a:schemeClr val="bg2"/>
              </a:solidFill>
              <a:latin typeface="Arial" panose="020B0604020202020204" pitchFamily="34" charset="0"/>
            </a:endParaRPr>
          </a:p>
        </p:txBody>
      </p:sp>
      <p:sp>
        <p:nvSpPr>
          <p:cNvPr id="18457" name="Text Box 25"/>
          <p:cNvSpPr txBox="1">
            <a:spLocks noChangeArrowheads="1"/>
          </p:cNvSpPr>
          <p:nvPr/>
        </p:nvSpPr>
        <p:spPr bwMode="auto">
          <a:xfrm>
            <a:off x="3101975" y="4630738"/>
            <a:ext cx="72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&gt; 80K</a:t>
            </a:r>
            <a:endParaRPr lang="en-US" altLang="en-US" sz="1600">
              <a:solidFill>
                <a:schemeClr val="bg2"/>
              </a:solidFill>
              <a:latin typeface="Arial" panose="020B0604020202020204" pitchFamily="34" charset="0"/>
            </a:endParaRPr>
          </a:p>
        </p:txBody>
      </p:sp>
      <p:graphicFrame>
        <p:nvGraphicFramePr>
          <p:cNvPr id="18458" name="Object 26"/>
          <p:cNvGraphicFramePr>
            <a:graphicFrameLocks noChangeAspect="1"/>
          </p:cNvGraphicFramePr>
          <p:nvPr/>
        </p:nvGraphicFramePr>
        <p:xfrm>
          <a:off x="4953000" y="1600200"/>
          <a:ext cx="3343275" cy="1133475"/>
        </p:xfrm>
        <a:graphic>
          <a:graphicData uri="http://schemas.openxmlformats.org/presentationml/2006/ole">
            <mc:AlternateContent xmlns:mc="http://schemas.openxmlformats.org/markup-compatibility/2006">
              <mc:Choice xmlns:v="urn:schemas-microsoft-com:vml" Requires="v">
                <p:oleObj spid="_x0000_s18475" name="Document" r:id="rId3" imgW="4651248" imgH="1575816" progId="Word.Document.8">
                  <p:embed/>
                </p:oleObj>
              </mc:Choice>
              <mc:Fallback>
                <p:oleObj name="Document" r:id="rId3" imgW="4651248" imgH="1575816" progId="Word.Document.8">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1600200"/>
                        <a:ext cx="3343275" cy="113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59" name="Text Box 27"/>
          <p:cNvSpPr txBox="1">
            <a:spLocks noChangeArrowheads="1"/>
          </p:cNvSpPr>
          <p:nvPr/>
        </p:nvSpPr>
        <p:spPr bwMode="auto">
          <a:xfrm>
            <a:off x="4800600" y="1143000"/>
            <a:ext cx="160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lnSpc>
                <a:spcPct val="80000"/>
              </a:lnSpc>
              <a:buClr>
                <a:schemeClr val="accent2"/>
              </a:buClr>
              <a:buSzPct val="75000"/>
              <a:buFont typeface="Monotype Sorts" pitchFamily="2" charset="2"/>
              <a:buNone/>
            </a:pPr>
            <a:r>
              <a:rPr lang="en-US" altLang="en-US" sz="2000" b="1">
                <a:solidFill>
                  <a:schemeClr val="tx2"/>
                </a:solidFill>
                <a:latin typeface="Arial" panose="020B0604020202020204" pitchFamily="34" charset="0"/>
              </a:rPr>
              <a:t>Test Data</a:t>
            </a:r>
            <a:endParaRPr lang="en-US" altLang="en-US" sz="2000">
              <a:solidFill>
                <a:schemeClr val="bg2"/>
              </a:solidFill>
              <a:latin typeface="Arial" panose="020B0604020202020204" pitchFamily="34" charset="0"/>
            </a:endParaRPr>
          </a:p>
        </p:txBody>
      </p:sp>
      <p:sp>
        <p:nvSpPr>
          <p:cNvPr id="18460" name="Line 28"/>
          <p:cNvSpPr>
            <a:spLocks noChangeShapeType="1"/>
          </p:cNvSpPr>
          <p:nvPr/>
        </p:nvSpPr>
        <p:spPr bwMode="auto">
          <a:xfrm flipH="1">
            <a:off x="3352800" y="2362200"/>
            <a:ext cx="1600200" cy="457200"/>
          </a:xfrm>
          <a:prstGeom prst="line">
            <a:avLst/>
          </a:prstGeom>
          <a:noFill/>
          <a:ln w="15875">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0" y="0"/>
            <a:ext cx="5715000" cy="1139825"/>
          </a:xfrm>
        </p:spPr>
        <p:txBody>
          <a:bodyPr/>
          <a:lstStyle/>
          <a:p>
            <a:pPr eaLnBrk="1" hangingPunct="1">
              <a:defRPr/>
            </a:pPr>
            <a:r>
              <a:rPr lang="en-US" sz="3800" smtClean="0"/>
              <a:t>Apply Model to Test Data</a:t>
            </a:r>
          </a:p>
        </p:txBody>
      </p:sp>
      <p:sp>
        <p:nvSpPr>
          <p:cNvPr id="19459" name="Line 3"/>
          <p:cNvSpPr>
            <a:spLocks noChangeShapeType="1"/>
          </p:cNvSpPr>
          <p:nvPr/>
        </p:nvSpPr>
        <p:spPr bwMode="auto">
          <a:xfrm>
            <a:off x="2898775" y="4551363"/>
            <a:ext cx="2667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460" name="Line 4"/>
          <p:cNvSpPr>
            <a:spLocks noChangeShapeType="1"/>
          </p:cNvSpPr>
          <p:nvPr/>
        </p:nvSpPr>
        <p:spPr bwMode="auto">
          <a:xfrm flipH="1">
            <a:off x="1658938" y="4551363"/>
            <a:ext cx="3556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461" name="Line 5"/>
          <p:cNvSpPr>
            <a:spLocks noChangeShapeType="1"/>
          </p:cNvSpPr>
          <p:nvPr/>
        </p:nvSpPr>
        <p:spPr bwMode="auto">
          <a:xfrm flipH="1">
            <a:off x="2366963" y="3576638"/>
            <a:ext cx="442912"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462" name="Line 6"/>
          <p:cNvSpPr>
            <a:spLocks noChangeShapeType="1"/>
          </p:cNvSpPr>
          <p:nvPr/>
        </p:nvSpPr>
        <p:spPr bwMode="auto">
          <a:xfrm>
            <a:off x="3695700" y="3576638"/>
            <a:ext cx="531813"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463" name="Line 7"/>
          <p:cNvSpPr>
            <a:spLocks noChangeShapeType="1"/>
          </p:cNvSpPr>
          <p:nvPr/>
        </p:nvSpPr>
        <p:spPr bwMode="auto">
          <a:xfrm>
            <a:off x="2544763" y="2686050"/>
            <a:ext cx="620712" cy="56832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464" name="Line 8"/>
          <p:cNvSpPr>
            <a:spLocks noChangeShapeType="1"/>
          </p:cNvSpPr>
          <p:nvPr/>
        </p:nvSpPr>
        <p:spPr bwMode="auto">
          <a:xfrm flipH="1">
            <a:off x="1039813" y="2686050"/>
            <a:ext cx="619125" cy="568325"/>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465" name="Text Box 9"/>
          <p:cNvSpPr txBox="1">
            <a:spLocks noChangeArrowheads="1"/>
          </p:cNvSpPr>
          <p:nvPr/>
        </p:nvSpPr>
        <p:spPr bwMode="auto">
          <a:xfrm>
            <a:off x="1606550" y="2362200"/>
            <a:ext cx="1027113"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Refund</a:t>
            </a:r>
            <a:endParaRPr lang="en-US" altLang="en-US" sz="1600">
              <a:solidFill>
                <a:schemeClr val="bg2"/>
              </a:solidFill>
              <a:latin typeface="Arial" panose="020B0604020202020204" pitchFamily="34" charset="0"/>
            </a:endParaRPr>
          </a:p>
        </p:txBody>
      </p:sp>
      <p:sp>
        <p:nvSpPr>
          <p:cNvPr id="19466" name="Text Box 10"/>
          <p:cNvSpPr txBox="1">
            <a:spLocks noChangeArrowheads="1"/>
          </p:cNvSpPr>
          <p:nvPr/>
        </p:nvSpPr>
        <p:spPr bwMode="auto">
          <a:xfrm>
            <a:off x="2720975" y="3254375"/>
            <a:ext cx="1025525" cy="347663"/>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MarSt</a:t>
            </a:r>
            <a:endParaRPr lang="en-US" altLang="en-US" sz="1600">
              <a:solidFill>
                <a:schemeClr val="bg2"/>
              </a:solidFill>
              <a:latin typeface="Arial" panose="020B0604020202020204" pitchFamily="34" charset="0"/>
            </a:endParaRPr>
          </a:p>
        </p:txBody>
      </p:sp>
      <p:sp>
        <p:nvSpPr>
          <p:cNvPr id="19467" name="Text Box 11"/>
          <p:cNvSpPr txBox="1">
            <a:spLocks noChangeArrowheads="1"/>
          </p:cNvSpPr>
          <p:nvPr/>
        </p:nvSpPr>
        <p:spPr bwMode="auto">
          <a:xfrm>
            <a:off x="1925638" y="4225925"/>
            <a:ext cx="1062037"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TaxInc</a:t>
            </a:r>
            <a:endParaRPr lang="en-US" altLang="en-US" sz="1600">
              <a:solidFill>
                <a:schemeClr val="bg2"/>
              </a:solidFill>
              <a:latin typeface="Arial" panose="020B0604020202020204" pitchFamily="34" charset="0"/>
            </a:endParaRPr>
          </a:p>
        </p:txBody>
      </p:sp>
      <p:sp>
        <p:nvSpPr>
          <p:cNvPr id="19468" name="AutoShape 12"/>
          <p:cNvSpPr>
            <a:spLocks noChangeArrowheads="1"/>
          </p:cNvSpPr>
          <p:nvPr/>
        </p:nvSpPr>
        <p:spPr bwMode="auto">
          <a:xfrm>
            <a:off x="2941638" y="5194300"/>
            <a:ext cx="688975" cy="449263"/>
          </a:xfrm>
          <a:prstGeom prst="roundRect">
            <a:avLst>
              <a:gd name="adj" fmla="val 16769"/>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9469" name="Text Box 13"/>
          <p:cNvSpPr txBox="1">
            <a:spLocks noChangeArrowheads="1"/>
          </p:cNvSpPr>
          <p:nvPr/>
        </p:nvSpPr>
        <p:spPr bwMode="auto">
          <a:xfrm>
            <a:off x="2859088" y="5194300"/>
            <a:ext cx="7508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YES</a:t>
            </a:r>
            <a:endParaRPr lang="en-US" altLang="en-US" sz="1600">
              <a:solidFill>
                <a:schemeClr val="bg2"/>
              </a:solidFill>
              <a:latin typeface="Arial" panose="020B0604020202020204" pitchFamily="34" charset="0"/>
            </a:endParaRPr>
          </a:p>
        </p:txBody>
      </p:sp>
      <p:sp>
        <p:nvSpPr>
          <p:cNvPr id="19470" name="AutoShape 14"/>
          <p:cNvSpPr>
            <a:spLocks noChangeArrowheads="1"/>
          </p:cNvSpPr>
          <p:nvPr/>
        </p:nvSpPr>
        <p:spPr bwMode="auto">
          <a:xfrm>
            <a:off x="1304925" y="5214938"/>
            <a:ext cx="717550" cy="446087"/>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9471" name="Text Box 15"/>
          <p:cNvSpPr txBox="1">
            <a:spLocks noChangeArrowheads="1"/>
          </p:cNvSpPr>
          <p:nvPr/>
        </p:nvSpPr>
        <p:spPr bwMode="auto">
          <a:xfrm>
            <a:off x="1435100" y="5197475"/>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19472" name="AutoShape 16"/>
          <p:cNvSpPr>
            <a:spLocks noChangeArrowheads="1"/>
          </p:cNvSpPr>
          <p:nvPr/>
        </p:nvSpPr>
        <p:spPr bwMode="auto">
          <a:xfrm>
            <a:off x="685800" y="3271838"/>
            <a:ext cx="752475" cy="427037"/>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9473" name="Text Box 17"/>
          <p:cNvSpPr txBox="1">
            <a:spLocks noChangeArrowheads="1"/>
          </p:cNvSpPr>
          <p:nvPr/>
        </p:nvSpPr>
        <p:spPr bwMode="auto">
          <a:xfrm>
            <a:off x="814388" y="3254375"/>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rgbClr val="00FFFF"/>
              </a:solidFill>
              <a:latin typeface="Arial" panose="020B0604020202020204" pitchFamily="34" charset="0"/>
            </a:endParaRPr>
          </a:p>
        </p:txBody>
      </p:sp>
      <p:sp>
        <p:nvSpPr>
          <p:cNvPr id="19474" name="AutoShape 18"/>
          <p:cNvSpPr>
            <a:spLocks noChangeArrowheads="1"/>
          </p:cNvSpPr>
          <p:nvPr/>
        </p:nvSpPr>
        <p:spPr bwMode="auto">
          <a:xfrm>
            <a:off x="3860800" y="4259263"/>
            <a:ext cx="752475" cy="466725"/>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9475" name="Text Box 19"/>
          <p:cNvSpPr txBox="1">
            <a:spLocks noChangeArrowheads="1"/>
          </p:cNvSpPr>
          <p:nvPr/>
        </p:nvSpPr>
        <p:spPr bwMode="auto">
          <a:xfrm>
            <a:off x="3968750" y="4259263"/>
            <a:ext cx="4905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19476" name="Text Box 20"/>
          <p:cNvSpPr txBox="1">
            <a:spLocks noChangeArrowheads="1"/>
          </p:cNvSpPr>
          <p:nvPr/>
        </p:nvSpPr>
        <p:spPr bwMode="auto">
          <a:xfrm>
            <a:off x="860425" y="2686050"/>
            <a:ext cx="533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Yes</a:t>
            </a:r>
            <a:endParaRPr lang="en-US" altLang="en-US" sz="1600">
              <a:solidFill>
                <a:schemeClr val="bg2"/>
              </a:solidFill>
              <a:latin typeface="Arial" panose="020B0604020202020204" pitchFamily="34" charset="0"/>
            </a:endParaRPr>
          </a:p>
        </p:txBody>
      </p:sp>
      <p:sp>
        <p:nvSpPr>
          <p:cNvPr id="19477" name="Text Box 21"/>
          <p:cNvSpPr txBox="1">
            <a:spLocks noChangeArrowheads="1"/>
          </p:cNvSpPr>
          <p:nvPr/>
        </p:nvSpPr>
        <p:spPr bwMode="auto">
          <a:xfrm>
            <a:off x="2897188" y="2686050"/>
            <a:ext cx="4429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solidFill>
                  <a:srgbClr val="FF0000"/>
                </a:solidFill>
                <a:latin typeface="Arial" panose="020B0604020202020204" pitchFamily="34" charset="0"/>
              </a:rPr>
              <a:t>No</a:t>
            </a:r>
          </a:p>
        </p:txBody>
      </p:sp>
      <p:sp>
        <p:nvSpPr>
          <p:cNvPr id="19478" name="Text Box 22"/>
          <p:cNvSpPr txBox="1">
            <a:spLocks noChangeArrowheads="1"/>
          </p:cNvSpPr>
          <p:nvPr/>
        </p:nvSpPr>
        <p:spPr bwMode="auto">
          <a:xfrm>
            <a:off x="4022725" y="3624263"/>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Married</a:t>
            </a:r>
            <a:r>
              <a:rPr lang="en-US" altLang="en-US" sz="1600">
                <a:solidFill>
                  <a:schemeClr val="bg2"/>
                </a:solidFill>
                <a:latin typeface="Arial" panose="020B0604020202020204" pitchFamily="34" charset="0"/>
              </a:rPr>
              <a:t> </a:t>
            </a:r>
          </a:p>
        </p:txBody>
      </p:sp>
      <p:sp>
        <p:nvSpPr>
          <p:cNvPr id="19479" name="Text Box 23"/>
          <p:cNvSpPr txBox="1">
            <a:spLocks noChangeArrowheads="1"/>
          </p:cNvSpPr>
          <p:nvPr/>
        </p:nvSpPr>
        <p:spPr bwMode="auto">
          <a:xfrm>
            <a:off x="1662113" y="3659188"/>
            <a:ext cx="1660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Single, Divorced</a:t>
            </a:r>
            <a:endParaRPr lang="en-US" altLang="en-US" sz="1600">
              <a:solidFill>
                <a:schemeClr val="bg2"/>
              </a:solidFill>
              <a:latin typeface="Arial" panose="020B0604020202020204" pitchFamily="34" charset="0"/>
            </a:endParaRPr>
          </a:p>
        </p:txBody>
      </p:sp>
      <p:sp>
        <p:nvSpPr>
          <p:cNvPr id="19480" name="Text Box 24"/>
          <p:cNvSpPr txBox="1">
            <a:spLocks noChangeArrowheads="1"/>
          </p:cNvSpPr>
          <p:nvPr/>
        </p:nvSpPr>
        <p:spPr bwMode="auto">
          <a:xfrm>
            <a:off x="1155700" y="4630738"/>
            <a:ext cx="72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&lt; 80K</a:t>
            </a:r>
            <a:endParaRPr lang="en-US" altLang="en-US" sz="1600">
              <a:solidFill>
                <a:schemeClr val="bg2"/>
              </a:solidFill>
              <a:latin typeface="Arial" panose="020B0604020202020204" pitchFamily="34" charset="0"/>
            </a:endParaRPr>
          </a:p>
        </p:txBody>
      </p:sp>
      <p:sp>
        <p:nvSpPr>
          <p:cNvPr id="19481" name="Text Box 25"/>
          <p:cNvSpPr txBox="1">
            <a:spLocks noChangeArrowheads="1"/>
          </p:cNvSpPr>
          <p:nvPr/>
        </p:nvSpPr>
        <p:spPr bwMode="auto">
          <a:xfrm>
            <a:off x="3101975" y="4630738"/>
            <a:ext cx="72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&gt; 80K</a:t>
            </a:r>
            <a:endParaRPr lang="en-US" altLang="en-US" sz="1600">
              <a:solidFill>
                <a:schemeClr val="bg2"/>
              </a:solidFill>
              <a:latin typeface="Arial" panose="020B0604020202020204" pitchFamily="34" charset="0"/>
            </a:endParaRPr>
          </a:p>
        </p:txBody>
      </p:sp>
      <p:graphicFrame>
        <p:nvGraphicFramePr>
          <p:cNvPr id="19482" name="Object 26"/>
          <p:cNvGraphicFramePr>
            <a:graphicFrameLocks noChangeAspect="1"/>
          </p:cNvGraphicFramePr>
          <p:nvPr/>
        </p:nvGraphicFramePr>
        <p:xfrm>
          <a:off x="4953000" y="1600200"/>
          <a:ext cx="3343275" cy="1133475"/>
        </p:xfrm>
        <a:graphic>
          <a:graphicData uri="http://schemas.openxmlformats.org/presentationml/2006/ole">
            <mc:AlternateContent xmlns:mc="http://schemas.openxmlformats.org/markup-compatibility/2006">
              <mc:Choice xmlns:v="urn:schemas-microsoft-com:vml" Requires="v">
                <p:oleObj spid="_x0000_s19499" name="Document" r:id="rId3" imgW="4651248" imgH="1575816" progId="Word.Document.8">
                  <p:embed/>
                </p:oleObj>
              </mc:Choice>
              <mc:Fallback>
                <p:oleObj name="Document" r:id="rId3" imgW="4651248" imgH="1575816" progId="Word.Document.8">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1600200"/>
                        <a:ext cx="3343275" cy="113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3" name="Text Box 27"/>
          <p:cNvSpPr txBox="1">
            <a:spLocks noChangeArrowheads="1"/>
          </p:cNvSpPr>
          <p:nvPr/>
        </p:nvSpPr>
        <p:spPr bwMode="auto">
          <a:xfrm>
            <a:off x="4800600" y="1143000"/>
            <a:ext cx="160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lnSpc>
                <a:spcPct val="80000"/>
              </a:lnSpc>
              <a:buClr>
                <a:schemeClr val="accent2"/>
              </a:buClr>
              <a:buSzPct val="75000"/>
              <a:buFont typeface="Monotype Sorts" pitchFamily="2" charset="2"/>
              <a:buNone/>
            </a:pPr>
            <a:r>
              <a:rPr lang="en-US" altLang="en-US" sz="2000" b="1">
                <a:solidFill>
                  <a:schemeClr val="tx2"/>
                </a:solidFill>
                <a:latin typeface="Arial" panose="020B0604020202020204" pitchFamily="34" charset="0"/>
              </a:rPr>
              <a:t>Test Data</a:t>
            </a:r>
            <a:endParaRPr lang="en-US" altLang="en-US" sz="2000">
              <a:solidFill>
                <a:schemeClr val="bg2"/>
              </a:solidFill>
              <a:latin typeface="Arial" panose="020B0604020202020204" pitchFamily="34" charset="0"/>
            </a:endParaRPr>
          </a:p>
        </p:txBody>
      </p:sp>
      <p:sp>
        <p:nvSpPr>
          <p:cNvPr id="19484" name="Line 28"/>
          <p:cNvSpPr>
            <a:spLocks noChangeShapeType="1"/>
          </p:cNvSpPr>
          <p:nvPr/>
        </p:nvSpPr>
        <p:spPr bwMode="auto">
          <a:xfrm flipH="1">
            <a:off x="3810000" y="2057400"/>
            <a:ext cx="2057400" cy="1295400"/>
          </a:xfrm>
          <a:prstGeom prst="line">
            <a:avLst/>
          </a:prstGeom>
          <a:noFill/>
          <a:ln w="15875">
            <a:solidFill>
              <a:srgbClr val="FF0000"/>
            </a:solidFill>
            <a:prstDash val="dash"/>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pPr eaLnBrk="1" hangingPunct="1">
              <a:defRPr/>
            </a:pPr>
            <a:r>
              <a:rPr lang="en-US" smtClean="0"/>
              <a:t>Apply Model to Test Data</a:t>
            </a:r>
          </a:p>
        </p:txBody>
      </p:sp>
      <p:sp>
        <p:nvSpPr>
          <p:cNvPr id="20483" name="Line 3"/>
          <p:cNvSpPr>
            <a:spLocks noChangeShapeType="1"/>
          </p:cNvSpPr>
          <p:nvPr/>
        </p:nvSpPr>
        <p:spPr bwMode="auto">
          <a:xfrm>
            <a:off x="2898775" y="4551363"/>
            <a:ext cx="2667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484" name="Line 4"/>
          <p:cNvSpPr>
            <a:spLocks noChangeShapeType="1"/>
          </p:cNvSpPr>
          <p:nvPr/>
        </p:nvSpPr>
        <p:spPr bwMode="auto">
          <a:xfrm flipH="1">
            <a:off x="1658938" y="4551363"/>
            <a:ext cx="3556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485" name="Line 5"/>
          <p:cNvSpPr>
            <a:spLocks noChangeShapeType="1"/>
          </p:cNvSpPr>
          <p:nvPr/>
        </p:nvSpPr>
        <p:spPr bwMode="auto">
          <a:xfrm flipH="1">
            <a:off x="2366963" y="3576638"/>
            <a:ext cx="442912"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486" name="Line 6"/>
          <p:cNvSpPr>
            <a:spLocks noChangeShapeType="1"/>
          </p:cNvSpPr>
          <p:nvPr/>
        </p:nvSpPr>
        <p:spPr bwMode="auto">
          <a:xfrm>
            <a:off x="3695700" y="3576638"/>
            <a:ext cx="531813" cy="64928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487" name="Line 7"/>
          <p:cNvSpPr>
            <a:spLocks noChangeShapeType="1"/>
          </p:cNvSpPr>
          <p:nvPr/>
        </p:nvSpPr>
        <p:spPr bwMode="auto">
          <a:xfrm>
            <a:off x="2544763" y="2686050"/>
            <a:ext cx="620712" cy="56832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488" name="Line 8"/>
          <p:cNvSpPr>
            <a:spLocks noChangeShapeType="1"/>
          </p:cNvSpPr>
          <p:nvPr/>
        </p:nvSpPr>
        <p:spPr bwMode="auto">
          <a:xfrm flipH="1">
            <a:off x="1039813" y="2686050"/>
            <a:ext cx="619125" cy="568325"/>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489" name="Text Box 9"/>
          <p:cNvSpPr txBox="1">
            <a:spLocks noChangeArrowheads="1"/>
          </p:cNvSpPr>
          <p:nvPr/>
        </p:nvSpPr>
        <p:spPr bwMode="auto">
          <a:xfrm>
            <a:off x="1606550" y="2362200"/>
            <a:ext cx="1027113"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Refund</a:t>
            </a:r>
            <a:endParaRPr lang="en-US" altLang="en-US" sz="1600">
              <a:solidFill>
                <a:schemeClr val="bg2"/>
              </a:solidFill>
              <a:latin typeface="Arial" panose="020B0604020202020204" pitchFamily="34" charset="0"/>
            </a:endParaRPr>
          </a:p>
        </p:txBody>
      </p:sp>
      <p:sp>
        <p:nvSpPr>
          <p:cNvPr id="20490" name="Text Box 10"/>
          <p:cNvSpPr txBox="1">
            <a:spLocks noChangeArrowheads="1"/>
          </p:cNvSpPr>
          <p:nvPr/>
        </p:nvSpPr>
        <p:spPr bwMode="auto">
          <a:xfrm>
            <a:off x="2720975" y="3254375"/>
            <a:ext cx="1025525" cy="347663"/>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MarSt</a:t>
            </a:r>
            <a:endParaRPr lang="en-US" altLang="en-US" sz="1600">
              <a:solidFill>
                <a:schemeClr val="bg2"/>
              </a:solidFill>
              <a:latin typeface="Arial" panose="020B0604020202020204" pitchFamily="34" charset="0"/>
            </a:endParaRPr>
          </a:p>
        </p:txBody>
      </p:sp>
      <p:sp>
        <p:nvSpPr>
          <p:cNvPr id="20491" name="Text Box 11"/>
          <p:cNvSpPr txBox="1">
            <a:spLocks noChangeArrowheads="1"/>
          </p:cNvSpPr>
          <p:nvPr/>
        </p:nvSpPr>
        <p:spPr bwMode="auto">
          <a:xfrm>
            <a:off x="1925638" y="4225925"/>
            <a:ext cx="1062037"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TaxInc</a:t>
            </a:r>
            <a:endParaRPr lang="en-US" altLang="en-US" sz="1600">
              <a:solidFill>
                <a:schemeClr val="bg2"/>
              </a:solidFill>
              <a:latin typeface="Arial" panose="020B0604020202020204" pitchFamily="34" charset="0"/>
            </a:endParaRPr>
          </a:p>
        </p:txBody>
      </p:sp>
      <p:sp>
        <p:nvSpPr>
          <p:cNvPr id="20492" name="AutoShape 12"/>
          <p:cNvSpPr>
            <a:spLocks noChangeArrowheads="1"/>
          </p:cNvSpPr>
          <p:nvPr/>
        </p:nvSpPr>
        <p:spPr bwMode="auto">
          <a:xfrm>
            <a:off x="2941638" y="5194300"/>
            <a:ext cx="688975" cy="449263"/>
          </a:xfrm>
          <a:prstGeom prst="roundRect">
            <a:avLst>
              <a:gd name="adj" fmla="val 16769"/>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0493" name="Text Box 13"/>
          <p:cNvSpPr txBox="1">
            <a:spLocks noChangeArrowheads="1"/>
          </p:cNvSpPr>
          <p:nvPr/>
        </p:nvSpPr>
        <p:spPr bwMode="auto">
          <a:xfrm>
            <a:off x="2859088" y="5194300"/>
            <a:ext cx="7508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YES</a:t>
            </a:r>
            <a:endParaRPr lang="en-US" altLang="en-US" sz="1600">
              <a:solidFill>
                <a:schemeClr val="bg2"/>
              </a:solidFill>
              <a:latin typeface="Arial" panose="020B0604020202020204" pitchFamily="34" charset="0"/>
            </a:endParaRPr>
          </a:p>
        </p:txBody>
      </p:sp>
      <p:sp>
        <p:nvSpPr>
          <p:cNvPr id="20494" name="AutoShape 14"/>
          <p:cNvSpPr>
            <a:spLocks noChangeArrowheads="1"/>
          </p:cNvSpPr>
          <p:nvPr/>
        </p:nvSpPr>
        <p:spPr bwMode="auto">
          <a:xfrm>
            <a:off x="1304925" y="5214938"/>
            <a:ext cx="717550" cy="446087"/>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0495" name="Text Box 15"/>
          <p:cNvSpPr txBox="1">
            <a:spLocks noChangeArrowheads="1"/>
          </p:cNvSpPr>
          <p:nvPr/>
        </p:nvSpPr>
        <p:spPr bwMode="auto">
          <a:xfrm>
            <a:off x="1435100" y="5197475"/>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20496" name="AutoShape 16"/>
          <p:cNvSpPr>
            <a:spLocks noChangeArrowheads="1"/>
          </p:cNvSpPr>
          <p:nvPr/>
        </p:nvSpPr>
        <p:spPr bwMode="auto">
          <a:xfrm>
            <a:off x="685800" y="3271838"/>
            <a:ext cx="752475" cy="427037"/>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0497" name="Text Box 17"/>
          <p:cNvSpPr txBox="1">
            <a:spLocks noChangeArrowheads="1"/>
          </p:cNvSpPr>
          <p:nvPr/>
        </p:nvSpPr>
        <p:spPr bwMode="auto">
          <a:xfrm>
            <a:off x="814388" y="3254375"/>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rgbClr val="00FFFF"/>
              </a:solidFill>
              <a:latin typeface="Arial" panose="020B0604020202020204" pitchFamily="34" charset="0"/>
            </a:endParaRPr>
          </a:p>
        </p:txBody>
      </p:sp>
      <p:sp>
        <p:nvSpPr>
          <p:cNvPr id="20498" name="AutoShape 18"/>
          <p:cNvSpPr>
            <a:spLocks noChangeArrowheads="1"/>
          </p:cNvSpPr>
          <p:nvPr/>
        </p:nvSpPr>
        <p:spPr bwMode="auto">
          <a:xfrm>
            <a:off x="3860800" y="4259263"/>
            <a:ext cx="752475" cy="466725"/>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0499" name="Text Box 19"/>
          <p:cNvSpPr txBox="1">
            <a:spLocks noChangeArrowheads="1"/>
          </p:cNvSpPr>
          <p:nvPr/>
        </p:nvSpPr>
        <p:spPr bwMode="auto">
          <a:xfrm>
            <a:off x="3968750" y="4259263"/>
            <a:ext cx="4905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20500" name="Text Box 20"/>
          <p:cNvSpPr txBox="1">
            <a:spLocks noChangeArrowheads="1"/>
          </p:cNvSpPr>
          <p:nvPr/>
        </p:nvSpPr>
        <p:spPr bwMode="auto">
          <a:xfrm>
            <a:off x="860425" y="2686050"/>
            <a:ext cx="533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Yes</a:t>
            </a:r>
            <a:endParaRPr lang="en-US" altLang="en-US" sz="1600">
              <a:solidFill>
                <a:schemeClr val="bg2"/>
              </a:solidFill>
              <a:latin typeface="Arial" panose="020B0604020202020204" pitchFamily="34" charset="0"/>
            </a:endParaRPr>
          </a:p>
        </p:txBody>
      </p:sp>
      <p:sp>
        <p:nvSpPr>
          <p:cNvPr id="20501" name="Text Box 21"/>
          <p:cNvSpPr txBox="1">
            <a:spLocks noChangeArrowheads="1"/>
          </p:cNvSpPr>
          <p:nvPr/>
        </p:nvSpPr>
        <p:spPr bwMode="auto">
          <a:xfrm>
            <a:off x="2897188" y="2686050"/>
            <a:ext cx="4429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solidFill>
                  <a:srgbClr val="FF0000"/>
                </a:solidFill>
                <a:latin typeface="Arial" panose="020B0604020202020204" pitchFamily="34" charset="0"/>
              </a:rPr>
              <a:t>No</a:t>
            </a:r>
          </a:p>
        </p:txBody>
      </p:sp>
      <p:sp>
        <p:nvSpPr>
          <p:cNvPr id="20502" name="Text Box 22"/>
          <p:cNvSpPr txBox="1">
            <a:spLocks noChangeArrowheads="1"/>
          </p:cNvSpPr>
          <p:nvPr/>
        </p:nvSpPr>
        <p:spPr bwMode="auto">
          <a:xfrm>
            <a:off x="4022725" y="3624263"/>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solidFill>
                  <a:srgbClr val="FF0000"/>
                </a:solidFill>
                <a:latin typeface="Arial" panose="020B0604020202020204" pitchFamily="34" charset="0"/>
              </a:rPr>
              <a:t>Married </a:t>
            </a:r>
          </a:p>
        </p:txBody>
      </p:sp>
      <p:sp>
        <p:nvSpPr>
          <p:cNvPr id="20503" name="Text Box 23"/>
          <p:cNvSpPr txBox="1">
            <a:spLocks noChangeArrowheads="1"/>
          </p:cNvSpPr>
          <p:nvPr/>
        </p:nvSpPr>
        <p:spPr bwMode="auto">
          <a:xfrm>
            <a:off x="1662113" y="3659188"/>
            <a:ext cx="1660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Single, Divorced</a:t>
            </a:r>
            <a:endParaRPr lang="en-US" altLang="en-US" sz="1600">
              <a:solidFill>
                <a:schemeClr val="bg2"/>
              </a:solidFill>
              <a:latin typeface="Arial" panose="020B0604020202020204" pitchFamily="34" charset="0"/>
            </a:endParaRPr>
          </a:p>
        </p:txBody>
      </p:sp>
      <p:sp>
        <p:nvSpPr>
          <p:cNvPr id="20504" name="Text Box 24"/>
          <p:cNvSpPr txBox="1">
            <a:spLocks noChangeArrowheads="1"/>
          </p:cNvSpPr>
          <p:nvPr/>
        </p:nvSpPr>
        <p:spPr bwMode="auto">
          <a:xfrm>
            <a:off x="1155700" y="4630738"/>
            <a:ext cx="72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&lt; 80K</a:t>
            </a:r>
            <a:endParaRPr lang="en-US" altLang="en-US" sz="1600">
              <a:solidFill>
                <a:schemeClr val="bg2"/>
              </a:solidFill>
              <a:latin typeface="Arial" panose="020B0604020202020204" pitchFamily="34" charset="0"/>
            </a:endParaRPr>
          </a:p>
        </p:txBody>
      </p:sp>
      <p:sp>
        <p:nvSpPr>
          <p:cNvPr id="20505" name="Text Box 25"/>
          <p:cNvSpPr txBox="1">
            <a:spLocks noChangeArrowheads="1"/>
          </p:cNvSpPr>
          <p:nvPr/>
        </p:nvSpPr>
        <p:spPr bwMode="auto">
          <a:xfrm>
            <a:off x="3101975" y="4630738"/>
            <a:ext cx="72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&gt; 80K</a:t>
            </a:r>
            <a:endParaRPr lang="en-US" altLang="en-US" sz="1600">
              <a:solidFill>
                <a:schemeClr val="bg2"/>
              </a:solidFill>
              <a:latin typeface="Arial" panose="020B0604020202020204" pitchFamily="34" charset="0"/>
            </a:endParaRPr>
          </a:p>
        </p:txBody>
      </p:sp>
      <p:graphicFrame>
        <p:nvGraphicFramePr>
          <p:cNvPr id="20506" name="Object 26"/>
          <p:cNvGraphicFramePr>
            <a:graphicFrameLocks noChangeAspect="1"/>
          </p:cNvGraphicFramePr>
          <p:nvPr/>
        </p:nvGraphicFramePr>
        <p:xfrm>
          <a:off x="4953000" y="1600200"/>
          <a:ext cx="3343275" cy="1133475"/>
        </p:xfrm>
        <a:graphic>
          <a:graphicData uri="http://schemas.openxmlformats.org/presentationml/2006/ole">
            <mc:AlternateContent xmlns:mc="http://schemas.openxmlformats.org/markup-compatibility/2006">
              <mc:Choice xmlns:v="urn:schemas-microsoft-com:vml" Requires="v">
                <p:oleObj spid="_x0000_s20523" name="Document" r:id="rId3" imgW="4651248" imgH="1575816" progId="Word.Document.8">
                  <p:embed/>
                </p:oleObj>
              </mc:Choice>
              <mc:Fallback>
                <p:oleObj name="Document" r:id="rId3" imgW="4651248" imgH="1575816" progId="Word.Document.8">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1600200"/>
                        <a:ext cx="3343275" cy="113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07" name="Text Box 27"/>
          <p:cNvSpPr txBox="1">
            <a:spLocks noChangeArrowheads="1"/>
          </p:cNvSpPr>
          <p:nvPr/>
        </p:nvSpPr>
        <p:spPr bwMode="auto">
          <a:xfrm>
            <a:off x="4800600" y="1143000"/>
            <a:ext cx="160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lnSpc>
                <a:spcPct val="80000"/>
              </a:lnSpc>
              <a:buClr>
                <a:schemeClr val="accent2"/>
              </a:buClr>
              <a:buSzPct val="75000"/>
              <a:buFont typeface="Monotype Sorts" pitchFamily="2" charset="2"/>
              <a:buNone/>
            </a:pPr>
            <a:r>
              <a:rPr lang="en-US" altLang="en-US" sz="2000" b="1">
                <a:solidFill>
                  <a:schemeClr val="tx2"/>
                </a:solidFill>
                <a:latin typeface="Arial" panose="020B0604020202020204" pitchFamily="34" charset="0"/>
              </a:rPr>
              <a:t>Test Data</a:t>
            </a:r>
            <a:endParaRPr lang="en-US" altLang="en-US" sz="2000">
              <a:solidFill>
                <a:schemeClr val="bg2"/>
              </a:solidFill>
              <a:latin typeface="Arial" panose="020B0604020202020204" pitchFamily="34" charset="0"/>
            </a:endParaRPr>
          </a:p>
        </p:txBody>
      </p:sp>
      <p:sp>
        <p:nvSpPr>
          <p:cNvPr id="20508" name="Line 28"/>
          <p:cNvSpPr>
            <a:spLocks noChangeShapeType="1"/>
          </p:cNvSpPr>
          <p:nvPr/>
        </p:nvSpPr>
        <p:spPr bwMode="auto">
          <a:xfrm flipH="1">
            <a:off x="4648200" y="2590800"/>
            <a:ext cx="1295400" cy="990600"/>
          </a:xfrm>
          <a:prstGeom prst="line">
            <a:avLst/>
          </a:prstGeom>
          <a:noFill/>
          <a:ln w="15875">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a:xfrm>
            <a:off x="0" y="0"/>
            <a:ext cx="6248400" cy="1139825"/>
          </a:xfrm>
        </p:spPr>
        <p:txBody>
          <a:bodyPr/>
          <a:lstStyle/>
          <a:p>
            <a:pPr eaLnBrk="1" hangingPunct="1">
              <a:defRPr/>
            </a:pPr>
            <a:r>
              <a:rPr lang="en-US" smtClean="0"/>
              <a:t>Apply Model to Test Data</a:t>
            </a:r>
          </a:p>
        </p:txBody>
      </p:sp>
      <p:sp>
        <p:nvSpPr>
          <p:cNvPr id="21507" name="Line 3"/>
          <p:cNvSpPr>
            <a:spLocks noChangeShapeType="1"/>
          </p:cNvSpPr>
          <p:nvPr/>
        </p:nvSpPr>
        <p:spPr bwMode="auto">
          <a:xfrm>
            <a:off x="2898775" y="4551363"/>
            <a:ext cx="2667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08" name="Line 4"/>
          <p:cNvSpPr>
            <a:spLocks noChangeShapeType="1"/>
          </p:cNvSpPr>
          <p:nvPr/>
        </p:nvSpPr>
        <p:spPr bwMode="auto">
          <a:xfrm flipH="1">
            <a:off x="1658938" y="4551363"/>
            <a:ext cx="3556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09" name="Line 5"/>
          <p:cNvSpPr>
            <a:spLocks noChangeShapeType="1"/>
          </p:cNvSpPr>
          <p:nvPr/>
        </p:nvSpPr>
        <p:spPr bwMode="auto">
          <a:xfrm flipH="1">
            <a:off x="2366963" y="3576638"/>
            <a:ext cx="442912"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0" name="Line 6"/>
          <p:cNvSpPr>
            <a:spLocks noChangeShapeType="1"/>
          </p:cNvSpPr>
          <p:nvPr/>
        </p:nvSpPr>
        <p:spPr bwMode="auto">
          <a:xfrm>
            <a:off x="3695700" y="3576638"/>
            <a:ext cx="531813" cy="64928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1" name="Line 7"/>
          <p:cNvSpPr>
            <a:spLocks noChangeShapeType="1"/>
          </p:cNvSpPr>
          <p:nvPr/>
        </p:nvSpPr>
        <p:spPr bwMode="auto">
          <a:xfrm>
            <a:off x="2544763" y="2686050"/>
            <a:ext cx="620712" cy="56832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2" name="Line 8"/>
          <p:cNvSpPr>
            <a:spLocks noChangeShapeType="1"/>
          </p:cNvSpPr>
          <p:nvPr/>
        </p:nvSpPr>
        <p:spPr bwMode="auto">
          <a:xfrm flipH="1">
            <a:off x="1039813" y="2686050"/>
            <a:ext cx="619125" cy="568325"/>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3" name="Text Box 9"/>
          <p:cNvSpPr txBox="1">
            <a:spLocks noChangeArrowheads="1"/>
          </p:cNvSpPr>
          <p:nvPr/>
        </p:nvSpPr>
        <p:spPr bwMode="auto">
          <a:xfrm>
            <a:off x="1606550" y="2362200"/>
            <a:ext cx="1027113"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Refund</a:t>
            </a:r>
            <a:endParaRPr lang="en-US" altLang="en-US" sz="1600">
              <a:solidFill>
                <a:schemeClr val="bg2"/>
              </a:solidFill>
              <a:latin typeface="Arial" panose="020B0604020202020204" pitchFamily="34" charset="0"/>
            </a:endParaRPr>
          </a:p>
        </p:txBody>
      </p:sp>
      <p:sp>
        <p:nvSpPr>
          <p:cNvPr id="21514" name="Text Box 10"/>
          <p:cNvSpPr txBox="1">
            <a:spLocks noChangeArrowheads="1"/>
          </p:cNvSpPr>
          <p:nvPr/>
        </p:nvSpPr>
        <p:spPr bwMode="auto">
          <a:xfrm>
            <a:off x="2720975" y="3254375"/>
            <a:ext cx="1025525" cy="347663"/>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MarSt</a:t>
            </a:r>
            <a:endParaRPr lang="en-US" altLang="en-US" sz="1600">
              <a:solidFill>
                <a:schemeClr val="bg2"/>
              </a:solidFill>
              <a:latin typeface="Arial" panose="020B0604020202020204" pitchFamily="34" charset="0"/>
            </a:endParaRPr>
          </a:p>
        </p:txBody>
      </p:sp>
      <p:sp>
        <p:nvSpPr>
          <p:cNvPr id="21515" name="Text Box 11"/>
          <p:cNvSpPr txBox="1">
            <a:spLocks noChangeArrowheads="1"/>
          </p:cNvSpPr>
          <p:nvPr/>
        </p:nvSpPr>
        <p:spPr bwMode="auto">
          <a:xfrm>
            <a:off x="1925638" y="4225925"/>
            <a:ext cx="1062037"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2D1993"/>
                </a:solidFill>
                <a:latin typeface="Arial" panose="020B0604020202020204" pitchFamily="34" charset="0"/>
              </a:rPr>
              <a:t>TaxInc</a:t>
            </a:r>
            <a:endParaRPr lang="en-US" altLang="en-US" sz="1600">
              <a:solidFill>
                <a:schemeClr val="bg2"/>
              </a:solidFill>
              <a:latin typeface="Arial" panose="020B0604020202020204" pitchFamily="34" charset="0"/>
            </a:endParaRPr>
          </a:p>
        </p:txBody>
      </p:sp>
      <p:sp>
        <p:nvSpPr>
          <p:cNvPr id="21516" name="AutoShape 12"/>
          <p:cNvSpPr>
            <a:spLocks noChangeArrowheads="1"/>
          </p:cNvSpPr>
          <p:nvPr/>
        </p:nvSpPr>
        <p:spPr bwMode="auto">
          <a:xfrm>
            <a:off x="2941638" y="5194300"/>
            <a:ext cx="688975" cy="449263"/>
          </a:xfrm>
          <a:prstGeom prst="roundRect">
            <a:avLst>
              <a:gd name="adj" fmla="val 16769"/>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1517" name="Text Box 13"/>
          <p:cNvSpPr txBox="1">
            <a:spLocks noChangeArrowheads="1"/>
          </p:cNvSpPr>
          <p:nvPr/>
        </p:nvSpPr>
        <p:spPr bwMode="auto">
          <a:xfrm>
            <a:off x="2859088" y="5194300"/>
            <a:ext cx="7508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YES</a:t>
            </a:r>
            <a:endParaRPr lang="en-US" altLang="en-US" sz="1600">
              <a:solidFill>
                <a:schemeClr val="bg2"/>
              </a:solidFill>
              <a:latin typeface="Arial" panose="020B0604020202020204" pitchFamily="34" charset="0"/>
            </a:endParaRPr>
          </a:p>
        </p:txBody>
      </p:sp>
      <p:sp>
        <p:nvSpPr>
          <p:cNvPr id="21518" name="AutoShape 14"/>
          <p:cNvSpPr>
            <a:spLocks noChangeArrowheads="1"/>
          </p:cNvSpPr>
          <p:nvPr/>
        </p:nvSpPr>
        <p:spPr bwMode="auto">
          <a:xfrm>
            <a:off x="1304925" y="5214938"/>
            <a:ext cx="717550" cy="446087"/>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1519" name="Text Box 15"/>
          <p:cNvSpPr txBox="1">
            <a:spLocks noChangeArrowheads="1"/>
          </p:cNvSpPr>
          <p:nvPr/>
        </p:nvSpPr>
        <p:spPr bwMode="auto">
          <a:xfrm>
            <a:off x="1435100" y="5197475"/>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21520" name="AutoShape 16"/>
          <p:cNvSpPr>
            <a:spLocks noChangeArrowheads="1"/>
          </p:cNvSpPr>
          <p:nvPr/>
        </p:nvSpPr>
        <p:spPr bwMode="auto">
          <a:xfrm>
            <a:off x="685800" y="3271838"/>
            <a:ext cx="752475" cy="427037"/>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1521" name="Text Box 17"/>
          <p:cNvSpPr txBox="1">
            <a:spLocks noChangeArrowheads="1"/>
          </p:cNvSpPr>
          <p:nvPr/>
        </p:nvSpPr>
        <p:spPr bwMode="auto">
          <a:xfrm>
            <a:off x="814388" y="3254375"/>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rgbClr val="00FFFF"/>
              </a:solidFill>
              <a:latin typeface="Arial" panose="020B0604020202020204" pitchFamily="34" charset="0"/>
            </a:endParaRPr>
          </a:p>
        </p:txBody>
      </p:sp>
      <p:sp>
        <p:nvSpPr>
          <p:cNvPr id="21522" name="AutoShape 18"/>
          <p:cNvSpPr>
            <a:spLocks noChangeArrowheads="1"/>
          </p:cNvSpPr>
          <p:nvPr/>
        </p:nvSpPr>
        <p:spPr bwMode="auto">
          <a:xfrm>
            <a:off x="3860800" y="4259263"/>
            <a:ext cx="752475" cy="466725"/>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1523" name="Text Box 19"/>
          <p:cNvSpPr txBox="1">
            <a:spLocks noChangeArrowheads="1"/>
          </p:cNvSpPr>
          <p:nvPr/>
        </p:nvSpPr>
        <p:spPr bwMode="auto">
          <a:xfrm>
            <a:off x="3968750" y="4259263"/>
            <a:ext cx="4905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800000"/>
                </a:solidFill>
                <a:latin typeface="Arial" panose="020B0604020202020204" pitchFamily="34" charset="0"/>
              </a:rPr>
              <a:t>NO</a:t>
            </a:r>
            <a:endParaRPr lang="en-US" altLang="en-US" sz="1600">
              <a:solidFill>
                <a:schemeClr val="bg2"/>
              </a:solidFill>
              <a:latin typeface="Arial" panose="020B0604020202020204" pitchFamily="34" charset="0"/>
            </a:endParaRPr>
          </a:p>
        </p:txBody>
      </p:sp>
      <p:sp>
        <p:nvSpPr>
          <p:cNvPr id="21524" name="Text Box 20"/>
          <p:cNvSpPr txBox="1">
            <a:spLocks noChangeArrowheads="1"/>
          </p:cNvSpPr>
          <p:nvPr/>
        </p:nvSpPr>
        <p:spPr bwMode="auto">
          <a:xfrm>
            <a:off x="860425" y="2686050"/>
            <a:ext cx="533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Yes</a:t>
            </a:r>
            <a:endParaRPr lang="en-US" altLang="en-US" sz="1600">
              <a:solidFill>
                <a:schemeClr val="bg2"/>
              </a:solidFill>
              <a:latin typeface="Arial" panose="020B0604020202020204" pitchFamily="34" charset="0"/>
            </a:endParaRPr>
          </a:p>
        </p:txBody>
      </p:sp>
      <p:sp>
        <p:nvSpPr>
          <p:cNvPr id="21525" name="Text Box 21"/>
          <p:cNvSpPr txBox="1">
            <a:spLocks noChangeArrowheads="1"/>
          </p:cNvSpPr>
          <p:nvPr/>
        </p:nvSpPr>
        <p:spPr bwMode="auto">
          <a:xfrm>
            <a:off x="2897188" y="2686050"/>
            <a:ext cx="4429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solidFill>
                  <a:srgbClr val="FF0000"/>
                </a:solidFill>
                <a:latin typeface="Arial" panose="020B0604020202020204" pitchFamily="34" charset="0"/>
              </a:rPr>
              <a:t>No</a:t>
            </a:r>
          </a:p>
        </p:txBody>
      </p:sp>
      <p:sp>
        <p:nvSpPr>
          <p:cNvPr id="21526" name="Text Box 22"/>
          <p:cNvSpPr txBox="1">
            <a:spLocks noChangeArrowheads="1"/>
          </p:cNvSpPr>
          <p:nvPr/>
        </p:nvSpPr>
        <p:spPr bwMode="auto">
          <a:xfrm>
            <a:off x="4022725" y="3624263"/>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solidFill>
                  <a:srgbClr val="FF0000"/>
                </a:solidFill>
                <a:latin typeface="Arial" panose="020B0604020202020204" pitchFamily="34" charset="0"/>
              </a:rPr>
              <a:t>Married </a:t>
            </a:r>
          </a:p>
        </p:txBody>
      </p:sp>
      <p:sp>
        <p:nvSpPr>
          <p:cNvPr id="21527" name="Text Box 23"/>
          <p:cNvSpPr txBox="1">
            <a:spLocks noChangeArrowheads="1"/>
          </p:cNvSpPr>
          <p:nvPr/>
        </p:nvSpPr>
        <p:spPr bwMode="auto">
          <a:xfrm>
            <a:off x="1662113" y="3659188"/>
            <a:ext cx="1660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Single, Divorced</a:t>
            </a:r>
            <a:endParaRPr lang="en-US" altLang="en-US" sz="1600">
              <a:solidFill>
                <a:schemeClr val="bg2"/>
              </a:solidFill>
              <a:latin typeface="Arial" panose="020B0604020202020204" pitchFamily="34" charset="0"/>
            </a:endParaRPr>
          </a:p>
        </p:txBody>
      </p:sp>
      <p:sp>
        <p:nvSpPr>
          <p:cNvPr id="21528" name="Text Box 24"/>
          <p:cNvSpPr txBox="1">
            <a:spLocks noChangeArrowheads="1"/>
          </p:cNvSpPr>
          <p:nvPr/>
        </p:nvSpPr>
        <p:spPr bwMode="auto">
          <a:xfrm>
            <a:off x="1155700" y="4630738"/>
            <a:ext cx="72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&lt; 80K</a:t>
            </a:r>
            <a:endParaRPr lang="en-US" altLang="en-US" sz="1600">
              <a:solidFill>
                <a:schemeClr val="bg2"/>
              </a:solidFill>
              <a:latin typeface="Arial" panose="020B0604020202020204" pitchFamily="34" charset="0"/>
            </a:endParaRPr>
          </a:p>
        </p:txBody>
      </p:sp>
      <p:sp>
        <p:nvSpPr>
          <p:cNvPr id="21529" name="Text Box 25"/>
          <p:cNvSpPr txBox="1">
            <a:spLocks noChangeArrowheads="1"/>
          </p:cNvSpPr>
          <p:nvPr/>
        </p:nvSpPr>
        <p:spPr bwMode="auto">
          <a:xfrm>
            <a:off x="3101975" y="4630738"/>
            <a:ext cx="72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1600">
                <a:latin typeface="Arial" panose="020B0604020202020204" pitchFamily="34" charset="0"/>
              </a:rPr>
              <a:t>&gt; 80K</a:t>
            </a:r>
            <a:endParaRPr lang="en-US" altLang="en-US" sz="1600">
              <a:solidFill>
                <a:schemeClr val="bg2"/>
              </a:solidFill>
              <a:latin typeface="Arial" panose="020B0604020202020204" pitchFamily="34" charset="0"/>
            </a:endParaRPr>
          </a:p>
        </p:txBody>
      </p:sp>
      <p:graphicFrame>
        <p:nvGraphicFramePr>
          <p:cNvPr id="21530" name="Object 26"/>
          <p:cNvGraphicFramePr>
            <a:graphicFrameLocks noChangeAspect="1"/>
          </p:cNvGraphicFramePr>
          <p:nvPr/>
        </p:nvGraphicFramePr>
        <p:xfrm>
          <a:off x="4876800" y="1752600"/>
          <a:ext cx="3343275" cy="1133475"/>
        </p:xfrm>
        <a:graphic>
          <a:graphicData uri="http://schemas.openxmlformats.org/presentationml/2006/ole">
            <mc:AlternateContent xmlns:mc="http://schemas.openxmlformats.org/markup-compatibility/2006">
              <mc:Choice xmlns:v="urn:schemas-microsoft-com:vml" Requires="v">
                <p:oleObj spid="_x0000_s21548" name="Document" r:id="rId3" imgW="4651248" imgH="1575816" progId="Word.Document.8">
                  <p:embed/>
                </p:oleObj>
              </mc:Choice>
              <mc:Fallback>
                <p:oleObj name="Document" r:id="rId3" imgW="4651248" imgH="1575816" progId="Word.Document.8">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1752600"/>
                        <a:ext cx="3343275" cy="113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31" name="Text Box 27"/>
          <p:cNvSpPr txBox="1">
            <a:spLocks noChangeArrowheads="1"/>
          </p:cNvSpPr>
          <p:nvPr/>
        </p:nvSpPr>
        <p:spPr bwMode="auto">
          <a:xfrm>
            <a:off x="4724400" y="1295400"/>
            <a:ext cx="160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lnSpc>
                <a:spcPct val="80000"/>
              </a:lnSpc>
              <a:buClr>
                <a:schemeClr val="accent2"/>
              </a:buClr>
              <a:buSzPct val="75000"/>
              <a:buFont typeface="Monotype Sorts" pitchFamily="2" charset="2"/>
              <a:buNone/>
            </a:pPr>
            <a:r>
              <a:rPr lang="en-US" altLang="en-US" sz="2000" b="1">
                <a:solidFill>
                  <a:schemeClr val="tx2"/>
                </a:solidFill>
                <a:latin typeface="Arial" panose="020B0604020202020204" pitchFamily="34" charset="0"/>
              </a:rPr>
              <a:t>Test Data</a:t>
            </a:r>
            <a:endParaRPr lang="en-US" altLang="en-US" sz="2000">
              <a:solidFill>
                <a:schemeClr val="bg2"/>
              </a:solidFill>
              <a:latin typeface="Arial" panose="020B0604020202020204" pitchFamily="34" charset="0"/>
            </a:endParaRPr>
          </a:p>
        </p:txBody>
      </p:sp>
      <p:sp>
        <p:nvSpPr>
          <p:cNvPr id="21532" name="Line 28"/>
          <p:cNvSpPr>
            <a:spLocks noChangeShapeType="1"/>
          </p:cNvSpPr>
          <p:nvPr/>
        </p:nvSpPr>
        <p:spPr bwMode="auto">
          <a:xfrm flipH="1">
            <a:off x="4419600" y="2743200"/>
            <a:ext cx="3124200" cy="1828800"/>
          </a:xfrm>
          <a:prstGeom prst="line">
            <a:avLst/>
          </a:prstGeom>
          <a:noFill/>
          <a:ln w="15875">
            <a:solidFill>
              <a:srgbClr val="FF0000"/>
            </a:solidFill>
            <a:prstDash val="dash"/>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33" name="Text Box 29"/>
          <p:cNvSpPr txBox="1">
            <a:spLocks noChangeArrowheads="1"/>
          </p:cNvSpPr>
          <p:nvPr/>
        </p:nvSpPr>
        <p:spPr bwMode="auto">
          <a:xfrm>
            <a:off x="5943600" y="3733800"/>
            <a:ext cx="2667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nSpc>
                <a:spcPct val="80000"/>
              </a:lnSpc>
              <a:buClr>
                <a:schemeClr val="accent2"/>
              </a:buClr>
              <a:buSzPct val="75000"/>
              <a:buFont typeface="Monotype Sorts" pitchFamily="2" charset="2"/>
              <a:buNone/>
            </a:pPr>
            <a:r>
              <a:rPr lang="en-US" altLang="en-US" sz="2000">
                <a:latin typeface="Arial" panose="020B0604020202020204" pitchFamily="34" charset="0"/>
              </a:rPr>
              <a:t>Assign Cheat to “No”</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a:xfrm>
            <a:off x="0" y="0"/>
            <a:ext cx="8229600" cy="1139825"/>
          </a:xfrm>
        </p:spPr>
        <p:txBody>
          <a:bodyPr/>
          <a:lstStyle/>
          <a:p>
            <a:pPr eaLnBrk="1" hangingPunct="1">
              <a:defRPr/>
            </a:pPr>
            <a:r>
              <a:rPr lang="en-US" smtClean="0"/>
              <a:t>Decision Tree Classification Task</a:t>
            </a:r>
          </a:p>
        </p:txBody>
      </p:sp>
      <p:graphicFrame>
        <p:nvGraphicFramePr>
          <p:cNvPr id="22531" name="Object 3"/>
          <p:cNvGraphicFramePr>
            <a:graphicFrameLocks noGrp="1" noChangeAspect="1"/>
          </p:cNvGraphicFramePr>
          <p:nvPr>
            <p:ph idx="1"/>
            <p:extLst>
              <p:ext uri="{D42A27DB-BD31-4B8C-83A1-F6EECF244321}">
                <p14:modId xmlns:p14="http://schemas.microsoft.com/office/powerpoint/2010/main" val="436364718"/>
              </p:ext>
            </p:extLst>
          </p:nvPr>
        </p:nvGraphicFramePr>
        <p:xfrm>
          <a:off x="84592" y="990600"/>
          <a:ext cx="8449808" cy="5638800"/>
        </p:xfrm>
        <a:graphic>
          <a:graphicData uri="http://schemas.openxmlformats.org/presentationml/2006/ole">
            <mc:AlternateContent xmlns:mc="http://schemas.openxmlformats.org/markup-compatibility/2006">
              <mc:Choice xmlns:v="urn:schemas-microsoft-com:vml" Requires="v">
                <p:oleObj spid="_x0000_s22549" name="Visio" r:id="rId3" imgW="8424875" imgH="6279741" progId="Visio.Drawing.6">
                  <p:embed/>
                </p:oleObj>
              </mc:Choice>
              <mc:Fallback>
                <p:oleObj name="Visio" r:id="rId3" imgW="8424875" imgH="6279741" progId="Visio.Drawing.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592" y="990600"/>
                        <a:ext cx="8449808" cy="5638800"/>
                      </a:xfrm>
                      <a:prstGeom prst="rect">
                        <a:avLst/>
                      </a:prstGeom>
                      <a:noFill/>
                      <a:ln>
                        <a:noFill/>
                      </a:ln>
                      <a:effectLst/>
                    </p:spPr>
                  </p:pic>
                </p:oleObj>
              </mc:Fallback>
            </mc:AlternateContent>
          </a:graphicData>
        </a:graphic>
      </p:graphicFrame>
      <p:sp>
        <p:nvSpPr>
          <p:cNvPr id="22532" name="Line 4"/>
          <p:cNvSpPr>
            <a:spLocks noChangeShapeType="1"/>
          </p:cNvSpPr>
          <p:nvPr/>
        </p:nvSpPr>
        <p:spPr bwMode="auto">
          <a:xfrm flipH="1">
            <a:off x="6400800" y="2362200"/>
            <a:ext cx="685800" cy="0"/>
          </a:xfrm>
          <a:prstGeom prst="line">
            <a:avLst/>
          </a:prstGeom>
          <a:noFill/>
          <a:ln w="635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33" name="Text Box 5"/>
          <p:cNvSpPr txBox="1">
            <a:spLocks noChangeArrowheads="1"/>
          </p:cNvSpPr>
          <p:nvPr/>
        </p:nvSpPr>
        <p:spPr bwMode="auto">
          <a:xfrm>
            <a:off x="7315200" y="4572000"/>
            <a:ext cx="1219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400" b="1">
                <a:latin typeface="Arial" panose="020B0604020202020204" pitchFamily="34" charset="0"/>
              </a:rPr>
              <a:t>Decision Tree</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a:lstStyle/>
          <a:p>
            <a:pPr eaLnBrk="1" hangingPunct="1">
              <a:defRPr/>
            </a:pPr>
            <a:r>
              <a:rPr lang="en-US" dirty="0" smtClean="0"/>
              <a:t>Decision Tree Induction</a:t>
            </a:r>
          </a:p>
        </p:txBody>
      </p:sp>
      <p:sp>
        <p:nvSpPr>
          <p:cNvPr id="195587" name="Rectangle 3"/>
          <p:cNvSpPr>
            <a:spLocks noGrp="1" noChangeArrowheads="1"/>
          </p:cNvSpPr>
          <p:nvPr>
            <p:ph idx="1"/>
          </p:nvPr>
        </p:nvSpPr>
        <p:spPr/>
        <p:txBody>
          <a:bodyPr>
            <a:normAutofit/>
          </a:bodyPr>
          <a:lstStyle/>
          <a:p>
            <a:pPr eaLnBrk="1" hangingPunct="1">
              <a:defRPr/>
            </a:pPr>
            <a:r>
              <a:rPr lang="en-US" sz="2800" dirty="0" smtClean="0"/>
              <a:t>Many Algorithms:</a:t>
            </a:r>
          </a:p>
          <a:p>
            <a:pPr lvl="1" eaLnBrk="1" hangingPunct="1">
              <a:defRPr/>
            </a:pPr>
            <a:r>
              <a:rPr lang="en-US" sz="2400" dirty="0" smtClean="0"/>
              <a:t>Hunt’s Algorithm (one of the earliest)</a:t>
            </a:r>
          </a:p>
          <a:p>
            <a:pPr lvl="1" eaLnBrk="1" hangingPunct="1">
              <a:defRPr/>
            </a:pPr>
            <a:r>
              <a:rPr lang="en-US" sz="2400" dirty="0" smtClean="0"/>
              <a:t>CART</a:t>
            </a:r>
          </a:p>
          <a:p>
            <a:pPr lvl="1" eaLnBrk="1" hangingPunct="1">
              <a:defRPr/>
            </a:pPr>
            <a:r>
              <a:rPr lang="en-US" sz="2400" dirty="0" smtClean="0"/>
              <a:t>ID3, C4.5</a:t>
            </a:r>
          </a:p>
          <a:p>
            <a:pPr lvl="1" eaLnBrk="1" hangingPunct="1">
              <a:defRPr/>
            </a:pPr>
            <a:r>
              <a:rPr lang="en-US" sz="2400" dirty="0" smtClean="0"/>
              <a:t>SLIQ,SPRINT</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0" y="0"/>
            <a:ext cx="9144000" cy="1139825"/>
          </a:xfrm>
        </p:spPr>
        <p:txBody>
          <a:bodyPr>
            <a:normAutofit/>
          </a:bodyPr>
          <a:lstStyle/>
          <a:p>
            <a:pPr eaLnBrk="1" hangingPunct="1">
              <a:defRPr/>
            </a:pPr>
            <a:r>
              <a:rPr lang="en-US" smtClean="0"/>
              <a:t>General Structure of Hunt’s Algorithm</a:t>
            </a:r>
          </a:p>
        </p:txBody>
      </p:sp>
      <p:sp>
        <p:nvSpPr>
          <p:cNvPr id="196611" name="Rectangle 3"/>
          <p:cNvSpPr>
            <a:spLocks noGrp="1" noChangeArrowheads="1"/>
          </p:cNvSpPr>
          <p:nvPr>
            <p:ph idx="1"/>
          </p:nvPr>
        </p:nvSpPr>
        <p:spPr>
          <a:xfrm>
            <a:off x="0" y="1139825"/>
            <a:ext cx="4724400" cy="5413375"/>
          </a:xfrm>
        </p:spPr>
        <p:txBody>
          <a:bodyPr>
            <a:noAutofit/>
          </a:bodyPr>
          <a:lstStyle/>
          <a:p>
            <a:pPr eaLnBrk="1" hangingPunct="1">
              <a:lnSpc>
                <a:spcPct val="90000"/>
              </a:lnSpc>
              <a:defRPr/>
            </a:pPr>
            <a:r>
              <a:rPr lang="en-US" sz="2800" dirty="0" smtClean="0"/>
              <a:t>Let D</a:t>
            </a:r>
            <a:r>
              <a:rPr lang="en-US" sz="2800" baseline="-25000" dirty="0" smtClean="0"/>
              <a:t>t</a:t>
            </a:r>
            <a:r>
              <a:rPr lang="en-US" sz="2800" dirty="0" smtClean="0"/>
              <a:t> be the set of training records that reach a node t</a:t>
            </a:r>
          </a:p>
          <a:p>
            <a:pPr eaLnBrk="1" hangingPunct="1">
              <a:lnSpc>
                <a:spcPct val="90000"/>
              </a:lnSpc>
              <a:defRPr/>
            </a:pPr>
            <a:r>
              <a:rPr lang="en-US" sz="2800" dirty="0" smtClean="0"/>
              <a:t>General Procedure:</a:t>
            </a:r>
          </a:p>
          <a:p>
            <a:pPr lvl="1" eaLnBrk="1" hangingPunct="1">
              <a:lnSpc>
                <a:spcPct val="90000"/>
              </a:lnSpc>
              <a:defRPr/>
            </a:pPr>
            <a:r>
              <a:rPr lang="en-US" sz="2400" dirty="0" smtClean="0"/>
              <a:t>If D</a:t>
            </a:r>
            <a:r>
              <a:rPr lang="en-US" sz="2400" baseline="-25000" dirty="0" smtClean="0"/>
              <a:t>t</a:t>
            </a:r>
            <a:r>
              <a:rPr lang="en-US" sz="2400" dirty="0" smtClean="0"/>
              <a:t> contains records that belong the same class </a:t>
            </a:r>
            <a:r>
              <a:rPr lang="en-US" sz="2400" dirty="0" err="1" smtClean="0"/>
              <a:t>y</a:t>
            </a:r>
            <a:r>
              <a:rPr lang="en-US" sz="2400" baseline="-25000" dirty="0" err="1" smtClean="0"/>
              <a:t>t</a:t>
            </a:r>
            <a:r>
              <a:rPr lang="en-US" sz="2400" dirty="0" smtClean="0"/>
              <a:t>, then t is a leaf node labeled as </a:t>
            </a:r>
            <a:r>
              <a:rPr lang="en-US" sz="2400" dirty="0" err="1" smtClean="0"/>
              <a:t>y</a:t>
            </a:r>
            <a:r>
              <a:rPr lang="en-US" sz="2400" baseline="-25000" dirty="0" err="1" smtClean="0"/>
              <a:t>t</a:t>
            </a:r>
            <a:endParaRPr lang="en-US" sz="2400" baseline="-25000" dirty="0" smtClean="0"/>
          </a:p>
          <a:p>
            <a:pPr lvl="1" eaLnBrk="1" hangingPunct="1">
              <a:lnSpc>
                <a:spcPct val="90000"/>
              </a:lnSpc>
              <a:defRPr/>
            </a:pPr>
            <a:r>
              <a:rPr lang="en-US" sz="2400" dirty="0" smtClean="0"/>
              <a:t>If D</a:t>
            </a:r>
            <a:r>
              <a:rPr lang="en-US" sz="2400" baseline="-25000" dirty="0" smtClean="0"/>
              <a:t>t</a:t>
            </a:r>
            <a:r>
              <a:rPr lang="en-US" sz="2400" dirty="0" smtClean="0"/>
              <a:t> is an empty set, then t is a leaf node labeled by the default class, </a:t>
            </a:r>
            <a:r>
              <a:rPr lang="en-US" sz="2400" dirty="0" err="1" smtClean="0"/>
              <a:t>y</a:t>
            </a:r>
            <a:r>
              <a:rPr lang="en-US" sz="2400" baseline="-25000" dirty="0" err="1" smtClean="0"/>
              <a:t>d</a:t>
            </a:r>
            <a:endParaRPr lang="en-US" sz="2400" baseline="-25000" dirty="0" smtClean="0"/>
          </a:p>
          <a:p>
            <a:pPr lvl="1" eaLnBrk="1" hangingPunct="1">
              <a:lnSpc>
                <a:spcPct val="90000"/>
              </a:lnSpc>
              <a:defRPr/>
            </a:pPr>
            <a:r>
              <a:rPr lang="en-US" sz="2400" dirty="0" smtClean="0"/>
              <a:t>If D</a:t>
            </a:r>
            <a:r>
              <a:rPr lang="en-US" sz="2400" baseline="-25000" dirty="0" smtClean="0"/>
              <a:t>t</a:t>
            </a:r>
            <a:r>
              <a:rPr lang="en-US" sz="2400" dirty="0" smtClean="0"/>
              <a:t> contains records that belong to more than one class, use an attribute test to split the data into smaller subsets. Recursively apply the procedure to each subset.</a:t>
            </a:r>
          </a:p>
        </p:txBody>
      </p:sp>
      <p:graphicFrame>
        <p:nvGraphicFramePr>
          <p:cNvPr id="24580" name="Object 4"/>
          <p:cNvGraphicFramePr>
            <a:graphicFrameLocks noChangeAspect="1"/>
          </p:cNvGraphicFramePr>
          <p:nvPr/>
        </p:nvGraphicFramePr>
        <p:xfrm>
          <a:off x="5257800" y="1600200"/>
          <a:ext cx="3886200" cy="3124200"/>
        </p:xfrm>
        <a:graphic>
          <a:graphicData uri="http://schemas.openxmlformats.org/presentationml/2006/ole">
            <mc:AlternateContent xmlns:mc="http://schemas.openxmlformats.org/markup-compatibility/2006">
              <mc:Choice xmlns:v="urn:schemas-microsoft-com:vml" Requires="v">
                <p:oleObj spid="_x0000_s24603" name="Document" r:id="rId3" imgW="5415994" imgH="5778378" progId="Word.Document.8">
                  <p:embed/>
                </p:oleObj>
              </mc:Choice>
              <mc:Fallback>
                <p:oleObj name="Document" r:id="rId3" imgW="5415994" imgH="5778378"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1600200"/>
                        <a:ext cx="3886200" cy="312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1" name="Oval 5"/>
          <p:cNvSpPr>
            <a:spLocks noChangeArrowheads="1"/>
          </p:cNvSpPr>
          <p:nvPr/>
        </p:nvSpPr>
        <p:spPr bwMode="auto">
          <a:xfrm>
            <a:off x="5992813" y="5257800"/>
            <a:ext cx="1447800" cy="7620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4582" name="Line 6"/>
          <p:cNvSpPr>
            <a:spLocks noChangeShapeType="1"/>
          </p:cNvSpPr>
          <p:nvPr/>
        </p:nvSpPr>
        <p:spPr bwMode="auto">
          <a:xfrm flipH="1">
            <a:off x="5688013" y="6019800"/>
            <a:ext cx="990600" cy="381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3" name="Line 7"/>
          <p:cNvSpPr>
            <a:spLocks noChangeShapeType="1"/>
          </p:cNvSpPr>
          <p:nvPr/>
        </p:nvSpPr>
        <p:spPr bwMode="auto">
          <a:xfrm>
            <a:off x="6831013" y="6019800"/>
            <a:ext cx="0" cy="5334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4" name="Line 8"/>
          <p:cNvSpPr>
            <a:spLocks noChangeShapeType="1"/>
          </p:cNvSpPr>
          <p:nvPr/>
        </p:nvSpPr>
        <p:spPr bwMode="auto">
          <a:xfrm>
            <a:off x="6983413" y="6019800"/>
            <a:ext cx="990600" cy="381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5" name="Line 9"/>
          <p:cNvSpPr>
            <a:spLocks noChangeShapeType="1"/>
          </p:cNvSpPr>
          <p:nvPr/>
        </p:nvSpPr>
        <p:spPr bwMode="auto">
          <a:xfrm flipH="1">
            <a:off x="6678613" y="4876800"/>
            <a:ext cx="228600" cy="381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6" name="Text Box 10"/>
          <p:cNvSpPr txBox="1">
            <a:spLocks noChangeArrowheads="1"/>
          </p:cNvSpPr>
          <p:nvPr/>
        </p:nvSpPr>
        <p:spPr bwMode="auto">
          <a:xfrm>
            <a:off x="6907213" y="4724400"/>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2000" b="1">
                <a:latin typeface="Arial" panose="020B0604020202020204" pitchFamily="34" charset="0"/>
              </a:rPr>
              <a:t>D</a:t>
            </a:r>
            <a:r>
              <a:rPr lang="en-US" altLang="en-US" sz="2000" b="1" baseline="-25000">
                <a:latin typeface="Arial" panose="020B0604020202020204" pitchFamily="34" charset="0"/>
              </a:rPr>
              <a:t>t</a:t>
            </a:r>
          </a:p>
        </p:txBody>
      </p:sp>
      <p:sp>
        <p:nvSpPr>
          <p:cNvPr id="24587" name="Text Box 11"/>
          <p:cNvSpPr txBox="1">
            <a:spLocks noChangeArrowheads="1"/>
          </p:cNvSpPr>
          <p:nvPr/>
        </p:nvSpPr>
        <p:spPr bwMode="auto">
          <a:xfrm>
            <a:off x="6526213" y="54102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2400" b="1">
                <a:latin typeface="Arial" panose="020B0604020202020204" pitchFamily="34" charset="0"/>
              </a:rPr>
              <a: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0" y="152400"/>
            <a:ext cx="4953000" cy="1139825"/>
          </a:xfrm>
        </p:spPr>
        <p:txBody>
          <a:bodyPr/>
          <a:lstStyle/>
          <a:p>
            <a:pPr eaLnBrk="1" hangingPunct="1">
              <a:defRPr/>
            </a:pPr>
            <a:r>
              <a:rPr lang="en-US" smtClean="0"/>
              <a:t>Hunt’s Algorithm</a:t>
            </a:r>
          </a:p>
        </p:txBody>
      </p:sp>
      <p:sp>
        <p:nvSpPr>
          <p:cNvPr id="197635" name="Rectangle 3"/>
          <p:cNvSpPr>
            <a:spLocks noChangeArrowheads="1"/>
          </p:cNvSpPr>
          <p:nvPr/>
        </p:nvSpPr>
        <p:spPr bwMode="auto">
          <a:xfrm>
            <a:off x="533400" y="1706563"/>
            <a:ext cx="576263" cy="414337"/>
          </a:xfrm>
          <a:prstGeom prst="rect">
            <a:avLst/>
          </a:prstGeom>
          <a:solidFill>
            <a:srgbClr val="FFFFFF"/>
          </a:solidFill>
          <a:ln w="25400">
            <a:solidFill>
              <a:srgbClr val="3366FF"/>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a:latin typeface="Times New Roman" panose="02020603050405020304" pitchFamily="18" charset="0"/>
              </a:rPr>
              <a:t>Don’t </a:t>
            </a:r>
          </a:p>
          <a:p>
            <a:pPr algn="ctr">
              <a:spcBef>
                <a:spcPct val="0"/>
              </a:spcBef>
              <a:buClrTx/>
              <a:buSzTx/>
              <a:buFontTx/>
              <a:buNone/>
            </a:pPr>
            <a:r>
              <a:rPr lang="en-US" altLang="en-US" sz="1400">
                <a:latin typeface="Times New Roman" panose="02020603050405020304" pitchFamily="18" charset="0"/>
              </a:rPr>
              <a:t>Cheat</a:t>
            </a:r>
            <a:endParaRPr lang="en-US" altLang="en-US" sz="2400">
              <a:latin typeface="Times New Roman" panose="02020603050405020304" pitchFamily="18" charset="0"/>
            </a:endParaRPr>
          </a:p>
        </p:txBody>
      </p:sp>
      <p:grpSp>
        <p:nvGrpSpPr>
          <p:cNvPr id="2" name="Group 4"/>
          <p:cNvGrpSpPr>
            <a:grpSpLocks/>
          </p:cNvGrpSpPr>
          <p:nvPr/>
        </p:nvGrpSpPr>
        <p:grpSpPr bwMode="auto">
          <a:xfrm>
            <a:off x="1219200" y="1401763"/>
            <a:ext cx="2168525" cy="1262062"/>
            <a:chOff x="624" y="720"/>
            <a:chExt cx="1366" cy="795"/>
          </a:xfrm>
        </p:grpSpPr>
        <p:grpSp>
          <p:nvGrpSpPr>
            <p:cNvPr id="25645" name="Group 5"/>
            <p:cNvGrpSpPr>
              <a:grpSpLocks/>
            </p:cNvGrpSpPr>
            <p:nvPr/>
          </p:nvGrpSpPr>
          <p:grpSpPr bwMode="auto">
            <a:xfrm>
              <a:off x="864" y="720"/>
              <a:ext cx="1126" cy="795"/>
              <a:chOff x="480" y="2640"/>
              <a:chExt cx="1126" cy="795"/>
            </a:xfrm>
          </p:grpSpPr>
          <p:sp>
            <p:nvSpPr>
              <p:cNvPr id="25647" name="Oval 6"/>
              <p:cNvSpPr>
                <a:spLocks noChangeArrowheads="1"/>
              </p:cNvSpPr>
              <p:nvPr/>
            </p:nvSpPr>
            <p:spPr bwMode="auto">
              <a:xfrm>
                <a:off x="807" y="2640"/>
                <a:ext cx="436" cy="272"/>
              </a:xfrm>
              <a:prstGeom prst="ellipse">
                <a:avLst/>
              </a:prstGeom>
              <a:solidFill>
                <a:srgbClr val="FFFFFF"/>
              </a:solidFill>
              <a:ln w="25400">
                <a:solidFill>
                  <a:srgbClr val="3366FF"/>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solidFill>
                      <a:srgbClr val="0033CC"/>
                    </a:solidFill>
                    <a:latin typeface="Times New Roman" panose="02020603050405020304" pitchFamily="18" charset="0"/>
                  </a:rPr>
                  <a:t>Refund</a:t>
                </a:r>
                <a:endParaRPr lang="en-US" altLang="en-US" sz="1600">
                  <a:latin typeface="Times New Roman" panose="02020603050405020304" pitchFamily="18" charset="0"/>
                </a:endParaRPr>
              </a:p>
            </p:txBody>
          </p:sp>
          <p:sp>
            <p:nvSpPr>
              <p:cNvPr id="25648" name="Line 7"/>
              <p:cNvSpPr>
                <a:spLocks noChangeShapeType="1"/>
              </p:cNvSpPr>
              <p:nvPr/>
            </p:nvSpPr>
            <p:spPr bwMode="auto">
              <a:xfrm flipH="1">
                <a:off x="661" y="2912"/>
                <a:ext cx="364" cy="224"/>
              </a:xfrm>
              <a:prstGeom prst="line">
                <a:avLst/>
              </a:prstGeom>
              <a:noFill/>
              <a:ln w="25400">
                <a:solidFill>
                  <a:srgbClr val="3366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49" name="Line 8"/>
              <p:cNvSpPr>
                <a:spLocks noChangeShapeType="1"/>
              </p:cNvSpPr>
              <p:nvPr/>
            </p:nvSpPr>
            <p:spPr bwMode="auto">
              <a:xfrm>
                <a:off x="1025" y="2912"/>
                <a:ext cx="363" cy="224"/>
              </a:xfrm>
              <a:prstGeom prst="line">
                <a:avLst/>
              </a:prstGeom>
              <a:noFill/>
              <a:ln w="25400">
                <a:solidFill>
                  <a:srgbClr val="3366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50" name="Rectangle 9"/>
              <p:cNvSpPr>
                <a:spLocks noChangeArrowheads="1"/>
              </p:cNvSpPr>
              <p:nvPr/>
            </p:nvSpPr>
            <p:spPr bwMode="auto">
              <a:xfrm>
                <a:off x="480" y="3136"/>
                <a:ext cx="363" cy="299"/>
              </a:xfrm>
              <a:prstGeom prst="rect">
                <a:avLst/>
              </a:prstGeom>
              <a:solidFill>
                <a:srgbClr val="FFFFFF"/>
              </a:solidFill>
              <a:ln w="50800" cmpd="thickThin">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a:latin typeface="Times New Roman" panose="02020603050405020304" pitchFamily="18" charset="0"/>
                  </a:rPr>
                  <a:t>Don’t </a:t>
                </a:r>
              </a:p>
              <a:p>
                <a:pPr algn="ctr">
                  <a:spcBef>
                    <a:spcPct val="0"/>
                  </a:spcBef>
                  <a:buClrTx/>
                  <a:buSzTx/>
                  <a:buFontTx/>
                  <a:buNone/>
                </a:pPr>
                <a:r>
                  <a:rPr lang="en-US" altLang="en-US" sz="1400">
                    <a:latin typeface="Times New Roman" panose="02020603050405020304" pitchFamily="18" charset="0"/>
                  </a:rPr>
                  <a:t>Cheat</a:t>
                </a:r>
                <a:endParaRPr lang="en-US" altLang="en-US" sz="1800">
                  <a:latin typeface="Times New Roman" panose="02020603050405020304" pitchFamily="18" charset="0"/>
                </a:endParaRPr>
              </a:p>
            </p:txBody>
          </p:sp>
          <p:sp>
            <p:nvSpPr>
              <p:cNvPr id="25651" name="Rectangle 10"/>
              <p:cNvSpPr>
                <a:spLocks noChangeArrowheads="1"/>
              </p:cNvSpPr>
              <p:nvPr/>
            </p:nvSpPr>
            <p:spPr bwMode="auto">
              <a:xfrm>
                <a:off x="1243" y="3136"/>
                <a:ext cx="363" cy="261"/>
              </a:xfrm>
              <a:prstGeom prst="rect">
                <a:avLst/>
              </a:prstGeom>
              <a:solidFill>
                <a:srgbClr val="FFFFFF"/>
              </a:solidFill>
              <a:ln w="25400">
                <a:solidFill>
                  <a:srgbClr val="3366FF"/>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a:latin typeface="Times New Roman" panose="02020603050405020304" pitchFamily="18" charset="0"/>
                  </a:rPr>
                  <a:t>Don’t </a:t>
                </a:r>
              </a:p>
              <a:p>
                <a:pPr algn="ctr">
                  <a:spcBef>
                    <a:spcPct val="0"/>
                  </a:spcBef>
                  <a:buClrTx/>
                  <a:buSzTx/>
                  <a:buFontTx/>
                  <a:buNone/>
                </a:pPr>
                <a:r>
                  <a:rPr lang="en-US" altLang="en-US" sz="1400">
                    <a:latin typeface="Times New Roman" panose="02020603050405020304" pitchFamily="18" charset="0"/>
                  </a:rPr>
                  <a:t>Cheat</a:t>
                </a:r>
                <a:endParaRPr lang="en-US" altLang="en-US" sz="2400">
                  <a:latin typeface="Times New Roman" panose="02020603050405020304" pitchFamily="18" charset="0"/>
                </a:endParaRPr>
              </a:p>
            </p:txBody>
          </p:sp>
          <p:sp>
            <p:nvSpPr>
              <p:cNvPr id="25652" name="Text Box 11"/>
              <p:cNvSpPr txBox="1">
                <a:spLocks noChangeArrowheads="1"/>
              </p:cNvSpPr>
              <p:nvPr/>
            </p:nvSpPr>
            <p:spPr bwMode="auto">
              <a:xfrm>
                <a:off x="568" y="2869"/>
                <a:ext cx="31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solidFill>
                      <a:srgbClr val="0066FF"/>
                    </a:solidFill>
                    <a:latin typeface="Arial" panose="020B0604020202020204" pitchFamily="34" charset="0"/>
                  </a:rPr>
                  <a:t>Yes</a:t>
                </a:r>
                <a:endParaRPr lang="en-US" altLang="en-US" sz="1800">
                  <a:latin typeface="Times New Roman" panose="02020603050405020304" pitchFamily="18" charset="0"/>
                </a:endParaRPr>
              </a:p>
            </p:txBody>
          </p:sp>
          <p:sp>
            <p:nvSpPr>
              <p:cNvPr id="25653" name="Text Box 12"/>
              <p:cNvSpPr txBox="1">
                <a:spLocks noChangeArrowheads="1"/>
              </p:cNvSpPr>
              <p:nvPr/>
            </p:nvSpPr>
            <p:spPr bwMode="auto">
              <a:xfrm>
                <a:off x="1260" y="2869"/>
                <a:ext cx="26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solidFill>
                      <a:srgbClr val="0066FF"/>
                    </a:solidFill>
                    <a:latin typeface="Arial" panose="020B0604020202020204" pitchFamily="34" charset="0"/>
                  </a:rPr>
                  <a:t>No</a:t>
                </a:r>
                <a:endParaRPr lang="en-US" altLang="en-US" sz="2400">
                  <a:latin typeface="Times New Roman" panose="02020603050405020304" pitchFamily="18" charset="0"/>
                </a:endParaRPr>
              </a:p>
            </p:txBody>
          </p:sp>
        </p:grpSp>
        <p:sp>
          <p:nvSpPr>
            <p:cNvPr id="25646" name="Line 13"/>
            <p:cNvSpPr>
              <a:spLocks noChangeShapeType="1"/>
            </p:cNvSpPr>
            <p:nvPr/>
          </p:nvSpPr>
          <p:spPr bwMode="auto">
            <a:xfrm flipV="1">
              <a:off x="624" y="1056"/>
              <a:ext cx="240" cy="0"/>
            </a:xfrm>
            <a:prstGeom prst="line">
              <a:avLst/>
            </a:prstGeom>
            <a:noFill/>
            <a:ln w="76200" cmpd="tri">
              <a:solidFill>
                <a:srgbClr val="CC3300"/>
              </a:solidFill>
              <a:round/>
              <a:headEnd/>
              <a:tailEnd type="arrow" w="med"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 name="Group 14"/>
          <p:cNvGrpSpPr>
            <a:grpSpLocks/>
          </p:cNvGrpSpPr>
          <p:nvPr/>
        </p:nvGrpSpPr>
        <p:grpSpPr bwMode="auto">
          <a:xfrm>
            <a:off x="2895600" y="3306763"/>
            <a:ext cx="3325813" cy="3294062"/>
            <a:chOff x="1536" y="1920"/>
            <a:chExt cx="2095" cy="2075"/>
          </a:xfrm>
        </p:grpSpPr>
        <p:grpSp>
          <p:nvGrpSpPr>
            <p:cNvPr id="25624" name="Group 15"/>
            <p:cNvGrpSpPr>
              <a:grpSpLocks/>
            </p:cNvGrpSpPr>
            <p:nvPr/>
          </p:nvGrpSpPr>
          <p:grpSpPr bwMode="auto">
            <a:xfrm>
              <a:off x="1824" y="1920"/>
              <a:ext cx="1807" cy="2075"/>
              <a:chOff x="3840" y="1824"/>
              <a:chExt cx="1807" cy="2075"/>
            </a:xfrm>
          </p:grpSpPr>
          <p:sp>
            <p:nvSpPr>
              <p:cNvPr id="25626" name="Oval 16"/>
              <p:cNvSpPr>
                <a:spLocks noChangeArrowheads="1"/>
              </p:cNvSpPr>
              <p:nvPr/>
            </p:nvSpPr>
            <p:spPr bwMode="auto">
              <a:xfrm>
                <a:off x="4311" y="1824"/>
                <a:ext cx="437" cy="283"/>
              </a:xfrm>
              <a:prstGeom prst="ellipse">
                <a:avLst/>
              </a:prstGeom>
              <a:solidFill>
                <a:srgbClr val="FFFFFF"/>
              </a:solidFill>
              <a:ln w="9525">
                <a:solidFill>
                  <a:schemeClr val="tx1"/>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Times New Roman" panose="02020603050405020304" pitchFamily="18" charset="0"/>
                  </a:rPr>
                  <a:t>Refund</a:t>
                </a:r>
                <a:endParaRPr lang="en-US" altLang="en-US" sz="1400">
                  <a:latin typeface="Times New Roman" panose="02020603050405020304" pitchFamily="18" charset="0"/>
                </a:endParaRPr>
              </a:p>
            </p:txBody>
          </p:sp>
          <p:sp>
            <p:nvSpPr>
              <p:cNvPr id="25627" name="Line 17"/>
              <p:cNvSpPr>
                <a:spLocks noChangeShapeType="1"/>
              </p:cNvSpPr>
              <p:nvPr/>
            </p:nvSpPr>
            <p:spPr bwMode="auto">
              <a:xfrm flipH="1">
                <a:off x="4166" y="2107"/>
                <a:ext cx="364" cy="2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28" name="Line 18"/>
              <p:cNvSpPr>
                <a:spLocks noChangeShapeType="1"/>
              </p:cNvSpPr>
              <p:nvPr/>
            </p:nvSpPr>
            <p:spPr bwMode="auto">
              <a:xfrm>
                <a:off x="4530" y="2107"/>
                <a:ext cx="363" cy="2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29" name="Rectangle 19"/>
              <p:cNvSpPr>
                <a:spLocks noChangeArrowheads="1"/>
              </p:cNvSpPr>
              <p:nvPr/>
            </p:nvSpPr>
            <p:spPr bwMode="auto">
              <a:xfrm>
                <a:off x="3984" y="2331"/>
                <a:ext cx="364" cy="298"/>
              </a:xfrm>
              <a:prstGeom prst="rect">
                <a:avLst/>
              </a:prstGeom>
              <a:solidFill>
                <a:srgbClr val="FFFFFF"/>
              </a:solidFill>
              <a:ln w="50800" cmpd="thickThin">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a:latin typeface="Times New Roman" panose="02020603050405020304" pitchFamily="18" charset="0"/>
                  </a:rPr>
                  <a:t>Don’t </a:t>
                </a:r>
              </a:p>
              <a:p>
                <a:pPr algn="ctr">
                  <a:spcBef>
                    <a:spcPct val="0"/>
                  </a:spcBef>
                  <a:buClrTx/>
                  <a:buSzTx/>
                  <a:buFontTx/>
                  <a:buNone/>
                </a:pPr>
                <a:r>
                  <a:rPr lang="en-US" altLang="en-US" sz="1400">
                    <a:latin typeface="Times New Roman" panose="02020603050405020304" pitchFamily="18" charset="0"/>
                  </a:rPr>
                  <a:t>Cheat</a:t>
                </a:r>
                <a:endParaRPr lang="en-US" altLang="en-US" sz="2400">
                  <a:latin typeface="Times New Roman" panose="02020603050405020304" pitchFamily="18" charset="0"/>
                </a:endParaRPr>
              </a:p>
            </p:txBody>
          </p:sp>
          <p:sp>
            <p:nvSpPr>
              <p:cNvPr id="25630" name="Text Box 20"/>
              <p:cNvSpPr txBox="1">
                <a:spLocks noChangeArrowheads="1"/>
              </p:cNvSpPr>
              <p:nvPr/>
            </p:nvSpPr>
            <p:spPr bwMode="auto">
              <a:xfrm>
                <a:off x="4072" y="2062"/>
                <a:ext cx="31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Arial" panose="020B0604020202020204" pitchFamily="34" charset="0"/>
                  </a:rPr>
                  <a:t>Yes</a:t>
                </a:r>
                <a:endParaRPr lang="en-US" altLang="en-US" sz="2400">
                  <a:latin typeface="Times New Roman" panose="02020603050405020304" pitchFamily="18" charset="0"/>
                </a:endParaRPr>
              </a:p>
            </p:txBody>
          </p:sp>
          <p:sp>
            <p:nvSpPr>
              <p:cNvPr id="25631" name="Text Box 21"/>
              <p:cNvSpPr txBox="1">
                <a:spLocks noChangeArrowheads="1"/>
              </p:cNvSpPr>
              <p:nvPr/>
            </p:nvSpPr>
            <p:spPr bwMode="auto">
              <a:xfrm>
                <a:off x="4765" y="2062"/>
                <a:ext cx="26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Arial" panose="020B0604020202020204" pitchFamily="34" charset="0"/>
                  </a:rPr>
                  <a:t>No</a:t>
                </a:r>
                <a:endParaRPr lang="en-US" altLang="en-US" sz="2400">
                  <a:latin typeface="Times New Roman" panose="02020603050405020304" pitchFamily="18" charset="0"/>
                </a:endParaRPr>
              </a:p>
            </p:txBody>
          </p:sp>
          <p:sp>
            <p:nvSpPr>
              <p:cNvPr id="25632" name="Oval 22"/>
              <p:cNvSpPr>
                <a:spLocks noChangeArrowheads="1"/>
              </p:cNvSpPr>
              <p:nvPr/>
            </p:nvSpPr>
            <p:spPr bwMode="auto">
              <a:xfrm>
                <a:off x="4639" y="2331"/>
                <a:ext cx="545" cy="373"/>
              </a:xfrm>
              <a:prstGeom prst="ellipse">
                <a:avLst/>
              </a:prstGeom>
              <a:solidFill>
                <a:srgbClr val="FFFFFF"/>
              </a:solidFill>
              <a:ln w="9525">
                <a:solidFill>
                  <a:schemeClr val="tx1"/>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Times New Roman" panose="02020603050405020304" pitchFamily="18" charset="0"/>
                  </a:rPr>
                  <a:t>Marital</a:t>
                </a:r>
              </a:p>
              <a:p>
                <a:pPr algn="ctr">
                  <a:spcBef>
                    <a:spcPct val="0"/>
                  </a:spcBef>
                  <a:buClrTx/>
                  <a:buSzTx/>
                  <a:buFontTx/>
                  <a:buNone/>
                </a:pPr>
                <a:r>
                  <a:rPr lang="en-US" altLang="en-US" sz="1600">
                    <a:latin typeface="Times New Roman" panose="02020603050405020304" pitchFamily="18" charset="0"/>
                  </a:rPr>
                  <a:t>Status</a:t>
                </a:r>
                <a:endParaRPr lang="en-US" altLang="en-US" sz="1800">
                  <a:latin typeface="Times New Roman" panose="02020603050405020304" pitchFamily="18" charset="0"/>
                </a:endParaRPr>
              </a:p>
            </p:txBody>
          </p:sp>
          <p:sp>
            <p:nvSpPr>
              <p:cNvPr id="25633" name="Line 23"/>
              <p:cNvSpPr>
                <a:spLocks noChangeShapeType="1"/>
              </p:cNvSpPr>
              <p:nvPr/>
            </p:nvSpPr>
            <p:spPr bwMode="auto">
              <a:xfrm flipH="1">
                <a:off x="4464" y="2704"/>
                <a:ext cx="465"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34" name="Line 24"/>
              <p:cNvSpPr>
                <a:spLocks noChangeShapeType="1"/>
              </p:cNvSpPr>
              <p:nvPr/>
            </p:nvSpPr>
            <p:spPr bwMode="auto">
              <a:xfrm>
                <a:off x="4929" y="2704"/>
                <a:ext cx="400" cy="26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35" name="Rectangle 25"/>
              <p:cNvSpPr>
                <a:spLocks noChangeArrowheads="1"/>
              </p:cNvSpPr>
              <p:nvPr/>
            </p:nvSpPr>
            <p:spPr bwMode="auto">
              <a:xfrm>
                <a:off x="5148" y="2965"/>
                <a:ext cx="363" cy="299"/>
              </a:xfrm>
              <a:prstGeom prst="rect">
                <a:avLst/>
              </a:prstGeom>
              <a:solidFill>
                <a:srgbClr val="FFFFFF"/>
              </a:solidFill>
              <a:ln w="50800" cmpd="thickThin">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a:latin typeface="Times New Roman" panose="02020603050405020304" pitchFamily="18" charset="0"/>
                  </a:rPr>
                  <a:t>Don’t </a:t>
                </a:r>
              </a:p>
              <a:p>
                <a:pPr algn="ctr">
                  <a:spcBef>
                    <a:spcPct val="0"/>
                  </a:spcBef>
                  <a:buClrTx/>
                  <a:buSzTx/>
                  <a:buFontTx/>
                  <a:buNone/>
                </a:pPr>
                <a:r>
                  <a:rPr lang="en-US" altLang="en-US" sz="1400">
                    <a:latin typeface="Times New Roman" panose="02020603050405020304" pitchFamily="18" charset="0"/>
                  </a:rPr>
                  <a:t>Cheat</a:t>
                </a:r>
                <a:endParaRPr lang="en-US" altLang="en-US" sz="2400">
                  <a:latin typeface="Times New Roman" panose="02020603050405020304" pitchFamily="18" charset="0"/>
                </a:endParaRPr>
              </a:p>
            </p:txBody>
          </p:sp>
          <p:sp>
            <p:nvSpPr>
              <p:cNvPr id="25636" name="Rectangle 26"/>
              <p:cNvSpPr>
                <a:spLocks noChangeArrowheads="1"/>
              </p:cNvSpPr>
              <p:nvPr/>
            </p:nvSpPr>
            <p:spPr bwMode="auto">
              <a:xfrm>
                <a:off x="4704" y="3600"/>
                <a:ext cx="364" cy="262"/>
              </a:xfrm>
              <a:prstGeom prst="rect">
                <a:avLst/>
              </a:prstGeom>
              <a:solidFill>
                <a:srgbClr val="FFFFFF"/>
              </a:solidFill>
              <a:ln w="50800" cmpd="thickThin">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Times New Roman" panose="02020603050405020304" pitchFamily="18" charset="0"/>
                  </a:rPr>
                  <a:t>Cheat</a:t>
                </a:r>
                <a:endParaRPr lang="en-US" altLang="en-US" sz="2400">
                  <a:latin typeface="Times New Roman" panose="02020603050405020304" pitchFamily="18" charset="0"/>
                </a:endParaRPr>
              </a:p>
            </p:txBody>
          </p:sp>
          <p:sp>
            <p:nvSpPr>
              <p:cNvPr id="25637" name="Text Box 27"/>
              <p:cNvSpPr txBox="1">
                <a:spLocks noChangeArrowheads="1"/>
              </p:cNvSpPr>
              <p:nvPr/>
            </p:nvSpPr>
            <p:spPr bwMode="auto">
              <a:xfrm>
                <a:off x="4062" y="2621"/>
                <a:ext cx="59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Arial" panose="020B0604020202020204" pitchFamily="34" charset="0"/>
                  </a:rPr>
                  <a:t>Single,</a:t>
                </a:r>
              </a:p>
              <a:p>
                <a:pPr algn="ctr">
                  <a:spcBef>
                    <a:spcPct val="0"/>
                  </a:spcBef>
                  <a:buClrTx/>
                  <a:buSzTx/>
                  <a:buFontTx/>
                  <a:buNone/>
                </a:pPr>
                <a:r>
                  <a:rPr lang="en-US" altLang="en-US" sz="1400" b="1">
                    <a:latin typeface="Arial" panose="020B0604020202020204" pitchFamily="34" charset="0"/>
                  </a:rPr>
                  <a:t>Divorced</a:t>
                </a:r>
                <a:endParaRPr lang="en-US" altLang="en-US" sz="1800">
                  <a:latin typeface="Arial" panose="020B0604020202020204" pitchFamily="34" charset="0"/>
                </a:endParaRPr>
              </a:p>
            </p:txBody>
          </p:sp>
          <p:sp>
            <p:nvSpPr>
              <p:cNvPr id="25638" name="Text Box 28"/>
              <p:cNvSpPr txBox="1">
                <a:spLocks noChangeArrowheads="1"/>
              </p:cNvSpPr>
              <p:nvPr/>
            </p:nvSpPr>
            <p:spPr bwMode="auto">
              <a:xfrm>
                <a:off x="5127" y="2688"/>
                <a:ext cx="5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Arial" panose="020B0604020202020204" pitchFamily="34" charset="0"/>
                  </a:rPr>
                  <a:t>Married</a:t>
                </a:r>
                <a:endParaRPr lang="en-US" altLang="en-US" sz="1800">
                  <a:latin typeface="Arial" panose="020B0604020202020204" pitchFamily="34" charset="0"/>
                </a:endParaRPr>
              </a:p>
            </p:txBody>
          </p:sp>
          <p:sp>
            <p:nvSpPr>
              <p:cNvPr id="25639" name="Oval 29"/>
              <p:cNvSpPr>
                <a:spLocks noChangeArrowheads="1"/>
              </p:cNvSpPr>
              <p:nvPr/>
            </p:nvSpPr>
            <p:spPr bwMode="auto">
              <a:xfrm>
                <a:off x="4080" y="2976"/>
                <a:ext cx="768" cy="384"/>
              </a:xfrm>
              <a:prstGeom prst="ellipse">
                <a:avLst/>
              </a:prstGeom>
              <a:solidFill>
                <a:srgbClr val="FFFFFF"/>
              </a:solidFill>
              <a:ln w="25400">
                <a:solidFill>
                  <a:srgbClr val="3366FF"/>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solidFill>
                      <a:srgbClr val="0033CC"/>
                    </a:solidFill>
                    <a:latin typeface="Times New Roman" panose="02020603050405020304" pitchFamily="18" charset="0"/>
                  </a:rPr>
                  <a:t>Taxable</a:t>
                </a:r>
              </a:p>
              <a:p>
                <a:pPr algn="ctr">
                  <a:spcBef>
                    <a:spcPct val="0"/>
                  </a:spcBef>
                  <a:buClrTx/>
                  <a:buSzTx/>
                  <a:buFontTx/>
                  <a:buNone/>
                </a:pPr>
                <a:r>
                  <a:rPr lang="en-US" altLang="en-US" sz="1600">
                    <a:solidFill>
                      <a:srgbClr val="0033CC"/>
                    </a:solidFill>
                    <a:latin typeface="Times New Roman" panose="02020603050405020304" pitchFamily="18" charset="0"/>
                  </a:rPr>
                  <a:t>Income</a:t>
                </a:r>
                <a:endParaRPr lang="en-US" altLang="en-US" sz="2400">
                  <a:latin typeface="Times New Roman" panose="02020603050405020304" pitchFamily="18" charset="0"/>
                </a:endParaRPr>
              </a:p>
            </p:txBody>
          </p:sp>
          <p:sp>
            <p:nvSpPr>
              <p:cNvPr id="25640" name="Rectangle 30"/>
              <p:cNvSpPr>
                <a:spLocks noChangeArrowheads="1"/>
              </p:cNvSpPr>
              <p:nvPr/>
            </p:nvSpPr>
            <p:spPr bwMode="auto">
              <a:xfrm>
                <a:off x="3840" y="3600"/>
                <a:ext cx="363" cy="299"/>
              </a:xfrm>
              <a:prstGeom prst="rect">
                <a:avLst/>
              </a:prstGeom>
              <a:solidFill>
                <a:srgbClr val="FFFFFF"/>
              </a:solidFill>
              <a:ln w="50800" cmpd="thickThin">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a:latin typeface="Times New Roman" panose="02020603050405020304" pitchFamily="18" charset="0"/>
                  </a:rPr>
                  <a:t>Don’t </a:t>
                </a:r>
              </a:p>
              <a:p>
                <a:pPr algn="ctr">
                  <a:spcBef>
                    <a:spcPct val="0"/>
                  </a:spcBef>
                  <a:buClrTx/>
                  <a:buSzTx/>
                  <a:buFontTx/>
                  <a:buNone/>
                </a:pPr>
                <a:r>
                  <a:rPr lang="en-US" altLang="en-US" sz="1400">
                    <a:latin typeface="Times New Roman" panose="02020603050405020304" pitchFamily="18" charset="0"/>
                  </a:rPr>
                  <a:t>Cheat</a:t>
                </a:r>
                <a:endParaRPr lang="en-US" altLang="en-US" sz="2400">
                  <a:latin typeface="Times New Roman" panose="02020603050405020304" pitchFamily="18" charset="0"/>
                </a:endParaRPr>
              </a:p>
            </p:txBody>
          </p:sp>
          <p:sp>
            <p:nvSpPr>
              <p:cNvPr id="25641" name="Line 31"/>
              <p:cNvSpPr>
                <a:spLocks noChangeShapeType="1"/>
              </p:cNvSpPr>
              <p:nvPr/>
            </p:nvSpPr>
            <p:spPr bwMode="auto">
              <a:xfrm flipH="1">
                <a:off x="4032" y="3360"/>
                <a:ext cx="432" cy="240"/>
              </a:xfrm>
              <a:prstGeom prst="line">
                <a:avLst/>
              </a:prstGeom>
              <a:noFill/>
              <a:ln w="25400">
                <a:solidFill>
                  <a:srgbClr val="3366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42" name="Line 32"/>
              <p:cNvSpPr>
                <a:spLocks noChangeShapeType="1"/>
              </p:cNvSpPr>
              <p:nvPr/>
            </p:nvSpPr>
            <p:spPr bwMode="auto">
              <a:xfrm>
                <a:off x="4464" y="3360"/>
                <a:ext cx="432" cy="240"/>
              </a:xfrm>
              <a:prstGeom prst="line">
                <a:avLst/>
              </a:prstGeom>
              <a:noFill/>
              <a:ln w="25400">
                <a:solidFill>
                  <a:srgbClr val="3366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43" name="Text Box 33"/>
              <p:cNvSpPr txBox="1">
                <a:spLocks noChangeArrowheads="1"/>
              </p:cNvSpPr>
              <p:nvPr/>
            </p:nvSpPr>
            <p:spPr bwMode="auto">
              <a:xfrm>
                <a:off x="3840" y="3360"/>
                <a:ext cx="4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solidFill>
                      <a:srgbClr val="0066FF"/>
                    </a:solidFill>
                    <a:latin typeface="Arial" panose="020B0604020202020204" pitchFamily="34" charset="0"/>
                  </a:rPr>
                  <a:t>&lt; 80K</a:t>
                </a:r>
                <a:endParaRPr lang="en-US" altLang="en-US" sz="1800">
                  <a:latin typeface="Arial" panose="020B0604020202020204" pitchFamily="34" charset="0"/>
                </a:endParaRPr>
              </a:p>
            </p:txBody>
          </p:sp>
          <p:sp>
            <p:nvSpPr>
              <p:cNvPr id="25644" name="Text Box 34"/>
              <p:cNvSpPr txBox="1">
                <a:spLocks noChangeArrowheads="1"/>
              </p:cNvSpPr>
              <p:nvPr/>
            </p:nvSpPr>
            <p:spPr bwMode="auto">
              <a:xfrm>
                <a:off x="4704" y="3360"/>
                <a:ext cx="4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solidFill>
                      <a:srgbClr val="0066FF"/>
                    </a:solidFill>
                    <a:latin typeface="Arial" panose="020B0604020202020204" pitchFamily="34" charset="0"/>
                  </a:rPr>
                  <a:t>&gt;= 80K</a:t>
                </a:r>
                <a:endParaRPr lang="en-US" altLang="en-US" sz="1800">
                  <a:solidFill>
                    <a:srgbClr val="0066FF"/>
                  </a:solidFill>
                  <a:latin typeface="Arial" panose="020B0604020202020204" pitchFamily="34" charset="0"/>
                </a:endParaRPr>
              </a:p>
            </p:txBody>
          </p:sp>
        </p:grpSp>
        <p:sp>
          <p:nvSpPr>
            <p:cNvPr id="25625" name="Line 35"/>
            <p:cNvSpPr>
              <a:spLocks noChangeShapeType="1"/>
            </p:cNvSpPr>
            <p:nvPr/>
          </p:nvSpPr>
          <p:spPr bwMode="auto">
            <a:xfrm rot="-2664477">
              <a:off x="1536" y="2400"/>
              <a:ext cx="192" cy="192"/>
            </a:xfrm>
            <a:prstGeom prst="line">
              <a:avLst/>
            </a:prstGeom>
            <a:noFill/>
            <a:ln w="76200" cmpd="tri">
              <a:solidFill>
                <a:srgbClr val="CC3300"/>
              </a:solidFill>
              <a:round/>
              <a:headEnd/>
              <a:tailEnd type="arrow" w="med"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 name="Group 36"/>
          <p:cNvGrpSpPr>
            <a:grpSpLocks/>
          </p:cNvGrpSpPr>
          <p:nvPr/>
        </p:nvGrpSpPr>
        <p:grpSpPr bwMode="auto">
          <a:xfrm>
            <a:off x="304800" y="3048000"/>
            <a:ext cx="2654300" cy="2620963"/>
            <a:chOff x="48" y="1757"/>
            <a:chExt cx="1672" cy="1651"/>
          </a:xfrm>
        </p:grpSpPr>
        <p:grpSp>
          <p:nvGrpSpPr>
            <p:cNvPr id="25608" name="Group 37"/>
            <p:cNvGrpSpPr>
              <a:grpSpLocks/>
            </p:cNvGrpSpPr>
            <p:nvPr/>
          </p:nvGrpSpPr>
          <p:grpSpPr bwMode="auto">
            <a:xfrm>
              <a:off x="48" y="1968"/>
              <a:ext cx="1672" cy="1440"/>
              <a:chOff x="2016" y="1824"/>
              <a:chExt cx="1672" cy="1440"/>
            </a:xfrm>
          </p:grpSpPr>
          <p:grpSp>
            <p:nvGrpSpPr>
              <p:cNvPr id="25610" name="Group 38"/>
              <p:cNvGrpSpPr>
                <a:grpSpLocks/>
              </p:cNvGrpSpPr>
              <p:nvPr/>
            </p:nvGrpSpPr>
            <p:grpSpPr bwMode="auto">
              <a:xfrm>
                <a:off x="2016" y="1824"/>
                <a:ext cx="1527" cy="1440"/>
                <a:chOff x="2016" y="1968"/>
                <a:chExt cx="1527" cy="1440"/>
              </a:xfrm>
            </p:grpSpPr>
            <p:sp>
              <p:nvSpPr>
                <p:cNvPr id="25612" name="Oval 39"/>
                <p:cNvSpPr>
                  <a:spLocks noChangeArrowheads="1"/>
                </p:cNvSpPr>
                <p:nvPr/>
              </p:nvSpPr>
              <p:spPr bwMode="auto">
                <a:xfrm>
                  <a:off x="2343" y="1968"/>
                  <a:ext cx="437" cy="283"/>
                </a:xfrm>
                <a:prstGeom prst="ellipse">
                  <a:avLst/>
                </a:prstGeom>
                <a:solidFill>
                  <a:srgbClr val="FFFFFF"/>
                </a:solidFill>
                <a:ln w="9525">
                  <a:solidFill>
                    <a:schemeClr val="tx1"/>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Times New Roman" panose="02020603050405020304" pitchFamily="18" charset="0"/>
                    </a:rPr>
                    <a:t>Refund</a:t>
                  </a:r>
                  <a:endParaRPr lang="en-US" altLang="en-US" sz="1400">
                    <a:latin typeface="Times New Roman" panose="02020603050405020304" pitchFamily="18" charset="0"/>
                  </a:endParaRPr>
                </a:p>
              </p:txBody>
            </p:sp>
            <p:sp>
              <p:nvSpPr>
                <p:cNvPr id="25613" name="Line 40"/>
                <p:cNvSpPr>
                  <a:spLocks noChangeShapeType="1"/>
                </p:cNvSpPr>
                <p:nvPr/>
              </p:nvSpPr>
              <p:spPr bwMode="auto">
                <a:xfrm flipH="1">
                  <a:off x="2198" y="2251"/>
                  <a:ext cx="364" cy="2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14" name="Line 41"/>
                <p:cNvSpPr>
                  <a:spLocks noChangeShapeType="1"/>
                </p:cNvSpPr>
                <p:nvPr/>
              </p:nvSpPr>
              <p:spPr bwMode="auto">
                <a:xfrm>
                  <a:off x="2562" y="2251"/>
                  <a:ext cx="363" cy="2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15" name="Rectangle 42"/>
                <p:cNvSpPr>
                  <a:spLocks noChangeArrowheads="1"/>
                </p:cNvSpPr>
                <p:nvPr/>
              </p:nvSpPr>
              <p:spPr bwMode="auto">
                <a:xfrm>
                  <a:off x="2016" y="2475"/>
                  <a:ext cx="364" cy="298"/>
                </a:xfrm>
                <a:prstGeom prst="rect">
                  <a:avLst/>
                </a:prstGeom>
                <a:solidFill>
                  <a:srgbClr val="FFFFFF"/>
                </a:solidFill>
                <a:ln w="50800" cmpd="thickThin">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a:latin typeface="Times New Roman" panose="02020603050405020304" pitchFamily="18" charset="0"/>
                    </a:rPr>
                    <a:t>Don’t </a:t>
                  </a:r>
                </a:p>
                <a:p>
                  <a:pPr algn="ctr">
                    <a:spcBef>
                      <a:spcPct val="0"/>
                    </a:spcBef>
                    <a:buClrTx/>
                    <a:buSzTx/>
                    <a:buFontTx/>
                    <a:buNone/>
                  </a:pPr>
                  <a:r>
                    <a:rPr lang="en-US" altLang="en-US" sz="1400">
                      <a:latin typeface="Times New Roman" panose="02020603050405020304" pitchFamily="18" charset="0"/>
                    </a:rPr>
                    <a:t>Cheat</a:t>
                  </a:r>
                  <a:endParaRPr lang="en-US" altLang="en-US" sz="2400">
                    <a:latin typeface="Times New Roman" panose="02020603050405020304" pitchFamily="18" charset="0"/>
                  </a:endParaRPr>
                </a:p>
              </p:txBody>
            </p:sp>
            <p:sp>
              <p:nvSpPr>
                <p:cNvPr id="25616" name="Text Box 43"/>
                <p:cNvSpPr txBox="1">
                  <a:spLocks noChangeArrowheads="1"/>
                </p:cNvSpPr>
                <p:nvPr/>
              </p:nvSpPr>
              <p:spPr bwMode="auto">
                <a:xfrm>
                  <a:off x="2104" y="2206"/>
                  <a:ext cx="31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Arial" panose="020B0604020202020204" pitchFamily="34" charset="0"/>
                    </a:rPr>
                    <a:t>Yes</a:t>
                  </a:r>
                  <a:endParaRPr lang="en-US" altLang="en-US" sz="2400">
                    <a:latin typeface="Times New Roman" panose="02020603050405020304" pitchFamily="18" charset="0"/>
                  </a:endParaRPr>
                </a:p>
              </p:txBody>
            </p:sp>
            <p:sp>
              <p:nvSpPr>
                <p:cNvPr id="25617" name="Text Box 44"/>
                <p:cNvSpPr txBox="1">
                  <a:spLocks noChangeArrowheads="1"/>
                </p:cNvSpPr>
                <p:nvPr/>
              </p:nvSpPr>
              <p:spPr bwMode="auto">
                <a:xfrm>
                  <a:off x="2797" y="2206"/>
                  <a:ext cx="26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latin typeface="Arial" panose="020B0604020202020204" pitchFamily="34" charset="0"/>
                    </a:rPr>
                    <a:t>No</a:t>
                  </a:r>
                  <a:endParaRPr lang="en-US" altLang="en-US" sz="2400">
                    <a:latin typeface="Times New Roman" panose="02020603050405020304" pitchFamily="18" charset="0"/>
                  </a:endParaRPr>
                </a:p>
              </p:txBody>
            </p:sp>
            <p:sp>
              <p:nvSpPr>
                <p:cNvPr id="25618" name="Oval 45"/>
                <p:cNvSpPr>
                  <a:spLocks noChangeArrowheads="1"/>
                </p:cNvSpPr>
                <p:nvPr/>
              </p:nvSpPr>
              <p:spPr bwMode="auto">
                <a:xfrm>
                  <a:off x="2671" y="2475"/>
                  <a:ext cx="545" cy="373"/>
                </a:xfrm>
                <a:prstGeom prst="ellipse">
                  <a:avLst/>
                </a:prstGeom>
                <a:solidFill>
                  <a:srgbClr val="FFFFFF"/>
                </a:solidFill>
                <a:ln w="25400">
                  <a:solidFill>
                    <a:srgbClr val="3366FF"/>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solidFill>
                        <a:srgbClr val="0033CC"/>
                      </a:solidFill>
                      <a:latin typeface="Times New Roman" panose="02020603050405020304" pitchFamily="18" charset="0"/>
                    </a:rPr>
                    <a:t>Marital</a:t>
                  </a:r>
                </a:p>
                <a:p>
                  <a:pPr algn="ctr">
                    <a:spcBef>
                      <a:spcPct val="0"/>
                    </a:spcBef>
                    <a:buClrTx/>
                    <a:buSzTx/>
                    <a:buFontTx/>
                    <a:buNone/>
                  </a:pPr>
                  <a:r>
                    <a:rPr lang="en-US" altLang="en-US" sz="1600">
                      <a:solidFill>
                        <a:srgbClr val="0033CC"/>
                      </a:solidFill>
                      <a:latin typeface="Times New Roman" panose="02020603050405020304" pitchFamily="18" charset="0"/>
                    </a:rPr>
                    <a:t>Status</a:t>
                  </a:r>
                  <a:endParaRPr lang="en-US" altLang="en-US" sz="1800">
                    <a:latin typeface="Times New Roman" panose="02020603050405020304" pitchFamily="18" charset="0"/>
                  </a:endParaRPr>
                </a:p>
              </p:txBody>
            </p:sp>
            <p:sp>
              <p:nvSpPr>
                <p:cNvPr id="25619" name="Line 46"/>
                <p:cNvSpPr>
                  <a:spLocks noChangeShapeType="1"/>
                </p:cNvSpPr>
                <p:nvPr/>
              </p:nvSpPr>
              <p:spPr bwMode="auto">
                <a:xfrm flipH="1">
                  <a:off x="2525" y="2848"/>
                  <a:ext cx="436" cy="261"/>
                </a:xfrm>
                <a:prstGeom prst="line">
                  <a:avLst/>
                </a:prstGeom>
                <a:noFill/>
                <a:ln w="25400">
                  <a:solidFill>
                    <a:srgbClr val="3366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20" name="Line 47"/>
                <p:cNvSpPr>
                  <a:spLocks noChangeShapeType="1"/>
                </p:cNvSpPr>
                <p:nvPr/>
              </p:nvSpPr>
              <p:spPr bwMode="auto">
                <a:xfrm>
                  <a:off x="2961" y="2848"/>
                  <a:ext cx="400" cy="261"/>
                </a:xfrm>
                <a:prstGeom prst="line">
                  <a:avLst/>
                </a:prstGeom>
                <a:noFill/>
                <a:ln w="25400">
                  <a:solidFill>
                    <a:srgbClr val="3366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21" name="Rectangle 48"/>
                <p:cNvSpPr>
                  <a:spLocks noChangeArrowheads="1"/>
                </p:cNvSpPr>
                <p:nvPr/>
              </p:nvSpPr>
              <p:spPr bwMode="auto">
                <a:xfrm>
                  <a:off x="3180" y="3109"/>
                  <a:ext cx="363" cy="299"/>
                </a:xfrm>
                <a:prstGeom prst="rect">
                  <a:avLst/>
                </a:prstGeom>
                <a:solidFill>
                  <a:srgbClr val="FFFFFF"/>
                </a:solidFill>
                <a:ln w="50800" cmpd="thickThin">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a:latin typeface="Times New Roman" panose="02020603050405020304" pitchFamily="18" charset="0"/>
                    </a:rPr>
                    <a:t>Don’t </a:t>
                  </a:r>
                </a:p>
                <a:p>
                  <a:pPr algn="ctr">
                    <a:spcBef>
                      <a:spcPct val="0"/>
                    </a:spcBef>
                    <a:buClrTx/>
                    <a:buSzTx/>
                    <a:buFontTx/>
                    <a:buNone/>
                  </a:pPr>
                  <a:r>
                    <a:rPr lang="en-US" altLang="en-US" sz="1400">
                      <a:latin typeface="Times New Roman" panose="02020603050405020304" pitchFamily="18" charset="0"/>
                    </a:rPr>
                    <a:t>Cheat</a:t>
                  </a:r>
                  <a:endParaRPr lang="en-US" altLang="en-US" sz="2400">
                    <a:latin typeface="Times New Roman" panose="02020603050405020304" pitchFamily="18" charset="0"/>
                  </a:endParaRPr>
                </a:p>
              </p:txBody>
            </p:sp>
            <p:sp>
              <p:nvSpPr>
                <p:cNvPr id="25622" name="Rectangle 49"/>
                <p:cNvSpPr>
                  <a:spLocks noChangeArrowheads="1"/>
                </p:cNvSpPr>
                <p:nvPr/>
              </p:nvSpPr>
              <p:spPr bwMode="auto">
                <a:xfrm>
                  <a:off x="2343" y="3109"/>
                  <a:ext cx="364" cy="262"/>
                </a:xfrm>
                <a:prstGeom prst="rect">
                  <a:avLst/>
                </a:prstGeom>
                <a:solidFill>
                  <a:srgbClr val="FFFFFF"/>
                </a:solidFill>
                <a:ln w="25400">
                  <a:solidFill>
                    <a:srgbClr val="3366FF"/>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Times New Roman" panose="02020603050405020304" pitchFamily="18" charset="0"/>
                    </a:rPr>
                    <a:t>Cheat</a:t>
                  </a:r>
                  <a:endParaRPr lang="en-US" altLang="en-US" sz="2400">
                    <a:latin typeface="Times New Roman" panose="02020603050405020304" pitchFamily="18" charset="0"/>
                  </a:endParaRPr>
                </a:p>
              </p:txBody>
            </p:sp>
            <p:sp>
              <p:nvSpPr>
                <p:cNvPr id="25623" name="Text Box 50"/>
                <p:cNvSpPr txBox="1">
                  <a:spLocks noChangeArrowheads="1"/>
                </p:cNvSpPr>
                <p:nvPr/>
              </p:nvSpPr>
              <p:spPr bwMode="auto">
                <a:xfrm>
                  <a:off x="2094" y="2765"/>
                  <a:ext cx="59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solidFill>
                        <a:srgbClr val="0066FF"/>
                      </a:solidFill>
                      <a:latin typeface="Arial" panose="020B0604020202020204" pitchFamily="34" charset="0"/>
                    </a:rPr>
                    <a:t>Single,</a:t>
                  </a:r>
                </a:p>
                <a:p>
                  <a:pPr algn="ctr">
                    <a:spcBef>
                      <a:spcPct val="0"/>
                    </a:spcBef>
                    <a:buClrTx/>
                    <a:buSzTx/>
                    <a:buFontTx/>
                    <a:buNone/>
                  </a:pPr>
                  <a:r>
                    <a:rPr lang="en-US" altLang="en-US" sz="1400" b="1">
                      <a:solidFill>
                        <a:srgbClr val="0066FF"/>
                      </a:solidFill>
                      <a:latin typeface="Arial" panose="020B0604020202020204" pitchFamily="34" charset="0"/>
                    </a:rPr>
                    <a:t>Divorced</a:t>
                  </a:r>
                  <a:endParaRPr lang="en-US" altLang="en-US" sz="1800">
                    <a:latin typeface="Arial" panose="020B0604020202020204" pitchFamily="34" charset="0"/>
                  </a:endParaRPr>
                </a:p>
              </p:txBody>
            </p:sp>
          </p:grpSp>
          <p:sp>
            <p:nvSpPr>
              <p:cNvPr id="25611" name="Text Box 51"/>
              <p:cNvSpPr txBox="1">
                <a:spLocks noChangeArrowheads="1"/>
              </p:cNvSpPr>
              <p:nvPr/>
            </p:nvSpPr>
            <p:spPr bwMode="auto">
              <a:xfrm>
                <a:off x="3168" y="2688"/>
                <a:ext cx="5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400" b="1">
                    <a:solidFill>
                      <a:srgbClr val="0066FF"/>
                    </a:solidFill>
                    <a:latin typeface="Arial" panose="020B0604020202020204" pitchFamily="34" charset="0"/>
                  </a:rPr>
                  <a:t>Married</a:t>
                </a:r>
                <a:endParaRPr lang="en-US" altLang="en-US" sz="1800">
                  <a:solidFill>
                    <a:srgbClr val="0066FF"/>
                  </a:solidFill>
                  <a:latin typeface="Arial" panose="020B0604020202020204" pitchFamily="34" charset="0"/>
                </a:endParaRPr>
              </a:p>
            </p:txBody>
          </p:sp>
        </p:grpSp>
        <p:sp>
          <p:nvSpPr>
            <p:cNvPr id="25609" name="Line 52"/>
            <p:cNvSpPr>
              <a:spLocks noChangeShapeType="1"/>
            </p:cNvSpPr>
            <p:nvPr/>
          </p:nvSpPr>
          <p:spPr bwMode="auto">
            <a:xfrm rot="-2664477" flipH="1" flipV="1">
              <a:off x="727" y="1757"/>
              <a:ext cx="402" cy="26"/>
            </a:xfrm>
            <a:prstGeom prst="line">
              <a:avLst/>
            </a:prstGeom>
            <a:noFill/>
            <a:ln w="76200" cmpd="tri">
              <a:solidFill>
                <a:srgbClr val="CC3300"/>
              </a:solidFill>
              <a:round/>
              <a:headEnd/>
              <a:tailEnd type="arrow" w="med" len="sm"/>
            </a:ln>
            <a:extLst>
              <a:ext uri="{909E8E84-426E-40DD-AFC4-6F175D3DCCD1}">
                <a14:hiddenFill xmlns:a14="http://schemas.microsoft.com/office/drawing/2010/main">
                  <a:noFill/>
                </a14:hiddenFill>
              </a:ext>
            </a:extLst>
          </p:spPr>
          <p:txBody>
            <a:bodyPr wrap="none" anchor="ctr"/>
            <a:lstStyle/>
            <a:p>
              <a:endParaRPr lang="en-US"/>
            </a:p>
          </p:txBody>
        </p:sp>
      </p:grpSp>
      <p:graphicFrame>
        <p:nvGraphicFramePr>
          <p:cNvPr id="25607" name="Object 53"/>
          <p:cNvGraphicFramePr>
            <a:graphicFrameLocks noChangeAspect="1"/>
          </p:cNvGraphicFramePr>
          <p:nvPr/>
        </p:nvGraphicFramePr>
        <p:xfrm>
          <a:off x="5562600" y="228600"/>
          <a:ext cx="3413125" cy="3687763"/>
        </p:xfrm>
        <a:graphic>
          <a:graphicData uri="http://schemas.openxmlformats.org/presentationml/2006/ole">
            <mc:AlternateContent xmlns:mc="http://schemas.openxmlformats.org/markup-compatibility/2006">
              <mc:Choice xmlns:v="urn:schemas-microsoft-com:vml" Requires="v">
                <p:oleObj spid="_x0000_s25668" name="Document" r:id="rId3" imgW="5405628" imgH="5782056" progId="Word.Document.8">
                  <p:embed/>
                </p:oleObj>
              </mc:Choice>
              <mc:Fallback>
                <p:oleObj name="Document" r:id="rId3" imgW="5405628" imgH="5782056" progId="Word.Document.8">
                  <p:embed/>
                  <p:pic>
                    <p:nvPicPr>
                      <p:cNvPr id="0" name="Object 53"/>
                      <p:cNvPicPr>
                        <a:picLocks noChangeAspect="1" noChangeArrowheads="1"/>
                      </p:cNvPicPr>
                      <p:nvPr/>
                    </p:nvPicPr>
                    <p:blipFill>
                      <a:blip r:embed="rId4">
                        <a:extLst>
                          <a:ext uri="{28A0092B-C50C-407E-A947-70E740481C1C}">
                            <a14:useLocalDpi xmlns:a14="http://schemas.microsoft.com/office/drawing/2010/main" val="0"/>
                          </a:ext>
                        </a:extLst>
                      </a:blip>
                      <a:srcRect r="4274"/>
                      <a:stretch>
                        <a:fillRect/>
                      </a:stretch>
                    </p:blipFill>
                    <p:spPr bwMode="auto">
                      <a:xfrm>
                        <a:off x="5562600" y="228600"/>
                        <a:ext cx="3413125" cy="3687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763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457200" y="0"/>
            <a:ext cx="8229600" cy="1139825"/>
          </a:xfrm>
        </p:spPr>
        <p:txBody>
          <a:bodyPr/>
          <a:lstStyle/>
          <a:p>
            <a:pPr eaLnBrk="1" hangingPunct="1">
              <a:defRPr/>
            </a:pPr>
            <a:r>
              <a:rPr lang="en-US" smtClean="0"/>
              <a:t>Tree Induction</a:t>
            </a:r>
          </a:p>
        </p:txBody>
      </p:sp>
      <p:sp>
        <p:nvSpPr>
          <p:cNvPr id="198659" name="Rectangle 3"/>
          <p:cNvSpPr>
            <a:spLocks noGrp="1" noChangeArrowheads="1"/>
          </p:cNvSpPr>
          <p:nvPr>
            <p:ph idx="1"/>
          </p:nvPr>
        </p:nvSpPr>
        <p:spPr>
          <a:xfrm>
            <a:off x="457200" y="990600"/>
            <a:ext cx="8229600" cy="4911725"/>
          </a:xfrm>
        </p:spPr>
        <p:txBody>
          <a:bodyPr>
            <a:normAutofit/>
          </a:bodyPr>
          <a:lstStyle/>
          <a:p>
            <a:pPr eaLnBrk="1" hangingPunct="1">
              <a:defRPr/>
            </a:pPr>
            <a:r>
              <a:rPr lang="en-US" sz="2800" dirty="0" smtClean="0"/>
              <a:t>Greedy strategy.</a:t>
            </a:r>
          </a:p>
          <a:p>
            <a:pPr lvl="1" eaLnBrk="1" hangingPunct="1">
              <a:defRPr/>
            </a:pPr>
            <a:r>
              <a:rPr lang="en-US" sz="2400" dirty="0" smtClean="0"/>
              <a:t>Split the records based on an attribute test that optimizes certain criterion.</a:t>
            </a:r>
          </a:p>
          <a:p>
            <a:pPr eaLnBrk="1" hangingPunct="1">
              <a:defRPr/>
            </a:pPr>
            <a:endParaRPr lang="en-US" sz="2800" dirty="0" smtClean="0"/>
          </a:p>
          <a:p>
            <a:pPr eaLnBrk="1" hangingPunct="1">
              <a:defRPr/>
            </a:pPr>
            <a:r>
              <a:rPr lang="en-US" sz="2800" dirty="0" smtClean="0"/>
              <a:t>Issues</a:t>
            </a:r>
          </a:p>
          <a:p>
            <a:pPr lvl="1" eaLnBrk="1" hangingPunct="1">
              <a:defRPr/>
            </a:pPr>
            <a:r>
              <a:rPr lang="en-US" sz="2400" dirty="0" smtClean="0"/>
              <a:t>Determine how to split the records</a:t>
            </a:r>
          </a:p>
          <a:p>
            <a:pPr lvl="2" eaLnBrk="1" hangingPunct="1">
              <a:defRPr/>
            </a:pPr>
            <a:r>
              <a:rPr lang="en-US" sz="2200" dirty="0" smtClean="0"/>
              <a:t>How to specify the attribute test condition?</a:t>
            </a:r>
          </a:p>
          <a:p>
            <a:pPr lvl="2" eaLnBrk="1" hangingPunct="1">
              <a:defRPr/>
            </a:pPr>
            <a:r>
              <a:rPr lang="en-US" sz="2200" dirty="0" smtClean="0"/>
              <a:t>How to determine the best split?</a:t>
            </a:r>
          </a:p>
          <a:p>
            <a:pPr lvl="1" eaLnBrk="1" hangingPunct="1">
              <a:defRPr/>
            </a:pPr>
            <a:r>
              <a:rPr lang="en-US" sz="2400" dirty="0" smtClean="0"/>
              <a:t>Determine when to stop splitting</a:t>
            </a:r>
          </a:p>
          <a:p>
            <a:pPr lvl="1" eaLnBrk="1" hangingPunct="1">
              <a:defRPr/>
            </a:pPr>
            <a:endParaRPr lang="en-US" sz="2400"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pPr eaLnBrk="1" hangingPunct="1">
              <a:defRPr/>
            </a:pPr>
            <a:r>
              <a:rPr lang="en-US" smtClean="0"/>
              <a:t>Tree Induction</a:t>
            </a:r>
          </a:p>
        </p:txBody>
      </p:sp>
      <p:sp>
        <p:nvSpPr>
          <p:cNvPr id="199683" name="Rectangle 3"/>
          <p:cNvSpPr>
            <a:spLocks noGrp="1" noChangeArrowheads="1"/>
          </p:cNvSpPr>
          <p:nvPr>
            <p:ph idx="1"/>
          </p:nvPr>
        </p:nvSpPr>
        <p:spPr>
          <a:xfrm>
            <a:off x="457200" y="1371601"/>
            <a:ext cx="8058150" cy="4800600"/>
          </a:xfrm>
        </p:spPr>
        <p:txBody>
          <a:bodyPr>
            <a:normAutofit/>
          </a:bodyPr>
          <a:lstStyle/>
          <a:p>
            <a:pPr eaLnBrk="1" hangingPunct="1">
              <a:defRPr/>
            </a:pPr>
            <a:r>
              <a:rPr lang="en-US" sz="2800" dirty="0" smtClean="0"/>
              <a:t>Greedy strategy.</a:t>
            </a:r>
          </a:p>
          <a:p>
            <a:pPr lvl="1" eaLnBrk="1" hangingPunct="1">
              <a:defRPr/>
            </a:pPr>
            <a:r>
              <a:rPr lang="en-US" sz="2400" dirty="0" smtClean="0"/>
              <a:t>Split the records based on an attribute test that optimizes certain criterion.</a:t>
            </a:r>
          </a:p>
          <a:p>
            <a:pPr eaLnBrk="1" hangingPunct="1">
              <a:defRPr/>
            </a:pPr>
            <a:endParaRPr lang="en-US" sz="2800" dirty="0" smtClean="0"/>
          </a:p>
          <a:p>
            <a:pPr eaLnBrk="1" hangingPunct="1">
              <a:defRPr/>
            </a:pPr>
            <a:r>
              <a:rPr lang="en-US" sz="2800" dirty="0" smtClean="0"/>
              <a:t>Issues</a:t>
            </a:r>
          </a:p>
          <a:p>
            <a:pPr lvl="1" eaLnBrk="1" hangingPunct="1">
              <a:defRPr/>
            </a:pPr>
            <a:r>
              <a:rPr lang="en-US" sz="2400" dirty="0" smtClean="0"/>
              <a:t>Determine how to split the records</a:t>
            </a:r>
          </a:p>
          <a:p>
            <a:pPr lvl="2" eaLnBrk="1" hangingPunct="1">
              <a:defRPr/>
            </a:pPr>
            <a:r>
              <a:rPr lang="en-US" sz="2200" dirty="0" smtClean="0">
                <a:solidFill>
                  <a:srgbClr val="FF0000"/>
                </a:solidFill>
              </a:rPr>
              <a:t>How to specify the attribute test condition?</a:t>
            </a:r>
          </a:p>
          <a:p>
            <a:pPr lvl="2" eaLnBrk="1" hangingPunct="1">
              <a:defRPr/>
            </a:pPr>
            <a:r>
              <a:rPr lang="en-US" sz="2200" dirty="0" smtClean="0"/>
              <a:t>How to determine the best split?</a:t>
            </a:r>
          </a:p>
          <a:p>
            <a:pPr lvl="1" eaLnBrk="1" hangingPunct="1">
              <a:defRPr/>
            </a:pPr>
            <a:r>
              <a:rPr lang="en-US" sz="2400" dirty="0" smtClean="0"/>
              <a:t>Determine when to stop splitting</a:t>
            </a:r>
          </a:p>
          <a:p>
            <a:pPr lvl="1" eaLnBrk="1" hangingPunct="1">
              <a:defRPr/>
            </a:pPr>
            <a:endParaRPr lang="en-US" sz="2400"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457200" y="0"/>
            <a:ext cx="8229600" cy="1139825"/>
          </a:xfrm>
        </p:spPr>
        <p:txBody>
          <a:bodyPr/>
          <a:lstStyle/>
          <a:p>
            <a:pPr eaLnBrk="1" hangingPunct="1">
              <a:defRPr/>
            </a:pPr>
            <a:r>
              <a:rPr lang="en-US" smtClean="0"/>
              <a:t>How to Specify Test Condition?</a:t>
            </a:r>
          </a:p>
        </p:txBody>
      </p:sp>
      <p:sp>
        <p:nvSpPr>
          <p:cNvPr id="200707" name="Rectangle 3"/>
          <p:cNvSpPr>
            <a:spLocks noGrp="1" noChangeArrowheads="1"/>
          </p:cNvSpPr>
          <p:nvPr>
            <p:ph idx="1"/>
          </p:nvPr>
        </p:nvSpPr>
        <p:spPr>
          <a:xfrm>
            <a:off x="457200" y="1371600"/>
            <a:ext cx="8229600" cy="4530725"/>
          </a:xfrm>
        </p:spPr>
        <p:txBody>
          <a:bodyPr>
            <a:normAutofit/>
          </a:bodyPr>
          <a:lstStyle/>
          <a:p>
            <a:pPr eaLnBrk="1" hangingPunct="1">
              <a:defRPr/>
            </a:pPr>
            <a:r>
              <a:rPr lang="en-US" sz="2800" dirty="0" smtClean="0"/>
              <a:t>Depends on attribute types</a:t>
            </a:r>
          </a:p>
          <a:p>
            <a:pPr lvl="1" eaLnBrk="1" hangingPunct="1">
              <a:defRPr/>
            </a:pPr>
            <a:r>
              <a:rPr lang="en-US" sz="2400" dirty="0" smtClean="0"/>
              <a:t>Nominal</a:t>
            </a:r>
          </a:p>
          <a:p>
            <a:pPr lvl="1" eaLnBrk="1" hangingPunct="1">
              <a:defRPr/>
            </a:pPr>
            <a:r>
              <a:rPr lang="en-US" sz="2400" dirty="0" smtClean="0"/>
              <a:t>Ordinal</a:t>
            </a:r>
          </a:p>
          <a:p>
            <a:pPr lvl="1" eaLnBrk="1" hangingPunct="1">
              <a:defRPr/>
            </a:pPr>
            <a:r>
              <a:rPr lang="en-US" sz="2400" dirty="0" smtClean="0"/>
              <a:t>Continuous</a:t>
            </a:r>
          </a:p>
          <a:p>
            <a:pPr lvl="1" eaLnBrk="1" hangingPunct="1">
              <a:defRPr/>
            </a:pPr>
            <a:endParaRPr lang="en-US" sz="2400" dirty="0" smtClean="0"/>
          </a:p>
          <a:p>
            <a:pPr eaLnBrk="1" hangingPunct="1">
              <a:defRPr/>
            </a:pPr>
            <a:r>
              <a:rPr lang="en-US" sz="2800" dirty="0" smtClean="0"/>
              <a:t>Depends on number of ways to split</a:t>
            </a:r>
          </a:p>
          <a:p>
            <a:pPr lvl="1" eaLnBrk="1" hangingPunct="1">
              <a:defRPr/>
            </a:pPr>
            <a:r>
              <a:rPr lang="en-US" sz="2400" dirty="0" smtClean="0"/>
              <a:t>2-way split</a:t>
            </a:r>
          </a:p>
          <a:p>
            <a:pPr lvl="1" eaLnBrk="1" hangingPunct="1">
              <a:defRPr/>
            </a:pPr>
            <a:r>
              <a:rPr lang="en-US" sz="2400" dirty="0" smtClean="0"/>
              <a:t>Multi-way split</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a:xfrm>
            <a:off x="304800" y="152400"/>
            <a:ext cx="8686800" cy="762000"/>
          </a:xfrm>
        </p:spPr>
        <p:txBody>
          <a:bodyPr/>
          <a:lstStyle/>
          <a:p>
            <a:pPr eaLnBrk="1" hangingPunct="1">
              <a:defRPr/>
            </a:pPr>
            <a:r>
              <a:rPr lang="en-US" smtClean="0"/>
              <a:t>Splitting Based on Nominal Atts.</a:t>
            </a:r>
          </a:p>
        </p:txBody>
      </p:sp>
      <p:sp>
        <p:nvSpPr>
          <p:cNvPr id="201731" name="Rectangle 3"/>
          <p:cNvSpPr>
            <a:spLocks noGrp="1" noChangeArrowheads="1"/>
          </p:cNvSpPr>
          <p:nvPr>
            <p:ph idx="1"/>
          </p:nvPr>
        </p:nvSpPr>
        <p:spPr>
          <a:xfrm>
            <a:off x="0" y="1295400"/>
            <a:ext cx="9144000" cy="4191000"/>
          </a:xfrm>
        </p:spPr>
        <p:txBody>
          <a:bodyPr/>
          <a:lstStyle/>
          <a:p>
            <a:pPr eaLnBrk="1" hangingPunct="1">
              <a:defRPr/>
            </a:pPr>
            <a:r>
              <a:rPr lang="en-US" dirty="0" smtClean="0">
                <a:solidFill>
                  <a:srgbClr val="FF0000"/>
                </a:solidFill>
              </a:rPr>
              <a:t>Multi-way split:</a:t>
            </a:r>
            <a:r>
              <a:rPr lang="en-US" dirty="0" smtClean="0"/>
              <a:t> Use as many partitions as distinct values. </a:t>
            </a:r>
          </a:p>
          <a:p>
            <a:pPr eaLnBrk="1" hangingPunct="1">
              <a:defRPr/>
            </a:pPr>
            <a:endParaRPr lang="en-US" dirty="0" smtClean="0"/>
          </a:p>
          <a:p>
            <a:pPr eaLnBrk="1" hangingPunct="1">
              <a:defRPr/>
            </a:pPr>
            <a:endParaRPr lang="en-US" dirty="0" smtClean="0"/>
          </a:p>
          <a:p>
            <a:pPr eaLnBrk="1" hangingPunct="1">
              <a:defRPr/>
            </a:pPr>
            <a:endParaRPr lang="en-US" dirty="0" smtClean="0">
              <a:solidFill>
                <a:srgbClr val="FF0000"/>
              </a:solidFill>
            </a:endParaRPr>
          </a:p>
          <a:p>
            <a:pPr eaLnBrk="1" hangingPunct="1">
              <a:defRPr/>
            </a:pPr>
            <a:r>
              <a:rPr lang="en-US" dirty="0" smtClean="0">
                <a:solidFill>
                  <a:srgbClr val="FF0000"/>
                </a:solidFill>
              </a:rPr>
              <a:t>Binary split:</a:t>
            </a:r>
            <a:r>
              <a:rPr lang="en-US" dirty="0" smtClean="0"/>
              <a:t>  Divides values into two subsets. </a:t>
            </a:r>
            <a:br>
              <a:rPr lang="en-US" dirty="0" smtClean="0"/>
            </a:br>
            <a:r>
              <a:rPr lang="en-US" dirty="0" smtClean="0"/>
              <a:t>			Need to find optimal partitioning.</a:t>
            </a:r>
            <a:endParaRPr lang="en-US" sz="4000" dirty="0" smtClean="0"/>
          </a:p>
        </p:txBody>
      </p:sp>
      <p:grpSp>
        <p:nvGrpSpPr>
          <p:cNvPr id="29700" name="Group 4"/>
          <p:cNvGrpSpPr>
            <a:grpSpLocks/>
          </p:cNvGrpSpPr>
          <p:nvPr/>
        </p:nvGrpSpPr>
        <p:grpSpPr bwMode="auto">
          <a:xfrm>
            <a:off x="2771386" y="1905000"/>
            <a:ext cx="2546350" cy="1108075"/>
            <a:chOff x="1824" y="1680"/>
            <a:chExt cx="1604" cy="578"/>
          </a:xfrm>
        </p:grpSpPr>
        <p:sp>
          <p:nvSpPr>
            <p:cNvPr id="29714" name="Oval 5"/>
            <p:cNvSpPr>
              <a:spLocks noChangeArrowheads="1"/>
            </p:cNvSpPr>
            <p:nvPr/>
          </p:nvSpPr>
          <p:spPr bwMode="auto">
            <a:xfrm>
              <a:off x="2352" y="1680"/>
              <a:ext cx="576" cy="288"/>
            </a:xfrm>
            <a:prstGeom prst="ellipse">
              <a:avLst/>
            </a:prstGeom>
            <a:solidFill>
              <a:srgbClr val="FFFFFF"/>
            </a:solidFill>
            <a:ln w="9525">
              <a:solidFill>
                <a:schemeClr val="tx1"/>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a:latin typeface="Times New Roman" panose="02020603050405020304" pitchFamily="18" charset="0"/>
                </a:rPr>
                <a:t>CarType</a:t>
              </a:r>
              <a:endParaRPr lang="en-US" altLang="en-US" sz="2400">
                <a:latin typeface="Times New Roman" panose="02020603050405020304" pitchFamily="18" charset="0"/>
              </a:endParaRPr>
            </a:p>
          </p:txBody>
        </p:sp>
        <p:sp>
          <p:nvSpPr>
            <p:cNvPr id="29715" name="Line 6"/>
            <p:cNvSpPr>
              <a:spLocks noChangeShapeType="1"/>
            </p:cNvSpPr>
            <p:nvPr/>
          </p:nvSpPr>
          <p:spPr bwMode="auto">
            <a:xfrm flipH="1">
              <a:off x="2064" y="1968"/>
              <a:ext cx="576"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16" name="Line 7"/>
            <p:cNvSpPr>
              <a:spLocks noChangeShapeType="1"/>
            </p:cNvSpPr>
            <p:nvPr/>
          </p:nvSpPr>
          <p:spPr bwMode="auto">
            <a:xfrm>
              <a:off x="2640" y="1968"/>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17" name="Line 8"/>
            <p:cNvSpPr>
              <a:spLocks noChangeShapeType="1"/>
            </p:cNvSpPr>
            <p:nvPr/>
          </p:nvSpPr>
          <p:spPr bwMode="auto">
            <a:xfrm>
              <a:off x="2640" y="1968"/>
              <a:ext cx="576"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18" name="Text Box 9"/>
            <p:cNvSpPr txBox="1">
              <a:spLocks noChangeArrowheads="1"/>
            </p:cNvSpPr>
            <p:nvPr/>
          </p:nvSpPr>
          <p:spPr bwMode="auto">
            <a:xfrm>
              <a:off x="1824" y="1890"/>
              <a:ext cx="492"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Arial" panose="020B0604020202020204" pitchFamily="34" charset="0"/>
                </a:rPr>
                <a:t>Family</a:t>
              </a:r>
            </a:p>
          </p:txBody>
        </p:sp>
        <p:sp>
          <p:nvSpPr>
            <p:cNvPr id="29719" name="Text Box 10"/>
            <p:cNvSpPr txBox="1">
              <a:spLocks noChangeArrowheads="1"/>
            </p:cNvSpPr>
            <p:nvPr/>
          </p:nvSpPr>
          <p:spPr bwMode="auto">
            <a:xfrm>
              <a:off x="2208" y="2082"/>
              <a:ext cx="48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Arial" panose="020B0604020202020204" pitchFamily="34" charset="0"/>
                </a:rPr>
                <a:t>Sports</a:t>
              </a:r>
            </a:p>
          </p:txBody>
        </p:sp>
        <p:sp>
          <p:nvSpPr>
            <p:cNvPr id="29720" name="Text Box 11"/>
            <p:cNvSpPr txBox="1">
              <a:spLocks noChangeArrowheads="1"/>
            </p:cNvSpPr>
            <p:nvPr/>
          </p:nvSpPr>
          <p:spPr bwMode="auto">
            <a:xfrm>
              <a:off x="2928" y="1890"/>
              <a:ext cx="500"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Arial" panose="020B0604020202020204" pitchFamily="34" charset="0"/>
                </a:rPr>
                <a:t>Luxury</a:t>
              </a:r>
            </a:p>
          </p:txBody>
        </p:sp>
      </p:grpSp>
      <p:grpSp>
        <p:nvGrpSpPr>
          <p:cNvPr id="29701" name="Group 12"/>
          <p:cNvGrpSpPr>
            <a:grpSpLocks/>
          </p:cNvGrpSpPr>
          <p:nvPr/>
        </p:nvGrpSpPr>
        <p:grpSpPr bwMode="auto">
          <a:xfrm>
            <a:off x="5257800" y="4953000"/>
            <a:ext cx="2752725" cy="1219200"/>
            <a:chOff x="3552" y="3216"/>
            <a:chExt cx="1734" cy="576"/>
          </a:xfrm>
        </p:grpSpPr>
        <p:sp>
          <p:nvSpPr>
            <p:cNvPr id="29709" name="Oval 13"/>
            <p:cNvSpPr>
              <a:spLocks noChangeArrowheads="1"/>
            </p:cNvSpPr>
            <p:nvPr/>
          </p:nvSpPr>
          <p:spPr bwMode="auto">
            <a:xfrm>
              <a:off x="4186" y="3216"/>
              <a:ext cx="576" cy="288"/>
            </a:xfrm>
            <a:prstGeom prst="ellipse">
              <a:avLst/>
            </a:prstGeom>
            <a:solidFill>
              <a:srgbClr val="FFFFFF"/>
            </a:solidFill>
            <a:ln w="9525">
              <a:solidFill>
                <a:schemeClr val="tx1"/>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a:latin typeface="Times New Roman" panose="02020603050405020304" pitchFamily="18" charset="0"/>
                </a:rPr>
                <a:t>CarType</a:t>
              </a:r>
              <a:endParaRPr lang="en-US" altLang="en-US" sz="2400">
                <a:latin typeface="Times New Roman" panose="02020603050405020304" pitchFamily="18" charset="0"/>
              </a:endParaRPr>
            </a:p>
          </p:txBody>
        </p:sp>
        <p:sp>
          <p:nvSpPr>
            <p:cNvPr id="29710" name="Line 14"/>
            <p:cNvSpPr>
              <a:spLocks noChangeShapeType="1"/>
            </p:cNvSpPr>
            <p:nvPr/>
          </p:nvSpPr>
          <p:spPr bwMode="auto">
            <a:xfrm flipH="1">
              <a:off x="3946" y="3504"/>
              <a:ext cx="52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11" name="Line 15"/>
            <p:cNvSpPr>
              <a:spLocks noChangeShapeType="1"/>
            </p:cNvSpPr>
            <p:nvPr/>
          </p:nvSpPr>
          <p:spPr bwMode="auto">
            <a:xfrm>
              <a:off x="4474" y="3504"/>
              <a:ext cx="48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12" name="Text Box 16"/>
            <p:cNvSpPr txBox="1">
              <a:spLocks noChangeArrowheads="1"/>
            </p:cNvSpPr>
            <p:nvPr/>
          </p:nvSpPr>
          <p:spPr bwMode="auto">
            <a:xfrm>
              <a:off x="3552" y="3406"/>
              <a:ext cx="607"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Arial" panose="020B0604020202020204" pitchFamily="34" charset="0"/>
                </a:rPr>
                <a:t>{Family, </a:t>
              </a:r>
              <a:br>
                <a:rPr lang="en-US" altLang="en-US" sz="1600">
                  <a:latin typeface="Arial" panose="020B0604020202020204" pitchFamily="34" charset="0"/>
                </a:rPr>
              </a:br>
              <a:r>
                <a:rPr lang="en-US" altLang="en-US" sz="1600">
                  <a:latin typeface="Arial" panose="020B0604020202020204" pitchFamily="34" charset="0"/>
                </a:rPr>
                <a:t>Luxury}</a:t>
              </a:r>
            </a:p>
          </p:txBody>
        </p:sp>
        <p:sp>
          <p:nvSpPr>
            <p:cNvPr id="29713" name="Text Box 17"/>
            <p:cNvSpPr txBox="1">
              <a:spLocks noChangeArrowheads="1"/>
            </p:cNvSpPr>
            <p:nvPr/>
          </p:nvSpPr>
          <p:spPr bwMode="auto">
            <a:xfrm>
              <a:off x="4714" y="3482"/>
              <a:ext cx="572"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Arial" panose="020B0604020202020204" pitchFamily="34" charset="0"/>
                </a:rPr>
                <a:t>{Sports}</a:t>
              </a:r>
            </a:p>
          </p:txBody>
        </p:sp>
      </p:grpSp>
      <p:grpSp>
        <p:nvGrpSpPr>
          <p:cNvPr id="29702" name="Group 18"/>
          <p:cNvGrpSpPr>
            <a:grpSpLocks/>
          </p:cNvGrpSpPr>
          <p:nvPr/>
        </p:nvGrpSpPr>
        <p:grpSpPr bwMode="auto">
          <a:xfrm>
            <a:off x="685800" y="4953000"/>
            <a:ext cx="2905125" cy="1295400"/>
            <a:chOff x="768" y="3216"/>
            <a:chExt cx="1830" cy="576"/>
          </a:xfrm>
        </p:grpSpPr>
        <p:sp>
          <p:nvSpPr>
            <p:cNvPr id="29704" name="Oval 19"/>
            <p:cNvSpPr>
              <a:spLocks noChangeArrowheads="1"/>
            </p:cNvSpPr>
            <p:nvPr/>
          </p:nvSpPr>
          <p:spPr bwMode="auto">
            <a:xfrm>
              <a:off x="1494" y="3216"/>
              <a:ext cx="576" cy="288"/>
            </a:xfrm>
            <a:prstGeom prst="ellipse">
              <a:avLst/>
            </a:prstGeom>
            <a:solidFill>
              <a:srgbClr val="FFFFFF"/>
            </a:solidFill>
            <a:ln w="9525">
              <a:solidFill>
                <a:schemeClr val="tx1"/>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a:latin typeface="Times New Roman" panose="02020603050405020304" pitchFamily="18" charset="0"/>
                </a:rPr>
                <a:t>CarType</a:t>
              </a:r>
              <a:endParaRPr lang="en-US" altLang="en-US" sz="2400">
                <a:latin typeface="Times New Roman" panose="02020603050405020304" pitchFamily="18" charset="0"/>
              </a:endParaRPr>
            </a:p>
          </p:txBody>
        </p:sp>
        <p:sp>
          <p:nvSpPr>
            <p:cNvPr id="29705" name="Line 20"/>
            <p:cNvSpPr>
              <a:spLocks noChangeShapeType="1"/>
            </p:cNvSpPr>
            <p:nvPr/>
          </p:nvSpPr>
          <p:spPr bwMode="auto">
            <a:xfrm flipH="1">
              <a:off x="1254" y="3504"/>
              <a:ext cx="52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06" name="Line 21"/>
            <p:cNvSpPr>
              <a:spLocks noChangeShapeType="1"/>
            </p:cNvSpPr>
            <p:nvPr/>
          </p:nvSpPr>
          <p:spPr bwMode="auto">
            <a:xfrm>
              <a:off x="1782" y="3504"/>
              <a:ext cx="48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07" name="Text Box 22"/>
            <p:cNvSpPr txBox="1">
              <a:spLocks noChangeArrowheads="1"/>
            </p:cNvSpPr>
            <p:nvPr/>
          </p:nvSpPr>
          <p:spPr bwMode="auto">
            <a:xfrm>
              <a:off x="768" y="3414"/>
              <a:ext cx="59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Arial" panose="020B0604020202020204" pitchFamily="34" charset="0"/>
                </a:rPr>
                <a:t>{Sports, Luxury}</a:t>
              </a:r>
            </a:p>
          </p:txBody>
        </p:sp>
        <p:sp>
          <p:nvSpPr>
            <p:cNvPr id="29708" name="Text Box 23"/>
            <p:cNvSpPr txBox="1">
              <a:spLocks noChangeArrowheads="1"/>
            </p:cNvSpPr>
            <p:nvPr/>
          </p:nvSpPr>
          <p:spPr bwMode="auto">
            <a:xfrm>
              <a:off x="2020" y="3487"/>
              <a:ext cx="578"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Arial" panose="020B0604020202020204" pitchFamily="34" charset="0"/>
                </a:rPr>
                <a:t>{Family}</a:t>
              </a:r>
            </a:p>
          </p:txBody>
        </p:sp>
      </p:grpSp>
      <p:sp>
        <p:nvSpPr>
          <p:cNvPr id="29703" name="Text Box 24"/>
          <p:cNvSpPr txBox="1">
            <a:spLocks noChangeArrowheads="1"/>
          </p:cNvSpPr>
          <p:nvPr/>
        </p:nvSpPr>
        <p:spPr bwMode="auto">
          <a:xfrm>
            <a:off x="4191000" y="5105400"/>
            <a:ext cx="608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2400">
                <a:latin typeface="Times New Roman" panose="02020603050405020304" pitchFamily="18" charset="0"/>
              </a:rPr>
              <a:t>OR</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5" name="Rectangle 3"/>
          <p:cNvSpPr>
            <a:spLocks noGrp="1" noChangeArrowheads="1"/>
          </p:cNvSpPr>
          <p:nvPr>
            <p:ph type="title"/>
          </p:nvPr>
        </p:nvSpPr>
        <p:spPr>
          <a:xfrm>
            <a:off x="0" y="0"/>
            <a:ext cx="9144000" cy="990600"/>
          </a:xfrm>
        </p:spPr>
        <p:txBody>
          <a:bodyPr/>
          <a:lstStyle/>
          <a:p>
            <a:pPr eaLnBrk="1" hangingPunct="1">
              <a:defRPr/>
            </a:pPr>
            <a:r>
              <a:rPr lang="en-US" smtClean="0"/>
              <a:t>Splitting Based on Ordinal Attributes</a:t>
            </a:r>
          </a:p>
        </p:txBody>
      </p:sp>
      <p:sp>
        <p:nvSpPr>
          <p:cNvPr id="202754" name="Rectangle 2"/>
          <p:cNvSpPr>
            <a:spLocks noGrp="1" noChangeArrowheads="1"/>
          </p:cNvSpPr>
          <p:nvPr>
            <p:ph idx="1"/>
          </p:nvPr>
        </p:nvSpPr>
        <p:spPr>
          <a:xfrm>
            <a:off x="0" y="1066800"/>
            <a:ext cx="9144000" cy="5257800"/>
          </a:xfrm>
        </p:spPr>
        <p:txBody>
          <a:bodyPr lIns="90488" tIns="44450" rIns="90488" bIns="44450"/>
          <a:lstStyle/>
          <a:p>
            <a:pPr eaLnBrk="1" hangingPunct="1">
              <a:defRPr/>
            </a:pPr>
            <a:r>
              <a:rPr lang="en-US" dirty="0" smtClean="0">
                <a:solidFill>
                  <a:srgbClr val="FF0000"/>
                </a:solidFill>
              </a:rPr>
              <a:t>Multi-way split:</a:t>
            </a:r>
            <a:r>
              <a:rPr lang="en-US" dirty="0" smtClean="0"/>
              <a:t> Use as many partitions as distinct values. </a:t>
            </a:r>
          </a:p>
          <a:p>
            <a:pPr eaLnBrk="1" hangingPunct="1">
              <a:defRPr/>
            </a:pPr>
            <a:endParaRPr lang="en-US" dirty="0" smtClean="0"/>
          </a:p>
          <a:p>
            <a:pPr eaLnBrk="1" hangingPunct="1">
              <a:defRPr/>
            </a:pPr>
            <a:endParaRPr lang="en-US" dirty="0" smtClean="0"/>
          </a:p>
          <a:p>
            <a:pPr eaLnBrk="1" hangingPunct="1">
              <a:defRPr/>
            </a:pPr>
            <a:r>
              <a:rPr lang="en-US" dirty="0" smtClean="0">
                <a:solidFill>
                  <a:srgbClr val="FF0000"/>
                </a:solidFill>
              </a:rPr>
              <a:t>Binary split:</a:t>
            </a:r>
            <a:r>
              <a:rPr lang="en-US" dirty="0" smtClean="0"/>
              <a:t>  Divides values into two subsets. </a:t>
            </a:r>
            <a:br>
              <a:rPr lang="en-US" dirty="0" smtClean="0"/>
            </a:br>
            <a:r>
              <a:rPr lang="en-US" dirty="0" smtClean="0"/>
              <a:t>		      Need to find optimal partitioning.</a:t>
            </a:r>
          </a:p>
          <a:p>
            <a:pPr eaLnBrk="1" hangingPunct="1">
              <a:defRPr/>
            </a:pPr>
            <a:endParaRPr lang="en-US" dirty="0" smtClean="0"/>
          </a:p>
          <a:p>
            <a:pPr eaLnBrk="1" hangingPunct="1">
              <a:defRPr/>
            </a:pPr>
            <a:endParaRPr lang="en-US" dirty="0" smtClean="0"/>
          </a:p>
          <a:p>
            <a:pPr eaLnBrk="1" hangingPunct="1">
              <a:defRPr/>
            </a:pPr>
            <a:endParaRPr lang="en-US" dirty="0" smtClean="0"/>
          </a:p>
          <a:p>
            <a:pPr eaLnBrk="1" hangingPunct="1">
              <a:defRPr/>
            </a:pPr>
            <a:endParaRPr lang="en-US" dirty="0"/>
          </a:p>
          <a:p>
            <a:pPr eaLnBrk="1" hangingPunct="1">
              <a:defRPr/>
            </a:pPr>
            <a:r>
              <a:rPr lang="en-US" dirty="0" smtClean="0"/>
              <a:t>What about this split?</a:t>
            </a:r>
            <a:endParaRPr lang="en-US" sz="4000" dirty="0" smtClean="0"/>
          </a:p>
        </p:txBody>
      </p:sp>
      <p:grpSp>
        <p:nvGrpSpPr>
          <p:cNvPr id="30724" name="Group 4"/>
          <p:cNvGrpSpPr>
            <a:grpSpLocks/>
          </p:cNvGrpSpPr>
          <p:nvPr/>
        </p:nvGrpSpPr>
        <p:grpSpPr bwMode="auto">
          <a:xfrm>
            <a:off x="3564516" y="1472160"/>
            <a:ext cx="2457450" cy="1044575"/>
            <a:chOff x="1853" y="1248"/>
            <a:chExt cx="1548" cy="584"/>
          </a:xfrm>
        </p:grpSpPr>
        <p:sp>
          <p:nvSpPr>
            <p:cNvPr id="30744" name="Oval 5"/>
            <p:cNvSpPr>
              <a:spLocks noChangeArrowheads="1"/>
            </p:cNvSpPr>
            <p:nvPr/>
          </p:nvSpPr>
          <p:spPr bwMode="auto">
            <a:xfrm>
              <a:off x="2352" y="1248"/>
              <a:ext cx="576" cy="288"/>
            </a:xfrm>
            <a:prstGeom prst="ellipse">
              <a:avLst/>
            </a:prstGeom>
            <a:solidFill>
              <a:srgbClr val="FFFFFF"/>
            </a:solidFill>
            <a:ln w="9525">
              <a:solidFill>
                <a:schemeClr val="tx1"/>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a:latin typeface="Times New Roman" panose="02020603050405020304" pitchFamily="18" charset="0"/>
                </a:rPr>
                <a:t>Size</a:t>
              </a:r>
              <a:endParaRPr lang="en-US" altLang="en-US" sz="2400">
                <a:latin typeface="Times New Roman" panose="02020603050405020304" pitchFamily="18" charset="0"/>
              </a:endParaRPr>
            </a:p>
          </p:txBody>
        </p:sp>
        <p:sp>
          <p:nvSpPr>
            <p:cNvPr id="30745" name="Line 6"/>
            <p:cNvSpPr>
              <a:spLocks noChangeShapeType="1"/>
            </p:cNvSpPr>
            <p:nvPr/>
          </p:nvSpPr>
          <p:spPr bwMode="auto">
            <a:xfrm flipH="1">
              <a:off x="2064" y="1536"/>
              <a:ext cx="576"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6" name="Line 7"/>
            <p:cNvSpPr>
              <a:spLocks noChangeShapeType="1"/>
            </p:cNvSpPr>
            <p:nvPr/>
          </p:nvSpPr>
          <p:spPr bwMode="auto">
            <a:xfrm>
              <a:off x="2640" y="1536"/>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7" name="Line 8"/>
            <p:cNvSpPr>
              <a:spLocks noChangeShapeType="1"/>
            </p:cNvSpPr>
            <p:nvPr/>
          </p:nvSpPr>
          <p:spPr bwMode="auto">
            <a:xfrm>
              <a:off x="2640" y="1536"/>
              <a:ext cx="576"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8" name="Text Box 9"/>
            <p:cNvSpPr txBox="1">
              <a:spLocks noChangeArrowheads="1"/>
            </p:cNvSpPr>
            <p:nvPr/>
          </p:nvSpPr>
          <p:spPr bwMode="auto">
            <a:xfrm>
              <a:off x="1853" y="1451"/>
              <a:ext cx="43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Arial" panose="020B0604020202020204" pitchFamily="34" charset="0"/>
                </a:rPr>
                <a:t>Small</a:t>
              </a:r>
            </a:p>
          </p:txBody>
        </p:sp>
        <p:sp>
          <p:nvSpPr>
            <p:cNvPr id="30749" name="Text Box 10"/>
            <p:cNvSpPr txBox="1">
              <a:spLocks noChangeArrowheads="1"/>
            </p:cNvSpPr>
            <p:nvPr/>
          </p:nvSpPr>
          <p:spPr bwMode="auto">
            <a:xfrm>
              <a:off x="2167" y="1644"/>
              <a:ext cx="57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Arial" panose="020B0604020202020204" pitchFamily="34" charset="0"/>
                </a:rPr>
                <a:t>Medium</a:t>
              </a:r>
            </a:p>
          </p:txBody>
        </p:sp>
        <p:sp>
          <p:nvSpPr>
            <p:cNvPr id="30750" name="Text Box 11"/>
            <p:cNvSpPr txBox="1">
              <a:spLocks noChangeArrowheads="1"/>
            </p:cNvSpPr>
            <p:nvPr/>
          </p:nvSpPr>
          <p:spPr bwMode="auto">
            <a:xfrm>
              <a:off x="2958" y="1452"/>
              <a:ext cx="44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Arial" panose="020B0604020202020204" pitchFamily="34" charset="0"/>
                </a:rPr>
                <a:t>Large</a:t>
              </a:r>
            </a:p>
          </p:txBody>
        </p:sp>
      </p:grpSp>
      <p:grpSp>
        <p:nvGrpSpPr>
          <p:cNvPr id="30725" name="Group 12"/>
          <p:cNvGrpSpPr>
            <a:grpSpLocks/>
          </p:cNvGrpSpPr>
          <p:nvPr/>
        </p:nvGrpSpPr>
        <p:grpSpPr bwMode="auto">
          <a:xfrm>
            <a:off x="5397227" y="3460291"/>
            <a:ext cx="2774950" cy="1143000"/>
            <a:chOff x="3513" y="3216"/>
            <a:chExt cx="1748" cy="576"/>
          </a:xfrm>
        </p:grpSpPr>
        <p:sp>
          <p:nvSpPr>
            <p:cNvPr id="30739" name="Oval 13"/>
            <p:cNvSpPr>
              <a:spLocks noChangeArrowheads="1"/>
            </p:cNvSpPr>
            <p:nvPr/>
          </p:nvSpPr>
          <p:spPr bwMode="auto">
            <a:xfrm>
              <a:off x="4186" y="3216"/>
              <a:ext cx="576" cy="288"/>
            </a:xfrm>
            <a:prstGeom prst="ellipse">
              <a:avLst/>
            </a:prstGeom>
            <a:solidFill>
              <a:srgbClr val="FFFFFF"/>
            </a:solidFill>
            <a:ln w="9525">
              <a:solidFill>
                <a:schemeClr val="tx1"/>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a:latin typeface="Times New Roman" panose="02020603050405020304" pitchFamily="18" charset="0"/>
                </a:rPr>
                <a:t>Size</a:t>
              </a:r>
              <a:endParaRPr lang="en-US" altLang="en-US" sz="2400">
                <a:latin typeface="Times New Roman" panose="02020603050405020304" pitchFamily="18" charset="0"/>
              </a:endParaRPr>
            </a:p>
          </p:txBody>
        </p:sp>
        <p:sp>
          <p:nvSpPr>
            <p:cNvPr id="30740" name="Line 14"/>
            <p:cNvSpPr>
              <a:spLocks noChangeShapeType="1"/>
            </p:cNvSpPr>
            <p:nvPr/>
          </p:nvSpPr>
          <p:spPr bwMode="auto">
            <a:xfrm flipH="1">
              <a:off x="3946" y="3504"/>
              <a:ext cx="52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1" name="Line 15"/>
            <p:cNvSpPr>
              <a:spLocks noChangeShapeType="1"/>
            </p:cNvSpPr>
            <p:nvPr/>
          </p:nvSpPr>
          <p:spPr bwMode="auto">
            <a:xfrm>
              <a:off x="4474" y="3504"/>
              <a:ext cx="48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2" name="Text Box 16"/>
            <p:cNvSpPr txBox="1">
              <a:spLocks noChangeArrowheads="1"/>
            </p:cNvSpPr>
            <p:nvPr/>
          </p:nvSpPr>
          <p:spPr bwMode="auto">
            <a:xfrm>
              <a:off x="3513" y="3397"/>
              <a:ext cx="686"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Arial" panose="020B0604020202020204" pitchFamily="34" charset="0"/>
                </a:rPr>
                <a:t>{Medium, </a:t>
              </a:r>
              <a:br>
                <a:rPr lang="en-US" altLang="en-US" sz="1600">
                  <a:latin typeface="Arial" panose="020B0604020202020204" pitchFamily="34" charset="0"/>
                </a:rPr>
              </a:br>
              <a:r>
                <a:rPr lang="en-US" altLang="en-US" sz="1600">
                  <a:latin typeface="Arial" panose="020B0604020202020204" pitchFamily="34" charset="0"/>
                </a:rPr>
                <a:t>Large}</a:t>
              </a:r>
            </a:p>
          </p:txBody>
        </p:sp>
        <p:sp>
          <p:nvSpPr>
            <p:cNvPr id="30743" name="Text Box 17"/>
            <p:cNvSpPr txBox="1">
              <a:spLocks noChangeArrowheads="1"/>
            </p:cNvSpPr>
            <p:nvPr/>
          </p:nvSpPr>
          <p:spPr bwMode="auto">
            <a:xfrm>
              <a:off x="4740" y="3477"/>
              <a:ext cx="521"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Arial" panose="020B0604020202020204" pitchFamily="34" charset="0"/>
                </a:rPr>
                <a:t>{Small}</a:t>
              </a:r>
            </a:p>
          </p:txBody>
        </p:sp>
      </p:grpSp>
      <p:grpSp>
        <p:nvGrpSpPr>
          <p:cNvPr id="30726" name="Group 18"/>
          <p:cNvGrpSpPr>
            <a:grpSpLocks/>
          </p:cNvGrpSpPr>
          <p:nvPr/>
        </p:nvGrpSpPr>
        <p:grpSpPr bwMode="auto">
          <a:xfrm>
            <a:off x="485613" y="3409950"/>
            <a:ext cx="2997200" cy="1143000"/>
            <a:chOff x="768" y="3216"/>
            <a:chExt cx="1794" cy="576"/>
          </a:xfrm>
        </p:grpSpPr>
        <p:sp>
          <p:nvSpPr>
            <p:cNvPr id="30734" name="Oval 19"/>
            <p:cNvSpPr>
              <a:spLocks noChangeArrowheads="1"/>
            </p:cNvSpPr>
            <p:nvPr/>
          </p:nvSpPr>
          <p:spPr bwMode="auto">
            <a:xfrm>
              <a:off x="1494" y="3216"/>
              <a:ext cx="576" cy="288"/>
            </a:xfrm>
            <a:prstGeom prst="ellipse">
              <a:avLst/>
            </a:prstGeom>
            <a:solidFill>
              <a:srgbClr val="FFFFFF"/>
            </a:solidFill>
            <a:ln w="9525">
              <a:solidFill>
                <a:schemeClr val="tx1"/>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dirty="0">
                  <a:latin typeface="Times New Roman" panose="02020603050405020304" pitchFamily="18" charset="0"/>
                </a:rPr>
                <a:t>Size</a:t>
              </a:r>
              <a:endParaRPr lang="en-US" altLang="en-US" sz="2400" dirty="0">
                <a:latin typeface="Times New Roman" panose="02020603050405020304" pitchFamily="18" charset="0"/>
              </a:endParaRPr>
            </a:p>
          </p:txBody>
        </p:sp>
        <p:sp>
          <p:nvSpPr>
            <p:cNvPr id="30735" name="Line 20"/>
            <p:cNvSpPr>
              <a:spLocks noChangeShapeType="1"/>
            </p:cNvSpPr>
            <p:nvPr/>
          </p:nvSpPr>
          <p:spPr bwMode="auto">
            <a:xfrm flipH="1">
              <a:off x="1254" y="3504"/>
              <a:ext cx="52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36" name="Line 21"/>
            <p:cNvSpPr>
              <a:spLocks noChangeShapeType="1"/>
            </p:cNvSpPr>
            <p:nvPr/>
          </p:nvSpPr>
          <p:spPr bwMode="auto">
            <a:xfrm>
              <a:off x="1782" y="3504"/>
              <a:ext cx="48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37" name="Text Box 22"/>
            <p:cNvSpPr txBox="1">
              <a:spLocks noChangeArrowheads="1"/>
            </p:cNvSpPr>
            <p:nvPr/>
          </p:nvSpPr>
          <p:spPr bwMode="auto">
            <a:xfrm>
              <a:off x="768" y="3397"/>
              <a:ext cx="59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Arial" panose="020B0604020202020204" pitchFamily="34" charset="0"/>
                </a:rPr>
                <a:t>{Small, Medium}</a:t>
              </a:r>
            </a:p>
          </p:txBody>
        </p:sp>
        <p:sp>
          <p:nvSpPr>
            <p:cNvPr id="30738" name="Text Box 23"/>
            <p:cNvSpPr txBox="1">
              <a:spLocks noChangeArrowheads="1"/>
            </p:cNvSpPr>
            <p:nvPr/>
          </p:nvSpPr>
          <p:spPr bwMode="auto">
            <a:xfrm>
              <a:off x="2059" y="3477"/>
              <a:ext cx="503"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Arial" panose="020B0604020202020204" pitchFamily="34" charset="0"/>
                </a:rPr>
                <a:t>{Large}</a:t>
              </a:r>
            </a:p>
          </p:txBody>
        </p:sp>
      </p:grpSp>
      <p:sp>
        <p:nvSpPr>
          <p:cNvPr id="30727" name="Text Box 24"/>
          <p:cNvSpPr txBox="1">
            <a:spLocks noChangeArrowheads="1"/>
          </p:cNvSpPr>
          <p:nvPr/>
        </p:nvSpPr>
        <p:spPr bwMode="auto">
          <a:xfrm>
            <a:off x="4233642" y="3633311"/>
            <a:ext cx="608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2400" dirty="0">
                <a:latin typeface="Times New Roman" panose="02020603050405020304" pitchFamily="18" charset="0"/>
              </a:rPr>
              <a:t>OR</a:t>
            </a:r>
          </a:p>
        </p:txBody>
      </p:sp>
      <p:grpSp>
        <p:nvGrpSpPr>
          <p:cNvPr id="30728" name="Group 25"/>
          <p:cNvGrpSpPr>
            <a:grpSpLocks/>
          </p:cNvGrpSpPr>
          <p:nvPr/>
        </p:nvGrpSpPr>
        <p:grpSpPr bwMode="auto">
          <a:xfrm>
            <a:off x="4813879" y="4972385"/>
            <a:ext cx="3101975" cy="1143000"/>
            <a:chOff x="768" y="3216"/>
            <a:chExt cx="1856" cy="576"/>
          </a:xfrm>
        </p:grpSpPr>
        <p:sp>
          <p:nvSpPr>
            <p:cNvPr id="30729" name="Oval 26"/>
            <p:cNvSpPr>
              <a:spLocks noChangeArrowheads="1"/>
            </p:cNvSpPr>
            <p:nvPr/>
          </p:nvSpPr>
          <p:spPr bwMode="auto">
            <a:xfrm>
              <a:off x="1494" y="3216"/>
              <a:ext cx="576" cy="288"/>
            </a:xfrm>
            <a:prstGeom prst="ellipse">
              <a:avLst/>
            </a:prstGeom>
            <a:solidFill>
              <a:srgbClr val="FFFFFF"/>
            </a:solidFill>
            <a:ln w="9525">
              <a:solidFill>
                <a:schemeClr val="tx1"/>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a:latin typeface="Times New Roman" panose="02020603050405020304" pitchFamily="18" charset="0"/>
                </a:rPr>
                <a:t>Size</a:t>
              </a:r>
              <a:endParaRPr lang="en-US" altLang="en-US" sz="2400">
                <a:latin typeface="Times New Roman" panose="02020603050405020304" pitchFamily="18" charset="0"/>
              </a:endParaRPr>
            </a:p>
          </p:txBody>
        </p:sp>
        <p:sp>
          <p:nvSpPr>
            <p:cNvPr id="30730" name="Line 27"/>
            <p:cNvSpPr>
              <a:spLocks noChangeShapeType="1"/>
            </p:cNvSpPr>
            <p:nvPr/>
          </p:nvSpPr>
          <p:spPr bwMode="auto">
            <a:xfrm flipH="1">
              <a:off x="1254" y="3504"/>
              <a:ext cx="52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31" name="Line 28"/>
            <p:cNvSpPr>
              <a:spLocks noChangeShapeType="1"/>
            </p:cNvSpPr>
            <p:nvPr/>
          </p:nvSpPr>
          <p:spPr bwMode="auto">
            <a:xfrm>
              <a:off x="1782" y="3504"/>
              <a:ext cx="48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32" name="Text Box 29"/>
            <p:cNvSpPr txBox="1">
              <a:spLocks noChangeArrowheads="1"/>
            </p:cNvSpPr>
            <p:nvPr/>
          </p:nvSpPr>
          <p:spPr bwMode="auto">
            <a:xfrm>
              <a:off x="768" y="3397"/>
              <a:ext cx="59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Arial" panose="020B0604020202020204" pitchFamily="34" charset="0"/>
                </a:rPr>
                <a:t>{Small, Large}</a:t>
              </a:r>
            </a:p>
          </p:txBody>
        </p:sp>
        <p:sp>
          <p:nvSpPr>
            <p:cNvPr id="30733" name="Text Box 30"/>
            <p:cNvSpPr txBox="1">
              <a:spLocks noChangeArrowheads="1"/>
            </p:cNvSpPr>
            <p:nvPr/>
          </p:nvSpPr>
          <p:spPr bwMode="auto">
            <a:xfrm>
              <a:off x="2000" y="3477"/>
              <a:ext cx="624"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600">
                  <a:latin typeface="Arial" panose="020B0604020202020204" pitchFamily="34" charset="0"/>
                </a:rPr>
                <a:t>{Medium}</a:t>
              </a:r>
            </a:p>
          </p:txBody>
        </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a:xfrm>
            <a:off x="0" y="152400"/>
            <a:ext cx="9144000" cy="762000"/>
          </a:xfrm>
        </p:spPr>
        <p:txBody>
          <a:bodyPr/>
          <a:lstStyle/>
          <a:p>
            <a:pPr eaLnBrk="1" hangingPunct="1">
              <a:defRPr/>
            </a:pPr>
            <a:r>
              <a:rPr lang="en-US" smtClean="0"/>
              <a:t>Splitting Based on Continuous Atts.</a:t>
            </a:r>
          </a:p>
        </p:txBody>
      </p:sp>
      <p:sp>
        <p:nvSpPr>
          <p:cNvPr id="203779" name="Rectangle 3"/>
          <p:cNvSpPr>
            <a:spLocks noGrp="1" noChangeArrowheads="1"/>
          </p:cNvSpPr>
          <p:nvPr>
            <p:ph idx="1"/>
          </p:nvPr>
        </p:nvSpPr>
        <p:spPr>
          <a:xfrm>
            <a:off x="457200" y="1295400"/>
            <a:ext cx="8229600" cy="5029200"/>
          </a:xfrm>
        </p:spPr>
        <p:txBody>
          <a:bodyPr>
            <a:normAutofit/>
          </a:bodyPr>
          <a:lstStyle/>
          <a:p>
            <a:pPr eaLnBrk="1" hangingPunct="1">
              <a:defRPr/>
            </a:pPr>
            <a:r>
              <a:rPr lang="en-US" sz="2800" dirty="0" smtClean="0"/>
              <a:t>Different ways of handling</a:t>
            </a:r>
          </a:p>
          <a:p>
            <a:pPr lvl="1" eaLnBrk="1" hangingPunct="1">
              <a:defRPr/>
            </a:pPr>
            <a:r>
              <a:rPr lang="en-US" sz="2400" dirty="0" smtClean="0">
                <a:solidFill>
                  <a:srgbClr val="CC3300"/>
                </a:solidFill>
              </a:rPr>
              <a:t>Discretization</a:t>
            </a:r>
            <a:r>
              <a:rPr lang="en-US" sz="2400" dirty="0" smtClean="0"/>
              <a:t> to form an ordinal categorical attribute</a:t>
            </a:r>
          </a:p>
          <a:p>
            <a:pPr lvl="2" eaLnBrk="1" hangingPunct="1">
              <a:defRPr/>
            </a:pPr>
            <a:r>
              <a:rPr lang="en-US" sz="2000" dirty="0" smtClean="0"/>
              <a:t> </a:t>
            </a:r>
            <a:r>
              <a:rPr lang="en-US" sz="2200" dirty="0" smtClean="0"/>
              <a:t>discretize once at the beginning</a:t>
            </a:r>
          </a:p>
          <a:p>
            <a:pPr lvl="2" eaLnBrk="1" hangingPunct="1">
              <a:defRPr/>
            </a:pPr>
            <a:r>
              <a:rPr lang="en-US" sz="2200" dirty="0" smtClean="0"/>
              <a:t> ranges can be found by equal interval bucketing, equal frequency bucketing (percentiles), or clustering.</a:t>
            </a:r>
          </a:p>
          <a:p>
            <a:pPr lvl="4" eaLnBrk="1" hangingPunct="1">
              <a:defRPr/>
            </a:pPr>
            <a:endParaRPr lang="en-US" sz="1600" dirty="0" smtClean="0">
              <a:solidFill>
                <a:srgbClr val="CC3300"/>
              </a:solidFill>
            </a:endParaRPr>
          </a:p>
          <a:p>
            <a:pPr lvl="1" eaLnBrk="1" hangingPunct="1">
              <a:defRPr/>
            </a:pPr>
            <a:r>
              <a:rPr lang="en-US" sz="2400" dirty="0" smtClean="0">
                <a:solidFill>
                  <a:srgbClr val="CC3300"/>
                </a:solidFill>
              </a:rPr>
              <a:t>Binary Decision</a:t>
            </a:r>
            <a:r>
              <a:rPr lang="en-US" sz="2400" dirty="0" smtClean="0"/>
              <a:t>: (A &lt; v) or (A </a:t>
            </a:r>
            <a:r>
              <a:rPr lang="en-US" sz="2400" dirty="0" smtClean="0">
                <a:sym typeface="Symbol" pitchFamily="18" charset="2"/>
              </a:rPr>
              <a:t> v)</a:t>
            </a:r>
            <a:endParaRPr lang="en-US" sz="2400" dirty="0" smtClean="0"/>
          </a:p>
          <a:p>
            <a:pPr lvl="2" eaLnBrk="1" hangingPunct="1">
              <a:defRPr/>
            </a:pPr>
            <a:r>
              <a:rPr lang="en-US" sz="2200" dirty="0" smtClean="0"/>
              <a:t> consider all possible splits and finds the best cut</a:t>
            </a:r>
          </a:p>
          <a:p>
            <a:pPr lvl="2" eaLnBrk="1" hangingPunct="1">
              <a:defRPr/>
            </a:pPr>
            <a:r>
              <a:rPr lang="en-US" sz="2200" dirty="0" smtClean="0"/>
              <a:t> can be more compute intensive</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a:xfrm>
            <a:off x="0" y="152400"/>
            <a:ext cx="9144000" cy="1143000"/>
          </a:xfrm>
        </p:spPr>
        <p:txBody>
          <a:bodyPr/>
          <a:lstStyle/>
          <a:p>
            <a:pPr eaLnBrk="1" hangingPunct="1">
              <a:defRPr/>
            </a:pPr>
            <a:r>
              <a:rPr lang="en-US" smtClean="0"/>
              <a:t>Splitting Based on Continuous Atts.</a:t>
            </a:r>
          </a:p>
        </p:txBody>
      </p:sp>
      <p:graphicFrame>
        <p:nvGraphicFramePr>
          <p:cNvPr id="32771" name="Object 3"/>
          <p:cNvGraphicFramePr>
            <a:graphicFrameLocks noGrp="1" noChangeAspect="1"/>
          </p:cNvGraphicFramePr>
          <p:nvPr>
            <p:ph idx="1"/>
          </p:nvPr>
        </p:nvGraphicFramePr>
        <p:xfrm>
          <a:off x="1217613" y="2127250"/>
          <a:ext cx="6654800" cy="2871788"/>
        </p:xfrm>
        <a:graphic>
          <a:graphicData uri="http://schemas.openxmlformats.org/presentationml/2006/ole">
            <mc:AlternateContent xmlns:mc="http://schemas.openxmlformats.org/markup-compatibility/2006">
              <mc:Choice xmlns:v="urn:schemas-microsoft-com:vml" Requires="v">
                <p:oleObj spid="_x0000_s32786" name="Visio" r:id="rId3" imgW="8538667" imgH="3684287" progId="Visio.Drawing.6">
                  <p:embed/>
                </p:oleObj>
              </mc:Choice>
              <mc:Fallback>
                <p:oleObj name="Visio" r:id="rId3" imgW="8538667" imgH="3684287" progId="Visio.Drawing.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7613" y="2127250"/>
                        <a:ext cx="6654800" cy="287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p:txBody>
          <a:bodyPr/>
          <a:lstStyle/>
          <a:p>
            <a:pPr eaLnBrk="1" hangingPunct="1">
              <a:defRPr/>
            </a:pPr>
            <a:r>
              <a:rPr lang="en-US" smtClean="0"/>
              <a:t>Tree Induction</a:t>
            </a:r>
          </a:p>
        </p:txBody>
      </p:sp>
      <p:sp>
        <p:nvSpPr>
          <p:cNvPr id="205827" name="Rectangle 3"/>
          <p:cNvSpPr>
            <a:spLocks noGrp="1" noChangeArrowheads="1"/>
          </p:cNvSpPr>
          <p:nvPr>
            <p:ph idx="1"/>
          </p:nvPr>
        </p:nvSpPr>
        <p:spPr/>
        <p:txBody>
          <a:bodyPr>
            <a:normAutofit/>
          </a:bodyPr>
          <a:lstStyle/>
          <a:p>
            <a:pPr eaLnBrk="1" hangingPunct="1">
              <a:defRPr/>
            </a:pPr>
            <a:r>
              <a:rPr lang="en-US" sz="2800" dirty="0" smtClean="0"/>
              <a:t>Greedy strategy.</a:t>
            </a:r>
          </a:p>
          <a:p>
            <a:pPr lvl="1" eaLnBrk="1" hangingPunct="1">
              <a:defRPr/>
            </a:pPr>
            <a:r>
              <a:rPr lang="en-US" sz="2400" dirty="0" smtClean="0"/>
              <a:t>Split the records based on an attribute test that optimizes certain criterion.</a:t>
            </a:r>
          </a:p>
          <a:p>
            <a:pPr eaLnBrk="1" hangingPunct="1">
              <a:defRPr/>
            </a:pPr>
            <a:endParaRPr lang="en-US" sz="2800" dirty="0" smtClean="0"/>
          </a:p>
          <a:p>
            <a:pPr eaLnBrk="1" hangingPunct="1">
              <a:defRPr/>
            </a:pPr>
            <a:r>
              <a:rPr lang="en-US" sz="2800" dirty="0" smtClean="0"/>
              <a:t>Issues</a:t>
            </a:r>
          </a:p>
          <a:p>
            <a:pPr lvl="1" eaLnBrk="1" hangingPunct="1">
              <a:defRPr/>
            </a:pPr>
            <a:r>
              <a:rPr lang="en-US" sz="2400" dirty="0" smtClean="0"/>
              <a:t>Determine how to split the records</a:t>
            </a:r>
          </a:p>
          <a:p>
            <a:pPr lvl="2" eaLnBrk="1" hangingPunct="1">
              <a:defRPr/>
            </a:pPr>
            <a:r>
              <a:rPr lang="en-US" sz="2200" dirty="0" smtClean="0"/>
              <a:t>How to specify the attribute test condition?</a:t>
            </a:r>
          </a:p>
          <a:p>
            <a:pPr lvl="2" eaLnBrk="1" hangingPunct="1">
              <a:defRPr/>
            </a:pPr>
            <a:r>
              <a:rPr lang="en-US" sz="2200" dirty="0" smtClean="0">
                <a:solidFill>
                  <a:srgbClr val="FF0000"/>
                </a:solidFill>
              </a:rPr>
              <a:t>How to determine the best split?</a:t>
            </a:r>
          </a:p>
          <a:p>
            <a:pPr lvl="1" eaLnBrk="1" hangingPunct="1">
              <a:defRPr/>
            </a:pPr>
            <a:r>
              <a:rPr lang="en-US" sz="2400" dirty="0" smtClean="0"/>
              <a:t>Determine when to stop splitting</a:t>
            </a:r>
          </a:p>
          <a:p>
            <a:pPr lvl="1" eaLnBrk="1" hangingPunct="1">
              <a:defRPr/>
            </a:pPr>
            <a:endParaRPr lang="en-US" sz="2400"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pPr eaLnBrk="1" hangingPunct="1">
              <a:defRPr/>
            </a:pPr>
            <a:r>
              <a:rPr lang="en-US" smtClean="0"/>
              <a:t>How to determine the Best Split</a:t>
            </a:r>
          </a:p>
        </p:txBody>
      </p:sp>
      <p:graphicFrame>
        <p:nvGraphicFramePr>
          <p:cNvPr id="34819" name="Object 3"/>
          <p:cNvGraphicFramePr>
            <a:graphicFrameLocks noGrp="1" noChangeAspect="1"/>
          </p:cNvGraphicFramePr>
          <p:nvPr>
            <p:ph idx="1"/>
          </p:nvPr>
        </p:nvGraphicFramePr>
        <p:xfrm>
          <a:off x="381000" y="2260600"/>
          <a:ext cx="8545513" cy="2006600"/>
        </p:xfrm>
        <a:graphic>
          <a:graphicData uri="http://schemas.openxmlformats.org/presentationml/2006/ole">
            <mc:AlternateContent xmlns:mc="http://schemas.openxmlformats.org/markup-compatibility/2006">
              <mc:Choice xmlns:v="urn:schemas-microsoft-com:vml" Requires="v">
                <p:oleObj spid="_x0000_s34836" name="Visio" r:id="rId3" imgW="9538614" imgH="2239584" progId="Visio.Drawing.6">
                  <p:embed/>
                </p:oleObj>
              </mc:Choice>
              <mc:Fallback>
                <p:oleObj name="Visio" r:id="rId3" imgW="9538614" imgH="2239584" progId="Visio.Drawing.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260600"/>
                        <a:ext cx="8545513" cy="200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0" name="Text Box 4"/>
          <p:cNvSpPr txBox="1">
            <a:spLocks noChangeArrowheads="1"/>
          </p:cNvSpPr>
          <p:nvPr/>
        </p:nvSpPr>
        <p:spPr bwMode="auto">
          <a:xfrm>
            <a:off x="2286000" y="1219200"/>
            <a:ext cx="5105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b="1">
                <a:latin typeface="Arial" panose="020B0604020202020204" pitchFamily="34" charset="0"/>
              </a:rPr>
              <a:t>Before Splitting: 10 records of class 0,</a:t>
            </a:r>
            <a:br>
              <a:rPr lang="en-US" altLang="en-US" sz="1800" b="1">
                <a:latin typeface="Arial" panose="020B0604020202020204" pitchFamily="34" charset="0"/>
              </a:rPr>
            </a:br>
            <a:r>
              <a:rPr lang="en-US" altLang="en-US" sz="1800" b="1">
                <a:latin typeface="Arial" panose="020B0604020202020204" pitchFamily="34" charset="0"/>
              </a:rPr>
              <a:t>		10 records of class 1</a:t>
            </a:r>
          </a:p>
        </p:txBody>
      </p:sp>
      <p:sp>
        <p:nvSpPr>
          <p:cNvPr id="34821" name="Text Box 5"/>
          <p:cNvSpPr txBox="1">
            <a:spLocks noChangeArrowheads="1"/>
          </p:cNvSpPr>
          <p:nvPr/>
        </p:nvSpPr>
        <p:spPr bwMode="auto">
          <a:xfrm>
            <a:off x="1981200" y="5119688"/>
            <a:ext cx="5105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b="1">
                <a:latin typeface="Arial" panose="020B0604020202020204" pitchFamily="34" charset="0"/>
              </a:rPr>
              <a:t>Which test condition is the best?</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p:txBody>
          <a:bodyPr/>
          <a:lstStyle/>
          <a:p>
            <a:pPr eaLnBrk="1" hangingPunct="1">
              <a:defRPr/>
            </a:pPr>
            <a:r>
              <a:rPr lang="en-US" smtClean="0"/>
              <a:t>How to determine the Best Split</a:t>
            </a:r>
          </a:p>
        </p:txBody>
      </p:sp>
      <p:graphicFrame>
        <p:nvGraphicFramePr>
          <p:cNvPr id="35844" name="Object 4"/>
          <p:cNvGraphicFramePr>
            <a:graphicFrameLocks noGrp="1" noChangeAspect="1"/>
          </p:cNvGraphicFramePr>
          <p:nvPr>
            <p:ph idx="1"/>
          </p:nvPr>
        </p:nvGraphicFramePr>
        <p:xfrm>
          <a:off x="2289175" y="3865563"/>
          <a:ext cx="798513" cy="712787"/>
        </p:xfrm>
        <a:graphic>
          <a:graphicData uri="http://schemas.openxmlformats.org/presentationml/2006/ole">
            <mc:AlternateContent xmlns:mc="http://schemas.openxmlformats.org/markup-compatibility/2006">
              <mc:Choice xmlns:v="urn:schemas-microsoft-com:vml" Requires="v">
                <p:oleObj spid="_x0000_s35878" name="Visio" r:id="rId3" imgW="655371" imgH="585812" progId="Visio.Drawing.6">
                  <p:embed/>
                </p:oleObj>
              </mc:Choice>
              <mc:Fallback>
                <p:oleObj name="Visio" r:id="rId3" imgW="655371" imgH="585812"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9175" y="3865563"/>
                        <a:ext cx="798513" cy="712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7875" name="Rectangle 3"/>
          <p:cNvSpPr>
            <a:spLocks noGrp="1" noChangeArrowheads="1"/>
          </p:cNvSpPr>
          <p:nvPr>
            <p:ph type="body" idx="4294967295"/>
          </p:nvPr>
        </p:nvSpPr>
        <p:spPr>
          <a:xfrm>
            <a:off x="0" y="1600200"/>
            <a:ext cx="8229600" cy="4530725"/>
          </a:xfrm>
        </p:spPr>
        <p:txBody>
          <a:bodyPr/>
          <a:lstStyle/>
          <a:p>
            <a:pPr eaLnBrk="1" hangingPunct="1">
              <a:defRPr/>
            </a:pPr>
            <a:r>
              <a:rPr lang="en-US" dirty="0" smtClean="0"/>
              <a:t>Greedy approach: </a:t>
            </a:r>
          </a:p>
          <a:p>
            <a:pPr lvl="1" eaLnBrk="1" hangingPunct="1">
              <a:defRPr/>
            </a:pPr>
            <a:r>
              <a:rPr lang="en-US" sz="2200" dirty="0" smtClean="0"/>
              <a:t>Nodes with </a:t>
            </a:r>
            <a:r>
              <a:rPr lang="en-US" sz="2200" dirty="0" smtClean="0">
                <a:solidFill>
                  <a:srgbClr val="FF0000"/>
                </a:solidFill>
              </a:rPr>
              <a:t>homogeneous</a:t>
            </a:r>
            <a:r>
              <a:rPr lang="en-US" sz="2200" dirty="0" smtClean="0"/>
              <a:t> class distribution are preferred</a:t>
            </a:r>
          </a:p>
          <a:p>
            <a:pPr eaLnBrk="1" hangingPunct="1">
              <a:defRPr/>
            </a:pPr>
            <a:r>
              <a:rPr lang="en-US" dirty="0" smtClean="0"/>
              <a:t>Need a measure of node impurity:</a:t>
            </a:r>
          </a:p>
          <a:p>
            <a:pPr lvl="1" eaLnBrk="1" hangingPunct="1">
              <a:buFont typeface="Wingdings" panose="05000000000000000000" pitchFamily="2" charset="2"/>
              <a:buNone/>
              <a:defRPr/>
            </a:pPr>
            <a:endParaRPr lang="en-US" dirty="0" smtClean="0"/>
          </a:p>
        </p:txBody>
      </p:sp>
      <p:graphicFrame>
        <p:nvGraphicFramePr>
          <p:cNvPr id="35845" name="Object 5"/>
          <p:cNvGraphicFramePr>
            <a:graphicFrameLocks noGrp="1" noChangeAspect="1"/>
          </p:cNvGraphicFramePr>
          <p:nvPr>
            <p:ph sz="half" idx="4294967295"/>
            <p:extLst>
              <p:ext uri="{D42A27DB-BD31-4B8C-83A1-F6EECF244321}">
                <p14:modId xmlns:p14="http://schemas.microsoft.com/office/powerpoint/2010/main" val="373469163"/>
              </p:ext>
            </p:extLst>
          </p:nvPr>
        </p:nvGraphicFramePr>
        <p:xfrm>
          <a:off x="5486400" y="3868253"/>
          <a:ext cx="903287" cy="712787"/>
        </p:xfrm>
        <a:graphic>
          <a:graphicData uri="http://schemas.openxmlformats.org/presentationml/2006/ole">
            <mc:AlternateContent xmlns:mc="http://schemas.openxmlformats.org/markup-compatibility/2006">
              <mc:Choice xmlns:v="urn:schemas-microsoft-com:vml" Requires="v">
                <p:oleObj spid="_x0000_s35879" name="Visio" r:id="rId5" imgW="655371" imgH="585812" progId="Visio.Drawing.6">
                  <p:embed/>
                </p:oleObj>
              </mc:Choice>
              <mc:Fallback>
                <p:oleObj name="Visio" r:id="rId5" imgW="655371" imgH="585812" progId="Visio.Drawing.6">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3868253"/>
                        <a:ext cx="903287" cy="712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846" name="Text Box 6"/>
          <p:cNvSpPr txBox="1">
            <a:spLocks noChangeArrowheads="1"/>
          </p:cNvSpPr>
          <p:nvPr/>
        </p:nvSpPr>
        <p:spPr bwMode="auto">
          <a:xfrm>
            <a:off x="1371600" y="4724400"/>
            <a:ext cx="28194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b="1">
                <a:latin typeface="Arial" panose="020B0604020202020204" pitchFamily="34" charset="0"/>
              </a:rPr>
              <a:t>Non-homogeneous,</a:t>
            </a:r>
          </a:p>
          <a:p>
            <a:pPr>
              <a:spcBef>
                <a:spcPct val="50000"/>
              </a:spcBef>
              <a:buClrTx/>
              <a:buSzTx/>
              <a:buFontTx/>
              <a:buNone/>
            </a:pPr>
            <a:r>
              <a:rPr lang="en-US" altLang="en-US" sz="1800" b="1">
                <a:latin typeface="Arial" panose="020B0604020202020204" pitchFamily="34" charset="0"/>
              </a:rPr>
              <a:t>High degree of impurity</a:t>
            </a:r>
          </a:p>
        </p:txBody>
      </p:sp>
      <p:sp>
        <p:nvSpPr>
          <p:cNvPr id="35847" name="Text Box 7"/>
          <p:cNvSpPr txBox="1">
            <a:spLocks noChangeArrowheads="1"/>
          </p:cNvSpPr>
          <p:nvPr/>
        </p:nvSpPr>
        <p:spPr bwMode="auto">
          <a:xfrm>
            <a:off x="5181600" y="4724400"/>
            <a:ext cx="28194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b="1">
                <a:latin typeface="Arial" panose="020B0604020202020204" pitchFamily="34" charset="0"/>
              </a:rPr>
              <a:t>Homogeneous,</a:t>
            </a:r>
          </a:p>
          <a:p>
            <a:pPr>
              <a:spcBef>
                <a:spcPct val="50000"/>
              </a:spcBef>
              <a:buClrTx/>
              <a:buSzTx/>
              <a:buFontTx/>
              <a:buNone/>
            </a:pPr>
            <a:r>
              <a:rPr lang="en-US" altLang="en-US" sz="1800" b="1">
                <a:latin typeface="Arial" panose="020B0604020202020204" pitchFamily="34" charset="0"/>
              </a:rPr>
              <a:t>Low degree of impurity</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p:txBody>
          <a:bodyPr/>
          <a:lstStyle/>
          <a:p>
            <a:pPr eaLnBrk="1" hangingPunct="1">
              <a:defRPr/>
            </a:pPr>
            <a:r>
              <a:rPr lang="en-US" smtClean="0"/>
              <a:t>Measures of Node Impurity</a:t>
            </a:r>
          </a:p>
        </p:txBody>
      </p:sp>
      <p:sp>
        <p:nvSpPr>
          <p:cNvPr id="208899" name="Rectangle 3"/>
          <p:cNvSpPr>
            <a:spLocks noGrp="1" noChangeArrowheads="1"/>
          </p:cNvSpPr>
          <p:nvPr>
            <p:ph idx="1"/>
          </p:nvPr>
        </p:nvSpPr>
        <p:spPr/>
        <p:txBody>
          <a:bodyPr>
            <a:normAutofit/>
          </a:bodyPr>
          <a:lstStyle/>
          <a:p>
            <a:pPr eaLnBrk="1" hangingPunct="1">
              <a:defRPr/>
            </a:pPr>
            <a:r>
              <a:rPr lang="en-US" sz="2800" dirty="0" smtClean="0"/>
              <a:t>Gini Index</a:t>
            </a:r>
          </a:p>
          <a:p>
            <a:pPr eaLnBrk="1" hangingPunct="1">
              <a:defRPr/>
            </a:pPr>
            <a:endParaRPr lang="en-US" sz="2800" dirty="0" smtClean="0"/>
          </a:p>
          <a:p>
            <a:pPr eaLnBrk="1" hangingPunct="1">
              <a:defRPr/>
            </a:pPr>
            <a:r>
              <a:rPr lang="en-US" sz="2800" dirty="0" smtClean="0"/>
              <a:t>Entropy</a:t>
            </a:r>
          </a:p>
          <a:p>
            <a:pPr eaLnBrk="1" hangingPunct="1">
              <a:defRPr/>
            </a:pPr>
            <a:endParaRPr lang="en-US" sz="2800" dirty="0" smtClean="0"/>
          </a:p>
          <a:p>
            <a:pPr eaLnBrk="1" hangingPunct="1">
              <a:defRPr/>
            </a:pPr>
            <a:r>
              <a:rPr lang="en-US" sz="2800" dirty="0" smtClean="0"/>
              <a:t>Misclassification error</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a:xfrm>
            <a:off x="457200" y="0"/>
            <a:ext cx="8229600" cy="1139825"/>
          </a:xfrm>
        </p:spPr>
        <p:txBody>
          <a:bodyPr/>
          <a:lstStyle/>
          <a:p>
            <a:pPr eaLnBrk="1" hangingPunct="1">
              <a:defRPr/>
            </a:pPr>
            <a:r>
              <a:rPr lang="en-US" smtClean="0"/>
              <a:t>How to Find the Best Split</a:t>
            </a:r>
          </a:p>
        </p:txBody>
      </p:sp>
      <p:graphicFrame>
        <p:nvGraphicFramePr>
          <p:cNvPr id="37906" name="Object 18"/>
          <p:cNvGraphicFramePr>
            <a:graphicFrameLocks noGrp="1" noChangeAspect="1"/>
          </p:cNvGraphicFramePr>
          <p:nvPr>
            <p:ph idx="1"/>
          </p:nvPr>
        </p:nvGraphicFramePr>
        <p:xfrm>
          <a:off x="112713" y="3759200"/>
          <a:ext cx="1660525" cy="698500"/>
        </p:xfrm>
        <a:graphic>
          <a:graphicData uri="http://schemas.openxmlformats.org/presentationml/2006/ole">
            <mc:AlternateContent xmlns:mc="http://schemas.openxmlformats.org/markup-compatibility/2006">
              <mc:Choice xmlns:v="urn:schemas-microsoft-com:vml" Requires="v">
                <p:oleObj spid="_x0000_s37999" name="Document" r:id="rId3" imgW="3317490" imgH="1395377" progId="Word.Document.8">
                  <p:embed/>
                </p:oleObj>
              </mc:Choice>
              <mc:Fallback>
                <p:oleObj name="Document" r:id="rId3" imgW="3317490" imgH="1395377" progId="Word.Document.8">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713" y="3759200"/>
                        <a:ext cx="1660525"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1" name="Oval 3"/>
          <p:cNvSpPr>
            <a:spLocks noChangeArrowheads="1"/>
          </p:cNvSpPr>
          <p:nvPr/>
        </p:nvSpPr>
        <p:spPr bwMode="auto">
          <a:xfrm>
            <a:off x="6505575" y="2006600"/>
            <a:ext cx="1009650" cy="454025"/>
          </a:xfrm>
          <a:prstGeom prst="ellipse">
            <a:avLst/>
          </a:prstGeom>
          <a:solidFill>
            <a:srgbClr val="FFFFFF"/>
          </a:solidFill>
          <a:ln w="9525">
            <a:solidFill>
              <a:schemeClr val="tx1"/>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2000">
                <a:latin typeface="Times New Roman" panose="02020603050405020304" pitchFamily="18" charset="0"/>
              </a:rPr>
              <a:t>B?</a:t>
            </a:r>
            <a:endParaRPr lang="en-US" altLang="en-US" sz="2400">
              <a:latin typeface="Times New Roman" panose="02020603050405020304" pitchFamily="18" charset="0"/>
            </a:endParaRPr>
          </a:p>
        </p:txBody>
      </p:sp>
      <p:sp>
        <p:nvSpPr>
          <p:cNvPr id="37892" name="Line 4"/>
          <p:cNvSpPr>
            <a:spLocks noChangeShapeType="1"/>
          </p:cNvSpPr>
          <p:nvPr/>
        </p:nvSpPr>
        <p:spPr bwMode="auto">
          <a:xfrm flipH="1">
            <a:off x="5930900" y="2463800"/>
            <a:ext cx="1108075" cy="725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93" name="Line 5"/>
          <p:cNvSpPr>
            <a:spLocks noChangeShapeType="1"/>
          </p:cNvSpPr>
          <p:nvPr/>
        </p:nvSpPr>
        <p:spPr bwMode="auto">
          <a:xfrm>
            <a:off x="7038975" y="2463800"/>
            <a:ext cx="1184275" cy="725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94" name="Text Box 6"/>
          <p:cNvSpPr txBox="1">
            <a:spLocks noChangeArrowheads="1"/>
          </p:cNvSpPr>
          <p:nvPr/>
        </p:nvSpPr>
        <p:spPr bwMode="auto">
          <a:xfrm>
            <a:off x="5657850" y="2579688"/>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a:latin typeface="Times New Roman" panose="02020603050405020304" pitchFamily="18" charset="0"/>
              </a:rPr>
              <a:t>Yes</a:t>
            </a:r>
          </a:p>
        </p:txBody>
      </p:sp>
      <p:sp>
        <p:nvSpPr>
          <p:cNvPr id="37895" name="Text Box 7"/>
          <p:cNvSpPr txBox="1">
            <a:spLocks noChangeArrowheads="1"/>
          </p:cNvSpPr>
          <p:nvPr/>
        </p:nvSpPr>
        <p:spPr bwMode="auto">
          <a:xfrm>
            <a:off x="8147050" y="2579688"/>
            <a:ext cx="463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a:latin typeface="Times New Roman" panose="02020603050405020304" pitchFamily="18" charset="0"/>
              </a:rPr>
              <a:t>No</a:t>
            </a:r>
          </a:p>
        </p:txBody>
      </p:sp>
      <p:sp>
        <p:nvSpPr>
          <p:cNvPr id="37896" name="Rectangle 8"/>
          <p:cNvSpPr>
            <a:spLocks noChangeArrowheads="1"/>
          </p:cNvSpPr>
          <p:nvPr/>
        </p:nvSpPr>
        <p:spPr bwMode="auto">
          <a:xfrm>
            <a:off x="5514975" y="3189288"/>
            <a:ext cx="936625" cy="34131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a:latin typeface="Times New Roman" panose="02020603050405020304" pitchFamily="18" charset="0"/>
              </a:rPr>
              <a:t>Node N3</a:t>
            </a:r>
          </a:p>
        </p:txBody>
      </p:sp>
      <p:sp>
        <p:nvSpPr>
          <p:cNvPr id="37897" name="Rectangle 9"/>
          <p:cNvSpPr>
            <a:spLocks noChangeArrowheads="1"/>
          </p:cNvSpPr>
          <p:nvPr/>
        </p:nvSpPr>
        <p:spPr bwMode="auto">
          <a:xfrm>
            <a:off x="7702550" y="3189288"/>
            <a:ext cx="936625" cy="34131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a:latin typeface="Times New Roman" panose="02020603050405020304" pitchFamily="18" charset="0"/>
              </a:rPr>
              <a:t>Node N4</a:t>
            </a:r>
          </a:p>
        </p:txBody>
      </p:sp>
      <p:sp>
        <p:nvSpPr>
          <p:cNvPr id="37898" name="Oval 10"/>
          <p:cNvSpPr>
            <a:spLocks noChangeArrowheads="1"/>
          </p:cNvSpPr>
          <p:nvPr/>
        </p:nvSpPr>
        <p:spPr bwMode="auto">
          <a:xfrm>
            <a:off x="1476375" y="1930400"/>
            <a:ext cx="1009650" cy="454025"/>
          </a:xfrm>
          <a:prstGeom prst="ellipse">
            <a:avLst/>
          </a:prstGeom>
          <a:solidFill>
            <a:srgbClr val="FFFFFF"/>
          </a:solidFill>
          <a:ln w="9525">
            <a:solidFill>
              <a:schemeClr val="tx1"/>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2000">
                <a:latin typeface="Times New Roman" panose="02020603050405020304" pitchFamily="18" charset="0"/>
              </a:rPr>
              <a:t>A?</a:t>
            </a:r>
            <a:endParaRPr lang="en-US" altLang="en-US" sz="2400">
              <a:latin typeface="Times New Roman" panose="02020603050405020304" pitchFamily="18" charset="0"/>
            </a:endParaRPr>
          </a:p>
        </p:txBody>
      </p:sp>
      <p:sp>
        <p:nvSpPr>
          <p:cNvPr id="37899" name="Line 11"/>
          <p:cNvSpPr>
            <a:spLocks noChangeShapeType="1"/>
          </p:cNvSpPr>
          <p:nvPr/>
        </p:nvSpPr>
        <p:spPr bwMode="auto">
          <a:xfrm flipH="1">
            <a:off x="901700" y="2387600"/>
            <a:ext cx="1108075" cy="725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0" name="Line 12"/>
          <p:cNvSpPr>
            <a:spLocks noChangeShapeType="1"/>
          </p:cNvSpPr>
          <p:nvPr/>
        </p:nvSpPr>
        <p:spPr bwMode="auto">
          <a:xfrm>
            <a:off x="2009775" y="2387600"/>
            <a:ext cx="1184275" cy="725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1" name="Text Box 13"/>
          <p:cNvSpPr txBox="1">
            <a:spLocks noChangeArrowheads="1"/>
          </p:cNvSpPr>
          <p:nvPr/>
        </p:nvSpPr>
        <p:spPr bwMode="auto">
          <a:xfrm>
            <a:off x="628650" y="2503488"/>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a:latin typeface="Times New Roman" panose="02020603050405020304" pitchFamily="18" charset="0"/>
              </a:rPr>
              <a:t>Yes</a:t>
            </a:r>
          </a:p>
        </p:txBody>
      </p:sp>
      <p:sp>
        <p:nvSpPr>
          <p:cNvPr id="37902" name="Text Box 14"/>
          <p:cNvSpPr txBox="1">
            <a:spLocks noChangeArrowheads="1"/>
          </p:cNvSpPr>
          <p:nvPr/>
        </p:nvSpPr>
        <p:spPr bwMode="auto">
          <a:xfrm>
            <a:off x="3117850" y="2503488"/>
            <a:ext cx="463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a:latin typeface="Times New Roman" panose="02020603050405020304" pitchFamily="18" charset="0"/>
              </a:rPr>
              <a:t>No</a:t>
            </a:r>
          </a:p>
        </p:txBody>
      </p:sp>
      <p:sp>
        <p:nvSpPr>
          <p:cNvPr id="37903" name="Rectangle 15"/>
          <p:cNvSpPr>
            <a:spLocks noChangeArrowheads="1"/>
          </p:cNvSpPr>
          <p:nvPr/>
        </p:nvSpPr>
        <p:spPr bwMode="auto">
          <a:xfrm>
            <a:off x="485775" y="3113088"/>
            <a:ext cx="936625" cy="34131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a:latin typeface="Times New Roman" panose="02020603050405020304" pitchFamily="18" charset="0"/>
              </a:rPr>
              <a:t>Node N1</a:t>
            </a:r>
          </a:p>
        </p:txBody>
      </p:sp>
      <p:sp>
        <p:nvSpPr>
          <p:cNvPr id="37904" name="Rectangle 16"/>
          <p:cNvSpPr>
            <a:spLocks noChangeArrowheads="1"/>
          </p:cNvSpPr>
          <p:nvPr/>
        </p:nvSpPr>
        <p:spPr bwMode="auto">
          <a:xfrm>
            <a:off x="2673350" y="3113088"/>
            <a:ext cx="936625" cy="34131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a:latin typeface="Times New Roman" panose="02020603050405020304" pitchFamily="18" charset="0"/>
              </a:rPr>
              <a:t>Node N2</a:t>
            </a:r>
          </a:p>
        </p:txBody>
      </p:sp>
      <p:sp>
        <p:nvSpPr>
          <p:cNvPr id="37905" name="Text Box 17"/>
          <p:cNvSpPr txBox="1">
            <a:spLocks noChangeArrowheads="1"/>
          </p:cNvSpPr>
          <p:nvPr/>
        </p:nvSpPr>
        <p:spPr bwMode="auto">
          <a:xfrm>
            <a:off x="1905000" y="1295400"/>
            <a:ext cx="1981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b="1">
                <a:latin typeface="Arial" panose="020B0604020202020204" pitchFamily="34" charset="0"/>
              </a:rPr>
              <a:t>Before Splitting:</a:t>
            </a:r>
          </a:p>
        </p:txBody>
      </p:sp>
      <p:graphicFrame>
        <p:nvGraphicFramePr>
          <p:cNvPr id="37907" name="Object 19"/>
          <p:cNvGraphicFramePr>
            <a:graphicFrameLocks noChangeAspect="1"/>
          </p:cNvGraphicFramePr>
          <p:nvPr/>
        </p:nvGraphicFramePr>
        <p:xfrm>
          <a:off x="2395538" y="3763963"/>
          <a:ext cx="1636712" cy="681037"/>
        </p:xfrm>
        <a:graphic>
          <a:graphicData uri="http://schemas.openxmlformats.org/presentationml/2006/ole">
            <mc:AlternateContent xmlns:mc="http://schemas.openxmlformats.org/markup-compatibility/2006">
              <mc:Choice xmlns:v="urn:schemas-microsoft-com:vml" Requires="v">
                <p:oleObj spid="_x0000_s38000" name="Document" r:id="rId5" imgW="3325066" imgH="1394657" progId="Word.Document.8">
                  <p:embed/>
                </p:oleObj>
              </mc:Choice>
              <mc:Fallback>
                <p:oleObj name="Document" r:id="rId5" imgW="3325066" imgH="1394657" progId="Word.Document.8">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95538" y="3763963"/>
                        <a:ext cx="1636712" cy="681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08" name="Object 20"/>
          <p:cNvGraphicFramePr>
            <a:graphicFrameLocks noChangeAspect="1"/>
          </p:cNvGraphicFramePr>
          <p:nvPr/>
        </p:nvGraphicFramePr>
        <p:xfrm>
          <a:off x="5133975" y="3759200"/>
          <a:ext cx="1676400" cy="698500"/>
        </p:xfrm>
        <a:graphic>
          <a:graphicData uri="http://schemas.openxmlformats.org/presentationml/2006/ole">
            <mc:AlternateContent xmlns:mc="http://schemas.openxmlformats.org/markup-compatibility/2006">
              <mc:Choice xmlns:v="urn:schemas-microsoft-com:vml" Requires="v">
                <p:oleObj spid="_x0000_s38001" name="Document" r:id="rId7" imgW="3325066" imgH="1394657" progId="Word.Document.8">
                  <p:embed/>
                </p:oleObj>
              </mc:Choice>
              <mc:Fallback>
                <p:oleObj name="Document" r:id="rId7" imgW="3325066" imgH="1394657" progId="Word.Document.8">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33975" y="3759200"/>
                        <a:ext cx="1676400"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09" name="Object 21"/>
          <p:cNvGraphicFramePr>
            <a:graphicFrameLocks noChangeAspect="1"/>
          </p:cNvGraphicFramePr>
          <p:nvPr/>
        </p:nvGraphicFramePr>
        <p:xfrm>
          <a:off x="7419975" y="3763963"/>
          <a:ext cx="1635125" cy="681037"/>
        </p:xfrm>
        <a:graphic>
          <a:graphicData uri="http://schemas.openxmlformats.org/presentationml/2006/ole">
            <mc:AlternateContent xmlns:mc="http://schemas.openxmlformats.org/markup-compatibility/2006">
              <mc:Choice xmlns:v="urn:schemas-microsoft-com:vml" Requires="v">
                <p:oleObj spid="_x0000_s38002" name="Document" r:id="rId9" imgW="3332642" imgH="1394657" progId="Word.Document.8">
                  <p:embed/>
                </p:oleObj>
              </mc:Choice>
              <mc:Fallback>
                <p:oleObj name="Document" r:id="rId9" imgW="3332642" imgH="1394657" progId="Word.Document.8">
                  <p:embed/>
                  <p:pic>
                    <p:nvPicPr>
                      <p:cNvPr id="0"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19975" y="3763963"/>
                        <a:ext cx="1635125" cy="681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10" name="Object 22"/>
          <p:cNvGraphicFramePr>
            <a:graphicFrameLocks noChangeAspect="1"/>
          </p:cNvGraphicFramePr>
          <p:nvPr/>
        </p:nvGraphicFramePr>
        <p:xfrm>
          <a:off x="3962400" y="1295400"/>
          <a:ext cx="1595438" cy="660400"/>
        </p:xfrm>
        <a:graphic>
          <a:graphicData uri="http://schemas.openxmlformats.org/presentationml/2006/ole">
            <mc:AlternateContent xmlns:mc="http://schemas.openxmlformats.org/markup-compatibility/2006">
              <mc:Choice xmlns:v="urn:schemas-microsoft-com:vml" Requires="v">
                <p:oleObj spid="_x0000_s38003" name="Document" r:id="rId11" imgW="3323317" imgH="1397000" progId="Word.Document.8">
                  <p:embed/>
                </p:oleObj>
              </mc:Choice>
              <mc:Fallback>
                <p:oleObj name="Document" r:id="rId11" imgW="3323317" imgH="1397000" progId="Word.Document.8">
                  <p:embed/>
                  <p:pic>
                    <p:nvPicPr>
                      <p:cNvPr id="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62400" y="1295400"/>
                        <a:ext cx="1595438"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23"/>
          <p:cNvGrpSpPr>
            <a:grpSpLocks/>
          </p:cNvGrpSpPr>
          <p:nvPr/>
        </p:nvGrpSpPr>
        <p:grpSpPr bwMode="auto">
          <a:xfrm>
            <a:off x="5715000" y="1295400"/>
            <a:ext cx="1295400" cy="396875"/>
            <a:chOff x="3600" y="768"/>
            <a:chExt cx="816" cy="250"/>
          </a:xfrm>
        </p:grpSpPr>
        <p:sp>
          <p:nvSpPr>
            <p:cNvPr id="37927" name="Line 24"/>
            <p:cNvSpPr>
              <a:spLocks noChangeShapeType="1"/>
            </p:cNvSpPr>
            <p:nvPr/>
          </p:nvSpPr>
          <p:spPr bwMode="auto">
            <a:xfrm>
              <a:off x="3600" y="912"/>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28" name="Text Box 25"/>
            <p:cNvSpPr txBox="1">
              <a:spLocks noChangeArrowheads="1"/>
            </p:cNvSpPr>
            <p:nvPr/>
          </p:nvSpPr>
          <p:spPr bwMode="auto">
            <a:xfrm>
              <a:off x="3984" y="768"/>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2000" b="1">
                  <a:latin typeface="Arial" panose="020B0604020202020204" pitchFamily="34" charset="0"/>
                </a:rPr>
                <a:t>M0</a:t>
              </a:r>
            </a:p>
          </p:txBody>
        </p:sp>
      </p:grpSp>
      <p:grpSp>
        <p:nvGrpSpPr>
          <p:cNvPr id="3" name="Group 26"/>
          <p:cNvGrpSpPr>
            <a:grpSpLocks/>
          </p:cNvGrpSpPr>
          <p:nvPr/>
        </p:nvGrpSpPr>
        <p:grpSpPr bwMode="auto">
          <a:xfrm>
            <a:off x="638175" y="4521200"/>
            <a:ext cx="8001000" cy="854075"/>
            <a:chOff x="384" y="2832"/>
            <a:chExt cx="5040" cy="538"/>
          </a:xfrm>
        </p:grpSpPr>
        <p:sp>
          <p:nvSpPr>
            <p:cNvPr id="37919" name="Text Box 27"/>
            <p:cNvSpPr txBox="1">
              <a:spLocks noChangeArrowheads="1"/>
            </p:cNvSpPr>
            <p:nvPr/>
          </p:nvSpPr>
          <p:spPr bwMode="auto">
            <a:xfrm>
              <a:off x="384" y="3120"/>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2000" b="1">
                  <a:latin typeface="Arial" panose="020B0604020202020204" pitchFamily="34" charset="0"/>
                </a:rPr>
                <a:t>M1</a:t>
              </a:r>
            </a:p>
          </p:txBody>
        </p:sp>
        <p:sp>
          <p:nvSpPr>
            <p:cNvPr id="37920" name="Text Box 28"/>
            <p:cNvSpPr txBox="1">
              <a:spLocks noChangeArrowheads="1"/>
            </p:cNvSpPr>
            <p:nvPr/>
          </p:nvSpPr>
          <p:spPr bwMode="auto">
            <a:xfrm>
              <a:off x="1824" y="3110"/>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2000" b="1">
                  <a:latin typeface="Arial" panose="020B0604020202020204" pitchFamily="34" charset="0"/>
                </a:rPr>
                <a:t>M2</a:t>
              </a:r>
            </a:p>
          </p:txBody>
        </p:sp>
        <p:sp>
          <p:nvSpPr>
            <p:cNvPr id="37921" name="Text Box 29"/>
            <p:cNvSpPr txBox="1">
              <a:spLocks noChangeArrowheads="1"/>
            </p:cNvSpPr>
            <p:nvPr/>
          </p:nvSpPr>
          <p:spPr bwMode="auto">
            <a:xfrm>
              <a:off x="3600" y="3110"/>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2000" b="1">
                  <a:latin typeface="Arial" panose="020B0604020202020204" pitchFamily="34" charset="0"/>
                </a:rPr>
                <a:t>M3</a:t>
              </a:r>
            </a:p>
          </p:txBody>
        </p:sp>
        <p:sp>
          <p:nvSpPr>
            <p:cNvPr id="37922" name="Text Box 30"/>
            <p:cNvSpPr txBox="1">
              <a:spLocks noChangeArrowheads="1"/>
            </p:cNvSpPr>
            <p:nvPr/>
          </p:nvSpPr>
          <p:spPr bwMode="auto">
            <a:xfrm>
              <a:off x="4992" y="3110"/>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2000" b="1">
                  <a:latin typeface="Arial" panose="020B0604020202020204" pitchFamily="34" charset="0"/>
                </a:rPr>
                <a:t>M4</a:t>
              </a:r>
            </a:p>
          </p:txBody>
        </p:sp>
        <p:sp>
          <p:nvSpPr>
            <p:cNvPr id="37923" name="Line 31"/>
            <p:cNvSpPr>
              <a:spLocks noChangeShapeType="1"/>
            </p:cNvSpPr>
            <p:nvPr/>
          </p:nvSpPr>
          <p:spPr bwMode="auto">
            <a:xfrm>
              <a:off x="528" y="2832"/>
              <a:ext cx="0" cy="2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24" name="Line 32"/>
            <p:cNvSpPr>
              <a:spLocks noChangeShapeType="1"/>
            </p:cNvSpPr>
            <p:nvPr/>
          </p:nvSpPr>
          <p:spPr bwMode="auto">
            <a:xfrm>
              <a:off x="2016" y="2832"/>
              <a:ext cx="0" cy="2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25" name="Line 33"/>
            <p:cNvSpPr>
              <a:spLocks noChangeShapeType="1"/>
            </p:cNvSpPr>
            <p:nvPr/>
          </p:nvSpPr>
          <p:spPr bwMode="auto">
            <a:xfrm>
              <a:off x="3744" y="2832"/>
              <a:ext cx="0" cy="2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26" name="Line 34"/>
            <p:cNvSpPr>
              <a:spLocks noChangeShapeType="1"/>
            </p:cNvSpPr>
            <p:nvPr/>
          </p:nvSpPr>
          <p:spPr bwMode="auto">
            <a:xfrm>
              <a:off x="5184" y="2832"/>
              <a:ext cx="0" cy="2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4" name="Group 35"/>
          <p:cNvGrpSpPr>
            <a:grpSpLocks/>
          </p:cNvGrpSpPr>
          <p:nvPr/>
        </p:nvGrpSpPr>
        <p:grpSpPr bwMode="auto">
          <a:xfrm>
            <a:off x="790575" y="5435600"/>
            <a:ext cx="7620000" cy="777875"/>
            <a:chOff x="480" y="3408"/>
            <a:chExt cx="4800" cy="490"/>
          </a:xfrm>
        </p:grpSpPr>
        <p:sp>
          <p:nvSpPr>
            <p:cNvPr id="37915" name="AutoShape 36"/>
            <p:cNvSpPr>
              <a:spLocks/>
            </p:cNvSpPr>
            <p:nvPr/>
          </p:nvSpPr>
          <p:spPr bwMode="auto">
            <a:xfrm rot="-5400000">
              <a:off x="1152" y="2736"/>
              <a:ext cx="192" cy="1536"/>
            </a:xfrm>
            <a:prstGeom prst="leftBrace">
              <a:avLst>
                <a:gd name="adj1" fmla="val 66667"/>
                <a:gd name="adj2" fmla="val 50963"/>
              </a:avLst>
            </a:prstGeom>
            <a:noFill/>
            <a:ln w="25400">
              <a:solidFill>
                <a:srgbClr val="1C5A6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7916" name="AutoShape 37"/>
            <p:cNvSpPr>
              <a:spLocks/>
            </p:cNvSpPr>
            <p:nvPr/>
          </p:nvSpPr>
          <p:spPr bwMode="auto">
            <a:xfrm rot="-5400000">
              <a:off x="4416" y="2736"/>
              <a:ext cx="192" cy="1536"/>
            </a:xfrm>
            <a:prstGeom prst="leftBrace">
              <a:avLst>
                <a:gd name="adj1" fmla="val 66667"/>
                <a:gd name="adj2" fmla="val 50963"/>
              </a:avLst>
            </a:prstGeom>
            <a:noFill/>
            <a:ln w="25400">
              <a:solidFill>
                <a:srgbClr val="1C5A6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7917" name="Text Box 38"/>
            <p:cNvSpPr txBox="1">
              <a:spLocks noChangeArrowheads="1"/>
            </p:cNvSpPr>
            <p:nvPr/>
          </p:nvSpPr>
          <p:spPr bwMode="auto">
            <a:xfrm>
              <a:off x="1056" y="3638"/>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2000" b="1">
                  <a:latin typeface="Arial" panose="020B0604020202020204" pitchFamily="34" charset="0"/>
                </a:rPr>
                <a:t>M12</a:t>
              </a:r>
            </a:p>
          </p:txBody>
        </p:sp>
        <p:sp>
          <p:nvSpPr>
            <p:cNvPr id="37918" name="Text Box 39"/>
            <p:cNvSpPr txBox="1">
              <a:spLocks noChangeArrowheads="1"/>
            </p:cNvSpPr>
            <p:nvPr/>
          </p:nvSpPr>
          <p:spPr bwMode="auto">
            <a:xfrm>
              <a:off x="4320" y="3648"/>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2000" b="1">
                  <a:latin typeface="Arial" panose="020B0604020202020204" pitchFamily="34" charset="0"/>
                </a:rPr>
                <a:t>M34</a:t>
              </a:r>
            </a:p>
          </p:txBody>
        </p:sp>
      </p:grpSp>
      <p:sp>
        <p:nvSpPr>
          <p:cNvPr id="209960" name="Text Box 40"/>
          <p:cNvSpPr txBox="1">
            <a:spLocks noChangeArrowheads="1"/>
          </p:cNvSpPr>
          <p:nvPr/>
        </p:nvSpPr>
        <p:spPr bwMode="auto">
          <a:xfrm>
            <a:off x="2847975" y="6105525"/>
            <a:ext cx="4038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2000" b="1">
                <a:latin typeface="Arial" panose="020B0604020202020204" pitchFamily="34" charset="0"/>
              </a:rPr>
              <a:t>Gain = M0 – M12 vs  M0 – M34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99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6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a:xfrm>
            <a:off x="457200" y="0"/>
            <a:ext cx="8229600" cy="1139825"/>
          </a:xfrm>
        </p:spPr>
        <p:txBody>
          <a:bodyPr/>
          <a:lstStyle/>
          <a:p>
            <a:pPr eaLnBrk="1" hangingPunct="1">
              <a:defRPr/>
            </a:pPr>
            <a:r>
              <a:rPr lang="en-US" smtClean="0"/>
              <a:t>Measure of Impurity: GINI</a:t>
            </a:r>
          </a:p>
        </p:txBody>
      </p:sp>
      <p:sp>
        <p:nvSpPr>
          <p:cNvPr id="210947" name="Rectangle 3"/>
          <p:cNvSpPr>
            <a:spLocks noGrp="1" noChangeArrowheads="1"/>
          </p:cNvSpPr>
          <p:nvPr>
            <p:ph idx="1"/>
          </p:nvPr>
        </p:nvSpPr>
        <p:spPr>
          <a:xfrm>
            <a:off x="457200" y="1066800"/>
            <a:ext cx="8229600" cy="3463925"/>
          </a:xfrm>
        </p:spPr>
        <p:txBody>
          <a:bodyPr>
            <a:normAutofit lnSpcReduction="10000"/>
          </a:bodyPr>
          <a:lstStyle/>
          <a:p>
            <a:pPr eaLnBrk="1" hangingPunct="1">
              <a:lnSpc>
                <a:spcPct val="90000"/>
              </a:lnSpc>
              <a:defRPr/>
            </a:pPr>
            <a:r>
              <a:rPr lang="en-US" sz="2800" smtClean="0"/>
              <a:t>Gini Index for a given node t :</a:t>
            </a:r>
          </a:p>
          <a:p>
            <a:pPr eaLnBrk="1" hangingPunct="1">
              <a:lnSpc>
                <a:spcPct val="90000"/>
              </a:lnSpc>
              <a:defRPr/>
            </a:pPr>
            <a:endParaRPr lang="en-US" sz="2400" smtClean="0"/>
          </a:p>
          <a:p>
            <a:pPr lvl="2" eaLnBrk="1" hangingPunct="1">
              <a:lnSpc>
                <a:spcPct val="90000"/>
              </a:lnSpc>
              <a:buFont typeface="Wingdings" panose="05000000000000000000" pitchFamily="2" charset="2"/>
              <a:buNone/>
              <a:defRPr/>
            </a:pPr>
            <a:endParaRPr lang="en-US" sz="2000" smtClean="0"/>
          </a:p>
          <a:p>
            <a:pPr lvl="2" eaLnBrk="1" hangingPunct="1">
              <a:lnSpc>
                <a:spcPct val="90000"/>
              </a:lnSpc>
              <a:buFont typeface="Wingdings" panose="05000000000000000000" pitchFamily="2" charset="2"/>
              <a:buNone/>
              <a:defRPr/>
            </a:pPr>
            <a:endParaRPr lang="en-US" sz="800" smtClean="0"/>
          </a:p>
          <a:p>
            <a:pPr lvl="2" eaLnBrk="1" hangingPunct="1">
              <a:lnSpc>
                <a:spcPct val="90000"/>
              </a:lnSpc>
              <a:buFont typeface="Wingdings" panose="05000000000000000000" pitchFamily="2" charset="2"/>
              <a:buNone/>
              <a:defRPr/>
            </a:pPr>
            <a:r>
              <a:rPr lang="en-US" sz="2000" smtClean="0"/>
              <a:t/>
            </a:r>
            <a:br>
              <a:rPr lang="en-US" sz="2000" smtClean="0"/>
            </a:br>
            <a:r>
              <a:rPr lang="en-US" sz="2000" smtClean="0"/>
              <a:t>(NOTE: </a:t>
            </a:r>
            <a:r>
              <a:rPr lang="en-US" sz="2000" i="1" smtClean="0">
                <a:latin typeface="Times New Roman" pitchFamily="18" charset="0"/>
              </a:rPr>
              <a:t>p( j | t) </a:t>
            </a:r>
            <a:r>
              <a:rPr lang="en-US" sz="2000" smtClean="0"/>
              <a:t>is the relative frequency of class j at node t).</a:t>
            </a:r>
          </a:p>
          <a:p>
            <a:pPr lvl="2" eaLnBrk="1" hangingPunct="1">
              <a:lnSpc>
                <a:spcPct val="90000"/>
              </a:lnSpc>
              <a:buFont typeface="Wingdings" panose="05000000000000000000" pitchFamily="2" charset="2"/>
              <a:buNone/>
              <a:defRPr/>
            </a:pPr>
            <a:endParaRPr lang="en-US" sz="800" smtClean="0"/>
          </a:p>
          <a:p>
            <a:pPr lvl="1" eaLnBrk="1" hangingPunct="1">
              <a:lnSpc>
                <a:spcPct val="90000"/>
              </a:lnSpc>
              <a:defRPr/>
            </a:pPr>
            <a:r>
              <a:rPr lang="en-US" sz="2400" smtClean="0"/>
              <a:t>Maximum (1 - 1/n</a:t>
            </a:r>
            <a:r>
              <a:rPr lang="en-US" sz="2400" baseline="-25000" smtClean="0"/>
              <a:t>c</a:t>
            </a:r>
            <a:r>
              <a:rPr lang="en-US" sz="2400" smtClean="0"/>
              <a:t>) when records are equally distributed among all classes, implying least interesting information</a:t>
            </a:r>
          </a:p>
          <a:p>
            <a:pPr lvl="1" eaLnBrk="1" hangingPunct="1">
              <a:lnSpc>
                <a:spcPct val="90000"/>
              </a:lnSpc>
              <a:defRPr/>
            </a:pPr>
            <a:r>
              <a:rPr lang="en-US" sz="2400" smtClean="0"/>
              <a:t>Minimum (0.0) when all records belong to one class, implying most interesting information</a:t>
            </a:r>
            <a:endParaRPr lang="en-US" sz="2400" baseline="-25000" smtClean="0"/>
          </a:p>
        </p:txBody>
      </p:sp>
      <p:graphicFrame>
        <p:nvGraphicFramePr>
          <p:cNvPr id="38916" name="Object 4"/>
          <p:cNvGraphicFramePr>
            <a:graphicFrameLocks noChangeAspect="1"/>
          </p:cNvGraphicFramePr>
          <p:nvPr/>
        </p:nvGraphicFramePr>
        <p:xfrm>
          <a:off x="2743200" y="1778000"/>
          <a:ext cx="3352800" cy="736600"/>
        </p:xfrm>
        <a:graphic>
          <a:graphicData uri="http://schemas.openxmlformats.org/presentationml/2006/ole">
            <mc:AlternateContent xmlns:mc="http://schemas.openxmlformats.org/markup-compatibility/2006">
              <mc:Choice xmlns:v="urn:schemas-microsoft-com:vml" Requires="v">
                <p:oleObj spid="_x0000_s38991" name="Equation" r:id="rId3" imgW="1612900" imgH="355600" progId="Equation.3">
                  <p:embed/>
                </p:oleObj>
              </mc:Choice>
              <mc:Fallback>
                <p:oleObj name="Equation" r:id="rId3" imgW="1612900" imgH="355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1778000"/>
                        <a:ext cx="3352800" cy="736600"/>
                      </a:xfrm>
                      <a:prstGeom prst="rect">
                        <a:avLst/>
                      </a:prstGeom>
                      <a:solidFill>
                        <a:srgbClr val="FFFFCC"/>
                      </a:solidFill>
                      <a:ln w="9525">
                        <a:solidFill>
                          <a:schemeClr val="tx1"/>
                        </a:solidFill>
                        <a:miter lim="800000"/>
                        <a:headEnd/>
                        <a:tailEnd/>
                      </a:ln>
                    </p:spPr>
                  </p:pic>
                </p:oleObj>
              </mc:Fallback>
            </mc:AlternateContent>
          </a:graphicData>
        </a:graphic>
      </p:graphicFrame>
      <p:graphicFrame>
        <p:nvGraphicFramePr>
          <p:cNvPr id="38917" name="Object 5"/>
          <p:cNvGraphicFramePr>
            <a:graphicFrameLocks noChangeAspect="1"/>
          </p:cNvGraphicFramePr>
          <p:nvPr/>
        </p:nvGraphicFramePr>
        <p:xfrm>
          <a:off x="1295400" y="5334000"/>
          <a:ext cx="1371600" cy="808038"/>
        </p:xfrm>
        <a:graphic>
          <a:graphicData uri="http://schemas.openxmlformats.org/presentationml/2006/ole">
            <mc:AlternateContent xmlns:mc="http://schemas.openxmlformats.org/markup-compatibility/2006">
              <mc:Choice xmlns:v="urn:schemas-microsoft-com:vml" Requires="v">
                <p:oleObj spid="_x0000_s38992" name="Document" r:id="rId5" imgW="3284220" imgH="1970532" progId="Word.Document.8">
                  <p:embed/>
                </p:oleObj>
              </mc:Choice>
              <mc:Fallback>
                <p:oleObj name="Document" r:id="rId5" imgW="3284220" imgH="1970532" progId="Word.Document.8">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5334000"/>
                        <a:ext cx="1371600" cy="808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8" name="Object 6"/>
          <p:cNvGraphicFramePr>
            <a:graphicFrameLocks noChangeAspect="1"/>
          </p:cNvGraphicFramePr>
          <p:nvPr/>
        </p:nvGraphicFramePr>
        <p:xfrm>
          <a:off x="4572000" y="5334000"/>
          <a:ext cx="1371600" cy="808038"/>
        </p:xfrm>
        <a:graphic>
          <a:graphicData uri="http://schemas.openxmlformats.org/presentationml/2006/ole">
            <mc:AlternateContent xmlns:mc="http://schemas.openxmlformats.org/markup-compatibility/2006">
              <mc:Choice xmlns:v="urn:schemas-microsoft-com:vml" Requires="v">
                <p:oleObj spid="_x0000_s38993" name="Document" r:id="rId7" imgW="3284220" imgH="1970532" progId="Word.Document.8">
                  <p:embed/>
                </p:oleObj>
              </mc:Choice>
              <mc:Fallback>
                <p:oleObj name="Document" r:id="rId7" imgW="3284220" imgH="1970532" progId="Word.Document.8">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5334000"/>
                        <a:ext cx="1371600" cy="808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9" name="Object 7"/>
          <p:cNvGraphicFramePr>
            <a:graphicFrameLocks noChangeAspect="1"/>
          </p:cNvGraphicFramePr>
          <p:nvPr/>
        </p:nvGraphicFramePr>
        <p:xfrm>
          <a:off x="6248400" y="5334000"/>
          <a:ext cx="1371600" cy="808038"/>
        </p:xfrm>
        <a:graphic>
          <a:graphicData uri="http://schemas.openxmlformats.org/presentationml/2006/ole">
            <mc:AlternateContent xmlns:mc="http://schemas.openxmlformats.org/markup-compatibility/2006">
              <mc:Choice xmlns:v="urn:schemas-microsoft-com:vml" Requires="v">
                <p:oleObj spid="_x0000_s38994" name="Document" r:id="rId9" imgW="3284220" imgH="1970532" progId="Word.Document.8">
                  <p:embed/>
                </p:oleObj>
              </mc:Choice>
              <mc:Fallback>
                <p:oleObj name="Document" r:id="rId9" imgW="3284220" imgH="1970532" progId="Word.Document.8">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48400" y="5334000"/>
                        <a:ext cx="1371600" cy="808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20" name="Object 8"/>
          <p:cNvGraphicFramePr>
            <a:graphicFrameLocks noChangeAspect="1"/>
          </p:cNvGraphicFramePr>
          <p:nvPr/>
        </p:nvGraphicFramePr>
        <p:xfrm>
          <a:off x="2971800" y="5334000"/>
          <a:ext cx="1371600" cy="808038"/>
        </p:xfrm>
        <a:graphic>
          <a:graphicData uri="http://schemas.openxmlformats.org/presentationml/2006/ole">
            <mc:AlternateContent xmlns:mc="http://schemas.openxmlformats.org/markup-compatibility/2006">
              <mc:Choice xmlns:v="urn:schemas-microsoft-com:vml" Requires="v">
                <p:oleObj spid="_x0000_s38995" name="Document" r:id="rId11" imgW="3284220" imgH="1970532" progId="Word.Document.8">
                  <p:embed/>
                </p:oleObj>
              </mc:Choice>
              <mc:Fallback>
                <p:oleObj name="Document" r:id="rId11" imgW="3284220" imgH="1970532" progId="Word.Document.8">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71800" y="5334000"/>
                        <a:ext cx="1371600" cy="808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a:xfrm>
            <a:off x="457200" y="0"/>
            <a:ext cx="8229600" cy="1139825"/>
          </a:xfrm>
        </p:spPr>
        <p:txBody>
          <a:bodyPr/>
          <a:lstStyle/>
          <a:p>
            <a:pPr eaLnBrk="1" hangingPunct="1">
              <a:defRPr/>
            </a:pPr>
            <a:r>
              <a:rPr lang="en-US" smtClean="0"/>
              <a:t>Examples for computing GINI</a:t>
            </a:r>
          </a:p>
        </p:txBody>
      </p:sp>
      <p:graphicFrame>
        <p:nvGraphicFramePr>
          <p:cNvPr id="39939" name="Object 3"/>
          <p:cNvGraphicFramePr>
            <a:graphicFrameLocks noChangeAspect="1"/>
          </p:cNvGraphicFramePr>
          <p:nvPr/>
        </p:nvGraphicFramePr>
        <p:xfrm>
          <a:off x="457200" y="2339975"/>
          <a:ext cx="2362200" cy="936625"/>
        </p:xfrm>
        <a:graphic>
          <a:graphicData uri="http://schemas.openxmlformats.org/presentationml/2006/ole">
            <mc:AlternateContent xmlns:mc="http://schemas.openxmlformats.org/markup-compatibility/2006">
              <mc:Choice xmlns:v="urn:schemas-microsoft-com:vml" Requires="v">
                <p:oleObj spid="_x0000_s40002" name="Document" r:id="rId3" imgW="3238500" imgH="1357884" progId="Word.Document.8">
                  <p:embed/>
                </p:oleObj>
              </mc:Choice>
              <mc:Fallback>
                <p:oleObj name="Document" r:id="rId3" imgW="3238500" imgH="1357884"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339975"/>
                        <a:ext cx="236220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0" name="Object 4"/>
          <p:cNvGraphicFramePr>
            <a:graphicFrameLocks noChangeAspect="1"/>
          </p:cNvGraphicFramePr>
          <p:nvPr/>
        </p:nvGraphicFramePr>
        <p:xfrm>
          <a:off x="533400" y="5181600"/>
          <a:ext cx="2286000" cy="938213"/>
        </p:xfrm>
        <a:graphic>
          <a:graphicData uri="http://schemas.openxmlformats.org/presentationml/2006/ole">
            <mc:AlternateContent xmlns:mc="http://schemas.openxmlformats.org/markup-compatibility/2006">
              <mc:Choice xmlns:v="urn:schemas-microsoft-com:vml" Requires="v">
                <p:oleObj spid="_x0000_s40003" name="Document" r:id="rId5" imgW="3238500" imgH="1382268" progId="Word.Document.8">
                  <p:embed/>
                </p:oleObj>
              </mc:Choice>
              <mc:Fallback>
                <p:oleObj name="Document" r:id="rId5" imgW="3238500" imgH="1382268" progId="Word.Document.8">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5181600"/>
                        <a:ext cx="2286000" cy="938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1" name="Object 5"/>
          <p:cNvGraphicFramePr>
            <a:graphicFrameLocks noChangeAspect="1"/>
          </p:cNvGraphicFramePr>
          <p:nvPr/>
        </p:nvGraphicFramePr>
        <p:xfrm>
          <a:off x="533400" y="3817938"/>
          <a:ext cx="2286000" cy="906462"/>
        </p:xfrm>
        <a:graphic>
          <a:graphicData uri="http://schemas.openxmlformats.org/presentationml/2006/ole">
            <mc:AlternateContent xmlns:mc="http://schemas.openxmlformats.org/markup-compatibility/2006">
              <mc:Choice xmlns:v="urn:schemas-microsoft-com:vml" Requires="v">
                <p:oleObj spid="_x0000_s40004" name="Document" r:id="rId7" imgW="3238500" imgH="1357884" progId="Word.Document.8">
                  <p:embed/>
                </p:oleObj>
              </mc:Choice>
              <mc:Fallback>
                <p:oleObj name="Document" r:id="rId7" imgW="3238500" imgH="1357884" progId="Word.Document.8">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3817938"/>
                        <a:ext cx="2286000" cy="906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2" name="Text Box 6"/>
          <p:cNvSpPr txBox="1">
            <a:spLocks noChangeArrowheads="1"/>
          </p:cNvSpPr>
          <p:nvPr/>
        </p:nvSpPr>
        <p:spPr bwMode="auto">
          <a:xfrm>
            <a:off x="3048000" y="2339975"/>
            <a:ext cx="51816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2000" b="1">
                <a:latin typeface="Arial" panose="020B0604020202020204" pitchFamily="34" charset="0"/>
              </a:rPr>
              <a:t>P(C1) = 0/6 = 0     P(C2) = 6/6 = 1</a:t>
            </a:r>
          </a:p>
          <a:p>
            <a:pPr>
              <a:spcBef>
                <a:spcPct val="50000"/>
              </a:spcBef>
              <a:buClrTx/>
              <a:buSzTx/>
              <a:buFontTx/>
              <a:buNone/>
            </a:pPr>
            <a:r>
              <a:rPr lang="en-US" altLang="en-US" sz="2000" b="1">
                <a:latin typeface="Arial" panose="020B0604020202020204" pitchFamily="34" charset="0"/>
              </a:rPr>
              <a:t>Gini = 1 – P(C1)</a:t>
            </a:r>
            <a:r>
              <a:rPr lang="en-US" altLang="en-US" sz="2000" b="1" baseline="30000">
                <a:latin typeface="Arial" panose="020B0604020202020204" pitchFamily="34" charset="0"/>
              </a:rPr>
              <a:t>2 </a:t>
            </a:r>
            <a:r>
              <a:rPr lang="en-US" altLang="en-US" sz="2000" b="1">
                <a:latin typeface="Arial" panose="020B0604020202020204" pitchFamily="34" charset="0"/>
              </a:rPr>
              <a:t>– P(C2)</a:t>
            </a:r>
            <a:r>
              <a:rPr lang="en-US" altLang="en-US" sz="2000" b="1" baseline="30000">
                <a:latin typeface="Arial" panose="020B0604020202020204" pitchFamily="34" charset="0"/>
              </a:rPr>
              <a:t>2</a:t>
            </a:r>
            <a:r>
              <a:rPr lang="en-US" altLang="en-US" sz="2000" b="1">
                <a:latin typeface="Arial" panose="020B0604020202020204" pitchFamily="34" charset="0"/>
              </a:rPr>
              <a:t> = 1 – 0 – 1 = 0 </a:t>
            </a:r>
          </a:p>
        </p:txBody>
      </p:sp>
      <p:graphicFrame>
        <p:nvGraphicFramePr>
          <p:cNvPr id="39943" name="Object 7"/>
          <p:cNvGraphicFramePr>
            <a:graphicFrameLocks noChangeAspect="1"/>
          </p:cNvGraphicFramePr>
          <p:nvPr/>
        </p:nvGraphicFramePr>
        <p:xfrm>
          <a:off x="2590800" y="1219200"/>
          <a:ext cx="3352800" cy="736600"/>
        </p:xfrm>
        <a:graphic>
          <a:graphicData uri="http://schemas.openxmlformats.org/presentationml/2006/ole">
            <mc:AlternateContent xmlns:mc="http://schemas.openxmlformats.org/markup-compatibility/2006">
              <mc:Choice xmlns:v="urn:schemas-microsoft-com:vml" Requires="v">
                <p:oleObj spid="_x0000_s40005" name="Equation" r:id="rId9" imgW="1612900" imgH="355600" progId="Equation.3">
                  <p:embed/>
                </p:oleObj>
              </mc:Choice>
              <mc:Fallback>
                <p:oleObj name="Equation" r:id="rId9" imgW="1612900" imgH="3556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90800" y="1219200"/>
                        <a:ext cx="3352800" cy="736600"/>
                      </a:xfrm>
                      <a:prstGeom prst="rect">
                        <a:avLst/>
                      </a:prstGeom>
                      <a:solidFill>
                        <a:srgbClr val="FFFFCC"/>
                      </a:solidFill>
                      <a:ln w="9525">
                        <a:solidFill>
                          <a:schemeClr val="tx1"/>
                        </a:solidFill>
                        <a:miter lim="800000"/>
                        <a:headEnd/>
                        <a:tailEnd/>
                      </a:ln>
                    </p:spPr>
                  </p:pic>
                </p:oleObj>
              </mc:Fallback>
            </mc:AlternateContent>
          </a:graphicData>
        </a:graphic>
      </p:graphicFrame>
      <p:sp>
        <p:nvSpPr>
          <p:cNvPr id="39944" name="Text Box 8"/>
          <p:cNvSpPr txBox="1">
            <a:spLocks noChangeArrowheads="1"/>
          </p:cNvSpPr>
          <p:nvPr/>
        </p:nvSpPr>
        <p:spPr bwMode="auto">
          <a:xfrm>
            <a:off x="3124200" y="3817938"/>
            <a:ext cx="51816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2000" b="1">
                <a:latin typeface="Arial" panose="020B0604020202020204" pitchFamily="34" charset="0"/>
              </a:rPr>
              <a:t>P(C1) = 1/6          P(C2) = 5/6</a:t>
            </a:r>
          </a:p>
          <a:p>
            <a:pPr>
              <a:spcBef>
                <a:spcPct val="50000"/>
              </a:spcBef>
              <a:buClrTx/>
              <a:buSzTx/>
              <a:buFontTx/>
              <a:buNone/>
            </a:pPr>
            <a:r>
              <a:rPr lang="en-US" altLang="en-US" sz="2000" b="1">
                <a:latin typeface="Arial" panose="020B0604020202020204" pitchFamily="34" charset="0"/>
              </a:rPr>
              <a:t>Gini = 1 – (1/6)</a:t>
            </a:r>
            <a:r>
              <a:rPr lang="en-US" altLang="en-US" sz="2000" b="1" baseline="30000">
                <a:latin typeface="Arial" panose="020B0604020202020204" pitchFamily="34" charset="0"/>
              </a:rPr>
              <a:t>2 </a:t>
            </a:r>
            <a:r>
              <a:rPr lang="en-US" altLang="en-US" sz="2000" b="1">
                <a:latin typeface="Arial" panose="020B0604020202020204" pitchFamily="34" charset="0"/>
              </a:rPr>
              <a:t>– (5/6)</a:t>
            </a:r>
            <a:r>
              <a:rPr lang="en-US" altLang="en-US" sz="2000" b="1" baseline="30000">
                <a:latin typeface="Arial" panose="020B0604020202020204" pitchFamily="34" charset="0"/>
              </a:rPr>
              <a:t>2</a:t>
            </a:r>
            <a:r>
              <a:rPr lang="en-US" altLang="en-US" sz="2000" b="1">
                <a:latin typeface="Arial" panose="020B0604020202020204" pitchFamily="34" charset="0"/>
              </a:rPr>
              <a:t> = 0.278</a:t>
            </a:r>
          </a:p>
        </p:txBody>
      </p:sp>
      <p:sp>
        <p:nvSpPr>
          <p:cNvPr id="39945" name="Text Box 9"/>
          <p:cNvSpPr txBox="1">
            <a:spLocks noChangeArrowheads="1"/>
          </p:cNvSpPr>
          <p:nvPr/>
        </p:nvSpPr>
        <p:spPr bwMode="auto">
          <a:xfrm>
            <a:off x="3124200" y="5105400"/>
            <a:ext cx="51816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2000" b="1">
                <a:latin typeface="Arial" panose="020B0604020202020204" pitchFamily="34" charset="0"/>
              </a:rPr>
              <a:t>P(C1) = 2/6          P(C2) = 4/6</a:t>
            </a:r>
          </a:p>
          <a:p>
            <a:pPr>
              <a:spcBef>
                <a:spcPct val="50000"/>
              </a:spcBef>
              <a:buClrTx/>
              <a:buSzTx/>
              <a:buFontTx/>
              <a:buNone/>
            </a:pPr>
            <a:r>
              <a:rPr lang="en-US" altLang="en-US" sz="2000" b="1">
                <a:latin typeface="Arial" panose="020B0604020202020204" pitchFamily="34" charset="0"/>
              </a:rPr>
              <a:t>Gini = 1 – (2/6)</a:t>
            </a:r>
            <a:r>
              <a:rPr lang="en-US" altLang="en-US" sz="2000" b="1" baseline="30000">
                <a:latin typeface="Arial" panose="020B0604020202020204" pitchFamily="34" charset="0"/>
              </a:rPr>
              <a:t>2 </a:t>
            </a:r>
            <a:r>
              <a:rPr lang="en-US" altLang="en-US" sz="2000" b="1">
                <a:latin typeface="Arial" panose="020B0604020202020204" pitchFamily="34" charset="0"/>
              </a:rPr>
              <a:t>– (4/6)</a:t>
            </a:r>
            <a:r>
              <a:rPr lang="en-US" altLang="en-US" sz="2000" b="1" baseline="30000">
                <a:latin typeface="Arial" panose="020B0604020202020204" pitchFamily="34" charset="0"/>
              </a:rPr>
              <a:t>2</a:t>
            </a:r>
            <a:r>
              <a:rPr lang="en-US" altLang="en-US" sz="2000" b="1">
                <a:latin typeface="Arial" panose="020B0604020202020204" pitchFamily="34" charset="0"/>
              </a:rPr>
              <a:t> = 0.444</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a:xfrm>
            <a:off x="457200" y="0"/>
            <a:ext cx="8229600" cy="1139825"/>
          </a:xfrm>
        </p:spPr>
        <p:txBody>
          <a:bodyPr/>
          <a:lstStyle/>
          <a:p>
            <a:pPr eaLnBrk="1" hangingPunct="1">
              <a:defRPr/>
            </a:pPr>
            <a:r>
              <a:rPr lang="en-US" smtClean="0"/>
              <a:t>Splitting Based on GINI</a:t>
            </a:r>
          </a:p>
        </p:txBody>
      </p:sp>
      <p:sp>
        <p:nvSpPr>
          <p:cNvPr id="212995" name="Rectangle 3"/>
          <p:cNvSpPr>
            <a:spLocks noGrp="1" noChangeArrowheads="1"/>
          </p:cNvSpPr>
          <p:nvPr>
            <p:ph type="body" sz="half" idx="1"/>
          </p:nvPr>
        </p:nvSpPr>
        <p:spPr>
          <a:xfrm>
            <a:off x="381000" y="1143000"/>
            <a:ext cx="8382000" cy="4438650"/>
          </a:xfrm>
        </p:spPr>
        <p:txBody>
          <a:bodyPr>
            <a:normAutofit lnSpcReduction="10000"/>
          </a:bodyPr>
          <a:lstStyle/>
          <a:p>
            <a:pPr eaLnBrk="1" hangingPunct="1">
              <a:defRPr/>
            </a:pPr>
            <a:r>
              <a:rPr lang="en-US" sz="2800" dirty="0" smtClean="0"/>
              <a:t>Used in CART, SLIQ, SPRINT.</a:t>
            </a:r>
          </a:p>
          <a:p>
            <a:pPr eaLnBrk="1" hangingPunct="1">
              <a:defRPr/>
            </a:pPr>
            <a:r>
              <a:rPr lang="en-US" sz="2800" dirty="0" smtClean="0"/>
              <a:t>When a node p is split into k partitions (children), the quality of split is computed as,</a:t>
            </a:r>
          </a:p>
          <a:p>
            <a:pPr eaLnBrk="1" hangingPunct="1">
              <a:defRPr/>
            </a:pPr>
            <a:endParaRPr lang="en-US" sz="2800" dirty="0" smtClean="0"/>
          </a:p>
          <a:p>
            <a:pPr eaLnBrk="1" hangingPunct="1">
              <a:defRPr/>
            </a:pPr>
            <a:endParaRPr lang="en-US" sz="2800" dirty="0" smtClean="0"/>
          </a:p>
          <a:p>
            <a:pPr eaLnBrk="1" hangingPunct="1">
              <a:buFont typeface="Wingdings" panose="05000000000000000000" pitchFamily="2" charset="2"/>
              <a:buNone/>
              <a:defRPr/>
            </a:pPr>
            <a:r>
              <a:rPr lang="en-US" sz="2800" dirty="0" smtClean="0"/>
              <a:t>	</a:t>
            </a:r>
          </a:p>
          <a:p>
            <a:pPr eaLnBrk="1" hangingPunct="1">
              <a:buFont typeface="Wingdings" panose="05000000000000000000" pitchFamily="2" charset="2"/>
              <a:buNone/>
              <a:defRPr/>
            </a:pPr>
            <a:endParaRPr lang="en-US" sz="2800" dirty="0" smtClean="0"/>
          </a:p>
          <a:p>
            <a:pPr eaLnBrk="1" hangingPunct="1">
              <a:buFont typeface="Wingdings" panose="05000000000000000000" pitchFamily="2" charset="2"/>
              <a:buNone/>
              <a:defRPr/>
            </a:pPr>
            <a:r>
              <a:rPr lang="en-US" sz="2800" dirty="0" smtClean="0"/>
              <a:t>	where,	</a:t>
            </a:r>
            <a:r>
              <a:rPr lang="en-US" sz="2800" dirty="0" err="1" smtClean="0"/>
              <a:t>n</a:t>
            </a:r>
            <a:r>
              <a:rPr lang="en-US" sz="2800" baseline="-25000" dirty="0" err="1" smtClean="0"/>
              <a:t>i</a:t>
            </a:r>
            <a:r>
              <a:rPr lang="en-US" sz="2800" dirty="0" smtClean="0"/>
              <a:t> = number of records at child </a:t>
            </a:r>
            <a:r>
              <a:rPr lang="en-US" sz="2800" dirty="0" err="1" smtClean="0"/>
              <a:t>i</a:t>
            </a:r>
            <a:r>
              <a:rPr lang="en-US" sz="2800" dirty="0" smtClean="0"/>
              <a:t>,</a:t>
            </a:r>
          </a:p>
          <a:p>
            <a:pPr eaLnBrk="1" hangingPunct="1">
              <a:buFont typeface="Wingdings" panose="05000000000000000000" pitchFamily="2" charset="2"/>
              <a:buNone/>
              <a:defRPr/>
            </a:pPr>
            <a:r>
              <a:rPr lang="en-US" sz="2800" dirty="0" smtClean="0"/>
              <a:t>    		n</a:t>
            </a:r>
            <a:r>
              <a:rPr lang="en-US" sz="2800" baseline="-25000" dirty="0" smtClean="0"/>
              <a:t> </a:t>
            </a:r>
            <a:r>
              <a:rPr lang="en-US" sz="2800" dirty="0" smtClean="0"/>
              <a:t> = number of records at node p.</a:t>
            </a:r>
            <a:endParaRPr lang="en-US" sz="3600" dirty="0" smtClean="0"/>
          </a:p>
        </p:txBody>
      </p:sp>
      <p:graphicFrame>
        <p:nvGraphicFramePr>
          <p:cNvPr id="40964" name="Object 4"/>
          <p:cNvGraphicFramePr>
            <a:graphicFrameLocks noChangeAspect="1"/>
          </p:cNvGraphicFramePr>
          <p:nvPr/>
        </p:nvGraphicFramePr>
        <p:xfrm>
          <a:off x="2667000" y="2895600"/>
          <a:ext cx="3886200" cy="1104900"/>
        </p:xfrm>
        <a:graphic>
          <a:graphicData uri="http://schemas.openxmlformats.org/presentationml/2006/ole">
            <mc:AlternateContent xmlns:mc="http://schemas.openxmlformats.org/markup-compatibility/2006">
              <mc:Choice xmlns:v="urn:schemas-microsoft-com:vml" Requires="v">
                <p:oleObj spid="_x0000_s40979" name="Equation" r:id="rId3" imgW="1511300" imgH="431800" progId="Equation.3">
                  <p:embed/>
                </p:oleObj>
              </mc:Choice>
              <mc:Fallback>
                <p:oleObj name="Equation" r:id="rId3" imgW="1511300" imgH="431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2895600"/>
                        <a:ext cx="3886200" cy="1104900"/>
                      </a:xfrm>
                      <a:prstGeom prst="rect">
                        <a:avLst/>
                      </a:prstGeom>
                      <a:solidFill>
                        <a:srgbClr val="FFFFCC"/>
                      </a:solidFill>
                      <a:ln w="9525">
                        <a:solidFill>
                          <a:schemeClr val="tx1"/>
                        </a:solidFill>
                        <a:miter lim="800000"/>
                        <a:headEnd/>
                        <a:tailEnd/>
                      </a:ln>
                    </p:spPr>
                  </p:pic>
                </p:oleObj>
              </mc:Fallback>
            </mc:AlternateContent>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xfrm>
            <a:off x="0" y="307975"/>
            <a:ext cx="9144000" cy="533400"/>
          </a:xfrm>
        </p:spPr>
        <p:txBody>
          <a:bodyPr>
            <a:normAutofit fontScale="90000"/>
          </a:bodyPr>
          <a:lstStyle/>
          <a:p>
            <a:pPr eaLnBrk="1" hangingPunct="1">
              <a:defRPr/>
            </a:pPr>
            <a:r>
              <a:rPr lang="en-US" sz="3800" dirty="0" smtClean="0"/>
              <a:t>Binary Attributes: Computing GINI Index</a:t>
            </a:r>
          </a:p>
        </p:txBody>
      </p:sp>
      <p:sp>
        <p:nvSpPr>
          <p:cNvPr id="214019" name="Rectangle 3"/>
          <p:cNvSpPr>
            <a:spLocks noChangeArrowheads="1"/>
          </p:cNvSpPr>
          <p:nvPr/>
        </p:nvSpPr>
        <p:spPr bwMode="auto">
          <a:xfrm>
            <a:off x="304800" y="1143000"/>
            <a:ext cx="8178800" cy="2009775"/>
          </a:xfrm>
          <a:prstGeom prst="rect">
            <a:avLst/>
          </a:prstGeom>
          <a:noFill/>
          <a:ln w="9525">
            <a:noFill/>
            <a:miter lim="800000"/>
            <a:headEnd/>
            <a:tailEnd/>
          </a:ln>
        </p:spPr>
        <p:txBody>
          <a:bodyPr/>
          <a:lstStyle/>
          <a:p>
            <a:pPr marL="342900" indent="-342900" eaLnBrk="1" hangingPunct="1">
              <a:spcBef>
                <a:spcPct val="20000"/>
              </a:spcBef>
              <a:buClr>
                <a:schemeClr val="hlink"/>
              </a:buClr>
              <a:buSzPct val="80000"/>
              <a:buFont typeface="Wingdings" pitchFamily="2" charset="2"/>
              <a:buChar char="l"/>
              <a:defRPr/>
            </a:pPr>
            <a:r>
              <a:rPr lang="en-US" sz="2800">
                <a:effectLst>
                  <a:outerShdw blurRad="38100" dist="38100" dir="2700000" algn="tl">
                    <a:srgbClr val="C0C0C0"/>
                  </a:outerShdw>
                </a:effectLst>
              </a:rPr>
              <a:t>Splits into two partitions</a:t>
            </a:r>
          </a:p>
          <a:p>
            <a:pPr marL="342900" indent="-342900" eaLnBrk="1" hangingPunct="1">
              <a:spcBef>
                <a:spcPct val="20000"/>
              </a:spcBef>
              <a:buClr>
                <a:schemeClr val="hlink"/>
              </a:buClr>
              <a:buSzPct val="80000"/>
              <a:buFont typeface="Wingdings" pitchFamily="2" charset="2"/>
              <a:buChar char="l"/>
              <a:defRPr/>
            </a:pPr>
            <a:r>
              <a:rPr lang="en-US" sz="2800">
                <a:effectLst>
                  <a:outerShdw blurRad="38100" dist="38100" dir="2700000" algn="tl">
                    <a:srgbClr val="C0C0C0"/>
                  </a:outerShdw>
                </a:effectLst>
              </a:rPr>
              <a:t>Effect of Weighing partitions: </a:t>
            </a:r>
          </a:p>
          <a:p>
            <a:pPr marL="742950" lvl="1" indent="-285750" eaLnBrk="1" hangingPunct="1">
              <a:spcBef>
                <a:spcPct val="20000"/>
              </a:spcBef>
              <a:buClr>
                <a:schemeClr val="folHlink"/>
              </a:buClr>
              <a:buSzPct val="80000"/>
              <a:buFont typeface="Wingdings" pitchFamily="2" charset="2"/>
              <a:buChar char="l"/>
              <a:defRPr/>
            </a:pPr>
            <a:r>
              <a:rPr lang="en-US" sz="2400">
                <a:effectLst>
                  <a:outerShdw blurRad="38100" dist="38100" dir="2700000" algn="tl">
                    <a:srgbClr val="C0C0C0"/>
                  </a:outerShdw>
                </a:effectLst>
              </a:rPr>
              <a:t>Larger and Purer Partitions are sought for.</a:t>
            </a:r>
          </a:p>
        </p:txBody>
      </p:sp>
      <p:sp>
        <p:nvSpPr>
          <p:cNvPr id="41988" name="Oval 4"/>
          <p:cNvSpPr>
            <a:spLocks noChangeArrowheads="1"/>
          </p:cNvSpPr>
          <p:nvPr/>
        </p:nvSpPr>
        <p:spPr bwMode="auto">
          <a:xfrm>
            <a:off x="3657600" y="2862263"/>
            <a:ext cx="1009650" cy="454025"/>
          </a:xfrm>
          <a:prstGeom prst="ellipse">
            <a:avLst/>
          </a:prstGeom>
          <a:solidFill>
            <a:srgbClr val="FFFFFF"/>
          </a:solidFill>
          <a:ln w="9525">
            <a:solidFill>
              <a:schemeClr val="tx1"/>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2000">
                <a:latin typeface="Times New Roman" panose="02020603050405020304" pitchFamily="18" charset="0"/>
              </a:rPr>
              <a:t>B?</a:t>
            </a:r>
            <a:endParaRPr lang="en-US" altLang="en-US" sz="2400">
              <a:latin typeface="Times New Roman" panose="02020603050405020304" pitchFamily="18" charset="0"/>
            </a:endParaRPr>
          </a:p>
        </p:txBody>
      </p:sp>
      <p:sp>
        <p:nvSpPr>
          <p:cNvPr id="41989" name="Line 5"/>
          <p:cNvSpPr>
            <a:spLocks noChangeShapeType="1"/>
          </p:cNvSpPr>
          <p:nvPr/>
        </p:nvSpPr>
        <p:spPr bwMode="auto">
          <a:xfrm flipH="1">
            <a:off x="3082925" y="3319463"/>
            <a:ext cx="1108075" cy="7254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990" name="Line 6"/>
          <p:cNvSpPr>
            <a:spLocks noChangeShapeType="1"/>
          </p:cNvSpPr>
          <p:nvPr/>
        </p:nvSpPr>
        <p:spPr bwMode="auto">
          <a:xfrm>
            <a:off x="4191000" y="3319463"/>
            <a:ext cx="1184275" cy="7254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991" name="Text Box 7"/>
          <p:cNvSpPr txBox="1">
            <a:spLocks noChangeArrowheads="1"/>
          </p:cNvSpPr>
          <p:nvPr/>
        </p:nvSpPr>
        <p:spPr bwMode="auto">
          <a:xfrm>
            <a:off x="2809875" y="3435350"/>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a:latin typeface="Times New Roman" panose="02020603050405020304" pitchFamily="18" charset="0"/>
              </a:rPr>
              <a:t>Yes</a:t>
            </a:r>
          </a:p>
        </p:txBody>
      </p:sp>
      <p:sp>
        <p:nvSpPr>
          <p:cNvPr id="41992" name="Text Box 8"/>
          <p:cNvSpPr txBox="1">
            <a:spLocks noChangeArrowheads="1"/>
          </p:cNvSpPr>
          <p:nvPr/>
        </p:nvSpPr>
        <p:spPr bwMode="auto">
          <a:xfrm>
            <a:off x="5299075" y="3435350"/>
            <a:ext cx="463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a:latin typeface="Times New Roman" panose="02020603050405020304" pitchFamily="18" charset="0"/>
              </a:rPr>
              <a:t>No</a:t>
            </a:r>
          </a:p>
        </p:txBody>
      </p:sp>
      <p:sp>
        <p:nvSpPr>
          <p:cNvPr id="41993" name="Rectangle 9"/>
          <p:cNvSpPr>
            <a:spLocks noChangeArrowheads="1"/>
          </p:cNvSpPr>
          <p:nvPr/>
        </p:nvSpPr>
        <p:spPr bwMode="auto">
          <a:xfrm>
            <a:off x="2667000" y="4044950"/>
            <a:ext cx="936625" cy="341313"/>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a:latin typeface="Times New Roman" panose="02020603050405020304" pitchFamily="18" charset="0"/>
              </a:rPr>
              <a:t>Node N1</a:t>
            </a:r>
          </a:p>
        </p:txBody>
      </p:sp>
      <p:sp>
        <p:nvSpPr>
          <p:cNvPr id="41994" name="Rectangle 10"/>
          <p:cNvSpPr>
            <a:spLocks noChangeArrowheads="1"/>
          </p:cNvSpPr>
          <p:nvPr/>
        </p:nvSpPr>
        <p:spPr bwMode="auto">
          <a:xfrm>
            <a:off x="4854575" y="4044950"/>
            <a:ext cx="936625" cy="341313"/>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a:latin typeface="Times New Roman" panose="02020603050405020304" pitchFamily="18" charset="0"/>
              </a:rPr>
              <a:t>Node N2</a:t>
            </a:r>
          </a:p>
        </p:txBody>
      </p:sp>
      <p:graphicFrame>
        <p:nvGraphicFramePr>
          <p:cNvPr id="41995" name="Object 11"/>
          <p:cNvGraphicFramePr>
            <a:graphicFrameLocks noChangeAspect="1"/>
          </p:cNvGraphicFramePr>
          <p:nvPr/>
        </p:nvGraphicFramePr>
        <p:xfrm>
          <a:off x="6553200" y="2590800"/>
          <a:ext cx="1981200" cy="1790700"/>
        </p:xfrm>
        <a:graphic>
          <a:graphicData uri="http://schemas.openxmlformats.org/presentationml/2006/ole">
            <mc:AlternateContent xmlns:mc="http://schemas.openxmlformats.org/markup-compatibility/2006">
              <mc:Choice xmlns:v="urn:schemas-microsoft-com:vml" Requires="v">
                <p:oleObj spid="_x0000_s42027" name="Document" r:id="rId3" imgW="3177540" imgH="3054096" progId="Word.Document.8">
                  <p:embed/>
                </p:oleObj>
              </mc:Choice>
              <mc:Fallback>
                <p:oleObj name="Document" r:id="rId3" imgW="3177540" imgH="3054096" progId="Word.Document.8">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2590800"/>
                        <a:ext cx="1981200" cy="179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6" name="Object 12"/>
          <p:cNvGraphicFramePr>
            <a:graphicFrameLocks noChangeAspect="1"/>
          </p:cNvGraphicFramePr>
          <p:nvPr/>
        </p:nvGraphicFramePr>
        <p:xfrm>
          <a:off x="3276600" y="4648200"/>
          <a:ext cx="1905000" cy="1471613"/>
        </p:xfrm>
        <a:graphic>
          <a:graphicData uri="http://schemas.openxmlformats.org/presentationml/2006/ole">
            <mc:AlternateContent xmlns:mc="http://schemas.openxmlformats.org/markup-compatibility/2006">
              <mc:Choice xmlns:v="urn:schemas-microsoft-com:vml" Requires="v">
                <p:oleObj spid="_x0000_s42028" name="Document" r:id="rId5" imgW="3265932" imgH="2548128" progId="Word.Document.8">
                  <p:embed/>
                </p:oleObj>
              </mc:Choice>
              <mc:Fallback>
                <p:oleObj name="Document" r:id="rId5" imgW="3265932" imgH="2548128" progId="Word.Document.8">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4648200"/>
                        <a:ext cx="1905000" cy="1471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97" name="Text Box 13"/>
          <p:cNvSpPr txBox="1">
            <a:spLocks noChangeArrowheads="1"/>
          </p:cNvSpPr>
          <p:nvPr/>
        </p:nvSpPr>
        <p:spPr bwMode="auto">
          <a:xfrm>
            <a:off x="381000" y="4191000"/>
            <a:ext cx="2438400"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2000" b="1">
                <a:latin typeface="Arial" panose="020B0604020202020204" pitchFamily="34" charset="0"/>
              </a:rPr>
              <a:t>Gini(N1) </a:t>
            </a:r>
            <a:br>
              <a:rPr lang="en-US" altLang="en-US" sz="2000" b="1">
                <a:latin typeface="Arial" panose="020B0604020202020204" pitchFamily="34" charset="0"/>
              </a:rPr>
            </a:br>
            <a:r>
              <a:rPr lang="en-US" altLang="en-US" sz="2000" b="1">
                <a:latin typeface="Arial" panose="020B0604020202020204" pitchFamily="34" charset="0"/>
              </a:rPr>
              <a:t>= 1 – (5/7)</a:t>
            </a:r>
            <a:r>
              <a:rPr lang="en-US" altLang="en-US" sz="2000" b="1" baseline="30000">
                <a:latin typeface="Arial" panose="020B0604020202020204" pitchFamily="34" charset="0"/>
              </a:rPr>
              <a:t>2 </a:t>
            </a:r>
            <a:r>
              <a:rPr lang="en-US" altLang="en-US" sz="2000" b="1">
                <a:latin typeface="Arial" panose="020B0604020202020204" pitchFamily="34" charset="0"/>
              </a:rPr>
              <a:t>– (2/7)</a:t>
            </a:r>
            <a:r>
              <a:rPr lang="en-US" altLang="en-US" sz="2000" b="1" baseline="30000">
                <a:latin typeface="Arial" panose="020B0604020202020204" pitchFamily="34" charset="0"/>
              </a:rPr>
              <a:t>2</a:t>
            </a:r>
            <a:r>
              <a:rPr lang="en-US" altLang="en-US" sz="2000" b="1">
                <a:latin typeface="Arial" panose="020B0604020202020204" pitchFamily="34" charset="0"/>
              </a:rPr>
              <a:t> </a:t>
            </a:r>
            <a:br>
              <a:rPr lang="en-US" altLang="en-US" sz="2000" b="1">
                <a:latin typeface="Arial" panose="020B0604020202020204" pitchFamily="34" charset="0"/>
              </a:rPr>
            </a:br>
            <a:r>
              <a:rPr lang="en-US" altLang="en-US" sz="2000" b="1">
                <a:latin typeface="Arial" panose="020B0604020202020204" pitchFamily="34" charset="0"/>
              </a:rPr>
              <a:t>=  </a:t>
            </a:r>
          </a:p>
          <a:p>
            <a:pPr>
              <a:spcBef>
                <a:spcPct val="50000"/>
              </a:spcBef>
              <a:buClrTx/>
              <a:buSzTx/>
              <a:buFontTx/>
              <a:buNone/>
            </a:pPr>
            <a:r>
              <a:rPr lang="en-US" altLang="en-US" sz="2000" b="1">
                <a:latin typeface="Arial" panose="020B0604020202020204" pitchFamily="34" charset="0"/>
              </a:rPr>
              <a:t>Gini(N2) </a:t>
            </a:r>
            <a:br>
              <a:rPr lang="en-US" altLang="en-US" sz="2000" b="1">
                <a:latin typeface="Arial" panose="020B0604020202020204" pitchFamily="34" charset="0"/>
              </a:rPr>
            </a:br>
            <a:r>
              <a:rPr lang="en-US" altLang="en-US" sz="2000" b="1">
                <a:latin typeface="Arial" panose="020B0604020202020204" pitchFamily="34" charset="0"/>
              </a:rPr>
              <a:t>= 1 – (1/5)</a:t>
            </a:r>
            <a:r>
              <a:rPr lang="en-US" altLang="en-US" sz="2000" b="1" baseline="30000">
                <a:latin typeface="Arial" panose="020B0604020202020204" pitchFamily="34" charset="0"/>
              </a:rPr>
              <a:t>2 </a:t>
            </a:r>
            <a:r>
              <a:rPr lang="en-US" altLang="en-US" sz="2000" b="1">
                <a:latin typeface="Arial" panose="020B0604020202020204" pitchFamily="34" charset="0"/>
              </a:rPr>
              <a:t>– (4/5)</a:t>
            </a:r>
            <a:r>
              <a:rPr lang="en-US" altLang="en-US" sz="2000" b="1" baseline="30000">
                <a:latin typeface="Arial" panose="020B0604020202020204" pitchFamily="34" charset="0"/>
              </a:rPr>
              <a:t>2</a:t>
            </a:r>
            <a:r>
              <a:rPr lang="en-US" altLang="en-US" sz="2000" b="1">
                <a:latin typeface="Arial" panose="020B0604020202020204" pitchFamily="34" charset="0"/>
              </a:rPr>
              <a:t> </a:t>
            </a:r>
            <a:br>
              <a:rPr lang="en-US" altLang="en-US" sz="2000" b="1">
                <a:latin typeface="Arial" panose="020B0604020202020204" pitchFamily="34" charset="0"/>
              </a:rPr>
            </a:br>
            <a:r>
              <a:rPr lang="en-US" altLang="en-US" sz="2000" b="1">
                <a:latin typeface="Arial" panose="020B0604020202020204" pitchFamily="34" charset="0"/>
              </a:rPr>
              <a:t>= </a:t>
            </a:r>
          </a:p>
        </p:txBody>
      </p:sp>
      <p:sp>
        <p:nvSpPr>
          <p:cNvPr id="41998" name="Text Box 14"/>
          <p:cNvSpPr txBox="1">
            <a:spLocks noChangeArrowheads="1"/>
          </p:cNvSpPr>
          <p:nvPr/>
        </p:nvSpPr>
        <p:spPr bwMode="auto">
          <a:xfrm>
            <a:off x="5943600" y="4648200"/>
            <a:ext cx="24384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2000" b="1">
                <a:latin typeface="Arial" panose="020B0604020202020204" pitchFamily="34" charset="0"/>
              </a:rPr>
              <a:t>Gini(Children) </a:t>
            </a:r>
            <a:br>
              <a:rPr lang="en-US" altLang="en-US" sz="2000" b="1">
                <a:latin typeface="Arial" panose="020B0604020202020204" pitchFamily="34" charset="0"/>
              </a:rPr>
            </a:br>
            <a:r>
              <a:rPr lang="en-US" altLang="en-US" sz="2000" b="1">
                <a:latin typeface="Arial" panose="020B0604020202020204" pitchFamily="34" charset="0"/>
              </a:rPr>
              <a:t>= 7/12 *        + </a:t>
            </a:r>
            <a:br>
              <a:rPr lang="en-US" altLang="en-US" sz="2000" b="1">
                <a:latin typeface="Arial" panose="020B0604020202020204" pitchFamily="34" charset="0"/>
              </a:rPr>
            </a:br>
            <a:r>
              <a:rPr lang="en-US" altLang="en-US" sz="2000" b="1">
                <a:latin typeface="Arial" panose="020B0604020202020204" pitchFamily="34" charset="0"/>
              </a:rPr>
              <a:t>   5/12 * </a:t>
            </a:r>
            <a:br>
              <a:rPr lang="en-US" altLang="en-US" sz="2000" b="1">
                <a:latin typeface="Arial" panose="020B0604020202020204" pitchFamily="34" charset="0"/>
              </a:rPr>
            </a:br>
            <a:r>
              <a:rPr lang="en-US" altLang="en-US" sz="2000" b="1">
                <a:latin typeface="Arial" panose="020B0604020202020204" pitchFamily="34" charset="0"/>
              </a:rPr>
              <a:t>=</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76200" y="166688"/>
            <a:ext cx="9296400" cy="914400"/>
          </a:xfrm>
        </p:spPr>
        <p:txBody>
          <a:bodyPr>
            <a:normAutofit/>
          </a:bodyPr>
          <a:lstStyle/>
          <a:p>
            <a:pPr eaLnBrk="1" hangingPunct="1">
              <a:defRPr/>
            </a:pPr>
            <a:r>
              <a:rPr lang="en-US" sz="3600" dirty="0" smtClean="0"/>
              <a:t>Categorical Attributes: Computing Gini Index</a:t>
            </a:r>
          </a:p>
        </p:txBody>
      </p:sp>
      <p:sp>
        <p:nvSpPr>
          <p:cNvPr id="215043" name="Rectangle 3"/>
          <p:cNvSpPr>
            <a:spLocks noGrp="1" noChangeArrowheads="1"/>
          </p:cNvSpPr>
          <p:nvPr>
            <p:ph idx="1"/>
          </p:nvPr>
        </p:nvSpPr>
        <p:spPr>
          <a:xfrm>
            <a:off x="457200" y="1905000"/>
            <a:ext cx="8229600" cy="4530725"/>
          </a:xfrm>
        </p:spPr>
        <p:txBody>
          <a:bodyPr/>
          <a:lstStyle/>
          <a:p>
            <a:pPr eaLnBrk="1" hangingPunct="1">
              <a:defRPr/>
            </a:pPr>
            <a:r>
              <a:rPr lang="en-US" sz="2800" dirty="0" smtClean="0"/>
              <a:t>For each distinct value, gather counts for each class in the dataset</a:t>
            </a:r>
          </a:p>
          <a:p>
            <a:pPr eaLnBrk="1" hangingPunct="1">
              <a:defRPr/>
            </a:pPr>
            <a:r>
              <a:rPr lang="en-US" sz="2800" dirty="0" smtClean="0"/>
              <a:t>Use the count matrix to make decisions</a:t>
            </a:r>
          </a:p>
        </p:txBody>
      </p:sp>
      <p:graphicFrame>
        <p:nvGraphicFramePr>
          <p:cNvPr id="43012" name="Object 4"/>
          <p:cNvGraphicFramePr>
            <a:graphicFrameLocks noChangeAspect="1"/>
          </p:cNvGraphicFramePr>
          <p:nvPr/>
        </p:nvGraphicFramePr>
        <p:xfrm>
          <a:off x="4038600" y="4495800"/>
          <a:ext cx="2609850" cy="1768475"/>
        </p:xfrm>
        <a:graphic>
          <a:graphicData uri="http://schemas.openxmlformats.org/presentationml/2006/ole">
            <mc:AlternateContent xmlns:mc="http://schemas.openxmlformats.org/markup-compatibility/2006">
              <mc:Choice xmlns:v="urn:schemas-microsoft-com:vml" Requires="v">
                <p:oleObj spid="_x0000_s43060" name="Document" r:id="rId3" imgW="5849112" imgH="4005072" progId="Word.Document.8">
                  <p:embed/>
                </p:oleObj>
              </mc:Choice>
              <mc:Fallback>
                <p:oleObj name="Document" r:id="rId3" imgW="5849112" imgH="4005072"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4495800"/>
                        <a:ext cx="2609850" cy="176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3" name="Object 5"/>
          <p:cNvGraphicFramePr>
            <a:graphicFrameLocks noChangeAspect="1"/>
          </p:cNvGraphicFramePr>
          <p:nvPr/>
        </p:nvGraphicFramePr>
        <p:xfrm>
          <a:off x="6534150" y="4495800"/>
          <a:ext cx="2609850" cy="1768475"/>
        </p:xfrm>
        <a:graphic>
          <a:graphicData uri="http://schemas.openxmlformats.org/presentationml/2006/ole">
            <mc:AlternateContent xmlns:mc="http://schemas.openxmlformats.org/markup-compatibility/2006">
              <mc:Choice xmlns:v="urn:schemas-microsoft-com:vml" Requires="v">
                <p:oleObj spid="_x0000_s43061" name="Document" r:id="rId5" imgW="5849112" imgH="4005072" progId="Word.Document.8">
                  <p:embed/>
                </p:oleObj>
              </mc:Choice>
              <mc:Fallback>
                <p:oleObj name="Document" r:id="rId5" imgW="5849112" imgH="4005072" progId="Word.Document.8">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34150" y="4495800"/>
                        <a:ext cx="2609850" cy="176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4" name="Object 6"/>
          <p:cNvGraphicFramePr>
            <a:graphicFrameLocks noChangeAspect="1"/>
          </p:cNvGraphicFramePr>
          <p:nvPr/>
        </p:nvGraphicFramePr>
        <p:xfrm>
          <a:off x="457200" y="4495800"/>
          <a:ext cx="2744788" cy="1524000"/>
        </p:xfrm>
        <a:graphic>
          <a:graphicData uri="http://schemas.openxmlformats.org/presentationml/2006/ole">
            <mc:AlternateContent xmlns:mc="http://schemas.openxmlformats.org/markup-compatibility/2006">
              <mc:Choice xmlns:v="urn:schemas-microsoft-com:vml" Requires="v">
                <p:oleObj spid="_x0000_s43062" name="Document" r:id="rId7" imgW="6205728" imgH="3191256" progId="Word.Document.8">
                  <p:embed/>
                </p:oleObj>
              </mc:Choice>
              <mc:Fallback>
                <p:oleObj name="Document" r:id="rId7" imgW="6205728" imgH="3191256" progId="Word.Document.8">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 y="4495800"/>
                        <a:ext cx="2744788" cy="152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5" name="Line 7"/>
          <p:cNvSpPr>
            <a:spLocks noChangeShapeType="1"/>
          </p:cNvSpPr>
          <p:nvPr/>
        </p:nvSpPr>
        <p:spPr bwMode="auto">
          <a:xfrm flipH="1">
            <a:off x="3733800" y="3657600"/>
            <a:ext cx="1588" cy="2438400"/>
          </a:xfrm>
          <a:prstGeom prst="line">
            <a:avLst/>
          </a:prstGeom>
          <a:noFill/>
          <a:ln w="38100">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16" name="Text Box 8"/>
          <p:cNvSpPr txBox="1">
            <a:spLocks noChangeArrowheads="1"/>
          </p:cNvSpPr>
          <p:nvPr/>
        </p:nvSpPr>
        <p:spPr bwMode="auto">
          <a:xfrm>
            <a:off x="1068388" y="3554413"/>
            <a:ext cx="175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2000">
                <a:latin typeface="Times New Roman" panose="02020603050405020304" pitchFamily="18" charset="0"/>
              </a:rPr>
              <a:t>Multi-way split</a:t>
            </a:r>
          </a:p>
        </p:txBody>
      </p:sp>
      <p:sp>
        <p:nvSpPr>
          <p:cNvPr id="43017" name="Text Box 9"/>
          <p:cNvSpPr txBox="1">
            <a:spLocks noChangeArrowheads="1"/>
          </p:cNvSpPr>
          <p:nvPr/>
        </p:nvSpPr>
        <p:spPr bwMode="auto">
          <a:xfrm>
            <a:off x="4872038" y="3554413"/>
            <a:ext cx="31384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2000">
                <a:latin typeface="Times New Roman" panose="02020603050405020304" pitchFamily="18" charset="0"/>
              </a:rPr>
              <a:t>Two-way split </a:t>
            </a:r>
          </a:p>
          <a:p>
            <a:pPr algn="ctr">
              <a:spcBef>
                <a:spcPct val="0"/>
              </a:spcBef>
              <a:buClrTx/>
              <a:buSzTx/>
              <a:buFontTx/>
              <a:buNone/>
            </a:pPr>
            <a:r>
              <a:rPr lang="en-US" altLang="en-US" sz="2000">
                <a:latin typeface="Times New Roman" panose="02020603050405020304" pitchFamily="18" charset="0"/>
              </a:rPr>
              <a:t>(find best partition of values)</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152400" y="152400"/>
            <a:ext cx="8763000" cy="1139825"/>
          </a:xfrm>
        </p:spPr>
        <p:txBody>
          <a:bodyPr>
            <a:normAutofit fontScale="90000"/>
          </a:bodyPr>
          <a:lstStyle/>
          <a:p>
            <a:pPr eaLnBrk="1" hangingPunct="1">
              <a:defRPr/>
            </a:pPr>
            <a:r>
              <a:rPr lang="en-US" sz="3800" dirty="0" smtClean="0"/>
              <a:t>Continuous Attributes: Computing </a:t>
            </a:r>
            <a:r>
              <a:rPr lang="en-US" sz="3800" dirty="0" err="1" smtClean="0"/>
              <a:t>Gini</a:t>
            </a:r>
            <a:r>
              <a:rPr lang="en-US" sz="3800" dirty="0" smtClean="0"/>
              <a:t> Index</a:t>
            </a:r>
          </a:p>
        </p:txBody>
      </p:sp>
      <p:sp>
        <p:nvSpPr>
          <p:cNvPr id="216067" name="Rectangle 3"/>
          <p:cNvSpPr>
            <a:spLocks noGrp="1" noChangeArrowheads="1"/>
          </p:cNvSpPr>
          <p:nvPr>
            <p:ph type="body" sz="half" idx="1"/>
          </p:nvPr>
        </p:nvSpPr>
        <p:spPr>
          <a:xfrm>
            <a:off x="304800" y="1371600"/>
            <a:ext cx="4945063" cy="4530725"/>
          </a:xfrm>
        </p:spPr>
        <p:txBody>
          <a:bodyPr>
            <a:normAutofit fontScale="92500"/>
          </a:bodyPr>
          <a:lstStyle/>
          <a:p>
            <a:pPr eaLnBrk="1" hangingPunct="1">
              <a:lnSpc>
                <a:spcPct val="90000"/>
              </a:lnSpc>
              <a:defRPr/>
            </a:pPr>
            <a:r>
              <a:rPr lang="en-US" sz="2400" dirty="0" smtClean="0"/>
              <a:t>Use Binary Decisions based on one value</a:t>
            </a:r>
          </a:p>
          <a:p>
            <a:pPr eaLnBrk="1" hangingPunct="1">
              <a:lnSpc>
                <a:spcPct val="90000"/>
              </a:lnSpc>
              <a:defRPr/>
            </a:pPr>
            <a:r>
              <a:rPr lang="en-US" sz="2400" dirty="0" smtClean="0"/>
              <a:t>Several Choices for the splitting value</a:t>
            </a:r>
          </a:p>
          <a:p>
            <a:pPr lvl="1" eaLnBrk="1" hangingPunct="1">
              <a:lnSpc>
                <a:spcPct val="90000"/>
              </a:lnSpc>
              <a:defRPr/>
            </a:pPr>
            <a:r>
              <a:rPr lang="en-US" sz="2000" dirty="0" smtClean="0"/>
              <a:t>Number of possible splitting values </a:t>
            </a:r>
            <a:br>
              <a:rPr lang="en-US" sz="2000" dirty="0" smtClean="0"/>
            </a:br>
            <a:r>
              <a:rPr lang="en-US" sz="2000" dirty="0" smtClean="0"/>
              <a:t>= Number of distinct values</a:t>
            </a:r>
          </a:p>
          <a:p>
            <a:pPr eaLnBrk="1" hangingPunct="1">
              <a:lnSpc>
                <a:spcPct val="90000"/>
              </a:lnSpc>
              <a:defRPr/>
            </a:pPr>
            <a:r>
              <a:rPr lang="en-US" sz="2400" dirty="0" smtClean="0"/>
              <a:t>Each splitting value has a count matrix associated with it</a:t>
            </a:r>
          </a:p>
          <a:p>
            <a:pPr lvl="1" eaLnBrk="1" hangingPunct="1">
              <a:lnSpc>
                <a:spcPct val="90000"/>
              </a:lnSpc>
              <a:defRPr/>
            </a:pPr>
            <a:r>
              <a:rPr lang="en-US" sz="2000" dirty="0" smtClean="0"/>
              <a:t>Class counts in each of the partitions, A &lt; v and A </a:t>
            </a:r>
            <a:r>
              <a:rPr lang="en-US" sz="2000" dirty="0" smtClean="0">
                <a:sym typeface="Symbol" pitchFamily="18" charset="2"/>
              </a:rPr>
              <a:t></a:t>
            </a:r>
            <a:r>
              <a:rPr lang="en-US" sz="2000" dirty="0" smtClean="0"/>
              <a:t> v</a:t>
            </a:r>
          </a:p>
          <a:p>
            <a:pPr eaLnBrk="1" hangingPunct="1">
              <a:lnSpc>
                <a:spcPct val="90000"/>
              </a:lnSpc>
              <a:defRPr/>
            </a:pPr>
            <a:r>
              <a:rPr lang="en-US" sz="2400" dirty="0" smtClean="0"/>
              <a:t>Simple method to choose best v</a:t>
            </a:r>
          </a:p>
          <a:p>
            <a:pPr lvl="1" eaLnBrk="1" hangingPunct="1">
              <a:lnSpc>
                <a:spcPct val="90000"/>
              </a:lnSpc>
              <a:defRPr/>
            </a:pPr>
            <a:r>
              <a:rPr lang="en-US" sz="2000" dirty="0" smtClean="0"/>
              <a:t>For each v, scan the database to gather count matrix and compute its </a:t>
            </a:r>
            <a:r>
              <a:rPr lang="en-US" sz="2000" dirty="0" err="1" smtClean="0"/>
              <a:t>Gini</a:t>
            </a:r>
            <a:r>
              <a:rPr lang="en-US" sz="2000" dirty="0" smtClean="0"/>
              <a:t> index</a:t>
            </a:r>
          </a:p>
          <a:p>
            <a:pPr lvl="1" eaLnBrk="1" hangingPunct="1">
              <a:lnSpc>
                <a:spcPct val="90000"/>
              </a:lnSpc>
              <a:defRPr/>
            </a:pPr>
            <a:r>
              <a:rPr lang="en-US" sz="2000" dirty="0" smtClean="0"/>
              <a:t>Computationally Inefficient! Repetition of work.</a:t>
            </a:r>
          </a:p>
        </p:txBody>
      </p:sp>
      <p:graphicFrame>
        <p:nvGraphicFramePr>
          <p:cNvPr id="44036" name="Object 4"/>
          <p:cNvGraphicFramePr>
            <a:graphicFrameLocks noGrp="1" noChangeAspect="1"/>
          </p:cNvGraphicFramePr>
          <p:nvPr>
            <p:ph sz="quarter" idx="2"/>
            <p:extLst>
              <p:ext uri="{D42A27DB-BD31-4B8C-83A1-F6EECF244321}">
                <p14:modId xmlns:p14="http://schemas.microsoft.com/office/powerpoint/2010/main" val="393702240"/>
              </p:ext>
            </p:extLst>
          </p:nvPr>
        </p:nvGraphicFramePr>
        <p:xfrm>
          <a:off x="5181600" y="1108824"/>
          <a:ext cx="3048000" cy="3253246"/>
        </p:xfrm>
        <a:graphic>
          <a:graphicData uri="http://schemas.openxmlformats.org/presentationml/2006/ole">
            <mc:AlternateContent xmlns:mc="http://schemas.openxmlformats.org/markup-compatibility/2006">
              <mc:Choice xmlns:v="urn:schemas-microsoft-com:vml" Requires="v">
                <p:oleObj spid="_x0000_s44068" name="Document" r:id="rId3" imgW="5415994" imgH="5779818" progId="Word.Document.8">
                  <p:embed/>
                </p:oleObj>
              </mc:Choice>
              <mc:Fallback>
                <p:oleObj name="Document" r:id="rId3" imgW="5415994" imgH="5779818"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r="4274"/>
                      <a:stretch>
                        <a:fillRect/>
                      </a:stretch>
                    </p:blipFill>
                    <p:spPr bwMode="auto">
                      <a:xfrm>
                        <a:off x="5181600" y="1108824"/>
                        <a:ext cx="3048000" cy="3253246"/>
                      </a:xfrm>
                      <a:prstGeom prst="rect">
                        <a:avLst/>
                      </a:prstGeom>
                      <a:noFill/>
                      <a:ln>
                        <a:noFill/>
                      </a:ln>
                      <a:effectLst/>
                    </p:spPr>
                  </p:pic>
                </p:oleObj>
              </mc:Fallback>
            </mc:AlternateContent>
          </a:graphicData>
        </a:graphic>
      </p:graphicFrame>
      <p:graphicFrame>
        <p:nvGraphicFramePr>
          <p:cNvPr id="44037" name="Object 5"/>
          <p:cNvGraphicFramePr>
            <a:graphicFrameLocks noGrp="1" noChangeAspect="1"/>
          </p:cNvGraphicFramePr>
          <p:nvPr>
            <p:ph sz="quarter" idx="3"/>
            <p:extLst>
              <p:ext uri="{D42A27DB-BD31-4B8C-83A1-F6EECF244321}">
                <p14:modId xmlns:p14="http://schemas.microsoft.com/office/powerpoint/2010/main" val="3382623335"/>
              </p:ext>
            </p:extLst>
          </p:nvPr>
        </p:nvGraphicFramePr>
        <p:xfrm>
          <a:off x="6248400" y="4368290"/>
          <a:ext cx="1371600" cy="2187575"/>
        </p:xfrm>
        <a:graphic>
          <a:graphicData uri="http://schemas.openxmlformats.org/presentationml/2006/ole">
            <mc:AlternateContent xmlns:mc="http://schemas.openxmlformats.org/markup-compatibility/2006">
              <mc:Choice xmlns:v="urn:schemas-microsoft-com:vml" Requires="v">
                <p:oleObj spid="_x0000_s44069" name="Visio" r:id="rId5" imgW="1611935" imgH="2570756" progId="Visio.Drawing.6">
                  <p:embed/>
                </p:oleObj>
              </mc:Choice>
              <mc:Fallback>
                <p:oleObj name="Visio" r:id="rId5" imgW="1611935" imgH="2570756" progId="Visio.Drawing.6">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8400" y="4368290"/>
                        <a:ext cx="1371600" cy="218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50800" y="57150"/>
            <a:ext cx="8991600" cy="1066800"/>
          </a:xfrm>
        </p:spPr>
        <p:txBody>
          <a:bodyPr>
            <a:normAutofit fontScale="90000"/>
          </a:bodyPr>
          <a:lstStyle/>
          <a:p>
            <a:pPr eaLnBrk="1" hangingPunct="1">
              <a:defRPr/>
            </a:pPr>
            <a:r>
              <a:rPr lang="en-US" sz="3800" dirty="0" smtClean="0"/>
              <a:t>Continuous Attributes: Computing Gini Index..</a:t>
            </a:r>
          </a:p>
        </p:txBody>
      </p:sp>
      <p:sp>
        <p:nvSpPr>
          <p:cNvPr id="217091" name="Rectangle 3"/>
          <p:cNvSpPr>
            <a:spLocks noGrp="1" noChangeArrowheads="1"/>
          </p:cNvSpPr>
          <p:nvPr>
            <p:ph idx="1"/>
          </p:nvPr>
        </p:nvSpPr>
        <p:spPr>
          <a:xfrm>
            <a:off x="304800" y="1289050"/>
            <a:ext cx="8483600" cy="1905000"/>
          </a:xfrm>
        </p:spPr>
        <p:txBody>
          <a:bodyPr>
            <a:normAutofit/>
          </a:bodyPr>
          <a:lstStyle/>
          <a:p>
            <a:pPr eaLnBrk="1" hangingPunct="1">
              <a:lnSpc>
                <a:spcPct val="90000"/>
              </a:lnSpc>
              <a:defRPr/>
            </a:pPr>
            <a:r>
              <a:rPr lang="en-US" sz="2400" dirty="0" smtClean="0"/>
              <a:t>For efficient computation: for each attribute,</a:t>
            </a:r>
          </a:p>
          <a:p>
            <a:pPr lvl="1" eaLnBrk="1" hangingPunct="1">
              <a:lnSpc>
                <a:spcPct val="90000"/>
              </a:lnSpc>
              <a:defRPr/>
            </a:pPr>
            <a:r>
              <a:rPr lang="en-US" sz="2000" dirty="0" smtClean="0"/>
              <a:t>Sort the attribute on values</a:t>
            </a:r>
          </a:p>
          <a:p>
            <a:pPr lvl="1" eaLnBrk="1" hangingPunct="1">
              <a:lnSpc>
                <a:spcPct val="90000"/>
              </a:lnSpc>
              <a:defRPr/>
            </a:pPr>
            <a:r>
              <a:rPr lang="en-US" sz="2000" dirty="0" smtClean="0"/>
              <a:t>Linearly scan these values, each time updating the count matrix and computing </a:t>
            </a:r>
            <a:r>
              <a:rPr lang="en-US" sz="2000" dirty="0" err="1" smtClean="0"/>
              <a:t>gini</a:t>
            </a:r>
            <a:r>
              <a:rPr lang="en-US" sz="2000" dirty="0" smtClean="0"/>
              <a:t> index</a:t>
            </a:r>
          </a:p>
          <a:p>
            <a:pPr lvl="1" eaLnBrk="1" hangingPunct="1">
              <a:lnSpc>
                <a:spcPct val="90000"/>
              </a:lnSpc>
              <a:defRPr/>
            </a:pPr>
            <a:r>
              <a:rPr lang="en-US" sz="2000" dirty="0" smtClean="0"/>
              <a:t>Choose the split position that has the least </a:t>
            </a:r>
            <a:r>
              <a:rPr lang="en-US" sz="2000" dirty="0" err="1" smtClean="0"/>
              <a:t>gini</a:t>
            </a:r>
            <a:r>
              <a:rPr lang="en-US" sz="2000" dirty="0" smtClean="0"/>
              <a:t> index</a:t>
            </a:r>
          </a:p>
        </p:txBody>
      </p:sp>
      <p:grpSp>
        <p:nvGrpSpPr>
          <p:cNvPr id="45060" name="Group 4"/>
          <p:cNvGrpSpPr>
            <a:grpSpLocks/>
          </p:cNvGrpSpPr>
          <p:nvPr/>
        </p:nvGrpSpPr>
        <p:grpSpPr bwMode="auto">
          <a:xfrm>
            <a:off x="0" y="3733800"/>
            <a:ext cx="9182100" cy="2622550"/>
            <a:chOff x="144" y="2360"/>
            <a:chExt cx="5784" cy="1652"/>
          </a:xfrm>
        </p:grpSpPr>
        <p:graphicFrame>
          <p:nvGraphicFramePr>
            <p:cNvPr id="45061" name="Object 5"/>
            <p:cNvGraphicFramePr>
              <a:graphicFrameLocks noChangeAspect="1"/>
            </p:cNvGraphicFramePr>
            <p:nvPr/>
          </p:nvGraphicFramePr>
          <p:xfrm>
            <a:off x="956" y="2360"/>
            <a:ext cx="4972" cy="1652"/>
          </p:xfrm>
          <a:graphic>
            <a:graphicData uri="http://schemas.openxmlformats.org/presentationml/2006/ole">
              <mc:AlternateContent xmlns:mc="http://schemas.openxmlformats.org/markup-compatibility/2006">
                <mc:Choice xmlns:v="urn:schemas-microsoft-com:vml" Requires="v">
                  <p:oleObj spid="_x0000_s45081" name="Document" r:id="rId3" imgW="10585704" imgH="3558540" progId="Word.Document.8">
                    <p:embed/>
                  </p:oleObj>
                </mc:Choice>
                <mc:Fallback>
                  <p:oleObj name="Document" r:id="rId3" imgW="10585704" imgH="3558540" progId="Word.Document.8">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6" y="2360"/>
                          <a:ext cx="4972" cy="16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2" name="Line 6"/>
            <p:cNvSpPr>
              <a:spLocks noChangeShapeType="1"/>
            </p:cNvSpPr>
            <p:nvPr/>
          </p:nvSpPr>
          <p:spPr bwMode="auto">
            <a:xfrm>
              <a:off x="1152" y="2880"/>
              <a:ext cx="192" cy="1"/>
            </a:xfrm>
            <a:prstGeom prst="line">
              <a:avLst/>
            </a:prstGeom>
            <a:noFill/>
            <a:ln w="952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45063" name="Group 7"/>
            <p:cNvGrpSpPr>
              <a:grpSpLocks/>
            </p:cNvGrpSpPr>
            <p:nvPr/>
          </p:nvGrpSpPr>
          <p:grpSpPr bwMode="auto">
            <a:xfrm>
              <a:off x="144" y="2928"/>
              <a:ext cx="1200" cy="212"/>
              <a:chOff x="144" y="2832"/>
              <a:chExt cx="1200" cy="212"/>
            </a:xfrm>
          </p:grpSpPr>
          <p:sp>
            <p:nvSpPr>
              <p:cNvPr id="45065" name="Text Box 8"/>
              <p:cNvSpPr txBox="1">
                <a:spLocks noChangeArrowheads="1"/>
              </p:cNvSpPr>
              <p:nvPr/>
            </p:nvSpPr>
            <p:spPr bwMode="auto">
              <a:xfrm>
                <a:off x="144" y="2832"/>
                <a:ext cx="100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271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defTabSz="92710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defTabSz="9271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defTabSz="9271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defTabSz="9271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defTabSz="9271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defTabSz="9271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defTabSz="9271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defTabSz="9271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buClr>
                    <a:schemeClr val="accent2"/>
                  </a:buClr>
                  <a:buSzTx/>
                  <a:buFont typeface="Monotype Sorts" pitchFamily="2" charset="2"/>
                  <a:buNone/>
                </a:pPr>
                <a:r>
                  <a:rPr kumimoji="1" lang="en-US" altLang="en-US" sz="1600" b="1">
                    <a:latin typeface="Arial" panose="020B0604020202020204" pitchFamily="34" charset="0"/>
                  </a:rPr>
                  <a:t>Split Positions</a:t>
                </a:r>
              </a:p>
            </p:txBody>
          </p:sp>
          <p:sp>
            <p:nvSpPr>
              <p:cNvPr id="45066" name="Line 9"/>
              <p:cNvSpPr>
                <a:spLocks noChangeShapeType="1"/>
              </p:cNvSpPr>
              <p:nvPr/>
            </p:nvSpPr>
            <p:spPr bwMode="auto">
              <a:xfrm>
                <a:off x="1152" y="2976"/>
                <a:ext cx="192" cy="0"/>
              </a:xfrm>
              <a:prstGeom prst="line">
                <a:avLst/>
              </a:prstGeom>
              <a:noFill/>
              <a:ln w="952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45064" name="Text Box 10"/>
            <p:cNvSpPr txBox="1">
              <a:spLocks noChangeArrowheads="1"/>
            </p:cNvSpPr>
            <p:nvPr/>
          </p:nvSpPr>
          <p:spPr bwMode="auto">
            <a:xfrm>
              <a:off x="144" y="2736"/>
              <a:ext cx="10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600" b="1">
                  <a:latin typeface="Arial" panose="020B0604020202020204" pitchFamily="34" charset="0"/>
                </a:rPr>
                <a:t>Sorted Values</a:t>
              </a:r>
            </a:p>
          </p:txBody>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Blank">
  <a:themeElements>
    <a:clrScheme name="Office">
      <a:dk1>
        <a:sysClr val="windowText" lastClr="000000"/>
      </a:dk1>
      <a:lt1>
        <a:sysClr val="window" lastClr="FFFFFF"/>
      </a:lt1>
      <a:dk2>
        <a:srgbClr val="6E747A"/>
      </a:dk2>
      <a:lt2>
        <a:srgbClr val="E7E6E6"/>
      </a:lt2>
      <a:accent1>
        <a:srgbClr val="5B9BD5"/>
      </a:accent1>
      <a:accent2>
        <a:srgbClr val="ED7D31"/>
      </a:accent2>
      <a:accent3>
        <a:srgbClr val="A5A5A5"/>
      </a:accent3>
      <a:accent4>
        <a:srgbClr val="FFC000"/>
      </a:accent4>
      <a:accent5>
        <a:srgbClr val="4472C4"/>
      </a:accent5>
      <a:accent6>
        <a:srgbClr val="70AD47"/>
      </a:accent6>
      <a:hlink>
        <a:srgbClr val="085296"/>
      </a:hlink>
      <a:folHlink>
        <a:srgbClr val="99336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5109</TotalTime>
  <Words>1480</Words>
  <Application>Microsoft Office PowerPoint</Application>
  <PresentationFormat>On-screen Show (4:3)</PresentationFormat>
  <Paragraphs>435</Paragraphs>
  <Slides>40</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5</vt:i4>
      </vt:variant>
      <vt:variant>
        <vt:lpstr>Slide Titles</vt:lpstr>
      </vt:variant>
      <vt:variant>
        <vt:i4>40</vt:i4>
      </vt:variant>
    </vt:vector>
  </HeadingPairs>
  <TitlesOfParts>
    <vt:vector size="53" baseType="lpstr">
      <vt:lpstr>Arial</vt:lpstr>
      <vt:lpstr>Calibri</vt:lpstr>
      <vt:lpstr>Monotype Sorts</vt:lpstr>
      <vt:lpstr>Symbol</vt:lpstr>
      <vt:lpstr>Tahoma</vt:lpstr>
      <vt:lpstr>Times New Roman</vt:lpstr>
      <vt:lpstr>Wingdings</vt:lpstr>
      <vt:lpstr>Blank</vt:lpstr>
      <vt:lpstr>Worksheet</vt:lpstr>
      <vt:lpstr>VISIO</vt:lpstr>
      <vt:lpstr>Document</vt:lpstr>
      <vt:lpstr>Visio</vt:lpstr>
      <vt:lpstr>Equation</vt:lpstr>
      <vt:lpstr>Classification</vt:lpstr>
      <vt:lpstr>Classification: Definition</vt:lpstr>
      <vt:lpstr>PowerPoint Presentation</vt:lpstr>
      <vt:lpstr>Classification: Use the Model</vt:lpstr>
      <vt:lpstr>Examples of Classification Task</vt:lpstr>
      <vt:lpstr>Classification: 2 Step Process</vt:lpstr>
      <vt:lpstr>Classifier Accuracy </vt:lpstr>
      <vt:lpstr>Classification Techniques</vt:lpstr>
      <vt:lpstr>Example of a Decision Tree</vt:lpstr>
      <vt:lpstr>Another Example of Decision Tree</vt:lpstr>
      <vt:lpstr>Decision Tree Classification Task</vt:lpstr>
      <vt:lpstr>Apply Model to Test Data</vt:lpstr>
      <vt:lpstr>Apply Model to Test Data</vt:lpstr>
      <vt:lpstr>Apply Model to Test Data</vt:lpstr>
      <vt:lpstr>Apply Model to Test Data</vt:lpstr>
      <vt:lpstr>Apply Model to Test Data</vt:lpstr>
      <vt:lpstr>Apply Model to Test Data</vt:lpstr>
      <vt:lpstr>Decision Tree Classification Task</vt:lpstr>
      <vt:lpstr>Decision Tree Induction</vt:lpstr>
      <vt:lpstr>General Structure of Hunt’s Algorithm</vt:lpstr>
      <vt:lpstr>Hunt’s Algorithm</vt:lpstr>
      <vt:lpstr>Tree Induction</vt:lpstr>
      <vt:lpstr>Tree Induction</vt:lpstr>
      <vt:lpstr>How to Specify Test Condition?</vt:lpstr>
      <vt:lpstr>Splitting Based on Nominal Atts.</vt:lpstr>
      <vt:lpstr>Splitting Based on Ordinal Attributes</vt:lpstr>
      <vt:lpstr>Splitting Based on Continuous Atts.</vt:lpstr>
      <vt:lpstr>Splitting Based on Continuous Atts.</vt:lpstr>
      <vt:lpstr>Tree Induction</vt:lpstr>
      <vt:lpstr>How to determine the Best Split</vt:lpstr>
      <vt:lpstr>How to determine the Best Split</vt:lpstr>
      <vt:lpstr>Measures of Node Impurity</vt:lpstr>
      <vt:lpstr>How to Find the Best Split</vt:lpstr>
      <vt:lpstr>Measure of Impurity: GINI</vt:lpstr>
      <vt:lpstr>Examples for computing GINI</vt:lpstr>
      <vt:lpstr>Splitting Based on GINI</vt:lpstr>
      <vt:lpstr>Binary Attributes: Computing GINI Index</vt:lpstr>
      <vt:lpstr>Categorical Attributes: Computing Gini Index</vt:lpstr>
      <vt:lpstr>Continuous Attributes: Computing Gini Index</vt:lpstr>
      <vt:lpstr>Continuous Attributes: Computing Gini Index..</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yash Sharma</dc:creator>
  <cp:lastModifiedBy>yash Sharma</cp:lastModifiedBy>
  <cp:revision>221</cp:revision>
  <cp:lastPrinted>1601-01-01T00:00:00Z</cp:lastPrinted>
  <dcterms:created xsi:type="dcterms:W3CDTF">1601-01-01T00:00:00Z</dcterms:created>
  <dcterms:modified xsi:type="dcterms:W3CDTF">2018-02-05T10:14:55Z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