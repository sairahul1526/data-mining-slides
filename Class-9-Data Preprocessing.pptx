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56"/>
  </p:notesMasterIdLst>
  <p:handoutMasterIdLst>
    <p:handoutMasterId r:id="rId57"/>
  </p:handoutMasterIdLst>
  <p:sldIdLst>
    <p:sldId id="256" r:id="rId2"/>
    <p:sldId id="286" r:id="rId3"/>
    <p:sldId id="438" r:id="rId4"/>
    <p:sldId id="439" r:id="rId5"/>
    <p:sldId id="440" r:id="rId6"/>
    <p:sldId id="441" r:id="rId7"/>
    <p:sldId id="392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44" r:id="rId26"/>
    <p:sldId id="409" r:id="rId27"/>
    <p:sldId id="445" r:id="rId28"/>
    <p:sldId id="446" r:id="rId29"/>
    <p:sldId id="447" r:id="rId30"/>
    <p:sldId id="410" r:id="rId31"/>
    <p:sldId id="411" r:id="rId32"/>
    <p:sldId id="412" r:id="rId33"/>
    <p:sldId id="413" r:id="rId34"/>
    <p:sldId id="414" r:id="rId35"/>
    <p:sldId id="415" r:id="rId36"/>
    <p:sldId id="421" r:id="rId37"/>
    <p:sldId id="422" r:id="rId38"/>
    <p:sldId id="423" r:id="rId39"/>
    <p:sldId id="424" r:id="rId40"/>
    <p:sldId id="425" r:id="rId41"/>
    <p:sldId id="426" r:id="rId42"/>
    <p:sldId id="427" r:id="rId43"/>
    <p:sldId id="428" r:id="rId44"/>
    <p:sldId id="429" r:id="rId45"/>
    <p:sldId id="430" r:id="rId46"/>
    <p:sldId id="431" r:id="rId47"/>
    <p:sldId id="432" r:id="rId48"/>
    <p:sldId id="433" r:id="rId49"/>
    <p:sldId id="434" r:id="rId50"/>
    <p:sldId id="435" r:id="rId51"/>
    <p:sldId id="436" r:id="rId52"/>
    <p:sldId id="442" r:id="rId53"/>
    <p:sldId id="443" r:id="rId54"/>
    <p:sldId id="43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4" Type="http://schemas.openxmlformats.org/officeDocument/2006/relationships/image" Target="../media/image41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31-Jan-18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31-Jan-18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416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7F9C42-36A9-45D3-B9DA-41614C6D3F47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03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432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173E51-E067-4F1E-B91A-5580F3C10924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13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266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6B420-7F20-4D3F-81F1-BBD6365F97B8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24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682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E0148E-C77D-4BE2-9B6D-EA05CC60FF0C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034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996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DCAC5-442C-4D11-9A83-C8C0B74A4B1F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044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190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AA3E1A-06F9-4795-B188-E82EE87116E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054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9988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68667E-66C6-4C0F-8AAD-7359333EEC5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126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5007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347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25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36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1A69D3-11C8-42C5-B662-698A3C7A8CAE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860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8562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AE1D91-58CB-4CED-9BF2-00D0B763D857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870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775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47C182-FEB2-43C7-B307-328C9916F33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880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722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22880D-AA9E-4812-A3CD-E70424790AFE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890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031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3DD6FA-A1AA-43C6-8C9B-FC82E12F185F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335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AC2DAC-923C-4B85-A50C-4A709F2B78F5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5194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DFCEA2-D827-48D5-A6D1-F96E006A2CC2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20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31-Jan-18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31-Jan-18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31-Jan-18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31-Jan-18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31-Jan-18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22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274638"/>
            <a:ext cx="9652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EF4FB-81B2-4331-BFDE-03EF6835E27C}" type="datetime5">
              <a:rPr lang="en-US" altLang="en-US" smtClean="0"/>
              <a:t>31-Jan-18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43FC3-610D-4B8C-82C8-1CDCD047E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098613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png"/><Relationship Id="rId4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png"/><Relationship Id="rId4" Type="http://schemas.openxmlformats.org/officeDocument/2006/relationships/image" Target="../media/image1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1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1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2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5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8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3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Data Preprocessing</a:t>
            </a:r>
          </a:p>
          <a:p>
            <a:pPr lvl="1"/>
            <a:r>
              <a:rPr lang="en-US" sz="3600" dirty="0" smtClean="0"/>
              <a:t>Discretization and </a:t>
            </a:r>
            <a:r>
              <a:rPr lang="en-US" sz="3600" dirty="0" err="1" smtClean="0"/>
              <a:t>Binarization</a:t>
            </a:r>
            <a:endParaRPr lang="en-US" sz="3600" dirty="0" smtClean="0"/>
          </a:p>
          <a:p>
            <a:pPr lvl="1"/>
            <a:r>
              <a:rPr lang="en-US" sz="3600" dirty="0" smtClean="0"/>
              <a:t>Variable </a:t>
            </a:r>
            <a:r>
              <a:rPr lang="en-US" sz="3600" dirty="0" smtClean="0"/>
              <a:t>Transformation</a:t>
            </a:r>
          </a:p>
          <a:p>
            <a:pPr lvl="1"/>
            <a:r>
              <a:rPr lang="en-US" sz="3600" dirty="0" smtClean="0"/>
              <a:t>Measure of Similarity and dissimilarity</a:t>
            </a:r>
            <a:endParaRPr lang="en-US" sz="36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31-Jan-18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63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BA57D-8FAB-40ED-81A7-90B9B039182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Discretization</a:t>
            </a: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Three types of attributes: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Nominal — values from an unordered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Ordinal — values from an ordered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Continuous — real numbers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Discretization: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divide the range of a continuous attribute into intervals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Some classification algorithms only accept categorical attributes.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Reduce data size by discretization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Prepare for further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D32A-118D-446A-ACD7-B0EF5B7AEE94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936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293EB5-18A7-471C-A382-F8042CD2CCA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Discretization and Concept hierachy</a:t>
            </a: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tx2"/>
                </a:solidFill>
              </a:rPr>
              <a:t>Discretization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reduce the number of values for a given continuous attribute by dividing the range of the attribute into intervals. Interval labels can then be used to replace actual data values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tx2"/>
                </a:solidFill>
              </a:rPr>
              <a:t>Concept hierarchies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reduce the data by collecting and replacing low level concepts (such as numeric values for the attribute age) by higher level concepts (such as young, middle-aged, or senior)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D484C-C623-4A94-B67B-EA2243B6C79C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8991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645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DA144D-D7AE-46E4-B6C3-16F51A97219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Concept Hierarchy Generation for Categorical Data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a partial ordering of attributes explicitly at the schema level by users or experts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street&lt;city&lt;state&lt;country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a portion of a hierarchy by explicit data grouping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{Urbana, Champaign, Chicago}&lt;Illinois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a set of attributes.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System automatically generates partial ordering by analysis of the number of distinct values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E.g., street &lt; city &lt;state &lt; country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Specification of only a partial set of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E.g., only street &lt; city, not others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2237-5812-4A2E-90D3-F044BFDFF145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4992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6553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391E6E-D20A-49CA-AB6B-749391E97C3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400" y="274638"/>
            <a:ext cx="9652000" cy="5127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Automatic Concept Hierarchy Generation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168400"/>
            <a:ext cx="11150600" cy="26177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Some concept hierarchies can be automatically generated based on the analysis of the number of distinct values per attribute in the given data set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 attribute with the most distinct values is placed at the lowest level of the hierarchy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Note: Exception—weekday, month, quarter, year</a:t>
            </a:r>
          </a:p>
        </p:txBody>
      </p:sp>
      <p:sp>
        <p:nvSpPr>
          <p:cNvPr id="65542" name="Oval 4"/>
          <p:cNvSpPr>
            <a:spLocks noChangeArrowheads="1"/>
          </p:cNvSpPr>
          <p:nvPr/>
        </p:nvSpPr>
        <p:spPr bwMode="auto">
          <a:xfrm>
            <a:off x="2609850" y="37687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6E6EA"/>
                </a:solidFill>
                <a:latin typeface="Times New Roman" panose="02020603050405020304" pitchFamily="18" charset="0"/>
              </a:rPr>
              <a:t>country</a:t>
            </a:r>
          </a:p>
        </p:txBody>
      </p:sp>
      <p:sp>
        <p:nvSpPr>
          <p:cNvPr id="65543" name="Oval 5"/>
          <p:cNvSpPr>
            <a:spLocks noChangeArrowheads="1"/>
          </p:cNvSpPr>
          <p:nvPr/>
        </p:nvSpPr>
        <p:spPr bwMode="auto">
          <a:xfrm>
            <a:off x="2667000" y="44926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AE2F6"/>
                </a:solidFill>
                <a:latin typeface="Times New Roman" panose="02020603050405020304" pitchFamily="18" charset="0"/>
              </a:rPr>
              <a:t>province_or_ state</a:t>
            </a:r>
          </a:p>
        </p:txBody>
      </p:sp>
      <p:sp>
        <p:nvSpPr>
          <p:cNvPr id="65544" name="Oval 6"/>
          <p:cNvSpPr>
            <a:spLocks noChangeArrowheads="1"/>
          </p:cNvSpPr>
          <p:nvPr/>
        </p:nvSpPr>
        <p:spPr bwMode="auto">
          <a:xfrm>
            <a:off x="2743200" y="52927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AE2F6"/>
                </a:solidFill>
                <a:latin typeface="Times New Roman" panose="02020603050405020304" pitchFamily="18" charset="0"/>
              </a:rPr>
              <a:t>city</a:t>
            </a:r>
          </a:p>
        </p:txBody>
      </p:sp>
      <p:sp>
        <p:nvSpPr>
          <p:cNvPr id="65545" name="Oval 7"/>
          <p:cNvSpPr>
            <a:spLocks noChangeArrowheads="1"/>
          </p:cNvSpPr>
          <p:nvPr/>
        </p:nvSpPr>
        <p:spPr bwMode="auto">
          <a:xfrm>
            <a:off x="2724150" y="6054725"/>
            <a:ext cx="3581400" cy="3429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AE2F6"/>
                </a:solidFill>
                <a:latin typeface="Times New Roman" panose="02020603050405020304" pitchFamily="18" charset="0"/>
              </a:rPr>
              <a:t>street</a:t>
            </a:r>
          </a:p>
        </p:txBody>
      </p:sp>
      <p:sp>
        <p:nvSpPr>
          <p:cNvPr id="65546" name="Line 8"/>
          <p:cNvSpPr>
            <a:spLocks noChangeShapeType="1"/>
          </p:cNvSpPr>
          <p:nvPr/>
        </p:nvSpPr>
        <p:spPr bwMode="auto">
          <a:xfrm flipH="1">
            <a:off x="4457700" y="4149725"/>
            <a:ext cx="0" cy="381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Line 9"/>
          <p:cNvSpPr>
            <a:spLocks noChangeShapeType="1"/>
          </p:cNvSpPr>
          <p:nvPr/>
        </p:nvSpPr>
        <p:spPr bwMode="auto">
          <a:xfrm>
            <a:off x="4457700" y="4721225"/>
            <a:ext cx="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8" name="Line 10"/>
          <p:cNvSpPr>
            <a:spLocks noChangeShapeType="1"/>
          </p:cNvSpPr>
          <p:nvPr/>
        </p:nvSpPr>
        <p:spPr bwMode="auto">
          <a:xfrm>
            <a:off x="4457700" y="5540375"/>
            <a:ext cx="0" cy="5524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9" name="Text Box 11"/>
          <p:cNvSpPr txBox="1">
            <a:spLocks noChangeArrowheads="1"/>
          </p:cNvSpPr>
          <p:nvPr/>
        </p:nvSpPr>
        <p:spPr bwMode="auto">
          <a:xfrm>
            <a:off x="7165976" y="3676650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15 distinct values</a:t>
            </a:r>
          </a:p>
        </p:txBody>
      </p:sp>
      <p:sp>
        <p:nvSpPr>
          <p:cNvPr id="65550" name="Text Box 12"/>
          <p:cNvSpPr txBox="1">
            <a:spLocks noChangeArrowheads="1"/>
          </p:cNvSpPr>
          <p:nvPr/>
        </p:nvSpPr>
        <p:spPr bwMode="auto">
          <a:xfrm>
            <a:off x="7280276" y="4476750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65 distinct values</a:t>
            </a:r>
          </a:p>
        </p:txBody>
      </p:sp>
      <p:sp>
        <p:nvSpPr>
          <p:cNvPr id="65551" name="Text Box 13"/>
          <p:cNvSpPr txBox="1">
            <a:spLocks noChangeArrowheads="1"/>
          </p:cNvSpPr>
          <p:nvPr/>
        </p:nvSpPr>
        <p:spPr bwMode="auto">
          <a:xfrm>
            <a:off x="7051676" y="5219700"/>
            <a:ext cx="261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3567 distinct values</a:t>
            </a:r>
          </a:p>
        </p:txBody>
      </p:sp>
      <p:sp>
        <p:nvSpPr>
          <p:cNvPr id="65552" name="Text Box 14"/>
          <p:cNvSpPr txBox="1">
            <a:spLocks noChangeArrowheads="1"/>
          </p:cNvSpPr>
          <p:nvPr/>
        </p:nvSpPr>
        <p:spPr bwMode="auto">
          <a:xfrm>
            <a:off x="6765926" y="5943600"/>
            <a:ext cx="300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674,339 distinct values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021ACB-3F86-4E15-8597-FF16DA41BBB6}" type="datetime5">
              <a:rPr lang="en-US" altLang="en-US" smtClean="0"/>
              <a:t>31-Jan-18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02924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7630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Discretization Without Using Class Labels </a:t>
            </a:r>
          </a:p>
        </p:txBody>
      </p:sp>
      <p:pic>
        <p:nvPicPr>
          <p:cNvPr id="8745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32" y="633055"/>
            <a:ext cx="5083368" cy="254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45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51946"/>
            <a:ext cx="5463285" cy="262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45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79" y="3613666"/>
            <a:ext cx="4510571" cy="235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4503" name="Text Box 7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4504" name="Text Box 8"/>
          <p:cNvSpPr txBox="1">
            <a:spLocks noChangeArrowheads="1"/>
          </p:cNvSpPr>
          <p:nvPr/>
        </p:nvSpPr>
        <p:spPr bwMode="auto">
          <a:xfrm>
            <a:off x="2895600" y="3244334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Data</a:t>
            </a:r>
          </a:p>
        </p:txBody>
      </p:sp>
      <p:sp>
        <p:nvSpPr>
          <p:cNvPr id="874505" name="Text Box 9"/>
          <p:cNvSpPr txBox="1">
            <a:spLocks noChangeArrowheads="1"/>
          </p:cNvSpPr>
          <p:nvPr/>
        </p:nvSpPr>
        <p:spPr bwMode="auto">
          <a:xfrm>
            <a:off x="7494142" y="3244334"/>
            <a:ext cx="23356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Equal interval width</a:t>
            </a:r>
          </a:p>
        </p:txBody>
      </p:sp>
      <p:sp>
        <p:nvSpPr>
          <p:cNvPr id="874506" name="Text Box 10"/>
          <p:cNvSpPr txBox="1">
            <a:spLocks noChangeArrowheads="1"/>
          </p:cNvSpPr>
          <p:nvPr/>
        </p:nvSpPr>
        <p:spPr bwMode="auto">
          <a:xfrm>
            <a:off x="2362200" y="5987916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Equal frequency</a:t>
            </a:r>
          </a:p>
        </p:txBody>
      </p:sp>
      <p:sp>
        <p:nvSpPr>
          <p:cNvPr id="874507" name="Text Box 11"/>
          <p:cNvSpPr txBox="1">
            <a:spLocks noChangeArrowheads="1"/>
          </p:cNvSpPr>
          <p:nvPr/>
        </p:nvSpPr>
        <p:spPr bwMode="auto">
          <a:xfrm>
            <a:off x="7391400" y="6019800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K-means</a:t>
            </a:r>
          </a:p>
        </p:txBody>
      </p:sp>
      <p:pic>
        <p:nvPicPr>
          <p:cNvPr id="874508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142" y="3673268"/>
            <a:ext cx="4824858" cy="222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1240-4196-45BA-9325-2D50CA168D4C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1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Entropy-based discretization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Information-based measure – entropy</a:t>
            </a:r>
          </a:p>
          <a:p>
            <a:r>
              <a:rPr lang="en-US" altLang="en-US"/>
              <a:t>Recursively partition the values of a numeric attribute (hierarchical discretization)</a:t>
            </a:r>
          </a:p>
          <a:p>
            <a:r>
              <a:rPr lang="en-US" altLang="en-US"/>
              <a:t>Method: Given a set of tuples, S, basic method for entropy-based discretization  of A (attribute) is as follows: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093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Cont’d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Each value of A can be considered a potential interval boundary or threshold T. For example, a value v of A can partition the samples in S into two subsets satisfying the condition A &lt; v and A &gt;= v – binary discretization</a:t>
            </a:r>
          </a:p>
          <a:p>
            <a:r>
              <a:rPr lang="en-US" altLang="en-US"/>
              <a:t>Given S, the threshold value selected if the one that maximizes the information gain resulting from subsequent partitioning.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122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Information gain</a:t>
            </a:r>
          </a:p>
        </p:txBody>
      </p:sp>
      <p:sp>
        <p:nvSpPr>
          <p:cNvPr id="512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S</a:t>
            </a:r>
            <a:r>
              <a:rPr lang="en-US" altLang="en-US" baseline="-25000"/>
              <a:t>1</a:t>
            </a:r>
            <a:r>
              <a:rPr lang="en-US" altLang="en-US"/>
              <a:t> and S</a:t>
            </a:r>
            <a:r>
              <a:rPr lang="en-US" altLang="en-US" baseline="-25000"/>
              <a:t>2</a:t>
            </a:r>
            <a:r>
              <a:rPr lang="en-US" altLang="en-US"/>
              <a:t> – the samples in S satisfying the condition A &lt; T and A &gt;=T</a:t>
            </a:r>
          </a:p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51204" name="Object 1028"/>
          <p:cNvGraphicFramePr>
            <a:graphicFrameLocks noChangeAspect="1"/>
          </p:cNvGraphicFramePr>
          <p:nvPr/>
        </p:nvGraphicFramePr>
        <p:xfrm>
          <a:off x="2900364" y="2268538"/>
          <a:ext cx="669607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4" imgW="2260440" imgH="482400" progId="Equation.3">
                  <p:embed/>
                </p:oleObj>
              </mc:Choice>
              <mc:Fallback>
                <p:oleObj name="Equation" r:id="rId4" imgW="22604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4" y="2268538"/>
                        <a:ext cx="669607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422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Entropy function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i="1"/>
              <a:t>Ent</a:t>
            </a:r>
            <a:r>
              <a:rPr lang="en-US" altLang="en-US"/>
              <a:t> for a given set is calculated based on the class distribution of the samples in the set. Eg, given </a:t>
            </a:r>
            <a:r>
              <a:rPr lang="en-US" altLang="en-US" i="1"/>
              <a:t>m</a:t>
            </a:r>
            <a:r>
              <a:rPr lang="en-US" altLang="en-US"/>
              <a:t> classes, the entropy of S</a:t>
            </a:r>
            <a:r>
              <a:rPr lang="en-US" altLang="en-US" baseline="-25000"/>
              <a:t>1 </a:t>
            </a:r>
            <a:r>
              <a:rPr lang="en-US" altLang="en-US"/>
              <a:t>is 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i="1"/>
              <a:t>P</a:t>
            </a:r>
            <a:r>
              <a:rPr lang="en-US" altLang="en-US" i="1" baseline="-25000"/>
              <a:t>i</a:t>
            </a:r>
            <a:r>
              <a:rPr lang="en-US" altLang="en-US" i="1"/>
              <a:t> </a:t>
            </a:r>
            <a:r>
              <a:rPr lang="en-US" altLang="en-US"/>
              <a:t>– probability of class </a:t>
            </a:r>
            <a:r>
              <a:rPr lang="en-US" altLang="en-US" i="1"/>
              <a:t>i</a:t>
            </a:r>
            <a:r>
              <a:rPr lang="en-US" altLang="en-US"/>
              <a:t> in S</a:t>
            </a:r>
            <a:r>
              <a:rPr lang="en-US" altLang="en-US" baseline="-25000"/>
              <a:t>1</a:t>
            </a:r>
            <a:r>
              <a:rPr lang="en-US" altLang="en-US"/>
              <a:t>, determined by dividing the number of samples of class </a:t>
            </a:r>
            <a:r>
              <a:rPr lang="en-US" altLang="en-US" i="1"/>
              <a:t>i</a:t>
            </a:r>
            <a:r>
              <a:rPr lang="en-US" altLang="en-US"/>
              <a:t> in S</a:t>
            </a:r>
            <a:r>
              <a:rPr lang="en-US" altLang="en-US" baseline="-25000"/>
              <a:t>1</a:t>
            </a:r>
            <a:r>
              <a:rPr lang="en-US" altLang="en-US"/>
              <a:t> by the total number of samples in S</a:t>
            </a:r>
            <a:r>
              <a:rPr lang="en-US" altLang="en-US" baseline="-25000"/>
              <a:t>1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4343400" y="3187700"/>
          <a:ext cx="35052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r:id="rId4" imgW="1536480" imgH="482400" progId="">
                  <p:embed/>
                </p:oleObj>
              </mc:Choice>
              <mc:Fallback>
                <p:oleObj r:id="rId4" imgW="1536480" imgH="482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187700"/>
                        <a:ext cx="35052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106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Entropy-based (1)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Given attribute-value/class pairs:</a:t>
            </a:r>
            <a:r>
              <a:rPr lang="en-US" altLang="en-US" sz="24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(0,P), (4,P), (12,P), (16,N), (16,N), (18,P), (24,N), (26,N), (28,N)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Entropy-based binning via </a:t>
            </a:r>
            <a:r>
              <a:rPr lang="en-US" altLang="en-US" dirty="0" err="1"/>
              <a:t>binarization</a:t>
            </a:r>
            <a:r>
              <a:rPr lang="en-US" altLang="en-US" dirty="0"/>
              <a:t>: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Intuitively, find best split so that the bins are as pure as possible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Formally characterized by maximal information gain.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Let S denote the above 9 pairs, p=4/9 be fraction of P pairs, and n=5/9 be fraction of N pairs.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dirty="0"/>
              <a:t>Entropy(S) = - p log p - n log n.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Smaller entropy – set is relatively pure; smallest is 0.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Large entropy – set is mixed. Largest is 1.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296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81000"/>
            <a:ext cx="7793038" cy="1143000"/>
          </a:xfrm>
        </p:spPr>
        <p:txBody>
          <a:bodyPr/>
          <a:lstStyle/>
          <a:p>
            <a:r>
              <a:rPr lang="en-US" altLang="en-US"/>
              <a:t>Entropy-based (2)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Let v be a possible split. Then S is divided into two sets: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S1: value &lt;= v  and S2: value &gt; v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Information of the split: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I(S1,S2) = (|S1|/|S|) Entropy(S1)+ (|S2|/|S|) Entropy(S2)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 b="1"/>
              <a:t>Goal:</a:t>
            </a:r>
            <a:r>
              <a:rPr lang="en-US" altLang="en-US" sz="2400"/>
              <a:t> split with maximal information gain.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Possible splits: mid points b/w any two consecutive values.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97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381000"/>
            <a:ext cx="7772400" cy="1219200"/>
          </a:xfrm>
        </p:spPr>
        <p:txBody>
          <a:bodyPr/>
          <a:lstStyle/>
          <a:p>
            <a:r>
              <a:rPr lang="en-US" altLang="en-US"/>
              <a:t>Cont.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1" y="1752600"/>
            <a:ext cx="7769225" cy="48133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For v=14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    I(S1,S2) = 0 + 6/9*Entropy(S2)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                  = 6/9 * 0.65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                  = 0.433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best split is found after examining all possible splits.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	Try for v 16, find I(S1,S2) ?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The process of determining a threshold value is recursively applied until the following stopping criteria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The above example no more splitting because S1&amp;S@ contains purely class, i.e., all P and all N</a:t>
            </a:r>
          </a:p>
          <a:p>
            <a:pPr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3597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876800" y="6553200"/>
            <a:ext cx="1244600" cy="304800"/>
          </a:xfrm>
          <a:prstGeom prst="rect">
            <a:avLst/>
          </a:prstGeom>
        </p:spPr>
        <p:txBody>
          <a:bodyPr/>
          <a:lstStyle/>
          <a:p>
            <a:fld id="{5919A77A-284D-442E-9EFC-51E4A744A8A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新細明體" charset="-120"/>
              </a:rPr>
              <a:t>Example: fair coin throw 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066800"/>
            <a:ext cx="4953000" cy="4724400"/>
          </a:xfrm>
        </p:spPr>
        <p:txBody>
          <a:bodyPr/>
          <a:lstStyle/>
          <a:p>
            <a:pPr marL="342900" indent="-342900"/>
            <a:r>
              <a:rPr lang="en-US" altLang="zh-TW" sz="2400" dirty="0">
                <a:ea typeface="新細明體" charset="-120"/>
              </a:rPr>
              <a:t>P (head)  = 0.5</a:t>
            </a:r>
          </a:p>
          <a:p>
            <a:pPr marL="342900" indent="-342900"/>
            <a:r>
              <a:rPr lang="en-US" altLang="zh-TW" sz="2400" dirty="0">
                <a:ea typeface="新細明體" charset="-120"/>
              </a:rPr>
              <a:t>P (tail) = 0.5</a:t>
            </a:r>
          </a:p>
          <a:p>
            <a:pPr marL="342900" indent="-342900"/>
            <a:endParaRPr lang="en-US" altLang="zh-TW" sz="2400" dirty="0">
              <a:ea typeface="新細明體" charset="-120"/>
            </a:endParaRPr>
          </a:p>
          <a:p>
            <a:pPr marL="342900" indent="-342900"/>
            <a:endParaRPr lang="en-US" altLang="zh-TW" sz="2400" dirty="0">
              <a:ea typeface="新細明體" charset="-120"/>
            </a:endParaRPr>
          </a:p>
          <a:p>
            <a:pPr marL="342900" indent="-342900"/>
            <a:endParaRPr lang="en-US" altLang="zh-TW" sz="2400" dirty="0">
              <a:ea typeface="新細明體" charset="-120"/>
            </a:endParaRPr>
          </a:p>
          <a:p>
            <a:pPr marL="342900" indent="-342900"/>
            <a:endParaRPr lang="en-US" altLang="zh-TW" sz="2400" dirty="0">
              <a:ea typeface="新細明體" charset="-120"/>
            </a:endParaRPr>
          </a:p>
        </p:txBody>
      </p:sp>
      <p:graphicFrame>
        <p:nvGraphicFramePr>
          <p:cNvPr id="183300" name="Object 4"/>
          <p:cNvGraphicFramePr>
            <a:graphicFrameLocks noChangeAspect="1"/>
          </p:cNvGraphicFramePr>
          <p:nvPr>
            <p:extLst/>
          </p:nvPr>
        </p:nvGraphicFramePr>
        <p:xfrm>
          <a:off x="5041900" y="3369467"/>
          <a:ext cx="533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Equation" r:id="rId3" imgW="1206360" imgH="177480" progId="Equation.3">
                  <p:embed/>
                </p:oleObj>
              </mc:Choice>
              <mc:Fallback>
                <p:oleObj name="Equation" r:id="rId3" imgW="12063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3369467"/>
                        <a:ext cx="5334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ChangeAspect="1"/>
          </p:cNvGraphicFramePr>
          <p:nvPr>
            <p:extLst/>
          </p:nvPr>
        </p:nvGraphicFramePr>
        <p:xfrm>
          <a:off x="5029200" y="1829592"/>
          <a:ext cx="39624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5" imgW="1155600" imgH="203040" progId="Equation.3">
                  <p:embed/>
                </p:oleObj>
              </mc:Choice>
              <mc:Fallback>
                <p:oleObj name="Equation" r:id="rId5" imgW="1155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829592"/>
                        <a:ext cx="39624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6"/>
          <p:cNvGraphicFramePr>
            <a:graphicFrameLocks noChangeAspect="1"/>
          </p:cNvGraphicFramePr>
          <p:nvPr>
            <p:extLst/>
          </p:nvPr>
        </p:nvGraphicFramePr>
        <p:xfrm>
          <a:off x="4522789" y="2545554"/>
          <a:ext cx="68548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7" imgW="1917360" imgH="215640" progId="Equation.3">
                  <p:embed/>
                </p:oleObj>
              </mc:Choice>
              <mc:Fallback>
                <p:oleObj name="Equation" r:id="rId7" imgW="1917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9" y="2545554"/>
                        <a:ext cx="685482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25450" y="387760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/>
              <a:t>Example:  Coin Flip</a:t>
            </a:r>
          </a:p>
          <a:p>
            <a:pPr lvl="1"/>
            <a:r>
              <a:rPr lang="en-US" altLang="en-US" sz="2400" i="1" dirty="0"/>
              <a:t>A</a:t>
            </a:r>
            <a:r>
              <a:rPr lang="en-US" altLang="en-US" sz="2400" i="1" baseline="-25000" dirty="0"/>
              <a:t>X</a:t>
            </a:r>
            <a:r>
              <a:rPr lang="en-US" altLang="en-US" sz="2400" i="1" dirty="0"/>
              <a:t> = {heads, tails}</a:t>
            </a:r>
            <a:endParaRPr lang="en-US" altLang="en-US" sz="2400" dirty="0"/>
          </a:p>
          <a:p>
            <a:pPr lvl="1"/>
            <a:r>
              <a:rPr lang="en-US" altLang="en-US" sz="2400" i="1" dirty="0"/>
              <a:t>P(heads) = P(tails) =</a:t>
            </a:r>
            <a:r>
              <a:rPr lang="en-US" altLang="en-US" sz="2400" dirty="0"/>
              <a:t> ½</a:t>
            </a:r>
          </a:p>
          <a:p>
            <a:pPr lvl="1"/>
            <a:r>
              <a:rPr lang="en-US" altLang="en-US" sz="2400" i="1" dirty="0"/>
              <a:t>½ </a:t>
            </a:r>
            <a:r>
              <a:rPr lang="en-US" altLang="en-US" sz="2400" dirty="0"/>
              <a:t>log</a:t>
            </a:r>
            <a:r>
              <a:rPr lang="en-US" altLang="en-US" sz="2400" i="1" baseline="-25000" dirty="0"/>
              <a:t>2</a:t>
            </a:r>
            <a:r>
              <a:rPr lang="en-US" altLang="en-US" sz="2400" i="1" dirty="0"/>
              <a:t>(½) = ½ * - 1</a:t>
            </a:r>
          </a:p>
          <a:p>
            <a:pPr lvl="1"/>
            <a:r>
              <a:rPr lang="en-US" altLang="en-US" sz="2400" i="1" dirty="0"/>
              <a:t>H(X) = 1</a:t>
            </a:r>
          </a:p>
        </p:txBody>
      </p:sp>
    </p:spTree>
    <p:extLst>
      <p:ext uri="{BB962C8B-B14F-4D97-AF65-F5344CB8AC3E}">
        <p14:creationId xmlns:p14="http://schemas.microsoft.com/office/powerpoint/2010/main" val="17553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 smtClean="0"/>
              <a:t>CS F415</a:t>
            </a:r>
            <a:endParaRPr lang="en-US" altLang="en-US" dirty="0"/>
          </a:p>
        </p:txBody>
      </p:sp>
      <p:sp>
        <p:nvSpPr>
          <p:cNvPr id="604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45EC02-F1C0-4D2B-84EE-69D603535D0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70000"/>
            <a:ext cx="10515600" cy="490696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What </a:t>
            </a:r>
            <a:r>
              <a:rPr lang="en-US" altLang="en-US" dirty="0"/>
              <a:t>about a two-headed coin?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 smtClean="0"/>
              <a:t>Conditional </a:t>
            </a:r>
            <a:r>
              <a:rPr lang="en-US" altLang="en-US" dirty="0"/>
              <a:t>Entropy:</a:t>
            </a:r>
          </a:p>
        </p:txBody>
      </p:sp>
      <p:graphicFrame>
        <p:nvGraphicFramePr>
          <p:cNvPr id="674821" name="Object 5"/>
          <p:cNvGraphicFramePr>
            <a:graphicFrameLocks noChangeAspect="1"/>
          </p:cNvGraphicFramePr>
          <p:nvPr>
            <p:extLst/>
          </p:nvPr>
        </p:nvGraphicFramePr>
        <p:xfrm>
          <a:off x="2755900" y="5419725"/>
          <a:ext cx="47244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3" imgW="1828800" imgH="368280" progId="Equation.DSMT4">
                  <p:embed/>
                </p:oleObj>
              </mc:Choice>
              <mc:Fallback>
                <p:oleObj name="Equation" r:id="rId3" imgW="18288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5419725"/>
                        <a:ext cx="47244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4F424-8254-445E-9F83-7D4796851F36}" type="datetime5">
              <a:rPr lang="en-US" smtClean="0"/>
              <a:t>31-Jan-18</a:t>
            </a:fld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9800" y="161926"/>
            <a:ext cx="11074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ea typeface="新細明體" charset="-120"/>
              </a:rPr>
              <a:t>Example: biased coin throw </a:t>
            </a:r>
            <a:endParaRPr lang="en-US" altLang="zh-TW" dirty="0">
              <a:ea typeface="新細明體" charset="-120"/>
            </a:endParaRPr>
          </a:p>
        </p:txBody>
      </p:sp>
      <p:graphicFrame>
        <p:nvGraphicFramePr>
          <p:cNvPr id="11" name="Group 3"/>
          <p:cNvGraphicFramePr>
            <a:graphicFrameLocks/>
          </p:cNvGraphicFramePr>
          <p:nvPr/>
        </p:nvGraphicFramePr>
        <p:xfrm>
          <a:off x="3276600" y="1905001"/>
          <a:ext cx="5181600" cy="2843213"/>
        </p:xfrm>
        <a:graphic>
          <a:graphicData uri="http://schemas.openxmlformats.org/drawingml/2006/table">
            <a:tbl>
              <a:tblPr/>
              <a:tblGrid>
                <a:gridCol w="1336675"/>
                <a:gridCol w="706438"/>
                <a:gridCol w="1046162"/>
                <a:gridCol w="1046163"/>
                <a:gridCol w="1046162"/>
              </a:tblGrid>
              <a:tr h="838200"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P(head)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P(tail)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9213"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0.811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0.469</a:t>
                      </a:r>
                      <a:endParaRPr kumimoji="0" lang="en-US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5425" indent="-225425">
                        <a:spcBef>
                          <a:spcPct val="50000"/>
                        </a:spcBef>
                        <a:buClr>
                          <a:srgbClr val="E2007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1pPr>
                      <a:lvl2pPr marL="566738" indent="-225425">
                        <a:spcBef>
                          <a:spcPct val="50000"/>
                        </a:spcBef>
                        <a:buClr>
                          <a:srgbClr val="00C6BD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2pPr>
                      <a:lvl3pPr indent="-233363">
                        <a:spcBef>
                          <a:spcPct val="50000"/>
                        </a:spcBef>
                        <a:buClr>
                          <a:srgbClr val="00B2EB"/>
                        </a:buClr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3pPr>
                      <a:lvl4pPr marL="1254125" indent="-225425">
                        <a:spcBef>
                          <a:spcPct val="5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4pPr>
                      <a:lvl5pPr marL="1541463" indent="-173038">
                        <a:spcBef>
                          <a:spcPct val="50000"/>
                        </a:spcBef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5pPr>
                      <a:lvl6pPr marL="19986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6pPr>
                      <a:lvl7pPr marL="24558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7pPr>
                      <a:lvl8pPr marL="29130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8pPr>
                      <a:lvl9pPr marL="3370263" indent="-173038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33CC33"/>
                        </a:buClr>
                        <a:buFont typeface="Wingdings" panose="05000000000000000000" pitchFamily="2" charset="2"/>
                        <a:defRPr sz="1000">
                          <a:solidFill>
                            <a:schemeClr val="bg2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225425" marR="0" lvl="0" indent="-225425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  <a:endParaRPr kumimoji="0" lang="en-US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76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7D80FF-841B-4B57-B398-E9BF9993072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Entropy of a split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zh-TW">
                <a:ea typeface="新細明體" charset="-120"/>
              </a:rPr>
              <a:t>Information in a split with </a:t>
            </a:r>
            <a:r>
              <a:rPr lang="en-US" altLang="zh-TW" b="1" i="1">
                <a:ea typeface="新細明體" charset="-120"/>
              </a:rPr>
              <a:t>x</a:t>
            </a:r>
            <a:r>
              <a:rPr lang="en-US" altLang="zh-TW">
                <a:ea typeface="新細明體" charset="-120"/>
              </a:rPr>
              <a:t> items of one class, </a:t>
            </a:r>
            <a:r>
              <a:rPr lang="en-US" altLang="zh-TW" b="1" i="1">
                <a:ea typeface="新細明體" charset="-120"/>
              </a:rPr>
              <a:t>y</a:t>
            </a:r>
            <a:r>
              <a:rPr lang="en-US" altLang="zh-TW">
                <a:ea typeface="新細明體" charset="-120"/>
              </a:rPr>
              <a:t> items of the second class</a:t>
            </a: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2286000" y="2590801"/>
          <a:ext cx="6630988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3" imgW="2158920" imgH="419040" progId="Equation.3">
                  <p:embed/>
                </p:oleObj>
              </mc:Choice>
              <mc:Fallback>
                <p:oleObj name="Equation" r:id="rId3" imgW="2158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1"/>
                        <a:ext cx="6630988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2438400" y="4038601"/>
          <a:ext cx="66294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5" imgW="2412720" imgH="419040" progId="Equation.3">
                  <p:embed/>
                </p:oleObj>
              </mc:Choice>
              <mc:Fallback>
                <p:oleObj name="Equation" r:id="rId5" imgW="24127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038601"/>
                        <a:ext cx="66294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310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876800" y="6553200"/>
            <a:ext cx="1244600" cy="304800"/>
          </a:xfrm>
          <a:prstGeom prst="rect">
            <a:avLst/>
          </a:prstGeom>
        </p:spPr>
        <p:txBody>
          <a:bodyPr/>
          <a:lstStyle/>
          <a:p>
            <a:fld id="{AE6848A7-DC67-4F8D-B6F2-39885B4276B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新細明體" charset="-120"/>
              </a:rPr>
              <a:t>Example: attribute “Outlook” 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066800"/>
            <a:ext cx="4953000" cy="4724400"/>
          </a:xfrm>
        </p:spPr>
        <p:txBody>
          <a:bodyPr/>
          <a:lstStyle/>
          <a:p>
            <a:pPr marL="342900" indent="-342900"/>
            <a:r>
              <a:rPr lang="zh-TW" altLang="en-US" sz="2400">
                <a:ea typeface="新細明體" charset="-120"/>
              </a:rPr>
              <a:t>“</a:t>
            </a:r>
            <a:r>
              <a:rPr lang="en-US" altLang="zh-TW" sz="2400">
                <a:ea typeface="新細明體" charset="-120"/>
              </a:rPr>
              <a:t>Outlook” = “Sunny”: 2 and 3 split</a:t>
            </a:r>
          </a:p>
          <a:p>
            <a:pPr marL="342900" indent="-342900"/>
            <a:endParaRPr lang="en-US" altLang="zh-TW" sz="2400">
              <a:ea typeface="新細明體" charset="-120"/>
            </a:endParaRPr>
          </a:p>
          <a:p>
            <a:pPr marL="342900" indent="-342900"/>
            <a:endParaRPr lang="en-US" altLang="zh-TW" sz="2400">
              <a:ea typeface="新細明體" charset="-120"/>
            </a:endParaRPr>
          </a:p>
          <a:p>
            <a:pPr marL="342900" indent="-342900"/>
            <a:endParaRPr lang="en-US" altLang="zh-TW" sz="2400">
              <a:ea typeface="新細明體" charset="-120"/>
            </a:endParaRPr>
          </a:p>
          <a:p>
            <a:pPr marL="342900" indent="-342900"/>
            <a:endParaRPr lang="en-US" altLang="zh-TW" sz="2400">
              <a:ea typeface="新細明體" charset="-120"/>
            </a:endParaRP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2057400" y="1600200"/>
          <a:ext cx="8153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3" imgW="3987720" imgH="393480" progId="Equation.3">
                  <p:embed/>
                </p:oleObj>
              </mc:Choice>
              <mc:Fallback>
                <p:oleObj name="Equation" r:id="rId3" imgW="3987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8153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637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667000"/>
            <a:ext cx="4076700" cy="288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2819400" y="3886200"/>
            <a:ext cx="1295400" cy="190500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9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6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4876800" y="6553200"/>
            <a:ext cx="1244600" cy="304800"/>
          </a:xfrm>
          <a:prstGeom prst="rect">
            <a:avLst/>
          </a:prstGeom>
        </p:spPr>
        <p:txBody>
          <a:bodyPr/>
          <a:lstStyle/>
          <a:p>
            <a:fld id="{7B949793-BD60-4B8C-9576-3A41DE39027D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新細明體" charset="-120"/>
              </a:rPr>
              <a:t>Outlook = Overcast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066800"/>
            <a:ext cx="4953000" cy="4724400"/>
          </a:xfrm>
        </p:spPr>
        <p:txBody>
          <a:bodyPr/>
          <a:lstStyle/>
          <a:p>
            <a:pPr marL="342900" indent="-342900"/>
            <a:r>
              <a:rPr lang="en-US" altLang="zh-TW" sz="2400">
                <a:ea typeface="新細明體" charset="-120"/>
              </a:rPr>
              <a:t>“Outlook” = “Overcast”: 4/0 split</a:t>
            </a:r>
          </a:p>
          <a:p>
            <a:pPr marL="342900" indent="-342900"/>
            <a:endParaRPr lang="en-US" altLang="zh-TW" sz="2400">
              <a:ea typeface="新細明體" charset="-120"/>
            </a:endParaRPr>
          </a:p>
        </p:txBody>
      </p:sp>
      <p:grpSp>
        <p:nvGrpSpPr>
          <p:cNvPr id="187396" name="Group 4"/>
          <p:cNvGrpSpPr>
            <a:grpSpLocks/>
          </p:cNvGrpSpPr>
          <p:nvPr/>
        </p:nvGrpSpPr>
        <p:grpSpPr bwMode="auto">
          <a:xfrm>
            <a:off x="1752600" y="1752600"/>
            <a:ext cx="8763000" cy="1200150"/>
            <a:chOff x="144" y="1536"/>
            <a:chExt cx="5520" cy="756"/>
          </a:xfrm>
        </p:grpSpPr>
        <p:graphicFrame>
          <p:nvGraphicFramePr>
            <p:cNvPr id="187397" name="Object 5"/>
            <p:cNvGraphicFramePr>
              <a:graphicFrameLocks noChangeAspect="1"/>
            </p:cNvGraphicFramePr>
            <p:nvPr/>
          </p:nvGraphicFramePr>
          <p:xfrm>
            <a:off x="144" y="1776"/>
            <a:ext cx="414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name="Equation" r:id="rId3" imgW="6578280" imgH="342720" progId="Equation.3">
                    <p:embed/>
                  </p:oleObj>
                </mc:Choice>
                <mc:Fallback>
                  <p:oleObj name="Equation" r:id="rId3" imgW="6578280" imgH="342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776"/>
                          <a:ext cx="4144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398" name="AutoShape 6"/>
            <p:cNvSpPr>
              <a:spLocks noChangeArrowheads="1"/>
            </p:cNvSpPr>
            <p:nvPr/>
          </p:nvSpPr>
          <p:spPr bwMode="auto">
            <a:xfrm flipH="1">
              <a:off x="3360" y="1636"/>
              <a:ext cx="1008" cy="327"/>
            </a:xfrm>
            <a:custGeom>
              <a:avLst/>
              <a:gdLst>
                <a:gd name="G0" fmla="+- -2097096 0 0"/>
                <a:gd name="G1" fmla="+- -8374990 0 0"/>
                <a:gd name="G2" fmla="+- -2097096 0 -8374990"/>
                <a:gd name="G3" fmla="+- 10800 0 0"/>
                <a:gd name="G4" fmla="+- 0 0 -2097096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9728 0 0"/>
                <a:gd name="G9" fmla="+- 0 0 -8374990"/>
                <a:gd name="G10" fmla="+- 9728 0 2700"/>
                <a:gd name="G11" fmla="cos G10 -2097096"/>
                <a:gd name="G12" fmla="sin G10 -2097096"/>
                <a:gd name="G13" fmla="cos 13500 -2097096"/>
                <a:gd name="G14" fmla="sin 13500 -2097096"/>
                <a:gd name="G15" fmla="+- G11 10800 0"/>
                <a:gd name="G16" fmla="+- G12 10800 0"/>
                <a:gd name="G17" fmla="+- G13 10800 0"/>
                <a:gd name="G18" fmla="+- G14 10800 0"/>
                <a:gd name="G19" fmla="*/ 9728 1 2"/>
                <a:gd name="G20" fmla="+- G19 5400 0"/>
                <a:gd name="G21" fmla="cos G20 -2097096"/>
                <a:gd name="G22" fmla="sin G20 -2097096"/>
                <a:gd name="G23" fmla="+- G21 10800 0"/>
                <a:gd name="G24" fmla="+- G12 G23 G22"/>
                <a:gd name="G25" fmla="+- G22 G23 G11"/>
                <a:gd name="G26" fmla="cos 10800 -2097096"/>
                <a:gd name="G27" fmla="sin 10800 -2097096"/>
                <a:gd name="G28" fmla="cos 9728 -2097096"/>
                <a:gd name="G29" fmla="sin 9728 -2097096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8374990"/>
                <a:gd name="G36" fmla="sin G34 -8374990"/>
                <a:gd name="G37" fmla="+/ -8374990 -2097096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9728 G39"/>
                <a:gd name="G43" fmla="sin 97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12694 w 21600"/>
                <a:gd name="T5" fmla="*/ 167 h 21600"/>
                <a:gd name="T6" fmla="*/ 4510 w 21600"/>
                <a:gd name="T7" fmla="*/ 2688 h 21600"/>
                <a:gd name="T8" fmla="*/ 12506 w 21600"/>
                <a:gd name="T9" fmla="*/ 1222 h 21600"/>
                <a:gd name="T10" fmla="*/ 22248 w 21600"/>
                <a:gd name="T11" fmla="*/ 3646 h 21600"/>
                <a:gd name="T12" fmla="*/ 21218 w 21600"/>
                <a:gd name="T13" fmla="*/ 8105 h 21600"/>
                <a:gd name="T14" fmla="*/ 16760 w 21600"/>
                <a:gd name="T15" fmla="*/ 7075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9049" y="5645"/>
                  </a:moveTo>
                  <a:cubicBezTo>
                    <a:pt x="17272" y="2800"/>
                    <a:pt x="14154" y="1072"/>
                    <a:pt x="10800" y="1072"/>
                  </a:cubicBezTo>
                  <a:cubicBezTo>
                    <a:pt x="8641" y="1072"/>
                    <a:pt x="6544" y="1789"/>
                    <a:pt x="4838" y="3112"/>
                  </a:cubicBezTo>
                  <a:lnTo>
                    <a:pt x="4181" y="2265"/>
                  </a:lnTo>
                  <a:cubicBezTo>
                    <a:pt x="6075" y="796"/>
                    <a:pt x="8403" y="0"/>
                    <a:pt x="10800" y="0"/>
                  </a:cubicBezTo>
                  <a:cubicBezTo>
                    <a:pt x="14524" y="0"/>
                    <a:pt x="17985" y="1918"/>
                    <a:pt x="19959" y="5077"/>
                  </a:cubicBezTo>
                  <a:lnTo>
                    <a:pt x="22248" y="3646"/>
                  </a:lnTo>
                  <a:lnTo>
                    <a:pt x="21218" y="8105"/>
                  </a:lnTo>
                  <a:lnTo>
                    <a:pt x="16760" y="7075"/>
                  </a:lnTo>
                  <a:lnTo>
                    <a:pt x="19049" y="56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7399" name="Text Box 7"/>
            <p:cNvSpPr txBox="1">
              <a:spLocks noChangeArrowheads="1"/>
            </p:cNvSpPr>
            <p:nvPr/>
          </p:nvSpPr>
          <p:spPr bwMode="auto">
            <a:xfrm>
              <a:off x="4224" y="1536"/>
              <a:ext cx="144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TW" b="1" i="1" dirty="0">
                  <a:solidFill>
                    <a:schemeClr val="folHlink"/>
                  </a:solidFill>
                  <a:ea typeface="新細明體" charset="-120"/>
                </a:rPr>
                <a:t>Note: log(0) is not defined, but we evaluate 0*log(0) as zero</a:t>
              </a:r>
            </a:p>
          </p:txBody>
        </p:sp>
      </p:grpSp>
      <p:pic>
        <p:nvPicPr>
          <p:cNvPr id="187400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2971800"/>
            <a:ext cx="4076700" cy="2882900"/>
          </a:xfrm>
          <a:ln/>
        </p:spPr>
      </p:pic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4267200" y="4267200"/>
            <a:ext cx="1295400" cy="190500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9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1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2A6FC-C6C7-4CDF-84E9-1568CA2E484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Outlook = Rainy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4495800"/>
          </a:xfrm>
        </p:spPr>
        <p:txBody>
          <a:bodyPr/>
          <a:lstStyle/>
          <a:p>
            <a:pPr marL="342900" indent="-342900"/>
            <a:r>
              <a:rPr lang="en-US" altLang="zh-TW">
                <a:ea typeface="新細明體" charset="-120"/>
              </a:rPr>
              <a:t>“Outlook” = “Rainy”:</a:t>
            </a:r>
          </a:p>
          <a:p>
            <a:pPr marL="342900" indent="-342900"/>
            <a:endParaRPr lang="en-US" altLang="zh-TW">
              <a:ea typeface="新細明體" charset="-120"/>
            </a:endParaRPr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981200" y="1981200"/>
          <a:ext cx="8153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3" imgW="3987720" imgH="393480" progId="Equation.3">
                  <p:embed/>
                </p:oleObj>
              </mc:Choice>
              <mc:Fallback>
                <p:oleObj name="Equation" r:id="rId3" imgW="3987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1200"/>
                        <a:ext cx="8153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842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971800"/>
            <a:ext cx="40767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2" name="Rectangle 6"/>
          <p:cNvSpPr>
            <a:spLocks noChangeArrowheads="1"/>
          </p:cNvSpPr>
          <p:nvPr/>
        </p:nvSpPr>
        <p:spPr bwMode="auto">
          <a:xfrm>
            <a:off x="5867400" y="4267200"/>
            <a:ext cx="1295400" cy="1905000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9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8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5C7EF-8E5E-4A99-A19F-457E4FCD4C51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Expected Information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4495800"/>
          </a:xfrm>
        </p:spPr>
        <p:txBody>
          <a:bodyPr/>
          <a:lstStyle/>
          <a:p>
            <a:pPr marL="342900" indent="-342900">
              <a:buNone/>
            </a:pPr>
            <a:r>
              <a:rPr lang="en-US" altLang="zh-TW">
                <a:ea typeface="新細明體" charset="-120"/>
              </a:rPr>
              <a:t>Expected information for attribute:</a:t>
            </a:r>
          </a:p>
        </p:txBody>
      </p:sp>
      <p:graphicFrame>
        <p:nvGraphicFramePr>
          <p:cNvPr id="189444" name="Object 4"/>
          <p:cNvGraphicFramePr>
            <a:graphicFrameLocks noChangeAspect="1"/>
          </p:cNvGraphicFramePr>
          <p:nvPr/>
        </p:nvGraphicFramePr>
        <p:xfrm>
          <a:off x="1905000" y="2667000"/>
          <a:ext cx="805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3" imgW="8051760" imgH="342720" progId="Equation.3">
                  <p:embed/>
                </p:oleObj>
              </mc:Choice>
              <mc:Fallback>
                <p:oleObj name="Equation" r:id="rId3" imgW="80517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67000"/>
                        <a:ext cx="805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5" name="Object 5"/>
          <p:cNvGraphicFramePr>
            <a:graphicFrameLocks noChangeAspect="1"/>
          </p:cNvGraphicFramePr>
          <p:nvPr/>
        </p:nvGraphicFramePr>
        <p:xfrm>
          <a:off x="4419600" y="3810000"/>
          <a:ext cx="1447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5" imgW="1447560" imgH="279360" progId="Equation.3">
                  <p:embed/>
                </p:oleObj>
              </mc:Choice>
              <mc:Fallback>
                <p:oleObj name="Equation" r:id="rId5" imgW="144756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810000"/>
                        <a:ext cx="1447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637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0D1739-BDFF-4F01-8A8B-A40B9235218F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Computing the information gain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47800"/>
            <a:ext cx="8305800" cy="4876800"/>
          </a:xfrm>
        </p:spPr>
        <p:txBody>
          <a:bodyPr/>
          <a:lstStyle/>
          <a:p>
            <a:pPr marL="342900" indent="-342900"/>
            <a:r>
              <a:rPr lang="en-US" altLang="zh-TW">
                <a:ea typeface="新細明體" charset="-120"/>
              </a:rPr>
              <a:t>Information gain: </a:t>
            </a:r>
          </a:p>
          <a:p>
            <a:pPr marL="342900" indent="-342900">
              <a:buNone/>
            </a:pPr>
            <a:r>
              <a:rPr lang="en-US" altLang="zh-TW">
                <a:ea typeface="新細明體" charset="-120"/>
              </a:rPr>
              <a:t>(information before split) – (information after split)</a:t>
            </a:r>
          </a:p>
          <a:p>
            <a:pPr marL="342900" indent="-342900"/>
            <a:endParaRPr lang="en-US" altLang="zh-TW">
              <a:ea typeface="新細明體" charset="-120"/>
            </a:endParaRPr>
          </a:p>
          <a:p>
            <a:pPr marL="342900" indent="-342900"/>
            <a:endParaRPr lang="en-US" altLang="zh-TW">
              <a:ea typeface="新細明體" charset="-120"/>
            </a:endParaRPr>
          </a:p>
          <a:p>
            <a:pPr marL="342900" indent="-342900"/>
            <a:r>
              <a:rPr lang="en-US" altLang="zh-TW">
                <a:ea typeface="新細明體" charset="-120"/>
              </a:rPr>
              <a:t>Information gain for attributes from weather data:</a:t>
            </a:r>
          </a:p>
        </p:txBody>
      </p:sp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1828800" y="2819401"/>
          <a:ext cx="8610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Equation" r:id="rId3" imgW="4203360" imgH="203040" progId="Equation.3">
                  <p:embed/>
                </p:oleObj>
              </mc:Choice>
              <mc:Fallback>
                <p:oleObj name="Equation" r:id="rId3" imgW="4203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19401"/>
                        <a:ext cx="8610600" cy="415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4114800" y="3276600"/>
          <a:ext cx="146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5" imgW="1460160" imgH="279360" progId="Equation.3">
                  <p:embed/>
                </p:oleObj>
              </mc:Choice>
              <mc:Fallback>
                <p:oleObj name="Equation" r:id="rId5" imgW="146016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76600"/>
                        <a:ext cx="1460500" cy="279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3962400" y="4572000"/>
          <a:ext cx="353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7" imgW="3530520" imgH="342720" progId="Equation.3">
                  <p:embed/>
                </p:oleObj>
              </mc:Choice>
              <mc:Fallback>
                <p:oleObj name="Equation" r:id="rId7" imgW="353052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72000"/>
                        <a:ext cx="353060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3962400" y="5029200"/>
          <a:ext cx="38798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9" imgW="4076640" imgH="342720" progId="Equation.3">
                  <p:embed/>
                </p:oleObj>
              </mc:Choice>
              <mc:Fallback>
                <p:oleObj name="Equation" r:id="rId9" imgW="40766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029200"/>
                        <a:ext cx="387985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3962400" y="5486400"/>
          <a:ext cx="369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11" imgW="3695400" imgH="342720" progId="Equation.3">
                  <p:embed/>
                </p:oleObj>
              </mc:Choice>
              <mc:Fallback>
                <p:oleObj name="Equation" r:id="rId11" imgW="36954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486400"/>
                        <a:ext cx="369570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3962400" y="5943600"/>
          <a:ext cx="335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13" imgW="3352680" imgH="342720" progId="Equation.3">
                  <p:embed/>
                </p:oleObj>
              </mc:Choice>
              <mc:Fallback>
                <p:oleObj name="Equation" r:id="rId13" imgW="335268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943600"/>
                        <a:ext cx="3352800" cy="3429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662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Discretization Using Class Labels</a:t>
            </a:r>
          </a:p>
        </p:txBody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Entropy based approach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2452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2453" name="Text Box 5"/>
          <p:cNvSpPr txBox="1">
            <a:spLocks noChangeArrowheads="1"/>
          </p:cNvSpPr>
          <p:nvPr/>
        </p:nvSpPr>
        <p:spPr bwMode="auto">
          <a:xfrm>
            <a:off x="2362200" y="5715000"/>
            <a:ext cx="32639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/>
              <a:t>3 categories for both x and y</a:t>
            </a:r>
          </a:p>
        </p:txBody>
      </p:sp>
      <p:pic>
        <p:nvPicPr>
          <p:cNvPr id="8724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1"/>
            <a:ext cx="4872038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2455" name="Rectangle 7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2456" name="Text Box 8"/>
          <p:cNvSpPr txBox="1">
            <a:spLocks noChangeArrowheads="1"/>
          </p:cNvSpPr>
          <p:nvPr/>
        </p:nvSpPr>
        <p:spPr bwMode="auto">
          <a:xfrm>
            <a:off x="6934200" y="5715000"/>
            <a:ext cx="3403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5 categories for both x and y</a:t>
            </a:r>
          </a:p>
        </p:txBody>
      </p:sp>
      <p:pic>
        <p:nvPicPr>
          <p:cNvPr id="87245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4"/>
          <a:stretch>
            <a:fillRect/>
          </a:stretch>
        </p:blipFill>
        <p:spPr bwMode="auto">
          <a:xfrm>
            <a:off x="6019800" y="1905001"/>
            <a:ext cx="4648200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52968-6DBB-4E94-91C1-C6771067A68A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01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046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3603626"/>
            <a:ext cx="5156200" cy="3102877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85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587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Attribute Transformation</a:t>
            </a:r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7600" y="952500"/>
            <a:ext cx="9136063" cy="529590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 function that maps the entire set of values of a given attribute to a new set of replacement values such that each old value can be identified with one of the new values</a:t>
            </a:r>
          </a:p>
          <a:p>
            <a:pPr lvl="1"/>
            <a:r>
              <a:rPr lang="en-US" altLang="en-US" sz="2800" dirty="0"/>
              <a:t>Simple functions: </a:t>
            </a:r>
            <a:r>
              <a:rPr lang="en-US" altLang="en-US" sz="2800" dirty="0" err="1"/>
              <a:t>x</a:t>
            </a:r>
            <a:r>
              <a:rPr lang="en-US" altLang="en-US" sz="2800" baseline="30000" dirty="0" err="1"/>
              <a:t>k</a:t>
            </a:r>
            <a:r>
              <a:rPr lang="en-US" altLang="en-US" sz="2800" dirty="0"/>
              <a:t>, log(x), e</a:t>
            </a:r>
            <a:r>
              <a:rPr lang="en-US" altLang="en-US" sz="2800" baseline="30000" dirty="0"/>
              <a:t>x</a:t>
            </a:r>
            <a:r>
              <a:rPr lang="en-US" altLang="en-US" sz="2800" dirty="0"/>
              <a:t>, |x|</a:t>
            </a:r>
          </a:p>
          <a:p>
            <a:pPr lvl="1"/>
            <a:r>
              <a:rPr lang="en-US" altLang="en-US" sz="2800" dirty="0"/>
              <a:t>Standardization and Normalization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BE39-35D9-43D0-A125-C6CC58E2B10E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4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Numerosity Reduction</a:t>
            </a:r>
          </a:p>
        </p:txBody>
      </p:sp>
      <p:sp>
        <p:nvSpPr>
          <p:cNvPr id="419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Reduce the data volume by choosing alternative ‘smaller’ forms of data representation</a:t>
            </a:r>
          </a:p>
          <a:p>
            <a:pPr>
              <a:lnSpc>
                <a:spcPct val="90000"/>
              </a:lnSpc>
            </a:pPr>
            <a:r>
              <a:rPr lang="en-US" altLang="en-US"/>
              <a:t>Two type: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Parametric – a model is used to estimate the data, only the data parameters is stored instead of actual data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regression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log-linear model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Nonparametric –storing reduced representation of the data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Histograms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Clustering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Sampling</a:t>
            </a:r>
          </a:p>
          <a:p>
            <a:pPr lvl="2"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876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6197FB-9626-4C46-976D-8F67C503335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Regression and Log-Linear Models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Linear regression: Data are modeled to fit a straight 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Often uses the least-square method to fit the line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Multiple regression: allows a response variable Y to be modeled as a linear function of multidimensional feature vector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Log-linear model: approximates discrete multidimensional probability distributions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A278F-F663-4803-8E96-74373F3A751E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972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Regression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Develop a model to predict the salary of college graduates with 10 years working experience</a:t>
            </a:r>
          </a:p>
          <a:p>
            <a:r>
              <a:rPr lang="en-US" altLang="en-US" dirty="0"/>
              <a:t>Potential sales of a new product given its price</a:t>
            </a:r>
          </a:p>
          <a:p>
            <a:r>
              <a:rPr lang="en-US" altLang="en-US" dirty="0"/>
              <a:t>Regression - used to approximate the given data</a:t>
            </a:r>
          </a:p>
          <a:p>
            <a:r>
              <a:rPr lang="en-US" altLang="en-US" dirty="0"/>
              <a:t>The data are modeled as a straight line.</a:t>
            </a:r>
          </a:p>
          <a:p>
            <a:r>
              <a:rPr lang="en-US" altLang="en-US" dirty="0"/>
              <a:t>A random variable Y (response variable), can be modeled as a linear function of another random variable, X (predictor variable), with the equation</a:t>
            </a:r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0801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Cont’d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variance of Y </a:t>
            </a:r>
            <a:r>
              <a:rPr lang="en-US" altLang="en-US" dirty="0"/>
              <a:t>is assumed to be constant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 and  (regression coefficients) – Y-intercept and the slope line.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be solved by the method of least squares. (minimizes the error between actual line separating data and the estimate of the line)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4114800" y="1905000"/>
          <a:ext cx="3886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r:id="rId4" imgW="711000" imgH="203040" progId="">
                  <p:embed/>
                </p:oleObj>
              </mc:Choice>
              <mc:Fallback>
                <p:oleObj r:id="rId4" imgW="711000" imgH="203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05000"/>
                        <a:ext cx="3886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09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Cont’d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4038600" y="4876800"/>
          <a:ext cx="4191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r:id="rId4" imgW="685800" imgH="228600" progId="">
                  <p:embed/>
                </p:oleObj>
              </mc:Choice>
              <mc:Fallback>
                <p:oleObj r:id="rId4" imgW="68580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876800"/>
                        <a:ext cx="4191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3276600" y="2209800"/>
          <a:ext cx="60198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r:id="rId6" imgW="1409400" imgH="952200" progId="">
                  <p:embed/>
                </p:oleObj>
              </mc:Choice>
              <mc:Fallback>
                <p:oleObj r:id="rId6" imgW="1409400" imgH="952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09800"/>
                        <a:ext cx="60198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667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 Analysis and Log-Linear Models</a:t>
            </a:r>
          </a:p>
        </p:txBody>
      </p:sp>
      <p:sp>
        <p:nvSpPr>
          <p:cNvPr id="4710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Linear regression: </a:t>
            </a:r>
            <a:r>
              <a:rPr lang="en-US" altLang="en-US" i="1"/>
              <a:t>Y = </a:t>
            </a:r>
            <a:r>
              <a:rPr lang="en-US" altLang="en-US" i="1">
                <a:sym typeface="Symbol" panose="05050102010706020507" pitchFamily="18" charset="2"/>
              </a:rPr>
              <a:t> +  X</a:t>
            </a:r>
            <a:endParaRPr lang="en-US" altLang="en-US" i="1"/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Two parameters , </a:t>
            </a:r>
            <a:r>
              <a:rPr lang="en-US" altLang="en-US" i="1">
                <a:sym typeface="Symbol" panose="05050102010706020507" pitchFamily="18" charset="2"/>
              </a:rPr>
              <a:t></a:t>
            </a:r>
            <a:r>
              <a:rPr lang="en-US" altLang="en-US">
                <a:sym typeface="Symbol" panose="05050102010706020507" pitchFamily="18" charset="2"/>
              </a:rPr>
              <a:t> and </a:t>
            </a:r>
            <a:r>
              <a:rPr lang="en-US" altLang="en-US" i="1">
                <a:sym typeface="Symbol" panose="05050102010706020507" pitchFamily="18" charset="2"/>
              </a:rPr>
              <a:t></a:t>
            </a:r>
            <a:r>
              <a:rPr lang="en-US" altLang="en-US"/>
              <a:t> specify the line and are to be estimated by using the data at hand.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using the least squares criterion to the known values of </a:t>
            </a:r>
            <a:r>
              <a:rPr lang="en-US" altLang="en-US" i="1"/>
              <a:t>Y1, Y2, …, X1, X2, ….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Multiple regression: </a:t>
            </a:r>
            <a:r>
              <a:rPr lang="en-US" altLang="en-US" i="1"/>
              <a:t>Y = b0 + b1 X1 + b2 X2</a:t>
            </a:r>
            <a:r>
              <a:rPr lang="en-US" altLang="en-US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Many nonlinear functions can be transformed into the above.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Log-linear models: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 multi-way table of joint probabilities is approximated by a product of lower-order tables.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Probability:  </a:t>
            </a:r>
            <a:r>
              <a:rPr lang="en-US" altLang="en-US" i="1"/>
              <a:t>p(a, b, c, d) = </a:t>
            </a:r>
            <a:r>
              <a:rPr lang="en-US" altLang="en-US" i="1">
                <a:sym typeface="Symbol" panose="05050102010706020507" pitchFamily="18" charset="2"/>
              </a:rPr>
              <a:t>ab acad bcd</a:t>
            </a:r>
            <a:endParaRPr lang="en-US" altLang="en-US" i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1034-5F49-4D28-ABCF-043205833F1A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3536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4648200" y="6245225"/>
            <a:ext cx="2895600" cy="47625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9155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39B7F4-569F-41D0-8E5B-6676BCF1CC9D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Histograms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popular data reduction technique</a:t>
            </a:r>
          </a:p>
          <a:p>
            <a:pPr eaLnBrk="1" hangingPunct="1"/>
            <a:r>
              <a:rPr lang="en-US" altLang="en-US" sz="2400"/>
              <a:t>Divide data into buckets and store average (sum) for each bucket</a:t>
            </a:r>
          </a:p>
          <a:p>
            <a:pPr eaLnBrk="1" hangingPunct="1"/>
            <a:r>
              <a:rPr lang="en-US" altLang="en-US" sz="2400"/>
              <a:t>Can be constructed optimally in one dimension using dynamic programming</a:t>
            </a:r>
            <a:endParaRPr lang="en-US" altLang="en-US"/>
          </a:p>
          <a:p>
            <a:pPr eaLnBrk="1" hangingPunct="1"/>
            <a:r>
              <a:rPr lang="en-US" altLang="en-US" sz="2400"/>
              <a:t>Related to quantization problems.</a:t>
            </a:r>
          </a:p>
        </p:txBody>
      </p:sp>
      <p:graphicFrame>
        <p:nvGraphicFramePr>
          <p:cNvPr id="49158" name="Object 4"/>
          <p:cNvGraphicFramePr>
            <a:graphicFrameLocks noGrp="1"/>
          </p:cNvGraphicFramePr>
          <p:nvPr>
            <p:ph sz="half" idx="2"/>
          </p:nvPr>
        </p:nvGraphicFramePr>
        <p:xfrm>
          <a:off x="6169026" y="1671639"/>
          <a:ext cx="4449763" cy="441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Chart" r:id="rId3" imgW="7505655" imgH="7448499" progId="MSGraph.Chart.8">
                  <p:embed followColorScheme="full"/>
                </p:oleObj>
              </mc:Choice>
              <mc:Fallback>
                <p:oleObj name="Chart" r:id="rId3" imgW="7505655" imgH="7448499" progId="MSGraph.Chart.8">
                  <p:embed followColorScheme="full"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6" y="1671639"/>
                        <a:ext cx="4449763" cy="441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8673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FA7BF4-5BA9-4A71-98F1-B8F82C8BD2FE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Clustering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/>
              <a:t>Partition data set into clusters, and one can store cluster representation only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Can be very effective if data is clustered but not if data is “smeared”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Can have hierarchical clustering and be stored in multi-dimensional index tree structures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There are many choices of clustering definitions and clustering algorithms, further detailed in Chapter 8</a:t>
            </a:r>
            <a:endParaRPr lang="en-US" altLang="en-US" smtClean="0">
              <a:sym typeface="Symbol" panose="05050102010706020507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F2271-7590-461E-BD17-E0E641B68CE8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3197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CF077A-7987-4F8C-833C-F9AA2DE29EB5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460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Data Compression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84200" y="1081087"/>
            <a:ext cx="10769600" cy="52752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String 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There are extensive theories and well-tuned algorithms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Typically lossless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But only limited manipulation is possible without expansion</a:t>
            </a: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Audio/video 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Typically </a:t>
            </a:r>
            <a:r>
              <a:rPr lang="en-US" altLang="en-US" dirty="0" err="1">
                <a:sym typeface="Symbol" panose="05050102010706020507" pitchFamily="18" charset="2"/>
              </a:rPr>
              <a:t>lossy</a:t>
            </a:r>
            <a:r>
              <a:rPr lang="en-US" altLang="en-US" dirty="0">
                <a:sym typeface="Symbol" panose="05050102010706020507" pitchFamily="18" charset="2"/>
              </a:rPr>
              <a:t> compression, with progressive refinement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Sometimes small fragments of signal can be reconstructed without reconstructing the whole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E6A-1AAF-4126-8BF5-52551607F22D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7880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60F9F2-DFF0-49D2-83B3-060744B9EAD4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9940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Compression</a:t>
            </a:r>
          </a:p>
        </p:txBody>
      </p:sp>
      <p:sp>
        <p:nvSpPr>
          <p:cNvPr id="39941" name="AutoShape 3"/>
          <p:cNvSpPr>
            <a:spLocks noChangeArrowheads="1"/>
          </p:cNvSpPr>
          <p:nvPr/>
        </p:nvSpPr>
        <p:spPr bwMode="auto">
          <a:xfrm>
            <a:off x="2362201" y="1625601"/>
            <a:ext cx="3446463" cy="2595563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Original Data</a:t>
            </a:r>
          </a:p>
        </p:txBody>
      </p:sp>
      <p:sp>
        <p:nvSpPr>
          <p:cNvPr id="39942" name="AutoShape 4"/>
          <p:cNvSpPr>
            <a:spLocks noChangeArrowheads="1"/>
          </p:cNvSpPr>
          <p:nvPr/>
        </p:nvSpPr>
        <p:spPr bwMode="auto">
          <a:xfrm>
            <a:off x="7699376" y="2249489"/>
            <a:ext cx="2182813" cy="1608137"/>
          </a:xfrm>
          <a:prstGeom prst="cube">
            <a:avLst>
              <a:gd name="adj" fmla="val 25000"/>
            </a:avLst>
          </a:prstGeom>
          <a:solidFill>
            <a:srgbClr val="F6E6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Compressed 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39943" name="Line 5"/>
          <p:cNvSpPr>
            <a:spLocks noChangeShapeType="1"/>
          </p:cNvSpPr>
          <p:nvPr/>
        </p:nvSpPr>
        <p:spPr bwMode="auto">
          <a:xfrm>
            <a:off x="5843589" y="3005138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Line 6"/>
          <p:cNvSpPr>
            <a:spLocks noChangeShapeType="1"/>
          </p:cNvSpPr>
          <p:nvPr/>
        </p:nvSpPr>
        <p:spPr bwMode="auto">
          <a:xfrm flipH="1">
            <a:off x="5843589" y="3579813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5" name="Text Box 7"/>
          <p:cNvSpPr txBox="1">
            <a:spLocks noChangeArrowheads="1"/>
          </p:cNvSpPr>
          <p:nvPr/>
        </p:nvSpPr>
        <p:spPr bwMode="auto">
          <a:xfrm>
            <a:off x="6161088" y="3665538"/>
            <a:ext cx="1116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lossless</a:t>
            </a:r>
          </a:p>
        </p:txBody>
      </p:sp>
      <p:sp>
        <p:nvSpPr>
          <p:cNvPr id="39946" name="AutoShape 8"/>
          <p:cNvSpPr>
            <a:spLocks noChangeArrowheads="1"/>
          </p:cNvSpPr>
          <p:nvPr/>
        </p:nvSpPr>
        <p:spPr bwMode="auto">
          <a:xfrm>
            <a:off x="2474914" y="4367213"/>
            <a:ext cx="3286125" cy="2184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Original Data</a:t>
            </a:r>
          </a:p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Approximated </a:t>
            </a:r>
          </a:p>
        </p:txBody>
      </p:sp>
      <p:sp>
        <p:nvSpPr>
          <p:cNvPr id="39947" name="Line 9"/>
          <p:cNvSpPr>
            <a:spLocks noChangeShapeType="1"/>
          </p:cNvSpPr>
          <p:nvPr/>
        </p:nvSpPr>
        <p:spPr bwMode="auto">
          <a:xfrm flipH="1">
            <a:off x="5776913" y="3875089"/>
            <a:ext cx="2743200" cy="180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8" name="Text Box 10"/>
          <p:cNvSpPr txBox="1">
            <a:spLocks noChangeArrowheads="1"/>
          </p:cNvSpPr>
          <p:nvPr/>
        </p:nvSpPr>
        <p:spPr bwMode="auto">
          <a:xfrm rot="-1797028">
            <a:off x="6751638" y="4783138"/>
            <a:ext cx="811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lossy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9BED-1F80-420B-A9DC-2DB0D55015F5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1846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20A0CE-C25A-46FD-9C72-9A95782DAFBE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0964" name="Rectangle 19"/>
          <p:cNvSpPr>
            <a:spLocks noGrp="1" noChangeArrowheads="1"/>
          </p:cNvSpPr>
          <p:nvPr>
            <p:ph type="title"/>
          </p:nvPr>
        </p:nvSpPr>
        <p:spPr>
          <a:xfrm>
            <a:off x="2971800" y="274638"/>
            <a:ext cx="4953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Wavelet Transformation </a:t>
            </a:r>
          </a:p>
        </p:txBody>
      </p:sp>
      <p:sp>
        <p:nvSpPr>
          <p:cNvPr id="40965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Discrete wavelet transform (DWT): linear signal processing, </a:t>
            </a:r>
            <a:r>
              <a:rPr lang="en-US" altLang="en-US" sz="2400" dirty="0" smtClean="0"/>
              <a:t>multi-</a:t>
            </a:r>
            <a:r>
              <a:rPr lang="en-US" altLang="en-US" sz="2400" dirty="0" err="1" smtClean="0"/>
              <a:t>resolutional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analysis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Compressed approximation: store only a small fraction of the strongest of the wavelet coefficients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Similar to discrete Fourier transform (DFT), but better </a:t>
            </a:r>
            <a:r>
              <a:rPr lang="en-US" altLang="en-US" sz="2400" dirty="0" err="1"/>
              <a:t>lossy</a:t>
            </a:r>
            <a:r>
              <a:rPr lang="en-US" altLang="en-US" sz="2400" dirty="0"/>
              <a:t> compression, localized in space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Method: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Length, L, must be an integer power of 2 (padding with 0s, when necessary)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Each transform has 2 functions: smoothing, difference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Applies to pairs of data, resulting in two set of data of length L/2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Applies two functions recursively, until reaches the desired length</a:t>
            </a:r>
          </a:p>
        </p:txBody>
      </p:sp>
      <p:grpSp>
        <p:nvGrpSpPr>
          <p:cNvPr id="40966" name="Group 4"/>
          <p:cNvGrpSpPr>
            <a:grpSpLocks/>
          </p:cNvGrpSpPr>
          <p:nvPr/>
        </p:nvGrpSpPr>
        <p:grpSpPr bwMode="auto">
          <a:xfrm>
            <a:off x="7924800" y="152401"/>
            <a:ext cx="2590800" cy="1579563"/>
            <a:chOff x="3936" y="96"/>
            <a:chExt cx="1632" cy="995"/>
          </a:xfrm>
        </p:grpSpPr>
        <p:sp>
          <p:nvSpPr>
            <p:cNvPr id="40967" name="Rectangle 5"/>
            <p:cNvSpPr>
              <a:spLocks noChangeArrowheads="1"/>
            </p:cNvSpPr>
            <p:nvPr/>
          </p:nvSpPr>
          <p:spPr bwMode="auto">
            <a:xfrm>
              <a:off x="3936" y="96"/>
              <a:ext cx="1632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>
                  <a:latin typeface="Tahoma" panose="020B0604030504040204" pitchFamily="34" charset="0"/>
                </a:rPr>
                <a:t> </a:t>
              </a:r>
              <a:endParaRPr lang="en-US" altLang="en-US" sz="1600">
                <a:latin typeface="Tahoma" panose="020B0604030504040204" pitchFamily="34" charset="0"/>
              </a:endParaRPr>
            </a:p>
            <a:p>
              <a:pPr algn="ctr" eaLnBrk="1" hangingPunct="1"/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0968" name="Line 6"/>
            <p:cNvSpPr>
              <a:spLocks noChangeShapeType="1"/>
            </p:cNvSpPr>
            <p:nvPr/>
          </p:nvSpPr>
          <p:spPr bwMode="auto">
            <a:xfrm>
              <a:off x="3984" y="8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69" name="Line 7"/>
            <p:cNvSpPr>
              <a:spLocks noChangeShapeType="1"/>
            </p:cNvSpPr>
            <p:nvPr/>
          </p:nvSpPr>
          <p:spPr bwMode="auto">
            <a:xfrm flipH="1" flipV="1">
              <a:off x="4128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0" name="Line 8"/>
            <p:cNvSpPr>
              <a:spLocks noChangeShapeType="1"/>
            </p:cNvSpPr>
            <p:nvPr/>
          </p:nvSpPr>
          <p:spPr bwMode="auto">
            <a:xfrm>
              <a:off x="4128" y="28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1" name="Line 9"/>
            <p:cNvSpPr>
              <a:spLocks noChangeShapeType="1"/>
            </p:cNvSpPr>
            <p:nvPr/>
          </p:nvSpPr>
          <p:spPr bwMode="auto">
            <a:xfrm>
              <a:off x="4416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2" name="Line 10"/>
            <p:cNvSpPr>
              <a:spLocks noChangeShapeType="1"/>
            </p:cNvSpPr>
            <p:nvPr/>
          </p:nvSpPr>
          <p:spPr bwMode="auto">
            <a:xfrm>
              <a:off x="4416" y="8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3" name="Line 11"/>
            <p:cNvSpPr>
              <a:spLocks noChangeShapeType="1"/>
            </p:cNvSpPr>
            <p:nvPr/>
          </p:nvSpPr>
          <p:spPr bwMode="auto">
            <a:xfrm>
              <a:off x="4848" y="86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4" name="Line 12"/>
            <p:cNvSpPr>
              <a:spLocks noChangeShapeType="1"/>
            </p:cNvSpPr>
            <p:nvPr/>
          </p:nvSpPr>
          <p:spPr bwMode="auto">
            <a:xfrm flipV="1">
              <a:off x="4944" y="336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5" name="Line 13"/>
            <p:cNvSpPr>
              <a:spLocks noChangeShapeType="1"/>
            </p:cNvSpPr>
            <p:nvPr/>
          </p:nvSpPr>
          <p:spPr bwMode="auto">
            <a:xfrm>
              <a:off x="5136" y="3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6" name="Line 14"/>
            <p:cNvSpPr>
              <a:spLocks noChangeShapeType="1"/>
            </p:cNvSpPr>
            <p:nvPr/>
          </p:nvSpPr>
          <p:spPr bwMode="auto">
            <a:xfrm>
              <a:off x="5232" y="624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7" name="Line 15"/>
            <p:cNvSpPr>
              <a:spLocks noChangeShapeType="1"/>
            </p:cNvSpPr>
            <p:nvPr/>
          </p:nvSpPr>
          <p:spPr bwMode="auto">
            <a:xfrm flipV="1">
              <a:off x="5328" y="864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8" name="Line 16"/>
            <p:cNvSpPr>
              <a:spLocks noChangeShapeType="1"/>
            </p:cNvSpPr>
            <p:nvPr/>
          </p:nvSpPr>
          <p:spPr bwMode="auto">
            <a:xfrm>
              <a:off x="5424" y="86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979" name="Rectangle 17"/>
            <p:cNvSpPr>
              <a:spLocks noChangeArrowheads="1"/>
            </p:cNvSpPr>
            <p:nvPr/>
          </p:nvSpPr>
          <p:spPr bwMode="auto">
            <a:xfrm>
              <a:off x="4080" y="864"/>
              <a:ext cx="4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latin typeface="Tahoma" panose="020B0604030504040204" pitchFamily="34" charset="0"/>
                </a:rPr>
                <a:t>Haar2</a:t>
              </a:r>
            </a:p>
          </p:txBody>
        </p:sp>
        <p:sp>
          <p:nvSpPr>
            <p:cNvPr id="40980" name="Rectangle 18"/>
            <p:cNvSpPr>
              <a:spLocks noChangeArrowheads="1"/>
            </p:cNvSpPr>
            <p:nvPr/>
          </p:nvSpPr>
          <p:spPr bwMode="auto">
            <a:xfrm>
              <a:off x="4752" y="864"/>
              <a:ext cx="775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Daubechie4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30DD-BB5C-476A-B768-E25EC6661D9B}" type="datetime5">
              <a:rPr lang="en-US" smtClean="0"/>
              <a:t>31-Jan-18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3862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746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Similarity and Dissimilarity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39800"/>
            <a:ext cx="10744200" cy="5237163"/>
          </a:xfrm>
        </p:spPr>
        <p:txBody>
          <a:bodyPr/>
          <a:lstStyle/>
          <a:p>
            <a:r>
              <a:rPr lang="en-US" altLang="en-US" dirty="0"/>
              <a:t>Similarity</a:t>
            </a:r>
          </a:p>
          <a:p>
            <a:pPr lvl="1"/>
            <a:r>
              <a:rPr lang="en-US" altLang="en-US" dirty="0"/>
              <a:t>Numerical measure of how alike two data objects are.</a:t>
            </a:r>
          </a:p>
          <a:p>
            <a:pPr lvl="1"/>
            <a:r>
              <a:rPr lang="en-US" altLang="en-US" dirty="0"/>
              <a:t>Is higher when objects are more alike.</a:t>
            </a:r>
          </a:p>
          <a:p>
            <a:pPr lvl="1"/>
            <a:r>
              <a:rPr lang="en-US" altLang="en-US" dirty="0"/>
              <a:t>Often falls in the range [0,1]</a:t>
            </a:r>
          </a:p>
          <a:p>
            <a:r>
              <a:rPr lang="en-US" altLang="en-US" dirty="0"/>
              <a:t>Dissimilarity</a:t>
            </a:r>
          </a:p>
          <a:p>
            <a:pPr lvl="1"/>
            <a:r>
              <a:rPr lang="en-US" altLang="en-US" dirty="0"/>
              <a:t>Numerical measure of how different are two data objects</a:t>
            </a:r>
          </a:p>
          <a:p>
            <a:pPr lvl="1"/>
            <a:r>
              <a:rPr lang="en-US" altLang="en-US" dirty="0"/>
              <a:t>Lower when objects are more alike</a:t>
            </a:r>
          </a:p>
          <a:p>
            <a:pPr lvl="1"/>
            <a:r>
              <a:rPr lang="en-US" altLang="en-US" dirty="0"/>
              <a:t>Minimum dissimilarity is often 0</a:t>
            </a:r>
          </a:p>
          <a:p>
            <a:pPr lvl="1"/>
            <a:r>
              <a:rPr lang="en-US" altLang="en-US" dirty="0"/>
              <a:t>Upper limit varies</a:t>
            </a:r>
          </a:p>
          <a:p>
            <a:r>
              <a:rPr lang="en-US" altLang="en-US" dirty="0"/>
              <a:t>Proximity refers to a similarity or dissimilarity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BA35-2529-455C-A0DE-4FC95DA4F083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3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/>
          <a:lstStyle/>
          <a:p>
            <a:r>
              <a:rPr lang="en-US" altLang="en-US" sz="2800" dirty="0"/>
              <a:t>Similarity/Dissimilarity for Simple Attributes</a:t>
            </a:r>
          </a:p>
        </p:txBody>
      </p:sp>
      <p:pic>
        <p:nvPicPr>
          <p:cNvPr id="8796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35197" r="7114" b="10513"/>
          <a:stretch>
            <a:fillRect/>
          </a:stretch>
        </p:blipFill>
        <p:spPr bwMode="auto">
          <a:xfrm>
            <a:off x="579332" y="1439565"/>
            <a:ext cx="10406167" cy="4744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9620" name="Text Box 4"/>
          <p:cNvSpPr txBox="1">
            <a:spLocks noChangeArrowheads="1"/>
          </p:cNvSpPr>
          <p:nvPr/>
        </p:nvSpPr>
        <p:spPr bwMode="auto">
          <a:xfrm>
            <a:off x="2311400" y="977900"/>
            <a:ext cx="693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 are the attribute values for two data objects.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9BB4-E94B-4F7D-9E06-3ADE0BE0E480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Autofit/>
          </a:bodyPr>
          <a:lstStyle/>
          <a:p>
            <a:r>
              <a:rPr lang="en-US" altLang="en-US" sz="4000" b="1" dirty="0"/>
              <a:t>Euclidean Distance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3" y="704850"/>
            <a:ext cx="8001000" cy="750888"/>
          </a:xfr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sz="2400" dirty="0"/>
              <a:t>Euclidean Distance</a:t>
            </a:r>
          </a:p>
          <a:p>
            <a:pPr marL="742950" lvl="1" indent="-285750">
              <a:spcBef>
                <a:spcPct val="20000"/>
              </a:spcBef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 smtClean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 smtClean="0"/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dirty="0"/>
              <a:t>   Where </a:t>
            </a:r>
            <a:r>
              <a:rPr lang="en-US" altLang="en-US" i="1" dirty="0"/>
              <a:t>n</a:t>
            </a:r>
            <a:r>
              <a:rPr lang="en-US" altLang="en-US" dirty="0"/>
              <a:t> is the number of dimensions (attributes) and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and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are, respectively, the k</a:t>
            </a:r>
            <a:r>
              <a:rPr lang="en-US" altLang="en-US" baseline="30000" dirty="0"/>
              <a:t>th</a:t>
            </a:r>
            <a:r>
              <a:rPr lang="en-US" altLang="en-US" dirty="0"/>
              <a:t> attributes (components) or data objects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</a:t>
            </a:r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en-US" dirty="0"/>
          </a:p>
          <a:p>
            <a:pPr marL="342900" indent="-342900">
              <a:spcBef>
                <a:spcPct val="20000"/>
              </a:spcBef>
            </a:pPr>
            <a:r>
              <a:rPr lang="en-US" altLang="en-US" sz="2400" dirty="0"/>
              <a:t>Standardization is necessary, if scales differ.</a:t>
            </a:r>
          </a:p>
        </p:txBody>
      </p:sp>
      <p:graphicFrame>
        <p:nvGraphicFramePr>
          <p:cNvPr id="880644" name="Object 4"/>
          <p:cNvGraphicFramePr>
            <a:graphicFrameLocks noChangeAspect="1"/>
          </p:cNvGraphicFramePr>
          <p:nvPr>
            <p:extLst/>
          </p:nvPr>
        </p:nvGraphicFramePr>
        <p:xfrm>
          <a:off x="2682875" y="1455738"/>
          <a:ext cx="38544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3" imgW="1346040" imgH="444240" progId="Equation.3">
                  <p:embed/>
                </p:oleObj>
              </mc:Choice>
              <mc:Fallback>
                <p:oleObj name="Equation" r:id="rId3" imgW="1346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1455738"/>
                        <a:ext cx="385445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1B659-DF87-4DEA-9151-E1E6EFAF9761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Euclidean Distance</a:t>
            </a:r>
          </a:p>
        </p:txBody>
      </p:sp>
      <p:graphicFrame>
        <p:nvGraphicFramePr>
          <p:cNvPr id="881667" name="Object 3"/>
          <p:cNvGraphicFramePr>
            <a:graphicFrameLocks noChangeAspect="1"/>
          </p:cNvGraphicFramePr>
          <p:nvPr/>
        </p:nvGraphicFramePr>
        <p:xfrm>
          <a:off x="1905001" y="1295400"/>
          <a:ext cx="3635375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VISIO" r:id="rId3" imgW="3636000" imgH="2653920" progId="Visio.Drawing.6">
                  <p:embed/>
                </p:oleObj>
              </mc:Choice>
              <mc:Fallback>
                <p:oleObj name="VISIO" r:id="rId3" imgW="3636000" imgH="2653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295400"/>
                        <a:ext cx="3635375" cy="265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668" name="Object 4"/>
          <p:cNvGraphicFramePr>
            <a:graphicFrameLocks noChangeAspect="1"/>
          </p:cNvGraphicFramePr>
          <p:nvPr/>
        </p:nvGraphicFramePr>
        <p:xfrm>
          <a:off x="6172201" y="1828801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Worksheet" r:id="rId5" imgW="1836725" imgH="846287" progId="Excel.Sheet.8">
                  <p:embed/>
                </p:oleObj>
              </mc:Choice>
              <mc:Fallback>
                <p:oleObj name="Worksheet" r:id="rId5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1828801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1669" name="Text Box 5"/>
          <p:cNvSpPr txBox="1">
            <a:spLocks noChangeArrowheads="1"/>
          </p:cNvSpPr>
          <p:nvPr/>
        </p:nvSpPr>
        <p:spPr bwMode="auto">
          <a:xfrm>
            <a:off x="4724400" y="56388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Distance Matrix</a:t>
            </a:r>
          </a:p>
        </p:txBody>
      </p:sp>
      <p:graphicFrame>
        <p:nvGraphicFramePr>
          <p:cNvPr id="881670" name="Object 6"/>
          <p:cNvGraphicFramePr>
            <a:graphicFrameLocks noChangeAspect="1"/>
          </p:cNvGraphicFramePr>
          <p:nvPr/>
        </p:nvGraphicFramePr>
        <p:xfrm>
          <a:off x="3429000" y="4038600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038600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A54A3-E0D1-4B70-A96D-E2E990F51186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Minkowski Distance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750888"/>
          </a:xfrm>
        </p:spPr>
        <p:txBody>
          <a:bodyPr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dirty="0" err="1"/>
              <a:t>Minkowski</a:t>
            </a:r>
            <a:r>
              <a:rPr lang="en-US" altLang="en-US" dirty="0"/>
              <a:t> Distance is a generalization of Euclidean Distance</a:t>
            </a:r>
          </a:p>
          <a:p>
            <a:pPr marL="742950" lvl="1" indent="-285750">
              <a:spcBef>
                <a:spcPct val="20000"/>
              </a:spcBef>
            </a:pPr>
            <a:endParaRPr lang="en-US" altLang="en-US" sz="2800" dirty="0"/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sz="2800" dirty="0"/>
              <a:t>   </a:t>
            </a:r>
          </a:p>
          <a:p>
            <a:pPr marL="742950" lvl="1" indent="-285750">
              <a:spcBef>
                <a:spcPct val="20000"/>
              </a:spcBef>
              <a:buNone/>
            </a:pPr>
            <a:r>
              <a:rPr lang="en-US" altLang="en-US" sz="2800" dirty="0"/>
              <a:t>   Where </a:t>
            </a:r>
            <a:r>
              <a:rPr lang="en-US" altLang="en-US" sz="2800" i="1" dirty="0"/>
              <a:t>r</a:t>
            </a:r>
            <a:r>
              <a:rPr lang="en-US" altLang="en-US" sz="2800" dirty="0"/>
              <a:t> is a parameter, </a:t>
            </a:r>
            <a:r>
              <a:rPr lang="en-US" altLang="en-US" sz="2800" i="1" dirty="0"/>
              <a:t>n</a:t>
            </a:r>
            <a:r>
              <a:rPr lang="en-US" altLang="en-US" sz="2800" dirty="0"/>
              <a:t> is the number of dimensions (attributes) and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k</a:t>
            </a:r>
            <a:r>
              <a:rPr lang="en-US" altLang="en-US" sz="2800" dirty="0"/>
              <a:t> and </a:t>
            </a:r>
            <a:r>
              <a:rPr lang="en-US" altLang="en-US" sz="2800" i="1" dirty="0" err="1"/>
              <a:t>q</a:t>
            </a:r>
            <a:r>
              <a:rPr lang="en-US" altLang="en-US" sz="2800" i="1" baseline="-25000" dirty="0" err="1"/>
              <a:t>k</a:t>
            </a:r>
            <a:r>
              <a:rPr lang="en-US" altLang="en-US" sz="2800" dirty="0"/>
              <a:t> are, respectively, the kth attributes (components) or data objects </a:t>
            </a:r>
            <a:r>
              <a:rPr lang="en-US" altLang="en-US" sz="2800" i="1" dirty="0"/>
              <a:t>p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q</a:t>
            </a:r>
            <a:r>
              <a:rPr lang="en-US" altLang="en-US" sz="2800" dirty="0"/>
              <a:t>.</a:t>
            </a:r>
          </a:p>
          <a:p>
            <a:pPr marL="342900" indent="-342900">
              <a:spcBef>
                <a:spcPct val="20000"/>
              </a:spcBef>
            </a:pPr>
            <a:endParaRPr lang="en-US" altLang="en-US" dirty="0"/>
          </a:p>
        </p:txBody>
      </p:sp>
      <p:graphicFrame>
        <p:nvGraphicFramePr>
          <p:cNvPr id="882692" name="Object 4"/>
          <p:cNvGraphicFramePr>
            <a:graphicFrameLocks noChangeAspect="1"/>
          </p:cNvGraphicFramePr>
          <p:nvPr/>
        </p:nvGraphicFramePr>
        <p:xfrm>
          <a:off x="2817814" y="1922463"/>
          <a:ext cx="4314825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3" imgW="1396800" imgH="482400" progId="Equation.3">
                  <p:embed/>
                </p:oleObj>
              </mc:Choice>
              <mc:Fallback>
                <p:oleObj name="Equation" r:id="rId3" imgW="1396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4" y="1922463"/>
                        <a:ext cx="4314825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20A6-DAF5-4A14-9A93-5254777FEE51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Minkowski Distance: Examples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143000"/>
            <a:ext cx="8801100" cy="4978400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= 1.  City block (Manhattan, taxicab, L</a:t>
            </a:r>
            <a:r>
              <a:rPr lang="en-US" altLang="en-US" baseline="-30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 norm) distance.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en-US" sz="2800" dirty="0">
                <a:cs typeface="Times New Roman" panose="02020603050405020304" pitchFamily="18" charset="0"/>
              </a:rPr>
              <a:t>A common example of this is the Hamming distance, which is just the number of bits that are different between two binary vectors</a:t>
            </a:r>
          </a:p>
          <a:p>
            <a:pPr lvl="4">
              <a:lnSpc>
                <a:spcPct val="90000"/>
              </a:lnSpc>
            </a:pPr>
            <a:endParaRPr lang="en-US" altLang="en-US" sz="2400" b="1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= 2.  Euclidean distance</a:t>
            </a:r>
          </a:p>
          <a:p>
            <a:pPr lvl="4">
              <a:lnSpc>
                <a:spcPct val="90000"/>
              </a:lnSpc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dirty="0">
                <a:cs typeface="Times New Roman" panose="02020603050405020304" pitchFamily="18" charset="0"/>
              </a:rPr>
              <a:t>.  “supremum” (</a:t>
            </a:r>
            <a:r>
              <a:rPr lang="en-US" altLang="en-US" dirty="0" err="1">
                <a:cs typeface="Times New Roman" panose="02020603050405020304" pitchFamily="18" charset="0"/>
              </a:rPr>
              <a:t>L</a:t>
            </a:r>
            <a:r>
              <a:rPr lang="en-US" altLang="en-US" baseline="-30000" dirty="0" err="1">
                <a:cs typeface="Times New Roman" panose="02020603050405020304" pitchFamily="18" charset="0"/>
              </a:rPr>
              <a:t>max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norm, L</a:t>
            </a:r>
            <a:r>
              <a:rPr lang="en-US" altLang="en-US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baseline="-30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norm) distance.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This is the maximum difference between any component of the vectors</a:t>
            </a:r>
          </a:p>
          <a:p>
            <a:pPr lvl="4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Do not confuse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with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, i.e., all these distances are defined for all numbers of dimensions.</a:t>
            </a:r>
            <a:endParaRPr lang="en-US" altLang="en-US" i="1" dirty="0">
              <a:cs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352B-BA68-4B9E-B11C-CA284B6A7FDE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6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Minkowski Distance</a:t>
            </a:r>
          </a:p>
        </p:txBody>
      </p:sp>
      <p:sp>
        <p:nvSpPr>
          <p:cNvPr id="884739" name="Text Box 3"/>
          <p:cNvSpPr txBox="1">
            <a:spLocks noChangeArrowheads="1"/>
          </p:cNvSpPr>
          <p:nvPr/>
        </p:nvSpPr>
        <p:spPr bwMode="auto">
          <a:xfrm>
            <a:off x="6400800" y="5867401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/>
              <a:t>Distance Matrix</a:t>
            </a:r>
          </a:p>
        </p:txBody>
      </p:sp>
      <p:graphicFrame>
        <p:nvGraphicFramePr>
          <p:cNvPr id="884740" name="Object 4"/>
          <p:cNvGraphicFramePr>
            <a:graphicFrameLocks noChangeAspect="1"/>
          </p:cNvGraphicFramePr>
          <p:nvPr/>
        </p:nvGraphicFramePr>
        <p:xfrm>
          <a:off x="1828801" y="2587626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Worksheet" r:id="rId3" imgW="1836725" imgH="846287" progId="Excel.Sheet.8">
                  <p:embed/>
                </p:oleObj>
              </mc:Choice>
              <mc:Fallback>
                <p:oleObj name="Worksheet" r:id="rId3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587626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1" name="Object 5"/>
          <p:cNvGraphicFramePr>
            <a:graphicFrameLocks noChangeAspect="1"/>
          </p:cNvGraphicFramePr>
          <p:nvPr/>
        </p:nvGraphicFramePr>
        <p:xfrm>
          <a:off x="5334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Worksheet" r:id="rId5" imgW="3055925" imgH="846287" progId="Excel.Sheet.8">
                  <p:embed/>
                </p:oleObj>
              </mc:Choice>
              <mc:Fallback>
                <p:oleObj name="Worksheet" r:id="rId5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2" name="Object 6"/>
          <p:cNvGraphicFramePr>
            <a:graphicFrameLocks noChangeAspect="1"/>
          </p:cNvGraphicFramePr>
          <p:nvPr/>
        </p:nvGraphicFramePr>
        <p:xfrm>
          <a:off x="5334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43" name="Object 7"/>
          <p:cNvGraphicFramePr>
            <a:graphicFrameLocks noChangeAspect="1"/>
          </p:cNvGraphicFramePr>
          <p:nvPr/>
        </p:nvGraphicFramePr>
        <p:xfrm>
          <a:off x="5334000" y="4340226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name="Worksheet" r:id="rId9" imgW="3055925" imgH="861243" progId="Excel.Sheet.8">
                  <p:embed/>
                </p:oleObj>
              </mc:Choice>
              <mc:Fallback>
                <p:oleObj name="Worksheet" r:id="rId9" imgW="3055925" imgH="861243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0226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02EE-F151-4766-8294-738FEA3B0B64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6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35001"/>
          </a:xfrm>
        </p:spPr>
        <p:txBody>
          <a:bodyPr>
            <a:noAutofit/>
          </a:bodyPr>
          <a:lstStyle/>
          <a:p>
            <a:r>
              <a:rPr lang="en-US" altLang="en-US" sz="4000" dirty="0" err="1"/>
              <a:t>Mahalanobis</a:t>
            </a:r>
            <a:r>
              <a:rPr lang="en-US" altLang="en-US" sz="4000" dirty="0"/>
              <a:t> Distance</a:t>
            </a:r>
          </a:p>
        </p:txBody>
      </p:sp>
      <p:pic>
        <p:nvPicPr>
          <p:cNvPr id="885763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3238" r="7315"/>
          <a:stretch>
            <a:fillRect/>
          </a:stretch>
        </p:blipFill>
        <p:spPr>
          <a:xfrm>
            <a:off x="1752600" y="2209801"/>
            <a:ext cx="5105400" cy="3605213"/>
          </a:xfrm>
        </p:spPr>
      </p:pic>
      <p:graphicFrame>
        <p:nvGraphicFramePr>
          <p:cNvPr id="885764" name="Object 4"/>
          <p:cNvGraphicFramePr>
            <a:graphicFrameLocks noChangeAspect="1"/>
          </p:cNvGraphicFramePr>
          <p:nvPr/>
        </p:nvGraphicFramePr>
        <p:xfrm>
          <a:off x="2362200" y="1066800"/>
          <a:ext cx="73152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Equation" r:id="rId4" imgW="2552400" imgH="253800" progId="Equation.3">
                  <p:embed/>
                </p:oleObj>
              </mc:Choice>
              <mc:Fallback>
                <p:oleObj name="Equation" r:id="rId4" imgW="2552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066800"/>
                        <a:ext cx="73152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765" name="Text Box 5"/>
          <p:cNvSpPr txBox="1">
            <a:spLocks noChangeArrowheads="1"/>
          </p:cNvSpPr>
          <p:nvPr/>
        </p:nvSpPr>
        <p:spPr bwMode="auto">
          <a:xfrm>
            <a:off x="2133600" y="5881688"/>
            <a:ext cx="9537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For red points, the Euclidean distance is 14.7, </a:t>
            </a:r>
            <a:r>
              <a:rPr lang="en-US" altLang="en-US" sz="2400" dirty="0" err="1"/>
              <a:t>Mahalanobis</a:t>
            </a:r>
            <a:r>
              <a:rPr lang="en-US" altLang="en-US" sz="2400" dirty="0"/>
              <a:t> distance is 6.</a:t>
            </a:r>
          </a:p>
        </p:txBody>
      </p:sp>
      <p:sp>
        <p:nvSpPr>
          <p:cNvPr id="885766" name="Text Box 6"/>
          <p:cNvSpPr txBox="1">
            <a:spLocks noChangeArrowheads="1"/>
          </p:cNvSpPr>
          <p:nvPr/>
        </p:nvSpPr>
        <p:spPr bwMode="auto">
          <a:xfrm>
            <a:off x="7086600" y="2178050"/>
            <a:ext cx="4102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 is the </a:t>
            </a:r>
            <a:r>
              <a:rPr lang="en-US" altLang="en-US" sz="2000" dirty="0"/>
              <a:t>covariance matrix of the input data </a:t>
            </a:r>
            <a:r>
              <a:rPr lang="en-US" altLang="en-US" sz="2000" i="1" dirty="0"/>
              <a:t>X</a:t>
            </a:r>
          </a:p>
        </p:txBody>
      </p:sp>
      <p:graphicFrame>
        <p:nvGraphicFramePr>
          <p:cNvPr id="885767" name="Object 7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7162800" y="2971800"/>
          <a:ext cx="439947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6" imgW="2209680" imgH="431640" progId="Equation.3">
                  <p:embed/>
                </p:oleObj>
              </mc:Choice>
              <mc:Fallback>
                <p:oleObj name="Equation" r:id="rId6" imgW="2209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971800"/>
                        <a:ext cx="439947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FAC-D446-4DB1-AD5B-709E59D152D7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4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Mahalanobis</a:t>
            </a:r>
            <a:r>
              <a:rPr lang="en-US" altLang="en-US" dirty="0"/>
              <a:t> Distance</a:t>
            </a:r>
          </a:p>
        </p:txBody>
      </p:sp>
      <p:grpSp>
        <p:nvGrpSpPr>
          <p:cNvPr id="886787" name="Group 3"/>
          <p:cNvGrpSpPr>
            <a:grpSpLocks/>
          </p:cNvGrpSpPr>
          <p:nvPr/>
        </p:nvGrpSpPr>
        <p:grpSpPr bwMode="auto">
          <a:xfrm>
            <a:off x="1752600" y="1219200"/>
            <a:ext cx="6477000" cy="4857750"/>
            <a:chOff x="144" y="768"/>
            <a:chExt cx="4080" cy="3060"/>
          </a:xfrm>
        </p:grpSpPr>
        <p:pic>
          <p:nvPicPr>
            <p:cNvPr id="88678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6789" name="Line 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6790" name="Line 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6791" name="Text Box 7"/>
          <p:cNvSpPr txBox="1">
            <a:spLocks noChangeArrowheads="1"/>
          </p:cNvSpPr>
          <p:nvPr/>
        </p:nvSpPr>
        <p:spPr bwMode="auto">
          <a:xfrm>
            <a:off x="8153400" y="1295401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Covariance Matrix:</a:t>
            </a:r>
          </a:p>
        </p:txBody>
      </p:sp>
      <p:graphicFrame>
        <p:nvGraphicFramePr>
          <p:cNvPr id="886792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458200" y="1752601"/>
          <a:ext cx="20574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4" imgW="939600" imgH="457200" progId="Equation.3">
                  <p:embed/>
                </p:oleObj>
              </mc:Choice>
              <mc:Fallback>
                <p:oleObj name="Equation" r:id="rId4" imgW="939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752601"/>
                        <a:ext cx="20574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6793" name="Text Box 9"/>
          <p:cNvSpPr txBox="1">
            <a:spLocks noChangeArrowheads="1"/>
          </p:cNvSpPr>
          <p:nvPr/>
        </p:nvSpPr>
        <p:spPr bwMode="auto">
          <a:xfrm>
            <a:off x="2971800" y="33528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886794" name="Text Box 10"/>
          <p:cNvSpPr txBox="1">
            <a:spLocks noChangeArrowheads="1"/>
          </p:cNvSpPr>
          <p:nvPr/>
        </p:nvSpPr>
        <p:spPr bwMode="auto">
          <a:xfrm>
            <a:off x="3962400" y="40528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886795" name="Text Box 11"/>
          <p:cNvSpPr txBox="1">
            <a:spLocks noChangeArrowheads="1"/>
          </p:cNvSpPr>
          <p:nvPr/>
        </p:nvSpPr>
        <p:spPr bwMode="auto">
          <a:xfrm>
            <a:off x="5867400" y="2590801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</a:t>
            </a:r>
          </a:p>
        </p:txBody>
      </p:sp>
      <p:sp>
        <p:nvSpPr>
          <p:cNvPr id="886796" name="Text Box 12"/>
          <p:cNvSpPr txBox="1">
            <a:spLocks noChangeArrowheads="1"/>
          </p:cNvSpPr>
          <p:nvPr/>
        </p:nvSpPr>
        <p:spPr bwMode="auto">
          <a:xfrm>
            <a:off x="8458200" y="3284538"/>
            <a:ext cx="1981200" cy="243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A: (0.5, 0.5)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B: (0, 1)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C: (1.5, 1.5)</a:t>
            </a:r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r>
              <a:rPr lang="en-US" altLang="en-US"/>
              <a:t>Mahal(A,B) = 5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Mahal(A,C) = 4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7A94C-25CD-4848-BA66-ECE036B7F600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332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Common Properties of a Distance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0" y="876300"/>
            <a:ext cx="9339263" cy="5373688"/>
          </a:xfrm>
        </p:spPr>
        <p:txBody>
          <a:bodyPr/>
          <a:lstStyle/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Distances, such as the Euclidean distance, have some well known properties.</a:t>
            </a:r>
          </a:p>
          <a:p>
            <a:pPr marL="533400" indent="-533400">
              <a:spcBef>
                <a:spcPct val="20000"/>
              </a:spcBef>
            </a:pPr>
            <a:endParaRPr lang="en-US" altLang="en-US" sz="1400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i="1" dirty="0"/>
              <a:t>d(p, q) </a:t>
            </a:r>
            <a:r>
              <a:rPr lang="en-US" altLang="en-US" sz="2200" i="1" dirty="0">
                <a:sym typeface="Symbol" panose="05050102010706020507" pitchFamily="18" charset="2"/>
              </a:rPr>
              <a:t></a:t>
            </a:r>
            <a:r>
              <a:rPr lang="en-US" altLang="en-US" sz="2200" i="1" dirty="0"/>
              <a:t> 0</a:t>
            </a:r>
            <a:r>
              <a:rPr lang="en-US" altLang="en-US" sz="2200" dirty="0"/>
              <a:t>   for all </a:t>
            </a:r>
            <a:r>
              <a:rPr lang="en-US" altLang="en-US" sz="2200" i="1" dirty="0"/>
              <a:t>p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q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d(p, q) = 0</a:t>
            </a:r>
            <a:r>
              <a:rPr lang="en-US" altLang="en-US" sz="2200" dirty="0"/>
              <a:t> only if </a:t>
            </a:r>
            <a:br>
              <a:rPr lang="en-US" altLang="en-US" sz="2200" dirty="0"/>
            </a:br>
            <a:r>
              <a:rPr lang="en-US" altLang="en-US" sz="2200" i="1" dirty="0"/>
              <a:t>p</a:t>
            </a:r>
            <a:r>
              <a:rPr lang="en-US" altLang="en-US" sz="2200" dirty="0"/>
              <a:t> </a:t>
            </a:r>
            <a:r>
              <a:rPr lang="en-US" altLang="en-US" sz="2200" i="1" dirty="0"/>
              <a:t>= q</a:t>
            </a:r>
            <a:r>
              <a:rPr lang="en-US" altLang="en-US" sz="2200" dirty="0"/>
              <a:t>. (Positive definiteness)</a:t>
            </a:r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i="1" dirty="0"/>
              <a:t>d(p, q) = d(q, p)</a:t>
            </a:r>
            <a:r>
              <a:rPr lang="en-US" altLang="en-US" sz="2200" dirty="0"/>
              <a:t>   for all </a:t>
            </a:r>
            <a:r>
              <a:rPr lang="en-US" altLang="en-US" sz="2200" i="1" dirty="0"/>
              <a:t>p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q</a:t>
            </a:r>
            <a:r>
              <a:rPr lang="en-US" altLang="en-US" sz="2200" dirty="0"/>
              <a:t>. (Symmetry)</a:t>
            </a:r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sz="2200" dirty="0"/>
              <a:t>d</a:t>
            </a:r>
            <a:r>
              <a:rPr lang="en-US" altLang="en-US" sz="2200" i="1" dirty="0"/>
              <a:t>(p, r) </a:t>
            </a:r>
            <a:r>
              <a:rPr lang="en-US" altLang="en-US" sz="2200" i="1" dirty="0">
                <a:sym typeface="Symbol" panose="05050102010706020507" pitchFamily="18" charset="2"/>
              </a:rPr>
              <a:t></a:t>
            </a:r>
            <a:r>
              <a:rPr lang="en-US" altLang="en-US" sz="2200" i="1" dirty="0"/>
              <a:t> d(p, q) + d(q, r)</a:t>
            </a:r>
            <a:r>
              <a:rPr lang="en-US" altLang="en-US" sz="2200" dirty="0"/>
              <a:t>   for all points </a:t>
            </a:r>
            <a:r>
              <a:rPr lang="en-US" altLang="en-US" sz="2200" i="1" dirty="0"/>
              <a:t>p</a:t>
            </a:r>
            <a:r>
              <a:rPr lang="en-US" altLang="en-US" sz="2200" dirty="0"/>
              <a:t>, </a:t>
            </a:r>
            <a:r>
              <a:rPr lang="en-US" altLang="en-US" sz="2200" i="1" dirty="0"/>
              <a:t>q</a:t>
            </a:r>
            <a:r>
              <a:rPr lang="en-US" altLang="en-US" sz="2200" dirty="0"/>
              <a:t>, and </a:t>
            </a:r>
            <a:r>
              <a:rPr lang="en-US" altLang="en-US" sz="2200" i="1" dirty="0"/>
              <a:t>r</a:t>
            </a:r>
            <a:r>
              <a:rPr lang="en-US" altLang="en-US" sz="2200" dirty="0"/>
              <a:t>.  </a:t>
            </a:r>
            <a:br>
              <a:rPr lang="en-US" altLang="en-US" sz="2200" dirty="0"/>
            </a:br>
            <a:r>
              <a:rPr lang="en-US" altLang="en-US" sz="2200" dirty="0"/>
              <a:t>(Triangle Inequality)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/>
              <a:t>	where </a:t>
            </a:r>
            <a:r>
              <a:rPr lang="en-US" altLang="en-US" sz="2400" i="1" dirty="0"/>
              <a:t>d(p, q)</a:t>
            </a:r>
            <a:r>
              <a:rPr lang="en-US" altLang="en-US" sz="2400" dirty="0"/>
              <a:t> is the distance (dissimilarity) between points (data objects),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.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1400" dirty="0"/>
          </a:p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A distance that satisfies these properties is a </a:t>
            </a:r>
            <a:r>
              <a:rPr lang="en-US" altLang="en-US" dirty="0">
                <a:solidFill>
                  <a:srgbClr val="FF0000"/>
                </a:solidFill>
              </a:rPr>
              <a:t>metric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9E4F-B4BF-47ED-AF60-505BB9CB5BCB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5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Common Properties of a Similarity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>
            <a:normAutofit/>
          </a:bodyPr>
          <a:lstStyle/>
          <a:p>
            <a:pPr marL="533400" indent="-533400">
              <a:spcBef>
                <a:spcPct val="20000"/>
              </a:spcBef>
            </a:pPr>
            <a:r>
              <a:rPr lang="en-US" altLang="en-US" sz="3200" dirty="0"/>
              <a:t>Similarities, also have some well known properties.</a:t>
            </a:r>
          </a:p>
          <a:p>
            <a:pPr marL="533400" indent="-533400">
              <a:spcBef>
                <a:spcPct val="20000"/>
              </a:spcBef>
            </a:pPr>
            <a:endParaRPr lang="en-US" altLang="en-US" sz="1600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i="1" dirty="0"/>
              <a:t>s(p, q) = 1 </a:t>
            </a:r>
            <a:r>
              <a:rPr lang="en-US" altLang="en-US" dirty="0"/>
              <a:t>(or maximum similarity) only if </a:t>
            </a:r>
            <a:r>
              <a:rPr lang="en-US" altLang="en-US" i="1" dirty="0"/>
              <a:t>p</a:t>
            </a:r>
            <a:r>
              <a:rPr lang="en-US" altLang="en-US" dirty="0"/>
              <a:t> </a:t>
            </a:r>
            <a:r>
              <a:rPr lang="en-US" altLang="en-US" i="1" dirty="0"/>
              <a:t>= q</a:t>
            </a:r>
            <a:r>
              <a:rPr lang="en-US" altLang="en-US" dirty="0"/>
              <a:t>. </a:t>
            </a:r>
            <a:br>
              <a:rPr lang="en-US" altLang="en-US" dirty="0"/>
            </a:br>
            <a:endParaRPr lang="en-US" altLang="en-US" dirty="0"/>
          </a:p>
          <a:p>
            <a:pPr marL="990600" lvl="1" indent="-533400"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altLang="en-US" i="1" dirty="0"/>
              <a:t>s(p, q) = s(q, p)</a:t>
            </a:r>
            <a:r>
              <a:rPr lang="en-US" altLang="en-US" dirty="0"/>
              <a:t>   for all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 (Symmetry)</a:t>
            </a:r>
            <a:br>
              <a:rPr lang="en-US" altLang="en-US" dirty="0"/>
            </a:br>
            <a:endParaRPr lang="en-US" altLang="en-US" dirty="0"/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dirty="0"/>
              <a:t>	where </a:t>
            </a:r>
            <a:r>
              <a:rPr lang="en-US" altLang="en-US" i="1" dirty="0"/>
              <a:t>s(p, q)</a:t>
            </a:r>
            <a:r>
              <a:rPr lang="en-US" altLang="en-US" dirty="0"/>
              <a:t> is the similarity between points (data objects),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.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00C2-662D-49B4-99A6-C68ABE60A023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Similarity Between Binary Vectors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Common situation is that objects,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, have only binary attributes</a:t>
            </a:r>
          </a:p>
          <a:p>
            <a:pPr marL="2171700" lvl="4" indent="-342900">
              <a:lnSpc>
                <a:spcPct val="80000"/>
              </a:lnSpc>
            </a:pPr>
            <a:endParaRPr lang="en-US" altLang="en-US" sz="8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Compute similarities using the following quantities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1800" dirty="0">
                <a:latin typeface="CMMI10" pitchFamily="34" charset="0"/>
              </a:rPr>
              <a:t>	</a:t>
            </a: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10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00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	M</a:t>
            </a:r>
            <a:r>
              <a:rPr lang="en-US" altLang="en-US" sz="2000" baseline="-25000" dirty="0">
                <a:latin typeface="CMR7" charset="0"/>
              </a:rPr>
              <a:t>11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en-US" sz="900" dirty="0">
              <a:latin typeface="CMMI10" pitchFamily="34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altLang="en-US" sz="2400" dirty="0"/>
              <a:t>Simple Matching and </a:t>
            </a:r>
            <a:r>
              <a:rPr lang="en-US" altLang="en-US" sz="2400" dirty="0" err="1"/>
              <a:t>Jaccard</a:t>
            </a:r>
            <a:r>
              <a:rPr lang="en-US" altLang="en-US" sz="2400" dirty="0"/>
              <a:t> Coefficients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1400" dirty="0">
                <a:cs typeface="Times New Roman" panose="02020603050405020304" pitchFamily="18" charset="0"/>
              </a:rPr>
              <a:t>	</a:t>
            </a:r>
            <a:r>
              <a:rPr lang="en-US" altLang="en-US" sz="2000" dirty="0">
                <a:cs typeface="Times New Roman" panose="02020603050405020304" pitchFamily="18" charset="0"/>
              </a:rPr>
              <a:t>SMC =  number of matches / number of attributes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        		 =  (M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000" dirty="0">
                <a:cs typeface="Times New Roman" panose="02020603050405020304" pitchFamily="18" charset="0"/>
              </a:rPr>
              <a:t>) / (M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000" dirty="0">
                <a:cs typeface="Times New Roman" panose="02020603050405020304" pitchFamily="18" charset="0"/>
              </a:rPr>
              <a:t> + M</a:t>
            </a:r>
            <a:r>
              <a:rPr lang="en-US" altLang="en-US" sz="20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000" dirty="0">
                <a:cs typeface="Times New Roman" panose="02020603050405020304" pitchFamily="18" charset="0"/>
              </a:rPr>
              <a:t>)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J = number of 11 matches / number of not-both-zero attributes values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	  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/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949F-8AA9-4A02-8241-25910FD668E9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SMC versus Jaccard: Example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143000"/>
            <a:ext cx="8869363" cy="5106988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cs typeface="Times New Roman" panose="02020603050405020304" pitchFamily="18" charset="0"/>
              </a:rPr>
              <a:t> =  1 0 0 0 0 0 0 0 0 0    	</a:t>
            </a:r>
            <a:r>
              <a:rPr lang="en-US" altLang="en-US" sz="2400" i="1" dirty="0">
                <a:cs typeface="Times New Roman" panose="02020603050405020304" pitchFamily="18" charset="0"/>
              </a:rPr>
              <a:t>	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cs typeface="Times New Roman" panose="02020603050405020304" pitchFamily="18" charset="0"/>
              </a:rPr>
              <a:t> =  0 0 0 0 0 0 1 0 0 1</a:t>
            </a:r>
            <a:r>
              <a:rPr lang="en-US" altLang="en-US" sz="2400" i="1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2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10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1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00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7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0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0)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000" dirty="0">
                <a:latin typeface="CMMI10" pitchFamily="34" charset="0"/>
              </a:rPr>
              <a:t>M</a:t>
            </a:r>
            <a:r>
              <a:rPr lang="en-US" altLang="en-US" sz="2000" baseline="-25000" dirty="0">
                <a:latin typeface="CMR7" charset="0"/>
              </a:rPr>
              <a:t>11</a:t>
            </a:r>
            <a:r>
              <a:rPr lang="en-US" altLang="en-US" sz="2000" dirty="0">
                <a:latin typeface="CMR7" charset="0"/>
              </a:rPr>
              <a:t> </a:t>
            </a:r>
            <a:r>
              <a:rPr lang="en-US" altLang="en-US" sz="2000" dirty="0">
                <a:latin typeface="cmr10" pitchFamily="34" charset="0"/>
              </a:rPr>
              <a:t>= 0   (the number of attributes where </a:t>
            </a:r>
            <a:r>
              <a:rPr lang="en-US" altLang="en-US" sz="2000" dirty="0">
                <a:latin typeface="CMMI10" pitchFamily="34" charset="0"/>
              </a:rPr>
              <a:t>p </a:t>
            </a:r>
            <a:r>
              <a:rPr lang="en-US" altLang="en-US" sz="2000" dirty="0">
                <a:latin typeface="cmr10" pitchFamily="34" charset="0"/>
              </a:rPr>
              <a:t>was 1 and </a:t>
            </a:r>
            <a:r>
              <a:rPr lang="en-US" altLang="en-US" sz="2000" dirty="0">
                <a:latin typeface="CMMI10" pitchFamily="34" charset="0"/>
              </a:rPr>
              <a:t>q </a:t>
            </a:r>
            <a:r>
              <a:rPr lang="en-US" altLang="en-US" sz="2000" dirty="0">
                <a:latin typeface="cmr10" pitchFamily="34" charset="0"/>
              </a:rPr>
              <a:t>was 1)</a:t>
            </a:r>
            <a:endParaRPr lang="en-US" altLang="en-US" sz="2000" dirty="0">
              <a:latin typeface="CMMI10" pitchFamily="34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	</a:t>
            </a: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SMC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400" dirty="0">
                <a:cs typeface="Times New Roman" panose="02020603050405020304" pitchFamily="18" charset="0"/>
              </a:rPr>
              <a:t>)/(M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00</a:t>
            </a:r>
            <a:r>
              <a:rPr lang="en-US" altLang="en-US" sz="2400" dirty="0">
                <a:cs typeface="Times New Roman" panose="02020603050405020304" pitchFamily="18" charset="0"/>
              </a:rPr>
              <a:t>) = (0+7) / (2+1+0+7) = 0.7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33400" indent="-53340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J =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/ (M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01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10</a:t>
            </a:r>
            <a:r>
              <a:rPr lang="en-US" altLang="en-US" sz="2400" dirty="0">
                <a:cs typeface="Times New Roman" panose="02020603050405020304" pitchFamily="18" charset="0"/>
              </a:rPr>
              <a:t> + M</a:t>
            </a:r>
            <a:r>
              <a:rPr lang="en-US" altLang="en-US" sz="2400" baseline="-30000" dirty="0">
                <a:cs typeface="Times New Roman" panose="02020603050405020304" pitchFamily="18" charset="0"/>
              </a:rPr>
              <a:t>11</a:t>
            </a:r>
            <a:r>
              <a:rPr lang="en-US" altLang="en-US" sz="2400" dirty="0">
                <a:cs typeface="Times New Roman" panose="02020603050405020304" pitchFamily="18" charset="0"/>
              </a:rPr>
              <a:t>) = 0 / (2 + 1 + 0) = 0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</a:p>
          <a:p>
            <a:pPr marL="533400" indent="-533400">
              <a:spcBef>
                <a:spcPct val="20000"/>
              </a:spcBef>
              <a:buNone/>
            </a:pPr>
            <a:endParaRPr lang="en-US" altLang="en-US" sz="2400" i="1" dirty="0"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DD67-43B4-4A29-A6B2-6BE9367AC5D6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2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Cosine Similarity</a:t>
            </a:r>
          </a:p>
        </p:txBody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901700"/>
            <a:ext cx="9720263" cy="5348288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2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 If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are two document vectors, then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          cos(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i="1" dirty="0">
                <a:cs typeface="Times New Roman" panose="02020603050405020304" pitchFamily="18" charset="0"/>
              </a:rPr>
              <a:t>, 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) =  (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) /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||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|| , </a:t>
            </a:r>
          </a:p>
          <a:p>
            <a:pPr marL="0" indent="0" algn="just">
              <a:spcBef>
                <a:spcPct val="20000"/>
              </a:spcBef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where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indicates vector dot product and || </a:t>
            </a:r>
            <a:r>
              <a:rPr lang="en-US" altLang="en-US" sz="1800" i="1" dirty="0">
                <a:cs typeface="Times New Roman" panose="02020603050405020304" pitchFamily="18" charset="0"/>
              </a:rPr>
              <a:t>d </a:t>
            </a:r>
            <a:r>
              <a:rPr lang="en-US" altLang="en-US" sz="1800" dirty="0">
                <a:cs typeface="Times New Roman" panose="02020603050405020304" pitchFamily="18" charset="0"/>
              </a:rPr>
              <a:t>|| is  the   length of vector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  <a:r>
              <a:rPr lang="en-US" altLang="en-US" sz="2400" dirty="0">
                <a:cs typeface="Times New Roman" panose="02020603050405020304" pitchFamily="18" charset="0"/>
              </a:rPr>
              <a:t>  </a:t>
            </a:r>
          </a:p>
          <a:p>
            <a:pPr marL="2514600" lvl="4" indent="-342900" algn="just"/>
            <a:endParaRPr lang="en-US" altLang="en-US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 Example: </a:t>
            </a:r>
          </a:p>
          <a:p>
            <a:pPr marL="0" indent="0" algn="just">
              <a:spcBef>
                <a:spcPct val="20000"/>
              </a:spcBef>
              <a:buNone/>
            </a:pPr>
            <a:endParaRPr lang="en-US" altLang="en-US" sz="105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  	</a:t>
            </a:r>
            <a:r>
              <a:rPr lang="en-US" altLang="en-US" sz="2000" i="1" dirty="0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Times New Roman" panose="02020603050405020304" pitchFamily="18" charset="0"/>
              </a:rPr>
              <a:t>=  3 2 0 5 0 0 0 2 0 0 	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000" i="1" dirty="0">
                <a:cs typeface="Times New Roman" panose="02020603050405020304" pitchFamily="18" charset="0"/>
              </a:rPr>
              <a:t>   	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cs typeface="Times New Roman" panose="02020603050405020304" pitchFamily="18" charset="0"/>
              </a:rPr>
              <a:t> =  1 0 0 0 0 0 0 1 0 2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1800" i="1" dirty="0">
                <a:cs typeface="Times New Roman" panose="02020603050405020304" pitchFamily="18" charset="0"/>
              </a:rPr>
              <a:t>    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=  3*1 + 2*0 + 0*0 + 5*0 + 0*0 + 0*0 + 0*0 + 2*1 + 0*0 + 0*2 = 5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</a:t>
            </a:r>
            <a:r>
              <a:rPr lang="en-US" altLang="en-US" sz="1800" dirty="0">
                <a:cs typeface="Times New Roman" panose="02020603050405020304" pitchFamily="18" charset="0"/>
              </a:rPr>
              <a:t>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|| = (3*3+2*2+0*0+5*5+0*0+0*0+0*0+2*2+0*0+0*0)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 (42)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6.481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 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|| = (1*1+0*0+0*0+0*0+0*0+0*0+0*0+1*1+0*0+2*2)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</a:rPr>
              <a:t>= (6) </a:t>
            </a:r>
            <a:r>
              <a:rPr lang="en-US" altLang="en-US" sz="1800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sz="1800" dirty="0">
                <a:cs typeface="Times New Roman" panose="02020603050405020304" pitchFamily="18" charset="0"/>
              </a:rPr>
              <a:t> = 2.245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   	cos( </a:t>
            </a:r>
            <a:r>
              <a:rPr lang="en-US" altLang="en-US" sz="2000" i="1" dirty="0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cs typeface="Times New Roman" panose="02020603050405020304" pitchFamily="18" charset="0"/>
              </a:rPr>
              <a:t>, d</a:t>
            </a:r>
            <a:r>
              <a:rPr lang="en-US" altLang="en-US" sz="20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cs typeface="Times New Roman" panose="02020603050405020304" pitchFamily="18" charset="0"/>
              </a:rPr>
              <a:t> ) = .3150</a:t>
            </a:r>
          </a:p>
          <a:p>
            <a:pPr marL="0" indent="0">
              <a:spcBef>
                <a:spcPct val="20000"/>
              </a:spcBef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3F477-8FC2-4934-904D-D3B8DFA29B62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Extended Jaccard Coefficient (Tanimoto)</a:t>
            </a:r>
          </a:p>
        </p:txBody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Variation of </a:t>
            </a:r>
            <a:r>
              <a:rPr lang="en-US" altLang="en-US" dirty="0" err="1"/>
              <a:t>Jaccard</a:t>
            </a:r>
            <a:r>
              <a:rPr lang="en-US" altLang="en-US" dirty="0"/>
              <a:t> for continuous or count attributes</a:t>
            </a:r>
          </a:p>
          <a:p>
            <a:pPr lvl="1"/>
            <a:r>
              <a:rPr lang="en-US" altLang="en-US" dirty="0"/>
              <a:t>Reduces to </a:t>
            </a:r>
            <a:r>
              <a:rPr lang="en-US" altLang="en-US" dirty="0" err="1"/>
              <a:t>Jaccard</a:t>
            </a:r>
            <a:r>
              <a:rPr lang="en-US" altLang="en-US" dirty="0"/>
              <a:t> for binary attributes</a:t>
            </a:r>
          </a:p>
        </p:txBody>
      </p:sp>
      <p:graphicFrame>
        <p:nvGraphicFramePr>
          <p:cNvPr id="892932" name="Object 4"/>
          <p:cNvGraphicFramePr>
            <a:graphicFrameLocks noChangeAspect="1"/>
          </p:cNvGraphicFramePr>
          <p:nvPr/>
        </p:nvGraphicFramePr>
        <p:xfrm>
          <a:off x="3505200" y="3048001"/>
          <a:ext cx="38100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Bitmap Image" r:id="rId3" imgW="4145639" imgH="838095" progId="Paint.Picture">
                  <p:embed/>
                </p:oleObj>
              </mc:Choice>
              <mc:Fallback>
                <p:oleObj name="Bitmap Image" r:id="rId3" imgW="4145639" imgH="83809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12" r="16032"/>
                      <a:stretch>
                        <a:fillRect/>
                      </a:stretch>
                    </p:blipFill>
                    <p:spPr bwMode="auto">
                      <a:xfrm>
                        <a:off x="3505200" y="3048001"/>
                        <a:ext cx="3810000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7BFD-034B-4ED3-9478-44CAC9CFA834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1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196851"/>
            <a:ext cx="10515600" cy="730250"/>
          </a:xfrm>
        </p:spPr>
        <p:txBody>
          <a:bodyPr/>
          <a:lstStyle/>
          <a:p>
            <a:r>
              <a:rPr lang="en-US" altLang="en-US" dirty="0"/>
              <a:t>Correlation</a:t>
            </a:r>
          </a:p>
        </p:txBody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1079500"/>
            <a:ext cx="10655300" cy="5097463"/>
          </a:xfrm>
        </p:spPr>
        <p:txBody>
          <a:bodyPr/>
          <a:lstStyle/>
          <a:p>
            <a:r>
              <a:rPr lang="en-US" altLang="en-US"/>
              <a:t>Correlation measures the linear relationship between objects</a:t>
            </a:r>
          </a:p>
          <a:p>
            <a:r>
              <a:rPr lang="en-US" altLang="en-US"/>
              <a:t>To compute correlation, we standardize data objects, p and q, and then take their dot product</a:t>
            </a:r>
          </a:p>
        </p:txBody>
      </p:sp>
      <p:graphicFrame>
        <p:nvGraphicFramePr>
          <p:cNvPr id="893956" name="Object 4"/>
          <p:cNvGraphicFramePr>
            <a:graphicFrameLocks noChangeAspect="1"/>
          </p:cNvGraphicFramePr>
          <p:nvPr/>
        </p:nvGraphicFramePr>
        <p:xfrm>
          <a:off x="3098800" y="3443288"/>
          <a:ext cx="551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3" imgW="1841400" imgH="228600" progId="Equation.3">
                  <p:embed/>
                </p:oleObj>
              </mc:Choice>
              <mc:Fallback>
                <p:oleObj name="Equation" r:id="rId3" imgW="1841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3443288"/>
                        <a:ext cx="551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7" name="Object 5"/>
          <p:cNvGraphicFramePr>
            <a:graphicFrameLocks noChangeAspect="1"/>
          </p:cNvGraphicFramePr>
          <p:nvPr/>
        </p:nvGraphicFramePr>
        <p:xfrm>
          <a:off x="3175001" y="4357689"/>
          <a:ext cx="52562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Equation" r:id="rId5" imgW="1752480" imgH="228600" progId="Equation.3">
                  <p:embed/>
                </p:oleObj>
              </mc:Choice>
              <mc:Fallback>
                <p:oleObj name="Equation" r:id="rId5" imgW="1752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1" y="4357689"/>
                        <a:ext cx="52562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8" name="Object 6"/>
          <p:cNvGraphicFramePr>
            <a:graphicFrameLocks noChangeAspect="1"/>
          </p:cNvGraphicFramePr>
          <p:nvPr/>
        </p:nvGraphicFramePr>
        <p:xfrm>
          <a:off x="3152775" y="5348288"/>
          <a:ext cx="46434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7" imgW="1587240" imgH="203040" progId="Equation.3">
                  <p:embed/>
                </p:oleObj>
              </mc:Choice>
              <mc:Fallback>
                <p:oleObj name="Equation" r:id="rId7" imgW="1587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5348288"/>
                        <a:ext cx="46434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37FE-7E23-4C95-AB1F-71E0D42598CE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4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Correlation analysis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Can detect redundancies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3200400" y="4267200"/>
          <a:ext cx="1905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r:id="rId4" imgW="545760" imgH="368280" progId="">
                  <p:embed/>
                </p:oleObj>
              </mc:Choice>
              <mc:Fallback>
                <p:oleObj r:id="rId4" imgW="545760" imgH="3682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67200"/>
                        <a:ext cx="1905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3276600" y="2743200"/>
          <a:ext cx="4800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r:id="rId6" imgW="1333440" imgH="419040" progId="">
                  <p:embed/>
                </p:oleObj>
              </mc:Choice>
              <mc:Fallback>
                <p:oleObj r:id="rId6" imgW="1333440" imgH="4190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43200"/>
                        <a:ext cx="48006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5486400" y="4267200"/>
          <a:ext cx="4648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r:id="rId8" imgW="1155600" imgH="507960" progId="">
                  <p:embed/>
                </p:oleObj>
              </mc:Choice>
              <mc:Fallback>
                <p:oleObj r:id="rId8" imgW="1155600" imgH="507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267200"/>
                        <a:ext cx="4648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81421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Cont’d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&gt; 0 , A and B positively correlated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values of A increase as values of B increase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higher the value, the more each attribute implies the other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High value indicate that A (or B) may be removed as a redundancy</a:t>
            </a:r>
          </a:p>
          <a:p>
            <a:pPr>
              <a:lnSpc>
                <a:spcPct val="90000"/>
              </a:lnSpc>
            </a:pPr>
            <a:r>
              <a:rPr lang="en-US" altLang="en-US"/>
              <a:t>= 0, A and B independent (no correlation)</a:t>
            </a:r>
          </a:p>
          <a:p>
            <a:pPr>
              <a:lnSpc>
                <a:spcPct val="90000"/>
              </a:lnSpc>
            </a:pPr>
            <a:r>
              <a:rPr lang="en-US" altLang="en-US"/>
              <a:t>&lt; 0, A and B negatively correlated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Values of one attribute increase as the values of the other attribute decrease (discourages each other)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107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General Approach for Combining Similarities</a:t>
            </a:r>
          </a:p>
        </p:txBody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901701"/>
            <a:ext cx="9224963" cy="1217614"/>
          </a:xfrm>
        </p:spPr>
        <p:txBody>
          <a:bodyPr/>
          <a:lstStyle/>
          <a:p>
            <a:pPr marL="533400" indent="-533400">
              <a:spcBef>
                <a:spcPct val="20000"/>
              </a:spcBef>
            </a:pPr>
            <a:r>
              <a:rPr lang="en-US" altLang="en-US" dirty="0"/>
              <a:t>Sometimes attributes are of many different types, but an overall similarity is needed.</a:t>
            </a:r>
          </a:p>
        </p:txBody>
      </p:sp>
      <p:graphicFrame>
        <p:nvGraphicFramePr>
          <p:cNvPr id="896004" name="Object 4"/>
          <p:cNvGraphicFramePr>
            <a:graphicFrameLocks noChangeAspect="1"/>
          </p:cNvGraphicFramePr>
          <p:nvPr>
            <p:extLst/>
          </p:nvPr>
        </p:nvGraphicFramePr>
        <p:xfrm>
          <a:off x="939799" y="1939459"/>
          <a:ext cx="10840887" cy="4207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Bitmap Image" r:id="rId3" imgW="7056732" imgH="2591025" progId="Paint.Picture">
                  <p:embed/>
                </p:oleObj>
              </mc:Choice>
              <mc:Fallback>
                <p:oleObj name="Bitmap Image" r:id="rId3" imgW="7056732" imgH="259102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799" y="1939459"/>
                        <a:ext cx="10840887" cy="4207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B1EC7-B739-4107-A541-0F638A6F249A}" type="datetime5">
              <a:rPr lang="en-US" smtClean="0"/>
              <a:t>31-Jan-18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9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2327</TotalTime>
  <Words>2392</Words>
  <Application>Microsoft Office PowerPoint</Application>
  <PresentationFormat>Widescreen</PresentationFormat>
  <Paragraphs>501</Paragraphs>
  <Slides>54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54</vt:i4>
      </vt:variant>
    </vt:vector>
  </HeadingPairs>
  <TitlesOfParts>
    <vt:vector size="72" baseType="lpstr">
      <vt:lpstr>Arial</vt:lpstr>
      <vt:lpstr>Calibri</vt:lpstr>
      <vt:lpstr>Calibri Light</vt:lpstr>
      <vt:lpstr>CMMI10</vt:lpstr>
      <vt:lpstr>cmr10</vt:lpstr>
      <vt:lpstr>CMR7</vt:lpstr>
      <vt:lpstr>新細明體</vt:lpstr>
      <vt:lpstr>Symbol</vt:lpstr>
      <vt:lpstr>Tahoma</vt:lpstr>
      <vt:lpstr>Times New Roman</vt:lpstr>
      <vt:lpstr>Wingdings</vt:lpstr>
      <vt:lpstr>Office Theme</vt:lpstr>
      <vt:lpstr>Equation</vt:lpstr>
      <vt:lpstr>Chart</vt:lpstr>
      <vt:lpstr>VISIO</vt:lpstr>
      <vt:lpstr>Worksheet</vt:lpstr>
      <vt:lpstr>Bitmap Image</vt:lpstr>
      <vt:lpstr>Microsoft Equation 3.0</vt:lpstr>
      <vt:lpstr>CS F415: Data Mining</vt:lpstr>
      <vt:lpstr>Today’s Outline</vt:lpstr>
      <vt:lpstr>Discretization</vt:lpstr>
      <vt:lpstr>Discretization and Concept hierachy</vt:lpstr>
      <vt:lpstr>Concept Hierarchy Generation for Categorical Data</vt:lpstr>
      <vt:lpstr>Automatic Concept Hierarchy Generation</vt:lpstr>
      <vt:lpstr>Discretization Without Using Class Labels </vt:lpstr>
      <vt:lpstr>Entropy-based discretization</vt:lpstr>
      <vt:lpstr>Cont’d</vt:lpstr>
      <vt:lpstr>Information gain</vt:lpstr>
      <vt:lpstr>Entropy function</vt:lpstr>
      <vt:lpstr>Entropy-based (1)</vt:lpstr>
      <vt:lpstr>Entropy-based (2)</vt:lpstr>
      <vt:lpstr>Cont.</vt:lpstr>
      <vt:lpstr>Example: fair coin throw </vt:lpstr>
      <vt:lpstr>PowerPoint Presentation</vt:lpstr>
      <vt:lpstr>Entropy of a split</vt:lpstr>
      <vt:lpstr>Example: attribute “Outlook” </vt:lpstr>
      <vt:lpstr>Outlook = Overcast</vt:lpstr>
      <vt:lpstr>Outlook = Rainy</vt:lpstr>
      <vt:lpstr>Expected Information</vt:lpstr>
      <vt:lpstr>Computing the information gain</vt:lpstr>
      <vt:lpstr>Discretization Using Class Labels</vt:lpstr>
      <vt:lpstr>Attribute Transformation</vt:lpstr>
      <vt:lpstr>Numerosity Reduction</vt:lpstr>
      <vt:lpstr>Regression and Log-Linear Models</vt:lpstr>
      <vt:lpstr>Regression</vt:lpstr>
      <vt:lpstr>Cont’d</vt:lpstr>
      <vt:lpstr>Cont’d</vt:lpstr>
      <vt:lpstr>Regress Analysis and Log-Linear Models</vt:lpstr>
      <vt:lpstr>Histograms</vt:lpstr>
      <vt:lpstr>Clustering</vt:lpstr>
      <vt:lpstr>Data Compression</vt:lpstr>
      <vt:lpstr>Data Compression</vt:lpstr>
      <vt:lpstr>Wavelet Transformation </vt:lpstr>
      <vt:lpstr>Similarity and Dissimilarity</vt:lpstr>
      <vt:lpstr>Similarity/Dissimilarity for Simple Attributes</vt:lpstr>
      <vt:lpstr>Euclidean Distance</vt:lpstr>
      <vt:lpstr>Euclidean Distance</vt:lpstr>
      <vt:lpstr>Minkowski Distance</vt:lpstr>
      <vt:lpstr>Minkowski Distance: Examples</vt:lpstr>
      <vt:lpstr>Minkowski Distance</vt:lpstr>
      <vt:lpstr>Mahalanobis Distance</vt:lpstr>
      <vt:lpstr>Mahalanobis Distance</vt:lpstr>
      <vt:lpstr>Common Properties of a Distance</vt:lpstr>
      <vt:lpstr>Common Properties of a Similarity</vt:lpstr>
      <vt:lpstr>Similarity Between Binary Vectors</vt:lpstr>
      <vt:lpstr>SMC versus Jaccard: Example</vt:lpstr>
      <vt:lpstr>Cosine Similarity</vt:lpstr>
      <vt:lpstr>Extended Jaccard Coefficient (Tanimoto)</vt:lpstr>
      <vt:lpstr>Correlation</vt:lpstr>
      <vt:lpstr>Correlation analysis</vt:lpstr>
      <vt:lpstr>Cont’d</vt:lpstr>
      <vt:lpstr>General Approach for Combining Similarities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53</cp:revision>
  <dcterms:created xsi:type="dcterms:W3CDTF">2016-01-15T03:52:31Z</dcterms:created>
  <dcterms:modified xsi:type="dcterms:W3CDTF">2018-01-31T10:23:42Z</dcterms:modified>
</cp:coreProperties>
</file>