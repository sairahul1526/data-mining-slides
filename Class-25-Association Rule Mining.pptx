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9" r:id="rId1"/>
  </p:sldMasterIdLst>
  <p:notesMasterIdLst>
    <p:notesMasterId r:id="rId26"/>
  </p:notesMasterIdLst>
  <p:handoutMasterIdLst>
    <p:handoutMasterId r:id="rId27"/>
  </p:handoutMasterIdLst>
  <p:sldIdLst>
    <p:sldId id="256" r:id="rId2"/>
    <p:sldId id="302" r:id="rId3"/>
    <p:sldId id="303" r:id="rId4"/>
    <p:sldId id="304" r:id="rId5"/>
    <p:sldId id="305" r:id="rId6"/>
    <p:sldId id="306" r:id="rId7"/>
    <p:sldId id="325" r:id="rId8"/>
    <p:sldId id="314" r:id="rId9"/>
    <p:sldId id="287" r:id="rId10"/>
    <p:sldId id="315" r:id="rId11"/>
    <p:sldId id="288" r:id="rId12"/>
    <p:sldId id="289" r:id="rId13"/>
    <p:sldId id="290" r:id="rId14"/>
    <p:sldId id="324" r:id="rId15"/>
    <p:sldId id="291" r:id="rId16"/>
    <p:sldId id="316" r:id="rId17"/>
    <p:sldId id="317" r:id="rId18"/>
    <p:sldId id="318" r:id="rId19"/>
    <p:sldId id="319" r:id="rId20"/>
    <p:sldId id="320" r:id="rId21"/>
    <p:sldId id="321" r:id="rId22"/>
    <p:sldId id="322" r:id="rId23"/>
    <p:sldId id="323" r:id="rId24"/>
    <p:sldId id="292" r:id="rId25"/>
  </p:sldIdLst>
  <p:sldSz cx="9144000" cy="6858000" type="screen4x3"/>
  <p:notesSz cx="6881813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4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4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4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4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4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4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4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4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4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3300"/>
    <a:srgbClr val="FF3300"/>
    <a:srgbClr val="8E2635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23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1621" cy="466360"/>
          </a:xfrm>
          <a:prstGeom prst="rect">
            <a:avLst/>
          </a:prstGeom>
        </p:spPr>
        <p:txBody>
          <a:bodyPr vert="horz" lIns="87581" tIns="43791" rIns="87581" bIns="43791" rtlCol="0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8697" y="0"/>
            <a:ext cx="2981621" cy="466360"/>
          </a:xfrm>
          <a:prstGeom prst="rect">
            <a:avLst/>
          </a:prstGeom>
        </p:spPr>
        <p:txBody>
          <a:bodyPr vert="horz" lIns="87581" tIns="43791" rIns="87581" bIns="43791" rtlCol="0"/>
          <a:lstStyle>
            <a:lvl1pPr algn="r">
              <a:defRPr sz="1100"/>
            </a:lvl1pPr>
          </a:lstStyle>
          <a:p>
            <a:fld id="{6B49EA32-4E43-479F-9263-F62B3D29B329}" type="datetimeFigureOut">
              <a:rPr lang="en-US" smtClean="0"/>
              <a:t>26-Mar-18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30041"/>
            <a:ext cx="2981621" cy="466359"/>
          </a:xfrm>
          <a:prstGeom prst="rect">
            <a:avLst/>
          </a:prstGeom>
        </p:spPr>
        <p:txBody>
          <a:bodyPr vert="horz" lIns="87581" tIns="43791" rIns="87581" bIns="43791" rtlCol="0" anchor="b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8697" y="8830041"/>
            <a:ext cx="2981621" cy="466359"/>
          </a:xfrm>
          <a:prstGeom prst="rect">
            <a:avLst/>
          </a:prstGeom>
        </p:spPr>
        <p:txBody>
          <a:bodyPr vert="horz" lIns="87581" tIns="43791" rIns="87581" bIns="43791" rtlCol="0" anchor="b"/>
          <a:lstStyle>
            <a:lvl1pPr algn="r">
              <a:defRPr sz="1100"/>
            </a:lvl1pPr>
          </a:lstStyle>
          <a:p>
            <a:fld id="{59C07036-913A-47E5-B950-AD1A6F9EB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468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1621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2" tIns="46221" rIns="92442" bIns="46221" numCol="1" anchor="t" anchorCtr="0" compatLnSpc="1">
            <a:prstTxWarp prst="textNoShape">
              <a:avLst/>
            </a:prstTxWarp>
          </a:bodyPr>
          <a:lstStyle>
            <a:lvl1pPr defTabSz="924469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8697" y="0"/>
            <a:ext cx="2981621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2" tIns="46221" rIns="92442" bIns="46221" numCol="1" anchor="t" anchorCtr="0" compatLnSpc="1">
            <a:prstTxWarp prst="textNoShape">
              <a:avLst/>
            </a:prstTxWarp>
          </a:bodyPr>
          <a:lstStyle>
            <a:lvl1pPr algn="r" defTabSz="924469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17600" y="696913"/>
            <a:ext cx="4646613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182" y="4415791"/>
            <a:ext cx="5505450" cy="4183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2" tIns="46221" rIns="92442" bIns="4622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0042"/>
            <a:ext cx="2981621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2" tIns="46221" rIns="92442" bIns="46221" numCol="1" anchor="b" anchorCtr="0" compatLnSpc="1">
            <a:prstTxWarp prst="textNoShape">
              <a:avLst/>
            </a:prstTxWarp>
          </a:bodyPr>
          <a:lstStyle>
            <a:lvl1pPr defTabSz="924469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8697" y="8830042"/>
            <a:ext cx="2981621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2" tIns="46221" rIns="92442" bIns="46221" numCol="1" anchor="b" anchorCtr="0" compatLnSpc="1">
            <a:prstTxWarp prst="textNoShape">
              <a:avLst/>
            </a:prstTxWarp>
          </a:bodyPr>
          <a:lstStyle>
            <a:lvl1pPr algn="r" defTabSz="924469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2812AC4-7792-43D9-A431-50519EE9AB2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805324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31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87044" name="Date Placeholder 3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9B4FAE94-AD9C-4971-BCA9-F303A0762473}" type="datetime1">
              <a:rPr lang="en-US" smtClean="0"/>
              <a:pPr>
                <a:defRPr/>
              </a:pPr>
              <a:t>26-Mar-18</a:t>
            </a:fld>
            <a:endParaRPr lang="en-US" smtClean="0"/>
          </a:p>
        </p:txBody>
      </p:sp>
      <p:sp>
        <p:nvSpPr>
          <p:cNvPr id="8704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Dr. Navneet Goyal, BITS,Pilani</a:t>
            </a:r>
          </a:p>
        </p:txBody>
      </p:sp>
      <p:sp>
        <p:nvSpPr>
          <p:cNvPr id="8704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1598" indent="-273691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94765" indent="-21895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32672" indent="-21895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70578" indent="-21895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08484" indent="-2189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46390" indent="-2189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84296" indent="-2189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22202" indent="-2189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520E9E8-6A2C-4426-BDED-10FE704E6DEA}" type="slidenum">
              <a:rPr lang="en-US" altLang="en-US">
                <a:latin typeface="Calibri" panose="020F0502020204030204" pitchFamily="34" charset="0"/>
              </a:rPr>
              <a:pPr eaLnBrk="1" hangingPunct="1"/>
              <a:t>2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8578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42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87044" name="Date Placeholder 3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9B4FAE94-AD9C-4971-BCA9-F303A0762473}" type="datetime1">
              <a:rPr lang="en-US" smtClean="0"/>
              <a:pPr>
                <a:defRPr/>
              </a:pPr>
              <a:t>26-Mar-18</a:t>
            </a:fld>
            <a:endParaRPr lang="en-US" smtClean="0"/>
          </a:p>
        </p:txBody>
      </p:sp>
      <p:sp>
        <p:nvSpPr>
          <p:cNvPr id="8704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Dr. Navneet Goyal, BITS,Pilani</a:t>
            </a:r>
          </a:p>
        </p:txBody>
      </p:sp>
      <p:sp>
        <p:nvSpPr>
          <p:cNvPr id="8704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1598" indent="-273691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94765" indent="-21895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32672" indent="-21895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70578" indent="-21895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08484" indent="-2189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46390" indent="-2189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84296" indent="-2189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22202" indent="-2189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2EC1609-A737-4B3E-BFE2-7CCC5D81AC88}" type="slidenum">
              <a:rPr lang="en-US" altLang="en-US">
                <a:latin typeface="Calibri" panose="020F0502020204030204" pitchFamily="34" charset="0"/>
              </a:rPr>
              <a:pPr eaLnBrk="1" hangingPunct="1"/>
              <a:t>3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36081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027113" y="673100"/>
            <a:ext cx="4411662" cy="330993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52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3004930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027113" y="673100"/>
            <a:ext cx="4411662" cy="330993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62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8857092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027113" y="673100"/>
            <a:ext cx="4411662" cy="330993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72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8613304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027113" y="673100"/>
            <a:ext cx="4411662" cy="330993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46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6399635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027113" y="673100"/>
            <a:ext cx="4411662" cy="330993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67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6730685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54113" y="693738"/>
            <a:ext cx="4552950" cy="3414712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18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2082000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54113" y="693738"/>
            <a:ext cx="4552950" cy="3414712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8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2205694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54113" y="693738"/>
            <a:ext cx="4552950" cy="3414712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39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6542993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54113" y="693738"/>
            <a:ext cx="4552950" cy="3414712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49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3789170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54113" y="693738"/>
            <a:ext cx="4552950" cy="3414712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59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1538209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4469">
              <a:defRPr sz="3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11598" indent="-273691" defTabSz="924469">
              <a:defRPr sz="3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094765" indent="-218953" defTabSz="924469">
              <a:defRPr sz="3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532672" indent="-218953" defTabSz="924469">
              <a:defRPr sz="3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970578" indent="-218953" defTabSz="924469">
              <a:defRPr sz="3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408484" indent="-218953" defTabSz="924469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846390" indent="-218953" defTabSz="924469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284296" indent="-218953" defTabSz="924469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722202" indent="-218953" defTabSz="924469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BB98D880-2A2F-4AA8-B21E-A401519A8286}" type="slidenum">
              <a:rPr lang="en-US" altLang="en-US" sz="1200">
                <a:latin typeface="Arial" panose="020B0604020202020204" pitchFamily="34" charset="0"/>
              </a:rPr>
              <a:pPr/>
              <a:t>24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20775" y="698500"/>
            <a:ext cx="4641850" cy="3482975"/>
          </a:xfrm>
          <a:ln w="12700" cap="flat"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7077" y="4415791"/>
            <a:ext cx="5047660" cy="418338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084" tIns="46542" rIns="93084" bIns="46542"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6994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2B29BE-F837-43A8-AA5F-A259A4FB549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6324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A93AD5-A21A-457A-8E5F-12E14138119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1101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888302-A836-438A-B822-13F3481FE26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9082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28CCA5-0B19-4475-9942-75768E38E0B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5871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632060-BB83-4410-870D-4199B8913AE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7314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885EDC-C673-4B84-9577-569421617F4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505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426F20-C4C1-425A-83CC-0529E42EE87E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7559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35C14A-A0AB-43CE-B324-E0852FCF513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5436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351CDC-E569-4A34-8295-F593521AC46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318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4FF311-8F7C-4CA9-A494-EA63E9EE76F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03393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D5C201-84B4-45D8-B681-EFD34F9D699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6817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3DB58AE-93A9-4231-B79A-6EDAC074121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3560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0" r:id="rId1"/>
    <p:sldLayoutId id="2147483891" r:id="rId2"/>
    <p:sldLayoutId id="2147483892" r:id="rId3"/>
    <p:sldLayoutId id="2147483893" r:id="rId4"/>
    <p:sldLayoutId id="2147483894" r:id="rId5"/>
    <p:sldLayoutId id="2147483895" r:id="rId6"/>
    <p:sldLayoutId id="2147483896" r:id="rId7"/>
    <p:sldLayoutId id="2147483897" r:id="rId8"/>
    <p:sldLayoutId id="2147483898" r:id="rId9"/>
    <p:sldLayoutId id="2147483899" r:id="rId10"/>
    <p:sldLayoutId id="2147483900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w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5.e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9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1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2.wmf"/><Relationship Id="rId4" Type="http://schemas.openxmlformats.org/officeDocument/2006/relationships/oleObject" Target="../embeddings/oleObject10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4.e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9.e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24000" y="1371600"/>
            <a:ext cx="5867400" cy="1828800"/>
          </a:xfrm>
        </p:spPr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sz="4400" dirty="0" smtClean="0"/>
              <a:t>Association Rule Mining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 altLang="en-US" smtClean="0"/>
              <a:t>AR Generation from FIs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066800"/>
            <a:ext cx="8458200" cy="5486400"/>
          </a:xfrm>
          <a:noFill/>
        </p:spPr>
        <p:txBody>
          <a:bodyPr>
            <a:normAutofit/>
          </a:bodyPr>
          <a:lstStyle/>
          <a:p>
            <a:r>
              <a:rPr lang="en-US" altLang="en-US" sz="2800" dirty="0" smtClean="0">
                <a:solidFill>
                  <a:schemeClr val="tx2"/>
                </a:solidFill>
              </a:rPr>
              <a:t>So far we have seen algorithms for finding FIs</a:t>
            </a:r>
          </a:p>
          <a:p>
            <a:r>
              <a:rPr lang="en-US" altLang="en-US" sz="2800" dirty="0" smtClean="0">
                <a:solidFill>
                  <a:schemeClr val="tx2"/>
                </a:solidFill>
              </a:rPr>
              <a:t>Lets now look at how we can generate the ARs from FIs </a:t>
            </a:r>
          </a:p>
          <a:p>
            <a:r>
              <a:rPr lang="en-US" altLang="en-US" sz="2800" dirty="0" smtClean="0">
                <a:solidFill>
                  <a:schemeClr val="tx2"/>
                </a:solidFill>
              </a:rPr>
              <a:t>FIs are concerned only with “support”</a:t>
            </a:r>
          </a:p>
          <a:p>
            <a:r>
              <a:rPr lang="en-US" altLang="en-US" sz="2800" dirty="0" smtClean="0">
                <a:solidFill>
                  <a:schemeClr val="tx2"/>
                </a:solidFill>
              </a:rPr>
              <a:t>Time to bring in the concept of “confidence”</a:t>
            </a:r>
          </a:p>
          <a:p>
            <a:r>
              <a:rPr lang="en-US" altLang="en-US" sz="2800" dirty="0" smtClean="0">
                <a:solidFill>
                  <a:schemeClr val="tx2"/>
                </a:solidFill>
              </a:rPr>
              <a:t>For each FI </a:t>
            </a:r>
            <a:r>
              <a:rPr lang="en-US" altLang="en-US" sz="2800" i="1" dirty="0" smtClean="0">
                <a:solidFill>
                  <a:schemeClr val="tx2"/>
                </a:solidFill>
              </a:rPr>
              <a:t>l, </a:t>
            </a:r>
            <a:r>
              <a:rPr lang="en-US" altLang="en-US" sz="2800" dirty="0" smtClean="0">
                <a:solidFill>
                  <a:schemeClr val="tx2"/>
                </a:solidFill>
              </a:rPr>
              <a:t>generate all non-empty subsets of</a:t>
            </a:r>
            <a:r>
              <a:rPr lang="en-US" altLang="en-US" sz="2800" i="1" dirty="0" smtClean="0">
                <a:solidFill>
                  <a:schemeClr val="tx2"/>
                </a:solidFill>
              </a:rPr>
              <a:t> l</a:t>
            </a:r>
          </a:p>
          <a:p>
            <a:r>
              <a:rPr lang="en-US" altLang="en-US" sz="2800" dirty="0" smtClean="0">
                <a:solidFill>
                  <a:schemeClr val="tx2"/>
                </a:solidFill>
              </a:rPr>
              <a:t>For each non-empty subset </a:t>
            </a:r>
            <a:r>
              <a:rPr lang="en-US" altLang="en-US" sz="2800" i="1" dirty="0" smtClean="0">
                <a:solidFill>
                  <a:schemeClr val="tx2"/>
                </a:solidFill>
              </a:rPr>
              <a:t>s</a:t>
            </a:r>
            <a:r>
              <a:rPr lang="en-US" altLang="en-US" sz="2800" dirty="0" smtClean="0">
                <a:solidFill>
                  <a:schemeClr val="tx2"/>
                </a:solidFill>
              </a:rPr>
              <a:t> of </a:t>
            </a:r>
            <a:r>
              <a:rPr lang="en-US" altLang="en-US" sz="2800" i="1" dirty="0" smtClean="0">
                <a:solidFill>
                  <a:schemeClr val="tx2"/>
                </a:solidFill>
              </a:rPr>
              <a:t>l, </a:t>
            </a:r>
            <a:r>
              <a:rPr lang="en-US" altLang="en-US" sz="2800" dirty="0" smtClean="0">
                <a:solidFill>
                  <a:schemeClr val="tx2"/>
                </a:solidFill>
              </a:rPr>
              <a:t>output the rule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800" i="1" dirty="0" smtClean="0">
                <a:solidFill>
                  <a:schemeClr val="tx2"/>
                </a:solidFill>
              </a:rPr>
              <a:t>	s</a:t>
            </a:r>
            <a:r>
              <a:rPr lang="en-US" altLang="en-US" sz="2800" dirty="0" smtClean="0">
                <a:solidFill>
                  <a:schemeClr val="tx2"/>
                </a:solidFill>
              </a:rPr>
              <a:t> </a:t>
            </a:r>
            <a:r>
              <a:rPr lang="en-US" altLang="en-US" sz="2800" dirty="0" smtClean="0">
                <a:solidFill>
                  <a:schemeClr val="tx2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2800" dirty="0" smtClean="0">
                <a:solidFill>
                  <a:schemeClr val="tx2"/>
                </a:solidFill>
                <a:sym typeface="Wingdings" panose="05000000000000000000" pitchFamily="2" charset="2"/>
              </a:rPr>
              <a:t> (</a:t>
            </a:r>
            <a:r>
              <a:rPr lang="en-US" altLang="en-US" sz="2800" i="1" dirty="0" smtClean="0">
                <a:solidFill>
                  <a:schemeClr val="tx2"/>
                </a:solidFill>
                <a:sym typeface="Wingdings" panose="05000000000000000000" pitchFamily="2" charset="2"/>
              </a:rPr>
              <a:t>l</a:t>
            </a:r>
            <a:r>
              <a:rPr lang="en-US" altLang="en-US" sz="2800" dirty="0" smtClean="0">
                <a:solidFill>
                  <a:schemeClr val="tx2"/>
                </a:solidFill>
                <a:sym typeface="Wingdings" panose="05000000000000000000" pitchFamily="2" charset="2"/>
              </a:rPr>
              <a:t>-</a:t>
            </a:r>
            <a:r>
              <a:rPr lang="en-US" altLang="en-US" sz="2800" i="1" dirty="0" smtClean="0">
                <a:solidFill>
                  <a:schemeClr val="tx2"/>
                </a:solidFill>
                <a:sym typeface="Wingdings" panose="05000000000000000000" pitchFamily="2" charset="2"/>
              </a:rPr>
              <a:t>s</a:t>
            </a:r>
            <a:r>
              <a:rPr lang="en-US" altLang="en-US" sz="2800" dirty="0" smtClean="0">
                <a:solidFill>
                  <a:schemeClr val="tx2"/>
                </a:solidFill>
                <a:sym typeface="Wingdings" panose="05000000000000000000" pitchFamily="2" charset="2"/>
              </a:rPr>
              <a:t>) if</a:t>
            </a:r>
            <a:endParaRPr lang="en-US" altLang="en-US" sz="2800" dirty="0" smtClean="0">
              <a:solidFill>
                <a:schemeClr val="tx2"/>
              </a:solidFill>
            </a:endParaRPr>
          </a:p>
          <a:p>
            <a:endParaRPr lang="en-US" altLang="en-US" sz="2800" dirty="0" smtClean="0">
              <a:solidFill>
                <a:schemeClr val="tx2"/>
              </a:solidFill>
            </a:endParaRPr>
          </a:p>
        </p:txBody>
      </p:sp>
      <p:graphicFrame>
        <p:nvGraphicFramePr>
          <p:cNvPr id="5122" name="Object 2"/>
          <p:cNvGraphicFramePr>
            <a:graphicFrameLocks noChangeAspect="1"/>
          </p:cNvGraphicFramePr>
          <p:nvPr/>
        </p:nvGraphicFramePr>
        <p:xfrm>
          <a:off x="2743200" y="5181600"/>
          <a:ext cx="3303588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9" name="Equation" r:id="rId4" imgW="2019240" imgH="419040" progId="Equation.3">
                  <p:embed/>
                </p:oleObj>
              </mc:Choice>
              <mc:Fallback>
                <p:oleObj name="Equation" r:id="rId4" imgW="201924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5181600"/>
                        <a:ext cx="3303588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88075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 altLang="en-US" smtClean="0"/>
              <a:t>AR Generation from FIs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066800"/>
            <a:ext cx="8915400" cy="5410200"/>
          </a:xfrm>
          <a:noFill/>
        </p:spPr>
        <p:txBody>
          <a:bodyPr>
            <a:normAutofit/>
          </a:bodyPr>
          <a:lstStyle/>
          <a:p>
            <a:r>
              <a:rPr lang="en-US" altLang="en-US" sz="2400" dirty="0" smtClean="0">
                <a:solidFill>
                  <a:schemeClr val="tx2"/>
                </a:solidFill>
              </a:rPr>
              <a:t>For each k-FI, Y, we can have up to 2</a:t>
            </a:r>
            <a:r>
              <a:rPr lang="en-US" altLang="en-US" sz="2400" baseline="30000" dirty="0" smtClean="0">
                <a:solidFill>
                  <a:schemeClr val="tx2"/>
                </a:solidFill>
              </a:rPr>
              <a:t>k</a:t>
            </a:r>
            <a:r>
              <a:rPr lang="en-US" altLang="en-US" sz="2400" dirty="0" smtClean="0">
                <a:solidFill>
                  <a:schemeClr val="tx2"/>
                </a:solidFill>
              </a:rPr>
              <a:t>-2 ARs.</a:t>
            </a:r>
          </a:p>
          <a:p>
            <a:r>
              <a:rPr lang="en-US" altLang="en-US" sz="2400" dirty="0" smtClean="0">
                <a:solidFill>
                  <a:schemeClr val="tx2"/>
                </a:solidFill>
              </a:rPr>
              <a:t>Ignore empty antecedents/consequents</a:t>
            </a:r>
          </a:p>
          <a:p>
            <a:r>
              <a:rPr lang="en-US" altLang="en-US" sz="2400" dirty="0" smtClean="0">
                <a:solidFill>
                  <a:schemeClr val="tx2"/>
                </a:solidFill>
              </a:rPr>
              <a:t>Partition Y into 2 non-empty subsets X &amp; Y-X, such that X</a:t>
            </a:r>
            <a:r>
              <a:rPr lang="en-US" altLang="en-US" sz="2400" dirty="0" smtClean="0">
                <a:solidFill>
                  <a:schemeClr val="tx2"/>
                </a:solidFill>
                <a:sym typeface="Symbol" panose="05050102010706020507" pitchFamily="18" charset="2"/>
              </a:rPr>
              <a:t>Y-X satisfies </a:t>
            </a:r>
            <a:r>
              <a:rPr lang="en-US" altLang="en-US" sz="2400" dirty="0" err="1" smtClean="0">
                <a:solidFill>
                  <a:schemeClr val="tx2"/>
                </a:solidFill>
                <a:sym typeface="Symbol" panose="05050102010706020507" pitchFamily="18" charset="2"/>
              </a:rPr>
              <a:t>min_conf</a:t>
            </a:r>
            <a:endParaRPr lang="en-US" altLang="en-US" sz="2400" dirty="0" smtClean="0">
              <a:solidFill>
                <a:schemeClr val="tx2"/>
              </a:solidFill>
              <a:sym typeface="Symbol" panose="05050102010706020507" pitchFamily="18" charset="2"/>
            </a:endParaRPr>
          </a:p>
          <a:p>
            <a:r>
              <a:rPr lang="en-US" altLang="en-US" sz="2400" dirty="0" smtClean="0">
                <a:solidFill>
                  <a:schemeClr val="tx2"/>
                </a:solidFill>
              </a:rPr>
              <a:t>We need not worry about </a:t>
            </a:r>
            <a:r>
              <a:rPr lang="en-US" altLang="en-US" sz="2400" dirty="0" err="1" smtClean="0">
                <a:solidFill>
                  <a:schemeClr val="tx2"/>
                </a:solidFill>
              </a:rPr>
              <a:t>min_sup</a:t>
            </a:r>
            <a:r>
              <a:rPr lang="en-US" altLang="en-US" sz="2400" dirty="0" smtClean="0">
                <a:solidFill>
                  <a:schemeClr val="tx2"/>
                </a:solidFill>
              </a:rPr>
              <a:t>!</a:t>
            </a:r>
          </a:p>
          <a:p>
            <a:r>
              <a:rPr lang="en-US" altLang="en-US" sz="2400" dirty="0" smtClean="0">
                <a:solidFill>
                  <a:schemeClr val="tx2"/>
                </a:solidFill>
              </a:rPr>
              <a:t>Y={1,2,3}</a:t>
            </a:r>
          </a:p>
          <a:p>
            <a:r>
              <a:rPr lang="en-US" altLang="en-US" sz="2400" dirty="0" smtClean="0">
                <a:solidFill>
                  <a:schemeClr val="tx2"/>
                </a:solidFill>
              </a:rPr>
              <a:t>6 candidate ARs: {1,2}</a:t>
            </a:r>
            <a:r>
              <a:rPr lang="en-US" altLang="en-US" sz="2400" dirty="0" smtClean="0">
                <a:solidFill>
                  <a:schemeClr val="tx2"/>
                </a:solidFill>
                <a:sym typeface="Symbol" panose="05050102010706020507" pitchFamily="18" charset="2"/>
              </a:rPr>
              <a:t> {3}, </a:t>
            </a:r>
            <a:r>
              <a:rPr lang="en-US" altLang="en-US" sz="2400" dirty="0" smtClean="0">
                <a:solidFill>
                  <a:schemeClr val="tx2"/>
                </a:solidFill>
              </a:rPr>
              <a:t>{1,3}</a:t>
            </a:r>
            <a:r>
              <a:rPr lang="en-US" altLang="en-US" sz="2400" dirty="0" smtClean="0">
                <a:solidFill>
                  <a:schemeClr val="tx2"/>
                </a:solidFill>
                <a:sym typeface="Symbol" panose="05050102010706020507" pitchFamily="18" charset="2"/>
              </a:rPr>
              <a:t> {2},</a:t>
            </a:r>
            <a:r>
              <a:rPr lang="en-US" altLang="en-US" sz="2400" dirty="0" smtClean="0">
                <a:solidFill>
                  <a:schemeClr val="tx2"/>
                </a:solidFill>
              </a:rPr>
              <a:t> {2,3}</a:t>
            </a:r>
            <a:r>
              <a:rPr lang="en-US" altLang="en-US" sz="2400" dirty="0" smtClean="0">
                <a:solidFill>
                  <a:schemeClr val="tx2"/>
                </a:solidFill>
                <a:sym typeface="Symbol" panose="05050102010706020507" pitchFamily="18" charset="2"/>
              </a:rPr>
              <a:t> {1},</a:t>
            </a:r>
            <a:r>
              <a:rPr lang="en-US" altLang="en-US" sz="2400" dirty="0" smtClean="0">
                <a:solidFill>
                  <a:schemeClr val="tx2"/>
                </a:solidFill>
              </a:rPr>
              <a:t>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400" dirty="0" smtClean="0">
                <a:solidFill>
                  <a:schemeClr val="tx2"/>
                </a:solidFill>
              </a:rPr>
              <a:t>	{1}</a:t>
            </a:r>
            <a:r>
              <a:rPr lang="en-US" altLang="en-US" sz="2400" dirty="0" smtClean="0">
                <a:solidFill>
                  <a:schemeClr val="tx2"/>
                </a:solidFill>
                <a:sym typeface="Symbol" panose="05050102010706020507" pitchFamily="18" charset="2"/>
              </a:rPr>
              <a:t> {2,3},</a:t>
            </a:r>
            <a:r>
              <a:rPr lang="en-US" altLang="en-US" sz="2400" dirty="0" smtClean="0">
                <a:solidFill>
                  <a:schemeClr val="tx2"/>
                </a:solidFill>
              </a:rPr>
              <a:t> {2}</a:t>
            </a:r>
            <a:r>
              <a:rPr lang="en-US" altLang="en-US" sz="2400" dirty="0" smtClean="0">
                <a:solidFill>
                  <a:schemeClr val="tx2"/>
                </a:solidFill>
                <a:sym typeface="Symbol" panose="05050102010706020507" pitchFamily="18" charset="2"/>
              </a:rPr>
              <a:t> {1,3},</a:t>
            </a:r>
            <a:r>
              <a:rPr lang="en-US" altLang="en-US" sz="2400" dirty="0" smtClean="0">
                <a:solidFill>
                  <a:schemeClr val="tx2"/>
                </a:solidFill>
              </a:rPr>
              <a:t> {3}</a:t>
            </a:r>
            <a:r>
              <a:rPr lang="en-US" altLang="en-US" sz="2400" dirty="0" smtClean="0">
                <a:solidFill>
                  <a:schemeClr val="tx2"/>
                </a:solidFill>
                <a:sym typeface="Symbol" panose="05050102010706020507" pitchFamily="18" charset="2"/>
              </a:rPr>
              <a:t> {1,2}</a:t>
            </a:r>
          </a:p>
          <a:p>
            <a:r>
              <a:rPr lang="en-US" altLang="en-US" sz="2400" dirty="0" smtClean="0">
                <a:solidFill>
                  <a:schemeClr val="tx2"/>
                </a:solidFill>
                <a:sym typeface="Symbol" panose="05050102010706020507" pitchFamily="18" charset="2"/>
              </a:rPr>
              <a:t>Do </a:t>
            </a:r>
            <a:r>
              <a:rPr lang="en-US" altLang="en-US" sz="2400" dirty="0" smtClean="0">
                <a:solidFill>
                  <a:schemeClr val="tx2"/>
                </a:solidFill>
                <a:sym typeface="Symbol" panose="05050102010706020507" pitchFamily="18" charset="2"/>
              </a:rPr>
              <a:t>we need any additional scans to find confidence?</a:t>
            </a:r>
          </a:p>
          <a:p>
            <a:r>
              <a:rPr lang="en-US" altLang="en-US" sz="2400" dirty="0" smtClean="0">
                <a:solidFill>
                  <a:schemeClr val="tx2"/>
                </a:solidFill>
              </a:rPr>
              <a:t>For {1,2}</a:t>
            </a:r>
            <a:r>
              <a:rPr lang="en-US" altLang="en-US" sz="2400" dirty="0" smtClean="0">
                <a:solidFill>
                  <a:schemeClr val="tx2"/>
                </a:solidFill>
                <a:sym typeface="Symbol" panose="05050102010706020507" pitchFamily="18" charset="2"/>
              </a:rPr>
              <a:t> {3}, the confidence is ({1,2,3})/({1,2})</a:t>
            </a:r>
          </a:p>
          <a:p>
            <a:r>
              <a:rPr lang="en-US" altLang="en-US" sz="2400" dirty="0" smtClean="0">
                <a:solidFill>
                  <a:schemeClr val="tx2"/>
                </a:solidFill>
                <a:sym typeface="Symbol" panose="05050102010706020507" pitchFamily="18" charset="2"/>
              </a:rPr>
              <a:t>123 is frequent, therefore 12 is also frequent. So no need to find support counts again</a:t>
            </a:r>
          </a:p>
        </p:txBody>
      </p:sp>
    </p:spTree>
    <p:extLst>
      <p:ext uri="{BB962C8B-B14F-4D97-AF65-F5344CB8AC3E}">
        <p14:creationId xmlns:p14="http://schemas.microsoft.com/office/powerpoint/2010/main" val="3529923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 altLang="en-US" smtClean="0"/>
              <a:t>Rule Generation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308975" cy="4876800"/>
          </a:xfrm>
        </p:spPr>
        <p:txBody>
          <a:bodyPr>
            <a:normAutofit/>
          </a:bodyPr>
          <a:lstStyle/>
          <a:p>
            <a:r>
              <a:rPr lang="en-US" altLang="en-US" sz="2800" dirty="0" smtClean="0">
                <a:solidFill>
                  <a:schemeClr val="tx2"/>
                </a:solidFill>
              </a:rPr>
              <a:t>Given a frequent </a:t>
            </a:r>
            <a:r>
              <a:rPr lang="en-US" altLang="en-US" sz="2800" dirty="0" err="1" smtClean="0">
                <a:solidFill>
                  <a:schemeClr val="tx2"/>
                </a:solidFill>
              </a:rPr>
              <a:t>itemset</a:t>
            </a:r>
            <a:r>
              <a:rPr lang="en-US" altLang="en-US" sz="2800" dirty="0" smtClean="0">
                <a:solidFill>
                  <a:schemeClr val="tx2"/>
                </a:solidFill>
              </a:rPr>
              <a:t> L, find all non-empty subsets f </a:t>
            </a:r>
            <a:r>
              <a:rPr lang="en-US" altLang="en-US" sz="2800" dirty="0" smtClean="0">
                <a:solidFill>
                  <a:schemeClr val="tx2"/>
                </a:solidFill>
                <a:sym typeface="Symbol" panose="05050102010706020507" pitchFamily="18" charset="2"/>
              </a:rPr>
              <a:t> L such that f  L – f satisfies the minimum confidence requirement</a:t>
            </a:r>
          </a:p>
          <a:p>
            <a:pPr lvl="1"/>
            <a:r>
              <a:rPr lang="en-US" altLang="en-US" sz="2400" dirty="0" smtClean="0">
                <a:solidFill>
                  <a:schemeClr val="tx2"/>
                </a:solidFill>
                <a:sym typeface="Symbol" panose="05050102010706020507" pitchFamily="18" charset="2"/>
              </a:rPr>
              <a:t>If {A,B,C,D} is a frequent </a:t>
            </a:r>
            <a:r>
              <a:rPr lang="en-US" altLang="en-US" sz="2400" dirty="0" err="1" smtClean="0">
                <a:solidFill>
                  <a:schemeClr val="tx2"/>
                </a:solidFill>
                <a:sym typeface="Symbol" panose="05050102010706020507" pitchFamily="18" charset="2"/>
              </a:rPr>
              <a:t>itemset</a:t>
            </a:r>
            <a:r>
              <a:rPr lang="en-US" altLang="en-US" sz="2400" dirty="0" smtClean="0">
                <a:solidFill>
                  <a:schemeClr val="tx2"/>
                </a:solidFill>
                <a:sym typeface="Symbol" panose="05050102010706020507" pitchFamily="18" charset="2"/>
              </a:rPr>
              <a:t>, candidate rules: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en-US" sz="2400" dirty="0" smtClean="0">
                <a:solidFill>
                  <a:schemeClr val="tx2"/>
                </a:solidFill>
                <a:sym typeface="Symbol" panose="05050102010706020507" pitchFamily="18" charset="2"/>
              </a:rPr>
              <a:t>   </a:t>
            </a:r>
            <a:r>
              <a:rPr lang="en-US" altLang="en-US" sz="2200" dirty="0" smtClean="0">
                <a:solidFill>
                  <a:schemeClr val="tx2"/>
                </a:solidFill>
                <a:sym typeface="Symbol" panose="05050102010706020507" pitchFamily="18" charset="2"/>
              </a:rPr>
              <a:t>ABC D, 		ABD C, 	ACD B, 	BCD A, </a:t>
            </a:r>
            <a:br>
              <a:rPr lang="en-US" altLang="en-US" sz="2200" dirty="0" smtClean="0">
                <a:solidFill>
                  <a:schemeClr val="tx2"/>
                </a:solidFill>
                <a:sym typeface="Symbol" panose="05050102010706020507" pitchFamily="18" charset="2"/>
              </a:rPr>
            </a:br>
            <a:r>
              <a:rPr lang="en-US" altLang="en-US" sz="2200" dirty="0" smtClean="0">
                <a:solidFill>
                  <a:schemeClr val="tx2"/>
                </a:solidFill>
                <a:sym typeface="Symbol" panose="05050102010706020507" pitchFamily="18" charset="2"/>
              </a:rPr>
              <a:t>A BCD,		B ACD,	C ABD, 	D ABC</a:t>
            </a:r>
            <a:br>
              <a:rPr lang="en-US" altLang="en-US" sz="2200" dirty="0" smtClean="0">
                <a:solidFill>
                  <a:schemeClr val="tx2"/>
                </a:solidFill>
                <a:sym typeface="Symbol" panose="05050102010706020507" pitchFamily="18" charset="2"/>
              </a:rPr>
            </a:br>
            <a:r>
              <a:rPr lang="en-US" altLang="en-US" sz="2200" dirty="0" smtClean="0">
                <a:solidFill>
                  <a:schemeClr val="tx2"/>
                </a:solidFill>
                <a:sym typeface="Symbol" panose="05050102010706020507" pitchFamily="18" charset="2"/>
              </a:rPr>
              <a:t>AB CD,		AC  BD, 	AD  BC, 	BC AD, </a:t>
            </a:r>
            <a:br>
              <a:rPr lang="en-US" altLang="en-US" sz="2200" dirty="0" smtClean="0">
                <a:solidFill>
                  <a:schemeClr val="tx2"/>
                </a:solidFill>
                <a:sym typeface="Symbol" panose="05050102010706020507" pitchFamily="18" charset="2"/>
              </a:rPr>
            </a:br>
            <a:r>
              <a:rPr lang="en-US" altLang="en-US" sz="2200" dirty="0" smtClean="0">
                <a:solidFill>
                  <a:schemeClr val="tx2"/>
                </a:solidFill>
                <a:sym typeface="Symbol" panose="05050102010706020507" pitchFamily="18" charset="2"/>
              </a:rPr>
              <a:t>BD AC, 		CD AB,	</a:t>
            </a:r>
            <a:br>
              <a:rPr lang="en-US" altLang="en-US" sz="2200" dirty="0" smtClean="0">
                <a:solidFill>
                  <a:schemeClr val="tx2"/>
                </a:solidFill>
                <a:sym typeface="Symbol" panose="05050102010706020507" pitchFamily="18" charset="2"/>
              </a:rPr>
            </a:br>
            <a:endParaRPr lang="en-US" altLang="en-US" sz="2200" dirty="0" smtClean="0">
              <a:solidFill>
                <a:schemeClr val="tx2"/>
              </a:solidFill>
              <a:sym typeface="Symbol" panose="05050102010706020507" pitchFamily="18" charset="2"/>
            </a:endParaRPr>
          </a:p>
          <a:p>
            <a:r>
              <a:rPr lang="en-US" altLang="en-US" sz="2800" dirty="0" smtClean="0">
                <a:solidFill>
                  <a:schemeClr val="tx2"/>
                </a:solidFill>
              </a:rPr>
              <a:t>If |L| = k, then there are 2</a:t>
            </a:r>
            <a:r>
              <a:rPr lang="en-US" altLang="en-US" sz="2800" baseline="30000" dirty="0" smtClean="0">
                <a:solidFill>
                  <a:schemeClr val="tx2"/>
                </a:solidFill>
              </a:rPr>
              <a:t>k</a:t>
            </a:r>
            <a:r>
              <a:rPr lang="en-US" altLang="en-US" sz="2800" dirty="0" smtClean="0">
                <a:solidFill>
                  <a:schemeClr val="tx2"/>
                </a:solidFill>
              </a:rPr>
              <a:t> – 2 candidate association rules (ignoring L </a:t>
            </a:r>
            <a:r>
              <a:rPr lang="en-US" altLang="en-US" sz="2800" dirty="0" smtClean="0">
                <a:solidFill>
                  <a:schemeClr val="tx2"/>
                </a:solidFill>
                <a:sym typeface="Symbol" panose="05050102010706020507" pitchFamily="18" charset="2"/>
              </a:rPr>
              <a:t>  and   L)</a:t>
            </a:r>
          </a:p>
        </p:txBody>
      </p:sp>
    </p:spTree>
    <p:extLst>
      <p:ext uri="{BB962C8B-B14F-4D97-AF65-F5344CB8AC3E}">
        <p14:creationId xmlns:p14="http://schemas.microsoft.com/office/powerpoint/2010/main" val="3893776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 altLang="en-US" smtClean="0"/>
              <a:t>Rule Generation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2775" y="1600200"/>
            <a:ext cx="8153400" cy="4495800"/>
          </a:xfrm>
        </p:spPr>
        <p:txBody>
          <a:bodyPr>
            <a:normAutofit lnSpcReduction="10000"/>
          </a:bodyPr>
          <a:lstStyle/>
          <a:p>
            <a:r>
              <a:rPr lang="en-US" altLang="en-US" sz="3200" dirty="0" smtClean="0">
                <a:solidFill>
                  <a:schemeClr val="tx2"/>
                </a:solidFill>
                <a:sym typeface="Symbol" panose="05050102010706020507" pitchFamily="18" charset="2"/>
              </a:rPr>
              <a:t>How to efficiently generate rules from frequent </a:t>
            </a:r>
            <a:r>
              <a:rPr lang="en-US" altLang="en-US" sz="3200" dirty="0" err="1" smtClean="0">
                <a:solidFill>
                  <a:schemeClr val="tx2"/>
                </a:solidFill>
                <a:sym typeface="Symbol" panose="05050102010706020507" pitchFamily="18" charset="2"/>
              </a:rPr>
              <a:t>itemsets</a:t>
            </a:r>
            <a:r>
              <a:rPr lang="en-US" altLang="en-US" sz="3200" dirty="0" smtClean="0">
                <a:solidFill>
                  <a:schemeClr val="tx2"/>
                </a:solidFill>
                <a:sym typeface="Symbol" panose="05050102010706020507" pitchFamily="18" charset="2"/>
              </a:rPr>
              <a:t>?</a:t>
            </a:r>
          </a:p>
          <a:p>
            <a:pPr lvl="1"/>
            <a:r>
              <a:rPr lang="en-US" altLang="en-US" sz="2800" dirty="0" smtClean="0">
                <a:solidFill>
                  <a:schemeClr val="tx2"/>
                </a:solidFill>
                <a:sym typeface="Symbol" panose="05050102010706020507" pitchFamily="18" charset="2"/>
              </a:rPr>
              <a:t>In general, confidence does not have an anti-monotone property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en-US" sz="2400" dirty="0" smtClean="0">
                <a:solidFill>
                  <a:schemeClr val="tx2"/>
                </a:solidFill>
                <a:sym typeface="Symbol" panose="05050102010706020507" pitchFamily="18" charset="2"/>
              </a:rPr>
              <a:t>	c(ABC </a:t>
            </a:r>
            <a:r>
              <a:rPr lang="en-US" altLang="en-US" sz="2400" dirty="0" smtClean="0">
                <a:solidFill>
                  <a:schemeClr val="tx2"/>
                </a:solidFill>
                <a:sym typeface="Symbol" panose="05050102010706020507" pitchFamily="18" charset="2"/>
              </a:rPr>
              <a:t>DE) </a:t>
            </a:r>
            <a:r>
              <a:rPr lang="en-US" altLang="en-US" sz="2400" dirty="0" smtClean="0">
                <a:solidFill>
                  <a:schemeClr val="tx2"/>
                </a:solidFill>
                <a:sym typeface="Symbol" panose="05050102010706020507" pitchFamily="18" charset="2"/>
              </a:rPr>
              <a:t>can be larger or smaller than c(AB D)</a:t>
            </a:r>
          </a:p>
          <a:p>
            <a:pPr lvl="1"/>
            <a:r>
              <a:rPr lang="en-US" altLang="en-US" sz="2800" dirty="0" smtClean="0">
                <a:solidFill>
                  <a:schemeClr val="tx2"/>
                </a:solidFill>
                <a:sym typeface="Symbol" panose="05050102010706020507" pitchFamily="18" charset="2"/>
              </a:rPr>
              <a:t>But confidence of rules generated from the same </a:t>
            </a:r>
            <a:r>
              <a:rPr lang="en-US" altLang="en-US" sz="2800" dirty="0" err="1" smtClean="0">
                <a:solidFill>
                  <a:schemeClr val="tx2"/>
                </a:solidFill>
                <a:sym typeface="Symbol" panose="05050102010706020507" pitchFamily="18" charset="2"/>
              </a:rPr>
              <a:t>itemset</a:t>
            </a:r>
            <a:r>
              <a:rPr lang="en-US" altLang="en-US" sz="2800" dirty="0" smtClean="0">
                <a:solidFill>
                  <a:schemeClr val="tx2"/>
                </a:solidFill>
                <a:sym typeface="Symbol" panose="05050102010706020507" pitchFamily="18" charset="2"/>
              </a:rPr>
              <a:t> has an anti-monotone property</a:t>
            </a:r>
          </a:p>
          <a:p>
            <a:pPr lvl="1"/>
            <a:r>
              <a:rPr lang="en-US" altLang="en-US" sz="2800" dirty="0" smtClean="0">
                <a:solidFill>
                  <a:schemeClr val="tx2"/>
                </a:solidFill>
                <a:sym typeface="Symbol" panose="05050102010706020507" pitchFamily="18" charset="2"/>
              </a:rPr>
              <a:t>e.g., L = {A,B,C,D}:</a:t>
            </a:r>
            <a:br>
              <a:rPr lang="en-US" altLang="en-US" sz="2800" dirty="0" smtClean="0">
                <a:solidFill>
                  <a:schemeClr val="tx2"/>
                </a:solidFill>
                <a:sym typeface="Symbol" panose="05050102010706020507" pitchFamily="18" charset="2"/>
              </a:rPr>
            </a:br>
            <a:r>
              <a:rPr lang="en-US" altLang="en-US" sz="2800" dirty="0" smtClean="0">
                <a:solidFill>
                  <a:schemeClr val="tx2"/>
                </a:solidFill>
                <a:sym typeface="Symbol" panose="05050102010706020507" pitchFamily="18" charset="2"/>
              </a:rPr>
              <a:t> 		c(ABC  D)  c(AB  CD)  c(A  BCD)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en-US" sz="2400" dirty="0" smtClean="0">
                <a:solidFill>
                  <a:schemeClr val="tx2"/>
                </a:solidFill>
                <a:sym typeface="Symbol" panose="05050102010706020507" pitchFamily="18" charset="2"/>
              </a:rPr>
              <a:t>  Confidence is anti-monotone w.r.t. number of items on the RHS of the rule</a:t>
            </a:r>
          </a:p>
        </p:txBody>
      </p:sp>
    </p:spTree>
    <p:extLst>
      <p:ext uri="{BB962C8B-B14F-4D97-AF65-F5344CB8AC3E}">
        <p14:creationId xmlns:p14="http://schemas.microsoft.com/office/powerpoint/2010/main" val="4219061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smtClean="0"/>
              <a:t>Rule Generation for Apriori Algorithm</a:t>
            </a:r>
          </a:p>
        </p:txBody>
      </p:sp>
      <p:sp>
        <p:nvSpPr>
          <p:cNvPr id="6148" name="Text Box 4"/>
          <p:cNvSpPr txBox="1">
            <a:spLocks noChangeArrowheads="1"/>
          </p:cNvSpPr>
          <p:nvPr/>
        </p:nvSpPr>
        <p:spPr bwMode="auto">
          <a:xfrm>
            <a:off x="1219200" y="1524000"/>
            <a:ext cx="20256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solidFill>
                  <a:srgbClr val="CC3300"/>
                </a:solidFill>
                <a:latin typeface="Times New Roman" panose="02020603050405020304" pitchFamily="18" charset="0"/>
              </a:rPr>
              <a:t>Lattice of rules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381000" y="1752600"/>
            <a:ext cx="8153400" cy="4851400"/>
            <a:chOff x="96" y="894"/>
            <a:chExt cx="5136" cy="3056"/>
          </a:xfrm>
        </p:grpSpPr>
        <p:graphicFrame>
          <p:nvGraphicFramePr>
            <p:cNvPr id="6146" name="Object 6"/>
            <p:cNvGraphicFramePr>
              <a:graphicFrameLocks noChangeAspect="1"/>
            </p:cNvGraphicFramePr>
            <p:nvPr/>
          </p:nvGraphicFramePr>
          <p:xfrm>
            <a:off x="432" y="894"/>
            <a:ext cx="4800" cy="27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024" name="Visio" r:id="rId4" imgW="8671306" imgH="4782859" progId="Visio.Drawing.6">
                    <p:embed/>
                  </p:oleObj>
                </mc:Choice>
                <mc:Fallback>
                  <p:oleObj name="Visio" r:id="rId4" imgW="8671306" imgH="4782859" progId="Visio.Drawing.6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" y="894"/>
                          <a:ext cx="4800" cy="27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52" name="Freeform 7"/>
            <p:cNvSpPr>
              <a:spLocks/>
            </p:cNvSpPr>
            <p:nvPr/>
          </p:nvSpPr>
          <p:spPr bwMode="auto">
            <a:xfrm>
              <a:off x="320" y="1064"/>
              <a:ext cx="3712" cy="2808"/>
            </a:xfrm>
            <a:custGeom>
              <a:avLst/>
              <a:gdLst>
                <a:gd name="T0" fmla="*/ 256 w 3712"/>
                <a:gd name="T1" fmla="*/ 376 h 2808"/>
                <a:gd name="T2" fmla="*/ 736 w 3712"/>
                <a:gd name="T3" fmla="*/ 88 h 2808"/>
                <a:gd name="T4" fmla="*/ 2176 w 3712"/>
                <a:gd name="T5" fmla="*/ 904 h 2808"/>
                <a:gd name="T6" fmla="*/ 2656 w 3712"/>
                <a:gd name="T7" fmla="*/ 1768 h 2808"/>
                <a:gd name="T8" fmla="*/ 3520 w 3712"/>
                <a:gd name="T9" fmla="*/ 2296 h 2808"/>
                <a:gd name="T10" fmla="*/ 3376 w 3712"/>
                <a:gd name="T11" fmla="*/ 2584 h 2808"/>
                <a:gd name="T12" fmla="*/ 1504 w 3712"/>
                <a:gd name="T13" fmla="*/ 2776 h 2808"/>
                <a:gd name="T14" fmla="*/ 352 w 3712"/>
                <a:gd name="T15" fmla="*/ 2392 h 2808"/>
                <a:gd name="T16" fmla="*/ 16 w 3712"/>
                <a:gd name="T17" fmla="*/ 1288 h 2808"/>
                <a:gd name="T18" fmla="*/ 256 w 3712"/>
                <a:gd name="T19" fmla="*/ 376 h 280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712"/>
                <a:gd name="T31" fmla="*/ 0 h 2808"/>
                <a:gd name="T32" fmla="*/ 3712 w 3712"/>
                <a:gd name="T33" fmla="*/ 2808 h 280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712" h="2808">
                  <a:moveTo>
                    <a:pt x="256" y="376"/>
                  </a:moveTo>
                  <a:cubicBezTo>
                    <a:pt x="376" y="176"/>
                    <a:pt x="416" y="0"/>
                    <a:pt x="736" y="88"/>
                  </a:cubicBezTo>
                  <a:cubicBezTo>
                    <a:pt x="1056" y="176"/>
                    <a:pt x="1856" y="624"/>
                    <a:pt x="2176" y="904"/>
                  </a:cubicBezTo>
                  <a:cubicBezTo>
                    <a:pt x="2496" y="1184"/>
                    <a:pt x="2432" y="1536"/>
                    <a:pt x="2656" y="1768"/>
                  </a:cubicBezTo>
                  <a:cubicBezTo>
                    <a:pt x="2880" y="2000"/>
                    <a:pt x="3400" y="2160"/>
                    <a:pt x="3520" y="2296"/>
                  </a:cubicBezTo>
                  <a:cubicBezTo>
                    <a:pt x="3640" y="2432"/>
                    <a:pt x="3712" y="2504"/>
                    <a:pt x="3376" y="2584"/>
                  </a:cubicBezTo>
                  <a:cubicBezTo>
                    <a:pt x="3040" y="2664"/>
                    <a:pt x="2008" y="2808"/>
                    <a:pt x="1504" y="2776"/>
                  </a:cubicBezTo>
                  <a:cubicBezTo>
                    <a:pt x="1000" y="2744"/>
                    <a:pt x="600" y="2640"/>
                    <a:pt x="352" y="2392"/>
                  </a:cubicBezTo>
                  <a:cubicBezTo>
                    <a:pt x="104" y="2144"/>
                    <a:pt x="32" y="1624"/>
                    <a:pt x="16" y="1288"/>
                  </a:cubicBezTo>
                  <a:cubicBezTo>
                    <a:pt x="0" y="952"/>
                    <a:pt x="136" y="576"/>
                    <a:pt x="256" y="376"/>
                  </a:cubicBez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53" name="Text Box 8"/>
            <p:cNvSpPr txBox="1">
              <a:spLocks noChangeArrowheads="1"/>
            </p:cNvSpPr>
            <p:nvPr/>
          </p:nvSpPr>
          <p:spPr bwMode="auto">
            <a:xfrm>
              <a:off x="96" y="3504"/>
              <a:ext cx="720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000" dirty="0"/>
                <a:t>Pruned Rules</a:t>
              </a:r>
            </a:p>
          </p:txBody>
        </p:sp>
      </p:grpSp>
      <p:sp>
        <p:nvSpPr>
          <p:cNvPr id="6150" name="Line 9"/>
          <p:cNvSpPr>
            <a:spLocks noChangeShapeType="1"/>
          </p:cNvSpPr>
          <p:nvPr/>
        </p:nvSpPr>
        <p:spPr bwMode="auto">
          <a:xfrm>
            <a:off x="1066800" y="2286000"/>
            <a:ext cx="9144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1" name="Text Box 10"/>
          <p:cNvSpPr txBox="1">
            <a:spLocks noChangeArrowheads="1"/>
          </p:cNvSpPr>
          <p:nvPr/>
        </p:nvSpPr>
        <p:spPr bwMode="auto">
          <a:xfrm>
            <a:off x="304800" y="1600200"/>
            <a:ext cx="13716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 dirty="0"/>
              <a:t>Low Confidence Rule</a:t>
            </a:r>
          </a:p>
        </p:txBody>
      </p:sp>
    </p:spTree>
    <p:extLst>
      <p:ext uri="{BB962C8B-B14F-4D97-AF65-F5344CB8AC3E}">
        <p14:creationId xmlns:p14="http://schemas.microsoft.com/office/powerpoint/2010/main" val="516714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0"/>
            <a:ext cx="7760173" cy="19812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002971"/>
            <a:ext cx="5741776" cy="4442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820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 altLang="en-US" smtClean="0"/>
              <a:t>Compact Representation of FIs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308975" cy="4876800"/>
          </a:xfrm>
        </p:spPr>
        <p:txBody>
          <a:bodyPr>
            <a:normAutofit/>
          </a:bodyPr>
          <a:lstStyle/>
          <a:p>
            <a:r>
              <a:rPr lang="en-US" altLang="en-US" sz="2800" dirty="0" smtClean="0">
                <a:solidFill>
                  <a:schemeClr val="tx2"/>
                </a:solidFill>
                <a:sym typeface="Symbol" panose="05050102010706020507" pitchFamily="18" charset="2"/>
              </a:rPr>
              <a:t>Generally, the no. of FIs generated by a </a:t>
            </a:r>
            <a:r>
              <a:rPr lang="en-US" altLang="en-US" sz="2800" dirty="0" err="1" smtClean="0">
                <a:solidFill>
                  <a:schemeClr val="tx2"/>
                </a:solidFill>
                <a:sym typeface="Symbol" panose="05050102010706020507" pitchFamily="18" charset="2"/>
              </a:rPr>
              <a:t>tx</a:t>
            </a:r>
            <a:r>
              <a:rPr lang="en-US" altLang="en-US" sz="2800" dirty="0" smtClean="0">
                <a:solidFill>
                  <a:schemeClr val="tx2"/>
                </a:solidFill>
                <a:sym typeface="Symbol" panose="05050102010706020507" pitchFamily="18" charset="2"/>
              </a:rPr>
              <a:t>. DB can be very large</a:t>
            </a:r>
          </a:p>
          <a:p>
            <a:r>
              <a:rPr lang="en-US" altLang="en-US" sz="2800" dirty="0" smtClean="0">
                <a:solidFill>
                  <a:schemeClr val="tx2"/>
                </a:solidFill>
                <a:sym typeface="Symbol" panose="05050102010706020507" pitchFamily="18" charset="2"/>
              </a:rPr>
              <a:t>Good if we could identify a small representative set of FIs from which all other FIs could be generated</a:t>
            </a:r>
          </a:p>
          <a:p>
            <a:r>
              <a:rPr lang="en-US" altLang="en-US" sz="2800" dirty="0" smtClean="0">
                <a:solidFill>
                  <a:schemeClr val="tx2"/>
                </a:solidFill>
                <a:sym typeface="Symbol" panose="05050102010706020507" pitchFamily="18" charset="2"/>
              </a:rPr>
              <a:t>2 such representations:</a:t>
            </a:r>
          </a:p>
          <a:p>
            <a:pPr lvl="1"/>
            <a:r>
              <a:rPr lang="en-US" altLang="en-US" sz="2400" dirty="0" smtClean="0">
                <a:solidFill>
                  <a:schemeClr val="tx2"/>
                </a:solidFill>
                <a:sym typeface="Symbol" panose="05050102010706020507" pitchFamily="18" charset="2"/>
              </a:rPr>
              <a:t>Maximal FIs</a:t>
            </a:r>
          </a:p>
          <a:p>
            <a:pPr lvl="1"/>
            <a:r>
              <a:rPr lang="en-US" altLang="en-US" sz="2400" dirty="0" smtClean="0">
                <a:solidFill>
                  <a:schemeClr val="tx2"/>
                </a:solidFill>
                <a:sym typeface="Symbol" panose="05050102010706020507" pitchFamily="18" charset="2"/>
              </a:rPr>
              <a:t>Closed FIs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2400" dirty="0" smtClean="0">
              <a:solidFill>
                <a:schemeClr val="tx2"/>
              </a:solidFill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786691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Maximal Frequent Itemset</a:t>
            </a:r>
          </a:p>
        </p:txBody>
      </p:sp>
      <p:graphicFrame>
        <p:nvGraphicFramePr>
          <p:cNvPr id="35843" name="Object 3"/>
          <p:cNvGraphicFramePr>
            <a:graphicFrameLocks noChangeAspect="1"/>
          </p:cNvGraphicFramePr>
          <p:nvPr/>
        </p:nvGraphicFramePr>
        <p:xfrm>
          <a:off x="1162050" y="1524000"/>
          <a:ext cx="7140575" cy="487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73" name="Visio" r:id="rId3" imgW="9687611" imgH="7157416" progId="Visio.Drawing.6">
                  <p:embed/>
                </p:oleObj>
              </mc:Choice>
              <mc:Fallback>
                <p:oleObj name="Visio" r:id="rId3" imgW="9687611" imgH="7157416" progId="Visio.Drawing.6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2050" y="1524000"/>
                        <a:ext cx="7140575" cy="487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4" name="Text Box 4"/>
          <p:cNvSpPr txBox="1">
            <a:spLocks noChangeArrowheads="1"/>
          </p:cNvSpPr>
          <p:nvPr/>
        </p:nvSpPr>
        <p:spPr bwMode="auto">
          <a:xfrm>
            <a:off x="7270750" y="5897563"/>
            <a:ext cx="11112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Border</a:t>
            </a:r>
          </a:p>
        </p:txBody>
      </p:sp>
      <p:sp>
        <p:nvSpPr>
          <p:cNvPr id="35845" name="Text Box 5"/>
          <p:cNvSpPr txBox="1">
            <a:spLocks noChangeArrowheads="1"/>
          </p:cNvSpPr>
          <p:nvPr/>
        </p:nvSpPr>
        <p:spPr bwMode="auto">
          <a:xfrm>
            <a:off x="685800" y="5610225"/>
            <a:ext cx="111125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Infrequent Itemsets</a:t>
            </a:r>
          </a:p>
        </p:txBody>
      </p:sp>
      <p:sp>
        <p:nvSpPr>
          <p:cNvPr id="35846" name="Text Box 6"/>
          <p:cNvSpPr txBox="1">
            <a:spLocks noChangeArrowheads="1"/>
          </p:cNvSpPr>
          <p:nvPr/>
        </p:nvSpPr>
        <p:spPr bwMode="auto">
          <a:xfrm>
            <a:off x="844550" y="2097088"/>
            <a:ext cx="1112838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Maximal Itemsets</a:t>
            </a:r>
          </a:p>
        </p:txBody>
      </p:sp>
      <p:sp>
        <p:nvSpPr>
          <p:cNvPr id="35847" name="Line 7"/>
          <p:cNvSpPr>
            <a:spLocks noChangeShapeType="1"/>
          </p:cNvSpPr>
          <p:nvPr/>
        </p:nvSpPr>
        <p:spPr bwMode="auto">
          <a:xfrm flipH="1">
            <a:off x="1241425" y="4606925"/>
            <a:ext cx="158750" cy="1074738"/>
          </a:xfrm>
          <a:prstGeom prst="line">
            <a:avLst/>
          </a:prstGeom>
          <a:noFill/>
          <a:ln w="25400">
            <a:solidFill>
              <a:srgbClr val="800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48" name="Line 8"/>
          <p:cNvSpPr>
            <a:spLocks noChangeShapeType="1"/>
          </p:cNvSpPr>
          <p:nvPr/>
        </p:nvSpPr>
        <p:spPr bwMode="auto">
          <a:xfrm flipH="1" flipV="1">
            <a:off x="1717675" y="2527300"/>
            <a:ext cx="1030288" cy="646113"/>
          </a:xfrm>
          <a:prstGeom prst="line">
            <a:avLst/>
          </a:prstGeom>
          <a:noFill/>
          <a:ln w="25400">
            <a:solidFill>
              <a:srgbClr val="800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49" name="Line 9"/>
          <p:cNvSpPr>
            <a:spLocks noChangeShapeType="1"/>
          </p:cNvSpPr>
          <p:nvPr/>
        </p:nvSpPr>
        <p:spPr bwMode="auto">
          <a:xfrm flipH="1">
            <a:off x="1717675" y="4535488"/>
            <a:ext cx="1030288" cy="1146175"/>
          </a:xfrm>
          <a:prstGeom prst="line">
            <a:avLst/>
          </a:prstGeom>
          <a:noFill/>
          <a:ln w="25400">
            <a:solidFill>
              <a:srgbClr val="800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0" name="Line 10"/>
          <p:cNvSpPr>
            <a:spLocks noChangeShapeType="1"/>
          </p:cNvSpPr>
          <p:nvPr/>
        </p:nvSpPr>
        <p:spPr bwMode="auto">
          <a:xfrm flipH="1">
            <a:off x="1797050" y="5538788"/>
            <a:ext cx="635000" cy="287337"/>
          </a:xfrm>
          <a:prstGeom prst="line">
            <a:avLst/>
          </a:prstGeom>
          <a:noFill/>
          <a:ln w="25400">
            <a:solidFill>
              <a:srgbClr val="800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1" name="Line 11"/>
          <p:cNvSpPr>
            <a:spLocks noChangeShapeType="1"/>
          </p:cNvSpPr>
          <p:nvPr/>
        </p:nvSpPr>
        <p:spPr bwMode="auto">
          <a:xfrm flipH="1" flipV="1">
            <a:off x="1638300" y="5969000"/>
            <a:ext cx="2697163" cy="287338"/>
          </a:xfrm>
          <a:prstGeom prst="line">
            <a:avLst/>
          </a:prstGeom>
          <a:noFill/>
          <a:ln w="25400">
            <a:solidFill>
              <a:srgbClr val="800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2" name="Line 12"/>
          <p:cNvSpPr>
            <a:spLocks noChangeShapeType="1"/>
          </p:cNvSpPr>
          <p:nvPr/>
        </p:nvSpPr>
        <p:spPr bwMode="auto">
          <a:xfrm flipH="1" flipV="1">
            <a:off x="1558925" y="2598738"/>
            <a:ext cx="2632075" cy="1668462"/>
          </a:xfrm>
          <a:prstGeom prst="line">
            <a:avLst/>
          </a:prstGeom>
          <a:noFill/>
          <a:ln w="25400">
            <a:solidFill>
              <a:srgbClr val="800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3" name="Line 13"/>
          <p:cNvSpPr>
            <a:spLocks noChangeShapeType="1"/>
          </p:cNvSpPr>
          <p:nvPr/>
        </p:nvSpPr>
        <p:spPr bwMode="auto">
          <a:xfrm flipH="1">
            <a:off x="1479550" y="4535488"/>
            <a:ext cx="555625" cy="1074737"/>
          </a:xfrm>
          <a:prstGeom prst="line">
            <a:avLst/>
          </a:prstGeom>
          <a:noFill/>
          <a:ln w="25400">
            <a:solidFill>
              <a:srgbClr val="800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4" name="Text Box 14"/>
          <p:cNvSpPr txBox="1">
            <a:spLocks noChangeArrowheads="1"/>
          </p:cNvSpPr>
          <p:nvPr/>
        </p:nvSpPr>
        <p:spPr bwMode="auto">
          <a:xfrm>
            <a:off x="381000" y="1050925"/>
            <a:ext cx="8305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An itemset is maximal frequent if none of its immediate supersets is frequent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 altLang="en-US" smtClean="0"/>
              <a:t>Maximal FIs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en-US" altLang="en-US" sz="2400" smtClean="0">
                <a:solidFill>
                  <a:schemeClr val="tx2"/>
                </a:solidFill>
                <a:sym typeface="Symbol" panose="05050102010706020507" pitchFamily="18" charset="2"/>
              </a:rPr>
              <a:t>Maximal FIs are the smallest set of itemsets from which all the FIs can be derived</a:t>
            </a:r>
          </a:p>
          <a:p>
            <a:r>
              <a:rPr lang="en-US" altLang="en-US" sz="2400" smtClean="0">
                <a:solidFill>
                  <a:schemeClr val="tx2"/>
                </a:solidFill>
                <a:sym typeface="Symbol" panose="05050102010706020507" pitchFamily="18" charset="2"/>
              </a:rPr>
              <a:t>Maximal FIs do not contain support information of their subsets</a:t>
            </a:r>
          </a:p>
          <a:p>
            <a:r>
              <a:rPr lang="en-US" altLang="en-US" sz="2400" smtClean="0">
                <a:solidFill>
                  <a:schemeClr val="tx2"/>
                </a:solidFill>
                <a:sym typeface="Symbol" panose="05050102010706020507" pitchFamily="18" charset="2"/>
              </a:rPr>
              <a:t>An additional scan of the DB is needed to determine the support count of the non-maximal FIs</a:t>
            </a:r>
          </a:p>
          <a:p>
            <a:endParaRPr lang="en-US" altLang="en-US" sz="2400" smtClean="0">
              <a:solidFill>
                <a:schemeClr val="tx2"/>
              </a:solidFill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404995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Closed </a:t>
            </a:r>
            <a:r>
              <a:rPr lang="en-US" dirty="0" err="1" smtClean="0"/>
              <a:t>Itemset</a:t>
            </a:r>
            <a:endParaRPr lang="en-US" dirty="0" smtClean="0"/>
          </a:p>
        </p:txBody>
      </p:sp>
      <p:graphicFrame>
        <p:nvGraphicFramePr>
          <p:cNvPr id="36868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1008063" y="2998788"/>
          <a:ext cx="1966912" cy="172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25" name="Worksheet" r:id="rId3" imgW="1988871" imgH="1744914" progId="Excel.Sheet.8">
                  <p:embed/>
                </p:oleObj>
              </mc:Choice>
              <mc:Fallback>
                <p:oleObj name="Worksheet" r:id="rId3" imgW="1988871" imgH="1744914" progId="Excel.Shee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8063" y="2998788"/>
                        <a:ext cx="1966912" cy="172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345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219200"/>
            <a:ext cx="8229600" cy="4530725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smtClean="0"/>
              <a:t>An itemset is closed if none of its immediate supersets has the same support as the itemset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sz="2400" smtClean="0"/>
          </a:p>
        </p:txBody>
      </p:sp>
      <p:graphicFrame>
        <p:nvGraphicFramePr>
          <p:cNvPr id="36869" name="Object 5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927310702"/>
              </p:ext>
            </p:extLst>
          </p:nvPr>
        </p:nvGraphicFramePr>
        <p:xfrm>
          <a:off x="3906838" y="2401093"/>
          <a:ext cx="2236787" cy="285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26" name="Worksheet" r:id="rId5" imgW="2209698" imgH="3192747" progId="Excel.Sheet.8">
                  <p:embed/>
                </p:oleObj>
              </mc:Choice>
              <mc:Fallback>
                <p:oleObj name="Worksheet" r:id="rId5" imgW="2209698" imgH="3192747" progId="Excel.Shee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6838" y="2401093"/>
                        <a:ext cx="2236787" cy="285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0" name="Object 6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2200206422"/>
              </p:ext>
            </p:extLst>
          </p:nvPr>
        </p:nvGraphicFramePr>
        <p:xfrm>
          <a:off x="6705600" y="3065461"/>
          <a:ext cx="2085975" cy="1525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27" name="Worksheet" r:id="rId7" imgW="2153107" imgH="1781556" progId="Excel.Sheet.8">
                  <p:embed/>
                </p:oleObj>
              </mc:Choice>
              <mc:Fallback>
                <p:oleObj name="Worksheet" r:id="rId7" imgW="2153107" imgH="1781556" progId="Excel.Shee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3065461"/>
                        <a:ext cx="2085975" cy="1525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48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8229600" cy="9144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Maximal vs Closed Itemsets</a:t>
            </a:r>
          </a:p>
        </p:txBody>
      </p:sp>
      <p:graphicFrame>
        <p:nvGraphicFramePr>
          <p:cNvPr id="37891" name="Object 3"/>
          <p:cNvGraphicFramePr>
            <a:graphicFrameLocks noChangeAspect="1"/>
          </p:cNvGraphicFramePr>
          <p:nvPr/>
        </p:nvGraphicFramePr>
        <p:xfrm>
          <a:off x="228600" y="1143000"/>
          <a:ext cx="1600200" cy="220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35" name="Worksheet" r:id="rId3" imgW="1733931" imgH="2229104" progId="Excel.Sheet.8">
                  <p:embed/>
                </p:oleObj>
              </mc:Choice>
              <mc:Fallback>
                <p:oleObj name="Worksheet" r:id="rId3" imgW="1733931" imgH="2229104" progId="Excel.Shee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143000"/>
                        <a:ext cx="1600200" cy="220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2" name="Object 4"/>
          <p:cNvGraphicFramePr>
            <a:graphicFrameLocks noChangeAspect="1"/>
          </p:cNvGraphicFramePr>
          <p:nvPr/>
        </p:nvGraphicFramePr>
        <p:xfrm>
          <a:off x="1828800" y="1066800"/>
          <a:ext cx="7229475" cy="5289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36" name="VISIO" r:id="rId5" imgW="10120884" imgH="7392924" progId="Visio.Drawing.6">
                  <p:embed/>
                </p:oleObj>
              </mc:Choice>
              <mc:Fallback>
                <p:oleObj name="VISIO" r:id="rId5" imgW="10120884" imgH="7392924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1066800"/>
                        <a:ext cx="7229475" cy="5289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3" name="Text Box 5"/>
          <p:cNvSpPr txBox="1">
            <a:spLocks noChangeArrowheads="1"/>
          </p:cNvSpPr>
          <p:nvPr/>
        </p:nvSpPr>
        <p:spPr bwMode="auto">
          <a:xfrm>
            <a:off x="7162800" y="990600"/>
            <a:ext cx="1524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Transaction Ids</a:t>
            </a:r>
          </a:p>
        </p:txBody>
      </p:sp>
      <p:sp>
        <p:nvSpPr>
          <p:cNvPr id="37894" name="Line 6"/>
          <p:cNvSpPr>
            <a:spLocks noChangeShapeType="1"/>
          </p:cNvSpPr>
          <p:nvPr/>
        </p:nvSpPr>
        <p:spPr bwMode="auto">
          <a:xfrm flipH="1">
            <a:off x="6400800" y="1295400"/>
            <a:ext cx="838200" cy="3810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895" name="Line 7"/>
          <p:cNvSpPr>
            <a:spLocks noChangeShapeType="1"/>
          </p:cNvSpPr>
          <p:nvPr/>
        </p:nvSpPr>
        <p:spPr bwMode="auto">
          <a:xfrm flipH="1">
            <a:off x="7772400" y="1371600"/>
            <a:ext cx="76200" cy="2286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896" name="Text Box 8"/>
          <p:cNvSpPr txBox="1">
            <a:spLocks noChangeArrowheads="1"/>
          </p:cNvSpPr>
          <p:nvPr/>
        </p:nvSpPr>
        <p:spPr bwMode="auto">
          <a:xfrm>
            <a:off x="1219200" y="5715000"/>
            <a:ext cx="17526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Not supported by any transactions</a:t>
            </a:r>
          </a:p>
        </p:txBody>
      </p:sp>
      <p:sp>
        <p:nvSpPr>
          <p:cNvPr id="37897" name="Line 9"/>
          <p:cNvSpPr>
            <a:spLocks noChangeShapeType="1"/>
          </p:cNvSpPr>
          <p:nvPr/>
        </p:nvSpPr>
        <p:spPr bwMode="auto">
          <a:xfrm>
            <a:off x="2819400" y="6019800"/>
            <a:ext cx="22860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898" name="Line 10"/>
          <p:cNvSpPr>
            <a:spLocks noChangeShapeType="1"/>
          </p:cNvSpPr>
          <p:nvPr/>
        </p:nvSpPr>
        <p:spPr bwMode="auto">
          <a:xfrm flipV="1">
            <a:off x="2819400" y="5486400"/>
            <a:ext cx="1524000" cy="5334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144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Maximal vs Closed Frequent Itemsets</a:t>
            </a:r>
          </a:p>
        </p:txBody>
      </p:sp>
      <p:graphicFrame>
        <p:nvGraphicFramePr>
          <p:cNvPr id="38915" name="Object 3"/>
          <p:cNvGraphicFramePr>
            <a:graphicFrameLocks noChangeAspect="1"/>
          </p:cNvGraphicFramePr>
          <p:nvPr/>
        </p:nvGraphicFramePr>
        <p:xfrm>
          <a:off x="228600" y="1066800"/>
          <a:ext cx="7086600" cy="514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43" name="VISIO" r:id="rId3" imgW="10169652" imgH="7367016" progId="Visio.Drawing.6">
                  <p:embed/>
                </p:oleObj>
              </mc:Choice>
              <mc:Fallback>
                <p:oleObj name="VISIO" r:id="rId3" imgW="10169652" imgH="7367016" progId="Visio.Drawing.6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066800"/>
                        <a:ext cx="7086600" cy="5143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6" name="Text Box 4"/>
          <p:cNvSpPr txBox="1">
            <a:spLocks noChangeArrowheads="1"/>
          </p:cNvSpPr>
          <p:nvPr/>
        </p:nvSpPr>
        <p:spPr bwMode="auto">
          <a:xfrm>
            <a:off x="381000" y="1066800"/>
            <a:ext cx="2286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Minimum support = 2</a:t>
            </a:r>
          </a:p>
        </p:txBody>
      </p:sp>
      <p:sp>
        <p:nvSpPr>
          <p:cNvPr id="38917" name="Text Box 5"/>
          <p:cNvSpPr txBox="1">
            <a:spLocks noChangeArrowheads="1"/>
          </p:cNvSpPr>
          <p:nvPr/>
        </p:nvSpPr>
        <p:spPr bwMode="auto">
          <a:xfrm>
            <a:off x="7010400" y="5105400"/>
            <a:ext cx="1524000" cy="62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# Closed = 9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# Maximal = 4</a:t>
            </a:r>
          </a:p>
        </p:txBody>
      </p:sp>
      <p:sp>
        <p:nvSpPr>
          <p:cNvPr id="38918" name="Text Box 6"/>
          <p:cNvSpPr txBox="1">
            <a:spLocks noChangeArrowheads="1"/>
          </p:cNvSpPr>
          <p:nvPr/>
        </p:nvSpPr>
        <p:spPr bwMode="auto">
          <a:xfrm>
            <a:off x="7543800" y="1905000"/>
            <a:ext cx="12192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Closed and maximal</a:t>
            </a:r>
          </a:p>
        </p:txBody>
      </p:sp>
      <p:sp>
        <p:nvSpPr>
          <p:cNvPr id="38919" name="Line 7"/>
          <p:cNvSpPr>
            <a:spLocks noChangeShapeType="1"/>
          </p:cNvSpPr>
          <p:nvPr/>
        </p:nvSpPr>
        <p:spPr bwMode="auto">
          <a:xfrm flipH="1">
            <a:off x="6477000" y="2209800"/>
            <a:ext cx="10668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20" name="Line 8"/>
          <p:cNvSpPr>
            <a:spLocks noChangeShapeType="1"/>
          </p:cNvSpPr>
          <p:nvPr/>
        </p:nvSpPr>
        <p:spPr bwMode="auto">
          <a:xfrm flipH="1">
            <a:off x="7239000" y="2209800"/>
            <a:ext cx="3048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21" name="Line 9"/>
          <p:cNvSpPr>
            <a:spLocks noChangeShapeType="1"/>
          </p:cNvSpPr>
          <p:nvPr/>
        </p:nvSpPr>
        <p:spPr bwMode="auto">
          <a:xfrm flipH="1">
            <a:off x="4876800" y="1371600"/>
            <a:ext cx="6096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22" name="Text Box 10"/>
          <p:cNvSpPr txBox="1">
            <a:spLocks noChangeArrowheads="1"/>
          </p:cNvSpPr>
          <p:nvPr/>
        </p:nvSpPr>
        <p:spPr bwMode="auto">
          <a:xfrm>
            <a:off x="5486400" y="990600"/>
            <a:ext cx="12192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Closed but not maximal</a:t>
            </a:r>
          </a:p>
        </p:txBody>
      </p:sp>
      <p:sp>
        <p:nvSpPr>
          <p:cNvPr id="38923" name="Line 11"/>
          <p:cNvSpPr>
            <a:spLocks noChangeShapeType="1"/>
          </p:cNvSpPr>
          <p:nvPr/>
        </p:nvSpPr>
        <p:spPr bwMode="auto">
          <a:xfrm flipH="1">
            <a:off x="3962400" y="1219200"/>
            <a:ext cx="15240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24" name="Line 12"/>
          <p:cNvSpPr>
            <a:spLocks noChangeShapeType="1"/>
          </p:cNvSpPr>
          <p:nvPr/>
        </p:nvSpPr>
        <p:spPr bwMode="auto">
          <a:xfrm>
            <a:off x="5715000" y="144780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65188"/>
          </a:xfrm>
        </p:spPr>
        <p:txBody>
          <a:bodyPr/>
          <a:lstStyle/>
          <a:p>
            <a:pPr eaLnBrk="1" hangingPunct="1">
              <a:defRPr/>
            </a:pPr>
            <a:r>
              <a:rPr lang="en-US" sz="3400" smtClean="0"/>
              <a:t>Compact Representation of Frequent Itemsets</a:t>
            </a:r>
          </a:p>
        </p:txBody>
      </p:sp>
      <p:pic>
        <p:nvPicPr>
          <p:cNvPr id="34820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" y="1963738"/>
            <a:ext cx="8839200" cy="26844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141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990600"/>
            <a:ext cx="8229600" cy="57150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800" dirty="0" smtClean="0"/>
              <a:t>Some </a:t>
            </a:r>
            <a:r>
              <a:rPr lang="en-US" sz="2800" dirty="0" err="1" smtClean="0"/>
              <a:t>itemsets</a:t>
            </a:r>
            <a:r>
              <a:rPr lang="en-US" sz="2800" dirty="0" smtClean="0"/>
              <a:t> are redundant because they have identical support as their supersets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sz="2800" dirty="0" smtClean="0"/>
          </a:p>
          <a:p>
            <a:pPr eaLnBrk="1" hangingPunct="1">
              <a:lnSpc>
                <a:spcPct val="90000"/>
              </a:lnSpc>
              <a:defRPr/>
            </a:pPr>
            <a:endParaRPr lang="en-US" sz="2800" dirty="0" smtClean="0"/>
          </a:p>
          <a:p>
            <a:pPr eaLnBrk="1" hangingPunct="1">
              <a:lnSpc>
                <a:spcPct val="90000"/>
              </a:lnSpc>
              <a:defRPr/>
            </a:pPr>
            <a:endParaRPr lang="en-US" sz="2800" dirty="0" smtClean="0"/>
          </a:p>
          <a:p>
            <a:pPr eaLnBrk="1" hangingPunct="1">
              <a:lnSpc>
                <a:spcPct val="90000"/>
              </a:lnSpc>
              <a:defRPr/>
            </a:pPr>
            <a:endParaRPr lang="en-US" sz="2800" dirty="0" smtClean="0"/>
          </a:p>
          <a:p>
            <a:pPr eaLnBrk="1" hangingPunct="1">
              <a:lnSpc>
                <a:spcPct val="90000"/>
              </a:lnSpc>
              <a:defRPr/>
            </a:pPr>
            <a:endParaRPr lang="en-US" sz="2800" dirty="0" smtClean="0"/>
          </a:p>
          <a:p>
            <a:pPr eaLnBrk="1" hangingPunct="1">
              <a:lnSpc>
                <a:spcPct val="90000"/>
              </a:lnSpc>
              <a:defRPr/>
            </a:pPr>
            <a:endParaRPr lang="en-US" sz="2800" dirty="0" smtClean="0"/>
          </a:p>
          <a:p>
            <a:pPr eaLnBrk="1" hangingPunct="1">
              <a:lnSpc>
                <a:spcPct val="90000"/>
              </a:lnSpc>
              <a:defRPr/>
            </a:pPr>
            <a:endParaRPr lang="en-US" sz="2800" dirty="0" smtClean="0"/>
          </a:p>
          <a:p>
            <a:pPr lvl="4" eaLnBrk="1" hangingPunct="1">
              <a:lnSpc>
                <a:spcPct val="90000"/>
              </a:lnSpc>
              <a:defRPr/>
            </a:pPr>
            <a:endParaRPr lang="en-US" sz="1800" dirty="0" smtClean="0"/>
          </a:p>
          <a:p>
            <a:pPr eaLnBrk="1" hangingPunct="1">
              <a:lnSpc>
                <a:spcPct val="90000"/>
              </a:lnSpc>
              <a:defRPr/>
            </a:pPr>
            <a:endParaRPr lang="en-US" sz="2800" dirty="0" smtClean="0"/>
          </a:p>
          <a:p>
            <a:pPr eaLnBrk="1" hangingPunct="1">
              <a:lnSpc>
                <a:spcPct val="90000"/>
              </a:lnSpc>
              <a:defRPr/>
            </a:pPr>
            <a:endParaRPr lang="en-US" sz="2800" dirty="0"/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dirty="0" smtClean="0"/>
              <a:t>Number of frequent </a:t>
            </a:r>
            <a:r>
              <a:rPr lang="en-US" sz="2800" dirty="0" err="1" smtClean="0"/>
              <a:t>itemsets</a:t>
            </a:r>
            <a:endParaRPr lang="en-US" sz="2800" dirty="0" smtClean="0"/>
          </a:p>
          <a:p>
            <a:pPr lvl="4" eaLnBrk="1" hangingPunct="1">
              <a:lnSpc>
                <a:spcPct val="90000"/>
              </a:lnSpc>
              <a:defRPr/>
            </a:pPr>
            <a:endParaRPr lang="en-US" sz="1800" dirty="0" smtClean="0"/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dirty="0" smtClean="0"/>
              <a:t>Need a compact representation</a:t>
            </a:r>
          </a:p>
        </p:txBody>
      </p:sp>
      <p:graphicFrame>
        <p:nvGraphicFramePr>
          <p:cNvPr id="34821" name="Object 5"/>
          <p:cNvGraphicFramePr>
            <a:graphicFrameLocks noGrp="1" noChangeAspect="1"/>
          </p:cNvGraphicFramePr>
          <p:nvPr>
            <p:ph sz="half" idx="4294967295"/>
            <p:extLst/>
          </p:nvPr>
        </p:nvGraphicFramePr>
        <p:xfrm>
          <a:off x="4495800" y="5029200"/>
          <a:ext cx="1695450" cy="89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63" name="Equation" r:id="rId4" imgW="1409700" imgH="838200" progId="Equation.3">
                  <p:embed/>
                </p:oleObj>
              </mc:Choice>
              <mc:Fallback>
                <p:oleObj name="Equation" r:id="rId4" imgW="14097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5029200"/>
                        <a:ext cx="1695450" cy="890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16105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Maximal vs Closed Itemsets</a:t>
            </a:r>
          </a:p>
        </p:txBody>
      </p:sp>
      <p:graphicFrame>
        <p:nvGraphicFramePr>
          <p:cNvPr id="39939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2114550" y="1733550"/>
          <a:ext cx="4429125" cy="413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58" name="Visio" r:id="rId3" imgW="6603848" imgH="6157987" progId="Visio.Drawing.6">
                  <p:embed/>
                </p:oleObj>
              </mc:Choice>
              <mc:Fallback>
                <p:oleObj name="Visio" r:id="rId3" imgW="6603848" imgH="6157987" progId="Visio.Drawing.6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4550" y="1733550"/>
                        <a:ext cx="4429125" cy="413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2775" y="1600200"/>
            <a:ext cx="8153400" cy="4495800"/>
          </a:xfrm>
        </p:spPr>
        <p:txBody>
          <a:bodyPr>
            <a:normAutofit/>
          </a:bodyPr>
          <a:lstStyle/>
          <a:p>
            <a:r>
              <a:rPr lang="en-US" altLang="en-US" sz="2800" dirty="0" smtClean="0">
                <a:solidFill>
                  <a:schemeClr val="tx2"/>
                </a:solidFill>
                <a:sym typeface="Symbol" panose="05050102010706020507" pitchFamily="18" charset="2"/>
              </a:rPr>
              <a:t>Traversal of </a:t>
            </a:r>
            <a:r>
              <a:rPr lang="en-US" altLang="en-US" sz="2800" dirty="0" err="1" smtClean="0">
                <a:solidFill>
                  <a:schemeClr val="tx2"/>
                </a:solidFill>
                <a:sym typeface="Symbol" panose="05050102010706020507" pitchFamily="18" charset="2"/>
              </a:rPr>
              <a:t>Itemset</a:t>
            </a:r>
            <a:r>
              <a:rPr lang="en-US" altLang="en-US" sz="2800" dirty="0" smtClean="0">
                <a:solidFill>
                  <a:schemeClr val="tx2"/>
                </a:solidFill>
                <a:sym typeface="Symbol" panose="05050102010706020507" pitchFamily="18" charset="2"/>
              </a:rPr>
              <a:t> Lattice</a:t>
            </a:r>
          </a:p>
          <a:p>
            <a:pPr lvl="1"/>
            <a:r>
              <a:rPr lang="en-US" altLang="en-US" sz="2500" dirty="0" smtClean="0">
                <a:solidFill>
                  <a:schemeClr val="tx2"/>
                </a:solidFill>
                <a:sym typeface="Symbol" panose="05050102010706020507" pitchFamily="18" charset="2"/>
              </a:rPr>
              <a:t>General-to-Specific vs Specific-to-</a:t>
            </a:r>
            <a:r>
              <a:rPr lang="en-US" altLang="en-US" sz="2500" dirty="0" err="1" smtClean="0">
                <a:solidFill>
                  <a:schemeClr val="tx2"/>
                </a:solidFill>
                <a:sym typeface="Symbol" panose="05050102010706020507" pitchFamily="18" charset="2"/>
              </a:rPr>
              <a:t>Geneal</a:t>
            </a:r>
            <a:endParaRPr lang="en-US" altLang="en-US" sz="2500" dirty="0" smtClean="0">
              <a:solidFill>
                <a:schemeClr val="tx2"/>
              </a:solidFill>
              <a:sym typeface="Symbol" panose="05050102010706020507" pitchFamily="18" charset="2"/>
            </a:endParaRPr>
          </a:p>
          <a:p>
            <a:pPr lvl="1"/>
            <a:r>
              <a:rPr lang="en-US" altLang="en-US" sz="2500" dirty="0" smtClean="0">
                <a:solidFill>
                  <a:schemeClr val="tx2"/>
                </a:solidFill>
                <a:sym typeface="Symbol" panose="05050102010706020507" pitchFamily="18" charset="2"/>
              </a:rPr>
              <a:t>Equivalence Classes</a:t>
            </a:r>
          </a:p>
          <a:p>
            <a:pPr lvl="1"/>
            <a:r>
              <a:rPr lang="en-US" altLang="en-US" sz="2500" dirty="0" smtClean="0">
                <a:solidFill>
                  <a:schemeClr val="tx2"/>
                </a:solidFill>
                <a:sym typeface="Symbol" panose="05050102010706020507" pitchFamily="18" charset="2"/>
              </a:rPr>
              <a:t>Breadth-first vs. Depth-first</a:t>
            </a:r>
          </a:p>
          <a:p>
            <a:r>
              <a:rPr lang="en-US" altLang="en-US" sz="2800" dirty="0" smtClean="0">
                <a:solidFill>
                  <a:schemeClr val="tx2"/>
                </a:solidFill>
                <a:sym typeface="Symbol" panose="05050102010706020507" pitchFamily="18" charset="2"/>
              </a:rPr>
              <a:t>Representation of Transaction Data</a:t>
            </a:r>
          </a:p>
          <a:p>
            <a:pPr lvl="1"/>
            <a:r>
              <a:rPr lang="en-US" altLang="en-US" sz="2500" dirty="0" smtClean="0">
                <a:solidFill>
                  <a:schemeClr val="tx2"/>
                </a:solidFill>
                <a:sym typeface="Symbol" panose="05050102010706020507" pitchFamily="18" charset="2"/>
              </a:rPr>
              <a:t>Horizontal vs. Vertical data layout</a:t>
            </a:r>
          </a:p>
          <a:p>
            <a:pPr marL="342900" lvl="1" indent="0">
              <a:buNone/>
            </a:pPr>
            <a:endParaRPr lang="en-US" altLang="en-US" sz="2400" dirty="0" smtClean="0">
              <a:solidFill>
                <a:schemeClr val="tx2"/>
              </a:solidFill>
              <a:sym typeface="Symbol" panose="05050102010706020507" pitchFamily="18" charset="2"/>
            </a:endParaRP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91743"/>
            <a:ext cx="7886700" cy="1325563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3400" dirty="0" smtClean="0"/>
              <a:t>Alternative Methods for Frequent </a:t>
            </a:r>
            <a:r>
              <a:rPr lang="en-US" sz="3400" dirty="0" err="1" smtClean="0"/>
              <a:t>Itemset</a:t>
            </a:r>
            <a:r>
              <a:rPr lang="en-US" sz="3400" dirty="0" smtClean="0"/>
              <a:t> Generation</a:t>
            </a:r>
          </a:p>
        </p:txBody>
      </p:sp>
    </p:spTree>
    <p:extLst>
      <p:ext uri="{BB962C8B-B14F-4D97-AF65-F5344CB8AC3E}">
        <p14:creationId xmlns:p14="http://schemas.microsoft.com/office/powerpoint/2010/main" val="1267594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96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685800"/>
            <a:ext cx="8634413" cy="5153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677468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925" y="617538"/>
            <a:ext cx="8564563" cy="5621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80685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 altLang="en-US" smtClean="0">
                <a:sym typeface="Symbol" panose="05050102010706020507" pitchFamily="18" charset="2"/>
              </a:rPr>
              <a:t>Breadth-first vs. Depth-first</a:t>
            </a:r>
          </a:p>
        </p:txBody>
      </p:sp>
      <p:pic>
        <p:nvPicPr>
          <p:cNvPr id="6349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905000"/>
            <a:ext cx="8591550" cy="421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40063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 altLang="en-US" smtClean="0">
                <a:sym typeface="Symbol" panose="05050102010706020507" pitchFamily="18" charset="2"/>
              </a:rPr>
              <a:t>Breadth-first vs. Depth-first</a:t>
            </a:r>
          </a:p>
        </p:txBody>
      </p:sp>
      <p:pic>
        <p:nvPicPr>
          <p:cNvPr id="6451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524000"/>
            <a:ext cx="7469188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7641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 altLang="en-US" smtClean="0">
                <a:sym typeface="Symbol" panose="05050102010706020507" pitchFamily="18" charset="2"/>
              </a:rPr>
              <a:t>Breadth-first vs. Depth-first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8385175" cy="4876800"/>
          </a:xfrm>
        </p:spPr>
        <p:txBody>
          <a:bodyPr/>
          <a:lstStyle/>
          <a:p>
            <a:r>
              <a:rPr lang="en-US" altLang="en-US" sz="2800" dirty="0" smtClean="0">
                <a:solidFill>
                  <a:schemeClr val="tx2"/>
                </a:solidFill>
                <a:sym typeface="Symbol" panose="05050102010706020507" pitchFamily="18" charset="2"/>
              </a:rPr>
              <a:t>For finding maximal frequent </a:t>
            </a:r>
            <a:r>
              <a:rPr lang="en-US" altLang="en-US" sz="2800" dirty="0" err="1" smtClean="0">
                <a:solidFill>
                  <a:schemeClr val="tx2"/>
                </a:solidFill>
                <a:sym typeface="Symbol" panose="05050102010706020507" pitchFamily="18" charset="2"/>
              </a:rPr>
              <a:t>itemsets</a:t>
            </a:r>
            <a:r>
              <a:rPr lang="en-US" altLang="en-US" sz="2800" dirty="0" smtClean="0">
                <a:solidFill>
                  <a:schemeClr val="tx2"/>
                </a:solidFill>
                <a:sym typeface="Symbol" panose="05050102010706020507" pitchFamily="18" charset="2"/>
              </a:rPr>
              <a:t>, which approach you would take?</a:t>
            </a:r>
          </a:p>
          <a:p>
            <a:pPr lvl="1"/>
            <a:r>
              <a:rPr lang="en-US" altLang="en-US" sz="2400" dirty="0" smtClean="0">
                <a:solidFill>
                  <a:schemeClr val="tx2"/>
                </a:solidFill>
                <a:sym typeface="Symbol" panose="05050102010706020507" pitchFamily="18" charset="2"/>
              </a:rPr>
              <a:t>BFS</a:t>
            </a:r>
          </a:p>
          <a:p>
            <a:pPr lvl="1"/>
            <a:r>
              <a:rPr lang="en-US" altLang="en-US" sz="2400" dirty="0" smtClean="0">
                <a:solidFill>
                  <a:schemeClr val="tx2"/>
                </a:solidFill>
                <a:sym typeface="Symbol" panose="05050102010706020507" pitchFamily="18" charset="2"/>
              </a:rPr>
              <a:t>DFS 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2300" dirty="0" smtClean="0">
              <a:solidFill>
                <a:schemeClr val="tx2"/>
              </a:solidFill>
              <a:sym typeface="Symbol" panose="05050102010706020507" pitchFamily="18" charset="2"/>
            </a:endParaRPr>
          </a:p>
          <a:p>
            <a:pPr lvl="1"/>
            <a:endParaRPr lang="en-US" altLang="en-US" sz="2100" dirty="0" smtClean="0">
              <a:solidFill>
                <a:schemeClr val="tx2"/>
              </a:solidFill>
              <a:sym typeface="Symbol" panose="05050102010706020507" pitchFamily="18" charset="2"/>
            </a:endParaRP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1905000" y="2230016"/>
            <a:ext cx="609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ym typeface="Wingdings" panose="05000000000000000000" pitchFamily="2" charset="2"/>
              </a:rPr>
              <a:t></a:t>
            </a:r>
            <a:endParaRPr lang="en-US" altLang="en-US" dirty="0"/>
          </a:p>
        </p:txBody>
      </p:sp>
      <p:pic>
        <p:nvPicPr>
          <p:cNvPr id="6554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2057400"/>
            <a:ext cx="5272088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54861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 altLang="en-US" smtClean="0">
                <a:sym typeface="Symbol" panose="05050102010706020507" pitchFamily="18" charset="2"/>
              </a:rPr>
              <a:t>Breadth-first vs. Depth-first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4495800" cy="5029200"/>
          </a:xfrm>
        </p:spPr>
        <p:txBody>
          <a:bodyPr>
            <a:noAutofit/>
          </a:bodyPr>
          <a:lstStyle/>
          <a:p>
            <a:r>
              <a:rPr lang="en-US" altLang="en-US" sz="2400" dirty="0" smtClean="0">
                <a:solidFill>
                  <a:schemeClr val="tx2"/>
                </a:solidFill>
                <a:sym typeface="Symbol" panose="05050102010706020507" pitchFamily="18" charset="2"/>
              </a:rPr>
              <a:t>Quick FI border detection!</a:t>
            </a:r>
          </a:p>
          <a:p>
            <a:r>
              <a:rPr lang="en-US" altLang="en-US" sz="2400" dirty="0" smtClean="0">
                <a:solidFill>
                  <a:schemeClr val="tx2"/>
                </a:solidFill>
                <a:sym typeface="Symbol" panose="05050102010706020507" pitchFamily="18" charset="2"/>
              </a:rPr>
              <a:t>Once a maximal FI is found, substantial pruning can be performed on its subsets</a:t>
            </a:r>
          </a:p>
          <a:p>
            <a:r>
              <a:rPr lang="en-US" altLang="en-US" sz="2400" dirty="0" err="1" smtClean="0">
                <a:solidFill>
                  <a:schemeClr val="tx2"/>
                </a:solidFill>
                <a:sym typeface="Symbol" panose="05050102010706020507" pitchFamily="18" charset="2"/>
              </a:rPr>
              <a:t>bcde</a:t>
            </a:r>
            <a:r>
              <a:rPr lang="en-US" altLang="en-US" sz="2400" dirty="0" smtClean="0">
                <a:solidFill>
                  <a:schemeClr val="tx2"/>
                </a:solidFill>
                <a:sym typeface="Symbol" panose="05050102010706020507" pitchFamily="18" charset="2"/>
              </a:rPr>
              <a:t> is MFI, then we need not visit the subtrees rooted at </a:t>
            </a:r>
            <a:r>
              <a:rPr lang="en-US" altLang="en-US" sz="2400" dirty="0" err="1" smtClean="0">
                <a:solidFill>
                  <a:schemeClr val="tx2"/>
                </a:solidFill>
                <a:sym typeface="Symbol" panose="05050102010706020507" pitchFamily="18" charset="2"/>
              </a:rPr>
              <a:t>bd</a:t>
            </a:r>
            <a:r>
              <a:rPr lang="en-US" altLang="en-US" sz="2400" dirty="0" smtClean="0">
                <a:solidFill>
                  <a:schemeClr val="tx2"/>
                </a:solidFill>
                <a:sym typeface="Symbol" panose="05050102010706020507" pitchFamily="18" charset="2"/>
              </a:rPr>
              <a:t>, be, </a:t>
            </a:r>
            <a:r>
              <a:rPr lang="en-US" altLang="en-US" sz="2400" dirty="0" err="1" smtClean="0">
                <a:solidFill>
                  <a:schemeClr val="tx2"/>
                </a:solidFill>
                <a:sym typeface="Symbol" panose="05050102010706020507" pitchFamily="18" charset="2"/>
              </a:rPr>
              <a:t>c,d</a:t>
            </a:r>
            <a:r>
              <a:rPr lang="en-US" altLang="en-US" sz="2400" dirty="0" smtClean="0">
                <a:solidFill>
                  <a:schemeClr val="tx2"/>
                </a:solidFill>
                <a:sym typeface="Symbol" panose="05050102010706020507" pitchFamily="18" charset="2"/>
              </a:rPr>
              <a:t>, &amp; e because they will not contain any MFI</a:t>
            </a:r>
          </a:p>
          <a:p>
            <a:r>
              <a:rPr lang="en-US" altLang="en-US" sz="2400" dirty="0" smtClean="0">
                <a:solidFill>
                  <a:schemeClr val="tx2"/>
                </a:solidFill>
                <a:sym typeface="Symbol" panose="05050102010706020507" pitchFamily="18" charset="2"/>
              </a:rPr>
              <a:t>If </a:t>
            </a:r>
            <a:r>
              <a:rPr lang="en-US" altLang="en-US" sz="2400" dirty="0" err="1" smtClean="0">
                <a:solidFill>
                  <a:schemeClr val="tx2"/>
                </a:solidFill>
                <a:sym typeface="Symbol" panose="05050102010706020507" pitchFamily="18" charset="2"/>
              </a:rPr>
              <a:t>abc</a:t>
            </a:r>
            <a:r>
              <a:rPr lang="en-US" altLang="en-US" sz="2400" dirty="0" smtClean="0">
                <a:solidFill>
                  <a:schemeClr val="tx2"/>
                </a:solidFill>
                <a:sym typeface="Symbol" panose="05050102010706020507" pitchFamily="18" charset="2"/>
              </a:rPr>
              <a:t> is MFI, then only the nodes such as ac &amp; </a:t>
            </a:r>
            <a:r>
              <a:rPr lang="en-US" altLang="en-US" sz="2400" dirty="0" err="1" smtClean="0">
                <a:solidFill>
                  <a:schemeClr val="tx2"/>
                </a:solidFill>
                <a:sym typeface="Symbol" panose="05050102010706020507" pitchFamily="18" charset="2"/>
              </a:rPr>
              <a:t>bc</a:t>
            </a:r>
            <a:r>
              <a:rPr lang="en-US" altLang="en-US" sz="2400" dirty="0" smtClean="0">
                <a:solidFill>
                  <a:schemeClr val="tx2"/>
                </a:solidFill>
                <a:sym typeface="Symbol" panose="05050102010706020507" pitchFamily="18" charset="2"/>
              </a:rPr>
              <a:t> are not MFI. </a:t>
            </a:r>
          </a:p>
          <a:p>
            <a:r>
              <a:rPr lang="en-US" altLang="en-US" sz="2400" dirty="0" smtClean="0">
                <a:solidFill>
                  <a:schemeClr val="tx2"/>
                </a:solidFill>
                <a:sym typeface="Symbol" panose="05050102010706020507" pitchFamily="18" charset="2"/>
              </a:rPr>
              <a:t>If support for </a:t>
            </a:r>
            <a:r>
              <a:rPr lang="en-US" altLang="en-US" sz="2400" dirty="0" err="1" smtClean="0">
                <a:solidFill>
                  <a:schemeClr val="tx2"/>
                </a:solidFill>
                <a:sym typeface="Symbol" panose="05050102010706020507" pitchFamily="18" charset="2"/>
              </a:rPr>
              <a:t>abc</a:t>
            </a:r>
            <a:r>
              <a:rPr lang="en-US" altLang="en-US" sz="2400" dirty="0" smtClean="0">
                <a:solidFill>
                  <a:schemeClr val="tx2"/>
                </a:solidFill>
                <a:sym typeface="Symbol" panose="05050102010706020507" pitchFamily="18" charset="2"/>
              </a:rPr>
              <a:t> is identical to ab, then </a:t>
            </a:r>
            <a:r>
              <a:rPr lang="en-US" altLang="en-US" sz="2400" dirty="0" err="1" smtClean="0">
                <a:solidFill>
                  <a:schemeClr val="tx2"/>
                </a:solidFill>
                <a:sym typeface="Symbol" panose="05050102010706020507" pitchFamily="18" charset="2"/>
              </a:rPr>
              <a:t>abd</a:t>
            </a:r>
            <a:r>
              <a:rPr lang="en-US" altLang="en-US" sz="2400" dirty="0" smtClean="0">
                <a:solidFill>
                  <a:schemeClr val="tx2"/>
                </a:solidFill>
                <a:sym typeface="Symbol" panose="05050102010706020507" pitchFamily="18" charset="2"/>
              </a:rPr>
              <a:t> &amp; </a:t>
            </a:r>
            <a:r>
              <a:rPr lang="en-US" altLang="en-US" sz="2400" dirty="0" err="1" smtClean="0">
                <a:solidFill>
                  <a:schemeClr val="tx2"/>
                </a:solidFill>
                <a:sym typeface="Symbol" panose="05050102010706020507" pitchFamily="18" charset="2"/>
              </a:rPr>
              <a:t>abe</a:t>
            </a:r>
            <a:r>
              <a:rPr lang="en-US" altLang="en-US" sz="2400" dirty="0" smtClean="0">
                <a:solidFill>
                  <a:schemeClr val="tx2"/>
                </a:solidFill>
                <a:sym typeface="Symbol" panose="05050102010706020507" pitchFamily="18" charset="2"/>
              </a:rPr>
              <a:t> can be skipped because they will not have any MFI</a:t>
            </a:r>
          </a:p>
        </p:txBody>
      </p:sp>
      <p:pic>
        <p:nvPicPr>
          <p:cNvPr id="6656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2057400"/>
            <a:ext cx="4281488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33422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2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8763000" cy="9144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400" dirty="0" smtClean="0"/>
              <a:t>Alternative Methods for Frequent </a:t>
            </a:r>
            <a:r>
              <a:rPr lang="en-US" sz="3400" dirty="0" err="1" smtClean="0"/>
              <a:t>Itemset</a:t>
            </a:r>
            <a:r>
              <a:rPr lang="en-US" sz="3400" dirty="0" smtClean="0"/>
              <a:t> Generation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4530725"/>
          </a:xfrm>
        </p:spPr>
        <p:txBody>
          <a:bodyPr/>
          <a:lstStyle/>
          <a:p>
            <a:pPr eaLnBrk="1" hangingPunct="1"/>
            <a:r>
              <a:rPr lang="en-US" altLang="en-US" sz="2800" dirty="0" smtClean="0">
                <a:effectLst/>
              </a:rPr>
              <a:t>Representation of Database</a:t>
            </a:r>
          </a:p>
          <a:p>
            <a:pPr lvl="1" eaLnBrk="1" hangingPunct="1"/>
            <a:r>
              <a:rPr lang="en-US" altLang="en-US" sz="2400" dirty="0" smtClean="0">
                <a:effectLst/>
              </a:rPr>
              <a:t>horizontal vs vertical data layout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dirty="0" smtClean="0">
              <a:effectLst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dirty="0" smtClean="0">
              <a:effectLst/>
            </a:endParaRPr>
          </a:p>
        </p:txBody>
      </p:sp>
      <p:graphicFrame>
        <p:nvGraphicFramePr>
          <p:cNvPr id="73732" name="Object 4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1371600" y="2971800"/>
          <a:ext cx="5803900" cy="334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41" name="Visio" r:id="rId3" imgW="6417869" imgH="4180349" progId="Visio.Drawing.6">
                  <p:embed/>
                </p:oleObj>
              </mc:Choice>
              <mc:Fallback>
                <p:oleObj name="Visio" r:id="rId3" imgW="6417869" imgH="4180349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2971800"/>
                        <a:ext cx="5803900" cy="3341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51924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ChangeArrowheads="1"/>
          </p:cNvSpPr>
          <p:nvPr/>
        </p:nvSpPr>
        <p:spPr bwMode="auto">
          <a:xfrm>
            <a:off x="838200" y="1828800"/>
            <a:ext cx="83058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Many variations of the Apriori has been proposed that focus on improving the efficiency of the original algorithm</a:t>
            </a:r>
          </a:p>
        </p:txBody>
      </p:sp>
      <p:sp>
        <p:nvSpPr>
          <p:cNvPr id="407555" name="Rectangle 3"/>
          <p:cNvSpPr>
            <a:spLocks noChangeArrowheads="1"/>
          </p:cNvSpPr>
          <p:nvPr/>
        </p:nvSpPr>
        <p:spPr bwMode="auto">
          <a:xfrm>
            <a:off x="914400" y="2743200"/>
            <a:ext cx="7467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2400"/>
              <a:t> </a:t>
            </a:r>
            <a:r>
              <a:rPr lang="en-US" altLang="en-US" sz="2400" b="1"/>
              <a:t>Hash-based technique</a:t>
            </a:r>
            <a:r>
              <a:rPr lang="en-US" altLang="en-US" sz="2400"/>
              <a:t>- hashing itemset counts</a:t>
            </a:r>
          </a:p>
        </p:txBody>
      </p:sp>
      <p:sp>
        <p:nvSpPr>
          <p:cNvPr id="40964" name="Rectangle 4"/>
          <p:cNvSpPr>
            <a:spLocks noChangeArrowheads="1"/>
          </p:cNvSpPr>
          <p:nvPr/>
        </p:nvSpPr>
        <p:spPr bwMode="auto">
          <a:xfrm>
            <a:off x="914400" y="762000"/>
            <a:ext cx="8458200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800"/>
              <a:t>Variations of the Apriori</a:t>
            </a:r>
          </a:p>
        </p:txBody>
      </p:sp>
      <p:sp>
        <p:nvSpPr>
          <p:cNvPr id="407557" name="Rectangle 5"/>
          <p:cNvSpPr>
            <a:spLocks noChangeArrowheads="1"/>
          </p:cNvSpPr>
          <p:nvPr/>
        </p:nvSpPr>
        <p:spPr bwMode="auto">
          <a:xfrm>
            <a:off x="914400" y="3200400"/>
            <a:ext cx="8534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2400"/>
              <a:t> </a:t>
            </a:r>
            <a:r>
              <a:rPr lang="en-US" altLang="en-US" sz="2400" b="1"/>
              <a:t>Transaction reduction</a:t>
            </a:r>
            <a:r>
              <a:rPr lang="en-US" altLang="en-US" sz="2400"/>
              <a:t>-reducing the number of transactions scanned in future iterations</a:t>
            </a:r>
          </a:p>
        </p:txBody>
      </p:sp>
      <p:sp>
        <p:nvSpPr>
          <p:cNvPr id="407558" name="Rectangle 6"/>
          <p:cNvSpPr>
            <a:spLocks noChangeArrowheads="1"/>
          </p:cNvSpPr>
          <p:nvPr/>
        </p:nvSpPr>
        <p:spPr bwMode="auto">
          <a:xfrm>
            <a:off x="838200" y="4114800"/>
            <a:ext cx="83058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2400"/>
              <a:t> </a:t>
            </a:r>
            <a:r>
              <a:rPr lang="en-US" altLang="en-US" sz="2400" b="1"/>
              <a:t>Partitioning</a:t>
            </a:r>
            <a:r>
              <a:rPr lang="en-US" altLang="en-US" sz="2400"/>
              <a:t>-partitioning the data to find candidate itemsets</a:t>
            </a:r>
          </a:p>
        </p:txBody>
      </p:sp>
      <p:sp>
        <p:nvSpPr>
          <p:cNvPr id="407559" name="Rectangle 7"/>
          <p:cNvSpPr>
            <a:spLocks noChangeArrowheads="1"/>
          </p:cNvSpPr>
          <p:nvPr/>
        </p:nvSpPr>
        <p:spPr bwMode="auto">
          <a:xfrm>
            <a:off x="838200" y="4800600"/>
            <a:ext cx="7696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2400"/>
              <a:t> </a:t>
            </a:r>
            <a:r>
              <a:rPr lang="en-US" altLang="en-US" sz="2400" b="1"/>
              <a:t>Sampling</a:t>
            </a:r>
            <a:r>
              <a:rPr lang="en-US" altLang="en-US" sz="2400"/>
              <a:t>-mining on a subset of the given data</a:t>
            </a:r>
          </a:p>
        </p:txBody>
      </p:sp>
      <p:sp>
        <p:nvSpPr>
          <p:cNvPr id="407560" name="Rectangle 8"/>
          <p:cNvSpPr>
            <a:spLocks noChangeArrowheads="1"/>
          </p:cNvSpPr>
          <p:nvPr/>
        </p:nvSpPr>
        <p:spPr bwMode="auto">
          <a:xfrm>
            <a:off x="846138" y="5346700"/>
            <a:ext cx="8297862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2400"/>
              <a:t> </a:t>
            </a:r>
            <a:r>
              <a:rPr lang="en-US" altLang="en-US" sz="2400" b="1"/>
              <a:t>Dynamic itemset counting</a:t>
            </a:r>
            <a:r>
              <a:rPr lang="en-US" altLang="en-US" sz="2400"/>
              <a:t>-adding candidate itemsets 			at different points during a scan</a:t>
            </a:r>
          </a:p>
        </p:txBody>
      </p:sp>
      <p:sp>
        <p:nvSpPr>
          <p:cNvPr id="407561" name="Rectangle 9"/>
          <p:cNvSpPr>
            <a:spLocks noChangeArrowheads="1"/>
          </p:cNvSpPr>
          <p:nvPr/>
        </p:nvSpPr>
        <p:spPr bwMode="auto">
          <a:xfrm>
            <a:off x="228600" y="4572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b"/>
          <a:lstStyle/>
          <a:p>
            <a:pPr eaLnBrk="1" hangingPunct="1">
              <a:defRPr/>
            </a:pPr>
            <a:r>
              <a:rPr lang="en-US" sz="4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75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75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75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75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75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75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075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07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7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07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7555" grpId="0" autoUpdateAnimBg="0"/>
      <p:bldP spid="407557" grpId="0" autoUpdateAnimBg="0"/>
      <p:bldP spid="407558" grpId="0" autoUpdateAnimBg="0"/>
      <p:bldP spid="407559" grpId="0" autoUpdateAnimBg="0"/>
      <p:bldP spid="407560" grpId="0" autoUpdateAnimBg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3985</TotalTime>
  <Words>660</Words>
  <Application>Microsoft Office PowerPoint</Application>
  <PresentationFormat>On-screen Show (4:3)</PresentationFormat>
  <Paragraphs>116</Paragraphs>
  <Slides>24</Slides>
  <Notes>13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4</vt:i4>
      </vt:variant>
      <vt:variant>
        <vt:lpstr>Slide Titles</vt:lpstr>
      </vt:variant>
      <vt:variant>
        <vt:i4>24</vt:i4>
      </vt:variant>
    </vt:vector>
  </HeadingPairs>
  <TitlesOfParts>
    <vt:vector size="36" baseType="lpstr">
      <vt:lpstr>Arial</vt:lpstr>
      <vt:lpstr>Calibri</vt:lpstr>
      <vt:lpstr>Calibri Light</vt:lpstr>
      <vt:lpstr>Symbol</vt:lpstr>
      <vt:lpstr>Tahoma</vt:lpstr>
      <vt:lpstr>Times New Roman</vt:lpstr>
      <vt:lpstr>Wingdings</vt:lpstr>
      <vt:lpstr>Office Theme</vt:lpstr>
      <vt:lpstr>Equation</vt:lpstr>
      <vt:lpstr>Visio</vt:lpstr>
      <vt:lpstr>Worksheet</vt:lpstr>
      <vt:lpstr>VISIO</vt:lpstr>
      <vt:lpstr>Association Rule Mining</vt:lpstr>
      <vt:lpstr>AR Generation from FIs</vt:lpstr>
      <vt:lpstr>AR Generation from FIs</vt:lpstr>
      <vt:lpstr>Rule Generation</vt:lpstr>
      <vt:lpstr>Rule Generation</vt:lpstr>
      <vt:lpstr>Rule Generation for Apriori Algorithm</vt:lpstr>
      <vt:lpstr>PowerPoint Presentation</vt:lpstr>
      <vt:lpstr>Compact Representation of FIs</vt:lpstr>
      <vt:lpstr>Maximal Frequent Itemset</vt:lpstr>
      <vt:lpstr>Maximal FIs</vt:lpstr>
      <vt:lpstr>Closed Itemset</vt:lpstr>
      <vt:lpstr>Maximal vs Closed Itemsets</vt:lpstr>
      <vt:lpstr>Maximal vs Closed Frequent Itemsets</vt:lpstr>
      <vt:lpstr>Compact Representation of Frequent Itemsets</vt:lpstr>
      <vt:lpstr>Maximal vs Closed Itemsets</vt:lpstr>
      <vt:lpstr>Alternative Methods for Frequent Itemset Generation</vt:lpstr>
      <vt:lpstr>PowerPoint Presentation</vt:lpstr>
      <vt:lpstr>PowerPoint Presentation</vt:lpstr>
      <vt:lpstr>Breadth-first vs. Depth-first</vt:lpstr>
      <vt:lpstr>Breadth-first vs. Depth-first</vt:lpstr>
      <vt:lpstr>Breadth-first vs. Depth-first</vt:lpstr>
      <vt:lpstr>Breadth-first vs. Depth-first</vt:lpstr>
      <vt:lpstr>Alternative Methods for Frequent Itemset Generation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yash Sharma</dc:creator>
  <cp:lastModifiedBy>User</cp:lastModifiedBy>
  <cp:revision>241</cp:revision>
  <cp:lastPrinted>2017-03-20T06:26:43Z</cp:lastPrinted>
  <dcterms:created xsi:type="dcterms:W3CDTF">1601-01-01T00:00:00Z</dcterms:created>
  <dcterms:modified xsi:type="dcterms:W3CDTF">2018-03-26T10:12:33Z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