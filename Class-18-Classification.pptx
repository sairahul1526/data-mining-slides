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49"/>
  </p:notesMasterIdLst>
  <p:sldIdLst>
    <p:sldId id="256" r:id="rId2"/>
    <p:sldId id="492" r:id="rId3"/>
    <p:sldId id="481" r:id="rId4"/>
    <p:sldId id="482" r:id="rId5"/>
    <p:sldId id="483" r:id="rId6"/>
    <p:sldId id="493" r:id="rId7"/>
    <p:sldId id="494" r:id="rId8"/>
    <p:sldId id="486" r:id="rId9"/>
    <p:sldId id="487" r:id="rId10"/>
    <p:sldId id="495" r:id="rId11"/>
    <p:sldId id="496" r:id="rId12"/>
    <p:sldId id="497" r:id="rId13"/>
    <p:sldId id="498" r:id="rId14"/>
    <p:sldId id="488" r:id="rId15"/>
    <p:sldId id="489" r:id="rId16"/>
    <p:sldId id="490" r:id="rId17"/>
    <p:sldId id="499" r:id="rId18"/>
    <p:sldId id="500" r:id="rId19"/>
    <p:sldId id="501" r:id="rId20"/>
    <p:sldId id="502" r:id="rId21"/>
    <p:sldId id="503" r:id="rId22"/>
    <p:sldId id="504" r:id="rId23"/>
    <p:sldId id="505" r:id="rId24"/>
    <p:sldId id="506" r:id="rId25"/>
    <p:sldId id="507" r:id="rId26"/>
    <p:sldId id="508" r:id="rId27"/>
    <p:sldId id="509" r:id="rId28"/>
    <p:sldId id="510" r:id="rId29"/>
    <p:sldId id="511" r:id="rId30"/>
    <p:sldId id="512" r:id="rId31"/>
    <p:sldId id="513" r:id="rId32"/>
    <p:sldId id="514" r:id="rId33"/>
    <p:sldId id="515" r:id="rId34"/>
    <p:sldId id="516" r:id="rId35"/>
    <p:sldId id="517" r:id="rId36"/>
    <p:sldId id="518" r:id="rId37"/>
    <p:sldId id="519" r:id="rId38"/>
    <p:sldId id="520" r:id="rId39"/>
    <p:sldId id="521" r:id="rId40"/>
    <p:sldId id="522" r:id="rId41"/>
    <p:sldId id="523" r:id="rId42"/>
    <p:sldId id="524" r:id="rId43"/>
    <p:sldId id="525" r:id="rId44"/>
    <p:sldId id="526" r:id="rId45"/>
    <p:sldId id="527" r:id="rId46"/>
    <p:sldId id="528" r:id="rId47"/>
    <p:sldId id="529" r:id="rId48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7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7CBCB5-AD2F-4B40-865E-77C0A819D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AB77E0-A4D2-469B-ACA9-D1E10C506788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477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FCE098-CD6D-48B8-A44C-E891898DB641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9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91AD5C-63A2-4CA0-BB00-F3DDAC05A304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907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46096C-829E-43B5-945B-66516C421630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212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1A6C1B-BAF7-4990-8EE6-A13A4454B183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246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117338-AEF4-42A2-ACF9-CA9941BF0EB1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105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78392B-8FF2-48E3-9784-91589A7AC3F1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558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DBC560-FA14-4E76-A03A-0D7AC0264485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483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E8A107-FB13-4600-B1F1-EAA152CBA364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416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44F4E-2C72-4152-887A-3D43B5DE43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93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2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406901"/>
            <a:ext cx="7886700" cy="1362075"/>
          </a:xfrm>
        </p:spPr>
        <p:txBody>
          <a:bodyPr anchor="t"/>
          <a:lstStyle>
            <a:lvl1pPr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906713"/>
            <a:ext cx="78867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CA3F4-4238-430B-87CE-577B9175E4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71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C1B73-D32C-4321-9BBF-954A8D3FF0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535113"/>
            <a:ext cx="386715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74876"/>
            <a:ext cx="386715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535113"/>
            <a:ext cx="386834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74876"/>
            <a:ext cx="386834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3D44-90D9-4320-8616-48C84A8F55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46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29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26231F-AE74-4592-B491-F5FC77EC00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13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5801"/>
            <a:ext cx="3009900" cy="1160463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998" y="685800"/>
            <a:ext cx="4725590" cy="54864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3888" y="1846264"/>
            <a:ext cx="3009900" cy="43259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2E0B5-74EE-4158-8226-5C46F62395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1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806" y="4800600"/>
            <a:ext cx="5382816" cy="566738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78806" y="685801"/>
            <a:ext cx="5382816" cy="40417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8806" y="5367338"/>
            <a:ext cx="5382816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B6A00-779D-4AD5-BC72-98EADCD195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33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20840-1552-4FE9-A273-0643725978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86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3BE88-9395-4C19-B7FB-C3D637D97B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0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26DFB-E8E7-48FB-8F75-F7E5366A1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4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086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601AF9-070E-4758-9256-B5E4926B0A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17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2" r:id="rId12"/>
  </p:sldLayoutIdLst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9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0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143000" y="3124200"/>
            <a:ext cx="6858000" cy="274320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Rule Based Classifier</a:t>
            </a:r>
          </a:p>
          <a:p>
            <a:pPr marL="800100" lvl="1" indent="-457200" algn="l">
              <a:buFont typeface="Arial" panose="020B0604020202020204" pitchFamily="34" charset="0"/>
              <a:buChar char="•"/>
            </a:pPr>
            <a:r>
              <a:rPr lang="en-US" altLang="en-US" dirty="0" smtClean="0"/>
              <a:t>Direct </a:t>
            </a:r>
            <a:r>
              <a:rPr lang="en-US" altLang="en-US" dirty="0"/>
              <a:t>Method </a:t>
            </a:r>
            <a:r>
              <a:rPr lang="en-US" altLang="en-US" dirty="0" smtClean="0"/>
              <a:t>: </a:t>
            </a:r>
            <a:r>
              <a:rPr lang="en-US" dirty="0" smtClean="0"/>
              <a:t>RIPPER Algorithm</a:t>
            </a:r>
          </a:p>
          <a:p>
            <a:pPr marL="800100" lvl="1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Indirect Method : Decision Tree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Naïve Bayes Classifier</a:t>
            </a:r>
            <a:endParaRPr lang="en-US" dirty="0"/>
          </a:p>
          <a:p>
            <a:pPr marL="800100" lvl="1" indent="-45720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800100" lvl="1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Instance Elimination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40188" cy="45307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Why do we need to eliminate instances?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smtClean="0"/>
              <a:t>Otherwise, the next rule is identical to previous rule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Why do we remove positive instances?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smtClean="0"/>
              <a:t>Ensure that the next rule is different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Why do we remove negative instances?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smtClean="0"/>
              <a:t>Prevent underestimating accuracy of rule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smtClean="0"/>
              <a:t>Compare rules R2 and R3 in the diagram</a:t>
            </a:r>
          </a:p>
        </p:txBody>
      </p:sp>
      <p:graphicFrame>
        <p:nvGraphicFramePr>
          <p:cNvPr id="7066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646613" y="2133600"/>
          <a:ext cx="4040187" cy="284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7" name="Visio" r:id="rId3" imgW="7043369" imgH="5606614" progId="Visio.Drawing.6">
                  <p:embed/>
                </p:oleObj>
              </mc:Choice>
              <mc:Fallback>
                <p:oleObj name="Visio" r:id="rId3" imgW="7043369" imgH="560661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2133600"/>
                        <a:ext cx="4040187" cy="284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326DFB-E8E7-48FB-8F75-F7E5366A124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627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Stopping Criterion and Rule Pruning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Stopping criterion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mtClean="0"/>
              <a:t>Compute the gain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mtClean="0"/>
              <a:t>If gain is not significant, discard the new rule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Rule Pruning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mtClean="0"/>
              <a:t>Similar to post-pruning of decision trees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mtClean="0"/>
              <a:t>Reduced Error Pruning: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mtClean="0"/>
              <a:t> Remove one of the conjuncts in the rule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mtClean="0"/>
              <a:t> Compare error rate on validation set before and after pruning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mtClean="0"/>
              <a:t> If error improves, prune the conjunct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039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6" name="Rectangle 4"/>
          <p:cNvSpPr>
            <a:spLocks noChangeArrowheads="1"/>
          </p:cNvSpPr>
          <p:nvPr/>
        </p:nvSpPr>
        <p:spPr bwMode="auto">
          <a:xfrm>
            <a:off x="381000" y="304800"/>
            <a:ext cx="8280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pPr algn="ctr" eaLnBrk="1" hangingPunct="1">
              <a:defRPr/>
            </a:pPr>
            <a:r>
              <a:rPr lang="en-US" sz="4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Direct Method: RIPPER</a:t>
            </a:r>
          </a:p>
        </p:txBody>
      </p:sp>
      <p:sp>
        <p:nvSpPr>
          <p:cNvPr id="371717" name="Rectangle 5"/>
          <p:cNvSpPr>
            <a:spLocks noChangeArrowheads="1"/>
          </p:cNvSpPr>
          <p:nvPr/>
        </p:nvSpPr>
        <p:spPr bwMode="auto">
          <a:xfrm>
            <a:off x="457200" y="1066800"/>
            <a:ext cx="8318500" cy="518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 2-class problem, choose one of the classes as positive class, and the other as negative class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Majority </a:t>
            </a: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class 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will be default </a:t>
            </a: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class (Positive)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Learn 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rules for </a:t>
            </a: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minority class (Negative)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</a:t>
            </a: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multi-class problem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Order the classes according to increasing class prevalence (fraction of instances that belong to a particular class)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Learn the rule set for smallest class first, treat the rest as negative class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Repeat with next smallest class as positive class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120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0" name="Rectangle 4"/>
          <p:cNvSpPr>
            <a:spLocks noChangeArrowheads="1"/>
          </p:cNvSpPr>
          <p:nvPr/>
        </p:nvSpPr>
        <p:spPr bwMode="auto">
          <a:xfrm>
            <a:off x="304800" y="304800"/>
            <a:ext cx="8280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pPr algn="ctr" eaLnBrk="1" hangingPunct="1">
              <a:defRPr/>
            </a:pPr>
            <a:r>
              <a:rPr lang="en-US" sz="4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Direct Method: RIPPER</a:t>
            </a:r>
          </a:p>
        </p:txBody>
      </p:sp>
      <p:sp>
        <p:nvSpPr>
          <p:cNvPr id="372741" name="Rectangle 5"/>
          <p:cNvSpPr>
            <a:spLocks noChangeArrowheads="1"/>
          </p:cNvSpPr>
          <p:nvPr/>
        </p:nvSpPr>
        <p:spPr bwMode="auto">
          <a:xfrm>
            <a:off x="381000" y="1371600"/>
            <a:ext cx="8318500" cy="518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Growing a rule: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Start from empty rule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Add conjuncts as long as they improve FOIL’s information gain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Stop when rule no longer covers negative examples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Prune the rule immediately using incremental reduced error pruning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Measure for pruning:   v = (p-n)/(p+n)</a:t>
            </a:r>
          </a:p>
          <a:p>
            <a:pPr marL="1143000" lvl="2"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p: number of positive examples covered by the rule in</a:t>
            </a:r>
            <a:b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       the validation set</a:t>
            </a:r>
          </a:p>
          <a:p>
            <a:pPr marL="1143000" lvl="2"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n: number of negative examples covered by the rule in</a:t>
            </a:r>
            <a:b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       the validation set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Pruning method: delete any final sequence of conditions that maximizes v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83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 Method: RIPPER</a:t>
            </a:r>
          </a:p>
        </p:txBody>
      </p:sp>
      <p:sp>
        <p:nvSpPr>
          <p:cNvPr id="996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1"/>
            <a:ext cx="8058150" cy="464820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Building a Rule Set:</a:t>
            </a:r>
          </a:p>
          <a:p>
            <a:pPr lvl="1"/>
            <a:r>
              <a:rPr lang="en-US" altLang="en-US" sz="2400" dirty="0"/>
              <a:t>Use sequential covering algorithm</a:t>
            </a:r>
          </a:p>
          <a:p>
            <a:pPr lvl="2"/>
            <a:r>
              <a:rPr lang="en-US" altLang="en-US" sz="2000" dirty="0"/>
              <a:t> Finds the best rule that covers the current set of positive examples</a:t>
            </a:r>
          </a:p>
          <a:p>
            <a:pPr lvl="2"/>
            <a:r>
              <a:rPr lang="en-US" altLang="en-US" sz="2000" dirty="0"/>
              <a:t> Eliminate both positive and negative examples covered by the rule</a:t>
            </a:r>
          </a:p>
          <a:p>
            <a:pPr lvl="1"/>
            <a:r>
              <a:rPr lang="en-US" altLang="en-US" sz="2400" dirty="0"/>
              <a:t>Each time a rule is added to the rule set, compute the new description length</a:t>
            </a:r>
          </a:p>
          <a:p>
            <a:pPr lvl="2"/>
            <a:r>
              <a:rPr lang="en-US" altLang="en-US" sz="2000" dirty="0"/>
              <a:t> stop adding new rules when the new description length is </a:t>
            </a:r>
            <a:r>
              <a:rPr lang="en-US" altLang="en-US" sz="2000" i="1" dirty="0"/>
              <a:t>d</a:t>
            </a:r>
            <a:r>
              <a:rPr lang="en-US" altLang="en-US" sz="2000" dirty="0"/>
              <a:t> bits longer than the smallest description length obtained so far</a:t>
            </a:r>
          </a:p>
        </p:txBody>
      </p:sp>
    </p:spTree>
    <p:extLst>
      <p:ext uri="{BB962C8B-B14F-4D97-AF65-F5344CB8AC3E}">
        <p14:creationId xmlns:p14="http://schemas.microsoft.com/office/powerpoint/2010/main" val="183185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Method: RIPPER</a:t>
            </a:r>
          </a:p>
        </p:txBody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1"/>
            <a:ext cx="8058150" cy="472440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Optimize the rule set:</a:t>
            </a:r>
          </a:p>
          <a:p>
            <a:pPr lvl="1"/>
            <a:r>
              <a:rPr lang="en-US" altLang="en-US" sz="2400" dirty="0"/>
              <a:t>For each rule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in the rule set </a:t>
            </a:r>
            <a:r>
              <a:rPr lang="en-US" altLang="en-US" sz="2400" b="1" i="1" dirty="0"/>
              <a:t>R</a:t>
            </a:r>
          </a:p>
          <a:p>
            <a:pPr lvl="2"/>
            <a:r>
              <a:rPr lang="en-US" altLang="en-US" sz="2000" b="1" i="1" dirty="0"/>
              <a:t> </a:t>
            </a:r>
            <a:r>
              <a:rPr lang="en-US" altLang="en-US" sz="2000" dirty="0"/>
              <a:t>Consider 2 alternative rules:</a:t>
            </a:r>
          </a:p>
          <a:p>
            <a:pPr lvl="3"/>
            <a:r>
              <a:rPr lang="en-US" altLang="en-US" sz="1600" dirty="0"/>
              <a:t>Replacement rule (r*): grow new rule from scratch</a:t>
            </a:r>
          </a:p>
          <a:p>
            <a:pPr lvl="3"/>
            <a:r>
              <a:rPr lang="en-US" altLang="en-US" sz="1600" dirty="0"/>
              <a:t>Revised rule(r’): add conjuncts to extend the rule </a:t>
            </a:r>
            <a:r>
              <a:rPr lang="en-US" altLang="en-US" sz="1600" i="1" dirty="0"/>
              <a:t>r </a:t>
            </a:r>
          </a:p>
          <a:p>
            <a:pPr lvl="2"/>
            <a:r>
              <a:rPr lang="en-US" altLang="en-US" sz="2000" i="1" dirty="0"/>
              <a:t> </a:t>
            </a:r>
            <a:r>
              <a:rPr lang="en-US" altLang="en-US" sz="2000" dirty="0"/>
              <a:t>Compare the rule set for </a:t>
            </a:r>
            <a:r>
              <a:rPr lang="en-US" altLang="en-US" sz="2000" i="1" dirty="0"/>
              <a:t>r </a:t>
            </a:r>
            <a:r>
              <a:rPr lang="en-US" altLang="en-US" sz="2000" dirty="0"/>
              <a:t>against the rule set for r* </a:t>
            </a:r>
            <a:br>
              <a:rPr lang="en-US" altLang="en-US" sz="2000" dirty="0"/>
            </a:br>
            <a:r>
              <a:rPr lang="en-US" altLang="en-US" sz="2000" dirty="0"/>
              <a:t>    and r’ </a:t>
            </a:r>
          </a:p>
          <a:p>
            <a:pPr lvl="2"/>
            <a:r>
              <a:rPr lang="en-US" altLang="en-US" sz="2000" dirty="0"/>
              <a:t> Choose rule set that minimizes MDL principle</a:t>
            </a:r>
          </a:p>
          <a:p>
            <a:pPr lvl="1"/>
            <a:r>
              <a:rPr lang="en-US" altLang="en-US" sz="2400" dirty="0"/>
              <a:t>Repeat rule generation and rule optimization for the remaining positive examples</a:t>
            </a:r>
          </a:p>
        </p:txBody>
      </p:sp>
    </p:spTree>
    <p:extLst>
      <p:ext uri="{BB962C8B-B14F-4D97-AF65-F5344CB8AC3E}">
        <p14:creationId xmlns:p14="http://schemas.microsoft.com/office/powerpoint/2010/main" val="76635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Summary of Direct Method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Grow a single rule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Remove Instances from rule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Prune the rule (if necessary)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Add rule to Current Rule Set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Repeat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95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Indirect Method: C4.5rules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1"/>
            <a:ext cx="7981950" cy="4572000"/>
          </a:xfrm>
        </p:spPr>
        <p:txBody>
          <a:bodyPr/>
          <a:lstStyle/>
          <a:p>
            <a:r>
              <a:rPr lang="en-US" dirty="0" smtClean="0"/>
              <a:t>Extract </a:t>
            </a:r>
            <a:r>
              <a:rPr lang="en-US" dirty="0"/>
              <a:t>rules from an unpruned decision tree</a:t>
            </a:r>
          </a:p>
          <a:p>
            <a:r>
              <a:rPr lang="en-US" dirty="0" smtClean="0"/>
              <a:t>For </a:t>
            </a:r>
            <a:r>
              <a:rPr lang="en-US" dirty="0"/>
              <a:t>each rule, </a:t>
            </a:r>
            <a:r>
              <a:rPr lang="en-US" altLang="en-US" dirty="0" smtClean="0"/>
              <a:t>r</a:t>
            </a:r>
            <a:r>
              <a:rPr lang="en-US" altLang="en-US" dirty="0"/>
              <a:t>: A </a:t>
            </a:r>
            <a:r>
              <a:rPr lang="en-US" altLang="en-US" b="1" dirty="0">
                <a:sym typeface="Symbol" panose="05050102010706020507" pitchFamily="18" charset="2"/>
              </a:rPr>
              <a:t> </a:t>
            </a:r>
            <a:r>
              <a:rPr lang="en-US" altLang="en-US" dirty="0">
                <a:sym typeface="Symbol" panose="05050102010706020507" pitchFamily="18" charset="2"/>
              </a:rPr>
              <a:t>y</a:t>
            </a:r>
            <a:r>
              <a:rPr lang="en-US" dirty="0" smtClean="0"/>
              <a:t>, </a:t>
            </a:r>
            <a:r>
              <a:rPr lang="en-US" dirty="0"/>
              <a:t>consider pruning the rule</a:t>
            </a:r>
          </a:p>
          <a:p>
            <a:r>
              <a:rPr lang="en-US" dirty="0" smtClean="0"/>
              <a:t>Use </a:t>
            </a:r>
            <a:r>
              <a:rPr lang="en-US" dirty="0"/>
              <a:t>class ordering</a:t>
            </a:r>
          </a:p>
          <a:p>
            <a:pPr marL="642937" lvl="2" indent="0">
              <a:buNone/>
            </a:pPr>
            <a:r>
              <a:rPr lang="en-US" sz="2000" dirty="0"/>
              <a:t>– Each subset is a collection of rules with the same rule </a:t>
            </a:r>
            <a:r>
              <a:rPr lang="en-US" sz="2000" dirty="0" smtClean="0"/>
              <a:t>consequent (class</a:t>
            </a:r>
            <a:r>
              <a:rPr lang="en-US" sz="2000" dirty="0"/>
              <a:t>)</a:t>
            </a:r>
          </a:p>
          <a:p>
            <a:pPr marL="300038" lvl="1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– </a:t>
            </a:r>
            <a:r>
              <a:rPr lang="en-US" sz="2000" dirty="0"/>
              <a:t>Classes described by simpler sets of rules tend to appear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501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2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6732587" cy="371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695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Indirect Method: C4.5rules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Extract rules from an unpruned decision tree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For each rule, r: A </a:t>
            </a:r>
            <a:r>
              <a:rPr lang="en-US" altLang="en-US" b="1" dirty="0">
                <a:sym typeface="Symbol" panose="05050102010706020507" pitchFamily="18" charset="2"/>
              </a:rPr>
              <a:t> </a:t>
            </a:r>
            <a:r>
              <a:rPr lang="en-US" altLang="en-US" dirty="0">
                <a:sym typeface="Symbol" panose="05050102010706020507" pitchFamily="18" charset="2"/>
              </a:rPr>
              <a:t>y,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consider an alternative rule r’: </a:t>
            </a:r>
            <a:r>
              <a:rPr lang="en-US" altLang="en-US" dirty="0"/>
              <a:t>A’ </a:t>
            </a:r>
            <a:r>
              <a:rPr lang="en-US" altLang="en-US" b="1" dirty="0">
                <a:sym typeface="Symbol" panose="05050102010706020507" pitchFamily="18" charset="2"/>
              </a:rPr>
              <a:t> </a:t>
            </a:r>
            <a:r>
              <a:rPr lang="en-US" altLang="en-US" dirty="0">
                <a:sym typeface="Symbol" panose="05050102010706020507" pitchFamily="18" charset="2"/>
              </a:rPr>
              <a:t>y where A’ is obtained by removing one of the conjuncts in A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Compare the pessimistic error rate for r against all r’s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Prune if one of the r’s has lower pessimistic error rate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Repeat until we can no longer improve generalization error</a:t>
            </a:r>
          </a:p>
        </p:txBody>
      </p:sp>
    </p:spTree>
    <p:extLst>
      <p:ext uri="{BB962C8B-B14F-4D97-AF65-F5344CB8AC3E}">
        <p14:creationId xmlns:p14="http://schemas.microsoft.com/office/powerpoint/2010/main" val="314086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Indirect Method: C4.5rules</a:t>
            </a:r>
          </a:p>
        </p:txBody>
      </p:sp>
      <p:sp>
        <p:nvSpPr>
          <p:cNvPr id="98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Instead of ordering the rules, order subsets of rules</a:t>
            </a:r>
            <a:r>
              <a:rPr lang="en-US" altLang="en-US">
                <a:solidFill>
                  <a:srgbClr val="FF0000"/>
                </a:solidFill>
              </a:rPr>
              <a:t> (class ordering)</a:t>
            </a:r>
          </a:p>
          <a:p>
            <a:pPr lvl="1"/>
            <a:r>
              <a:rPr lang="en-US" altLang="en-US"/>
              <a:t>Each subset is a collection of rules with the same rule consequent (class)</a:t>
            </a:r>
          </a:p>
          <a:p>
            <a:pPr lvl="1"/>
            <a:r>
              <a:rPr lang="en-US" altLang="en-US"/>
              <a:t>Compute description length of each subset</a:t>
            </a:r>
          </a:p>
          <a:p>
            <a:pPr lvl="2"/>
            <a:r>
              <a:rPr lang="en-US" altLang="en-US"/>
              <a:t> Description length = L(error) + g L(model)</a:t>
            </a:r>
          </a:p>
          <a:p>
            <a:pPr lvl="2"/>
            <a:r>
              <a:rPr lang="en-US" altLang="en-US"/>
              <a:t> g is a parameter that takes into account the presence of redundant attributes in a rule set </a:t>
            </a:r>
            <a:br>
              <a:rPr lang="en-US" altLang="en-US"/>
            </a:br>
            <a:r>
              <a:rPr lang="en-US" altLang="en-US"/>
              <a:t>(default value = 0.5)</a:t>
            </a:r>
          </a:p>
        </p:txBody>
      </p:sp>
    </p:spTree>
    <p:extLst>
      <p:ext uri="{BB962C8B-B14F-4D97-AF65-F5344CB8AC3E}">
        <p14:creationId xmlns:p14="http://schemas.microsoft.com/office/powerpoint/2010/main" val="870795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4638"/>
            <a:ext cx="7886700" cy="5635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Example</a:t>
            </a:r>
          </a:p>
        </p:txBody>
      </p:sp>
      <p:graphicFrame>
        <p:nvGraphicFramePr>
          <p:cNvPr id="998403" name="Object 3"/>
          <p:cNvGraphicFramePr>
            <a:graphicFrameLocks noChangeAspect="1"/>
          </p:cNvGraphicFramePr>
          <p:nvPr/>
        </p:nvGraphicFramePr>
        <p:xfrm>
          <a:off x="685800" y="1104900"/>
          <a:ext cx="7620000" cy="510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16" name="Worksheet" r:id="rId3" imgW="7144131" imgH="4782109" progId="Excel.Sheet.8">
                  <p:embed/>
                </p:oleObj>
              </mc:Choice>
              <mc:Fallback>
                <p:oleObj name="Worksheet" r:id="rId3" imgW="7144131" imgH="4782109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04900"/>
                        <a:ext cx="7620000" cy="510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6718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C4.5 </a:t>
            </a:r>
            <a:r>
              <a:rPr lang="en-US" dirty="0" smtClean="0"/>
              <a:t>rules versus RIPPER</a:t>
            </a: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3810000" y="1066800"/>
            <a:ext cx="5181600" cy="225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C4.5rules: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(Give Birth=No, Can Fly=Yes) </a:t>
            </a: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 Birds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(Give Birth=No, Live in Water=Yes)  Fishes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(Give Birth=Yes)  Mammals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(Give Birth=No, Can Fly=No, Live in Water=No)  Reptiles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 )  Amphibians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>
              <a:latin typeface="Arial" panose="020B0604020202020204" pitchFamily="34" charset="0"/>
            </a:endParaRPr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161925" y="1066800"/>
          <a:ext cx="4943475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40" name="VISIO" r:id="rId3" imgW="7467600" imgH="6882384" progId="Visio.Drawing.6">
                  <p:embed/>
                </p:oleObj>
              </mc:Choice>
              <mc:Fallback>
                <p:oleObj name="VISIO" r:id="rId3" imgW="7467600" imgH="688238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" y="1066800"/>
                        <a:ext cx="4943475" cy="533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Text Box 5"/>
          <p:cNvSpPr txBox="1">
            <a:spLocks noChangeArrowheads="1"/>
          </p:cNvSpPr>
          <p:nvPr/>
        </p:nvSpPr>
        <p:spPr bwMode="auto">
          <a:xfrm>
            <a:off x="5181600" y="3200400"/>
            <a:ext cx="3962400" cy="214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RIPPER: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(Live in Water=Yes) </a:t>
            </a: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 Fishes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(Have Legs=No)  Reptiles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(Give Birth=No, Can Fly=No, Live In Water=No) </a:t>
            </a:r>
            <a:b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	 Reptiles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(Can Fly=Yes,Give Birth=No)  Birds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()  Mammals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216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C4.5rules </a:t>
            </a:r>
            <a:r>
              <a:rPr lang="en-US" dirty="0" smtClean="0"/>
              <a:t>versus RIPPER</a:t>
            </a:r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1143000" y="4000500"/>
          <a:ext cx="7334250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74" name="Worksheet" r:id="rId3" imgW="6467856" imgH="1610157" progId="Excel.Sheet.8">
                  <p:embed/>
                </p:oleObj>
              </mc:Choice>
              <mc:Fallback>
                <p:oleObj name="Worksheet" r:id="rId3" imgW="6467856" imgH="161015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000500"/>
                        <a:ext cx="7334250" cy="18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1109663" y="1687513"/>
          <a:ext cx="7334250" cy="182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75" name="Worksheet" r:id="rId5" imgW="6467856" imgH="1610157" progId="Excel.Sheet.8">
                  <p:embed/>
                </p:oleObj>
              </mc:Choice>
              <mc:Fallback>
                <p:oleObj name="Worksheet" r:id="rId5" imgW="6467856" imgH="161015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1687513"/>
                        <a:ext cx="7334250" cy="182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533400" y="121920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 smtClean="0">
                <a:latin typeface="Arial" panose="020B0604020202020204" pitchFamily="34" charset="0"/>
              </a:rPr>
              <a:t>C4.5rules</a:t>
            </a:r>
            <a:r>
              <a:rPr lang="en-US" altLang="en-US" sz="2000" b="1" dirty="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533400" y="358140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RIPPER: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23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Advantages of Rule-Based Classifiers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As highly expressive as decision trees</a:t>
            </a:r>
          </a:p>
          <a:p>
            <a:pPr eaLnBrk="1" hangingPunct="1">
              <a:defRPr/>
            </a:pPr>
            <a:r>
              <a:rPr lang="en-US" smtClean="0"/>
              <a:t>Easy to interpret</a:t>
            </a:r>
          </a:p>
          <a:p>
            <a:pPr eaLnBrk="1" hangingPunct="1">
              <a:defRPr/>
            </a:pPr>
            <a:r>
              <a:rPr lang="en-US" smtClean="0"/>
              <a:t>Easy to generate</a:t>
            </a:r>
          </a:p>
          <a:p>
            <a:pPr eaLnBrk="1" hangingPunct="1">
              <a:defRPr/>
            </a:pPr>
            <a:r>
              <a:rPr lang="en-US" smtClean="0"/>
              <a:t>Can classify new instances rapidly</a:t>
            </a:r>
          </a:p>
          <a:p>
            <a:pPr eaLnBrk="1" hangingPunct="1">
              <a:defRPr/>
            </a:pPr>
            <a:r>
              <a:rPr lang="en-US" smtClean="0"/>
              <a:t>Performance comparable to decision trees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90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28750" y="1485900"/>
            <a:ext cx="3314700" cy="1371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85950" y="3257550"/>
            <a:ext cx="5257800" cy="154305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Bayesian Classifier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Naive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209720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71500" y="1257300"/>
            <a:ext cx="5600700" cy="521494"/>
          </a:xfrm>
          <a:prstGeom prst="rect">
            <a:avLst/>
          </a:prstGeom>
        </p:spPr>
        <p:txBody>
          <a:bodyPr vert="horz" lIns="69056" tIns="34529" rIns="69056" bIns="34529" rtlCol="0" anchor="b" anchorCtr="0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300"/>
              <a:t>Bayesian Classification</a:t>
            </a:r>
            <a:endParaRPr lang="en-US" sz="33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71500" y="2000250"/>
            <a:ext cx="61722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66"/>
                </a:solidFill>
              </a:rPr>
              <a:t>What are Bayesian Classifiers?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Statistical Classifiers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Predict class membership probabilities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Based on Bayes Theorem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Naïve Bayesian Classifier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Computationally Simple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Comparable performance with DT and NN classifiers</a:t>
            </a:r>
          </a:p>
        </p:txBody>
      </p:sp>
    </p:spTree>
    <p:extLst>
      <p:ext uri="{BB962C8B-B14F-4D97-AF65-F5344CB8AC3E}">
        <p14:creationId xmlns:p14="http://schemas.microsoft.com/office/powerpoint/2010/main" val="1589964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14400" y="2447925"/>
            <a:ext cx="67437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b="1" dirty="0">
                <a:solidFill>
                  <a:srgbClr val="000066"/>
                </a:solidFill>
              </a:rPr>
              <a:t>Probabilistic learning:</a:t>
            </a:r>
            <a:r>
              <a:rPr lang="en-US" altLang="en-US" sz="2100" dirty="0">
                <a:solidFill>
                  <a:srgbClr val="000000"/>
                </a:solidFill>
              </a:rPr>
              <a:t>  Calculate explicit probabilities for hypothesis, among the most practical approaches to certain types of learning problems</a:t>
            </a:r>
          </a:p>
          <a:p>
            <a:pPr eaLnBrk="1" hangingPunct="1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b="1" dirty="0">
                <a:solidFill>
                  <a:srgbClr val="000066"/>
                </a:solidFill>
              </a:rPr>
              <a:t>Incremental:</a:t>
            </a:r>
            <a:r>
              <a:rPr lang="en-US" altLang="en-US" sz="2100" dirty="0">
                <a:solidFill>
                  <a:srgbClr val="000000"/>
                </a:solidFill>
              </a:rPr>
              <a:t> Each training example can incrementally increase/decrease the probability that a hypothesis is correct.  Prior knowledge can be combined with observed data.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342900" y="1350169"/>
            <a:ext cx="6172200" cy="570310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Bayesian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993344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1407319"/>
            <a:ext cx="5990035" cy="463154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Bayes Theorem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1450" y="2057400"/>
            <a:ext cx="75342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Let X be a data sample whose class label is unknown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Let H be some hypothesis that X belongs to a class C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For classification determine P(H|X)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P(H|X) is the probability that H holds given the observed data sample X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P(H|X) is posterior probability of H conditioned on X</a:t>
            </a:r>
          </a:p>
        </p:txBody>
      </p:sp>
    </p:spTree>
    <p:extLst>
      <p:ext uri="{BB962C8B-B14F-4D97-AF65-F5344CB8AC3E}">
        <p14:creationId xmlns:p14="http://schemas.microsoft.com/office/powerpoint/2010/main" val="1450473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5750" y="2000250"/>
            <a:ext cx="65722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b="1" dirty="0">
                <a:solidFill>
                  <a:srgbClr val="000066"/>
                </a:solidFill>
              </a:rPr>
              <a:t>Example:</a:t>
            </a:r>
            <a:r>
              <a:rPr lang="en-US" altLang="en-US" sz="2100" b="1" dirty="0">
                <a:solidFill>
                  <a:srgbClr val="000000"/>
                </a:solidFill>
              </a:rPr>
              <a:t> </a:t>
            </a:r>
            <a:r>
              <a:rPr lang="en-US" altLang="en-US" sz="2100" dirty="0">
                <a:solidFill>
                  <a:srgbClr val="FF3300"/>
                </a:solidFill>
              </a:rPr>
              <a:t>Sample space: All Fruits described by their color and shape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00"/>
                </a:solidFill>
              </a:rPr>
              <a:t>X is “round” and “red”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00"/>
                </a:solidFill>
              </a:rPr>
              <a:t>H= hypothesis that X is an Apple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00"/>
                </a:solidFill>
              </a:rPr>
              <a:t>	P(H|X) is our confidence that X is an apple given that X is “round” and “red”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P(H) is Prior Probability of H, i.e. the probability that any given data sample is an apple regardless of how it looks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P(H|X) is based on more information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Note that P(H) is independent of X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85750" y="1200150"/>
            <a:ext cx="5657850" cy="46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300">
                <a:solidFill>
                  <a:schemeClr val="tx2"/>
                </a:solidFill>
              </a:rPr>
              <a:t>Bayes Theorem</a:t>
            </a:r>
          </a:p>
        </p:txBody>
      </p:sp>
    </p:spTree>
    <p:extLst>
      <p:ext uri="{BB962C8B-B14F-4D97-AF65-F5344CB8AC3E}">
        <p14:creationId xmlns:p14="http://schemas.microsoft.com/office/powerpoint/2010/main" val="3575449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8600" y="2286000"/>
            <a:ext cx="60579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66"/>
                </a:solidFill>
              </a:rPr>
              <a:t>Example:</a:t>
            </a:r>
            <a:r>
              <a:rPr lang="en-US" altLang="en-US" sz="2100" dirty="0">
                <a:solidFill>
                  <a:srgbClr val="000000"/>
                </a:solidFill>
              </a:rPr>
              <a:t> </a:t>
            </a:r>
            <a:r>
              <a:rPr lang="en-US" altLang="en-US" sz="2100" dirty="0">
                <a:solidFill>
                  <a:srgbClr val="FF3300"/>
                </a:solidFill>
              </a:rPr>
              <a:t>Sample space: All Fruits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P(X|H) ?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It is the probability that X is round and red given that we know that it is true that X is an apple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Here P(X) is prior probability = 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00"/>
                </a:solidFill>
              </a:rPr>
              <a:t>	P(data sample from our set of fruits is red and round)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en-US" altLang="en-US" sz="2100" dirty="0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1450" y="1543050"/>
            <a:ext cx="5657850" cy="46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300">
                <a:solidFill>
                  <a:schemeClr val="tx2"/>
                </a:solidFill>
              </a:rPr>
              <a:t>Bayes Theorem</a:t>
            </a:r>
          </a:p>
        </p:txBody>
      </p:sp>
    </p:spTree>
    <p:extLst>
      <p:ext uri="{BB962C8B-B14F-4D97-AF65-F5344CB8AC3E}">
        <p14:creationId xmlns:p14="http://schemas.microsoft.com/office/powerpoint/2010/main" val="1944062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1464469"/>
            <a:ext cx="5990035" cy="348854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Estimating Probabilities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61925" y="2254448"/>
            <a:ext cx="7010400" cy="3279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P(X), P(H), and P(X|H) may be estimated from given data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Bayes Theorem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en-US" altLang="en-US" sz="21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en-US" altLang="en-US" sz="21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en-US" altLang="en-US" sz="21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Use of Bayes Theorem in Naïve Bayesian Classifier!!	</a:t>
            </a:r>
          </a:p>
        </p:txBody>
      </p:sp>
      <p:graphicFrame>
        <p:nvGraphicFramePr>
          <p:cNvPr id="4" name="Object 4"/>
          <p:cNvGraphicFramePr>
            <a:graphicFrameLocks/>
          </p:cNvGraphicFramePr>
          <p:nvPr/>
        </p:nvGraphicFramePr>
        <p:xfrm>
          <a:off x="628650" y="3429001"/>
          <a:ext cx="3552825" cy="794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7" name="Equation" r:id="rId3" imgW="4737100" imgH="1058863" progId="Equation.3">
                  <p:embed/>
                </p:oleObj>
              </mc:Choice>
              <mc:Fallback>
                <p:oleObj name="Equation" r:id="rId3" imgW="4737100" imgH="1058863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429001"/>
                        <a:ext cx="3552825" cy="794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5531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57251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Bayesian Classifiers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590675"/>
            <a:ext cx="8105775" cy="38957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Consider each attribute and class label as random variables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Given a record with attributes 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,…,A</a:t>
            </a:r>
            <a:r>
              <a:rPr lang="en-US" baseline="-25000" dirty="0"/>
              <a:t>n</a:t>
            </a:r>
            <a:r>
              <a:rPr lang="en-US" dirty="0"/>
              <a:t>) </a:t>
            </a:r>
          </a:p>
          <a:p>
            <a:pPr lvl="1" eaLnBrk="1" hangingPunct="1">
              <a:defRPr/>
            </a:pPr>
            <a:r>
              <a:rPr lang="en-US" dirty="0"/>
              <a:t>Goal is to predict class C</a:t>
            </a:r>
          </a:p>
          <a:p>
            <a:pPr lvl="1" eaLnBrk="1" hangingPunct="1">
              <a:defRPr/>
            </a:pPr>
            <a:r>
              <a:rPr lang="en-US" dirty="0"/>
              <a:t>Specifically, we want to find the value of C that maximizes             P(C|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,…,A</a:t>
            </a:r>
            <a:r>
              <a:rPr lang="en-US" baseline="-25000" dirty="0"/>
              <a:t>n </a:t>
            </a:r>
            <a:r>
              <a:rPr lang="en-US" dirty="0"/>
              <a:t>)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Can we estimate P(C|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,…,A</a:t>
            </a:r>
            <a:r>
              <a:rPr lang="en-US" baseline="-25000" dirty="0"/>
              <a:t>n </a:t>
            </a:r>
            <a:r>
              <a:rPr lang="en-US" dirty="0"/>
              <a:t>) directly from data?</a:t>
            </a:r>
          </a:p>
        </p:txBody>
      </p:sp>
    </p:spTree>
    <p:extLst>
      <p:ext uri="{BB962C8B-B14F-4D97-AF65-F5344CB8AC3E}">
        <p14:creationId xmlns:p14="http://schemas.microsoft.com/office/powerpoint/2010/main" val="390460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Application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/>
              <a:t>Digit Recognition</a:t>
            </a:r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sz="1500" b="1" dirty="0"/>
          </a:p>
          <a:p>
            <a:pPr eaLnBrk="1" hangingPunct="1"/>
            <a:endParaRPr lang="en-US" altLang="en-US" sz="1500" b="1" dirty="0"/>
          </a:p>
          <a:p>
            <a:pPr eaLnBrk="1" hangingPunct="1"/>
            <a:r>
              <a:rPr lang="en-US" altLang="en-US" sz="1500" b="1" dirty="0"/>
              <a:t>X</a:t>
            </a:r>
            <a:r>
              <a:rPr lang="en-US" altLang="en-US" sz="1500" b="1" baseline="-25000" dirty="0"/>
              <a:t>1</a:t>
            </a:r>
            <a:r>
              <a:rPr lang="en-US" altLang="en-US" sz="1500" b="1" dirty="0"/>
              <a:t>,…,</a:t>
            </a:r>
            <a:r>
              <a:rPr lang="en-US" altLang="en-US" sz="1500" b="1" dirty="0" err="1"/>
              <a:t>X</a:t>
            </a:r>
            <a:r>
              <a:rPr lang="en-US" altLang="en-US" sz="1500" b="1" baseline="-25000" dirty="0" err="1"/>
              <a:t>n</a:t>
            </a:r>
            <a:r>
              <a:rPr lang="en-US" altLang="en-US" sz="1500" b="1" dirty="0"/>
              <a:t> </a:t>
            </a:r>
            <a:r>
              <a:rPr lang="en-US" altLang="en-US" sz="1500" b="1" dirty="0"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500" b="1" dirty="0"/>
              <a:t> {0,1} (Black vs. White pixels)</a:t>
            </a:r>
          </a:p>
          <a:p>
            <a:pPr eaLnBrk="1" hangingPunct="1"/>
            <a:r>
              <a:rPr lang="en-US" altLang="en-US" sz="1500" b="1" dirty="0"/>
              <a:t>Y </a:t>
            </a:r>
            <a:r>
              <a:rPr lang="en-US" altLang="en-US" sz="1500" b="1" dirty="0"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500" b="1" dirty="0"/>
              <a:t> {5,6} (predict whether a digit is a 5 or a 6)</a:t>
            </a:r>
          </a:p>
          <a:p>
            <a:pPr eaLnBrk="1" hangingPunct="1"/>
            <a:endParaRPr lang="en-US" altLang="en-US" b="1" dirty="0" smtClean="0"/>
          </a:p>
        </p:txBody>
      </p:sp>
      <p:sp>
        <p:nvSpPr>
          <p:cNvPr id="7172" name="Rectangle 8"/>
          <p:cNvSpPr>
            <a:spLocks noChangeArrowheads="1"/>
          </p:cNvSpPr>
          <p:nvPr/>
        </p:nvSpPr>
        <p:spPr bwMode="auto">
          <a:xfrm>
            <a:off x="4629150" y="3314700"/>
            <a:ext cx="17145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Classifier</a:t>
            </a:r>
          </a:p>
        </p:txBody>
      </p:sp>
      <p:sp>
        <p:nvSpPr>
          <p:cNvPr id="7173" name="Text Box 9"/>
          <p:cNvSpPr txBox="1">
            <a:spLocks noChangeArrowheads="1"/>
          </p:cNvSpPr>
          <p:nvPr/>
        </p:nvSpPr>
        <p:spPr bwMode="auto">
          <a:xfrm>
            <a:off x="7143750" y="3486150"/>
            <a:ext cx="51435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300"/>
              <a:t>5</a:t>
            </a:r>
          </a:p>
        </p:txBody>
      </p:sp>
      <p:sp>
        <p:nvSpPr>
          <p:cNvPr id="7174" name="AutoShape 10"/>
          <p:cNvSpPr>
            <a:spLocks noChangeArrowheads="1"/>
          </p:cNvSpPr>
          <p:nvPr/>
        </p:nvSpPr>
        <p:spPr bwMode="auto">
          <a:xfrm>
            <a:off x="4000500" y="3657600"/>
            <a:ext cx="571500" cy="2286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AutoShape 11"/>
          <p:cNvSpPr>
            <a:spLocks noChangeArrowheads="1"/>
          </p:cNvSpPr>
          <p:nvPr/>
        </p:nvSpPr>
        <p:spPr bwMode="auto">
          <a:xfrm>
            <a:off x="6400800" y="3657600"/>
            <a:ext cx="571500" cy="2286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7176" name="Picture 12" descr="fiv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2800350"/>
            <a:ext cx="2571750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692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1028700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en-US" smtClean="0"/>
              <a:t>The Bayes Classifier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In class, we saw that a good strategy is to predict: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(for example: what is the probability that the image represents a 5 given its pixels?)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 sz="1800"/>
              <a:t>So … How do we compute that?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2743200"/>
            <a:ext cx="28575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821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Bayes Classifier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Use Bayes Rule!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 smtClean="0"/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endParaRPr lang="en-US" altLang="en-US" sz="18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 smtClean="0"/>
              <a:t>Why </a:t>
            </a:r>
            <a:r>
              <a:rPr lang="en-US" altLang="en-US" sz="1800" dirty="0"/>
              <a:t>did this help?  Well, we think that we might be able to specify how features are “generated” by the class label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2890837"/>
            <a:ext cx="508635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Text Box 6"/>
          <p:cNvSpPr txBox="1">
            <a:spLocks noChangeArrowheads="1"/>
          </p:cNvSpPr>
          <p:nvPr/>
        </p:nvSpPr>
        <p:spPr bwMode="auto">
          <a:xfrm>
            <a:off x="4914900" y="3976688"/>
            <a:ext cx="1828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solidFill>
                  <a:schemeClr val="hlink"/>
                </a:solidFill>
              </a:rPr>
              <a:t>Normalization Constant</a:t>
            </a:r>
          </a:p>
        </p:txBody>
      </p:sp>
      <p:sp>
        <p:nvSpPr>
          <p:cNvPr id="9222" name="Text Box 7"/>
          <p:cNvSpPr txBox="1">
            <a:spLocks noChangeArrowheads="1"/>
          </p:cNvSpPr>
          <p:nvPr/>
        </p:nvSpPr>
        <p:spPr bwMode="auto">
          <a:xfrm>
            <a:off x="4514850" y="2662238"/>
            <a:ext cx="1828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solidFill>
                  <a:srgbClr val="0000FF"/>
                </a:solidFill>
              </a:rPr>
              <a:t>Likelihood</a:t>
            </a: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6915150" y="2662238"/>
            <a:ext cx="1085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solidFill>
                  <a:srgbClr val="800080"/>
                </a:solidFill>
              </a:rPr>
              <a:t>Prior</a:t>
            </a:r>
          </a:p>
        </p:txBody>
      </p:sp>
      <p:sp>
        <p:nvSpPr>
          <p:cNvPr id="9224" name="Line 9"/>
          <p:cNvSpPr>
            <a:spLocks noChangeShapeType="1"/>
          </p:cNvSpPr>
          <p:nvPr/>
        </p:nvSpPr>
        <p:spPr bwMode="auto">
          <a:xfrm flipH="1">
            <a:off x="7086600" y="2890838"/>
            <a:ext cx="571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Line 10"/>
          <p:cNvSpPr>
            <a:spLocks noChangeShapeType="1"/>
          </p:cNvSpPr>
          <p:nvPr/>
        </p:nvSpPr>
        <p:spPr bwMode="auto">
          <a:xfrm>
            <a:off x="4914900" y="2890838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Line 12"/>
          <p:cNvSpPr>
            <a:spLocks noChangeShapeType="1"/>
          </p:cNvSpPr>
          <p:nvPr/>
        </p:nvSpPr>
        <p:spPr bwMode="auto">
          <a:xfrm flipV="1">
            <a:off x="5772150" y="3862388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6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Bayes Classifier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1"/>
            <a:ext cx="8058150" cy="464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Let’s expand this for our digit recognition task: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To classify, we’ll simply compute these two probabilities and predict based on which one is greater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1024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3200"/>
            <a:ext cx="7810841" cy="1254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19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Model Parameters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For the Bayes classifier, we need to “learn” two functions, the likelihood and the prior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How many parameters are required to specify the prior for our digit recognition example?</a:t>
            </a:r>
          </a:p>
        </p:txBody>
      </p:sp>
    </p:spTree>
    <p:extLst>
      <p:ext uri="{BB962C8B-B14F-4D97-AF65-F5344CB8AC3E}">
        <p14:creationId xmlns:p14="http://schemas.microsoft.com/office/powerpoint/2010/main" val="27493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Model Parameters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How many parameters are required to specify the likelihood?</a:t>
            </a:r>
          </a:p>
          <a:p>
            <a:pPr lvl="1" eaLnBrk="1" hangingPunct="1"/>
            <a:r>
              <a:rPr lang="en-US" altLang="en-US"/>
              <a:t>(Supposing that each image is 30x30 pixels)</a:t>
            </a:r>
          </a:p>
          <a:p>
            <a:pPr lvl="1" eaLnBrk="1" hangingPunct="1"/>
            <a:endParaRPr lang="en-US" altLang="en-US"/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7200"/>
              <a:t>					?</a:t>
            </a:r>
          </a:p>
        </p:txBody>
      </p:sp>
    </p:spTree>
    <p:extLst>
      <p:ext uri="{BB962C8B-B14F-4D97-AF65-F5344CB8AC3E}">
        <p14:creationId xmlns:p14="http://schemas.microsoft.com/office/powerpoint/2010/main" val="66186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Model Parameters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The problem with explicitly modeling P(X</a:t>
            </a:r>
            <a:r>
              <a:rPr lang="en-US" altLang="en-US" sz="1800" baseline="-25000"/>
              <a:t>1</a:t>
            </a:r>
            <a:r>
              <a:rPr lang="en-US" altLang="en-US" sz="1800"/>
              <a:t>,…,X</a:t>
            </a:r>
            <a:r>
              <a:rPr lang="en-US" altLang="en-US" sz="1800" baseline="-25000"/>
              <a:t>n</a:t>
            </a:r>
            <a:r>
              <a:rPr lang="en-US" altLang="en-US" sz="1800"/>
              <a:t>|Y) is that there are usually way too many parameters:</a:t>
            </a:r>
          </a:p>
          <a:p>
            <a:pPr lvl="1" eaLnBrk="1" hangingPunct="1"/>
            <a:r>
              <a:rPr lang="en-US" altLang="en-US"/>
              <a:t>We’ll run out of space</a:t>
            </a:r>
          </a:p>
          <a:p>
            <a:pPr lvl="1" eaLnBrk="1" hangingPunct="1"/>
            <a:r>
              <a:rPr lang="en-US" altLang="en-US"/>
              <a:t>We’ll run out of time</a:t>
            </a:r>
          </a:p>
          <a:p>
            <a:pPr lvl="1" eaLnBrk="1" hangingPunct="1"/>
            <a:r>
              <a:rPr lang="en-US" altLang="en-US"/>
              <a:t>And we’ll need tons of training data (which is usually not available)</a:t>
            </a:r>
          </a:p>
        </p:txBody>
      </p:sp>
    </p:spTree>
    <p:extLst>
      <p:ext uri="{BB962C8B-B14F-4D97-AF65-F5344CB8AC3E}">
        <p14:creationId xmlns:p14="http://schemas.microsoft.com/office/powerpoint/2010/main" val="21361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Naïve Bayes Model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i="1" dirty="0"/>
              <a:t>Naïve Bayes Assumption</a:t>
            </a:r>
            <a:r>
              <a:rPr lang="en-US" altLang="en-US" dirty="0"/>
              <a:t>: Assume that all features are independent </a:t>
            </a:r>
            <a:r>
              <a:rPr lang="en-US" altLang="en-US" b="1" dirty="0"/>
              <a:t>given the class label Y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 err="1"/>
              <a:t>Equationally</a:t>
            </a:r>
            <a:r>
              <a:rPr lang="en-US" altLang="en-US" dirty="0"/>
              <a:t> speaking: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786" y="3436145"/>
            <a:ext cx="3450431" cy="907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052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Why is this useful?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# of parameters for modeling P(X</a:t>
            </a:r>
            <a:r>
              <a:rPr lang="en-US" altLang="en-US" baseline="-25000" dirty="0"/>
              <a:t>1</a:t>
            </a:r>
            <a:r>
              <a:rPr lang="en-US" altLang="en-US" dirty="0"/>
              <a:t>,…,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dirty="0" err="1"/>
              <a:t>|Y</a:t>
            </a:r>
            <a:r>
              <a:rPr lang="en-US" altLang="en-US" dirty="0"/>
              <a:t>):</a:t>
            </a:r>
          </a:p>
          <a:p>
            <a:pPr eaLnBrk="1" hangingPunct="1"/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1800" dirty="0"/>
              <a:t>2(2</a:t>
            </a:r>
            <a:r>
              <a:rPr lang="en-US" altLang="en-US" sz="1800" baseline="30000" dirty="0"/>
              <a:t>n</a:t>
            </a:r>
            <a:r>
              <a:rPr lang="en-US" altLang="en-US" sz="1800" dirty="0"/>
              <a:t>-1)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# of parameters for modeling P(X</a:t>
            </a:r>
            <a:r>
              <a:rPr lang="en-US" altLang="en-US" baseline="-25000" dirty="0"/>
              <a:t>1</a:t>
            </a:r>
            <a:r>
              <a:rPr lang="en-US" altLang="en-US" dirty="0"/>
              <a:t>|Y),…,P(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dirty="0" err="1"/>
              <a:t>|Y</a:t>
            </a:r>
            <a:r>
              <a:rPr lang="en-US" altLang="en-US" dirty="0"/>
              <a:t>)</a:t>
            </a:r>
          </a:p>
          <a:p>
            <a:pPr eaLnBrk="1" hangingPunct="1"/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sz="1800" dirty="0"/>
              <a:t>2n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1426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285875"/>
            <a:ext cx="6572250" cy="571500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Naïve Bayesian Classification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838200" y="2124075"/>
            <a:ext cx="7391400" cy="270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9056" tIns="34529" rIns="69056" bIns="34529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 Also called Simple </a:t>
            </a:r>
            <a:r>
              <a:rPr lang="en-US" sz="2400" dirty="0"/>
              <a:t>Bayesian Classification</a:t>
            </a:r>
            <a:endParaRPr lang="en-US" altLang="en-US" sz="2100" dirty="0" smtClean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 smtClean="0">
                <a:solidFill>
                  <a:srgbClr val="000000"/>
                </a:solidFill>
              </a:rPr>
              <a:t>Why Naïve/Simple??</a:t>
            </a:r>
          </a:p>
          <a:p>
            <a:pPr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 smtClean="0">
                <a:solidFill>
                  <a:srgbClr val="000000"/>
                </a:solidFill>
              </a:rPr>
              <a:t> </a:t>
            </a:r>
            <a:r>
              <a:rPr lang="en-US" altLang="en-US" sz="2100" dirty="0">
                <a:solidFill>
                  <a:srgbClr val="000000"/>
                </a:solidFill>
              </a:rPr>
              <a:t>Class Conditional Independence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100" i="1" dirty="0">
                <a:solidFill>
                  <a:srgbClr val="000000"/>
                </a:solidFill>
              </a:rPr>
              <a:t>	Effect of an attribute values on a given class 	is independent of the values of other attributes</a:t>
            </a:r>
          </a:p>
          <a:p>
            <a:pPr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 This assumption simplifies computations</a:t>
            </a:r>
          </a:p>
        </p:txBody>
      </p:sp>
    </p:spTree>
    <p:extLst>
      <p:ext uri="{BB962C8B-B14F-4D97-AF65-F5344CB8AC3E}">
        <p14:creationId xmlns:p14="http://schemas.microsoft.com/office/powerpoint/2010/main" val="3404300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3050" y="1028700"/>
            <a:ext cx="5915025" cy="53697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Bayesian Classifiers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51373" y="1714500"/>
            <a:ext cx="6435328" cy="3886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Approach: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compute the posterior probability P(C |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</a:t>
            </a:r>
            <a:r>
              <a:rPr lang="en-US" dirty="0"/>
              <a:t>) for all values of C using the Bayes theorem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dirty="0"/>
          </a:p>
          <a:p>
            <a:pPr lvl="1" eaLnBrk="1" hangingPunct="1">
              <a:lnSpc>
                <a:spcPct val="90000"/>
              </a:lnSpc>
              <a:defRPr/>
            </a:pPr>
            <a:endParaRPr lang="en-US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Choose value of C that maximizes </a:t>
            </a:r>
            <a:br>
              <a:rPr lang="en-US" dirty="0"/>
            </a:br>
            <a:r>
              <a:rPr lang="en-US" dirty="0"/>
              <a:t>		P(C |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Equivalent to choosing value of C that maximizes</a:t>
            </a:r>
            <a:br>
              <a:rPr lang="en-US" dirty="0"/>
            </a:br>
            <a:r>
              <a:rPr lang="en-US" dirty="0"/>
              <a:t>     	P(A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n</a:t>
            </a:r>
            <a:r>
              <a:rPr lang="en-US" dirty="0" err="1"/>
              <a:t>|C</a:t>
            </a:r>
            <a:r>
              <a:rPr lang="en-US" dirty="0"/>
              <a:t>) P(C)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How to estimate P(A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 </a:t>
            </a:r>
            <a:r>
              <a:rPr lang="en-US" dirty="0"/>
              <a:t>| C )?</a:t>
            </a:r>
          </a:p>
        </p:txBody>
      </p:sp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2514600" y="2717007"/>
          <a:ext cx="4343400" cy="597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7" name="Equation" r:id="rId3" imgW="4864100" imgH="800100" progId="Equation.3">
                  <p:embed/>
                </p:oleObj>
              </mc:Choice>
              <mc:Fallback>
                <p:oleObj name="Equation" r:id="rId3" imgW="48641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717007"/>
                        <a:ext cx="4343400" cy="597694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672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Naïve Bayes Classifier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Assume independence among attributes A</a:t>
            </a:r>
            <a:r>
              <a:rPr lang="en-US" baseline="-25000" dirty="0" smtClean="0"/>
              <a:t>i</a:t>
            </a:r>
            <a:r>
              <a:rPr lang="en-US" dirty="0"/>
              <a:t> when class is given:    </a:t>
            </a:r>
          </a:p>
          <a:p>
            <a:pPr lvl="1" eaLnBrk="1" hangingPunct="1">
              <a:defRPr/>
            </a:pPr>
            <a:r>
              <a:rPr lang="en-US" dirty="0"/>
              <a:t>P(A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 </a:t>
            </a:r>
            <a:r>
              <a:rPr lang="en-US" dirty="0"/>
              <a:t>|C) = P(A</a:t>
            </a:r>
            <a:r>
              <a:rPr lang="en-US" baseline="-25000" dirty="0"/>
              <a:t>1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 P(A</a:t>
            </a:r>
            <a:r>
              <a:rPr lang="en-US" baseline="-25000" dirty="0"/>
              <a:t>2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)… P(A</a:t>
            </a:r>
            <a:r>
              <a:rPr lang="en-US" baseline="-25000" dirty="0"/>
              <a:t>n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</a:p>
          <a:p>
            <a:pPr lvl="1" eaLnBrk="1" hangingPunct="1">
              <a:defRPr/>
            </a:pPr>
            <a:r>
              <a:rPr lang="en-US" dirty="0"/>
              <a:t>Can estimate P(A</a:t>
            </a:r>
            <a:r>
              <a:rPr lang="en-US" baseline="-25000" dirty="0" smtClean="0"/>
              <a:t>i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 smtClean="0"/>
              <a:t>j</a:t>
            </a:r>
            <a:r>
              <a:rPr lang="en-US" dirty="0"/>
              <a:t>) for all A</a:t>
            </a:r>
            <a:r>
              <a:rPr lang="en-US" baseline="-25000" dirty="0" smtClean="0"/>
              <a:t>i</a:t>
            </a:r>
            <a:r>
              <a:rPr lang="en-US" dirty="0"/>
              <a:t> and </a:t>
            </a:r>
            <a:r>
              <a:rPr lang="en-US" dirty="0" err="1"/>
              <a:t>C</a:t>
            </a:r>
            <a:r>
              <a:rPr lang="en-US" baseline="-25000" dirty="0" err="1" smtClean="0"/>
              <a:t>j</a:t>
            </a:r>
            <a:r>
              <a:rPr lang="en-US" dirty="0"/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New point is classified to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 if  P(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</a:t>
            </a:r>
            <a:r>
              <a:rPr lang="en-US" dirty="0"/>
              <a:t> P(A</a:t>
            </a:r>
            <a:r>
              <a:rPr lang="en-US" baseline="-25000" dirty="0"/>
              <a:t>i</a:t>
            </a:r>
            <a:r>
              <a:rPr lang="en-US" dirty="0"/>
              <a:t>| </a:t>
            </a:r>
            <a:r>
              <a:rPr lang="en-US" dirty="0" err="1"/>
              <a:t>C</a:t>
            </a:r>
            <a:r>
              <a:rPr lang="en-US" baseline="-25000" dirty="0" err="1"/>
              <a:t>j</a:t>
            </a:r>
            <a:r>
              <a:rPr lang="en-US" dirty="0"/>
              <a:t>)  is maximal.</a:t>
            </a:r>
            <a:endParaRPr lang="en-US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9616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14450" y="1085850"/>
            <a:ext cx="6572250" cy="8001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How to Estimate Probabilities from Data?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71950" y="2114550"/>
            <a:ext cx="3657600" cy="3600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Class:  P(C) = </a:t>
            </a:r>
            <a:r>
              <a:rPr lang="en-US" dirty="0" err="1" smtClean="0"/>
              <a:t>N</a:t>
            </a:r>
            <a:r>
              <a:rPr lang="en-US" baseline="-25000" dirty="0" err="1" smtClean="0"/>
              <a:t>c</a:t>
            </a:r>
            <a:r>
              <a:rPr lang="en-US" dirty="0" smtClean="0"/>
              <a:t>/N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500" dirty="0"/>
              <a:t>e.g.,  P(No) = 7/10, </a:t>
            </a:r>
            <a:br>
              <a:rPr lang="en-US" sz="1500" dirty="0"/>
            </a:br>
            <a:r>
              <a:rPr lang="en-US" sz="1500" dirty="0"/>
              <a:t>	        P(Yes) = 3/10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dirty="0" smtClean="0"/>
              <a:t>For discrete attributes:</a:t>
            </a:r>
            <a:br>
              <a:rPr lang="en-US" dirty="0" smtClean="0"/>
            </a:br>
            <a:r>
              <a:rPr lang="en-US" sz="675" dirty="0"/>
              <a:t>  </a:t>
            </a:r>
            <a:br>
              <a:rPr lang="en-US" sz="675" dirty="0"/>
            </a:br>
            <a:r>
              <a:rPr lang="en-US" dirty="0" smtClean="0"/>
              <a:t>     P(A</a:t>
            </a:r>
            <a:r>
              <a:rPr lang="en-US" baseline="-25000" dirty="0" smtClean="0"/>
              <a:t>i</a:t>
            </a:r>
            <a:r>
              <a:rPr lang="en-US" dirty="0" smtClean="0"/>
              <a:t> | C</a:t>
            </a:r>
            <a:r>
              <a:rPr lang="en-US" baseline="-25000" dirty="0" smtClean="0"/>
              <a:t>k</a:t>
            </a:r>
            <a:r>
              <a:rPr lang="en-US" dirty="0" smtClean="0"/>
              <a:t>) = |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ik</a:t>
            </a:r>
            <a:r>
              <a:rPr lang="en-US" dirty="0" smtClean="0"/>
              <a:t>|/ </a:t>
            </a:r>
            <a:r>
              <a:rPr lang="en-US" dirty="0" err="1" smtClean="0"/>
              <a:t>N</a:t>
            </a:r>
            <a:r>
              <a:rPr lang="en-US" baseline="-25000" dirty="0" err="1" smtClean="0"/>
              <a:t>c</a:t>
            </a:r>
            <a:r>
              <a:rPr lang="en-US" baseline="-25000" dirty="0" smtClean="0"/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6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where |</a:t>
            </a:r>
            <a:r>
              <a:rPr lang="en-US" dirty="0" err="1"/>
              <a:t>A</a:t>
            </a:r>
            <a:r>
              <a:rPr lang="en-US" baseline="-25000" dirty="0" err="1"/>
              <a:t>ik</a:t>
            </a:r>
            <a:r>
              <a:rPr lang="en-US" dirty="0"/>
              <a:t>| is number of instances having attribute A</a:t>
            </a:r>
            <a:r>
              <a:rPr lang="en-US" baseline="-25000" dirty="0"/>
              <a:t>i</a:t>
            </a:r>
            <a:r>
              <a:rPr lang="en-US" dirty="0"/>
              <a:t> and belongs to class C</a:t>
            </a:r>
            <a:r>
              <a:rPr lang="en-US" baseline="-25000" dirty="0"/>
              <a:t>k</a:t>
            </a:r>
            <a:endParaRPr 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Examples:</a:t>
            </a:r>
            <a:br>
              <a:rPr lang="en-US" dirty="0"/>
            </a:br>
            <a:endParaRPr lang="en-US" sz="6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500" dirty="0"/>
              <a:t>	P(Status=</a:t>
            </a:r>
            <a:r>
              <a:rPr lang="en-US" sz="1500" dirty="0" err="1"/>
              <a:t>Married|No</a:t>
            </a:r>
            <a:r>
              <a:rPr lang="en-US" sz="1500" dirty="0"/>
              <a:t>) = 4/7</a:t>
            </a:r>
            <a:r>
              <a:rPr lang="en-US" sz="1500" baseline="-25000" dirty="0"/>
              <a:t/>
            </a:r>
            <a:br>
              <a:rPr lang="en-US" sz="1500" baseline="-25000" dirty="0"/>
            </a:br>
            <a:r>
              <a:rPr lang="en-US" sz="1500" dirty="0"/>
              <a:t>P(Refund=</a:t>
            </a:r>
            <a:r>
              <a:rPr lang="en-US" sz="1500" dirty="0" err="1"/>
              <a:t>Yes|Yes</a:t>
            </a:r>
            <a:r>
              <a:rPr lang="en-US" sz="1500" dirty="0"/>
              <a:t>)=0</a:t>
            </a:r>
            <a:endParaRPr lang="en-US" sz="1500" baseline="-25000" dirty="0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7206854" y="3603427"/>
            <a:ext cx="17145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 dirty="0">
                <a:latin typeface="Arial" panose="020B0604020202020204" pitchFamily="34" charset="0"/>
              </a:rPr>
              <a:t>k</a:t>
            </a:r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1314450" y="2000250"/>
          <a:ext cx="3120629" cy="3206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2" name="VISIO" r:id="rId3" imgW="4392168" imgH="5334000" progId="Visio.Drawing.6">
                  <p:embed/>
                </p:oleObj>
              </mc:Choice>
              <mc:Fallback>
                <p:oleObj name="VISIO" r:id="rId3" imgW="4392168" imgH="5334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1314450" y="2000250"/>
                        <a:ext cx="3120629" cy="3206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35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971550"/>
            <a:ext cx="6781800" cy="914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How to Estimate Probabilities from Data?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85951"/>
            <a:ext cx="7981950" cy="360402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For continuous attributes: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Discretize</a:t>
            </a:r>
            <a:r>
              <a:rPr lang="en-US" dirty="0"/>
              <a:t> the range into bins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Two-way split:</a:t>
            </a:r>
            <a:r>
              <a:rPr lang="en-US" dirty="0"/>
              <a:t>  (A &lt; v) or (A &gt; v)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 choose only one of the two splits as new attribute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Probability density estimation: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 Assume attribute follows a normal distribution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 Use data to estimate parameters of distribution </a:t>
            </a:r>
            <a:br>
              <a:rPr lang="en-US" dirty="0"/>
            </a:br>
            <a:r>
              <a:rPr lang="en-US" dirty="0"/>
              <a:t>   (e.g., mean and standard deviation)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 Once probability distribution is known, can use it to estimate the conditional probability P(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 err="1"/>
              <a:t>|c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215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13705"/>
            <a:ext cx="7772400" cy="49589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How to Estimate Probabilities from Data?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400" y="1676400"/>
            <a:ext cx="3886200" cy="36385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Normal distribution: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sz="750" dirty="0"/>
          </a:p>
          <a:p>
            <a:pPr lvl="1" eaLnBrk="1" hangingPunct="1">
              <a:defRPr/>
            </a:pPr>
            <a:r>
              <a:rPr lang="en-US" dirty="0"/>
              <a:t>One for each (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 err="1"/>
              <a:t>,c</a:t>
            </a:r>
            <a:r>
              <a:rPr lang="en-US" baseline="-25000" dirty="0" err="1"/>
              <a:t>i</a:t>
            </a:r>
            <a:r>
              <a:rPr lang="en-US" dirty="0"/>
              <a:t>) pair</a:t>
            </a:r>
          </a:p>
          <a:p>
            <a:pPr lvl="1" eaLnBrk="1" hangingPunct="1">
              <a:defRPr/>
            </a:pPr>
            <a:endParaRPr lang="en-US" sz="600" dirty="0"/>
          </a:p>
          <a:p>
            <a:pPr eaLnBrk="1" hangingPunct="1">
              <a:defRPr/>
            </a:pPr>
            <a:r>
              <a:rPr lang="en-US" dirty="0"/>
              <a:t>For (Income, class=No):</a:t>
            </a:r>
          </a:p>
          <a:p>
            <a:pPr lvl="1" eaLnBrk="1" hangingPunct="1">
              <a:defRPr/>
            </a:pPr>
            <a:r>
              <a:rPr lang="en-US" dirty="0"/>
              <a:t>If Class=No</a:t>
            </a:r>
          </a:p>
          <a:p>
            <a:pPr lvl="2" eaLnBrk="1" hangingPunct="1">
              <a:defRPr/>
            </a:pPr>
            <a:r>
              <a:rPr lang="en-US" dirty="0"/>
              <a:t> sample mean = 110</a:t>
            </a:r>
          </a:p>
          <a:p>
            <a:pPr lvl="2" eaLnBrk="1" hangingPunct="1">
              <a:defRPr/>
            </a:pPr>
            <a:r>
              <a:rPr lang="en-US" dirty="0"/>
              <a:t> sample variance = 2975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53703"/>
              </p:ext>
            </p:extLst>
          </p:nvPr>
        </p:nvGraphicFramePr>
        <p:xfrm>
          <a:off x="767369" y="1635967"/>
          <a:ext cx="3604023" cy="346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5" name="VISIO" r:id="rId3" imgW="4392168" imgH="5334000" progId="Visio.Drawing.6">
                  <p:embed/>
                </p:oleObj>
              </mc:Choice>
              <mc:Fallback>
                <p:oleObj name="VISIO" r:id="rId3" imgW="4392168" imgH="5334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895"/>
                      <a:stretch>
                        <a:fillRect/>
                      </a:stretch>
                    </p:blipFill>
                    <p:spPr bwMode="auto">
                      <a:xfrm>
                        <a:off x="767369" y="1635967"/>
                        <a:ext cx="3604023" cy="346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203804"/>
              </p:ext>
            </p:extLst>
          </p:nvPr>
        </p:nvGraphicFramePr>
        <p:xfrm>
          <a:off x="4893979" y="2133600"/>
          <a:ext cx="2846096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6" name="Equation" r:id="rId5" imgW="1739900" imgH="558800" progId="Equation.3">
                  <p:embed/>
                </p:oleObj>
              </mc:Choice>
              <mc:Fallback>
                <p:oleObj name="Equation" r:id="rId5" imgW="17399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979" y="2133600"/>
                        <a:ext cx="2846096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1314451" y="5208986"/>
          <a:ext cx="6390085" cy="791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7" name="Equation" r:id="rId7" imgW="6350000" imgH="787400" progId="Equation.3">
                  <p:embed/>
                </p:oleObj>
              </mc:Choice>
              <mc:Fallback>
                <p:oleObj name="Equation" r:id="rId7" imgW="63500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1" y="5208986"/>
                        <a:ext cx="6390085" cy="791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982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6118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 of Naïve Bayes Classifier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059339"/>
              </p:ext>
            </p:extLst>
          </p:nvPr>
        </p:nvGraphicFramePr>
        <p:xfrm>
          <a:off x="381000" y="2057400"/>
          <a:ext cx="3448050" cy="4259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6" name="VISIO" r:id="rId3" imgW="9057132" imgH="5539740" progId="Visio.Drawing.6">
                  <p:embed/>
                </p:oleObj>
              </mc:Choice>
              <mc:Fallback>
                <p:oleObj name="VISIO" r:id="rId3" imgW="9057132" imgH="55397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478" r="26086"/>
                      <a:stretch>
                        <a:fillRect/>
                      </a:stretch>
                    </p:blipFill>
                    <p:spPr bwMode="auto">
                      <a:xfrm>
                        <a:off x="381000" y="2057400"/>
                        <a:ext cx="3448050" cy="4259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785463"/>
              </p:ext>
            </p:extLst>
          </p:nvPr>
        </p:nvGraphicFramePr>
        <p:xfrm>
          <a:off x="1628775" y="1221125"/>
          <a:ext cx="4857750" cy="305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7" name="Equation" r:id="rId5" imgW="5448300" imgH="342900" progId="Equation.3">
                  <p:embed/>
                </p:oleObj>
              </mc:Choice>
              <mc:Fallback>
                <p:oleObj name="Equation" r:id="rId5" imgW="54483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1221125"/>
                        <a:ext cx="4857750" cy="305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3714750" y="2436475"/>
            <a:ext cx="4514850" cy="365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/>
          <a:lstStyle>
            <a:lvl1pPr marL="292100" indent="-2921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3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1500" dirty="0">
                <a:latin typeface="Arial" panose="020B0604020202020204" pitchFamily="34" charset="0"/>
              </a:rPr>
              <a:t>P(</a:t>
            </a:r>
            <a:r>
              <a:rPr lang="en-US" altLang="en-US" sz="1500" dirty="0" err="1">
                <a:latin typeface="Arial" panose="020B0604020202020204" pitchFamily="34" charset="0"/>
              </a:rPr>
              <a:t>X|Class</a:t>
            </a:r>
            <a:r>
              <a:rPr lang="en-US" altLang="en-US" sz="1500" dirty="0">
                <a:latin typeface="Arial" panose="020B0604020202020204" pitchFamily="34" charset="0"/>
              </a:rPr>
              <a:t>=No) = P(Refund=</a:t>
            </a:r>
            <a:r>
              <a:rPr lang="en-US" altLang="en-US" sz="1500" dirty="0" err="1">
                <a:latin typeface="Arial" panose="020B0604020202020204" pitchFamily="34" charset="0"/>
              </a:rPr>
              <a:t>No|Class</a:t>
            </a:r>
            <a:r>
              <a:rPr lang="en-US" altLang="en-US" sz="1500" dirty="0">
                <a:latin typeface="Arial" panose="020B0604020202020204" pitchFamily="34" charset="0"/>
              </a:rPr>
              <a:t>=No)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		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 P(Married| </a:t>
            </a:r>
            <a:r>
              <a:rPr lang="en-US" altLang="en-US" sz="1500" dirty="0">
                <a:latin typeface="Arial" panose="020B0604020202020204" pitchFamily="34" charset="0"/>
              </a:rPr>
              <a:t>Class=No)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		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1500" dirty="0">
                <a:latin typeface="Arial" panose="020B0604020202020204" pitchFamily="34" charset="0"/>
              </a:rPr>
              <a:t> P(Income=120K| Class=No)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	              = 4/7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 4/7  0.0072 = 0.0024</a:t>
            </a:r>
          </a:p>
          <a:p>
            <a:pPr>
              <a:spcBef>
                <a:spcPct val="10000"/>
              </a:spcBef>
              <a:spcAft>
                <a:spcPts val="300"/>
              </a:spcAft>
              <a:buClr>
                <a:srgbClr val="0C7B9C"/>
              </a:buClr>
              <a:buSzPct val="75000"/>
              <a:buNone/>
            </a:pPr>
            <a:r>
              <a:rPr lang="en-US" altLang="en-US" sz="1500" dirty="0">
                <a:latin typeface="Arial" panose="020B0604020202020204" pitchFamily="34" charset="0"/>
              </a:rPr>
              <a:t>P(</a:t>
            </a:r>
            <a:r>
              <a:rPr lang="en-US" altLang="en-US" sz="1500" dirty="0" err="1">
                <a:latin typeface="Arial" panose="020B0604020202020204" pitchFamily="34" charset="0"/>
              </a:rPr>
              <a:t>X|Class</a:t>
            </a:r>
            <a:r>
              <a:rPr lang="en-US" altLang="en-US" sz="1500" dirty="0">
                <a:latin typeface="Arial" panose="020B0604020202020204" pitchFamily="34" charset="0"/>
              </a:rPr>
              <a:t>=Yes) = P(Refund=No| Class=Yes)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   	                 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 P(Married| </a:t>
            </a:r>
            <a:r>
              <a:rPr lang="en-US" altLang="en-US" sz="1500" dirty="0">
                <a:latin typeface="Arial" panose="020B0604020202020204" pitchFamily="34" charset="0"/>
              </a:rPr>
              <a:t>Class=Yes)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   	                 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1500" dirty="0">
                <a:latin typeface="Arial" panose="020B0604020202020204" pitchFamily="34" charset="0"/>
              </a:rPr>
              <a:t> P(</a:t>
            </a:r>
            <a:r>
              <a:rPr lang="en-US" altLang="en-US" sz="1500" dirty="0" err="1">
                <a:latin typeface="Arial" panose="020B0604020202020204" pitchFamily="34" charset="0"/>
              </a:rPr>
              <a:t>Incm</a:t>
            </a:r>
            <a:r>
              <a:rPr lang="en-US" altLang="en-US" sz="1500" dirty="0">
                <a:latin typeface="Arial" panose="020B0604020202020204" pitchFamily="34" charset="0"/>
              </a:rPr>
              <a:t>=120K| Class=Yes)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	               = 1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 0  1.2  10</a:t>
            </a:r>
            <a:r>
              <a:rPr lang="en-US" altLang="en-US" sz="15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-9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</a:p>
          <a:p>
            <a:pPr>
              <a:spcBef>
                <a:spcPct val="10000"/>
              </a:spcBef>
              <a:spcAft>
                <a:spcPts val="300"/>
              </a:spcAft>
              <a:buClr>
                <a:srgbClr val="0C7B9C"/>
              </a:buClr>
              <a:buSzPct val="75000"/>
              <a:buNone/>
            </a:pPr>
            <a:r>
              <a:rPr lang="en-US" altLang="en-US" sz="1500" dirty="0">
                <a:latin typeface="Arial" panose="020B0604020202020204" pitchFamily="34" charset="0"/>
              </a:rPr>
              <a:t>Since P(</a:t>
            </a:r>
            <a:r>
              <a:rPr lang="en-US" altLang="en-US" sz="1500" dirty="0" err="1">
                <a:latin typeface="Arial" panose="020B0604020202020204" pitchFamily="34" charset="0"/>
              </a:rPr>
              <a:t>X|No</a:t>
            </a:r>
            <a:r>
              <a:rPr lang="en-US" altLang="en-US" sz="1500" dirty="0">
                <a:latin typeface="Arial" panose="020B0604020202020204" pitchFamily="34" charset="0"/>
              </a:rPr>
              <a:t>)P(No) &gt; P(</a:t>
            </a:r>
            <a:r>
              <a:rPr lang="en-US" altLang="en-US" sz="1500" dirty="0" err="1">
                <a:latin typeface="Arial" panose="020B0604020202020204" pitchFamily="34" charset="0"/>
              </a:rPr>
              <a:t>X|Yes</a:t>
            </a:r>
            <a:r>
              <a:rPr lang="en-US" altLang="en-US" sz="1500" dirty="0">
                <a:latin typeface="Arial" panose="020B0604020202020204" pitchFamily="34" charset="0"/>
              </a:rPr>
              <a:t>)P(Yes)</a:t>
            </a:r>
          </a:p>
          <a:p>
            <a:pPr>
              <a:spcBef>
                <a:spcPct val="10000"/>
              </a:spcBef>
              <a:spcAft>
                <a:spcPts val="300"/>
              </a:spcAft>
              <a:buClr>
                <a:srgbClr val="0C7B9C"/>
              </a:buClr>
              <a:buSzPct val="75000"/>
              <a:buNone/>
            </a:pPr>
            <a:r>
              <a:rPr lang="en-US" altLang="en-US" sz="1500" dirty="0">
                <a:latin typeface="Arial" panose="020B0604020202020204" pitchFamily="34" charset="0"/>
              </a:rPr>
              <a:t>Therefore P(</a:t>
            </a:r>
            <a:r>
              <a:rPr lang="en-US" altLang="en-US" sz="1500" dirty="0" err="1">
                <a:latin typeface="Arial" panose="020B0604020202020204" pitchFamily="34" charset="0"/>
              </a:rPr>
              <a:t>No|X</a:t>
            </a:r>
            <a:r>
              <a:rPr lang="en-US" altLang="en-US" sz="1500" dirty="0">
                <a:latin typeface="Arial" panose="020B0604020202020204" pitchFamily="34" charset="0"/>
              </a:rPr>
              <a:t>) &gt; P(</a:t>
            </a:r>
            <a:r>
              <a:rPr lang="en-US" altLang="en-US" sz="1500" dirty="0" err="1">
                <a:latin typeface="Arial" panose="020B0604020202020204" pitchFamily="34" charset="0"/>
              </a:rPr>
              <a:t>Yes|X</a:t>
            </a:r>
            <a:r>
              <a:rPr lang="en-US" altLang="en-US" sz="1500" dirty="0">
                <a:latin typeface="Arial" panose="020B0604020202020204" pitchFamily="34" charset="0"/>
              </a:rPr>
              <a:t>)</a:t>
            </a:r>
            <a:br>
              <a:rPr lang="en-US" altLang="en-US" sz="1500" dirty="0">
                <a:latin typeface="Arial" panose="020B0604020202020204" pitchFamily="34" charset="0"/>
              </a:rPr>
            </a:br>
            <a:r>
              <a:rPr lang="en-US" altLang="en-US" sz="1500" dirty="0">
                <a:latin typeface="Arial" panose="020B0604020202020204" pitchFamily="34" charset="0"/>
              </a:rPr>
              <a:t>      </a:t>
            </a:r>
            <a:r>
              <a:rPr lang="en-US" altLang="en-US" sz="1500" dirty="0">
                <a:latin typeface="Arial" panose="020B0604020202020204" pitchFamily="34" charset="0"/>
                <a:sym typeface="Symbol" panose="05050102010706020507" pitchFamily="18" charset="2"/>
              </a:rPr>
              <a:t>=&gt; Class = No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685800" y="847959"/>
            <a:ext cx="20574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0000"/>
                </a:solidFill>
                <a:latin typeface="Arial" panose="020B0604020202020204" pitchFamily="34" charset="0"/>
              </a:rPr>
              <a:t>Given a Test Record:</a:t>
            </a:r>
          </a:p>
        </p:txBody>
      </p:sp>
    </p:spTree>
    <p:extLst>
      <p:ext uri="{BB962C8B-B14F-4D97-AF65-F5344CB8AC3E}">
        <p14:creationId xmlns:p14="http://schemas.microsoft.com/office/powerpoint/2010/main" val="33222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57251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Naïve Bayes Classifier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467600" cy="4343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If one of the conditional probability is zero, then the entire expression becomes zero</a:t>
            </a:r>
          </a:p>
          <a:p>
            <a:pPr eaLnBrk="1" hangingPunct="1">
              <a:defRPr/>
            </a:pPr>
            <a:r>
              <a:rPr lang="en-US" dirty="0" smtClean="0"/>
              <a:t>Probability estimation: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 smtClean="0"/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1714500" y="3600451"/>
          <a:ext cx="3257550" cy="2027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3" name="Equation" r:id="rId3" imgW="2120900" imgH="1320800" progId="Equation.3">
                  <p:embed/>
                </p:oleObj>
              </mc:Choice>
              <mc:Fallback>
                <p:oleObj name="Equation" r:id="rId3" imgW="2120900" imgH="1320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3600451"/>
                        <a:ext cx="3257550" cy="2027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5657850" y="3543301"/>
            <a:ext cx="20574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500">
                <a:latin typeface="Times New Roman" panose="02020603050405020304" pitchFamily="18" charset="0"/>
              </a:rPr>
              <a:t>c: number of classes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500">
                <a:latin typeface="Times New Roman" panose="02020603050405020304" pitchFamily="18" charset="0"/>
              </a:rPr>
              <a:t>p: prior probability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500">
                <a:latin typeface="Times New Roman" panose="02020603050405020304" pitchFamily="18" charset="0"/>
              </a:rPr>
              <a:t>m: parameter</a:t>
            </a:r>
          </a:p>
        </p:txBody>
      </p:sp>
    </p:spTree>
    <p:extLst>
      <p:ext uri="{BB962C8B-B14F-4D97-AF65-F5344CB8AC3E}">
        <p14:creationId xmlns:p14="http://schemas.microsoft.com/office/powerpoint/2010/main" val="235486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76200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Example of Naïve Bayes Classifier</a:t>
            </a: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076543"/>
              </p:ext>
            </p:extLst>
          </p:nvPr>
        </p:nvGraphicFramePr>
        <p:xfrm>
          <a:off x="120520" y="1295400"/>
          <a:ext cx="5022980" cy="361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7" name="Worksheet" r:id="rId3" imgW="6401181" imgH="4782109" progId="Excel.Sheet.8">
                  <p:embed/>
                </p:oleObj>
              </mc:Choice>
              <mc:Fallback>
                <p:oleObj name="Worksheet" r:id="rId3" imgW="6401181" imgH="4782109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20" y="1295400"/>
                        <a:ext cx="5022980" cy="361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1314451" y="5429250"/>
          <a:ext cx="3864769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8" name="Worksheet" r:id="rId5" imgW="5153406" imgH="438506" progId="Excel.Sheet.8">
                  <p:embed/>
                </p:oleObj>
              </mc:Choice>
              <mc:Fallback>
                <p:oleObj name="Worksheet" r:id="rId5" imgW="5153406" imgH="438506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1" y="5429250"/>
                        <a:ext cx="3864769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5258991" y="2743200"/>
          <a:ext cx="2742009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9" name="Equation" r:id="rId7" imgW="4457700" imgH="3149600" progId="Equation.3">
                  <p:embed/>
                </p:oleObj>
              </mc:Choice>
              <mc:Fallback>
                <p:oleObj name="Equation" r:id="rId7" imgW="4457700" imgH="314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8991" y="2743200"/>
                        <a:ext cx="2742009" cy="193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5543550" y="1828801"/>
            <a:ext cx="20574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A: attributes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M: mammals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N: non-mammals</a:t>
            </a: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5486400" y="5029200"/>
            <a:ext cx="2057400" cy="496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P(A|M)P(M) &gt; P(A|N)P(N)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050" b="1">
                <a:latin typeface="Arial" panose="020B0604020202020204" pitchFamily="34" charset="0"/>
              </a:rPr>
              <a:t>=&gt; Mammals</a:t>
            </a:r>
          </a:p>
        </p:txBody>
      </p:sp>
    </p:spTree>
    <p:extLst>
      <p:ext uri="{BB962C8B-B14F-4D97-AF65-F5344CB8AC3E}">
        <p14:creationId xmlns:p14="http://schemas.microsoft.com/office/powerpoint/2010/main" val="356817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1028700"/>
            <a:ext cx="6686550" cy="578644"/>
          </a:xfrm>
        </p:spPr>
        <p:txBody>
          <a:bodyPr vert="horz" lIns="69056" tIns="34529" rIns="69056" bIns="34529" rtlCol="0" anchor="b" anchorCtr="0">
            <a:normAutofit/>
          </a:bodyPr>
          <a:lstStyle/>
          <a:p>
            <a:pPr eaLnBrk="1" hangingPunct="1">
              <a:defRPr/>
            </a:pPr>
            <a:r>
              <a:rPr lang="en-US" smtClean="0"/>
              <a:t>Naïve Bayesian Classification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57175" y="1657350"/>
            <a:ext cx="1485900" cy="392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100" b="1">
                <a:solidFill>
                  <a:srgbClr val="000066"/>
                </a:solidFill>
              </a:rPr>
              <a:t>Example</a:t>
            </a:r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885825" y="2228850"/>
            <a:ext cx="5735241" cy="3411141"/>
            <a:chOff x="655" y="1382"/>
            <a:chExt cx="4817" cy="2865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4351" y="4057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3429" y="4057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502" y="4057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581" y="4057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656" y="4057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4351" y="3866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3429" y="3866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2502" y="3866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1581" y="3866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HIGH</a:t>
              </a: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656" y="3866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31….40</a:t>
              </a: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4351" y="3675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3429" y="3675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2502" y="3675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1581" y="3675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656" y="3675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31….40</a:t>
              </a:r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4351" y="3484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3429" y="3484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2502" y="3484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23" name="Rectangle 24"/>
            <p:cNvSpPr>
              <a:spLocks noChangeArrowheads="1"/>
            </p:cNvSpPr>
            <p:nvPr/>
          </p:nvSpPr>
          <p:spPr bwMode="auto">
            <a:xfrm>
              <a:off x="1581" y="3484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656" y="3484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4351" y="3293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3429" y="3293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2502" y="3293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1581" y="3293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656" y="3293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4351" y="3102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429" y="3102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2502" y="3102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581" y="3102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LOW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656" y="3102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4351" y="2911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3429" y="2911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502" y="2911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1581" y="2911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656" y="2911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4351" y="2720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3429" y="2720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2502" y="2720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1581" y="2720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LOW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656" y="2720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31…..40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4351" y="2529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3429" y="2529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2502" y="2529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1581" y="2529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LOW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656" y="2529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4351" y="2338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3429" y="2338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2502" y="2338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1581" y="2338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LOW</a:t>
              </a:r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656" y="2338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4351" y="2147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3429" y="2147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2502" y="2147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1581" y="2147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MEDIUM</a:t>
              </a: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656" y="2147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&gt;40</a:t>
              </a:r>
            </a:p>
          </p:txBody>
        </p:sp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4351" y="1956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61" name="Rectangle 62"/>
            <p:cNvSpPr>
              <a:spLocks noChangeArrowheads="1"/>
            </p:cNvSpPr>
            <p:nvPr/>
          </p:nvSpPr>
          <p:spPr bwMode="auto">
            <a:xfrm>
              <a:off x="3429" y="1956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2502" y="1956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>
              <a:off x="1581" y="1956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 dirty="0">
                  <a:solidFill>
                    <a:srgbClr val="000000"/>
                  </a:solidFill>
                </a:rPr>
                <a:t>HIGH</a:t>
              </a:r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656" y="1956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31…..40</a:t>
              </a:r>
            </a:p>
          </p:txBody>
        </p:sp>
        <p:sp>
          <p:nvSpPr>
            <p:cNvPr id="65" name="Rectangle 66"/>
            <p:cNvSpPr>
              <a:spLocks noChangeArrowheads="1"/>
            </p:cNvSpPr>
            <p:nvPr/>
          </p:nvSpPr>
          <p:spPr bwMode="auto">
            <a:xfrm>
              <a:off x="4351" y="1765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66" name="Rectangle 67"/>
            <p:cNvSpPr>
              <a:spLocks noChangeArrowheads="1"/>
            </p:cNvSpPr>
            <p:nvPr/>
          </p:nvSpPr>
          <p:spPr bwMode="auto">
            <a:xfrm>
              <a:off x="3429" y="1765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EXCELLENT</a:t>
              </a:r>
            </a:p>
          </p:txBody>
        </p:sp>
        <p:sp>
          <p:nvSpPr>
            <p:cNvPr id="67" name="Rectangle 68"/>
            <p:cNvSpPr>
              <a:spLocks noChangeArrowheads="1"/>
            </p:cNvSpPr>
            <p:nvPr/>
          </p:nvSpPr>
          <p:spPr bwMode="auto">
            <a:xfrm>
              <a:off x="2502" y="1765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68" name="Rectangle 69"/>
            <p:cNvSpPr>
              <a:spLocks noChangeArrowheads="1"/>
            </p:cNvSpPr>
            <p:nvPr/>
          </p:nvSpPr>
          <p:spPr bwMode="auto">
            <a:xfrm>
              <a:off x="1581" y="1765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HIGH</a:t>
              </a:r>
            </a:p>
          </p:txBody>
        </p:sp>
        <p:sp>
          <p:nvSpPr>
            <p:cNvPr id="69" name="Rectangle 70"/>
            <p:cNvSpPr>
              <a:spLocks noChangeArrowheads="1"/>
            </p:cNvSpPr>
            <p:nvPr/>
          </p:nvSpPr>
          <p:spPr bwMode="auto">
            <a:xfrm>
              <a:off x="656" y="1765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70" name="Rectangle 71"/>
            <p:cNvSpPr>
              <a:spLocks noChangeArrowheads="1"/>
            </p:cNvSpPr>
            <p:nvPr/>
          </p:nvSpPr>
          <p:spPr bwMode="auto">
            <a:xfrm>
              <a:off x="4351" y="1574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71" name="Rectangle 72"/>
            <p:cNvSpPr>
              <a:spLocks noChangeArrowheads="1"/>
            </p:cNvSpPr>
            <p:nvPr/>
          </p:nvSpPr>
          <p:spPr bwMode="auto">
            <a:xfrm>
              <a:off x="3429" y="1574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FAIR</a:t>
              </a:r>
            </a:p>
          </p:txBody>
        </p:sp>
        <p:sp>
          <p:nvSpPr>
            <p:cNvPr id="72" name="Rectangle 73"/>
            <p:cNvSpPr>
              <a:spLocks noChangeArrowheads="1"/>
            </p:cNvSpPr>
            <p:nvPr/>
          </p:nvSpPr>
          <p:spPr bwMode="auto">
            <a:xfrm>
              <a:off x="2502" y="1574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N</a:t>
              </a:r>
            </a:p>
          </p:txBody>
        </p:sp>
        <p:sp>
          <p:nvSpPr>
            <p:cNvPr id="73" name="Rectangle 74"/>
            <p:cNvSpPr>
              <a:spLocks noChangeArrowheads="1"/>
            </p:cNvSpPr>
            <p:nvPr/>
          </p:nvSpPr>
          <p:spPr bwMode="auto">
            <a:xfrm>
              <a:off x="1581" y="1574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HIGH</a:t>
              </a:r>
            </a:p>
          </p:txBody>
        </p:sp>
        <p:sp>
          <p:nvSpPr>
            <p:cNvPr id="74" name="Rectangle 75"/>
            <p:cNvSpPr>
              <a:spLocks noChangeArrowheads="1"/>
            </p:cNvSpPr>
            <p:nvPr/>
          </p:nvSpPr>
          <p:spPr bwMode="auto">
            <a:xfrm>
              <a:off x="656" y="1574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&lt;=30</a:t>
              </a:r>
            </a:p>
          </p:txBody>
        </p:sp>
        <p:sp>
          <p:nvSpPr>
            <p:cNvPr id="75" name="Rectangle 76"/>
            <p:cNvSpPr>
              <a:spLocks noChangeArrowheads="1"/>
            </p:cNvSpPr>
            <p:nvPr/>
          </p:nvSpPr>
          <p:spPr bwMode="auto">
            <a:xfrm>
              <a:off x="4351" y="1383"/>
              <a:ext cx="11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Class:Buys_comp</a:t>
              </a:r>
            </a:p>
          </p:txBody>
        </p:sp>
        <p:sp>
          <p:nvSpPr>
            <p:cNvPr id="76" name="Rectangle 77"/>
            <p:cNvSpPr>
              <a:spLocks noChangeArrowheads="1"/>
            </p:cNvSpPr>
            <p:nvPr/>
          </p:nvSpPr>
          <p:spPr bwMode="auto">
            <a:xfrm>
              <a:off x="3429" y="1383"/>
              <a:ext cx="920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Credit_rating</a:t>
              </a:r>
            </a:p>
          </p:txBody>
        </p:sp>
        <p:sp>
          <p:nvSpPr>
            <p:cNvPr id="77" name="Rectangle 78"/>
            <p:cNvSpPr>
              <a:spLocks noChangeArrowheads="1"/>
            </p:cNvSpPr>
            <p:nvPr/>
          </p:nvSpPr>
          <p:spPr bwMode="auto">
            <a:xfrm>
              <a:off x="2502" y="1383"/>
              <a:ext cx="925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Student</a:t>
              </a:r>
            </a:p>
          </p:txBody>
        </p:sp>
        <p:sp>
          <p:nvSpPr>
            <p:cNvPr id="78" name="Rectangle 79"/>
            <p:cNvSpPr>
              <a:spLocks noChangeArrowheads="1"/>
            </p:cNvSpPr>
            <p:nvPr/>
          </p:nvSpPr>
          <p:spPr bwMode="auto">
            <a:xfrm>
              <a:off x="1581" y="1383"/>
              <a:ext cx="919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Income</a:t>
              </a:r>
            </a:p>
          </p:txBody>
        </p:sp>
        <p:sp>
          <p:nvSpPr>
            <p:cNvPr id="79" name="Rectangle 80"/>
            <p:cNvSpPr>
              <a:spLocks noChangeArrowheads="1"/>
            </p:cNvSpPr>
            <p:nvPr/>
          </p:nvSpPr>
          <p:spPr bwMode="auto">
            <a:xfrm>
              <a:off x="656" y="1383"/>
              <a:ext cx="923" cy="18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9056" tIns="34529" rIns="69056" bIns="34529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en-US" sz="1050" b="1">
                  <a:solidFill>
                    <a:srgbClr val="000000"/>
                  </a:solidFill>
                </a:rPr>
                <a:t>Age</a:t>
              </a:r>
            </a:p>
          </p:txBody>
        </p:sp>
        <p:sp>
          <p:nvSpPr>
            <p:cNvPr id="80" name="Line 81"/>
            <p:cNvSpPr>
              <a:spLocks noChangeShapeType="1"/>
            </p:cNvSpPr>
            <p:nvPr/>
          </p:nvSpPr>
          <p:spPr bwMode="auto">
            <a:xfrm>
              <a:off x="655" y="1382"/>
              <a:ext cx="481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82"/>
            <p:cNvSpPr>
              <a:spLocks noChangeShapeType="1"/>
            </p:cNvSpPr>
            <p:nvPr/>
          </p:nvSpPr>
          <p:spPr bwMode="auto">
            <a:xfrm>
              <a:off x="655" y="1573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83"/>
            <p:cNvSpPr>
              <a:spLocks noChangeShapeType="1"/>
            </p:cNvSpPr>
            <p:nvPr/>
          </p:nvSpPr>
          <p:spPr bwMode="auto">
            <a:xfrm>
              <a:off x="655" y="1764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84"/>
            <p:cNvSpPr>
              <a:spLocks noChangeShapeType="1"/>
            </p:cNvSpPr>
            <p:nvPr/>
          </p:nvSpPr>
          <p:spPr bwMode="auto">
            <a:xfrm>
              <a:off x="655" y="1955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85"/>
            <p:cNvSpPr>
              <a:spLocks noChangeShapeType="1"/>
            </p:cNvSpPr>
            <p:nvPr/>
          </p:nvSpPr>
          <p:spPr bwMode="auto">
            <a:xfrm>
              <a:off x="655" y="2146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86"/>
            <p:cNvSpPr>
              <a:spLocks noChangeShapeType="1"/>
            </p:cNvSpPr>
            <p:nvPr/>
          </p:nvSpPr>
          <p:spPr bwMode="auto">
            <a:xfrm>
              <a:off x="655" y="2337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87"/>
            <p:cNvSpPr>
              <a:spLocks noChangeShapeType="1"/>
            </p:cNvSpPr>
            <p:nvPr/>
          </p:nvSpPr>
          <p:spPr bwMode="auto">
            <a:xfrm>
              <a:off x="655" y="2528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88"/>
            <p:cNvSpPr>
              <a:spLocks noChangeShapeType="1"/>
            </p:cNvSpPr>
            <p:nvPr/>
          </p:nvSpPr>
          <p:spPr bwMode="auto">
            <a:xfrm>
              <a:off x="655" y="2719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89"/>
            <p:cNvSpPr>
              <a:spLocks noChangeShapeType="1"/>
            </p:cNvSpPr>
            <p:nvPr/>
          </p:nvSpPr>
          <p:spPr bwMode="auto">
            <a:xfrm>
              <a:off x="655" y="2910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90"/>
            <p:cNvSpPr>
              <a:spLocks noChangeShapeType="1"/>
            </p:cNvSpPr>
            <p:nvPr/>
          </p:nvSpPr>
          <p:spPr bwMode="auto">
            <a:xfrm>
              <a:off x="655" y="3101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91"/>
            <p:cNvSpPr>
              <a:spLocks noChangeShapeType="1"/>
            </p:cNvSpPr>
            <p:nvPr/>
          </p:nvSpPr>
          <p:spPr bwMode="auto">
            <a:xfrm>
              <a:off x="655" y="3292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92"/>
            <p:cNvSpPr>
              <a:spLocks noChangeShapeType="1"/>
            </p:cNvSpPr>
            <p:nvPr/>
          </p:nvSpPr>
          <p:spPr bwMode="auto">
            <a:xfrm>
              <a:off x="655" y="3483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93"/>
            <p:cNvSpPr>
              <a:spLocks noChangeShapeType="1"/>
            </p:cNvSpPr>
            <p:nvPr/>
          </p:nvSpPr>
          <p:spPr bwMode="auto">
            <a:xfrm>
              <a:off x="655" y="3674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94"/>
            <p:cNvSpPr>
              <a:spLocks noChangeShapeType="1"/>
            </p:cNvSpPr>
            <p:nvPr/>
          </p:nvSpPr>
          <p:spPr bwMode="auto">
            <a:xfrm>
              <a:off x="655" y="3865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95"/>
            <p:cNvSpPr>
              <a:spLocks noChangeShapeType="1"/>
            </p:cNvSpPr>
            <p:nvPr/>
          </p:nvSpPr>
          <p:spPr bwMode="auto">
            <a:xfrm>
              <a:off x="655" y="4056"/>
              <a:ext cx="4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96"/>
            <p:cNvSpPr>
              <a:spLocks noChangeShapeType="1"/>
            </p:cNvSpPr>
            <p:nvPr/>
          </p:nvSpPr>
          <p:spPr bwMode="auto">
            <a:xfrm>
              <a:off x="655" y="4247"/>
              <a:ext cx="481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97"/>
            <p:cNvSpPr>
              <a:spLocks noChangeShapeType="1"/>
            </p:cNvSpPr>
            <p:nvPr/>
          </p:nvSpPr>
          <p:spPr bwMode="auto">
            <a:xfrm>
              <a:off x="655" y="1382"/>
              <a:ext cx="0" cy="286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98"/>
            <p:cNvSpPr>
              <a:spLocks noChangeShapeType="1"/>
            </p:cNvSpPr>
            <p:nvPr/>
          </p:nvSpPr>
          <p:spPr bwMode="auto">
            <a:xfrm>
              <a:off x="1580" y="1382"/>
              <a:ext cx="0" cy="28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99"/>
            <p:cNvSpPr>
              <a:spLocks noChangeShapeType="1"/>
            </p:cNvSpPr>
            <p:nvPr/>
          </p:nvSpPr>
          <p:spPr bwMode="auto">
            <a:xfrm>
              <a:off x="2501" y="1382"/>
              <a:ext cx="0" cy="28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100"/>
            <p:cNvSpPr>
              <a:spLocks noChangeShapeType="1"/>
            </p:cNvSpPr>
            <p:nvPr/>
          </p:nvSpPr>
          <p:spPr bwMode="auto">
            <a:xfrm>
              <a:off x="3428" y="1382"/>
              <a:ext cx="0" cy="28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101"/>
            <p:cNvSpPr>
              <a:spLocks noChangeShapeType="1"/>
            </p:cNvSpPr>
            <p:nvPr/>
          </p:nvSpPr>
          <p:spPr bwMode="auto">
            <a:xfrm>
              <a:off x="4350" y="1382"/>
              <a:ext cx="0" cy="286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102"/>
            <p:cNvSpPr>
              <a:spLocks noChangeShapeType="1"/>
            </p:cNvSpPr>
            <p:nvPr/>
          </p:nvSpPr>
          <p:spPr bwMode="auto">
            <a:xfrm>
              <a:off x="5472" y="2719"/>
              <a:ext cx="0" cy="19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103"/>
            <p:cNvSpPr>
              <a:spLocks noChangeShapeType="1"/>
            </p:cNvSpPr>
            <p:nvPr/>
          </p:nvSpPr>
          <p:spPr bwMode="auto">
            <a:xfrm>
              <a:off x="5472" y="1382"/>
              <a:ext cx="0" cy="13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104"/>
            <p:cNvSpPr>
              <a:spLocks noChangeShapeType="1"/>
            </p:cNvSpPr>
            <p:nvPr/>
          </p:nvSpPr>
          <p:spPr bwMode="auto">
            <a:xfrm>
              <a:off x="5472" y="2910"/>
              <a:ext cx="0" cy="13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9888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" y="1085850"/>
            <a:ext cx="6457950" cy="521494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Naïve Bayesian Classification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00050" y="1943101"/>
            <a:ext cx="5657850" cy="3716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100" b="1" dirty="0">
                <a:solidFill>
                  <a:srgbClr val="000066"/>
                </a:solidFill>
              </a:rPr>
              <a:t>Example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</a:rPr>
              <a:t>A= (&lt;=30,MEDIUM, Y,FAIR, ???)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We need to max.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A|C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j</a:t>
            </a:r>
            <a:r>
              <a:rPr lang="en-US" altLang="en-US" sz="1800" dirty="0">
                <a:solidFill>
                  <a:srgbClr val="000000"/>
                </a:solidFill>
              </a:rPr>
              <a:t>)P(</a:t>
            </a:r>
            <a:r>
              <a:rPr lang="en-US" altLang="en-US" sz="1800" dirty="0" err="1">
                <a:solidFill>
                  <a:srgbClr val="000000"/>
                </a:solidFill>
              </a:rPr>
              <a:t>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j</a:t>
            </a:r>
            <a:r>
              <a:rPr lang="en-US" altLang="en-US" sz="1800" dirty="0">
                <a:solidFill>
                  <a:srgbClr val="000000"/>
                </a:solidFill>
              </a:rPr>
              <a:t>)  for j =1,2.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j</a:t>
            </a:r>
            <a:r>
              <a:rPr lang="en-US" altLang="en-US" sz="1800" dirty="0">
                <a:solidFill>
                  <a:srgbClr val="000000"/>
                </a:solidFill>
              </a:rPr>
              <a:t>) is computed from training sample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=Y) = 9/14 = 0.643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=N) = 5/14 = 0.357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How to calculate P(</a:t>
            </a:r>
            <a:r>
              <a:rPr lang="en-US" altLang="en-US" sz="1800" dirty="0" err="1">
                <a:solidFill>
                  <a:srgbClr val="000000"/>
                </a:solidFill>
              </a:rPr>
              <a:t>X|C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i</a:t>
            </a:r>
            <a:r>
              <a:rPr lang="en-US" altLang="en-US" sz="1800" dirty="0">
                <a:solidFill>
                  <a:srgbClr val="000000"/>
                </a:solidFill>
              </a:rPr>
              <a:t>)P(C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i</a:t>
            </a:r>
            <a:r>
              <a:rPr lang="en-US" altLang="en-US" sz="1800" dirty="0">
                <a:solidFill>
                  <a:srgbClr val="000000"/>
                </a:solidFill>
              </a:rPr>
              <a:t>)  for </a:t>
            </a:r>
            <a:r>
              <a:rPr lang="en-US" altLang="en-US" sz="1800" dirty="0" err="1">
                <a:solidFill>
                  <a:srgbClr val="000000"/>
                </a:solidFill>
              </a:rPr>
              <a:t>i</a:t>
            </a:r>
            <a:r>
              <a:rPr lang="en-US" altLang="en-US" sz="1800" dirty="0">
                <a:solidFill>
                  <a:srgbClr val="000000"/>
                </a:solidFill>
              </a:rPr>
              <a:t>=1,2?</a:t>
            </a:r>
          </a:p>
          <a:p>
            <a:pPr algn="ctr"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A|C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j</a:t>
            </a:r>
            <a:r>
              <a:rPr lang="en-US" altLang="en-US" sz="1800" dirty="0">
                <a:solidFill>
                  <a:srgbClr val="000000"/>
                </a:solidFill>
              </a:rPr>
              <a:t>) P(A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1</a:t>
            </a:r>
            <a:r>
              <a:rPr lang="en-US" altLang="en-US" sz="1800" dirty="0">
                <a:solidFill>
                  <a:srgbClr val="000000"/>
                </a:solidFill>
              </a:rPr>
              <a:t>, A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2</a:t>
            </a:r>
            <a:r>
              <a:rPr lang="en-US" altLang="en-US" sz="1800" dirty="0">
                <a:solidFill>
                  <a:srgbClr val="000000"/>
                </a:solidFill>
              </a:rPr>
              <a:t>, A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3</a:t>
            </a:r>
            <a:r>
              <a:rPr lang="en-US" altLang="en-US" sz="1800" dirty="0">
                <a:solidFill>
                  <a:srgbClr val="000000"/>
                </a:solidFill>
              </a:rPr>
              <a:t>, A</a:t>
            </a:r>
            <a:r>
              <a:rPr lang="en-US" altLang="en-US" sz="1800" baseline="-25000" dirty="0">
                <a:solidFill>
                  <a:srgbClr val="000000"/>
                </a:solidFill>
              </a:rPr>
              <a:t>4</a:t>
            </a:r>
            <a:r>
              <a:rPr lang="en-US" altLang="en-US" sz="1800" dirty="0">
                <a:solidFill>
                  <a:srgbClr val="000000"/>
                </a:solidFill>
              </a:rPr>
              <a:t>|C) = </a:t>
            </a:r>
            <a:r>
              <a:rPr lang="en-US" altLang="en-US" sz="1800" dirty="0">
                <a:solidFill>
                  <a:srgbClr val="000000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A</a:t>
            </a:r>
            <a:r>
              <a:rPr lang="en-US" altLang="en-US" sz="1800" baseline="-25000" dirty="0" err="1">
                <a:solidFill>
                  <a:srgbClr val="000000"/>
                </a:solidFill>
              </a:rPr>
              <a:t>k</a:t>
            </a:r>
            <a:r>
              <a:rPr lang="en-US" altLang="en-US" sz="1800" dirty="0" err="1">
                <a:solidFill>
                  <a:srgbClr val="000000"/>
                </a:solidFill>
              </a:rPr>
              <a:t>|C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  <a:endParaRPr lang="en-US" altLang="en-US" sz="1800" dirty="0">
              <a:solidFill>
                <a:schemeClr val="folHlink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chemeClr val="folHlink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204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28700"/>
            <a:ext cx="6457950" cy="578644"/>
          </a:xfrm>
        </p:spPr>
        <p:txBody>
          <a:bodyPr vert="horz" lIns="69056" tIns="34529" rIns="69056" bIns="34529" rtlCol="0" anchor="b" anchorCtr="0">
            <a:normAutofit/>
          </a:bodyPr>
          <a:lstStyle/>
          <a:p>
            <a:pPr eaLnBrk="1" hangingPunct="1">
              <a:defRPr/>
            </a:pPr>
            <a:r>
              <a:rPr lang="en-US" smtClean="0"/>
              <a:t>Naïve Bayesian Classification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85750" y="2057400"/>
            <a:ext cx="6572250" cy="3384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100" b="1" dirty="0">
                <a:solidFill>
                  <a:srgbClr val="000066"/>
                </a:solidFill>
              </a:rPr>
              <a:t>Example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P(age</a:t>
            </a:r>
            <a:r>
              <a:rPr lang="en-US" altLang="en-US" sz="1800" b="1" dirty="0">
                <a:solidFill>
                  <a:srgbClr val="000000"/>
                </a:solidFill>
              </a:rPr>
              <a:t>&lt;=30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)=2/9=0.222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P(age</a:t>
            </a:r>
            <a:r>
              <a:rPr lang="en-US" altLang="en-US" sz="1800" b="1" dirty="0">
                <a:solidFill>
                  <a:srgbClr val="000000"/>
                </a:solidFill>
              </a:rPr>
              <a:t>&lt;=30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)=3/5=0.600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P(income=</a:t>
            </a:r>
            <a:r>
              <a:rPr lang="en-US" altLang="en-US" sz="1800" b="1" dirty="0">
                <a:solidFill>
                  <a:srgbClr val="000000"/>
                </a:solidFill>
              </a:rPr>
              <a:t>medium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)=4/9=0.444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P(income=</a:t>
            </a:r>
            <a:r>
              <a:rPr lang="en-US" altLang="en-US" sz="1800" b="1" dirty="0">
                <a:solidFill>
                  <a:srgbClr val="000000"/>
                </a:solidFill>
              </a:rPr>
              <a:t>medium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)=2/5=0.400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P(student=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)=6/9=0.667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P(student=</a:t>
            </a:r>
            <a:r>
              <a:rPr lang="en-US" altLang="en-US" sz="1800" b="1" dirty="0">
                <a:solidFill>
                  <a:srgbClr val="000000"/>
                </a:solidFill>
              </a:rPr>
              <a:t>Y </a:t>
            </a:r>
            <a:r>
              <a:rPr lang="en-US" altLang="en-US" sz="1800" dirty="0">
                <a:solidFill>
                  <a:srgbClr val="000000"/>
                </a:solidFill>
              </a:rPr>
              <a:t>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)=1/5=0.200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credit_rating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FAIR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)=6/9=0.667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</a:t>
            </a:r>
            <a:r>
              <a:rPr lang="en-US" altLang="en-US" sz="1800" dirty="0" err="1">
                <a:solidFill>
                  <a:srgbClr val="000000"/>
                </a:solidFill>
              </a:rPr>
              <a:t>credit_rating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FAIR</a:t>
            </a:r>
            <a:r>
              <a:rPr lang="en-US" altLang="en-US" sz="1800" dirty="0">
                <a:solidFill>
                  <a:srgbClr val="000000"/>
                </a:solidFill>
              </a:rPr>
              <a:t>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)=2/5=0.400</a:t>
            </a: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962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85850"/>
            <a:ext cx="6515100" cy="578644"/>
          </a:xfrm>
        </p:spPr>
        <p:txBody>
          <a:bodyPr vert="horz" lIns="69056" tIns="34529" rIns="69056" bIns="34529" rtlCol="0" anchor="b" anchorCtr="0">
            <a:normAutofit/>
          </a:bodyPr>
          <a:lstStyle/>
          <a:p>
            <a:pPr eaLnBrk="1" hangingPunct="1">
              <a:defRPr/>
            </a:pPr>
            <a:r>
              <a:rPr lang="en-US" smtClean="0"/>
              <a:t>Naïve Bayesian Classification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14300" y="2228851"/>
            <a:ext cx="6743700" cy="2719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100" b="1" dirty="0">
                <a:solidFill>
                  <a:srgbClr val="000066"/>
                </a:solidFill>
              </a:rPr>
              <a:t>Example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P(X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Y</a:t>
            </a:r>
            <a:r>
              <a:rPr lang="en-US" altLang="en-US" sz="1800" dirty="0">
                <a:solidFill>
                  <a:srgbClr val="000000"/>
                </a:solidFill>
              </a:rPr>
              <a:t>)=0.222*0.444*0.667*0.667=0.044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P(X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</a:t>
            </a:r>
            <a:r>
              <a:rPr lang="en-US" altLang="en-US" sz="1800" b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)=0.600*0.400*0.200*0.400=0.019</a:t>
            </a: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P(X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=Y)P(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=Y) = 0.044*0.643=0.028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P(X | 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=N)P(</a:t>
            </a:r>
            <a:r>
              <a:rPr lang="en-US" altLang="en-US" sz="1800" dirty="0" err="1">
                <a:solidFill>
                  <a:srgbClr val="000000"/>
                </a:solidFill>
              </a:rPr>
              <a:t>buys_comp</a:t>
            </a:r>
            <a:r>
              <a:rPr lang="en-US" altLang="en-US" sz="1800" dirty="0">
                <a:solidFill>
                  <a:srgbClr val="000000"/>
                </a:solidFill>
              </a:rPr>
              <a:t>=N) = 0.019*0.357=0.007</a:t>
            </a:r>
          </a:p>
          <a:p>
            <a:pPr eaLnBrk="1" hangingPunct="1">
              <a:buClrTx/>
              <a:buSzTx/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CONCLUSION: </a:t>
            </a:r>
            <a:r>
              <a:rPr lang="en-US" altLang="en-US" sz="1800" b="1" i="1" dirty="0">
                <a:solidFill>
                  <a:srgbClr val="FF3300"/>
                </a:solidFill>
              </a:rPr>
              <a:t>A buys computer</a:t>
            </a:r>
          </a:p>
        </p:txBody>
      </p:sp>
    </p:spTree>
    <p:extLst>
      <p:ext uri="{BB962C8B-B14F-4D97-AF65-F5344CB8AC3E}">
        <p14:creationId xmlns:p14="http://schemas.microsoft.com/office/powerpoint/2010/main" val="38748218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57251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Naïve Bayes (Summary)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609725"/>
            <a:ext cx="7210425" cy="41624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Robust to isolated noise points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Handle missing values by ignoring the instance during probability estimate calculations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Robust to irrelevant attributes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Independence assumption may not hold for some attributes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Use other techniques such as Bayesian Belief Networks (BBN)</a:t>
            </a:r>
          </a:p>
        </p:txBody>
      </p:sp>
    </p:spTree>
    <p:extLst>
      <p:ext uri="{BB962C8B-B14F-4D97-AF65-F5344CB8AC3E}">
        <p14:creationId xmlns:p14="http://schemas.microsoft.com/office/powerpoint/2010/main" val="1572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6841</TotalTime>
  <Words>1925</Words>
  <Application>Microsoft Office PowerPoint</Application>
  <PresentationFormat>On-screen Show (4:3)</PresentationFormat>
  <Paragraphs>439</Paragraphs>
  <Slides>47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Arial</vt:lpstr>
      <vt:lpstr>Calibri</vt:lpstr>
      <vt:lpstr>Monotype Sorts</vt:lpstr>
      <vt:lpstr>Symbol</vt:lpstr>
      <vt:lpstr>Tahoma</vt:lpstr>
      <vt:lpstr>Times New Roman</vt:lpstr>
      <vt:lpstr>Wingdings</vt:lpstr>
      <vt:lpstr>Blank</vt:lpstr>
      <vt:lpstr>Visio</vt:lpstr>
      <vt:lpstr>Worksheet</vt:lpstr>
      <vt:lpstr>VISIO</vt:lpstr>
      <vt:lpstr>Equation</vt:lpstr>
      <vt:lpstr>Classification</vt:lpstr>
      <vt:lpstr>Instance Elimination</vt:lpstr>
      <vt:lpstr>Stopping Criterion and Rule Pruning</vt:lpstr>
      <vt:lpstr>PowerPoint Presentation</vt:lpstr>
      <vt:lpstr>PowerPoint Presentation</vt:lpstr>
      <vt:lpstr>Direct Method: RIPPER</vt:lpstr>
      <vt:lpstr>Direct Method: RIPPER</vt:lpstr>
      <vt:lpstr>Summary of Direct Method</vt:lpstr>
      <vt:lpstr>Indirect Method: C4.5rules</vt:lpstr>
      <vt:lpstr>PowerPoint Presentation</vt:lpstr>
      <vt:lpstr>Indirect Method: C4.5rules</vt:lpstr>
      <vt:lpstr>Indirect Method: C4.5rules</vt:lpstr>
      <vt:lpstr>Example</vt:lpstr>
      <vt:lpstr>C4.5 rules versus RIPPER</vt:lpstr>
      <vt:lpstr>C4.5rules versus RIPPER</vt:lpstr>
      <vt:lpstr>Advantages of Rule-Based Classifiers</vt:lpstr>
      <vt:lpstr>Classification</vt:lpstr>
      <vt:lpstr>PowerPoint Presentation</vt:lpstr>
      <vt:lpstr>Bayesian Classification</vt:lpstr>
      <vt:lpstr>Bayes Theorem</vt:lpstr>
      <vt:lpstr>PowerPoint Presentation</vt:lpstr>
      <vt:lpstr>PowerPoint Presentation</vt:lpstr>
      <vt:lpstr>Estimating Probabilities</vt:lpstr>
      <vt:lpstr>Bayesian Classifiers</vt:lpstr>
      <vt:lpstr>Application</vt:lpstr>
      <vt:lpstr>The Bayes Classifier</vt:lpstr>
      <vt:lpstr>The Bayes Classifier</vt:lpstr>
      <vt:lpstr>The Bayes Classifier</vt:lpstr>
      <vt:lpstr>Model Parameters</vt:lpstr>
      <vt:lpstr>Model Parameters</vt:lpstr>
      <vt:lpstr>Model Parameters</vt:lpstr>
      <vt:lpstr>The Naïve Bayes Model</vt:lpstr>
      <vt:lpstr>Why is this useful?</vt:lpstr>
      <vt:lpstr>Naïve Bayesian Classification</vt:lpstr>
      <vt:lpstr>Bayesian Classifiers</vt:lpstr>
      <vt:lpstr>Naïve Bayes Classifier</vt:lpstr>
      <vt:lpstr>How to Estimate Probabilities from Data?</vt:lpstr>
      <vt:lpstr>How to Estimate Probabilities from Data?</vt:lpstr>
      <vt:lpstr>How to Estimate Probabilities from Data?</vt:lpstr>
      <vt:lpstr>Example of Naïve Bayes Classifier</vt:lpstr>
      <vt:lpstr>Naïve Bayes Classifier</vt:lpstr>
      <vt:lpstr>Example of Naïve Bayes Classifier</vt:lpstr>
      <vt:lpstr>Naïve Bayesian Classification</vt:lpstr>
      <vt:lpstr>Naïve Bayesian Classification</vt:lpstr>
      <vt:lpstr>Naïve Bayesian Classification</vt:lpstr>
      <vt:lpstr>Naïve Bayesian Classification</vt:lpstr>
      <vt:lpstr>Naïve Bayes (Summary)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yash Sharma</cp:lastModifiedBy>
  <cp:revision>268</cp:revision>
  <cp:lastPrinted>1601-01-01T00:00:00Z</cp:lastPrinted>
  <dcterms:created xsi:type="dcterms:W3CDTF">1601-01-01T00:00:00Z</dcterms:created>
  <dcterms:modified xsi:type="dcterms:W3CDTF">2018-02-21T10:21:59Z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