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notesMasterIdLst>
    <p:notesMasterId r:id="rId45"/>
  </p:notesMasterIdLst>
  <p:handoutMasterIdLst>
    <p:handoutMasterId r:id="rId46"/>
  </p:handoutMasterIdLst>
  <p:sldIdLst>
    <p:sldId id="256" r:id="rId2"/>
    <p:sldId id="286" r:id="rId3"/>
    <p:sldId id="304" r:id="rId4"/>
    <p:sldId id="305" r:id="rId5"/>
    <p:sldId id="306" r:id="rId6"/>
    <p:sldId id="307" r:id="rId7"/>
    <p:sldId id="308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334" r:id="rId33"/>
    <p:sldId id="335" r:id="rId34"/>
    <p:sldId id="336" r:id="rId35"/>
    <p:sldId id="337" r:id="rId36"/>
    <p:sldId id="338" r:id="rId37"/>
    <p:sldId id="339" r:id="rId38"/>
    <p:sldId id="340" r:id="rId39"/>
    <p:sldId id="341" r:id="rId40"/>
    <p:sldId id="342" r:id="rId41"/>
    <p:sldId id="343" r:id="rId42"/>
    <p:sldId id="344" r:id="rId43"/>
    <p:sldId id="34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6187" autoAdjust="0"/>
  </p:normalViewPr>
  <p:slideViewPr>
    <p:cSldViewPr snapToGrid="0">
      <p:cViewPr varScale="1">
        <p:scale>
          <a:sx n="76" d="100"/>
          <a:sy n="76" d="100"/>
        </p:scale>
        <p:origin x="126" y="7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46CB8-2939-4328-A02D-99F3E6A6D046}" type="datetimeFigureOut">
              <a:rPr lang="en-US" smtClean="0"/>
              <a:t>15-Jan-18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BDEDA-E45B-4E72-A9D1-B2012FFB3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01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533B1-ABAD-4103-B8A0-D2B6277FAC4A}" type="datetimeFigureOut">
              <a:rPr lang="en-US" smtClean="0"/>
              <a:t>15-Jan-18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6DEC1-8E65-4C55-915F-73857AE24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6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1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44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9349A21-5E68-4B13-9857-E6EB7EDB4CE1}" type="slidenum">
              <a:rPr lang="en-US" altLang="en-US" smtClean="0">
                <a:latin typeface="Arial" panose="020B0604020202020204" pitchFamily="34" charset="0"/>
              </a:rPr>
              <a:pPr/>
              <a:t>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7350" y="687388"/>
            <a:ext cx="6091238" cy="3427412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886" tIns="44943" rIns="89886" bIns="4494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241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7799413-B36B-4309-894A-5171C3C9B4E2}" type="slidenum">
              <a:rPr lang="en-US" altLang="en-US" smtClean="0">
                <a:latin typeface="Arial" panose="020B0604020202020204" pitchFamily="34" charset="0"/>
              </a:rPr>
              <a:pPr/>
              <a:t>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91237" cy="3427412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894" tIns="44946" rIns="89894" bIns="44946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1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B660533-D0D8-49A9-977B-6789A8B9BBFF}" type="slidenum">
              <a:rPr lang="en-US" altLang="en-US" smtClean="0">
                <a:latin typeface="Arial" panose="020B0604020202020204" pitchFamily="34" charset="0"/>
              </a:rPr>
              <a:pPr/>
              <a:t>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91237" cy="3427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894" tIns="44946" rIns="89894" bIns="44946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64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67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61963" y="720725"/>
            <a:ext cx="6396037" cy="35988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59300"/>
            <a:ext cx="5365750" cy="43211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3099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6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423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61963" y="720725"/>
            <a:ext cx="6396037" cy="35988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22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59300"/>
            <a:ext cx="5365750" cy="43211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91746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8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3537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8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61824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6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7909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6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7192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7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73085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43260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7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27447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88357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8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6951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15006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8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26959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9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78513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BC9879-B6AE-4F5C-B693-7A22D1CBA368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256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1702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AB57CE-6418-4875-BE73-1EDACADDAF42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1744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D49612-0668-441F-AB0A-F8C2FEF5D167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258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33844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7DC2E7-96CD-4DCE-A85E-96C8B09B9935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6038" cy="3598863"/>
          </a:xfrm>
          <a:ln/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19587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72744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AAECB-88B6-42B1-A49C-40644B2B309B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25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01522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ACFCF1-CB51-4E72-9206-78E3501A2C49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260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136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04FE-F24E-43EF-8A12-6490B835D045}" type="datetime5">
              <a:rPr lang="en-US" smtClean="0"/>
              <a:t>15-Jan-18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3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F465A-C2E8-41D1-AEDC-CD362C421DD2}" type="datetime5">
              <a:rPr lang="en-US" smtClean="0"/>
              <a:t>15-Jan-18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36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2661-2D44-4F65-BA2F-22C9E7709B6C}" type="datetime5">
              <a:rPr lang="en-US" smtClean="0"/>
              <a:t>15-Jan-18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10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1F3E-789E-49BE-B955-6073698F7D3E}" type="datetime5">
              <a:rPr lang="en-US" smtClean="0"/>
              <a:t>15-Jan-18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6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B19F8-9C81-422D-8FA1-E4CBFA041265}" type="datetime5">
              <a:rPr lang="en-US" smtClean="0"/>
              <a:t>15-Jan-18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53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FBD8-005A-440F-B9CE-290ECB9B3336}" type="datetime5">
              <a:rPr lang="en-US" smtClean="0"/>
              <a:t>15-Jan-18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1AF6-FCBB-40F9-8F1C-67DF7A3FF201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0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AD604-102C-42BD-9AAF-064BC73A8289}" type="datetime5">
              <a:rPr lang="en-US" smtClean="0"/>
              <a:t>15-Jan-18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525E-E759-4305-B03F-B80164A5C229}" type="datetime5">
              <a:rPr lang="en-US" smtClean="0"/>
              <a:t>15-Jan-18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4063-5E7B-4B70-9E31-1958694D71C5}" type="datetime5">
              <a:rPr lang="en-US" smtClean="0"/>
              <a:t>15-Jan-18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0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2E10-9B6D-4994-BAB1-9D7B7E8AB9DD}" type="datetime5">
              <a:rPr lang="en-US" smtClean="0"/>
              <a:t>15-Jan-18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68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BC13E42D-4F16-4CEE-A797-DFC11F3807D6}" type="datetime5">
              <a:rPr lang="en-US" altLang="en-US" smtClean="0"/>
              <a:t>15-Jan-18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3C96CB27-727B-46C4-AFC8-CCCA064711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2801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75645612-057E-4896-A1D4-D26CA565FC09}" type="datetime5">
              <a:rPr lang="en-US" altLang="en-US" smtClean="0"/>
              <a:t>15-Jan-18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33B5C03B-56E3-41C5-AFE3-EC35A0D29F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50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729C8-8443-4621-88CB-F9C273FD9D36}" type="datetime5">
              <a:rPr lang="en-US" smtClean="0"/>
              <a:t>15-Jan-18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png"/><Relationship Id="rId9" Type="http://schemas.openxmlformats.org/officeDocument/2006/relationships/image" Target="../media/image1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3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5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6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7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0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1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65237"/>
          </a:xfrm>
        </p:spPr>
        <p:txBody>
          <a:bodyPr>
            <a:noAutofit/>
          </a:bodyPr>
          <a:lstStyle/>
          <a:p>
            <a:r>
              <a:rPr lang="en-US" sz="4000" dirty="0" smtClean="0"/>
              <a:t>CS F415: Data Mining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3112" y="3619500"/>
            <a:ext cx="8689976" cy="1371599"/>
          </a:xfrm>
        </p:spPr>
        <p:txBody>
          <a:bodyPr>
            <a:normAutofit/>
          </a:bodyPr>
          <a:lstStyle/>
          <a:p>
            <a:pPr algn="r"/>
            <a:endParaRPr lang="en-US" sz="4000" dirty="0" smtClean="0">
              <a:solidFill>
                <a:srgbClr val="0070C0"/>
              </a:solidFill>
            </a:endParaRPr>
          </a:p>
          <a:p>
            <a:pPr algn="r"/>
            <a:r>
              <a:rPr lang="en-US" sz="4000" dirty="0" err="1" smtClean="0">
                <a:solidFill>
                  <a:srgbClr val="0070C0"/>
                </a:solidFill>
              </a:rPr>
              <a:t>Yashvardhan</a:t>
            </a:r>
            <a:r>
              <a:rPr lang="en-US" sz="4000" dirty="0" smtClean="0">
                <a:solidFill>
                  <a:srgbClr val="0070C0"/>
                </a:solidFill>
              </a:rPr>
              <a:t> Sharma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F87B-EAC7-4DD9-A00A-2C5A9B6D8CDF}" type="datetime5">
              <a:rPr lang="en-US" smtClean="0"/>
              <a:t>15-Jan-18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fld id="{BAC8B44D-8A6F-4EC5-8711-F07CE7DFA75E}" type="slidenum">
              <a:rPr lang="en-US" smtClean="0"/>
              <a:t>1</a:t>
            </a:fld>
            <a:r>
              <a:rPr lang="en-US" dirty="0" smtClean="0"/>
              <a:t>S F415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2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8150"/>
            <a:ext cx="10515600" cy="1325563"/>
          </a:xfrm>
        </p:spPr>
        <p:txBody>
          <a:bodyPr/>
          <a:lstStyle/>
          <a:p>
            <a:r>
              <a:rPr lang="en-US" dirty="0" smtClean="0"/>
              <a:t>Today’s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3713"/>
            <a:ext cx="8534400" cy="361526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Introduction</a:t>
            </a:r>
            <a:endParaRPr lang="en-US" sz="4000" dirty="0"/>
          </a:p>
          <a:p>
            <a:pPr lvl="1"/>
            <a:r>
              <a:rPr lang="en-US" sz="3600" dirty="0" smtClean="0"/>
              <a:t>Data Mining Tasks</a:t>
            </a:r>
          </a:p>
          <a:p>
            <a:pPr lvl="1"/>
            <a:r>
              <a:rPr lang="en-US" sz="3600" dirty="0" smtClean="0"/>
              <a:t>Applications</a:t>
            </a:r>
          </a:p>
          <a:p>
            <a:pPr lvl="1"/>
            <a:r>
              <a:rPr lang="en-US" sz="3600" dirty="0" smtClean="0"/>
              <a:t>Comparisons</a:t>
            </a:r>
          </a:p>
          <a:p>
            <a:r>
              <a:rPr lang="en-US" sz="4000" dirty="0" smtClean="0"/>
              <a:t>Data Preprocessing</a:t>
            </a:r>
            <a:endParaRPr lang="en-US" sz="4000" dirty="0" smtClean="0"/>
          </a:p>
          <a:p>
            <a:pPr lvl="1"/>
            <a:endParaRPr lang="en-US" sz="3600" dirty="0" smtClean="0"/>
          </a:p>
          <a:p>
            <a:endParaRPr lang="en-US" sz="4000" dirty="0" smtClean="0"/>
          </a:p>
          <a:p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E015-6ABD-424D-B5F0-6A6356E99314}" type="datetime5">
              <a:rPr lang="en-US" smtClean="0"/>
              <a:t>15-Jan-18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2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Sequential Pattern Discovery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295400"/>
            <a:ext cx="8382000" cy="2895600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tx2"/>
                </a:solidFill>
              </a:rPr>
              <a:t>Given is a set of </a:t>
            </a:r>
            <a:r>
              <a:rPr lang="en-US" i="1">
                <a:solidFill>
                  <a:schemeClr val="tx2"/>
                </a:solidFill>
              </a:rPr>
              <a:t>objects</a:t>
            </a:r>
            <a:r>
              <a:rPr lang="en-US">
                <a:solidFill>
                  <a:schemeClr val="tx2"/>
                </a:solidFill>
              </a:rPr>
              <a:t>, with each object associated with its own </a:t>
            </a:r>
            <a:r>
              <a:rPr lang="en-US" i="1">
                <a:solidFill>
                  <a:schemeClr val="tx2"/>
                </a:solidFill>
              </a:rPr>
              <a:t>timeline of events</a:t>
            </a:r>
            <a:r>
              <a:rPr lang="en-US">
                <a:solidFill>
                  <a:schemeClr val="tx2"/>
                </a:solidFill>
              </a:rPr>
              <a:t>, find rules that predict strong </a:t>
            </a:r>
            <a:r>
              <a:rPr lang="en-US"/>
              <a:t>sequential dependencies</a:t>
            </a:r>
            <a:r>
              <a:rPr lang="en-US">
                <a:solidFill>
                  <a:schemeClr val="tx2"/>
                </a:solidFill>
              </a:rPr>
              <a:t> among different events.</a:t>
            </a:r>
          </a:p>
          <a:p>
            <a:pPr eaLnBrk="1" hangingPunct="1">
              <a:defRPr/>
            </a:pPr>
            <a:endParaRPr lang="en-US">
              <a:solidFill>
                <a:schemeClr val="tx2"/>
              </a:solidFill>
            </a:endParaRPr>
          </a:p>
          <a:p>
            <a:pPr eaLnBrk="1" hangingPunct="1">
              <a:defRPr/>
            </a:pPr>
            <a:endParaRPr lang="en-US" smtClean="0">
              <a:solidFill>
                <a:schemeClr val="tx2"/>
              </a:solidFill>
            </a:endParaRPr>
          </a:p>
          <a:p>
            <a:pPr eaLnBrk="1" hangingPunct="1">
              <a:defRPr/>
            </a:pPr>
            <a:endParaRPr lang="en-US" smtClean="0">
              <a:solidFill>
                <a:schemeClr val="tx2"/>
              </a:solidFill>
            </a:endParaRPr>
          </a:p>
          <a:p>
            <a:pPr eaLnBrk="1" hangingPunct="1">
              <a:defRPr/>
            </a:pPr>
            <a:endParaRPr lang="en-US" smtClean="0">
              <a:solidFill>
                <a:schemeClr val="tx2"/>
              </a:solidFill>
            </a:endParaRPr>
          </a:p>
        </p:txBody>
      </p:sp>
      <p:grpSp>
        <p:nvGrpSpPr>
          <p:cNvPr id="52228" name="Group 19"/>
          <p:cNvGrpSpPr>
            <a:grpSpLocks/>
          </p:cNvGrpSpPr>
          <p:nvPr/>
        </p:nvGrpSpPr>
        <p:grpSpPr bwMode="auto">
          <a:xfrm>
            <a:off x="4038600" y="3886200"/>
            <a:ext cx="4038600" cy="685800"/>
            <a:chOff x="1632" y="1728"/>
            <a:chExt cx="2304" cy="432"/>
          </a:xfrm>
        </p:grpSpPr>
        <p:sp>
          <p:nvSpPr>
            <p:cNvPr id="52230" name="Rectangle 20"/>
            <p:cNvSpPr>
              <a:spLocks noChangeArrowheads="1"/>
            </p:cNvSpPr>
            <p:nvPr/>
          </p:nvSpPr>
          <p:spPr bwMode="auto">
            <a:xfrm>
              <a:off x="1632" y="1728"/>
              <a:ext cx="2304" cy="43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2231" name="Text Box 21"/>
            <p:cNvSpPr txBox="1">
              <a:spLocks noChangeArrowheads="1"/>
            </p:cNvSpPr>
            <p:nvPr/>
          </p:nvSpPr>
          <p:spPr bwMode="auto">
            <a:xfrm>
              <a:off x="1680" y="1783"/>
              <a:ext cx="2186" cy="327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Times New Roman" panose="02020603050405020304" pitchFamily="18" charset="0"/>
                </a:rPr>
                <a:t>(A   B)     (C)        (D   E)</a:t>
              </a:r>
            </a:p>
          </p:txBody>
        </p:sp>
      </p:grpSp>
      <p:sp>
        <p:nvSpPr>
          <p:cNvPr id="52229" name="Line 22"/>
          <p:cNvSpPr>
            <a:spLocks noChangeShapeType="1"/>
          </p:cNvSpPr>
          <p:nvPr/>
        </p:nvSpPr>
        <p:spPr bwMode="auto">
          <a:xfrm>
            <a:off x="6324600" y="42672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6321-3D2A-4B6E-ACD9-2486EB319C96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0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09600"/>
            <a:ext cx="9144000" cy="533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/>
              <a:t>Sequential Pattern Discovery: Examples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1100" y="1397000"/>
            <a:ext cx="9182100" cy="448945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/>
              <a:t>In telecommunications alarm logs,</a:t>
            </a:r>
            <a:r>
              <a:rPr lang="en-US" sz="2000" dirty="0"/>
              <a:t> </a:t>
            </a:r>
          </a:p>
          <a:p>
            <a:pPr lvl="1" eaLnBrk="1" hangingPunct="1">
              <a:defRPr/>
            </a:pPr>
            <a:r>
              <a:rPr lang="en-US" sz="2000" dirty="0"/>
              <a:t>(</a:t>
            </a:r>
            <a:r>
              <a:rPr lang="en-US" sz="2000" dirty="0" err="1"/>
              <a:t>Inverter_Problem</a:t>
            </a:r>
            <a:r>
              <a:rPr lang="en-US" sz="2000" dirty="0"/>
              <a:t>  </a:t>
            </a:r>
            <a:r>
              <a:rPr lang="en-US" sz="2000" dirty="0" err="1"/>
              <a:t>Excessive_Line_Current</a:t>
            </a:r>
            <a:r>
              <a:rPr lang="en-US" sz="2000" dirty="0"/>
              <a:t>) 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sz="2000" dirty="0"/>
              <a:t>        (</a:t>
            </a:r>
            <a:r>
              <a:rPr lang="en-US" sz="2000" dirty="0" err="1"/>
              <a:t>Rectifier_Alarm</a:t>
            </a:r>
            <a:r>
              <a:rPr lang="en-US" sz="2000" dirty="0"/>
              <a:t>) --&gt; (</a:t>
            </a:r>
            <a:r>
              <a:rPr lang="en-US" sz="2000" dirty="0" err="1"/>
              <a:t>Fire_Alarm</a:t>
            </a:r>
            <a:r>
              <a:rPr lang="en-US" sz="2000" dirty="0"/>
              <a:t>)</a:t>
            </a:r>
          </a:p>
          <a:p>
            <a:pPr eaLnBrk="1" hangingPunct="1">
              <a:defRPr/>
            </a:pPr>
            <a:r>
              <a:rPr lang="en-US" sz="2400" dirty="0"/>
              <a:t>In point-of-sale transaction sequences,</a:t>
            </a:r>
          </a:p>
          <a:p>
            <a:pPr lvl="1" eaLnBrk="1" hangingPunct="1">
              <a:defRPr/>
            </a:pPr>
            <a:r>
              <a:rPr lang="en-US" sz="2000" dirty="0"/>
              <a:t>Computer Bookstore:  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sz="2000" dirty="0"/>
              <a:t>	  (</a:t>
            </a:r>
            <a:r>
              <a:rPr lang="en-US" sz="2000" dirty="0" err="1"/>
              <a:t>Intro_To_Visual_C</a:t>
            </a:r>
            <a:r>
              <a:rPr lang="en-US" sz="2000" dirty="0"/>
              <a:t>)  (C++_Primer) --&gt; 							(</a:t>
            </a:r>
            <a:r>
              <a:rPr lang="en-US" sz="2000" dirty="0" err="1"/>
              <a:t>Perl_for_dummies,Tcl_Tk</a:t>
            </a:r>
            <a:r>
              <a:rPr lang="en-US" sz="2000" dirty="0"/>
              <a:t>)</a:t>
            </a:r>
          </a:p>
          <a:p>
            <a:pPr lvl="1" eaLnBrk="1" hangingPunct="1">
              <a:defRPr/>
            </a:pPr>
            <a:r>
              <a:rPr lang="en-US" sz="2000" dirty="0"/>
              <a:t>Athletic Apparel Store: 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sz="2000" dirty="0"/>
              <a:t>	  (Shoes) (Racket, </a:t>
            </a:r>
            <a:r>
              <a:rPr lang="en-US" sz="2000" dirty="0" err="1"/>
              <a:t>Racketball</a:t>
            </a:r>
            <a:r>
              <a:rPr lang="en-US" sz="2000" dirty="0"/>
              <a:t>) --&gt; (</a:t>
            </a:r>
            <a:r>
              <a:rPr lang="en-US" sz="2000" dirty="0" err="1"/>
              <a:t>Sports_Jacket</a:t>
            </a:r>
            <a:r>
              <a:rPr lang="en-US" sz="2000" dirty="0"/>
              <a:t>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43F4C-695A-4B59-8B45-D85954274850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Regression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219200"/>
            <a:ext cx="8229600" cy="428625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Predict a value of a given continuous valued variable based on the values of other variables, assuming a linear or nonlinear model of dependency.</a:t>
            </a:r>
          </a:p>
          <a:p>
            <a:pPr eaLnBrk="1" hangingPunct="1">
              <a:defRPr/>
            </a:pPr>
            <a:r>
              <a:rPr lang="en-US"/>
              <a:t>Greatly studied in statistics, neural network fields.</a:t>
            </a:r>
          </a:p>
          <a:p>
            <a:pPr eaLnBrk="1" hangingPunct="1">
              <a:defRPr/>
            </a:pPr>
            <a:r>
              <a:rPr lang="en-US"/>
              <a:t>Examples:</a:t>
            </a:r>
          </a:p>
          <a:p>
            <a:pPr lvl="1" eaLnBrk="1" hangingPunct="1">
              <a:defRPr/>
            </a:pPr>
            <a:r>
              <a:rPr lang="en-US"/>
              <a:t>Predicting sales amounts of new product based on advetising expenditure.</a:t>
            </a:r>
          </a:p>
          <a:p>
            <a:pPr lvl="1" eaLnBrk="1" hangingPunct="1">
              <a:defRPr/>
            </a:pPr>
            <a:r>
              <a:rPr lang="en-US"/>
              <a:t>Predicting wind velocities as a function of temperature, humidity, air pressure, etc.</a:t>
            </a:r>
          </a:p>
          <a:p>
            <a:pPr lvl="1" eaLnBrk="1" hangingPunct="1">
              <a:defRPr/>
            </a:pPr>
            <a:r>
              <a:rPr lang="en-US"/>
              <a:t>Time series prediction of stock market indices.</a:t>
            </a:r>
            <a:endParaRPr lang="en-US" sz="32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4D424-0C8D-4845-BA11-4230B68452AD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23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28600"/>
            <a:ext cx="8763000" cy="533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Deviation/Anomaly Detection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066800"/>
            <a:ext cx="8915400" cy="51054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Detect significant deviations from normal behavior</a:t>
            </a:r>
            <a:endParaRPr lang="en-US" sz="3600"/>
          </a:p>
          <a:p>
            <a:pPr eaLnBrk="1" hangingPunct="1">
              <a:defRPr/>
            </a:pPr>
            <a:r>
              <a:rPr lang="en-US" smtClean="0"/>
              <a:t>Applications:</a:t>
            </a:r>
          </a:p>
          <a:p>
            <a:pPr lvl="1" eaLnBrk="1" hangingPunct="1">
              <a:defRPr/>
            </a:pPr>
            <a:r>
              <a:rPr lang="en-US" smtClean="0"/>
              <a:t>Credit Card Fraud Detection</a:t>
            </a:r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r>
              <a:rPr lang="en-US" smtClean="0"/>
              <a:t>Network Intrusion </a:t>
            </a:r>
            <a:br>
              <a:rPr lang="en-US" smtClean="0"/>
            </a:br>
            <a:r>
              <a:rPr lang="en-US" smtClean="0"/>
              <a:t>Detection</a:t>
            </a:r>
          </a:p>
          <a:p>
            <a:pPr lvl="1" eaLnBrk="1" hangingPunct="1">
              <a:defRPr/>
            </a:pPr>
            <a:endParaRPr lang="en-US" smtClean="0"/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700" y="3922714"/>
            <a:ext cx="3162300" cy="171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7349" name="Group 5"/>
          <p:cNvGrpSpPr>
            <a:grpSpLocks/>
          </p:cNvGrpSpPr>
          <p:nvPr/>
        </p:nvGrpSpPr>
        <p:grpSpPr bwMode="auto">
          <a:xfrm>
            <a:off x="6342064" y="4013200"/>
            <a:ext cx="2605087" cy="2387600"/>
            <a:chOff x="2963" y="2441"/>
            <a:chExt cx="1641" cy="1504"/>
          </a:xfrm>
        </p:grpSpPr>
        <p:pic>
          <p:nvPicPr>
            <p:cNvPr id="57353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3" y="2441"/>
              <a:ext cx="1641" cy="1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7354" name="Picture 7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3" y="2441"/>
              <a:ext cx="1641" cy="1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7350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3886201"/>
            <a:ext cx="1922462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1" name="Text Box 9"/>
          <p:cNvSpPr txBox="1">
            <a:spLocks noChangeArrowheads="1"/>
          </p:cNvSpPr>
          <p:nvPr/>
        </p:nvSpPr>
        <p:spPr bwMode="auto">
          <a:xfrm>
            <a:off x="1752600" y="5715001"/>
            <a:ext cx="8305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600" i="1">
                <a:latin typeface="Helvetica" panose="020B0604020202020204" pitchFamily="34" charset="0"/>
              </a:rPr>
              <a:t>						</a:t>
            </a:r>
            <a:br>
              <a:rPr lang="en-US" altLang="en-US" sz="1600" i="1">
                <a:latin typeface="Helvetica" panose="020B0604020202020204" pitchFamily="34" charset="0"/>
              </a:rPr>
            </a:br>
            <a:r>
              <a:rPr lang="en-US" altLang="en-US" sz="1600" i="1">
                <a:latin typeface="Helvetica" panose="020B0604020202020204" pitchFamily="34" charset="0"/>
              </a:rPr>
              <a:t>Typical network traffic at University level may reach over 100 million connections per day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57352" name="Object 10"/>
          <p:cNvGraphicFramePr>
            <a:graphicFrameLocks noChangeAspect="1"/>
          </p:cNvGraphicFramePr>
          <p:nvPr/>
        </p:nvGraphicFramePr>
        <p:xfrm>
          <a:off x="7315200" y="1851026"/>
          <a:ext cx="3124200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VISIO" r:id="rId8" imgW="2900172" imgH="1752600" progId="Visio.Drawing.6">
                  <p:embed/>
                </p:oleObj>
              </mc:Choice>
              <mc:Fallback>
                <p:oleObj name="VISIO" r:id="rId8" imgW="2900172" imgH="17526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851026"/>
                        <a:ext cx="3124200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C76F0-BC6B-4A91-A340-A302EC204C8E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1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825500" y="136525"/>
            <a:ext cx="10515600" cy="600075"/>
          </a:xfrm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Data Mining vs. Statistical Analysis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596900"/>
            <a:ext cx="10185400" cy="57404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dirty="0"/>
              <a:t>Statistical Analysis: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Ill-suited for Nominal and Structured Data Types 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Completely data driven - incorporation of domain knowledge not possible 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Interpretation of results is difficult and daunting 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Requires expert user guidance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dirty="0" smtClean="0"/>
              <a:t>Data </a:t>
            </a:r>
            <a:r>
              <a:rPr lang="en-US" altLang="en-US" dirty="0"/>
              <a:t>Mining: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Large Data sets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Efficiency of Algorithms is important 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Scalability of Algorithms is important 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Real World Data 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Lots of Missing Values 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Pre-existing data - not user generated 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Data not static - prone to updates 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Efficient methods for data retrieval available for use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BEE5-B211-4911-8257-87D2CF45638F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01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95867-034C-4C69-801D-8614CA10F33F}" type="datetime5">
              <a:rPr lang="en-US" smtClean="0"/>
              <a:t>15-Jan-18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8</a:t>
            </a:fld>
            <a:endParaRPr lang="en-US"/>
          </a:p>
        </p:txBody>
      </p:sp>
      <p:pic>
        <p:nvPicPr>
          <p:cNvPr id="16386" name="Picture 2" descr="2016-05-03_difference-between-machine-learning-and-statistic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95301"/>
            <a:ext cx="9846626" cy="5614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515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34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Data Mining vs. DBMS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028700"/>
            <a:ext cx="9372600" cy="52197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Example DBMS Reports 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Last months sales for each service type 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Sales per service grouped by customer sex or age bracket 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List of customers who lapsed their policy 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r>
              <a:rPr lang="en-US" altLang="en-US" dirty="0"/>
              <a:t>Questions answered using Data Mining 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What characteristics do customers that lapse their policy have in common and how do they differ from customers who renew their policy? 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Which motor insurance policy holders would be potential customers for my House Content Insurance policy? 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5F64C-002C-4224-844B-819E03A33113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40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Data Mining and Data Warehousing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1016000"/>
            <a:ext cx="9232900" cy="54610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Data Warehouse: a centralized data repository which can be queried for business benefit. 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Data Warehousing makes it possible to 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extract archived operational data 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overcome inconsistencies between different legacy data formats 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integrate data throughout an enterprise, regardless of location, format, or communication requirements 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incorporate additional or expert information 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OLAP: On-line Analytical Processing </a:t>
            </a:r>
          </a:p>
          <a:p>
            <a:pPr>
              <a:lnSpc>
                <a:spcPct val="80000"/>
              </a:lnSpc>
            </a:pPr>
            <a:r>
              <a:rPr lang="pt-BR" altLang="en-US" sz="2400" dirty="0"/>
              <a:t>Multi-Dimensional Data Model (Data Cube) </a:t>
            </a: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Operations: 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Roll-up 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Drill-down 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Slice and dice </a:t>
            </a:r>
          </a:p>
          <a:p>
            <a:pPr lvl="1">
              <a:lnSpc>
                <a:spcPct val="80000"/>
              </a:lnSpc>
            </a:pPr>
            <a:r>
              <a:rPr lang="en-US" altLang="en-US" sz="2200" dirty="0"/>
              <a:t>Rotate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381D0-0763-48A0-A5E0-0E364B63B763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14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425700" y="274639"/>
            <a:ext cx="7221538" cy="460375"/>
          </a:xfrm>
          <a:noFill/>
          <a:ln/>
        </p:spPr>
        <p:txBody>
          <a:bodyPr vert="horz" lIns="92075" tIns="46038" rIns="92075" bIns="46038" rtlCol="0" anchor="ctr">
            <a:normAutofit fontScale="90000"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An OLAM Architecture</a:t>
            </a:r>
            <a:endParaRPr lang="en-US" altLang="en-US" sz="2400" b="1" dirty="0">
              <a:solidFill>
                <a:srgbClr val="FF0000"/>
              </a:solidFill>
            </a:endParaRPr>
          </a:p>
        </p:txBody>
      </p:sp>
      <p:sp>
        <p:nvSpPr>
          <p:cNvPr id="29699" name="Oval 3"/>
          <p:cNvSpPr>
            <a:spLocks noChangeArrowheads="1"/>
          </p:cNvSpPr>
          <p:nvPr/>
        </p:nvSpPr>
        <p:spPr bwMode="auto">
          <a:xfrm>
            <a:off x="7239000" y="4495800"/>
            <a:ext cx="685800" cy="2286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0" name="Oval 4"/>
          <p:cNvSpPr>
            <a:spLocks noChangeArrowheads="1"/>
          </p:cNvSpPr>
          <p:nvPr/>
        </p:nvSpPr>
        <p:spPr bwMode="auto">
          <a:xfrm>
            <a:off x="7239000" y="41148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7239000" y="4191000"/>
            <a:ext cx="685800" cy="4064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4876800" y="3886200"/>
            <a:ext cx="1143000" cy="1066800"/>
          </a:xfrm>
          <a:prstGeom prst="rect">
            <a:avLst/>
          </a:prstGeom>
          <a:solidFill>
            <a:srgbClr val="00CC66"/>
          </a:solidFill>
          <a:ln w="12700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  <a:contourClr>
              <a:srgbClr val="00CC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US"/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3505200" y="5791200"/>
            <a:ext cx="914400" cy="8382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4" name="Oval 8"/>
          <p:cNvSpPr>
            <a:spLocks noChangeArrowheads="1"/>
          </p:cNvSpPr>
          <p:nvPr/>
        </p:nvSpPr>
        <p:spPr bwMode="auto">
          <a:xfrm>
            <a:off x="3505200" y="5638800"/>
            <a:ext cx="914400" cy="3810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5" name="Oval 9"/>
          <p:cNvSpPr>
            <a:spLocks noChangeArrowheads="1"/>
          </p:cNvSpPr>
          <p:nvPr/>
        </p:nvSpPr>
        <p:spPr bwMode="auto">
          <a:xfrm>
            <a:off x="6477000" y="6477000"/>
            <a:ext cx="1295400" cy="3810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6477000" y="5791200"/>
            <a:ext cx="1295400" cy="8382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7" name="Oval 11"/>
          <p:cNvSpPr>
            <a:spLocks noChangeArrowheads="1"/>
          </p:cNvSpPr>
          <p:nvPr/>
        </p:nvSpPr>
        <p:spPr bwMode="auto">
          <a:xfrm>
            <a:off x="6477000" y="5638800"/>
            <a:ext cx="1295400" cy="3048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8" name="Text Box 12"/>
          <p:cNvSpPr txBox="1">
            <a:spLocks noChangeArrowheads="1"/>
          </p:cNvSpPr>
          <p:nvPr/>
        </p:nvSpPr>
        <p:spPr bwMode="auto">
          <a:xfrm>
            <a:off x="6400800" y="5867401"/>
            <a:ext cx="1447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</a:rPr>
              <a:t>Data </a:t>
            </a:r>
          </a:p>
          <a:p>
            <a:pPr algn="ctr"/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</a:rPr>
              <a:t>Warehouse</a:t>
            </a:r>
          </a:p>
        </p:txBody>
      </p:sp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7086600" y="4648201"/>
            <a:ext cx="1333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</a:rPr>
              <a:t>Meta Data</a:t>
            </a:r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4876800" y="41148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MDDB</a:t>
            </a:r>
          </a:p>
        </p:txBody>
      </p:sp>
      <p:sp>
        <p:nvSpPr>
          <p:cNvPr id="29711" name="Line 15"/>
          <p:cNvSpPr>
            <a:spLocks noChangeShapeType="1"/>
          </p:cNvSpPr>
          <p:nvPr/>
        </p:nvSpPr>
        <p:spPr bwMode="auto">
          <a:xfrm flipV="1">
            <a:off x="6248400" y="4343400"/>
            <a:ext cx="838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2" name="Rectangle 16"/>
          <p:cNvSpPr>
            <a:spLocks noChangeArrowheads="1"/>
          </p:cNvSpPr>
          <p:nvPr/>
        </p:nvSpPr>
        <p:spPr bwMode="auto">
          <a:xfrm>
            <a:off x="2667000" y="1676400"/>
            <a:ext cx="5715000" cy="762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3" name="Rectangle 17"/>
          <p:cNvSpPr>
            <a:spLocks noChangeArrowheads="1"/>
          </p:cNvSpPr>
          <p:nvPr/>
        </p:nvSpPr>
        <p:spPr bwMode="auto">
          <a:xfrm>
            <a:off x="2743200" y="3505200"/>
            <a:ext cx="5715000" cy="762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4" name="Rectangle 18"/>
          <p:cNvSpPr>
            <a:spLocks noChangeArrowheads="1"/>
          </p:cNvSpPr>
          <p:nvPr/>
        </p:nvSpPr>
        <p:spPr bwMode="auto">
          <a:xfrm>
            <a:off x="2057400" y="2057400"/>
            <a:ext cx="2514600" cy="10668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OLAM</a:t>
            </a:r>
          </a:p>
          <a:p>
            <a:pPr algn="ctr"/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Engine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15" name="Rectangle 19"/>
          <p:cNvSpPr>
            <a:spLocks noChangeArrowheads="1"/>
          </p:cNvSpPr>
          <p:nvPr/>
        </p:nvSpPr>
        <p:spPr bwMode="auto">
          <a:xfrm>
            <a:off x="6400800" y="2057400"/>
            <a:ext cx="2514600" cy="10668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OLAP</a:t>
            </a:r>
          </a:p>
          <a:p>
            <a:pPr algn="ctr"/>
            <a:r>
              <a:rPr lang="en-US" altLang="en-US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Engine</a:t>
            </a:r>
          </a:p>
        </p:txBody>
      </p:sp>
      <p:sp>
        <p:nvSpPr>
          <p:cNvPr id="29716" name="Line 20"/>
          <p:cNvSpPr>
            <a:spLocks noChangeShapeType="1"/>
          </p:cNvSpPr>
          <p:nvPr/>
        </p:nvSpPr>
        <p:spPr bwMode="auto">
          <a:xfrm flipH="1" flipV="1">
            <a:off x="3886200" y="3657600"/>
            <a:ext cx="9144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7" name="Line 21"/>
          <p:cNvSpPr>
            <a:spLocks noChangeShapeType="1"/>
          </p:cNvSpPr>
          <p:nvPr/>
        </p:nvSpPr>
        <p:spPr bwMode="auto">
          <a:xfrm flipH="1" flipV="1">
            <a:off x="3657600" y="3810000"/>
            <a:ext cx="10668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8" name="Line 22"/>
          <p:cNvSpPr>
            <a:spLocks noChangeShapeType="1"/>
          </p:cNvSpPr>
          <p:nvPr/>
        </p:nvSpPr>
        <p:spPr bwMode="auto">
          <a:xfrm flipV="1">
            <a:off x="6400800" y="3657600"/>
            <a:ext cx="6096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9" name="Line 23"/>
          <p:cNvSpPr>
            <a:spLocks noChangeShapeType="1"/>
          </p:cNvSpPr>
          <p:nvPr/>
        </p:nvSpPr>
        <p:spPr bwMode="auto">
          <a:xfrm flipV="1">
            <a:off x="6477000" y="36576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0" name="Line 24"/>
          <p:cNvSpPr>
            <a:spLocks noChangeShapeType="1"/>
          </p:cNvSpPr>
          <p:nvPr/>
        </p:nvSpPr>
        <p:spPr bwMode="auto">
          <a:xfrm>
            <a:off x="3124200" y="31242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1" name="Line 25"/>
          <p:cNvSpPr>
            <a:spLocks noChangeShapeType="1"/>
          </p:cNvSpPr>
          <p:nvPr/>
        </p:nvSpPr>
        <p:spPr bwMode="auto">
          <a:xfrm>
            <a:off x="3657600" y="31242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2" name="Line 26"/>
          <p:cNvSpPr>
            <a:spLocks noChangeShapeType="1"/>
          </p:cNvSpPr>
          <p:nvPr/>
        </p:nvSpPr>
        <p:spPr bwMode="auto">
          <a:xfrm>
            <a:off x="7391400" y="31242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3" name="Line 27"/>
          <p:cNvSpPr>
            <a:spLocks noChangeShapeType="1"/>
          </p:cNvSpPr>
          <p:nvPr/>
        </p:nvSpPr>
        <p:spPr bwMode="auto">
          <a:xfrm>
            <a:off x="8077200" y="31242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4" name="Line 28"/>
          <p:cNvSpPr>
            <a:spLocks noChangeShapeType="1"/>
          </p:cNvSpPr>
          <p:nvPr/>
        </p:nvSpPr>
        <p:spPr bwMode="auto">
          <a:xfrm>
            <a:off x="4724400" y="2438400"/>
            <a:ext cx="1600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5" name="Line 29"/>
          <p:cNvSpPr>
            <a:spLocks noChangeShapeType="1"/>
          </p:cNvSpPr>
          <p:nvPr/>
        </p:nvSpPr>
        <p:spPr bwMode="auto">
          <a:xfrm>
            <a:off x="4724400" y="2743200"/>
            <a:ext cx="1600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6" name="Line 30"/>
          <p:cNvSpPr>
            <a:spLocks noChangeShapeType="1"/>
          </p:cNvSpPr>
          <p:nvPr/>
        </p:nvSpPr>
        <p:spPr bwMode="auto">
          <a:xfrm>
            <a:off x="3048000" y="1752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7" name="Line 31"/>
          <p:cNvSpPr>
            <a:spLocks noChangeShapeType="1"/>
          </p:cNvSpPr>
          <p:nvPr/>
        </p:nvSpPr>
        <p:spPr bwMode="auto">
          <a:xfrm>
            <a:off x="3733800" y="1752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8" name="Line 32"/>
          <p:cNvSpPr>
            <a:spLocks noChangeShapeType="1"/>
          </p:cNvSpPr>
          <p:nvPr/>
        </p:nvSpPr>
        <p:spPr bwMode="auto">
          <a:xfrm>
            <a:off x="7239000" y="1752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9" name="Line 33"/>
          <p:cNvSpPr>
            <a:spLocks noChangeShapeType="1"/>
          </p:cNvSpPr>
          <p:nvPr/>
        </p:nvSpPr>
        <p:spPr bwMode="auto">
          <a:xfrm>
            <a:off x="8001000" y="1752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0" name="Text Box 34"/>
          <p:cNvSpPr txBox="1">
            <a:spLocks noChangeArrowheads="1"/>
          </p:cNvSpPr>
          <p:nvPr/>
        </p:nvSpPr>
        <p:spPr bwMode="auto">
          <a:xfrm>
            <a:off x="4419600" y="1676401"/>
            <a:ext cx="1981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</a:rPr>
              <a:t>User GUI API</a:t>
            </a:r>
          </a:p>
        </p:txBody>
      </p:sp>
      <p:sp>
        <p:nvSpPr>
          <p:cNvPr id="29731" name="Rectangle 35"/>
          <p:cNvSpPr>
            <a:spLocks noChangeArrowheads="1"/>
          </p:cNvSpPr>
          <p:nvPr/>
        </p:nvSpPr>
        <p:spPr bwMode="auto">
          <a:xfrm>
            <a:off x="4572001" y="3124201"/>
            <a:ext cx="1851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</a:rPr>
              <a:t>Data Cube API</a:t>
            </a:r>
          </a:p>
        </p:txBody>
      </p:sp>
      <p:sp>
        <p:nvSpPr>
          <p:cNvPr id="29732" name="Rectangle 36"/>
          <p:cNvSpPr>
            <a:spLocks noChangeArrowheads="1"/>
          </p:cNvSpPr>
          <p:nvPr/>
        </p:nvSpPr>
        <p:spPr bwMode="auto">
          <a:xfrm>
            <a:off x="2819400" y="5181600"/>
            <a:ext cx="5715000" cy="762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3" name="Line 37"/>
          <p:cNvSpPr>
            <a:spLocks noChangeShapeType="1"/>
          </p:cNvSpPr>
          <p:nvPr/>
        </p:nvSpPr>
        <p:spPr bwMode="auto">
          <a:xfrm>
            <a:off x="3962400" y="52578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4" name="Line 38"/>
          <p:cNvSpPr>
            <a:spLocks noChangeShapeType="1"/>
          </p:cNvSpPr>
          <p:nvPr/>
        </p:nvSpPr>
        <p:spPr bwMode="auto">
          <a:xfrm>
            <a:off x="7086600" y="52578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5" name="Line 39"/>
          <p:cNvSpPr>
            <a:spLocks noChangeShapeType="1"/>
          </p:cNvSpPr>
          <p:nvPr/>
        </p:nvSpPr>
        <p:spPr bwMode="auto">
          <a:xfrm flipV="1">
            <a:off x="3962400" y="46482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6" name="Line 40"/>
          <p:cNvSpPr>
            <a:spLocks noChangeShapeType="1"/>
          </p:cNvSpPr>
          <p:nvPr/>
        </p:nvSpPr>
        <p:spPr bwMode="auto">
          <a:xfrm flipH="1" flipV="1">
            <a:off x="6019800" y="4800600"/>
            <a:ext cx="6858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7" name="Rectangle 41"/>
          <p:cNvSpPr>
            <a:spLocks noChangeArrowheads="1"/>
          </p:cNvSpPr>
          <p:nvPr/>
        </p:nvSpPr>
        <p:spPr bwMode="auto">
          <a:xfrm>
            <a:off x="4648201" y="5181601"/>
            <a:ext cx="16875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</a:rPr>
              <a:t>Database API</a:t>
            </a:r>
          </a:p>
        </p:txBody>
      </p:sp>
      <p:sp>
        <p:nvSpPr>
          <p:cNvPr id="29738" name="Line 42"/>
          <p:cNvSpPr>
            <a:spLocks noChangeShapeType="1"/>
          </p:cNvSpPr>
          <p:nvPr/>
        </p:nvSpPr>
        <p:spPr bwMode="auto">
          <a:xfrm>
            <a:off x="4419600" y="6248400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9" name="Text Box 43"/>
          <p:cNvSpPr txBox="1">
            <a:spLocks noChangeArrowheads="1"/>
          </p:cNvSpPr>
          <p:nvPr/>
        </p:nvSpPr>
        <p:spPr bwMode="auto">
          <a:xfrm>
            <a:off x="4800600" y="6172201"/>
            <a:ext cx="914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 b="1">
              <a:latin typeface="Times New Roman" panose="02020603050405020304" pitchFamily="18" charset="0"/>
            </a:endParaRPr>
          </a:p>
        </p:txBody>
      </p:sp>
      <p:sp>
        <p:nvSpPr>
          <p:cNvPr id="29740" name="Rectangle 44"/>
          <p:cNvSpPr>
            <a:spLocks noChangeArrowheads="1"/>
          </p:cNvSpPr>
          <p:nvPr/>
        </p:nvSpPr>
        <p:spPr bwMode="auto">
          <a:xfrm>
            <a:off x="4724400" y="5867401"/>
            <a:ext cx="152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Data cleaning</a:t>
            </a:r>
          </a:p>
        </p:txBody>
      </p:sp>
      <p:sp>
        <p:nvSpPr>
          <p:cNvPr id="29741" name="Text Box 45"/>
          <p:cNvSpPr txBox="1">
            <a:spLocks noChangeArrowheads="1"/>
          </p:cNvSpPr>
          <p:nvPr/>
        </p:nvSpPr>
        <p:spPr bwMode="auto">
          <a:xfrm>
            <a:off x="4572000" y="6248401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Data integration</a:t>
            </a:r>
            <a:endParaRPr lang="en-US" altLang="en-US" sz="2400" u="sng">
              <a:latin typeface="Times New Roman" panose="02020603050405020304" pitchFamily="18" charset="0"/>
            </a:endParaRPr>
          </a:p>
        </p:txBody>
      </p:sp>
      <p:sp>
        <p:nvSpPr>
          <p:cNvPr id="29742" name="Line 46"/>
          <p:cNvSpPr>
            <a:spLocks noChangeShapeType="1"/>
          </p:cNvSpPr>
          <p:nvPr/>
        </p:nvSpPr>
        <p:spPr bwMode="auto">
          <a:xfrm flipV="1">
            <a:off x="1752600" y="3581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3" name="Line 47"/>
          <p:cNvSpPr>
            <a:spLocks noChangeShapeType="1"/>
          </p:cNvSpPr>
          <p:nvPr/>
        </p:nvSpPr>
        <p:spPr bwMode="auto">
          <a:xfrm flipV="1">
            <a:off x="1752600" y="51816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4" name="Line 48"/>
          <p:cNvSpPr>
            <a:spLocks noChangeShapeType="1"/>
          </p:cNvSpPr>
          <p:nvPr/>
        </p:nvSpPr>
        <p:spPr bwMode="auto">
          <a:xfrm flipV="1">
            <a:off x="1752600" y="1676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5" name="Text Box 49"/>
          <p:cNvSpPr txBox="1">
            <a:spLocks noChangeArrowheads="1"/>
          </p:cNvSpPr>
          <p:nvPr/>
        </p:nvSpPr>
        <p:spPr bwMode="auto">
          <a:xfrm>
            <a:off x="8763000" y="2057401"/>
            <a:ext cx="1905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000" b="1" u="sng">
                <a:latin typeface="Times New Roman" panose="02020603050405020304" pitchFamily="18" charset="0"/>
              </a:rPr>
              <a:t>Layer3</a:t>
            </a:r>
          </a:p>
          <a:p>
            <a:pPr algn="ctr"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OLAP/OLAM</a:t>
            </a:r>
          </a:p>
        </p:txBody>
      </p:sp>
      <p:sp>
        <p:nvSpPr>
          <p:cNvPr id="29746" name="Text Box 50"/>
          <p:cNvSpPr txBox="1">
            <a:spLocks noChangeArrowheads="1"/>
          </p:cNvSpPr>
          <p:nvPr/>
        </p:nvSpPr>
        <p:spPr bwMode="auto">
          <a:xfrm>
            <a:off x="8763000" y="3886201"/>
            <a:ext cx="1905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000" b="1" u="sng">
                <a:latin typeface="Times New Roman" panose="02020603050405020304" pitchFamily="18" charset="0"/>
              </a:rPr>
              <a:t>Layer2</a:t>
            </a:r>
          </a:p>
          <a:p>
            <a:pPr algn="ctr"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MDDB</a:t>
            </a:r>
          </a:p>
        </p:txBody>
      </p:sp>
      <p:sp>
        <p:nvSpPr>
          <p:cNvPr id="29747" name="Text Box 51"/>
          <p:cNvSpPr txBox="1">
            <a:spLocks noChangeArrowheads="1"/>
          </p:cNvSpPr>
          <p:nvPr/>
        </p:nvSpPr>
        <p:spPr bwMode="auto">
          <a:xfrm>
            <a:off x="8763000" y="5562601"/>
            <a:ext cx="190500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000" b="1" u="sng">
                <a:latin typeface="Times New Roman" panose="02020603050405020304" pitchFamily="18" charset="0"/>
              </a:rPr>
              <a:t>Layer1</a:t>
            </a:r>
          </a:p>
          <a:p>
            <a:pPr algn="ctr"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Data Repository</a:t>
            </a:r>
          </a:p>
        </p:txBody>
      </p:sp>
      <p:sp>
        <p:nvSpPr>
          <p:cNvPr id="29748" name="Text Box 52"/>
          <p:cNvSpPr txBox="1">
            <a:spLocks noChangeArrowheads="1"/>
          </p:cNvSpPr>
          <p:nvPr/>
        </p:nvSpPr>
        <p:spPr bwMode="auto">
          <a:xfrm>
            <a:off x="8763000" y="838201"/>
            <a:ext cx="1905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000" b="1" u="sng">
                <a:latin typeface="Times New Roman" panose="02020603050405020304" pitchFamily="18" charset="0"/>
              </a:rPr>
              <a:t>Layer4</a:t>
            </a:r>
          </a:p>
          <a:p>
            <a:pPr algn="ctr">
              <a:spcBef>
                <a:spcPct val="5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User Interface</a:t>
            </a:r>
          </a:p>
        </p:txBody>
      </p:sp>
      <p:sp>
        <p:nvSpPr>
          <p:cNvPr id="29749" name="Line 53"/>
          <p:cNvSpPr>
            <a:spLocks noChangeShapeType="1"/>
          </p:cNvSpPr>
          <p:nvPr/>
        </p:nvSpPr>
        <p:spPr bwMode="auto">
          <a:xfrm>
            <a:off x="6400800" y="14478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50" name="Line 54"/>
          <p:cNvSpPr>
            <a:spLocks noChangeShapeType="1"/>
          </p:cNvSpPr>
          <p:nvPr/>
        </p:nvSpPr>
        <p:spPr bwMode="auto">
          <a:xfrm>
            <a:off x="6400800" y="1447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51" name="Line 55"/>
          <p:cNvSpPr>
            <a:spLocks noChangeShapeType="1"/>
          </p:cNvSpPr>
          <p:nvPr/>
        </p:nvSpPr>
        <p:spPr bwMode="auto">
          <a:xfrm flipV="1">
            <a:off x="8001000" y="114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52" name="Text Box 56"/>
          <p:cNvSpPr txBox="1">
            <a:spLocks noChangeArrowheads="1"/>
          </p:cNvSpPr>
          <p:nvPr/>
        </p:nvSpPr>
        <p:spPr bwMode="auto">
          <a:xfrm>
            <a:off x="2057400" y="5257801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Filtering&amp;Integration</a:t>
            </a:r>
          </a:p>
        </p:txBody>
      </p:sp>
      <p:sp>
        <p:nvSpPr>
          <p:cNvPr id="29753" name="Text Box 57"/>
          <p:cNvSpPr txBox="1">
            <a:spLocks noChangeArrowheads="1"/>
          </p:cNvSpPr>
          <p:nvPr/>
        </p:nvSpPr>
        <p:spPr bwMode="auto">
          <a:xfrm>
            <a:off x="7086600" y="5257801"/>
            <a:ext cx="106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Filtering</a:t>
            </a:r>
          </a:p>
        </p:txBody>
      </p:sp>
      <p:sp>
        <p:nvSpPr>
          <p:cNvPr id="29754" name="Oval 58"/>
          <p:cNvSpPr>
            <a:spLocks noChangeArrowheads="1"/>
          </p:cNvSpPr>
          <p:nvPr/>
        </p:nvSpPr>
        <p:spPr bwMode="auto">
          <a:xfrm>
            <a:off x="3505200" y="6477000"/>
            <a:ext cx="914400" cy="3810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55" name="Rectangle 59"/>
          <p:cNvSpPr>
            <a:spLocks noChangeArrowheads="1"/>
          </p:cNvSpPr>
          <p:nvPr/>
        </p:nvSpPr>
        <p:spPr bwMode="auto">
          <a:xfrm>
            <a:off x="2590800" y="5791200"/>
            <a:ext cx="914400" cy="8382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56" name="Oval 60"/>
          <p:cNvSpPr>
            <a:spLocks noChangeArrowheads="1"/>
          </p:cNvSpPr>
          <p:nvPr/>
        </p:nvSpPr>
        <p:spPr bwMode="auto">
          <a:xfrm>
            <a:off x="2590800" y="5638800"/>
            <a:ext cx="914400" cy="3810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57" name="Oval 61"/>
          <p:cNvSpPr>
            <a:spLocks noChangeArrowheads="1"/>
          </p:cNvSpPr>
          <p:nvPr/>
        </p:nvSpPr>
        <p:spPr bwMode="auto">
          <a:xfrm>
            <a:off x="2590800" y="6477000"/>
            <a:ext cx="914400" cy="3810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58" name="Text Box 62"/>
          <p:cNvSpPr txBox="1">
            <a:spLocks noChangeArrowheads="1"/>
          </p:cNvSpPr>
          <p:nvPr/>
        </p:nvSpPr>
        <p:spPr bwMode="auto">
          <a:xfrm>
            <a:off x="2895601" y="6096001"/>
            <a:ext cx="1338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</a:rPr>
              <a:t>Databases</a:t>
            </a:r>
          </a:p>
        </p:txBody>
      </p:sp>
      <p:sp>
        <p:nvSpPr>
          <p:cNvPr id="29759" name="Line 63"/>
          <p:cNvSpPr>
            <a:spLocks noChangeShapeType="1"/>
          </p:cNvSpPr>
          <p:nvPr/>
        </p:nvSpPr>
        <p:spPr bwMode="auto">
          <a:xfrm>
            <a:off x="3048000" y="52578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60" name="Line 64"/>
          <p:cNvSpPr>
            <a:spLocks noChangeShapeType="1"/>
          </p:cNvSpPr>
          <p:nvPr/>
        </p:nvSpPr>
        <p:spPr bwMode="auto">
          <a:xfrm>
            <a:off x="3048000" y="14478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61" name="Line 65"/>
          <p:cNvSpPr>
            <a:spLocks noChangeShapeType="1"/>
          </p:cNvSpPr>
          <p:nvPr/>
        </p:nvSpPr>
        <p:spPr bwMode="auto">
          <a:xfrm>
            <a:off x="4648200" y="1447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62" name="Line 66"/>
          <p:cNvSpPr>
            <a:spLocks noChangeShapeType="1"/>
          </p:cNvSpPr>
          <p:nvPr/>
        </p:nvSpPr>
        <p:spPr bwMode="auto">
          <a:xfrm flipV="1">
            <a:off x="3048000" y="1295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63" name="Text Box 67"/>
          <p:cNvSpPr txBox="1">
            <a:spLocks noChangeArrowheads="1"/>
          </p:cNvSpPr>
          <p:nvPr/>
        </p:nvSpPr>
        <p:spPr bwMode="auto">
          <a:xfrm>
            <a:off x="1905000" y="838200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Mining query</a:t>
            </a:r>
          </a:p>
        </p:txBody>
      </p:sp>
      <p:sp>
        <p:nvSpPr>
          <p:cNvPr id="29764" name="Text Box 68"/>
          <p:cNvSpPr txBox="1">
            <a:spLocks noChangeArrowheads="1"/>
          </p:cNvSpPr>
          <p:nvPr/>
        </p:nvSpPr>
        <p:spPr bwMode="auto">
          <a:xfrm>
            <a:off x="6934200" y="838200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Mining result</a:t>
            </a:r>
          </a:p>
        </p:txBody>
      </p:sp>
      <p:sp>
        <p:nvSpPr>
          <p:cNvPr id="29765" name="Line 69"/>
          <p:cNvSpPr>
            <a:spLocks noChangeShapeType="1"/>
          </p:cNvSpPr>
          <p:nvPr/>
        </p:nvSpPr>
        <p:spPr bwMode="auto">
          <a:xfrm flipV="1">
            <a:off x="7620000" y="3657600"/>
            <a:ext cx="2286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543EE-EB01-49EE-9C4A-3CCA384029AE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78355"/>
      </p:ext>
    </p:extLst>
  </p:cSld>
  <p:clrMapOvr>
    <a:masterClrMapping/>
  </p:clrMapOvr>
  <p:transition>
    <p:blinds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373062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DBMS, OLAP, and Data Mining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</a:p>
        </p:txBody>
      </p:sp>
      <p:graphicFrame>
        <p:nvGraphicFramePr>
          <p:cNvPr id="82182" name="Group 262"/>
          <p:cNvGraphicFramePr>
            <a:graphicFrameLocks noGrp="1"/>
          </p:cNvGraphicFramePr>
          <p:nvPr>
            <p:ph idx="1"/>
            <p:extLst/>
          </p:nvPr>
        </p:nvGraphicFramePr>
        <p:xfrm>
          <a:off x="1117600" y="1130300"/>
          <a:ext cx="9093200" cy="4995864"/>
        </p:xfrm>
        <a:graphic>
          <a:graphicData uri="http://schemas.openxmlformats.org/drawingml/2006/table">
            <a:tbl>
              <a:tblPr/>
              <a:tblGrid>
                <a:gridCol w="2273300"/>
                <a:gridCol w="2273300"/>
                <a:gridCol w="2273300"/>
                <a:gridCol w="2273300"/>
              </a:tblGrid>
              <a:tr h="601046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DBMS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OLAP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Mining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8822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Extraction of detailed and summary data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Summaries, trends and forecasts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Knowledge discovery of hidden patterns and insights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1046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result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Insight and Prediction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6599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Deduction (Ask the question, verify with data)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Multidimensional data modeling, Aggregation, Statistics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Induction (Build the model, apply it to new data, get the result)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8351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question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Who purchased mutual funds in the last 3 years?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is the average income of mutual fund buyers by region by year?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Who will buy a mutual fund in the next 6 months and why?</a:t>
                      </a: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9E47-F8A5-47E1-A37A-55E1D5C07306}" type="datetime5">
              <a:rPr lang="en-US" altLang="en-US" smtClean="0"/>
              <a:t>15-Jan-18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CB27-727B-46C4-AFC8-CCCA064711B0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620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690562"/>
          </a:xfrm>
        </p:spPr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Example of DBMS, OLAP and Data Mining: Weather Data</a:t>
            </a:r>
          </a:p>
        </p:txBody>
      </p:sp>
      <p:graphicFrame>
        <p:nvGraphicFramePr>
          <p:cNvPr id="85592" name="Group 600"/>
          <p:cNvGraphicFramePr>
            <a:graphicFrameLocks noGrp="1"/>
          </p:cNvGraphicFramePr>
          <p:nvPr>
            <p:ph idx="1"/>
            <p:extLst/>
          </p:nvPr>
        </p:nvGraphicFramePr>
        <p:xfrm>
          <a:off x="1396998" y="1600195"/>
          <a:ext cx="8890002" cy="4985073"/>
        </p:xfrm>
        <a:graphic>
          <a:graphicData uri="http://schemas.openxmlformats.org/drawingml/2006/table">
            <a:tbl>
              <a:tblPr/>
              <a:tblGrid>
                <a:gridCol w="1481667"/>
                <a:gridCol w="1481667"/>
                <a:gridCol w="1481667"/>
                <a:gridCol w="1481667"/>
                <a:gridCol w="1481667"/>
                <a:gridCol w="1481667"/>
              </a:tblGrid>
              <a:tr h="451621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outlook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windy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1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1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1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1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1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1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1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1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1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1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1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1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1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1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kumimoji="0" lang="en-US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5593" name="Text Box 601"/>
          <p:cNvSpPr txBox="1">
            <a:spLocks noChangeArrowheads="1"/>
          </p:cNvSpPr>
          <p:nvPr/>
        </p:nvSpPr>
        <p:spPr bwMode="auto">
          <a:xfrm>
            <a:off x="1943100" y="10541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b="1" dirty="0"/>
              <a:t>DBMS: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69FA-37B9-43AA-BBE2-811B8C0F3AF7}" type="datetime5">
              <a:rPr lang="en-US" altLang="en-US" smtClean="0"/>
              <a:t>15-Jan-18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CB27-727B-46C4-AFC8-CCCA064711B0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487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61975"/>
          </a:xfrm>
        </p:spPr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Example of DBMS, OLAP and Data Mining: Weather Data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7100" y="1168400"/>
            <a:ext cx="9283700" cy="4775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By querying a DBMS containing the above table we may answer questions like: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What was the temperature in the sunny days? </a:t>
            </a: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 smtClean="0"/>
              <a:t>                                                   {</a:t>
            </a:r>
            <a:r>
              <a:rPr lang="en-US" altLang="en-US" dirty="0"/>
              <a:t>85, 80, 72, 69, 75}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Which days the humidity was less than 75</a:t>
            </a:r>
            <a:r>
              <a:rPr lang="en-US" altLang="en-US" dirty="0" smtClean="0"/>
              <a:t>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 </a:t>
            </a:r>
            <a:r>
              <a:rPr lang="en-US" altLang="en-US" dirty="0" smtClean="0"/>
              <a:t>                                                   {</a:t>
            </a:r>
            <a:r>
              <a:rPr lang="en-US" altLang="en-US" dirty="0"/>
              <a:t>6, 7, 9, 11}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Which days the temperature was greater than 70</a:t>
            </a:r>
            <a:r>
              <a:rPr lang="en-US" altLang="en-US" dirty="0" smtClean="0"/>
              <a:t>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 </a:t>
            </a:r>
            <a:r>
              <a:rPr lang="en-US" altLang="en-US" dirty="0" smtClean="0"/>
              <a:t>                                          </a:t>
            </a:r>
            <a:r>
              <a:rPr lang="en-US" altLang="en-US" dirty="0"/>
              <a:t>{1, 2, 3, 8, 10, 11, 12, 13, 14}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Which days the temperature was greater than 70 and the humidity was less than 75? </a:t>
            </a: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 smtClean="0"/>
              <a:t>                            The </a:t>
            </a:r>
            <a:r>
              <a:rPr lang="en-US" altLang="en-US" dirty="0"/>
              <a:t>intersection of the above two: {11}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497B-6399-470C-AF29-CE1BE6A9ED58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7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601662"/>
          </a:xfrm>
        </p:spPr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Example of DBMS, OLAP and Data Mining: Weather Data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23900" y="1028700"/>
            <a:ext cx="9791700" cy="232410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en-US" b="1" dirty="0"/>
              <a:t>OLAP: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Using OLAP we can create a </a:t>
            </a:r>
            <a:r>
              <a:rPr lang="en-US" altLang="en-US" sz="2400" b="1" dirty="0"/>
              <a:t>Multidimensional Model</a:t>
            </a:r>
            <a:r>
              <a:rPr lang="en-US" altLang="en-US" sz="2400" dirty="0"/>
              <a:t> of our data (</a:t>
            </a:r>
            <a:r>
              <a:rPr lang="en-US" altLang="en-US" sz="2400" b="1" dirty="0"/>
              <a:t>Data Cube</a:t>
            </a:r>
            <a:r>
              <a:rPr lang="en-US" altLang="en-US" sz="2400" dirty="0"/>
              <a:t>). 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For example using the dimensions: </a:t>
            </a:r>
            <a:r>
              <a:rPr lang="en-US" altLang="en-US" sz="2400" b="1" dirty="0"/>
              <a:t>time</a:t>
            </a:r>
            <a:r>
              <a:rPr lang="en-US" altLang="en-US" sz="2400" dirty="0"/>
              <a:t>, </a:t>
            </a:r>
            <a:r>
              <a:rPr lang="en-US" altLang="en-US" sz="2400" b="1" dirty="0"/>
              <a:t>outlook</a:t>
            </a:r>
            <a:r>
              <a:rPr lang="en-US" altLang="en-US" sz="2400" dirty="0"/>
              <a:t> and </a:t>
            </a:r>
            <a:r>
              <a:rPr lang="en-US" altLang="en-US" sz="2400" b="1" dirty="0"/>
              <a:t>play</a:t>
            </a:r>
            <a:r>
              <a:rPr lang="en-US" altLang="en-US" sz="2400" dirty="0"/>
              <a:t> we can create the following model. </a:t>
            </a:r>
          </a:p>
        </p:txBody>
      </p:sp>
      <p:graphicFrame>
        <p:nvGraphicFramePr>
          <p:cNvPr id="88143" name="Group 79"/>
          <p:cNvGraphicFramePr>
            <a:graphicFrameLocks noGrp="1"/>
          </p:cNvGraphicFramePr>
          <p:nvPr>
            <p:ph sz="half" idx="2"/>
            <p:extLst/>
          </p:nvPr>
        </p:nvGraphicFramePr>
        <p:xfrm>
          <a:off x="2794000" y="3505201"/>
          <a:ext cx="5283200" cy="1993899"/>
        </p:xfrm>
        <a:graphic>
          <a:graphicData uri="http://schemas.openxmlformats.org/drawingml/2006/table">
            <a:tbl>
              <a:tblPr/>
              <a:tblGrid>
                <a:gridCol w="1320800"/>
                <a:gridCol w="1320800"/>
                <a:gridCol w="1320800"/>
                <a:gridCol w="1320800"/>
              </a:tblGrid>
              <a:tr h="663919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 / 5</a:t>
                      </a:r>
                      <a:endParaRPr kumimoji="0" lang="en-US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  <a:endParaRPr kumimoji="0" lang="en-US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6061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/ 2</a:t>
                      </a: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/ 1</a:t>
                      </a: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/ 0</a:t>
                      </a: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3919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</a:t>
                      </a: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/ 1</a:t>
                      </a: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/ 1</a:t>
                      </a:r>
                      <a:endParaRPr kumimoji="0" lang="en-US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/ 0</a:t>
                      </a:r>
                      <a:endParaRPr kumimoji="0" lang="en-US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38C36-788F-4432-A330-D52B6B2348E3}" type="datetime5">
              <a:rPr lang="en-US" altLang="en-US" smtClean="0"/>
              <a:t>15-Jan-18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5C03B-56E3-41C5-AFE3-EC35A0D29F38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6583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22275"/>
          </a:xfrm>
        </p:spPr>
        <p:txBody>
          <a:bodyPr>
            <a:normAutofit fontScale="90000"/>
          </a:bodyPr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Example of DBMS, OLAP and Data Mining: Weather Data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81100"/>
            <a:ext cx="9372600" cy="4686300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en-US" b="1" dirty="0"/>
              <a:t>Data Mining: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Using </a:t>
            </a:r>
            <a:r>
              <a:rPr lang="en-US" altLang="en-US" dirty="0"/>
              <a:t>the ID3 algorithm we can produce the following decision tree:</a:t>
            </a:r>
          </a:p>
          <a:p>
            <a:pPr lvl="2">
              <a:lnSpc>
                <a:spcPct val="90000"/>
              </a:lnSpc>
            </a:pP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sz="2400" b="1" dirty="0"/>
              <a:t>outlook = sunny </a:t>
            </a:r>
          </a:p>
          <a:p>
            <a:pPr lvl="3">
              <a:lnSpc>
                <a:spcPct val="90000"/>
              </a:lnSpc>
            </a:pPr>
            <a:r>
              <a:rPr lang="en-US" altLang="en-US" sz="2000" b="1" dirty="0"/>
              <a:t>humidity = high: no </a:t>
            </a:r>
          </a:p>
          <a:p>
            <a:pPr lvl="3">
              <a:lnSpc>
                <a:spcPct val="90000"/>
              </a:lnSpc>
            </a:pPr>
            <a:r>
              <a:rPr lang="en-US" altLang="en-US" sz="2000" b="1" dirty="0"/>
              <a:t>humidity = normal: yes </a:t>
            </a:r>
          </a:p>
          <a:p>
            <a:pPr lvl="2">
              <a:lnSpc>
                <a:spcPct val="90000"/>
              </a:lnSpc>
            </a:pPr>
            <a:r>
              <a:rPr lang="en-US" altLang="en-US" sz="2400" b="1" dirty="0"/>
              <a:t>outlook = overcast: yes </a:t>
            </a:r>
          </a:p>
          <a:p>
            <a:pPr lvl="2">
              <a:lnSpc>
                <a:spcPct val="90000"/>
              </a:lnSpc>
            </a:pPr>
            <a:r>
              <a:rPr lang="en-US" altLang="en-US" sz="2400" b="1" dirty="0"/>
              <a:t>outlook = rainy </a:t>
            </a:r>
          </a:p>
          <a:p>
            <a:pPr lvl="3">
              <a:lnSpc>
                <a:spcPct val="90000"/>
              </a:lnSpc>
            </a:pPr>
            <a:r>
              <a:rPr lang="en-US" altLang="en-US" sz="2000" b="1" dirty="0"/>
              <a:t>windy = true: no </a:t>
            </a:r>
          </a:p>
          <a:p>
            <a:pPr lvl="3">
              <a:lnSpc>
                <a:spcPct val="90000"/>
              </a:lnSpc>
            </a:pPr>
            <a:r>
              <a:rPr lang="en-US" altLang="en-US" sz="2000" b="1" dirty="0"/>
              <a:t>windy = false: yes </a:t>
            </a: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C61B-7B9A-4924-9512-030FBAECC3AC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8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74675"/>
          </a:xfrm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Major Issues in Data Warehousing and Mining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092200"/>
            <a:ext cx="10629900" cy="508476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en-US" u="sng" dirty="0"/>
              <a:t>Mining methodology and user interaction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Mining different kinds of knowledge in databases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Interactive mining of</a:t>
            </a:r>
            <a:r>
              <a:rPr lang="en-US" altLang="en-US" sz="2000" dirty="0"/>
              <a:t> </a:t>
            </a:r>
            <a:r>
              <a:rPr lang="en-US" altLang="en-US" dirty="0"/>
              <a:t>knowledge at multiple levels of abstraction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Incorporation of background knowledge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Data mining query languages and ad-hoc data mining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Expression and visualization of data mining results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Handling noise and incomplete data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Pattern evaluation: the interestingness problem</a:t>
            </a:r>
          </a:p>
          <a:p>
            <a:pPr>
              <a:lnSpc>
                <a:spcPct val="110000"/>
              </a:lnSpc>
            </a:pPr>
            <a:r>
              <a:rPr lang="en-US" altLang="en-US" u="sng" dirty="0"/>
              <a:t>Performance and scalability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Efficiency and scalability of data mining algorithms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Parallel, distributed and incremental mining methods</a:t>
            </a:r>
            <a:endParaRPr lang="en-US" altLang="en-US" b="1" dirty="0"/>
          </a:p>
          <a:p>
            <a:endParaRPr lang="en-US" altLang="en-US" sz="3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3A47C-0380-4679-AEA6-3C1187D25F78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0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238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Major Issues in Data Warehousing and Mining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5000" y="889000"/>
            <a:ext cx="10718800" cy="5603240"/>
          </a:xfrm>
        </p:spPr>
        <p:txBody>
          <a:bodyPr>
            <a:normAutofit/>
          </a:bodyPr>
          <a:lstStyle/>
          <a:p>
            <a:r>
              <a:rPr lang="en-US" altLang="en-US" u="sng" dirty="0"/>
              <a:t>Issues relating to the diversity of data types</a:t>
            </a:r>
            <a:endParaRPr lang="en-US" altLang="en-US" dirty="0"/>
          </a:p>
          <a:p>
            <a:pPr lvl="1"/>
            <a:r>
              <a:rPr lang="en-US" altLang="en-US" dirty="0"/>
              <a:t>Handling relational and complex types of data</a:t>
            </a:r>
          </a:p>
          <a:p>
            <a:pPr lvl="1"/>
            <a:r>
              <a:rPr lang="en-US" altLang="en-US" dirty="0"/>
              <a:t>Mining information from heterogeneous databases and global information systems (WWW)</a:t>
            </a:r>
            <a:endParaRPr lang="en-US" altLang="en-US" sz="2000" dirty="0"/>
          </a:p>
          <a:p>
            <a:r>
              <a:rPr lang="en-US" altLang="en-US" u="sng" dirty="0"/>
              <a:t>Issues related to applications and social impacts</a:t>
            </a:r>
            <a:endParaRPr lang="en-US" altLang="en-US" dirty="0"/>
          </a:p>
          <a:p>
            <a:pPr lvl="1"/>
            <a:r>
              <a:rPr lang="en-US" altLang="en-US" dirty="0"/>
              <a:t>Application of discovered knowledge</a:t>
            </a:r>
          </a:p>
          <a:p>
            <a:pPr lvl="2"/>
            <a:r>
              <a:rPr lang="en-US" altLang="en-US" sz="2200" dirty="0"/>
              <a:t>Domain-specific data mining tools</a:t>
            </a:r>
          </a:p>
          <a:p>
            <a:pPr lvl="2"/>
            <a:r>
              <a:rPr lang="en-US" altLang="en-US" sz="2200" dirty="0"/>
              <a:t>Intelligent query answering</a:t>
            </a:r>
          </a:p>
          <a:p>
            <a:pPr lvl="2"/>
            <a:r>
              <a:rPr lang="en-US" altLang="en-US" sz="2200" dirty="0"/>
              <a:t>Process control and decision making</a:t>
            </a:r>
          </a:p>
          <a:p>
            <a:pPr lvl="1"/>
            <a:r>
              <a:rPr lang="en-US" altLang="en-US" dirty="0"/>
              <a:t>Integration of the discovered knowledge with existing knowledge: A knowledge fusion problem</a:t>
            </a:r>
          </a:p>
          <a:p>
            <a:pPr lvl="1"/>
            <a:r>
              <a:rPr lang="en-US" altLang="en-US" dirty="0"/>
              <a:t>Protection of data security, integrity, and privacy</a:t>
            </a:r>
          </a:p>
          <a:p>
            <a:endParaRPr lang="en-US" altLang="en-US" sz="3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99BA-F27D-4A94-83A3-8299A5C0613B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43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24" name="Rectangle 8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36544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What is Data?</a:t>
            </a:r>
          </a:p>
        </p:txBody>
      </p:sp>
      <p:sp>
        <p:nvSpPr>
          <p:cNvPr id="649225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441960" y="814387"/>
            <a:ext cx="5384800" cy="4525963"/>
          </a:xfrm>
        </p:spPr>
        <p:txBody>
          <a:bodyPr>
            <a:noAutofit/>
          </a:bodyPr>
          <a:lstStyle/>
          <a:p>
            <a:r>
              <a:rPr lang="en-US" altLang="en-US" dirty="0"/>
              <a:t>Collection of data objects and their attributes</a:t>
            </a:r>
          </a:p>
          <a:p>
            <a:pPr lvl="4"/>
            <a:endParaRPr lang="en-US" altLang="en-US" sz="2000" dirty="0"/>
          </a:p>
          <a:p>
            <a:r>
              <a:rPr lang="en-US" altLang="en-US" dirty="0"/>
              <a:t>An attribute is a property or characteristic of an object</a:t>
            </a:r>
          </a:p>
          <a:p>
            <a:pPr lvl="1"/>
            <a:r>
              <a:rPr lang="en-US" altLang="en-US" dirty="0"/>
              <a:t>Examples: eye color of a person, temperature, etc.</a:t>
            </a:r>
          </a:p>
          <a:p>
            <a:pPr lvl="1"/>
            <a:r>
              <a:rPr lang="en-US" altLang="en-US" dirty="0"/>
              <a:t>Attribute is also known as variable, field, characteristic, or feature</a:t>
            </a:r>
          </a:p>
          <a:p>
            <a:r>
              <a:rPr lang="en-US" altLang="en-US" dirty="0"/>
              <a:t>A collection of attributes describe an object</a:t>
            </a:r>
          </a:p>
          <a:p>
            <a:pPr lvl="1"/>
            <a:r>
              <a:rPr lang="en-US" altLang="en-US" dirty="0"/>
              <a:t>Object is also known as record, point, case, sample, entity, or instance</a:t>
            </a:r>
          </a:p>
          <a:p>
            <a:pPr lvl="4"/>
            <a:endParaRPr lang="en-US" altLang="en-US" sz="2000" dirty="0"/>
          </a:p>
        </p:txBody>
      </p:sp>
      <p:grpSp>
        <p:nvGrpSpPr>
          <p:cNvPr id="649232" name="Group 16"/>
          <p:cNvGrpSpPr>
            <a:grpSpLocks/>
          </p:cNvGrpSpPr>
          <p:nvPr/>
        </p:nvGrpSpPr>
        <p:grpSpPr bwMode="auto">
          <a:xfrm>
            <a:off x="7162800" y="1752600"/>
            <a:ext cx="3810000" cy="4492625"/>
            <a:chOff x="3403" y="1104"/>
            <a:chExt cx="2213" cy="2640"/>
          </a:xfrm>
        </p:grpSpPr>
        <p:graphicFrame>
          <p:nvGraphicFramePr>
            <p:cNvPr id="649226" name="Object 10"/>
            <p:cNvGraphicFramePr>
              <a:graphicFrameLocks noChangeAspect="1"/>
            </p:cNvGraphicFramePr>
            <p:nvPr/>
          </p:nvGraphicFramePr>
          <p:xfrm>
            <a:off x="3403" y="1378"/>
            <a:ext cx="2213" cy="2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3" name="Document" r:id="rId4" imgW="5405040" imgH="5778360" progId="Word.Document.8">
                    <p:embed/>
                  </p:oleObj>
                </mc:Choice>
                <mc:Fallback>
                  <p:oleObj name="Document" r:id="rId4" imgW="5405040" imgH="577836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1378"/>
                          <a:ext cx="2213" cy="2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9228" name="AutoShape 12"/>
            <p:cNvSpPr>
              <a:spLocks/>
            </p:cNvSpPr>
            <p:nvPr/>
          </p:nvSpPr>
          <p:spPr bwMode="auto">
            <a:xfrm rot="5400000">
              <a:off x="4340" y="240"/>
              <a:ext cx="240" cy="1968"/>
            </a:xfrm>
            <a:prstGeom prst="leftBrace">
              <a:avLst>
                <a:gd name="adj1" fmla="val 683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49230" name="Text Box 14"/>
          <p:cNvSpPr txBox="1">
            <a:spLocks noChangeArrowheads="1"/>
          </p:cNvSpPr>
          <p:nvPr/>
        </p:nvSpPr>
        <p:spPr bwMode="auto">
          <a:xfrm>
            <a:off x="8001000" y="1219201"/>
            <a:ext cx="1447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FF0000"/>
                </a:solidFill>
              </a:rPr>
              <a:t>Attributes</a:t>
            </a:r>
          </a:p>
        </p:txBody>
      </p:sp>
      <p:sp>
        <p:nvSpPr>
          <p:cNvPr id="649231" name="AutoShape 15"/>
          <p:cNvSpPr>
            <a:spLocks/>
          </p:cNvSpPr>
          <p:nvPr/>
        </p:nvSpPr>
        <p:spPr bwMode="auto">
          <a:xfrm>
            <a:off x="6781800" y="2873376"/>
            <a:ext cx="381000" cy="3124200"/>
          </a:xfrm>
          <a:prstGeom prst="leftBrace">
            <a:avLst>
              <a:gd name="adj1" fmla="val 68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9233" name="Text Box 17"/>
          <p:cNvSpPr txBox="1">
            <a:spLocks noChangeArrowheads="1"/>
          </p:cNvSpPr>
          <p:nvPr/>
        </p:nvSpPr>
        <p:spPr bwMode="auto">
          <a:xfrm>
            <a:off x="5715000" y="4038601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FF0000"/>
                </a:solidFill>
              </a:rPr>
              <a:t>Objects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B6368-C536-400B-82F1-C24563379554}" type="datetime5">
              <a:rPr lang="en-US" altLang="en-US" smtClean="0"/>
              <a:t>15-Jan-18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5C03B-56E3-41C5-AFE3-EC35A0D29F38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14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3591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Attribute Values</a:t>
            </a:r>
          </a:p>
        </p:txBody>
      </p:sp>
      <p:sp>
        <p:nvSpPr>
          <p:cNvPr id="82637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59080" y="1143000"/>
            <a:ext cx="10104121" cy="47396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200" dirty="0"/>
              <a:t>Attribute values are numbers or symbols assigned to an attribute</a:t>
            </a:r>
          </a:p>
          <a:p>
            <a:pPr lvl="4"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3200" dirty="0"/>
              <a:t>Distinction between attributes and attribute values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Same attribute can be mapped to different attribute values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 Example: height can be measured in feet or meters</a:t>
            </a:r>
          </a:p>
          <a:p>
            <a:pPr lvl="4">
              <a:lnSpc>
                <a:spcPct val="90000"/>
              </a:lnSpc>
            </a:pP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Different attributes can be mapped to the same set of values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 Example: Attribute values for ID and age are integers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 But properties of attribute values can be different</a:t>
            </a:r>
          </a:p>
          <a:p>
            <a:pPr lvl="3">
              <a:lnSpc>
                <a:spcPct val="90000"/>
              </a:lnSpc>
            </a:pPr>
            <a:r>
              <a:rPr lang="en-US" altLang="en-US" sz="2000" dirty="0"/>
              <a:t>ID has no limit but age has a maximum and minimum value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E7D3-AC9A-419C-AD0E-5EE4FE903BF8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23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5852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Measurement of Length </a:t>
            </a:r>
          </a:p>
        </p:txBody>
      </p:sp>
      <p:sp>
        <p:nvSpPr>
          <p:cNvPr id="86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8720" y="685800"/>
            <a:ext cx="8876030" cy="5334000"/>
          </a:xfrm>
          <a:noFill/>
          <a:ln/>
        </p:spPr>
        <p:txBody>
          <a:bodyPr>
            <a:normAutofit/>
          </a:bodyPr>
          <a:lstStyle/>
          <a:p>
            <a:pPr marL="285750" indent="-285750">
              <a:lnSpc>
                <a:spcPct val="95000"/>
              </a:lnSpc>
              <a:spcBef>
                <a:spcPct val="20000"/>
              </a:spcBef>
            </a:pPr>
            <a:r>
              <a:rPr lang="en-US" altLang="en-US" sz="2400" b="1" dirty="0"/>
              <a:t>The way you measure an attribute is somewhat may not match the attributes properties.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64260" name="Object 4"/>
          <p:cNvGraphicFramePr>
            <a:graphicFrameLocks noChangeAspect="1"/>
          </p:cNvGraphicFramePr>
          <p:nvPr>
            <p:extLst/>
          </p:nvPr>
        </p:nvGraphicFramePr>
        <p:xfrm>
          <a:off x="2814320" y="1371600"/>
          <a:ext cx="6461759" cy="5129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VISIO" r:id="rId4" imgW="5590440" imgH="4438440" progId="Visio.Drawing.6">
                  <p:embed/>
                </p:oleObj>
              </mc:Choice>
              <mc:Fallback>
                <p:oleObj name="VISIO" r:id="rId4" imgW="5590440" imgH="44384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320" y="1371600"/>
                        <a:ext cx="6461759" cy="51297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96FE8-8C50-491F-9E44-756D4FDBD9BB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4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73" name="Rectangle 9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Types of Attributes </a:t>
            </a:r>
          </a:p>
        </p:txBody>
      </p:sp>
      <p:sp>
        <p:nvSpPr>
          <p:cNvPr id="651274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457200" y="1078547"/>
            <a:ext cx="10896600" cy="52625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 There are different types of attributes</a:t>
            </a:r>
          </a:p>
          <a:p>
            <a:pPr marL="749300" lvl="1"/>
            <a:r>
              <a:rPr lang="en-US" altLang="en-US" sz="2800" dirty="0">
                <a:solidFill>
                  <a:srgbClr val="FF0000"/>
                </a:solidFill>
              </a:rPr>
              <a:t>Nominal</a:t>
            </a:r>
            <a:endParaRPr lang="en-US" altLang="en-US" sz="2800" dirty="0"/>
          </a:p>
          <a:p>
            <a:pPr marL="1257300" lvl="2" indent="-393700"/>
            <a:r>
              <a:rPr lang="en-US" altLang="en-US" sz="2400" dirty="0"/>
              <a:t>Examples: ID numbers, eye color, zip codes</a:t>
            </a:r>
          </a:p>
          <a:p>
            <a:pPr marL="749300" lvl="1"/>
            <a:r>
              <a:rPr lang="en-US" altLang="en-US" sz="2800" dirty="0">
                <a:solidFill>
                  <a:srgbClr val="FF0000"/>
                </a:solidFill>
              </a:rPr>
              <a:t>Ordinal</a:t>
            </a:r>
            <a:endParaRPr lang="en-US" altLang="en-US" sz="2800" dirty="0"/>
          </a:p>
          <a:p>
            <a:pPr marL="1257300" lvl="2" indent="-393700"/>
            <a:r>
              <a:rPr lang="en-US" altLang="en-US" sz="2400" dirty="0"/>
              <a:t>Examples: rankings (e.g., taste of potato chips on a scale from 1-10), grades, height in {tall, medium, short}</a:t>
            </a:r>
          </a:p>
          <a:p>
            <a:pPr marL="749300" lvl="1"/>
            <a:r>
              <a:rPr lang="en-US" altLang="en-US" sz="2800" dirty="0">
                <a:solidFill>
                  <a:srgbClr val="FF0000"/>
                </a:solidFill>
              </a:rPr>
              <a:t>Interval</a:t>
            </a:r>
            <a:endParaRPr lang="en-US" altLang="en-US" sz="2800" dirty="0"/>
          </a:p>
          <a:p>
            <a:pPr marL="1257300" lvl="2" indent="-393700"/>
            <a:r>
              <a:rPr lang="en-US" altLang="en-US" sz="2400" dirty="0"/>
              <a:t>Examples: calendar dates, temperatures in Celsius or Fahrenheit.</a:t>
            </a:r>
          </a:p>
          <a:p>
            <a:pPr marL="749300" lvl="1"/>
            <a:r>
              <a:rPr lang="en-US" altLang="en-US" sz="2800" dirty="0">
                <a:solidFill>
                  <a:srgbClr val="FF0000"/>
                </a:solidFill>
              </a:rPr>
              <a:t>Ratio</a:t>
            </a:r>
            <a:endParaRPr lang="en-US" altLang="en-US" sz="2800" dirty="0"/>
          </a:p>
          <a:p>
            <a:pPr marL="1257300" lvl="2" indent="-393700"/>
            <a:r>
              <a:rPr lang="en-US" altLang="en-US" sz="2400" dirty="0"/>
              <a:t>Examples: temperature in Kelvin, length, time, counts </a:t>
            </a:r>
          </a:p>
          <a:p>
            <a:pPr marL="749300" lvl="1"/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4C4C5-F249-4938-8839-24788F07CF6E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22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8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4259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Properties of Attribute Values </a:t>
            </a:r>
          </a:p>
        </p:txBody>
      </p:sp>
      <p:sp>
        <p:nvSpPr>
          <p:cNvPr id="77926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480" y="1036320"/>
            <a:ext cx="10942320" cy="514064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The type of an attribute depends on which of the following properties it possesses:</a:t>
            </a:r>
          </a:p>
          <a:p>
            <a:pPr lvl="1"/>
            <a:r>
              <a:rPr lang="en-US" altLang="en-US" sz="2800" dirty="0"/>
              <a:t>Distinctness:  		</a:t>
            </a:r>
            <a:r>
              <a:rPr lang="en-US" altLang="en-US" sz="2800" dirty="0" smtClean="0"/>
              <a:t>	=  </a:t>
            </a:r>
            <a:r>
              <a:rPr lang="en-US" altLang="en-US" sz="2800" dirty="0">
                <a:sym typeface="Symbol" panose="05050102010706020507" pitchFamily="18" charset="2"/>
              </a:rPr>
              <a:t>		</a:t>
            </a:r>
            <a:endParaRPr lang="en-US" altLang="en-US" sz="2800" dirty="0"/>
          </a:p>
          <a:p>
            <a:pPr lvl="1"/>
            <a:r>
              <a:rPr lang="en-US" altLang="en-US" sz="2800" dirty="0"/>
              <a:t>Order:  		</a:t>
            </a:r>
            <a:r>
              <a:rPr lang="en-US" altLang="en-US" sz="2800" dirty="0" smtClean="0"/>
              <a:t>           		&lt;  </a:t>
            </a:r>
            <a:r>
              <a:rPr lang="en-US" altLang="en-US" sz="2800" dirty="0"/>
              <a:t>&gt;  		</a:t>
            </a:r>
          </a:p>
          <a:p>
            <a:pPr lvl="1"/>
            <a:r>
              <a:rPr lang="en-US" altLang="en-US" sz="2800" dirty="0"/>
              <a:t>Addition:  		</a:t>
            </a:r>
            <a:r>
              <a:rPr lang="en-US" altLang="en-US" sz="2800" dirty="0" smtClean="0"/>
              <a:t>	+  </a:t>
            </a:r>
            <a:r>
              <a:rPr lang="en-US" altLang="en-US" sz="2800" dirty="0"/>
              <a:t>- 		</a:t>
            </a:r>
          </a:p>
          <a:p>
            <a:pPr lvl="1"/>
            <a:r>
              <a:rPr lang="en-US" altLang="en-US" sz="2800" dirty="0"/>
              <a:t>Multiplication: 		* /</a:t>
            </a:r>
          </a:p>
          <a:p>
            <a:pPr lvl="4"/>
            <a:endParaRPr lang="en-US" altLang="en-US" sz="2000" dirty="0"/>
          </a:p>
          <a:p>
            <a:pPr lvl="1"/>
            <a:r>
              <a:rPr lang="en-US" altLang="en-US" sz="2800" dirty="0"/>
              <a:t>Nominal attribute: distinctness</a:t>
            </a:r>
          </a:p>
          <a:p>
            <a:pPr lvl="1"/>
            <a:r>
              <a:rPr lang="en-US" altLang="en-US" sz="2800" dirty="0"/>
              <a:t>Ordinal attribute: distinctness &amp; order</a:t>
            </a:r>
          </a:p>
          <a:p>
            <a:pPr lvl="1"/>
            <a:r>
              <a:rPr lang="en-US" altLang="en-US" sz="2800" dirty="0"/>
              <a:t>Interval attribute: distinctness, order &amp; addition</a:t>
            </a:r>
          </a:p>
          <a:p>
            <a:pPr lvl="1"/>
            <a:r>
              <a:rPr lang="en-US" altLang="en-US" sz="2800" dirty="0"/>
              <a:t>Ratio attribute: all 4 properties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1CD9-ACD0-42BF-AB3E-6AC712A3826C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7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794" name="Group 2"/>
          <p:cNvGrpSpPr>
            <a:grpSpLocks/>
          </p:cNvGrpSpPr>
          <p:nvPr/>
        </p:nvGrpSpPr>
        <p:grpSpPr bwMode="auto">
          <a:xfrm>
            <a:off x="190500" y="165100"/>
            <a:ext cx="11582400" cy="6515100"/>
            <a:chOff x="-2" y="-2"/>
            <a:chExt cx="3890" cy="5274"/>
          </a:xfrm>
        </p:grpSpPr>
        <p:grpSp>
          <p:nvGrpSpPr>
            <p:cNvPr id="801795" name="Group 3"/>
            <p:cNvGrpSpPr>
              <a:grpSpLocks/>
            </p:cNvGrpSpPr>
            <p:nvPr/>
          </p:nvGrpSpPr>
          <p:grpSpPr bwMode="auto">
            <a:xfrm>
              <a:off x="0" y="0"/>
              <a:ext cx="3886" cy="5270"/>
              <a:chOff x="0" y="0"/>
              <a:chExt cx="3886" cy="5270"/>
            </a:xfrm>
          </p:grpSpPr>
          <p:grpSp>
            <p:nvGrpSpPr>
              <p:cNvPr id="801796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684" cy="596"/>
                <a:chOff x="0" y="0"/>
                <a:chExt cx="684" cy="596"/>
              </a:xfrm>
            </p:grpSpPr>
            <p:sp>
              <p:nvSpPr>
                <p:cNvPr id="801797" name="Rectangle 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84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01798" name="Group 6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684" cy="596"/>
                  <a:chOff x="0" y="0"/>
                  <a:chExt cx="684" cy="596"/>
                </a:xfrm>
              </p:grpSpPr>
              <p:sp>
                <p:nvSpPr>
                  <p:cNvPr id="801799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598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ctr" eaLnBrk="1" hangingPunct="1"/>
                    <a:r>
                      <a:rPr lang="en-US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Attribute Type</a:t>
                    </a:r>
                    <a:endPara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01800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684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01801" name="Group 9"/>
              <p:cNvGrpSpPr>
                <a:grpSpLocks/>
              </p:cNvGrpSpPr>
              <p:nvPr/>
            </p:nvGrpSpPr>
            <p:grpSpPr bwMode="auto">
              <a:xfrm>
                <a:off x="684" y="0"/>
                <a:ext cx="1403" cy="596"/>
                <a:chOff x="684" y="0"/>
                <a:chExt cx="1403" cy="596"/>
              </a:xfrm>
            </p:grpSpPr>
            <p:sp>
              <p:nvSpPr>
                <p:cNvPr id="801802" name="Rectangle 10"/>
                <p:cNvSpPr>
                  <a:spLocks noChangeArrowheads="1"/>
                </p:cNvSpPr>
                <p:nvPr/>
              </p:nvSpPr>
              <p:spPr bwMode="auto">
                <a:xfrm>
                  <a:off x="684" y="0"/>
                  <a:ext cx="1403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01803" name="Group 11"/>
                <p:cNvGrpSpPr>
                  <a:grpSpLocks/>
                </p:cNvGrpSpPr>
                <p:nvPr/>
              </p:nvGrpSpPr>
              <p:grpSpPr bwMode="auto">
                <a:xfrm>
                  <a:off x="684" y="0"/>
                  <a:ext cx="1403" cy="596"/>
                  <a:chOff x="684" y="0"/>
                  <a:chExt cx="1403" cy="596"/>
                </a:xfrm>
              </p:grpSpPr>
              <p:sp>
                <p:nvSpPr>
                  <p:cNvPr id="801804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727" y="0"/>
                    <a:ext cx="1317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ctr" eaLnBrk="1" hangingPunct="1"/>
                    <a:r>
                      <a:rPr lang="en-US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Description</a:t>
                    </a:r>
                    <a:endPara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01805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684" y="0"/>
                    <a:ext cx="1403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01806" name="Group 14"/>
              <p:cNvGrpSpPr>
                <a:grpSpLocks/>
              </p:cNvGrpSpPr>
              <p:nvPr/>
            </p:nvGrpSpPr>
            <p:grpSpPr bwMode="auto">
              <a:xfrm>
                <a:off x="2087" y="0"/>
                <a:ext cx="950" cy="596"/>
                <a:chOff x="2087" y="0"/>
                <a:chExt cx="950" cy="596"/>
              </a:xfrm>
            </p:grpSpPr>
            <p:sp>
              <p:nvSpPr>
                <p:cNvPr id="801807" name="Rectangle 15"/>
                <p:cNvSpPr>
                  <a:spLocks noChangeArrowheads="1"/>
                </p:cNvSpPr>
                <p:nvPr/>
              </p:nvSpPr>
              <p:spPr bwMode="auto">
                <a:xfrm>
                  <a:off x="2087" y="0"/>
                  <a:ext cx="950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01808" name="Group 16"/>
                <p:cNvGrpSpPr>
                  <a:grpSpLocks/>
                </p:cNvGrpSpPr>
                <p:nvPr/>
              </p:nvGrpSpPr>
              <p:grpSpPr bwMode="auto">
                <a:xfrm>
                  <a:off x="2087" y="0"/>
                  <a:ext cx="950" cy="596"/>
                  <a:chOff x="2087" y="0"/>
                  <a:chExt cx="950" cy="596"/>
                </a:xfrm>
              </p:grpSpPr>
              <p:sp>
                <p:nvSpPr>
                  <p:cNvPr id="801809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130" y="0"/>
                    <a:ext cx="864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ctr" eaLnBrk="1" hangingPunct="1"/>
                    <a:r>
                      <a:rPr lang="en-US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Examples</a:t>
                    </a:r>
                    <a:endPara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01810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087" y="0"/>
                    <a:ext cx="950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01811" name="Group 19"/>
              <p:cNvGrpSpPr>
                <a:grpSpLocks/>
              </p:cNvGrpSpPr>
              <p:nvPr/>
            </p:nvGrpSpPr>
            <p:grpSpPr bwMode="auto">
              <a:xfrm>
                <a:off x="3037" y="0"/>
                <a:ext cx="849" cy="596"/>
                <a:chOff x="3037" y="0"/>
                <a:chExt cx="849" cy="596"/>
              </a:xfrm>
            </p:grpSpPr>
            <p:sp>
              <p:nvSpPr>
                <p:cNvPr id="801812" name="Rectangle 20"/>
                <p:cNvSpPr>
                  <a:spLocks noChangeArrowheads="1"/>
                </p:cNvSpPr>
                <p:nvPr/>
              </p:nvSpPr>
              <p:spPr bwMode="auto">
                <a:xfrm>
                  <a:off x="3037" y="0"/>
                  <a:ext cx="849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01813" name="Group 21"/>
                <p:cNvGrpSpPr>
                  <a:grpSpLocks/>
                </p:cNvGrpSpPr>
                <p:nvPr/>
              </p:nvGrpSpPr>
              <p:grpSpPr bwMode="auto">
                <a:xfrm>
                  <a:off x="3037" y="0"/>
                  <a:ext cx="849" cy="596"/>
                  <a:chOff x="3037" y="0"/>
                  <a:chExt cx="849" cy="596"/>
                </a:xfrm>
              </p:grpSpPr>
              <p:sp>
                <p:nvSpPr>
                  <p:cNvPr id="801814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080" y="0"/>
                    <a:ext cx="763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ctr" eaLnBrk="1" hangingPunct="1"/>
                    <a:r>
                      <a:rPr lang="en-US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Operations</a:t>
                    </a:r>
                    <a:endPara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01815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0"/>
                    <a:ext cx="849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01816" name="Group 24"/>
              <p:cNvGrpSpPr>
                <a:grpSpLocks/>
              </p:cNvGrpSpPr>
              <p:nvPr/>
            </p:nvGrpSpPr>
            <p:grpSpPr bwMode="auto">
              <a:xfrm>
                <a:off x="0" y="596"/>
                <a:ext cx="684" cy="1130"/>
                <a:chOff x="0" y="596"/>
                <a:chExt cx="684" cy="1130"/>
              </a:xfrm>
            </p:grpSpPr>
            <p:sp>
              <p:nvSpPr>
                <p:cNvPr id="801817" name="Rectangle 25"/>
                <p:cNvSpPr>
                  <a:spLocks noChangeArrowheads="1"/>
                </p:cNvSpPr>
                <p:nvPr/>
              </p:nvSpPr>
              <p:spPr bwMode="auto">
                <a:xfrm>
                  <a:off x="43" y="596"/>
                  <a:ext cx="598" cy="11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Nominal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18" name="Rectangle 26"/>
                <p:cNvSpPr>
                  <a:spLocks noChangeArrowheads="1"/>
                </p:cNvSpPr>
                <p:nvPr/>
              </p:nvSpPr>
              <p:spPr bwMode="auto">
                <a:xfrm>
                  <a:off x="0" y="596"/>
                  <a:ext cx="684" cy="113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19" name="Group 27"/>
              <p:cNvGrpSpPr>
                <a:grpSpLocks/>
              </p:cNvGrpSpPr>
              <p:nvPr/>
            </p:nvGrpSpPr>
            <p:grpSpPr bwMode="auto">
              <a:xfrm>
                <a:off x="684" y="596"/>
                <a:ext cx="1403" cy="1130"/>
                <a:chOff x="684" y="596"/>
                <a:chExt cx="1403" cy="1130"/>
              </a:xfrm>
            </p:grpSpPr>
            <p:sp>
              <p:nvSpPr>
                <p:cNvPr id="801820" name="Rectangle 28"/>
                <p:cNvSpPr>
                  <a:spLocks noChangeArrowheads="1"/>
                </p:cNvSpPr>
                <p:nvPr/>
              </p:nvSpPr>
              <p:spPr bwMode="auto">
                <a:xfrm>
                  <a:off x="727" y="596"/>
                  <a:ext cx="1317" cy="11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The values of a nominal attribute are just different names, i.e., nominal attributes provide only enough information to distinguish one object from another. (=, 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  <a:sym typeface="Symbol" panose="05050102010706020507" pitchFamily="18" charset="2"/>
                    </a:rPr>
                    <a:t>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)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  <a:p>
                  <a:endParaRPr lang="en-US" altLang="en-US">
                    <a:latin typeface="Times New Roman" panose="02020603050405020304" pitchFamily="18" charset="0"/>
                    <a:ea typeface="MS Mincho" pitchFamily="49" charset="-128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801821" name="Rectangle 29"/>
                <p:cNvSpPr>
                  <a:spLocks noChangeArrowheads="1"/>
                </p:cNvSpPr>
                <p:nvPr/>
              </p:nvSpPr>
              <p:spPr bwMode="auto">
                <a:xfrm>
                  <a:off x="684" y="596"/>
                  <a:ext cx="1403" cy="113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22" name="Group 30"/>
              <p:cNvGrpSpPr>
                <a:grpSpLocks/>
              </p:cNvGrpSpPr>
              <p:nvPr/>
            </p:nvGrpSpPr>
            <p:grpSpPr bwMode="auto">
              <a:xfrm>
                <a:off x="2087" y="596"/>
                <a:ext cx="950" cy="1130"/>
                <a:chOff x="2087" y="596"/>
                <a:chExt cx="950" cy="1130"/>
              </a:xfrm>
            </p:grpSpPr>
            <p:sp>
              <p:nvSpPr>
                <p:cNvPr id="801823" name="Rectangle 31"/>
                <p:cNvSpPr>
                  <a:spLocks noChangeArrowheads="1"/>
                </p:cNvSpPr>
                <p:nvPr/>
              </p:nvSpPr>
              <p:spPr bwMode="auto">
                <a:xfrm>
                  <a:off x="2130" y="596"/>
                  <a:ext cx="864" cy="11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zip codes, employee ID numbers, eye color, sex: {</a:t>
                  </a:r>
                  <a: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  <a:t>male, female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}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24" name="Rectangle 32"/>
                <p:cNvSpPr>
                  <a:spLocks noChangeArrowheads="1"/>
                </p:cNvSpPr>
                <p:nvPr/>
              </p:nvSpPr>
              <p:spPr bwMode="auto">
                <a:xfrm>
                  <a:off x="2087" y="596"/>
                  <a:ext cx="950" cy="113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25" name="Group 33"/>
              <p:cNvGrpSpPr>
                <a:grpSpLocks/>
              </p:cNvGrpSpPr>
              <p:nvPr/>
            </p:nvGrpSpPr>
            <p:grpSpPr bwMode="auto">
              <a:xfrm>
                <a:off x="3037" y="596"/>
                <a:ext cx="849" cy="1130"/>
                <a:chOff x="3037" y="596"/>
                <a:chExt cx="849" cy="1130"/>
              </a:xfrm>
            </p:grpSpPr>
            <p:sp>
              <p:nvSpPr>
                <p:cNvPr id="801826" name="Rectangle 34"/>
                <p:cNvSpPr>
                  <a:spLocks noChangeArrowheads="1"/>
                </p:cNvSpPr>
                <p:nvPr/>
              </p:nvSpPr>
              <p:spPr bwMode="auto">
                <a:xfrm>
                  <a:off x="3080" y="596"/>
                  <a:ext cx="763" cy="11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mode, entropy, contingency correlation, 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  <a:sym typeface="Symbol" panose="05050102010706020507" pitchFamily="18" charset="2"/>
                    </a:rPr>
                    <a:t></a:t>
                  </a:r>
                  <a:r>
                    <a:rPr lang="en-US" altLang="en-US" baseline="30000">
                      <a:latin typeface="Times New Roman" panose="02020603050405020304" pitchFamily="18" charset="0"/>
                      <a:ea typeface="MS Mincho" pitchFamily="49" charset="-128"/>
                    </a:rPr>
                    <a:t>2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  <a:sym typeface="Symbol" panose="05050102010706020507" pitchFamily="18" charset="2"/>
                    </a:rPr>
                    <a:t> test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  <a:p>
                  <a:endParaRPr lang="en-US" altLang="en-US">
                    <a:latin typeface="Times New Roman" panose="02020603050405020304" pitchFamily="18" charset="0"/>
                    <a:ea typeface="MS Mincho" pitchFamily="49" charset="-128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801827" name="Rectangle 35"/>
                <p:cNvSpPr>
                  <a:spLocks noChangeArrowheads="1"/>
                </p:cNvSpPr>
                <p:nvPr/>
              </p:nvSpPr>
              <p:spPr bwMode="auto">
                <a:xfrm>
                  <a:off x="3037" y="596"/>
                  <a:ext cx="849" cy="113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28" name="Group 36"/>
              <p:cNvGrpSpPr>
                <a:grpSpLocks/>
              </p:cNvGrpSpPr>
              <p:nvPr/>
            </p:nvGrpSpPr>
            <p:grpSpPr bwMode="auto">
              <a:xfrm>
                <a:off x="0" y="1726"/>
                <a:ext cx="684" cy="1092"/>
                <a:chOff x="0" y="1726"/>
                <a:chExt cx="684" cy="1092"/>
              </a:xfrm>
            </p:grpSpPr>
            <p:sp>
              <p:nvSpPr>
                <p:cNvPr id="801829" name="Rectangle 37"/>
                <p:cNvSpPr>
                  <a:spLocks noChangeArrowheads="1"/>
                </p:cNvSpPr>
                <p:nvPr/>
              </p:nvSpPr>
              <p:spPr bwMode="auto">
                <a:xfrm>
                  <a:off x="43" y="1726"/>
                  <a:ext cx="598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Ordinal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30" name="Rectangle 38"/>
                <p:cNvSpPr>
                  <a:spLocks noChangeArrowheads="1"/>
                </p:cNvSpPr>
                <p:nvPr/>
              </p:nvSpPr>
              <p:spPr bwMode="auto">
                <a:xfrm>
                  <a:off x="0" y="1726"/>
                  <a:ext cx="684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31" name="Group 39"/>
              <p:cNvGrpSpPr>
                <a:grpSpLocks/>
              </p:cNvGrpSpPr>
              <p:nvPr/>
            </p:nvGrpSpPr>
            <p:grpSpPr bwMode="auto">
              <a:xfrm>
                <a:off x="684" y="1726"/>
                <a:ext cx="1403" cy="1092"/>
                <a:chOff x="684" y="1726"/>
                <a:chExt cx="1403" cy="1092"/>
              </a:xfrm>
            </p:grpSpPr>
            <p:sp>
              <p:nvSpPr>
                <p:cNvPr id="801832" name="Rectangle 40"/>
                <p:cNvSpPr>
                  <a:spLocks noChangeArrowheads="1"/>
                </p:cNvSpPr>
                <p:nvPr/>
              </p:nvSpPr>
              <p:spPr bwMode="auto">
                <a:xfrm>
                  <a:off x="727" y="1726"/>
                  <a:ext cx="1317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The values of an ordinal attribute provide enough information to order objects. (&lt;, &gt;)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33" name="Rectangle 41"/>
                <p:cNvSpPr>
                  <a:spLocks noChangeArrowheads="1"/>
                </p:cNvSpPr>
                <p:nvPr/>
              </p:nvSpPr>
              <p:spPr bwMode="auto">
                <a:xfrm>
                  <a:off x="684" y="1726"/>
                  <a:ext cx="1403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34" name="Group 42"/>
              <p:cNvGrpSpPr>
                <a:grpSpLocks/>
              </p:cNvGrpSpPr>
              <p:nvPr/>
            </p:nvGrpSpPr>
            <p:grpSpPr bwMode="auto">
              <a:xfrm>
                <a:off x="2087" y="1726"/>
                <a:ext cx="950" cy="1092"/>
                <a:chOff x="2087" y="1726"/>
                <a:chExt cx="950" cy="1092"/>
              </a:xfrm>
            </p:grpSpPr>
            <p:sp>
              <p:nvSpPr>
                <p:cNvPr id="801835" name="Rectangle 43"/>
                <p:cNvSpPr>
                  <a:spLocks noChangeArrowheads="1"/>
                </p:cNvSpPr>
                <p:nvPr/>
              </p:nvSpPr>
              <p:spPr bwMode="auto">
                <a:xfrm>
                  <a:off x="2130" y="1726"/>
                  <a:ext cx="864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hardness of minerals, {</a:t>
                  </a:r>
                  <a: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  <a:t>good, better, best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}, </a:t>
                  </a:r>
                  <a:b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</a:b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grades, street numbers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36" name="Rectangle 44"/>
                <p:cNvSpPr>
                  <a:spLocks noChangeArrowheads="1"/>
                </p:cNvSpPr>
                <p:nvPr/>
              </p:nvSpPr>
              <p:spPr bwMode="auto">
                <a:xfrm>
                  <a:off x="2087" y="1726"/>
                  <a:ext cx="950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37" name="Group 45"/>
              <p:cNvGrpSpPr>
                <a:grpSpLocks/>
              </p:cNvGrpSpPr>
              <p:nvPr/>
            </p:nvGrpSpPr>
            <p:grpSpPr bwMode="auto">
              <a:xfrm>
                <a:off x="3037" y="1726"/>
                <a:ext cx="849" cy="1092"/>
                <a:chOff x="3037" y="1726"/>
                <a:chExt cx="849" cy="1092"/>
              </a:xfrm>
            </p:grpSpPr>
            <p:sp>
              <p:nvSpPr>
                <p:cNvPr id="801838" name="Rectangle 46"/>
                <p:cNvSpPr>
                  <a:spLocks noChangeArrowheads="1"/>
                </p:cNvSpPr>
                <p:nvPr/>
              </p:nvSpPr>
              <p:spPr bwMode="auto">
                <a:xfrm>
                  <a:off x="3080" y="1726"/>
                  <a:ext cx="763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median, percentiles, rank correlation, run tests, sign tests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39" name="Rectangle 47"/>
                <p:cNvSpPr>
                  <a:spLocks noChangeArrowheads="1"/>
                </p:cNvSpPr>
                <p:nvPr/>
              </p:nvSpPr>
              <p:spPr bwMode="auto">
                <a:xfrm>
                  <a:off x="3037" y="1726"/>
                  <a:ext cx="849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40" name="Group 48"/>
              <p:cNvGrpSpPr>
                <a:grpSpLocks/>
              </p:cNvGrpSpPr>
              <p:nvPr/>
            </p:nvGrpSpPr>
            <p:grpSpPr bwMode="auto">
              <a:xfrm>
                <a:off x="0" y="2818"/>
                <a:ext cx="684" cy="1092"/>
                <a:chOff x="0" y="2818"/>
                <a:chExt cx="684" cy="1092"/>
              </a:xfrm>
            </p:grpSpPr>
            <p:sp>
              <p:nvSpPr>
                <p:cNvPr id="801841" name="Rectangle 49"/>
                <p:cNvSpPr>
                  <a:spLocks noChangeArrowheads="1"/>
                </p:cNvSpPr>
                <p:nvPr/>
              </p:nvSpPr>
              <p:spPr bwMode="auto">
                <a:xfrm>
                  <a:off x="43" y="2818"/>
                  <a:ext cx="598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Interval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42" name="Rectangle 50"/>
                <p:cNvSpPr>
                  <a:spLocks noChangeArrowheads="1"/>
                </p:cNvSpPr>
                <p:nvPr/>
              </p:nvSpPr>
              <p:spPr bwMode="auto">
                <a:xfrm>
                  <a:off x="0" y="2818"/>
                  <a:ext cx="684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43" name="Group 51"/>
              <p:cNvGrpSpPr>
                <a:grpSpLocks/>
              </p:cNvGrpSpPr>
              <p:nvPr/>
            </p:nvGrpSpPr>
            <p:grpSpPr bwMode="auto">
              <a:xfrm>
                <a:off x="684" y="2818"/>
                <a:ext cx="1403" cy="1092"/>
                <a:chOff x="684" y="2818"/>
                <a:chExt cx="1403" cy="1092"/>
              </a:xfrm>
            </p:grpSpPr>
            <p:sp>
              <p:nvSpPr>
                <p:cNvPr id="801844" name="Rectangle 52"/>
                <p:cNvSpPr>
                  <a:spLocks noChangeArrowheads="1"/>
                </p:cNvSpPr>
                <p:nvPr/>
              </p:nvSpPr>
              <p:spPr bwMode="auto">
                <a:xfrm>
                  <a:off x="727" y="2818"/>
                  <a:ext cx="1317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For interval attributes, the differences between values are meaningful, i.e., a unit of measurement exists.  </a:t>
                  </a:r>
                  <a:b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</a:b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(+, - )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45" name="Rectangle 53"/>
                <p:cNvSpPr>
                  <a:spLocks noChangeArrowheads="1"/>
                </p:cNvSpPr>
                <p:nvPr/>
              </p:nvSpPr>
              <p:spPr bwMode="auto">
                <a:xfrm>
                  <a:off x="684" y="2818"/>
                  <a:ext cx="1403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46" name="Group 54"/>
              <p:cNvGrpSpPr>
                <a:grpSpLocks/>
              </p:cNvGrpSpPr>
              <p:nvPr/>
            </p:nvGrpSpPr>
            <p:grpSpPr bwMode="auto">
              <a:xfrm>
                <a:off x="2087" y="2818"/>
                <a:ext cx="950" cy="1092"/>
                <a:chOff x="2087" y="2818"/>
                <a:chExt cx="950" cy="1092"/>
              </a:xfrm>
            </p:grpSpPr>
            <p:sp>
              <p:nvSpPr>
                <p:cNvPr id="801847" name="Rectangle 55"/>
                <p:cNvSpPr>
                  <a:spLocks noChangeArrowheads="1"/>
                </p:cNvSpPr>
                <p:nvPr/>
              </p:nvSpPr>
              <p:spPr bwMode="auto">
                <a:xfrm>
                  <a:off x="2130" y="2818"/>
                  <a:ext cx="864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calendar dates, temperature in Celsius or Fahrenheit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48" name="Rectangle 56"/>
                <p:cNvSpPr>
                  <a:spLocks noChangeArrowheads="1"/>
                </p:cNvSpPr>
                <p:nvPr/>
              </p:nvSpPr>
              <p:spPr bwMode="auto">
                <a:xfrm>
                  <a:off x="2087" y="2818"/>
                  <a:ext cx="950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49" name="Group 57"/>
              <p:cNvGrpSpPr>
                <a:grpSpLocks/>
              </p:cNvGrpSpPr>
              <p:nvPr/>
            </p:nvGrpSpPr>
            <p:grpSpPr bwMode="auto">
              <a:xfrm>
                <a:off x="3037" y="2818"/>
                <a:ext cx="849" cy="1092"/>
                <a:chOff x="3037" y="2818"/>
                <a:chExt cx="849" cy="1092"/>
              </a:xfrm>
            </p:grpSpPr>
            <p:sp>
              <p:nvSpPr>
                <p:cNvPr id="801850" name="Rectangle 58"/>
                <p:cNvSpPr>
                  <a:spLocks noChangeArrowheads="1"/>
                </p:cNvSpPr>
                <p:nvPr/>
              </p:nvSpPr>
              <p:spPr bwMode="auto">
                <a:xfrm>
                  <a:off x="3080" y="2818"/>
                  <a:ext cx="763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mean, standard deviation, Pearson's correlation, </a:t>
                  </a:r>
                  <a: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  <a:t>t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 and </a:t>
                  </a:r>
                  <a: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  <a:t>F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 tests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51" name="Rectangle 59"/>
                <p:cNvSpPr>
                  <a:spLocks noChangeArrowheads="1"/>
                </p:cNvSpPr>
                <p:nvPr/>
              </p:nvSpPr>
              <p:spPr bwMode="auto">
                <a:xfrm>
                  <a:off x="3037" y="2818"/>
                  <a:ext cx="849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52" name="Group 60"/>
              <p:cNvGrpSpPr>
                <a:grpSpLocks/>
              </p:cNvGrpSpPr>
              <p:nvPr/>
            </p:nvGrpSpPr>
            <p:grpSpPr bwMode="auto">
              <a:xfrm>
                <a:off x="0" y="3910"/>
                <a:ext cx="684" cy="1360"/>
                <a:chOff x="0" y="3910"/>
                <a:chExt cx="684" cy="1360"/>
              </a:xfrm>
            </p:grpSpPr>
            <p:sp>
              <p:nvSpPr>
                <p:cNvPr id="801853" name="Rectangle 61"/>
                <p:cNvSpPr>
                  <a:spLocks noChangeArrowheads="1"/>
                </p:cNvSpPr>
                <p:nvPr/>
              </p:nvSpPr>
              <p:spPr bwMode="auto">
                <a:xfrm>
                  <a:off x="43" y="3910"/>
                  <a:ext cx="598" cy="13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Ratio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54" name="Rectangle 62"/>
                <p:cNvSpPr>
                  <a:spLocks noChangeArrowheads="1"/>
                </p:cNvSpPr>
                <p:nvPr/>
              </p:nvSpPr>
              <p:spPr bwMode="auto">
                <a:xfrm>
                  <a:off x="0" y="3910"/>
                  <a:ext cx="684" cy="13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55" name="Group 63"/>
              <p:cNvGrpSpPr>
                <a:grpSpLocks/>
              </p:cNvGrpSpPr>
              <p:nvPr/>
            </p:nvGrpSpPr>
            <p:grpSpPr bwMode="auto">
              <a:xfrm>
                <a:off x="684" y="3910"/>
                <a:ext cx="1403" cy="1360"/>
                <a:chOff x="684" y="3910"/>
                <a:chExt cx="1403" cy="1360"/>
              </a:xfrm>
            </p:grpSpPr>
            <p:sp>
              <p:nvSpPr>
                <p:cNvPr id="801856" name="Rectangle 64"/>
                <p:cNvSpPr>
                  <a:spLocks noChangeArrowheads="1"/>
                </p:cNvSpPr>
                <p:nvPr/>
              </p:nvSpPr>
              <p:spPr bwMode="auto">
                <a:xfrm>
                  <a:off x="727" y="3910"/>
                  <a:ext cx="1317" cy="13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For ratio variables, both differences and ratios are meaningful. (*, /)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57" name="Rectangle 65"/>
                <p:cNvSpPr>
                  <a:spLocks noChangeArrowheads="1"/>
                </p:cNvSpPr>
                <p:nvPr/>
              </p:nvSpPr>
              <p:spPr bwMode="auto">
                <a:xfrm>
                  <a:off x="684" y="3910"/>
                  <a:ext cx="1403" cy="13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58" name="Group 66"/>
              <p:cNvGrpSpPr>
                <a:grpSpLocks/>
              </p:cNvGrpSpPr>
              <p:nvPr/>
            </p:nvGrpSpPr>
            <p:grpSpPr bwMode="auto">
              <a:xfrm>
                <a:off x="2087" y="3910"/>
                <a:ext cx="950" cy="1360"/>
                <a:chOff x="2087" y="3910"/>
                <a:chExt cx="950" cy="1360"/>
              </a:xfrm>
            </p:grpSpPr>
            <p:sp>
              <p:nvSpPr>
                <p:cNvPr id="801859" name="Rectangle 67"/>
                <p:cNvSpPr>
                  <a:spLocks noChangeArrowheads="1"/>
                </p:cNvSpPr>
                <p:nvPr/>
              </p:nvSpPr>
              <p:spPr bwMode="auto">
                <a:xfrm>
                  <a:off x="2130" y="3910"/>
                  <a:ext cx="864" cy="13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temperature in Kelvin, monetary quantities, counts, age, mass, length, electrical current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60" name="Rectangle 68"/>
                <p:cNvSpPr>
                  <a:spLocks noChangeArrowheads="1"/>
                </p:cNvSpPr>
                <p:nvPr/>
              </p:nvSpPr>
              <p:spPr bwMode="auto">
                <a:xfrm>
                  <a:off x="2087" y="3910"/>
                  <a:ext cx="950" cy="13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61" name="Group 69"/>
              <p:cNvGrpSpPr>
                <a:grpSpLocks/>
              </p:cNvGrpSpPr>
              <p:nvPr/>
            </p:nvGrpSpPr>
            <p:grpSpPr bwMode="auto">
              <a:xfrm>
                <a:off x="3037" y="3910"/>
                <a:ext cx="849" cy="1360"/>
                <a:chOff x="3037" y="3910"/>
                <a:chExt cx="849" cy="1360"/>
              </a:xfrm>
            </p:grpSpPr>
            <p:sp>
              <p:nvSpPr>
                <p:cNvPr id="801862" name="Rectangle 70"/>
                <p:cNvSpPr>
                  <a:spLocks noChangeArrowheads="1"/>
                </p:cNvSpPr>
                <p:nvPr/>
              </p:nvSpPr>
              <p:spPr bwMode="auto">
                <a:xfrm>
                  <a:off x="3080" y="3910"/>
                  <a:ext cx="763" cy="13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geometric mean, harmonic mean, percent variation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63" name="Rectangle 71"/>
                <p:cNvSpPr>
                  <a:spLocks noChangeArrowheads="1"/>
                </p:cNvSpPr>
                <p:nvPr/>
              </p:nvSpPr>
              <p:spPr bwMode="auto">
                <a:xfrm>
                  <a:off x="3037" y="3910"/>
                  <a:ext cx="849" cy="13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801864" name="Rectangle 72"/>
            <p:cNvSpPr>
              <a:spLocks noChangeArrowheads="1"/>
            </p:cNvSpPr>
            <p:nvPr/>
          </p:nvSpPr>
          <p:spPr bwMode="auto">
            <a:xfrm>
              <a:off x="-2" y="-2"/>
              <a:ext cx="3890" cy="5274"/>
            </a:xfrm>
            <a:prstGeom prst="rect">
              <a:avLst/>
            </a:prstGeom>
            <a:noFill/>
            <a:ln w="6350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1A9F-69F1-4AF1-A89D-1C1DCEC9C24D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7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2818" name="Group 2"/>
          <p:cNvGrpSpPr>
            <a:grpSpLocks/>
          </p:cNvGrpSpPr>
          <p:nvPr/>
        </p:nvGrpSpPr>
        <p:grpSpPr bwMode="auto">
          <a:xfrm>
            <a:off x="289560" y="274321"/>
            <a:ext cx="11292840" cy="6307456"/>
            <a:chOff x="-2" y="-2"/>
            <a:chExt cx="3761" cy="4164"/>
          </a:xfrm>
        </p:grpSpPr>
        <p:grpSp>
          <p:nvGrpSpPr>
            <p:cNvPr id="802819" name="Group 3"/>
            <p:cNvGrpSpPr>
              <a:grpSpLocks/>
            </p:cNvGrpSpPr>
            <p:nvPr/>
          </p:nvGrpSpPr>
          <p:grpSpPr bwMode="auto">
            <a:xfrm>
              <a:off x="0" y="0"/>
              <a:ext cx="3757" cy="4160"/>
              <a:chOff x="0" y="0"/>
              <a:chExt cx="3757" cy="4160"/>
            </a:xfrm>
          </p:grpSpPr>
          <p:grpSp>
            <p:nvGrpSpPr>
              <p:cNvPr id="802820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684" cy="596"/>
                <a:chOff x="0" y="0"/>
                <a:chExt cx="684" cy="596"/>
              </a:xfrm>
            </p:grpSpPr>
            <p:sp>
              <p:nvSpPr>
                <p:cNvPr id="802821" name="Rectangle 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84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02822" name="Group 6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684" cy="596"/>
                  <a:chOff x="0" y="0"/>
                  <a:chExt cx="684" cy="596"/>
                </a:xfrm>
              </p:grpSpPr>
              <p:sp>
                <p:nvSpPr>
                  <p:cNvPr id="802823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598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ctr" eaLnBrk="1" hangingPunct="1"/>
                    <a:r>
                      <a: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Attribute Level</a:t>
                    </a:r>
                  </a:p>
                  <a:p>
                    <a:pPr algn="ctr"/>
                    <a:endParaRPr lang="en-US" altLang="en-US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02824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684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02825" name="Group 9"/>
              <p:cNvGrpSpPr>
                <a:grpSpLocks/>
              </p:cNvGrpSpPr>
              <p:nvPr/>
            </p:nvGrpSpPr>
            <p:grpSpPr bwMode="auto">
              <a:xfrm>
                <a:off x="684" y="0"/>
                <a:ext cx="1691" cy="596"/>
                <a:chOff x="684" y="0"/>
                <a:chExt cx="1691" cy="596"/>
              </a:xfrm>
            </p:grpSpPr>
            <p:sp>
              <p:nvSpPr>
                <p:cNvPr id="802826" name="Rectangle 10"/>
                <p:cNvSpPr>
                  <a:spLocks noChangeArrowheads="1"/>
                </p:cNvSpPr>
                <p:nvPr/>
              </p:nvSpPr>
              <p:spPr bwMode="auto">
                <a:xfrm>
                  <a:off x="684" y="0"/>
                  <a:ext cx="1691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02827" name="Group 11"/>
                <p:cNvGrpSpPr>
                  <a:grpSpLocks/>
                </p:cNvGrpSpPr>
                <p:nvPr/>
              </p:nvGrpSpPr>
              <p:grpSpPr bwMode="auto">
                <a:xfrm>
                  <a:off x="684" y="0"/>
                  <a:ext cx="1691" cy="596"/>
                  <a:chOff x="684" y="0"/>
                  <a:chExt cx="1691" cy="596"/>
                </a:xfrm>
              </p:grpSpPr>
              <p:sp>
                <p:nvSpPr>
                  <p:cNvPr id="802828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727" y="0"/>
                    <a:ext cx="1605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ctr" eaLnBrk="1" hangingPunct="1"/>
                    <a:r>
                      <a: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Transformation</a:t>
                    </a:r>
                  </a:p>
                  <a:p>
                    <a:pPr algn="ctr"/>
                    <a:endParaRPr lang="en-US" altLang="en-US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02829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684" y="0"/>
                    <a:ext cx="1691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02830" name="Group 14"/>
              <p:cNvGrpSpPr>
                <a:grpSpLocks/>
              </p:cNvGrpSpPr>
              <p:nvPr/>
            </p:nvGrpSpPr>
            <p:grpSpPr bwMode="auto">
              <a:xfrm>
                <a:off x="2375" y="0"/>
                <a:ext cx="1382" cy="596"/>
                <a:chOff x="2375" y="0"/>
                <a:chExt cx="1382" cy="596"/>
              </a:xfrm>
            </p:grpSpPr>
            <p:sp>
              <p:nvSpPr>
                <p:cNvPr id="802831" name="Rectangle 15"/>
                <p:cNvSpPr>
                  <a:spLocks noChangeArrowheads="1"/>
                </p:cNvSpPr>
                <p:nvPr/>
              </p:nvSpPr>
              <p:spPr bwMode="auto">
                <a:xfrm>
                  <a:off x="2375" y="0"/>
                  <a:ext cx="1382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02832" name="Group 16"/>
                <p:cNvGrpSpPr>
                  <a:grpSpLocks/>
                </p:cNvGrpSpPr>
                <p:nvPr/>
              </p:nvGrpSpPr>
              <p:grpSpPr bwMode="auto">
                <a:xfrm>
                  <a:off x="2375" y="0"/>
                  <a:ext cx="1382" cy="596"/>
                  <a:chOff x="2375" y="0"/>
                  <a:chExt cx="1382" cy="596"/>
                </a:xfrm>
              </p:grpSpPr>
              <p:sp>
                <p:nvSpPr>
                  <p:cNvPr id="802833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418" y="0"/>
                    <a:ext cx="1296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ctr" eaLnBrk="1" hangingPunct="1"/>
                    <a:r>
                      <a: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Comments</a:t>
                    </a:r>
                  </a:p>
                  <a:p>
                    <a:pPr algn="ctr"/>
                    <a:endParaRPr lang="en-US" altLang="en-US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02834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375" y="0"/>
                    <a:ext cx="1382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02835" name="Group 19"/>
              <p:cNvGrpSpPr>
                <a:grpSpLocks/>
              </p:cNvGrpSpPr>
              <p:nvPr/>
            </p:nvGrpSpPr>
            <p:grpSpPr bwMode="auto">
              <a:xfrm>
                <a:off x="0" y="596"/>
                <a:ext cx="684" cy="824"/>
                <a:chOff x="0" y="596"/>
                <a:chExt cx="684" cy="824"/>
              </a:xfrm>
            </p:grpSpPr>
            <p:sp>
              <p:nvSpPr>
                <p:cNvPr id="802836" name="Rectangle 20"/>
                <p:cNvSpPr>
                  <a:spLocks noChangeArrowheads="1"/>
                </p:cNvSpPr>
                <p:nvPr/>
              </p:nvSpPr>
              <p:spPr bwMode="auto">
                <a:xfrm>
                  <a:off x="43" y="596"/>
                  <a:ext cx="598" cy="8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Nominal</a:t>
                  </a:r>
                </a:p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37" name="Rectangle 21"/>
                <p:cNvSpPr>
                  <a:spLocks noChangeArrowheads="1"/>
                </p:cNvSpPr>
                <p:nvPr/>
              </p:nvSpPr>
              <p:spPr bwMode="auto">
                <a:xfrm>
                  <a:off x="0" y="596"/>
                  <a:ext cx="684" cy="82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38" name="Group 22"/>
              <p:cNvGrpSpPr>
                <a:grpSpLocks/>
              </p:cNvGrpSpPr>
              <p:nvPr/>
            </p:nvGrpSpPr>
            <p:grpSpPr bwMode="auto">
              <a:xfrm>
                <a:off x="684" y="596"/>
                <a:ext cx="1691" cy="824"/>
                <a:chOff x="684" y="596"/>
                <a:chExt cx="1691" cy="824"/>
              </a:xfrm>
            </p:grpSpPr>
            <p:sp>
              <p:nvSpPr>
                <p:cNvPr id="802839" name="Rectangle 23"/>
                <p:cNvSpPr>
                  <a:spLocks noChangeArrowheads="1"/>
                </p:cNvSpPr>
                <p:nvPr/>
              </p:nvSpPr>
              <p:spPr bwMode="auto">
                <a:xfrm>
                  <a:off x="727" y="596"/>
                  <a:ext cx="1605" cy="8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Any permutation of values</a:t>
                  </a:r>
                  <a:endParaRPr lang="en-US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40" name="Rectangle 24"/>
                <p:cNvSpPr>
                  <a:spLocks noChangeArrowheads="1"/>
                </p:cNvSpPr>
                <p:nvPr/>
              </p:nvSpPr>
              <p:spPr bwMode="auto">
                <a:xfrm>
                  <a:off x="684" y="596"/>
                  <a:ext cx="1691" cy="82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41" name="Group 25"/>
              <p:cNvGrpSpPr>
                <a:grpSpLocks/>
              </p:cNvGrpSpPr>
              <p:nvPr/>
            </p:nvGrpSpPr>
            <p:grpSpPr bwMode="auto">
              <a:xfrm>
                <a:off x="2375" y="596"/>
                <a:ext cx="1382" cy="824"/>
                <a:chOff x="2375" y="596"/>
                <a:chExt cx="1382" cy="824"/>
              </a:xfrm>
            </p:grpSpPr>
            <p:sp>
              <p:nvSpPr>
                <p:cNvPr id="802842" name="Rectangle 26"/>
                <p:cNvSpPr>
                  <a:spLocks noChangeArrowheads="1"/>
                </p:cNvSpPr>
                <p:nvPr/>
              </p:nvSpPr>
              <p:spPr bwMode="auto">
                <a:xfrm>
                  <a:off x="2418" y="596"/>
                  <a:ext cx="1296" cy="8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If all employee ID numbers were reassigned, would it make any difference?</a:t>
                  </a:r>
                </a:p>
                <a:p>
                  <a:endParaRPr lang="en-US" alt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43" name="Rectangle 27"/>
                <p:cNvSpPr>
                  <a:spLocks noChangeArrowheads="1"/>
                </p:cNvSpPr>
                <p:nvPr/>
              </p:nvSpPr>
              <p:spPr bwMode="auto">
                <a:xfrm>
                  <a:off x="2375" y="596"/>
                  <a:ext cx="1382" cy="82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44" name="Group 28"/>
              <p:cNvGrpSpPr>
                <a:grpSpLocks/>
              </p:cNvGrpSpPr>
              <p:nvPr/>
            </p:nvGrpSpPr>
            <p:grpSpPr bwMode="auto">
              <a:xfrm>
                <a:off x="0" y="1420"/>
                <a:ext cx="684" cy="1092"/>
                <a:chOff x="0" y="1420"/>
                <a:chExt cx="684" cy="1092"/>
              </a:xfrm>
            </p:grpSpPr>
            <p:sp>
              <p:nvSpPr>
                <p:cNvPr id="802845" name="Rectangle 29"/>
                <p:cNvSpPr>
                  <a:spLocks noChangeArrowheads="1"/>
                </p:cNvSpPr>
                <p:nvPr/>
              </p:nvSpPr>
              <p:spPr bwMode="auto">
                <a:xfrm>
                  <a:off x="43" y="1420"/>
                  <a:ext cx="598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Ordinal</a:t>
                  </a:r>
                </a:p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46" name="Rectangle 30"/>
                <p:cNvSpPr>
                  <a:spLocks noChangeArrowheads="1"/>
                </p:cNvSpPr>
                <p:nvPr/>
              </p:nvSpPr>
              <p:spPr bwMode="auto">
                <a:xfrm>
                  <a:off x="0" y="1420"/>
                  <a:ext cx="684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47" name="Group 31"/>
              <p:cNvGrpSpPr>
                <a:grpSpLocks/>
              </p:cNvGrpSpPr>
              <p:nvPr/>
            </p:nvGrpSpPr>
            <p:grpSpPr bwMode="auto">
              <a:xfrm>
                <a:off x="684" y="1420"/>
                <a:ext cx="1691" cy="1092"/>
                <a:chOff x="684" y="1420"/>
                <a:chExt cx="1691" cy="1092"/>
              </a:xfrm>
            </p:grpSpPr>
            <p:sp>
              <p:nvSpPr>
                <p:cNvPr id="802848" name="Rectangle 32"/>
                <p:cNvSpPr>
                  <a:spLocks noChangeArrowheads="1"/>
                </p:cNvSpPr>
                <p:nvPr/>
              </p:nvSpPr>
              <p:spPr bwMode="auto">
                <a:xfrm>
                  <a:off x="727" y="1420"/>
                  <a:ext cx="1605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An order preserving change of values, i.e., </a:t>
                  </a:r>
                  <a:b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</a:br>
                  <a: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  <a:t>new_value = f(old_value) </a:t>
                  </a:r>
                  <a:b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</a:b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where </a:t>
                  </a:r>
                  <a: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  <a:t>f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 is a monotonic function.</a:t>
                  </a:r>
                  <a:endParaRPr lang="en-US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49" name="Rectangle 33"/>
                <p:cNvSpPr>
                  <a:spLocks noChangeArrowheads="1"/>
                </p:cNvSpPr>
                <p:nvPr/>
              </p:nvSpPr>
              <p:spPr bwMode="auto">
                <a:xfrm>
                  <a:off x="684" y="1420"/>
                  <a:ext cx="1691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50" name="Group 34"/>
              <p:cNvGrpSpPr>
                <a:grpSpLocks/>
              </p:cNvGrpSpPr>
              <p:nvPr/>
            </p:nvGrpSpPr>
            <p:grpSpPr bwMode="auto">
              <a:xfrm>
                <a:off x="2375" y="1420"/>
                <a:ext cx="1382" cy="1092"/>
                <a:chOff x="2375" y="1420"/>
                <a:chExt cx="1382" cy="1092"/>
              </a:xfrm>
            </p:grpSpPr>
            <p:sp>
              <p:nvSpPr>
                <p:cNvPr id="802851" name="Rectangle 35"/>
                <p:cNvSpPr>
                  <a:spLocks noChangeArrowheads="1"/>
                </p:cNvSpPr>
                <p:nvPr/>
              </p:nvSpPr>
              <p:spPr bwMode="auto">
                <a:xfrm>
                  <a:off x="2418" y="1420"/>
                  <a:ext cx="1296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An attribute encompassing the notion of good, better best can be represented equally well by the values {1, 2, 3} or by { 0.5, 1, 10}.</a:t>
                  </a:r>
                </a:p>
                <a:p>
                  <a:endParaRPr lang="en-US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52" name="Rectangle 36"/>
                <p:cNvSpPr>
                  <a:spLocks noChangeArrowheads="1"/>
                </p:cNvSpPr>
                <p:nvPr/>
              </p:nvSpPr>
              <p:spPr bwMode="auto">
                <a:xfrm>
                  <a:off x="2375" y="1420"/>
                  <a:ext cx="1382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53" name="Group 37"/>
              <p:cNvGrpSpPr>
                <a:grpSpLocks/>
              </p:cNvGrpSpPr>
              <p:nvPr/>
            </p:nvGrpSpPr>
            <p:grpSpPr bwMode="auto">
              <a:xfrm>
                <a:off x="0" y="2512"/>
                <a:ext cx="684" cy="1092"/>
                <a:chOff x="0" y="2512"/>
                <a:chExt cx="684" cy="1092"/>
              </a:xfrm>
            </p:grpSpPr>
            <p:sp>
              <p:nvSpPr>
                <p:cNvPr id="802854" name="Rectangle 38"/>
                <p:cNvSpPr>
                  <a:spLocks noChangeArrowheads="1"/>
                </p:cNvSpPr>
                <p:nvPr/>
              </p:nvSpPr>
              <p:spPr bwMode="auto">
                <a:xfrm>
                  <a:off x="43" y="2512"/>
                  <a:ext cx="598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Interval</a:t>
                  </a:r>
                </a:p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55" name="Rectangle 39"/>
                <p:cNvSpPr>
                  <a:spLocks noChangeArrowheads="1"/>
                </p:cNvSpPr>
                <p:nvPr/>
              </p:nvSpPr>
              <p:spPr bwMode="auto">
                <a:xfrm>
                  <a:off x="0" y="2512"/>
                  <a:ext cx="684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56" name="Group 40"/>
              <p:cNvGrpSpPr>
                <a:grpSpLocks/>
              </p:cNvGrpSpPr>
              <p:nvPr/>
            </p:nvGrpSpPr>
            <p:grpSpPr bwMode="auto">
              <a:xfrm>
                <a:off x="684" y="2512"/>
                <a:ext cx="1691" cy="1092"/>
                <a:chOff x="684" y="2512"/>
                <a:chExt cx="1691" cy="1092"/>
              </a:xfrm>
            </p:grpSpPr>
            <p:sp>
              <p:nvSpPr>
                <p:cNvPr id="802857" name="Rectangle 41"/>
                <p:cNvSpPr>
                  <a:spLocks noChangeArrowheads="1"/>
                </p:cNvSpPr>
                <p:nvPr/>
              </p:nvSpPr>
              <p:spPr bwMode="auto">
                <a:xfrm>
                  <a:off x="727" y="2512"/>
                  <a:ext cx="1605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  <a:t>new_value =a * old_value + b </a:t>
                  </a:r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where a and b are constants</a:t>
                  </a:r>
                </a:p>
                <a:p>
                  <a:endParaRPr lang="en-US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58" name="Rectangle 42"/>
                <p:cNvSpPr>
                  <a:spLocks noChangeArrowheads="1"/>
                </p:cNvSpPr>
                <p:nvPr/>
              </p:nvSpPr>
              <p:spPr bwMode="auto">
                <a:xfrm>
                  <a:off x="684" y="2512"/>
                  <a:ext cx="1691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59" name="Group 43"/>
              <p:cNvGrpSpPr>
                <a:grpSpLocks/>
              </p:cNvGrpSpPr>
              <p:nvPr/>
            </p:nvGrpSpPr>
            <p:grpSpPr bwMode="auto">
              <a:xfrm>
                <a:off x="2375" y="2512"/>
                <a:ext cx="1382" cy="1092"/>
                <a:chOff x="2375" y="2512"/>
                <a:chExt cx="1382" cy="1092"/>
              </a:xfrm>
            </p:grpSpPr>
            <p:sp>
              <p:nvSpPr>
                <p:cNvPr id="802860" name="Rectangle 44"/>
                <p:cNvSpPr>
                  <a:spLocks noChangeArrowheads="1"/>
                </p:cNvSpPr>
                <p:nvPr/>
              </p:nvSpPr>
              <p:spPr bwMode="auto">
                <a:xfrm>
                  <a:off x="2418" y="2512"/>
                  <a:ext cx="1296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Thus, the Fahrenheit and Celsius temperature scales differ in terms of where their zero value is and the size of a unit (degree).</a:t>
                  </a:r>
                </a:p>
                <a:p>
                  <a:endParaRPr lang="en-US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61" name="Rectangle 45"/>
                <p:cNvSpPr>
                  <a:spLocks noChangeArrowheads="1"/>
                </p:cNvSpPr>
                <p:nvPr/>
              </p:nvSpPr>
              <p:spPr bwMode="auto">
                <a:xfrm>
                  <a:off x="2375" y="2512"/>
                  <a:ext cx="1382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62" name="Group 46"/>
              <p:cNvGrpSpPr>
                <a:grpSpLocks/>
              </p:cNvGrpSpPr>
              <p:nvPr/>
            </p:nvGrpSpPr>
            <p:grpSpPr bwMode="auto">
              <a:xfrm>
                <a:off x="0" y="3604"/>
                <a:ext cx="684" cy="556"/>
                <a:chOff x="0" y="3604"/>
                <a:chExt cx="684" cy="556"/>
              </a:xfrm>
            </p:grpSpPr>
            <p:sp>
              <p:nvSpPr>
                <p:cNvPr id="802863" name="Rectangle 47"/>
                <p:cNvSpPr>
                  <a:spLocks noChangeArrowheads="1"/>
                </p:cNvSpPr>
                <p:nvPr/>
              </p:nvSpPr>
              <p:spPr bwMode="auto">
                <a:xfrm>
                  <a:off x="43" y="3604"/>
                  <a:ext cx="598" cy="55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Ratio</a:t>
                  </a:r>
                </a:p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64" name="Rectangle 48"/>
                <p:cNvSpPr>
                  <a:spLocks noChangeArrowheads="1"/>
                </p:cNvSpPr>
                <p:nvPr/>
              </p:nvSpPr>
              <p:spPr bwMode="auto">
                <a:xfrm>
                  <a:off x="0" y="3604"/>
                  <a:ext cx="684" cy="55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65" name="Group 49"/>
              <p:cNvGrpSpPr>
                <a:grpSpLocks/>
              </p:cNvGrpSpPr>
              <p:nvPr/>
            </p:nvGrpSpPr>
            <p:grpSpPr bwMode="auto">
              <a:xfrm>
                <a:off x="684" y="3604"/>
                <a:ext cx="1691" cy="556"/>
                <a:chOff x="684" y="3604"/>
                <a:chExt cx="1691" cy="556"/>
              </a:xfrm>
            </p:grpSpPr>
            <p:sp>
              <p:nvSpPr>
                <p:cNvPr id="802866" name="Rectangle 50"/>
                <p:cNvSpPr>
                  <a:spLocks noChangeArrowheads="1"/>
                </p:cNvSpPr>
                <p:nvPr/>
              </p:nvSpPr>
              <p:spPr bwMode="auto">
                <a:xfrm>
                  <a:off x="727" y="3604"/>
                  <a:ext cx="1605" cy="55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  <a:t>new_value = a * old_value</a:t>
                  </a:r>
                  <a:endParaRPr lang="en-US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67" name="Rectangle 51"/>
                <p:cNvSpPr>
                  <a:spLocks noChangeArrowheads="1"/>
                </p:cNvSpPr>
                <p:nvPr/>
              </p:nvSpPr>
              <p:spPr bwMode="auto">
                <a:xfrm>
                  <a:off x="684" y="3604"/>
                  <a:ext cx="1691" cy="55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68" name="Group 52"/>
              <p:cNvGrpSpPr>
                <a:grpSpLocks/>
              </p:cNvGrpSpPr>
              <p:nvPr/>
            </p:nvGrpSpPr>
            <p:grpSpPr bwMode="auto">
              <a:xfrm>
                <a:off x="2375" y="3604"/>
                <a:ext cx="1382" cy="556"/>
                <a:chOff x="2375" y="3604"/>
                <a:chExt cx="1382" cy="556"/>
              </a:xfrm>
            </p:grpSpPr>
            <p:sp>
              <p:nvSpPr>
                <p:cNvPr id="802869" name="Rectangle 53"/>
                <p:cNvSpPr>
                  <a:spLocks noChangeArrowheads="1"/>
                </p:cNvSpPr>
                <p:nvPr/>
              </p:nvSpPr>
              <p:spPr bwMode="auto">
                <a:xfrm>
                  <a:off x="2418" y="3604"/>
                  <a:ext cx="1296" cy="55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Length can be measured in meters or feet.</a:t>
                  </a:r>
                </a:p>
                <a:p>
                  <a:endParaRPr lang="en-US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70" name="Rectangle 54"/>
                <p:cNvSpPr>
                  <a:spLocks noChangeArrowheads="1"/>
                </p:cNvSpPr>
                <p:nvPr/>
              </p:nvSpPr>
              <p:spPr bwMode="auto">
                <a:xfrm>
                  <a:off x="2375" y="3604"/>
                  <a:ext cx="1382" cy="55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802871" name="Rectangle 55"/>
            <p:cNvSpPr>
              <a:spLocks noChangeArrowheads="1"/>
            </p:cNvSpPr>
            <p:nvPr/>
          </p:nvSpPr>
          <p:spPr bwMode="auto">
            <a:xfrm>
              <a:off x="-2" y="-2"/>
              <a:ext cx="3761" cy="4164"/>
            </a:xfrm>
            <a:prstGeom prst="rect">
              <a:avLst/>
            </a:prstGeom>
            <a:noFill/>
            <a:ln w="6350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2B23-D371-4223-96B9-428F2C496075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13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6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5783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Discrete and Continuous Attributes </a:t>
            </a:r>
          </a:p>
        </p:txBody>
      </p:sp>
      <p:sp>
        <p:nvSpPr>
          <p:cNvPr id="78131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02920" y="990600"/>
            <a:ext cx="10850880" cy="51863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Discrete Attribute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Has only a finite or countably infinite set of values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Examples: zip codes, counts, or the set of words in a collection of documents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Often represented as integer variables. 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Note: binary attributes are a special case of discrete attributes </a:t>
            </a:r>
          </a:p>
          <a:p>
            <a:pPr lvl="4"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dirty="0"/>
              <a:t>Continuous Attribute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Has real numbers as attribute values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Examples: temperature, height, or weight.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Practically, real values can only be measured and represented using a finite number of digits.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Continuous attributes are typically represented as floating-point variables.  </a:t>
            </a:r>
          </a:p>
          <a:p>
            <a:pPr lvl="4">
              <a:lnSpc>
                <a:spcPct val="90000"/>
              </a:lnSpc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07923-433B-4C76-B789-83C40FD9166D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5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5852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Types of data sets </a:t>
            </a:r>
          </a:p>
        </p:txBody>
      </p:sp>
      <p:sp>
        <p:nvSpPr>
          <p:cNvPr id="8663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90600" y="807720"/>
            <a:ext cx="9631680" cy="5548630"/>
          </a:xfrm>
          <a:noFill/>
          <a:ln/>
        </p:spPr>
        <p:txBody>
          <a:bodyPr>
            <a:normAutofit/>
          </a:bodyPr>
          <a:lstStyle/>
          <a:p>
            <a:pPr marL="285750" indent="-285750">
              <a:lnSpc>
                <a:spcPct val="95000"/>
              </a:lnSpc>
              <a:spcBef>
                <a:spcPct val="20000"/>
              </a:spcBef>
            </a:pPr>
            <a:r>
              <a:rPr lang="en-US" altLang="en-US" sz="3200" dirty="0">
                <a:cs typeface="Times New Roman" panose="02020603050405020304" pitchFamily="18" charset="0"/>
              </a:rPr>
              <a:t>Record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Data Matrix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Document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Transaction Data</a:t>
            </a:r>
            <a:endParaRPr lang="en-US" altLang="en-US" sz="2800" dirty="0"/>
          </a:p>
          <a:p>
            <a:pPr marL="285750" indent="-285750">
              <a:lnSpc>
                <a:spcPct val="95000"/>
              </a:lnSpc>
              <a:spcBef>
                <a:spcPct val="20000"/>
              </a:spcBef>
            </a:pPr>
            <a:r>
              <a:rPr lang="en-US" altLang="en-US" sz="3200" dirty="0">
                <a:cs typeface="Times New Roman" panose="02020603050405020304" pitchFamily="18" charset="0"/>
              </a:rPr>
              <a:t>Graph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World Wide Web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Molecular Structures</a:t>
            </a:r>
          </a:p>
          <a:p>
            <a:pPr marL="285750" indent="-285750">
              <a:lnSpc>
                <a:spcPct val="95000"/>
              </a:lnSpc>
              <a:spcBef>
                <a:spcPct val="20000"/>
              </a:spcBef>
            </a:pPr>
            <a:r>
              <a:rPr lang="en-US" altLang="en-US" sz="3200" dirty="0">
                <a:cs typeface="Times New Roman" panose="02020603050405020304" pitchFamily="18" charset="0"/>
              </a:rPr>
              <a:t>Ordered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Spatial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Temporal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Sequential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Genetic Sequence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C7F5-5358-4A39-9AC4-F5C752CAE264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9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585200" cy="685800"/>
          </a:xfrm>
        </p:spPr>
        <p:txBody>
          <a:bodyPr>
            <a:normAutofit/>
          </a:bodyPr>
          <a:lstStyle/>
          <a:p>
            <a:r>
              <a:rPr lang="en-US" altLang="en-US" sz="3600" b="1" dirty="0"/>
              <a:t>Important Characteristics of Structured Data</a:t>
            </a:r>
          </a:p>
        </p:txBody>
      </p:sp>
      <p:sp>
        <p:nvSpPr>
          <p:cNvPr id="86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5210" y="1007110"/>
            <a:ext cx="8936990" cy="5334000"/>
          </a:xfrm>
          <a:noFill/>
          <a:ln/>
        </p:spPr>
        <p:txBody>
          <a:bodyPr>
            <a:normAutofit/>
          </a:bodyPr>
          <a:lstStyle/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sz="3200" dirty="0"/>
              <a:t>Dimensionality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altLang="en-US" sz="2800" dirty="0"/>
              <a:t> Curse of Dimensionality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altLang="en-US" sz="32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sz="3200" dirty="0"/>
              <a:t>Sparsity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altLang="en-US" sz="2800" dirty="0"/>
              <a:t> Only presence counts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altLang="en-US" sz="32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sz="3200" dirty="0"/>
              <a:t>Resolution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altLang="en-US" sz="2800" dirty="0"/>
              <a:t> Patterns depend on the scale 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71D6E-B7AD-4709-BF7E-4C7572046583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9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8" name="Rectangle 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5783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Record Data </a:t>
            </a:r>
          </a:p>
        </p:txBody>
      </p:sp>
      <p:sp>
        <p:nvSpPr>
          <p:cNvPr id="771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65760" y="1008696"/>
            <a:ext cx="10988040" cy="5168267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Data that consists of a collection of records, each of which consists of a fixed set of attributes </a:t>
            </a:r>
          </a:p>
          <a:p>
            <a:pPr lvl="1"/>
            <a:endParaRPr lang="en-US" altLang="en-US" sz="2800" dirty="0"/>
          </a:p>
          <a:p>
            <a:pPr lvl="1"/>
            <a:endParaRPr lang="en-US" altLang="en-US" sz="2800" dirty="0"/>
          </a:p>
        </p:txBody>
      </p:sp>
      <p:graphicFrame>
        <p:nvGraphicFramePr>
          <p:cNvPr id="771077" name="Object 5"/>
          <p:cNvGraphicFramePr>
            <a:graphicFrameLocks noChangeAspect="1"/>
          </p:cNvGraphicFramePr>
          <p:nvPr>
            <p:extLst/>
          </p:nvPr>
        </p:nvGraphicFramePr>
        <p:xfrm>
          <a:off x="3368040" y="2113355"/>
          <a:ext cx="4267200" cy="4562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Document" r:id="rId4" imgW="5405040" imgH="5778360" progId="Word.Document.8">
                  <p:embed/>
                </p:oleObj>
              </mc:Choice>
              <mc:Fallback>
                <p:oleObj name="Document" r:id="rId4" imgW="5405040" imgH="5778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040" y="2113355"/>
                        <a:ext cx="4267200" cy="4562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547BF-7BD9-438C-9037-2132D4F88B0F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4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9" name="Rectangle 5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5783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Data Matrix </a:t>
            </a:r>
          </a:p>
        </p:txBody>
      </p:sp>
      <p:sp>
        <p:nvSpPr>
          <p:cNvPr id="76903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838200" y="1007109"/>
            <a:ext cx="9415463" cy="3260091"/>
          </a:xfrm>
        </p:spPr>
        <p:txBody>
          <a:bodyPr>
            <a:normAutofit/>
          </a:bodyPr>
          <a:lstStyle/>
          <a:p>
            <a:r>
              <a:rPr lang="en-US" altLang="en-US" dirty="0"/>
              <a:t>If data objects have the same fixed set of numeric attributes, then the data objects can be thought of as points in a multi-dimensional space, where each dimension represents a distinct attribute </a:t>
            </a:r>
          </a:p>
          <a:p>
            <a:pPr lvl="4"/>
            <a:endParaRPr lang="en-US" altLang="en-US" sz="2000" dirty="0"/>
          </a:p>
          <a:p>
            <a:r>
              <a:rPr lang="en-US" altLang="en-US" dirty="0"/>
              <a:t>Such data set can be represented by an m by n matrix, where there are m rows, one for each object, and n columns, one for each attribute</a:t>
            </a:r>
          </a:p>
        </p:txBody>
      </p:sp>
      <p:graphicFrame>
        <p:nvGraphicFramePr>
          <p:cNvPr id="769028" name="Object 4"/>
          <p:cNvGraphicFramePr>
            <a:graphicFrameLocks noChangeAspect="1"/>
          </p:cNvGraphicFramePr>
          <p:nvPr/>
        </p:nvGraphicFramePr>
        <p:xfrm>
          <a:off x="2514600" y="4435476"/>
          <a:ext cx="6705600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VISIO" r:id="rId4" imgW="5705280" imgH="1477440" progId="Visio.Drawing.6">
                  <p:embed/>
                </p:oleObj>
              </mc:Choice>
              <mc:Fallback>
                <p:oleObj name="VISIO" r:id="rId4" imgW="5705280" imgH="14774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435476"/>
                        <a:ext cx="6705600" cy="173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78E1-55A5-44E2-9D2D-E2E937682834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4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6" name="Rectangle 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3403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Document Data</a:t>
            </a:r>
          </a:p>
        </p:txBody>
      </p:sp>
      <p:sp>
        <p:nvSpPr>
          <p:cNvPr id="7731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20040" y="1007110"/>
            <a:ext cx="11033760" cy="516985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Each document becomes a `term' vector, </a:t>
            </a:r>
          </a:p>
          <a:p>
            <a:pPr lvl="1"/>
            <a:r>
              <a:rPr lang="en-US" altLang="en-US" sz="2800" dirty="0"/>
              <a:t>each term is a component (attribute) of the vector,</a:t>
            </a:r>
          </a:p>
          <a:p>
            <a:pPr lvl="1"/>
            <a:r>
              <a:rPr lang="en-US" altLang="en-US" sz="2800" dirty="0"/>
              <a:t>the value of each component is the number of times the corresponding term occurs in the document. </a:t>
            </a:r>
          </a:p>
          <a:p>
            <a:pPr lvl="1"/>
            <a:endParaRPr lang="en-US" altLang="en-US" sz="2800" dirty="0"/>
          </a:p>
          <a:p>
            <a:pPr lvl="1"/>
            <a:endParaRPr lang="en-US" altLang="en-US" sz="2800" dirty="0"/>
          </a:p>
        </p:txBody>
      </p:sp>
      <p:graphicFrame>
        <p:nvGraphicFramePr>
          <p:cNvPr id="773125" name="Object 5"/>
          <p:cNvGraphicFramePr>
            <a:graphicFrameLocks noChangeAspect="1"/>
          </p:cNvGraphicFramePr>
          <p:nvPr>
            <p:extLst/>
          </p:nvPr>
        </p:nvGraphicFramePr>
        <p:xfrm>
          <a:off x="2164080" y="2863005"/>
          <a:ext cx="8321040" cy="3866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Visio" r:id="rId4" imgW="5925718" imgH="2693902" progId="Visio.Drawing.6">
                  <p:embed/>
                </p:oleObj>
              </mc:Choice>
              <mc:Fallback>
                <p:oleObj name="Visio" r:id="rId4" imgW="5925718" imgH="269390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4080" y="2863005"/>
                        <a:ext cx="8321040" cy="3866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C64B4-323B-4DC2-A8A5-5E6859296E02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5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4" name="Rectangle 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2735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Transaction Data</a:t>
            </a:r>
          </a:p>
        </p:txBody>
      </p:sp>
      <p:sp>
        <p:nvSpPr>
          <p:cNvPr id="7751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533400" y="1021080"/>
            <a:ext cx="10820400" cy="515588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A special type of record data, where </a:t>
            </a:r>
          </a:p>
          <a:p>
            <a:pPr lvl="1"/>
            <a:r>
              <a:rPr lang="en-US" altLang="en-US" sz="2800" dirty="0"/>
              <a:t>each record (transaction) involves a set of items.  </a:t>
            </a:r>
          </a:p>
          <a:p>
            <a:pPr lvl="1"/>
            <a:r>
              <a:rPr lang="en-US" altLang="en-US" sz="2800" dirty="0"/>
              <a:t>For example, consider a grocery store.  The set of products purchased by a customer during one shopping trip constitute a transaction, while the individual products that were purchased are the items. </a:t>
            </a:r>
          </a:p>
          <a:p>
            <a:pPr lvl="1"/>
            <a:endParaRPr lang="en-US" altLang="en-US" sz="2800" dirty="0"/>
          </a:p>
          <a:p>
            <a:pPr lvl="1"/>
            <a:endParaRPr lang="en-US" altLang="en-US" sz="2800" dirty="0"/>
          </a:p>
        </p:txBody>
      </p:sp>
      <p:graphicFrame>
        <p:nvGraphicFramePr>
          <p:cNvPr id="775173" name="Object 5"/>
          <p:cNvGraphicFramePr>
            <a:graphicFrameLocks noChangeAspect="1"/>
          </p:cNvGraphicFramePr>
          <p:nvPr>
            <p:extLst/>
          </p:nvPr>
        </p:nvGraphicFramePr>
        <p:xfrm>
          <a:off x="2621280" y="3503297"/>
          <a:ext cx="5394960" cy="2821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Document" r:id="rId4" imgW="3823200" imgH="1999080" progId="Word.Document.8">
                  <p:embed/>
                </p:oleObj>
              </mc:Choice>
              <mc:Fallback>
                <p:oleObj name="Document" r:id="rId4" imgW="3823200" imgH="19990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1280" y="3503297"/>
                        <a:ext cx="5394960" cy="28213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5A3A-8FE1-4DA1-B8CB-C41DEC7C6483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2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7" name="Rectangle 7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Graph Data </a:t>
            </a:r>
          </a:p>
        </p:txBody>
      </p:sp>
      <p:sp>
        <p:nvSpPr>
          <p:cNvPr id="78336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40080" y="1264920"/>
            <a:ext cx="10713720" cy="4912043"/>
          </a:xfrm>
        </p:spPr>
        <p:txBody>
          <a:bodyPr/>
          <a:lstStyle/>
          <a:p>
            <a:r>
              <a:rPr lang="en-US" altLang="en-US" dirty="0"/>
              <a:t>Examples: Generic graph and HTML Links </a:t>
            </a:r>
          </a:p>
        </p:txBody>
      </p:sp>
      <p:graphicFrame>
        <p:nvGraphicFramePr>
          <p:cNvPr id="783365" name="Object 5"/>
          <p:cNvGraphicFramePr>
            <a:graphicFrameLocks noChangeAspect="1"/>
          </p:cNvGraphicFramePr>
          <p:nvPr/>
        </p:nvGraphicFramePr>
        <p:xfrm>
          <a:off x="1752600" y="2133600"/>
          <a:ext cx="3556000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VISIO" r:id="rId4" imgW="840600" imgH="646200" progId="Visio.Drawing.6">
                  <p:embed/>
                </p:oleObj>
              </mc:Choice>
              <mc:Fallback>
                <p:oleObj name="VISIO" r:id="rId4" imgW="840600" imgH="6462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133600"/>
                        <a:ext cx="3556000" cy="273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3366" name="Object 6"/>
          <p:cNvGraphicFramePr>
            <a:graphicFrameLocks noChangeAspect="1"/>
          </p:cNvGraphicFramePr>
          <p:nvPr>
            <p:extLst/>
          </p:nvPr>
        </p:nvGraphicFramePr>
        <p:xfrm>
          <a:off x="5943599" y="2112964"/>
          <a:ext cx="5933725" cy="3053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VISIO" r:id="rId6" imgW="4234680" imgH="2179800" progId="Visio.Drawing.6">
                  <p:embed/>
                </p:oleObj>
              </mc:Choice>
              <mc:Fallback>
                <p:oleObj name="VISIO" r:id="rId6" imgW="4234680" imgH="21798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599" y="2112964"/>
                        <a:ext cx="5933725" cy="30533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E86A9-90F4-45FE-8AE0-D5476EEF0BE8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9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87" name="Rectangle 7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8163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Chemical Data </a:t>
            </a:r>
          </a:p>
        </p:txBody>
      </p:sp>
      <p:sp>
        <p:nvSpPr>
          <p:cNvPr id="78848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72440" y="1036320"/>
            <a:ext cx="10881360" cy="5140643"/>
          </a:xfrm>
        </p:spPr>
        <p:txBody>
          <a:bodyPr/>
          <a:lstStyle/>
          <a:p>
            <a:r>
              <a:rPr lang="en-US" altLang="en-US" dirty="0"/>
              <a:t>Benzene Molecule: C</a:t>
            </a:r>
            <a:r>
              <a:rPr lang="en-US" altLang="en-US" baseline="-25000" dirty="0"/>
              <a:t>6</a:t>
            </a:r>
            <a:r>
              <a:rPr lang="en-US" altLang="en-US" dirty="0"/>
              <a:t>H</a:t>
            </a:r>
            <a:r>
              <a:rPr lang="en-US" altLang="en-US" baseline="-25000" dirty="0"/>
              <a:t>6</a:t>
            </a:r>
          </a:p>
          <a:p>
            <a:endParaRPr lang="en-US" altLang="en-US" dirty="0"/>
          </a:p>
        </p:txBody>
      </p:sp>
      <p:graphicFrame>
        <p:nvGraphicFramePr>
          <p:cNvPr id="788486" name="Object 6"/>
          <p:cNvGraphicFramePr>
            <a:graphicFrameLocks noChangeAspect="1"/>
          </p:cNvGraphicFramePr>
          <p:nvPr>
            <p:extLst/>
          </p:nvPr>
        </p:nvGraphicFramePr>
        <p:xfrm>
          <a:off x="3886201" y="2057401"/>
          <a:ext cx="4724399" cy="4404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VISIO" r:id="rId4" imgW="5801400" imgH="5407920" progId="Visio.Drawing.6">
                  <p:embed/>
                </p:oleObj>
              </mc:Choice>
              <mc:Fallback>
                <p:oleObj name="VISIO" r:id="rId4" imgW="5801400" imgH="54079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2057401"/>
                        <a:ext cx="4724399" cy="44049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1E34-31F8-4107-804E-1F8DF6D3ECB4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49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20" name="Rectangle 1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8831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Ordered Data </a:t>
            </a:r>
          </a:p>
        </p:txBody>
      </p:sp>
      <p:sp>
        <p:nvSpPr>
          <p:cNvPr id="78542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502920" y="1036002"/>
            <a:ext cx="10850880" cy="5140961"/>
          </a:xfrm>
        </p:spPr>
        <p:txBody>
          <a:bodyPr/>
          <a:lstStyle/>
          <a:p>
            <a:r>
              <a:rPr lang="en-US" altLang="en-US" dirty="0"/>
              <a:t>Sequences of transactions</a:t>
            </a:r>
          </a:p>
        </p:txBody>
      </p:sp>
      <p:pic>
        <p:nvPicPr>
          <p:cNvPr id="78541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726" y="2408238"/>
            <a:ext cx="5121275" cy="384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85415" name="Text Box 7"/>
          <p:cNvSpPr txBox="1">
            <a:spLocks noChangeArrowheads="1"/>
          </p:cNvSpPr>
          <p:nvPr/>
        </p:nvSpPr>
        <p:spPr bwMode="auto">
          <a:xfrm>
            <a:off x="3946525" y="5486401"/>
            <a:ext cx="2057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An element of the sequence</a:t>
            </a:r>
          </a:p>
        </p:txBody>
      </p:sp>
      <p:sp>
        <p:nvSpPr>
          <p:cNvPr id="785416" name="AutoShape 8"/>
          <p:cNvSpPr>
            <a:spLocks/>
          </p:cNvSpPr>
          <p:nvPr/>
        </p:nvSpPr>
        <p:spPr bwMode="auto">
          <a:xfrm rot="16200000">
            <a:off x="4518025" y="4457700"/>
            <a:ext cx="533400" cy="1371600"/>
          </a:xfrm>
          <a:prstGeom prst="leftBrace">
            <a:avLst>
              <a:gd name="adj1" fmla="val 21429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5417" name="Text Box 9"/>
          <p:cNvSpPr txBox="1">
            <a:spLocks noChangeArrowheads="1"/>
          </p:cNvSpPr>
          <p:nvPr/>
        </p:nvSpPr>
        <p:spPr bwMode="auto">
          <a:xfrm>
            <a:off x="4038600" y="1828801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Items/Events</a:t>
            </a:r>
          </a:p>
        </p:txBody>
      </p:sp>
      <p:sp>
        <p:nvSpPr>
          <p:cNvPr id="785418" name="Line 10"/>
          <p:cNvSpPr>
            <a:spLocks noChangeShapeType="1"/>
          </p:cNvSpPr>
          <p:nvPr/>
        </p:nvSpPr>
        <p:spPr bwMode="auto">
          <a:xfrm>
            <a:off x="46482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5419" name="Line 11"/>
          <p:cNvSpPr>
            <a:spLocks noChangeShapeType="1"/>
          </p:cNvSpPr>
          <p:nvPr/>
        </p:nvSpPr>
        <p:spPr bwMode="auto">
          <a:xfrm>
            <a:off x="51054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07028-D534-4F7D-851F-5B9ADA3422B6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9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533" name="Rectangle 5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3591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Ordered Data </a:t>
            </a:r>
          </a:p>
        </p:txBody>
      </p:sp>
      <p:sp>
        <p:nvSpPr>
          <p:cNvPr id="79053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28600" y="899160"/>
            <a:ext cx="11125200" cy="5277803"/>
          </a:xfrm>
        </p:spPr>
        <p:txBody>
          <a:bodyPr/>
          <a:lstStyle/>
          <a:p>
            <a:r>
              <a:rPr lang="en-US" altLang="en-US" dirty="0"/>
              <a:t> Genomic sequence data</a:t>
            </a:r>
          </a:p>
        </p:txBody>
      </p:sp>
      <p:graphicFrame>
        <p:nvGraphicFramePr>
          <p:cNvPr id="790532" name="Object 4"/>
          <p:cNvGraphicFramePr>
            <a:graphicFrameLocks noChangeAspect="1"/>
          </p:cNvGraphicFramePr>
          <p:nvPr>
            <p:extLst/>
          </p:nvPr>
        </p:nvGraphicFramePr>
        <p:xfrm>
          <a:off x="3185160" y="1313983"/>
          <a:ext cx="5212079" cy="4448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VISIO" r:id="rId4" imgW="2332800" imgH="1990080" progId="Visio.Drawing.6">
                  <p:embed/>
                </p:oleObj>
              </mc:Choice>
              <mc:Fallback>
                <p:oleObj name="VISIO" r:id="rId4" imgW="2332800" imgH="1990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5160" y="1313983"/>
                        <a:ext cx="5212079" cy="44481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3A9E-FBAD-4570-A8B2-C9ED560361FE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3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465" name="Picture 9" descr="sst_land_temp_82_best"/>
          <p:cNvPicPr>
            <a:picLocks noGrp="1" noChangeAspect="1" noChangeArrowheads="1" noCrop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38599" y="1356361"/>
            <a:ext cx="6938551" cy="520557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8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34431"/>
          </a:xfrm>
        </p:spPr>
        <p:txBody>
          <a:bodyPr>
            <a:noAutofit/>
          </a:bodyPr>
          <a:lstStyle/>
          <a:p>
            <a:r>
              <a:rPr lang="en-US" altLang="en-US" sz="3600" b="1" dirty="0"/>
              <a:t>Ordered Data</a:t>
            </a:r>
          </a:p>
        </p:txBody>
      </p:sp>
      <p:sp>
        <p:nvSpPr>
          <p:cNvPr id="787467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472440" y="1234440"/>
            <a:ext cx="10881360" cy="4942523"/>
          </a:xfrm>
        </p:spPr>
        <p:txBody>
          <a:bodyPr/>
          <a:lstStyle/>
          <a:p>
            <a:r>
              <a:rPr lang="en-US" altLang="en-US" dirty="0" err="1"/>
              <a:t>Spatio</a:t>
            </a:r>
            <a:r>
              <a:rPr lang="en-US" altLang="en-US" dirty="0"/>
              <a:t>-Temporal Data</a:t>
            </a:r>
          </a:p>
        </p:txBody>
      </p:sp>
      <p:sp>
        <p:nvSpPr>
          <p:cNvPr id="787459" name="Rectangle 3"/>
          <p:cNvSpPr>
            <a:spLocks noChangeArrowheads="1"/>
          </p:cNvSpPr>
          <p:nvPr/>
        </p:nvSpPr>
        <p:spPr bwMode="auto">
          <a:xfrm>
            <a:off x="4191000" y="26670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87468" name="Text Box 12"/>
          <p:cNvSpPr txBox="1">
            <a:spLocks noChangeArrowheads="1"/>
          </p:cNvSpPr>
          <p:nvPr/>
        </p:nvSpPr>
        <p:spPr bwMode="auto">
          <a:xfrm>
            <a:off x="2362200" y="2955926"/>
            <a:ext cx="2286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Average Monthly Temperature of land and ocean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8F18E-11F0-4933-88C7-AF4B1DD1F4E5}" type="datetime5">
              <a:rPr lang="en-US" smtClean="0"/>
              <a:t>15-Jan-18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0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304800"/>
            <a:ext cx="7315200" cy="762000"/>
          </a:xfrm>
        </p:spPr>
        <p:txBody>
          <a:bodyPr/>
          <a:lstStyle/>
          <a:p>
            <a:r>
              <a:rPr lang="en-US" altLang="en-US"/>
              <a:t>Why Data Preprocessing?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752600"/>
            <a:ext cx="8153400" cy="4724400"/>
          </a:xfrm>
        </p:spPr>
        <p:txBody>
          <a:bodyPr/>
          <a:lstStyle/>
          <a:p>
            <a:r>
              <a:rPr lang="en-US" altLang="en-US" sz="2400"/>
              <a:t>Data in the real world is dirty</a:t>
            </a:r>
          </a:p>
          <a:p>
            <a:pPr lvl="1"/>
            <a:r>
              <a:rPr lang="en-US" altLang="en-US" sz="2000">
                <a:solidFill>
                  <a:srgbClr val="0000FF"/>
                </a:solidFill>
              </a:rPr>
              <a:t>incomplete</a:t>
            </a:r>
            <a:r>
              <a:rPr lang="en-US" altLang="en-US" sz="2000"/>
              <a:t>: lacking </a:t>
            </a:r>
            <a:r>
              <a:rPr lang="en-US" altLang="en-US" sz="2000" i="1"/>
              <a:t>attribute values</a:t>
            </a:r>
            <a:r>
              <a:rPr lang="en-US" altLang="en-US" sz="2000"/>
              <a:t>, lacking certain </a:t>
            </a:r>
            <a:r>
              <a:rPr lang="en-US" altLang="en-US" sz="2000" i="1"/>
              <a:t>attributes of interest</a:t>
            </a:r>
            <a:r>
              <a:rPr lang="en-US" altLang="en-US" sz="2000"/>
              <a:t>, or containing only aggregate data</a:t>
            </a:r>
          </a:p>
          <a:p>
            <a:pPr lvl="1"/>
            <a:r>
              <a:rPr lang="en-US" altLang="en-US" sz="2000">
                <a:solidFill>
                  <a:srgbClr val="0000FF"/>
                </a:solidFill>
              </a:rPr>
              <a:t>noisy</a:t>
            </a:r>
            <a:r>
              <a:rPr lang="en-US" altLang="en-US" sz="2000"/>
              <a:t>: containing errors or outliers</a:t>
            </a:r>
          </a:p>
          <a:p>
            <a:pPr lvl="1"/>
            <a:r>
              <a:rPr lang="en-US" altLang="en-US" sz="2000">
                <a:solidFill>
                  <a:srgbClr val="0000FF"/>
                </a:solidFill>
              </a:rPr>
              <a:t>inconsistent</a:t>
            </a:r>
            <a:r>
              <a:rPr lang="en-US" altLang="en-US" sz="2000"/>
              <a:t>: containing discrepancies in codes or names</a:t>
            </a:r>
          </a:p>
          <a:p>
            <a:r>
              <a:rPr lang="en-US" altLang="en-US" sz="2400"/>
              <a:t>No quality data, no quality mining results!</a:t>
            </a:r>
          </a:p>
          <a:p>
            <a:pPr lvl="1"/>
            <a:r>
              <a:rPr lang="en-US" altLang="en-US" sz="2000"/>
              <a:t>Quality decisions must be based on quality data</a:t>
            </a:r>
          </a:p>
          <a:p>
            <a:pPr lvl="1"/>
            <a:r>
              <a:rPr lang="en-US" altLang="en-US" sz="2000"/>
              <a:t>Data warehouse needs consistent integration of quality data</a:t>
            </a:r>
          </a:p>
          <a:p>
            <a:pPr lvl="1"/>
            <a:r>
              <a:rPr lang="en-US" altLang="en-US" sz="2000"/>
              <a:t>Required for both OLAP and Data Mining!</a:t>
            </a:r>
          </a:p>
        </p:txBody>
      </p:sp>
    </p:spTree>
    <p:extLst>
      <p:ext uri="{BB962C8B-B14F-4D97-AF65-F5344CB8AC3E}">
        <p14:creationId xmlns:p14="http://schemas.microsoft.com/office/powerpoint/2010/main" val="2714683130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2819400" y="457200"/>
            <a:ext cx="7315200" cy="762000"/>
          </a:xfrm>
        </p:spPr>
        <p:txBody>
          <a:bodyPr/>
          <a:lstStyle/>
          <a:p>
            <a:r>
              <a:rPr lang="en-US" altLang="en-US"/>
              <a:t>Why can Data be Incomplete?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752600"/>
            <a:ext cx="8153400" cy="4724400"/>
          </a:xfrm>
        </p:spPr>
        <p:txBody>
          <a:bodyPr/>
          <a:lstStyle/>
          <a:p>
            <a:r>
              <a:rPr lang="en-US" altLang="en-US" sz="2400"/>
              <a:t>Attributes of interest are not available (e.g., customer information for sales transaction data)</a:t>
            </a:r>
          </a:p>
          <a:p>
            <a:r>
              <a:rPr lang="en-US" altLang="en-US" sz="2400"/>
              <a:t>Data were not considered important at the time of transactions, so they were not recorded!</a:t>
            </a:r>
          </a:p>
          <a:p>
            <a:r>
              <a:rPr lang="en-US" altLang="en-US" sz="2400"/>
              <a:t>Data not recorder because of misunderstanding or malfunctions</a:t>
            </a:r>
          </a:p>
          <a:p>
            <a:r>
              <a:rPr lang="en-US" altLang="en-US" sz="2400"/>
              <a:t>Data may have been recorded and later deleted!</a:t>
            </a:r>
          </a:p>
          <a:p>
            <a:r>
              <a:rPr lang="en-US" altLang="en-US" sz="2400"/>
              <a:t>Missing/unknown values for some data</a:t>
            </a:r>
          </a:p>
        </p:txBody>
      </p:sp>
    </p:spTree>
    <p:extLst>
      <p:ext uri="{BB962C8B-B14F-4D97-AF65-F5344CB8AC3E}">
        <p14:creationId xmlns:p14="http://schemas.microsoft.com/office/powerpoint/2010/main" val="2368712994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457200"/>
            <a:ext cx="8077200" cy="762000"/>
          </a:xfrm>
        </p:spPr>
        <p:txBody>
          <a:bodyPr/>
          <a:lstStyle/>
          <a:p>
            <a:r>
              <a:rPr lang="en-US" altLang="en-US" sz="4000"/>
              <a:t>Why can Data be Noisy/Inconsistent?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752600"/>
            <a:ext cx="8153400" cy="4724400"/>
          </a:xfrm>
        </p:spPr>
        <p:txBody>
          <a:bodyPr/>
          <a:lstStyle/>
          <a:p>
            <a:r>
              <a:rPr lang="en-US" altLang="en-US" sz="2400"/>
              <a:t>Faulty instruments for data collection </a:t>
            </a:r>
          </a:p>
          <a:p>
            <a:r>
              <a:rPr lang="en-US" altLang="en-US" sz="2400"/>
              <a:t>Human or computer errors</a:t>
            </a:r>
          </a:p>
          <a:p>
            <a:r>
              <a:rPr lang="en-US" altLang="en-US" sz="2400"/>
              <a:t>Errors in data transmission</a:t>
            </a:r>
          </a:p>
          <a:p>
            <a:r>
              <a:rPr lang="en-US" altLang="en-US" sz="2400"/>
              <a:t>Technology limitations (e.g., sensor data come at a faster rate than they can be processed)</a:t>
            </a:r>
          </a:p>
          <a:p>
            <a:r>
              <a:rPr lang="en-US" altLang="en-US" sz="2400"/>
              <a:t>Inconsistencies in naming conventions or data codes (e.g., 2/5/2002 could be 2 May 2002 or 5 Feb 2002)</a:t>
            </a:r>
          </a:p>
          <a:p>
            <a:r>
              <a:rPr lang="en-US" altLang="en-US" sz="2400"/>
              <a:t>Duplicate tuples, which were received twice should also be removed</a:t>
            </a:r>
          </a:p>
        </p:txBody>
      </p:sp>
    </p:spTree>
    <p:extLst>
      <p:ext uri="{BB962C8B-B14F-4D97-AF65-F5344CB8AC3E}">
        <p14:creationId xmlns:p14="http://schemas.microsoft.com/office/powerpoint/2010/main" val="583711889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685800"/>
            <a:ext cx="89154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Multi-Dimensional Measure of Data Quality</a:t>
            </a:r>
            <a:endParaRPr lang="en-US" altLang="en-US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1600200"/>
            <a:ext cx="794385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A well-accepted multidimensional view: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Accuracy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Completeness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Consistency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Timeliness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Believability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Value added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Interpretability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Accessibility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Broad categories: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intrinsic, contextual, representational, and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4218126673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8382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Major Tasks in Data Preprocessing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524000"/>
            <a:ext cx="8153400" cy="4800600"/>
          </a:xfrm>
        </p:spPr>
        <p:txBody>
          <a:bodyPr/>
          <a:lstStyle/>
          <a:p>
            <a:r>
              <a:rPr lang="en-US" altLang="en-US" sz="2400"/>
              <a:t>Data cleaning</a:t>
            </a:r>
          </a:p>
          <a:p>
            <a:pPr lvl="1"/>
            <a:r>
              <a:rPr lang="en-US" altLang="en-US" sz="1800"/>
              <a:t>Fill in missing values, smooth noisy data, identify or remove </a:t>
            </a:r>
            <a:r>
              <a:rPr lang="en-US" altLang="en-US" sz="1800">
                <a:solidFill>
                  <a:srgbClr val="FF0000"/>
                </a:solidFill>
              </a:rPr>
              <a:t>outliers</a:t>
            </a:r>
            <a:r>
              <a:rPr lang="en-US" altLang="en-US" sz="1800"/>
              <a:t>, and resolve inconsistencies</a:t>
            </a:r>
          </a:p>
          <a:p>
            <a:r>
              <a:rPr lang="en-US" altLang="en-US" sz="2400"/>
              <a:t>Data integration</a:t>
            </a:r>
          </a:p>
          <a:p>
            <a:pPr lvl="1"/>
            <a:r>
              <a:rPr lang="en-US" altLang="en-US" sz="1800"/>
              <a:t>Integration of multiple databases, data cubes, or files</a:t>
            </a:r>
          </a:p>
          <a:p>
            <a:r>
              <a:rPr lang="en-US" altLang="en-US" sz="2400"/>
              <a:t>Data transformation</a:t>
            </a:r>
          </a:p>
          <a:p>
            <a:pPr lvl="1"/>
            <a:r>
              <a:rPr lang="en-US" altLang="en-US" sz="1800"/>
              <a:t>Normalization and aggregation</a:t>
            </a:r>
          </a:p>
          <a:p>
            <a:r>
              <a:rPr lang="en-US" altLang="en-US" sz="2400"/>
              <a:t>Data reduction</a:t>
            </a:r>
          </a:p>
          <a:p>
            <a:pPr lvl="1"/>
            <a:r>
              <a:rPr lang="en-US" altLang="en-US" sz="1800"/>
              <a:t>Obtains reduced representation in volume but produces the same or similar analytical results</a:t>
            </a:r>
          </a:p>
          <a:p>
            <a:r>
              <a:rPr lang="en-US" altLang="en-US" sz="2400"/>
              <a:t>Data discretization</a:t>
            </a:r>
          </a:p>
          <a:p>
            <a:pPr lvl="1"/>
            <a:r>
              <a:rPr lang="en-US" altLang="en-US" sz="1800"/>
              <a:t>Part of data reduction but with particular importance, especially for numerical data</a:t>
            </a:r>
          </a:p>
        </p:txBody>
      </p:sp>
      <p:grpSp>
        <p:nvGrpSpPr>
          <p:cNvPr id="183302" name="Group 6"/>
          <p:cNvGrpSpPr>
            <a:grpSpLocks/>
          </p:cNvGrpSpPr>
          <p:nvPr/>
        </p:nvGrpSpPr>
        <p:grpSpPr bwMode="auto">
          <a:xfrm>
            <a:off x="3733801" y="1447800"/>
            <a:ext cx="3916363" cy="914400"/>
            <a:chOff x="1392" y="912"/>
            <a:chExt cx="2467" cy="576"/>
          </a:xfrm>
        </p:grpSpPr>
        <p:sp>
          <p:nvSpPr>
            <p:cNvPr id="183300" name="Line 4"/>
            <p:cNvSpPr>
              <a:spLocks noChangeShapeType="1"/>
            </p:cNvSpPr>
            <p:nvPr/>
          </p:nvSpPr>
          <p:spPr bwMode="auto">
            <a:xfrm flipV="1">
              <a:off x="1392" y="1056"/>
              <a:ext cx="1200" cy="4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endParaRPr lang="en-US"/>
            </a:p>
          </p:txBody>
        </p:sp>
        <p:sp>
          <p:nvSpPr>
            <p:cNvPr id="183301" name="Text Box 5"/>
            <p:cNvSpPr txBox="1">
              <a:spLocks noChangeArrowheads="1"/>
            </p:cNvSpPr>
            <p:nvPr/>
          </p:nvSpPr>
          <p:spPr bwMode="auto">
            <a:xfrm>
              <a:off x="2544" y="912"/>
              <a:ext cx="131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FF0000"/>
                  </a:solidFill>
                </a:rPr>
                <a:t>outliers=exceptions!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2529847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Forms of data preprocessing</a:t>
            </a:r>
            <a:r>
              <a:rPr lang="en-US" altLang="en-US"/>
              <a:t> </a:t>
            </a:r>
          </a:p>
        </p:txBody>
      </p:sp>
      <p:pic>
        <p:nvPicPr>
          <p:cNvPr id="184324" name="Picture 4" descr="chap3preproc_forms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1600201"/>
            <a:ext cx="8229600" cy="5053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0057513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759</TotalTime>
  <Words>2486</Words>
  <Application>Microsoft Office PowerPoint</Application>
  <PresentationFormat>Widescreen</PresentationFormat>
  <Paragraphs>587</Paragraphs>
  <Slides>43</Slides>
  <Notes>27</Notes>
  <HiddenSlides>1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43</vt:i4>
      </vt:variant>
    </vt:vector>
  </HeadingPairs>
  <TitlesOfParts>
    <vt:vector size="57" baseType="lpstr">
      <vt:lpstr>Arial</vt:lpstr>
      <vt:lpstr>Calibri</vt:lpstr>
      <vt:lpstr>Calibri Light</vt:lpstr>
      <vt:lpstr>Helvetica</vt:lpstr>
      <vt:lpstr>Monotype Sorts</vt:lpstr>
      <vt:lpstr>MS Mincho</vt:lpstr>
      <vt:lpstr>Symbol</vt:lpstr>
      <vt:lpstr>Tahoma</vt:lpstr>
      <vt:lpstr>Times New Roman</vt:lpstr>
      <vt:lpstr>Wingdings</vt:lpstr>
      <vt:lpstr>Office Theme</vt:lpstr>
      <vt:lpstr>VISIO</vt:lpstr>
      <vt:lpstr>Document</vt:lpstr>
      <vt:lpstr>Visio</vt:lpstr>
      <vt:lpstr>CS F415: Data Mining</vt:lpstr>
      <vt:lpstr>Today’s Outline</vt:lpstr>
      <vt:lpstr>Sequential Pattern Discovery</vt:lpstr>
      <vt:lpstr>Sequential Pattern Discovery: Examples</vt:lpstr>
      <vt:lpstr>Regression</vt:lpstr>
      <vt:lpstr>Deviation/Anomaly Detection</vt:lpstr>
      <vt:lpstr>Data Mining vs. Statistical Analysis</vt:lpstr>
      <vt:lpstr>PowerPoint Presentation</vt:lpstr>
      <vt:lpstr>Data Mining vs. DBMS</vt:lpstr>
      <vt:lpstr>Data Mining and Data Warehousing</vt:lpstr>
      <vt:lpstr>An OLAM Architecture</vt:lpstr>
      <vt:lpstr>DBMS, OLAP, and Data Mining </vt:lpstr>
      <vt:lpstr>Example of DBMS, OLAP and Data Mining: Weather Data</vt:lpstr>
      <vt:lpstr>Example of DBMS, OLAP and Data Mining: Weather Data</vt:lpstr>
      <vt:lpstr>Example of DBMS, OLAP and Data Mining: Weather Data</vt:lpstr>
      <vt:lpstr>Example of DBMS, OLAP and Data Mining: Weather Data</vt:lpstr>
      <vt:lpstr>Major Issues in Data Warehousing and Mining</vt:lpstr>
      <vt:lpstr>Major Issues in Data Warehousing and Mining</vt:lpstr>
      <vt:lpstr>What is Data?</vt:lpstr>
      <vt:lpstr>Attribute Values</vt:lpstr>
      <vt:lpstr>Measurement of Length </vt:lpstr>
      <vt:lpstr>Types of Attributes </vt:lpstr>
      <vt:lpstr>Properties of Attribute Values </vt:lpstr>
      <vt:lpstr>PowerPoint Presentation</vt:lpstr>
      <vt:lpstr>PowerPoint Presentation</vt:lpstr>
      <vt:lpstr>Discrete and Continuous Attributes </vt:lpstr>
      <vt:lpstr>Types of data sets </vt:lpstr>
      <vt:lpstr>Important Characteristics of Structured Data</vt:lpstr>
      <vt:lpstr>Record Data </vt:lpstr>
      <vt:lpstr>Data Matrix </vt:lpstr>
      <vt:lpstr>Document Data</vt:lpstr>
      <vt:lpstr>Transaction Data</vt:lpstr>
      <vt:lpstr>Graph Data </vt:lpstr>
      <vt:lpstr>Chemical Data </vt:lpstr>
      <vt:lpstr>Ordered Data </vt:lpstr>
      <vt:lpstr>Ordered Data </vt:lpstr>
      <vt:lpstr>Ordered Data</vt:lpstr>
      <vt:lpstr>Why Data Preprocessing?</vt:lpstr>
      <vt:lpstr>Why can Data be Incomplete?</vt:lpstr>
      <vt:lpstr>Why can Data be Noisy/Inconsistent?</vt:lpstr>
      <vt:lpstr>Multi-Dimensional Measure of Data Quality</vt:lpstr>
      <vt:lpstr>Major Tasks in Data Preprocessing</vt:lpstr>
      <vt:lpstr>Forms of data preprocessing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F415: Data Mining</dc:title>
  <dc:creator>yash Sharma</dc:creator>
  <cp:lastModifiedBy>yash Sharma</cp:lastModifiedBy>
  <cp:revision>22</cp:revision>
  <dcterms:created xsi:type="dcterms:W3CDTF">2016-01-15T03:52:31Z</dcterms:created>
  <dcterms:modified xsi:type="dcterms:W3CDTF">2018-01-15T10:22:54Z</dcterms:modified>
</cp:coreProperties>
</file>