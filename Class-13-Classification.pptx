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9" r:id="rId1"/>
  </p:sldMasterIdLst>
  <p:notesMasterIdLst>
    <p:notesMasterId r:id="rId41"/>
  </p:notesMasterIdLst>
  <p:sldIdLst>
    <p:sldId id="256" r:id="rId2"/>
    <p:sldId id="352" r:id="rId3"/>
    <p:sldId id="354" r:id="rId4"/>
    <p:sldId id="395" r:id="rId5"/>
    <p:sldId id="346" r:id="rId6"/>
    <p:sldId id="397" r:id="rId7"/>
    <p:sldId id="295" r:id="rId8"/>
    <p:sldId id="296" r:id="rId9"/>
    <p:sldId id="300" r:id="rId10"/>
    <p:sldId id="301" r:id="rId11"/>
    <p:sldId id="303" r:id="rId12"/>
    <p:sldId id="304" r:id="rId13"/>
    <p:sldId id="305" r:id="rId14"/>
    <p:sldId id="355" r:id="rId15"/>
    <p:sldId id="356" r:id="rId16"/>
    <p:sldId id="357" r:id="rId17"/>
    <p:sldId id="362" r:id="rId18"/>
    <p:sldId id="358" r:id="rId19"/>
    <p:sldId id="396" r:id="rId20"/>
    <p:sldId id="359" r:id="rId21"/>
    <p:sldId id="360" r:id="rId22"/>
    <p:sldId id="361" r:id="rId23"/>
    <p:sldId id="363" r:id="rId24"/>
    <p:sldId id="398" r:id="rId25"/>
    <p:sldId id="399" r:id="rId26"/>
    <p:sldId id="365" r:id="rId27"/>
    <p:sldId id="366" r:id="rId28"/>
    <p:sldId id="367" r:id="rId29"/>
    <p:sldId id="368" r:id="rId30"/>
    <p:sldId id="369" r:id="rId31"/>
    <p:sldId id="370" r:id="rId32"/>
    <p:sldId id="371" r:id="rId33"/>
    <p:sldId id="400" r:id="rId34"/>
    <p:sldId id="372" r:id="rId35"/>
    <p:sldId id="373" r:id="rId36"/>
    <p:sldId id="374" r:id="rId37"/>
    <p:sldId id="378" r:id="rId38"/>
    <p:sldId id="375" r:id="rId39"/>
    <p:sldId id="376" r:id="rId40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8E2635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171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image" Target="../media/image8.wmf"/><Relationship Id="rId2" Type="http://schemas.openxmlformats.org/officeDocument/2006/relationships/image" Target="../media/image4.wmf"/><Relationship Id="rId1" Type="http://schemas.openxmlformats.org/officeDocument/2006/relationships/image" Target="../media/image3.emf"/><Relationship Id="rId6" Type="http://schemas.openxmlformats.org/officeDocument/2006/relationships/image" Target="../media/image7.wmf"/><Relationship Id="rId5" Type="http://schemas.openxmlformats.org/officeDocument/2006/relationships/image" Target="../media/image1.emf"/><Relationship Id="rId4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37025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4125" y="719138"/>
            <a:ext cx="4794250" cy="3595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0250" y="4554538"/>
            <a:ext cx="5842000" cy="431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7488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7025" y="9107488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B7CBCB5-AD2F-4B40-865E-77C0A819D5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73771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73C8962-733B-4300-AF0B-A989DD98ABCD}" type="datetime1">
              <a:rPr lang="en-US" altLang="en-US" sz="1200" b="0" smtClean="0">
                <a:solidFill>
                  <a:schemeClr val="tx1"/>
                </a:solidFill>
              </a:rPr>
              <a:pPr eaLnBrk="1" hangingPunct="1"/>
              <a:t>09-Feb-18</a:t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1341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 smtClean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1341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996572B-9B28-4AAC-91D2-862257C49084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23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1341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50947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1200" dirty="0" err="1" smtClean="0"/>
              <a:t>Underfitting</a:t>
            </a:r>
            <a:r>
              <a:rPr lang="en-US" altLang="en-US" sz="1200" b="0" dirty="0" smtClean="0"/>
              <a:t>: when model is too simple, both training and test errors are large. TE &amp; GE are large when the size of the tree is very small. 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200" b="0" dirty="0" smtClean="0">
                <a:sym typeface="Symbol" panose="05050102010706020507" pitchFamily="18" charset="2"/>
              </a:rPr>
              <a:t>It occurs because the model is yet to learn the true structure of the data and as a result it performs poorly on both training and test sets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7CBCB5-AD2F-4B40-865E-77C0A819D52F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0424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558AC20-257B-4F31-BC44-F711A155A2B2}" type="datetime1">
              <a:rPr lang="en-US" altLang="en-US" sz="1200" b="0" smtClean="0">
                <a:solidFill>
                  <a:schemeClr val="tx1"/>
                </a:solidFill>
              </a:rPr>
              <a:pPr eaLnBrk="1" hangingPunct="1"/>
              <a:t>09-Feb-18</a:t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13619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 smtClean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1361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CC79639-6E7D-4C28-9B24-6B53AAE2CF17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26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1361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083863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56421AF-E378-4A6C-B81F-51C1AE861840}" type="datetime1">
              <a:rPr lang="en-US" altLang="en-US" sz="1200" b="0" smtClean="0">
                <a:solidFill>
                  <a:schemeClr val="tx1"/>
                </a:solidFill>
              </a:rPr>
              <a:pPr eaLnBrk="1" hangingPunct="1"/>
              <a:t>09-Feb-18</a:t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1372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 smtClean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1372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64AD46C-23E0-4A80-BE95-5AAB735FBEFD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27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1372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55954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54113" y="693738"/>
            <a:ext cx="4552950" cy="3414712"/>
          </a:xfrm>
          <a:ln/>
        </p:spPr>
      </p:sp>
      <p:sp>
        <p:nvSpPr>
          <p:cNvPr id="1382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927694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BB355C3-9BF9-4922-AB00-376E034BA033}" type="datetime1">
              <a:rPr lang="en-US" altLang="en-US" sz="1200" b="0" smtClean="0">
                <a:solidFill>
                  <a:schemeClr val="tx1"/>
                </a:solidFill>
              </a:rPr>
              <a:pPr eaLnBrk="1" hangingPunct="1"/>
              <a:t>09-Feb-18</a:t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139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 smtClean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139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1ED7206-BE4D-471B-90AA-C6C2FA8499A0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30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139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09574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BA9E68D-61F8-4C2A-BE52-79D59BE6028E}" type="datetime1">
              <a:rPr lang="en-US" altLang="en-US" sz="1200" b="0" smtClean="0">
                <a:solidFill>
                  <a:schemeClr val="tx1"/>
                </a:solidFill>
              </a:rPr>
              <a:pPr eaLnBrk="1" hangingPunct="1"/>
              <a:t>09-Feb-18</a:t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1402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 smtClean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1402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5613CBF-98F3-4CFA-B9DF-2B761E5EAA70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31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140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520355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E13EE31-4E08-4A69-B26A-5C0627C4D8B9}" type="datetime1">
              <a:rPr lang="en-US" altLang="en-US" sz="1200" b="0" smtClean="0">
                <a:solidFill>
                  <a:schemeClr val="tx1"/>
                </a:solidFill>
              </a:rPr>
              <a:pPr eaLnBrk="1" hangingPunct="1"/>
              <a:t>09-Feb-18</a:t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1413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 smtClean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1413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336ACC1-006C-4367-A228-58749FF71565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32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1413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712897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6846121-85C9-4D97-AEF8-46774522F6A9}" type="datetime1">
              <a:rPr lang="en-US" altLang="en-US" sz="1200" b="0" smtClean="0">
                <a:solidFill>
                  <a:schemeClr val="tx1"/>
                </a:solidFill>
              </a:rPr>
              <a:pPr eaLnBrk="1" hangingPunct="1"/>
              <a:t>09-Feb-18</a:t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1525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 smtClean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1525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0566C37-50F8-42AC-833B-320A242AE813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34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152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3434172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AD0C2C5-F3D6-498B-84C7-C31ADDFC2C28}" type="datetime1">
              <a:rPr lang="en-US" altLang="en-US" sz="1200" b="0" smtClean="0">
                <a:solidFill>
                  <a:schemeClr val="tx1"/>
                </a:solidFill>
              </a:rPr>
              <a:pPr eaLnBrk="1" hangingPunct="1"/>
              <a:t>09-Feb-18</a:t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1423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 smtClean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1423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7D88196-1B38-4C45-B4EC-104467C9E9D3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35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142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600080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52CD14D-B32B-4431-B0CF-DFE57EEC6825}" type="datetime1">
              <a:rPr lang="en-US" altLang="en-US" sz="1200" b="0" smtClean="0">
                <a:solidFill>
                  <a:schemeClr val="tx1"/>
                </a:solidFill>
              </a:rPr>
              <a:pPr eaLnBrk="1" hangingPunct="1"/>
              <a:t>09-Feb-18</a:t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1433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 smtClean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1433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2520F9A-8EB6-4292-BD35-6CC906DA8E25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36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1433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258389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54113" y="693738"/>
            <a:ext cx="4552950" cy="3414712"/>
          </a:xfrm>
          <a:ln/>
        </p:spPr>
      </p:sp>
      <p:sp>
        <p:nvSpPr>
          <p:cNvPr id="1474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9026016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B7F89E8-694A-44F2-A5D4-AF1302A4BB62}" type="datetime1">
              <a:rPr lang="en-US" altLang="en-US" sz="1200" b="0" smtClean="0">
                <a:solidFill>
                  <a:schemeClr val="tx1"/>
                </a:solidFill>
              </a:rPr>
              <a:pPr eaLnBrk="1" hangingPunct="1"/>
              <a:t>09-Feb-18</a:t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14438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 smtClean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1443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66AB9EB-7D3F-4049-912B-A9161CF134EC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38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1443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424898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D0ABDDE-C3D1-4D3B-8F83-28DDB257B9BD}" type="datetime1">
              <a:rPr lang="en-US" altLang="en-US" sz="1200" b="0" smtClean="0">
                <a:solidFill>
                  <a:schemeClr val="tx1"/>
                </a:solidFill>
              </a:rPr>
              <a:pPr eaLnBrk="1" hangingPunct="1"/>
              <a:t>09-Feb-18</a:t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14541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200" b="0" smtClean="0">
                <a:solidFill>
                  <a:schemeClr val="tx1"/>
                </a:solidFill>
              </a:rPr>
              <a:t>Dr. Navneet Goyal, BITS,Pilani</a:t>
            </a:r>
          </a:p>
        </p:txBody>
      </p:sp>
      <p:sp>
        <p:nvSpPr>
          <p:cNvPr id="1454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91EB8F2-B770-45FC-9609-96935D3087B0}" type="slidenum">
              <a:rPr lang="en-US" altLang="en-US" sz="1200" b="0">
                <a:solidFill>
                  <a:schemeClr val="tx1"/>
                </a:solidFill>
              </a:rPr>
              <a:pPr eaLnBrk="1" hangingPunct="1"/>
              <a:t>39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1454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22779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041400"/>
            <a:ext cx="6858000" cy="2387600"/>
          </a:xfrm>
        </p:spPr>
        <p:txBody>
          <a:bodyPr anchor="b"/>
          <a:lstStyle>
            <a:lvl1pPr algn="ctr">
              <a:defRPr sz="405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44F4E-2C72-4152-887A-3D43B5DE434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8933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6226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4406901"/>
            <a:ext cx="7886700" cy="1362075"/>
          </a:xfrm>
        </p:spPr>
        <p:txBody>
          <a:bodyPr anchor="t"/>
          <a:lstStyle>
            <a:lvl1pPr>
              <a:defRPr sz="3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906713"/>
            <a:ext cx="78867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9CA3F4-4238-430B-87CE-577B9175E4F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8710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0863"/>
            <a:ext cx="3886200" cy="4351337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0863"/>
            <a:ext cx="3886200" cy="4351337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DC1B73-D32C-4321-9BBF-954A8D3FF08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206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74638"/>
            <a:ext cx="78867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1535113"/>
            <a:ext cx="3867150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888" y="2174876"/>
            <a:ext cx="3867150" cy="399732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2248" y="1535113"/>
            <a:ext cx="3868340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248" y="2174876"/>
            <a:ext cx="3868340" cy="399732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993D44-90D9-4320-8616-48C84A8F550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9462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71072-3085-4697-854F-610669DD139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5294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26231F-AE74-4592-B491-F5FC77EC005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0138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685801"/>
            <a:ext cx="3009900" cy="1160463"/>
          </a:xfrm>
        </p:spPr>
        <p:txBody>
          <a:bodyPr anchor="b"/>
          <a:lstStyle>
            <a:lvl1pPr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4998" y="685800"/>
            <a:ext cx="4725590" cy="54864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3888" y="1846264"/>
            <a:ext cx="3009900" cy="432593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22E0B5-74EE-4158-8226-5C46F623953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311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8806" y="4800600"/>
            <a:ext cx="5382816" cy="566738"/>
          </a:xfrm>
        </p:spPr>
        <p:txBody>
          <a:bodyPr anchor="b"/>
          <a:lstStyle>
            <a:lvl1pPr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78806" y="685801"/>
            <a:ext cx="5382816" cy="404177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78806" y="5367338"/>
            <a:ext cx="5382816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6B6A00-779D-4AD5-BC72-98EADCD1953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336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420840-1552-4FE9-A273-06437259782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7865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800725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93BE88-9395-4C19-B7FB-C3D637D97B4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4202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41763"/>
            <a:ext cx="8229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9A7025-B4A2-48F7-A60C-4CF2B963C57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032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0863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6150" y="6356351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D601AF9-070E-4758-9256-B5E4926B0AF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6170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0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  <p:sldLayoutId id="2147484071" r:id="rId12"/>
  </p:sldLayoutIdLst>
  <p:txStyles>
    <p:titleStyle>
      <a:lvl1pPr algn="l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8.bin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8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5" Type="http://schemas.openxmlformats.org/officeDocument/2006/relationships/oleObject" Target="../embeddings/oleObject9.bin"/><Relationship Id="rId10" Type="http://schemas.openxmlformats.org/officeDocument/2006/relationships/image" Target="../media/image6.wmf"/><Relationship Id="rId4" Type="http://schemas.openxmlformats.org/officeDocument/2006/relationships/image" Target="../media/image3.e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7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0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1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3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4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838200"/>
            <a:ext cx="4419600" cy="1828800"/>
          </a:xfrm>
        </p:spPr>
        <p:txBody>
          <a:bodyPr/>
          <a:lstStyle/>
          <a:p>
            <a:pPr eaLnBrk="1" hangingPunct="1">
              <a:defRPr/>
            </a:pPr>
            <a:r>
              <a:rPr lang="en-US" sz="5400" smtClean="0"/>
              <a:t>Classification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 smtClean="0"/>
              <a:t>Decision </a:t>
            </a:r>
            <a:r>
              <a:rPr lang="en-US" dirty="0"/>
              <a:t>Tree </a:t>
            </a:r>
            <a:r>
              <a:rPr lang="en-US" dirty="0" smtClean="0"/>
              <a:t>Example</a:t>
            </a:r>
            <a:endParaRPr lang="en-US" dirty="0" smtClean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 smtClean="0"/>
              <a:t>Characteristics/Issues Decision Tree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 smtClean="0"/>
              <a:t>Model Overfitting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FFA59-EBFF-44A4-B311-98FE26BD463A}" type="datetime4">
              <a:rPr lang="en-US" altLang="en-US"/>
              <a:pPr/>
              <a:t>February 9, 2018</a:t>
            </a:fld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A9644-582E-4022-91FB-753907B144AB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40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609600"/>
          </a:xfrm>
        </p:spPr>
        <p:txBody>
          <a:bodyPr/>
          <a:lstStyle/>
          <a:p>
            <a:r>
              <a:rPr lang="en-US" altLang="en-US" sz="3200"/>
              <a:t>Decision Tree Induction: Training Dataset</a:t>
            </a:r>
          </a:p>
        </p:txBody>
      </p:sp>
      <p:graphicFrame>
        <p:nvGraphicFramePr>
          <p:cNvPr id="1408003" name="Object 3"/>
          <p:cNvGraphicFramePr>
            <a:graphicFrameLocks noGrp="1"/>
          </p:cNvGraphicFramePr>
          <p:nvPr>
            <p:ph type="body" idx="1"/>
          </p:nvPr>
        </p:nvGraphicFramePr>
        <p:xfrm>
          <a:off x="2133600" y="1524000"/>
          <a:ext cx="6629400" cy="480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1" name="Worksheet" r:id="rId3" imgW="6115431" imgH="4458208" progId="Excel.Sheet.8">
                  <p:embed/>
                </p:oleObj>
              </mc:Choice>
              <mc:Fallback>
                <p:oleObj name="Worksheet" r:id="rId3" imgW="6115431" imgH="4458208" progId="Excel.Shee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524000"/>
                        <a:ext cx="6629400" cy="480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733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DFF8-84EB-4B99-91A4-A02FB10A9169}" type="datetime4">
              <a:rPr lang="en-US" altLang="en-US"/>
              <a:pPr/>
              <a:t>February 9, 2018</a:t>
            </a:fld>
            <a:endParaRPr lang="en-US" altLang="en-US"/>
          </a:p>
        </p:txBody>
      </p:sp>
      <p:sp>
        <p:nvSpPr>
          <p:cNvPr id="3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1B805-753F-4E95-B5F1-8DEDFF92160F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28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"/>
          </a:xfrm>
          <a:noFill/>
          <a:ln/>
        </p:spPr>
        <p:txBody>
          <a:bodyPr lIns="92075" tIns="46038" rIns="92075" bIns="46038"/>
          <a:lstStyle/>
          <a:p>
            <a:r>
              <a:rPr lang="en-US" altLang="en-US" sz="2800">
                <a:solidFill>
                  <a:srgbClr val="170981"/>
                </a:solidFill>
              </a:rPr>
              <a:t>Output: A Decision Tree for “</a:t>
            </a:r>
            <a:r>
              <a:rPr lang="en-US" altLang="en-US" sz="2800" i="1">
                <a:solidFill>
                  <a:srgbClr val="170981"/>
                </a:solidFill>
              </a:rPr>
              <a:t>buys_computer”</a:t>
            </a:r>
          </a:p>
        </p:txBody>
      </p:sp>
      <p:grpSp>
        <p:nvGrpSpPr>
          <p:cNvPr id="1288255" name="Group 63"/>
          <p:cNvGrpSpPr>
            <a:grpSpLocks/>
          </p:cNvGrpSpPr>
          <p:nvPr/>
        </p:nvGrpSpPr>
        <p:grpSpPr bwMode="auto">
          <a:xfrm>
            <a:off x="1219200" y="1828800"/>
            <a:ext cx="6305550" cy="3810000"/>
            <a:chOff x="768" y="1152"/>
            <a:chExt cx="3972" cy="2400"/>
          </a:xfrm>
        </p:grpSpPr>
        <p:sp>
          <p:nvSpPr>
            <p:cNvPr id="1288195" name="Rectangle 3"/>
            <p:cNvSpPr>
              <a:spLocks noChangeArrowheads="1"/>
            </p:cNvSpPr>
            <p:nvPr/>
          </p:nvSpPr>
          <p:spPr bwMode="auto">
            <a:xfrm>
              <a:off x="2387" y="1152"/>
              <a:ext cx="475" cy="296"/>
            </a:xfrm>
            <a:prstGeom prst="rect">
              <a:avLst/>
            </a:prstGeom>
            <a:solidFill>
              <a:srgbClr val="00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age?</a:t>
              </a:r>
            </a:p>
          </p:txBody>
        </p:sp>
        <p:sp>
          <p:nvSpPr>
            <p:cNvPr id="1288196" name="Rectangle 4"/>
            <p:cNvSpPr>
              <a:spLocks noChangeArrowheads="1"/>
            </p:cNvSpPr>
            <p:nvPr/>
          </p:nvSpPr>
          <p:spPr bwMode="auto">
            <a:xfrm>
              <a:off x="2245" y="1766"/>
              <a:ext cx="7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overcast</a:t>
              </a:r>
            </a:p>
          </p:txBody>
        </p:sp>
        <p:sp>
          <p:nvSpPr>
            <p:cNvPr id="1288197" name="Rectangle 5"/>
            <p:cNvSpPr>
              <a:spLocks noChangeArrowheads="1"/>
            </p:cNvSpPr>
            <p:nvPr/>
          </p:nvSpPr>
          <p:spPr bwMode="auto">
            <a:xfrm>
              <a:off x="1229" y="2342"/>
              <a:ext cx="763" cy="296"/>
            </a:xfrm>
            <a:prstGeom prst="rect">
              <a:avLst/>
            </a:prstGeom>
            <a:solidFill>
              <a:srgbClr val="00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student?</a:t>
              </a:r>
            </a:p>
          </p:txBody>
        </p:sp>
        <p:sp>
          <p:nvSpPr>
            <p:cNvPr id="1288198" name="Rectangle 6"/>
            <p:cNvSpPr>
              <a:spLocks noChangeArrowheads="1"/>
            </p:cNvSpPr>
            <p:nvPr/>
          </p:nvSpPr>
          <p:spPr bwMode="auto">
            <a:xfrm>
              <a:off x="3432" y="2342"/>
              <a:ext cx="1140" cy="296"/>
            </a:xfrm>
            <a:prstGeom prst="rect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credit rating?</a:t>
              </a:r>
            </a:p>
          </p:txBody>
        </p:sp>
        <p:sp>
          <p:nvSpPr>
            <p:cNvPr id="1288203" name="Line 11"/>
            <p:cNvSpPr>
              <a:spLocks noChangeShapeType="1"/>
            </p:cNvSpPr>
            <p:nvPr/>
          </p:nvSpPr>
          <p:spPr bwMode="auto">
            <a:xfrm flipH="1">
              <a:off x="1619" y="1462"/>
              <a:ext cx="625" cy="83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8204" name="Line 12"/>
            <p:cNvSpPr>
              <a:spLocks noChangeShapeType="1"/>
            </p:cNvSpPr>
            <p:nvPr/>
          </p:nvSpPr>
          <p:spPr bwMode="auto">
            <a:xfrm flipH="1">
              <a:off x="2622" y="1491"/>
              <a:ext cx="1" cy="3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8205" name="Line 13"/>
            <p:cNvSpPr>
              <a:spLocks noChangeShapeType="1"/>
            </p:cNvSpPr>
            <p:nvPr/>
          </p:nvSpPr>
          <p:spPr bwMode="auto">
            <a:xfrm>
              <a:off x="2928" y="1440"/>
              <a:ext cx="1051" cy="89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8206" name="Rectangle 14"/>
            <p:cNvSpPr>
              <a:spLocks noChangeArrowheads="1"/>
            </p:cNvSpPr>
            <p:nvPr/>
          </p:nvSpPr>
          <p:spPr bwMode="auto">
            <a:xfrm>
              <a:off x="1513" y="1730"/>
              <a:ext cx="534" cy="296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altLang="en-US" sz="2400" b="1">
                  <a:latin typeface="Times New Roman" panose="02020603050405020304" pitchFamily="18" charset="0"/>
                </a:rPr>
                <a:t>&lt;=30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288207" name="Rectangle 15"/>
            <p:cNvSpPr>
              <a:spLocks noChangeArrowheads="1"/>
            </p:cNvSpPr>
            <p:nvPr/>
          </p:nvSpPr>
          <p:spPr bwMode="auto">
            <a:xfrm>
              <a:off x="3364" y="1804"/>
              <a:ext cx="417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altLang="en-US" sz="2400" b="1">
                  <a:latin typeface="Times New Roman" panose="02020603050405020304" pitchFamily="18" charset="0"/>
                </a:rPr>
                <a:t>&gt;40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288208" name="Line 16"/>
            <p:cNvSpPr>
              <a:spLocks noChangeShapeType="1"/>
            </p:cNvSpPr>
            <p:nvPr/>
          </p:nvSpPr>
          <p:spPr bwMode="auto">
            <a:xfrm flipH="1">
              <a:off x="960" y="2640"/>
              <a:ext cx="528" cy="6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8209" name="Line 17"/>
            <p:cNvSpPr>
              <a:spLocks noChangeShapeType="1"/>
            </p:cNvSpPr>
            <p:nvPr/>
          </p:nvSpPr>
          <p:spPr bwMode="auto">
            <a:xfrm>
              <a:off x="1728" y="2640"/>
              <a:ext cx="480" cy="6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8210" name="Line 18"/>
            <p:cNvSpPr>
              <a:spLocks noChangeShapeType="1"/>
            </p:cNvSpPr>
            <p:nvPr/>
          </p:nvSpPr>
          <p:spPr bwMode="auto">
            <a:xfrm flipH="1">
              <a:off x="3360" y="2640"/>
              <a:ext cx="480" cy="5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8211" name="Line 19"/>
            <p:cNvSpPr>
              <a:spLocks noChangeShapeType="1"/>
            </p:cNvSpPr>
            <p:nvPr/>
          </p:nvSpPr>
          <p:spPr bwMode="auto">
            <a:xfrm>
              <a:off x="4128" y="2640"/>
              <a:ext cx="432" cy="5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8216" name="Line 24"/>
            <p:cNvSpPr>
              <a:spLocks noChangeShapeType="1"/>
            </p:cNvSpPr>
            <p:nvPr/>
          </p:nvSpPr>
          <p:spPr bwMode="auto">
            <a:xfrm>
              <a:off x="2623" y="2029"/>
              <a:ext cx="0" cy="27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8217" name="Rectangle 25"/>
            <p:cNvSpPr>
              <a:spLocks noChangeArrowheads="1"/>
            </p:cNvSpPr>
            <p:nvPr/>
          </p:nvSpPr>
          <p:spPr bwMode="auto">
            <a:xfrm>
              <a:off x="768" y="3264"/>
              <a:ext cx="308" cy="28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no</a:t>
              </a:r>
            </a:p>
          </p:txBody>
        </p:sp>
        <p:sp>
          <p:nvSpPr>
            <p:cNvPr id="1288219" name="Rectangle 27"/>
            <p:cNvSpPr>
              <a:spLocks noChangeArrowheads="1"/>
            </p:cNvSpPr>
            <p:nvPr/>
          </p:nvSpPr>
          <p:spPr bwMode="auto">
            <a:xfrm>
              <a:off x="2028" y="3264"/>
              <a:ext cx="372" cy="288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1288220" name="Rectangle 28"/>
            <p:cNvSpPr>
              <a:spLocks noChangeArrowheads="1"/>
            </p:cNvSpPr>
            <p:nvPr/>
          </p:nvSpPr>
          <p:spPr bwMode="auto">
            <a:xfrm>
              <a:off x="4368" y="3216"/>
              <a:ext cx="372" cy="288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1288221" name="Rectangle 29"/>
            <p:cNvSpPr>
              <a:spLocks noChangeArrowheads="1"/>
            </p:cNvSpPr>
            <p:nvPr/>
          </p:nvSpPr>
          <p:spPr bwMode="auto">
            <a:xfrm>
              <a:off x="2437" y="2344"/>
              <a:ext cx="372" cy="288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1288222" name="Rectangle 30"/>
            <p:cNvSpPr>
              <a:spLocks noChangeArrowheads="1"/>
            </p:cNvSpPr>
            <p:nvPr/>
          </p:nvSpPr>
          <p:spPr bwMode="auto">
            <a:xfrm>
              <a:off x="2256" y="1824"/>
              <a:ext cx="672" cy="19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sz="2000" b="1">
                  <a:latin typeface="Times New Roman" panose="02020603050405020304" pitchFamily="18" charset="0"/>
                </a:rPr>
                <a:t>31..40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288254" name="Rectangle 62"/>
            <p:cNvSpPr>
              <a:spLocks noChangeArrowheads="1"/>
            </p:cNvSpPr>
            <p:nvPr/>
          </p:nvSpPr>
          <p:spPr bwMode="auto">
            <a:xfrm rot="-143156">
              <a:off x="3168" y="3216"/>
              <a:ext cx="308" cy="288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no</a:t>
              </a:r>
            </a:p>
          </p:txBody>
        </p:sp>
        <p:sp>
          <p:nvSpPr>
            <p:cNvPr id="1288201" name="Rectangle 9"/>
            <p:cNvSpPr>
              <a:spLocks noChangeArrowheads="1"/>
            </p:cNvSpPr>
            <p:nvPr/>
          </p:nvSpPr>
          <p:spPr bwMode="auto">
            <a:xfrm>
              <a:off x="4176" y="2784"/>
              <a:ext cx="382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fair</a:t>
              </a:r>
            </a:p>
          </p:txBody>
        </p:sp>
        <p:sp>
          <p:nvSpPr>
            <p:cNvPr id="1288202" name="Rectangle 10"/>
            <p:cNvSpPr>
              <a:spLocks noChangeArrowheads="1"/>
            </p:cNvSpPr>
            <p:nvPr/>
          </p:nvSpPr>
          <p:spPr bwMode="auto">
            <a:xfrm>
              <a:off x="3072" y="2784"/>
              <a:ext cx="807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excellent</a:t>
              </a:r>
            </a:p>
          </p:txBody>
        </p:sp>
        <p:sp>
          <p:nvSpPr>
            <p:cNvPr id="1288200" name="Rectangle 8"/>
            <p:cNvSpPr>
              <a:spLocks noChangeArrowheads="1"/>
            </p:cNvSpPr>
            <p:nvPr/>
          </p:nvSpPr>
          <p:spPr bwMode="auto">
            <a:xfrm>
              <a:off x="1872" y="2832"/>
              <a:ext cx="372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1288199" name="Rectangle 7"/>
            <p:cNvSpPr>
              <a:spLocks noChangeArrowheads="1"/>
            </p:cNvSpPr>
            <p:nvPr/>
          </p:nvSpPr>
          <p:spPr bwMode="auto">
            <a:xfrm>
              <a:off x="960" y="2832"/>
              <a:ext cx="432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/>
              <a:r>
                <a:rPr lang="en-US" altLang="en-US" sz="2400">
                  <a:latin typeface="Times New Roman" panose="02020603050405020304" pitchFamily="18" charset="0"/>
                </a:rPr>
                <a:t>no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3745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Gain</a:t>
            </a:r>
          </a:p>
        </p:txBody>
      </p:sp>
      <p:sp>
        <p:nvSpPr>
          <p:cNvPr id="4100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/>
          </a:bodyPr>
          <a:lstStyle/>
          <a:p>
            <a:r>
              <a:rPr lang="en-US" sz="2800" b="1" i="1" dirty="0" smtClean="0">
                <a:solidFill>
                  <a:schemeClr val="accent6">
                    <a:lumMod val="75000"/>
                  </a:schemeClr>
                </a:solidFill>
              </a:rPr>
              <a:t>Gain</a:t>
            </a:r>
            <a:r>
              <a:rPr lang="en-US" sz="2800" b="1" i="1" dirty="0" smtClean="0"/>
              <a:t> of an attribute split: </a:t>
            </a:r>
            <a:r>
              <a:rPr lang="en-US" sz="2800" dirty="0" smtClean="0"/>
              <a:t>compare the impurity of the parent node with the average impurity of the child nodes </a:t>
            </a:r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Maximizing</a:t>
            </a:r>
            <a:r>
              <a:rPr lang="en-US" sz="2800" dirty="0" smtClean="0"/>
              <a:t> the </a:t>
            </a:r>
            <a:r>
              <a:rPr lang="en-US" sz="2800" dirty="0" smtClean="0">
                <a:solidFill>
                  <a:srgbClr val="0070C0"/>
                </a:solidFill>
              </a:rPr>
              <a:t>gain</a:t>
            </a:r>
            <a:r>
              <a:rPr lang="en-US" sz="2800" dirty="0" smtClean="0"/>
              <a:t> </a:t>
            </a:r>
            <a:r>
              <a:rPr lang="en-US" sz="2800" dirty="0" smtClean="0">
                <a:sym typeface="Symbol"/>
              </a:rPr>
              <a:t> </a:t>
            </a: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  <a:sym typeface="Symbol"/>
              </a:rPr>
              <a:t>M</a:t>
            </a: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inimizing </a:t>
            </a:r>
            <a:r>
              <a:rPr lang="en-US" sz="2800" dirty="0" smtClean="0"/>
              <a:t>the weighted average </a:t>
            </a:r>
            <a:r>
              <a:rPr lang="en-US" sz="2800" dirty="0" smtClean="0">
                <a:solidFill>
                  <a:srgbClr val="0070C0"/>
                </a:solidFill>
              </a:rPr>
              <a:t>impurity</a:t>
            </a:r>
            <a:r>
              <a:rPr lang="en-US" sz="2800" dirty="0" smtClean="0"/>
              <a:t> measure of children nodes</a:t>
            </a:r>
          </a:p>
          <a:p>
            <a:r>
              <a:rPr lang="en-US" sz="2800" dirty="0" smtClean="0"/>
              <a:t>If </a:t>
            </a:r>
            <a:r>
              <a:rPr lang="en-US" sz="2800" b="1" dirty="0" smtClean="0">
                <a:solidFill>
                  <a:srgbClr val="0070C0"/>
                </a:solidFill>
              </a:rPr>
              <a:t>I() = Entropy(), </a:t>
            </a:r>
            <a:r>
              <a:rPr lang="en-US" sz="2800" dirty="0" smtClean="0"/>
              <a:t>then </a:t>
            </a:r>
            <a:r>
              <a:rPr lang="el-GR" sz="2800" b="1" dirty="0" smtClean="0">
                <a:solidFill>
                  <a:schemeClr val="accent2"/>
                </a:solidFill>
              </a:rPr>
              <a:t>Δ</a:t>
            </a:r>
            <a:r>
              <a:rPr lang="en-US" sz="2800" b="1" baseline="-25000" dirty="0" smtClean="0">
                <a:solidFill>
                  <a:schemeClr val="accent2"/>
                </a:solidFill>
              </a:rPr>
              <a:t>info</a:t>
            </a:r>
            <a:r>
              <a:rPr lang="en-US" sz="2800" b="1" dirty="0" smtClean="0">
                <a:solidFill>
                  <a:schemeClr val="accent2"/>
                </a:solidFill>
              </a:rPr>
              <a:t> </a:t>
            </a:r>
            <a:r>
              <a:rPr lang="en-US" sz="2800" dirty="0" smtClean="0"/>
              <a:t>is called </a:t>
            </a:r>
            <a:r>
              <a:rPr lang="en-US" sz="2800" b="1" dirty="0" smtClean="0">
                <a:solidFill>
                  <a:srgbClr val="0070C0"/>
                </a:solidFill>
              </a:rPr>
              <a:t>information gain</a:t>
            </a: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>
            <p:extLst/>
          </p:nvPr>
        </p:nvGraphicFramePr>
        <p:xfrm>
          <a:off x="2057400" y="3048000"/>
          <a:ext cx="52578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1" name="Equation" r:id="rId3" imgW="1942920" imgH="457200" progId="Equation.3">
                  <p:embed/>
                </p:oleObj>
              </mc:Choice>
              <mc:Fallback>
                <p:oleObj name="Equation" r:id="rId3" imgW="19429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048000"/>
                        <a:ext cx="52578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4032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B04E7-41F4-4D41-864A-7CDBD823C06F}" type="datetime4">
              <a:rPr lang="en-US" altLang="en-US"/>
              <a:pPr/>
              <a:t>February 9, 2018</a:t>
            </a:fld>
            <a:endParaRPr lang="en-US" altLang="en-US"/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Data Mining: Concepts and Techniques</a:t>
            </a:r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D1FC5-3B16-42AE-A4FB-A71245B0EB9D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40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763000" cy="609600"/>
          </a:xfrm>
        </p:spPr>
        <p:txBody>
          <a:bodyPr/>
          <a:lstStyle/>
          <a:p>
            <a:r>
              <a:rPr lang="en-US" altLang="en-US" sz="3200"/>
              <a:t>Attribute Selection: Information Gain</a:t>
            </a:r>
          </a:p>
        </p:txBody>
      </p:sp>
      <p:sp>
        <p:nvSpPr>
          <p:cNvPr id="14090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371600"/>
            <a:ext cx="4152900" cy="16002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30000"/>
              </a:spcBef>
              <a:buSzPct val="80000"/>
              <a:buFont typeface="Marlett" pitchFamily="2" charset="2"/>
              <a:buChar char="g"/>
            </a:pPr>
            <a:r>
              <a:rPr lang="en-US" altLang="en-US" sz="2000">
                <a:solidFill>
                  <a:srgbClr val="121328"/>
                </a:solidFill>
              </a:rPr>
              <a:t>Class P: buys_computer = “yes”</a:t>
            </a:r>
          </a:p>
          <a:p>
            <a:pPr>
              <a:lnSpc>
                <a:spcPct val="80000"/>
              </a:lnSpc>
              <a:spcBef>
                <a:spcPct val="30000"/>
              </a:spcBef>
              <a:buSzPct val="80000"/>
              <a:buFont typeface="Marlett" pitchFamily="2" charset="2"/>
              <a:buChar char="g"/>
            </a:pPr>
            <a:r>
              <a:rPr lang="en-US" altLang="en-US" sz="2000">
                <a:solidFill>
                  <a:srgbClr val="121328"/>
                </a:solidFill>
              </a:rPr>
              <a:t>Class N: buys_computer = “no”</a:t>
            </a:r>
            <a:endParaRPr lang="en-US" altLang="en-US" sz="2400"/>
          </a:p>
        </p:txBody>
      </p:sp>
      <p:sp>
        <p:nvSpPr>
          <p:cNvPr id="140902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724400" y="2743200"/>
            <a:ext cx="4152900" cy="2209800"/>
          </a:xfrm>
        </p:spPr>
        <p:txBody>
          <a:bodyPr>
            <a:normAutofit lnSpcReduction="10000"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121328"/>
                </a:solidFill>
              </a:rPr>
              <a:t>            means “age &lt;=30” has 5 out of 14 samples, with 2 yes’es  and 3 no’s.   Hence</a:t>
            </a:r>
            <a:endParaRPr lang="en-US" altLang="en-US" sz="2000"/>
          </a:p>
          <a:p>
            <a:pPr>
              <a:lnSpc>
                <a:spcPct val="90000"/>
              </a:lnSpc>
              <a:buClr>
                <a:schemeClr val="accent1"/>
              </a:buClr>
              <a:buFont typeface="Wingdings 2" panose="05020102010507070707" pitchFamily="18" charset="2"/>
              <a:buNone/>
            </a:pPr>
            <a:endParaRPr lang="en-US" altLang="en-US" sz="2000"/>
          </a:p>
          <a:p>
            <a:pPr>
              <a:lnSpc>
                <a:spcPct val="90000"/>
              </a:lnSpc>
              <a:buClr>
                <a:schemeClr val="accent1"/>
              </a:buClr>
              <a:buFont typeface="Wingdings 2" panose="05020102010507070707" pitchFamily="18" charset="2"/>
              <a:buNone/>
            </a:pPr>
            <a:endParaRPr lang="en-US" altLang="en-US" sz="2000">
              <a:solidFill>
                <a:srgbClr val="121328"/>
              </a:solidFill>
            </a:endParaRPr>
          </a:p>
          <a:p>
            <a:pPr>
              <a:lnSpc>
                <a:spcPct val="90000"/>
              </a:lnSpc>
              <a:buClr>
                <a:schemeClr val="accent1"/>
              </a:buClr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121328"/>
                </a:solidFill>
              </a:rPr>
              <a:t>Similarly,</a:t>
            </a:r>
          </a:p>
        </p:txBody>
      </p:sp>
      <p:graphicFrame>
        <p:nvGraphicFramePr>
          <p:cNvPr id="1409029" name="Object 5"/>
          <p:cNvGraphicFramePr>
            <a:graphicFrameLocks noChangeAspect="1"/>
          </p:cNvGraphicFramePr>
          <p:nvPr/>
        </p:nvGraphicFramePr>
        <p:xfrm>
          <a:off x="762000" y="2743200"/>
          <a:ext cx="3354388" cy="143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1" name="Worksheet" r:id="rId3" imgW="3352800" imgH="1438250" progId="Excel.Sheet.8">
                  <p:embed/>
                </p:oleObj>
              </mc:Choice>
              <mc:Fallback>
                <p:oleObj name="Worksheet" r:id="rId3" imgW="3352800" imgH="1438250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743200"/>
                        <a:ext cx="3354388" cy="1439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9030" name="Object 6"/>
          <p:cNvGraphicFramePr>
            <a:graphicFrameLocks noChangeAspect="1"/>
          </p:cNvGraphicFramePr>
          <p:nvPr/>
        </p:nvGraphicFramePr>
        <p:xfrm>
          <a:off x="4876800" y="1295400"/>
          <a:ext cx="3754438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2" name="Equation" r:id="rId5" imgW="2044440" imgH="812520" progId="Equation.3">
                  <p:embed/>
                </p:oleObj>
              </mc:Choice>
              <mc:Fallback>
                <p:oleObj name="Equation" r:id="rId5" imgW="204444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295400"/>
                        <a:ext cx="3754438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9031" name="Object 7"/>
          <p:cNvGraphicFramePr>
            <a:graphicFrameLocks noChangeAspect="1"/>
          </p:cNvGraphicFramePr>
          <p:nvPr/>
        </p:nvGraphicFramePr>
        <p:xfrm>
          <a:off x="5029200" y="5257800"/>
          <a:ext cx="35941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3" name="Equation" r:id="rId7" imgW="3593880" imgH="1193760" progId="Equation.3">
                  <p:embed/>
                </p:oleObj>
              </mc:Choice>
              <mc:Fallback>
                <p:oleObj name="Equation" r:id="rId7" imgW="3593880" imgH="1193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5257800"/>
                        <a:ext cx="3594100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9032" name="Object 8"/>
          <p:cNvGraphicFramePr>
            <a:graphicFrameLocks noChangeAspect="1"/>
          </p:cNvGraphicFramePr>
          <p:nvPr/>
        </p:nvGraphicFramePr>
        <p:xfrm>
          <a:off x="4724400" y="4114800"/>
          <a:ext cx="4271963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4" name="Equation" r:id="rId9" imgW="2552400" imgH="241200" progId="Equation.3">
                  <p:embed/>
                </p:oleObj>
              </mc:Choice>
              <mc:Fallback>
                <p:oleObj name="Equation" r:id="rId9" imgW="25524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114800"/>
                        <a:ext cx="4271963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9033" name="Object 9"/>
          <p:cNvGraphicFramePr>
            <a:graphicFrameLocks/>
          </p:cNvGraphicFramePr>
          <p:nvPr/>
        </p:nvGraphicFramePr>
        <p:xfrm>
          <a:off x="152400" y="4191000"/>
          <a:ext cx="441960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5" name="Worksheet" r:id="rId11" imgW="6115431" imgH="4458208" progId="Excel.Sheet.8">
                  <p:embed/>
                </p:oleObj>
              </mc:Choice>
              <mc:Fallback>
                <p:oleObj name="Worksheet" r:id="rId11" imgW="6115431" imgH="4458208" progId="Excel.Shee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191000"/>
                        <a:ext cx="4419600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9034" name="Object 10"/>
          <p:cNvGraphicFramePr>
            <a:graphicFrameLocks noChangeAspect="1"/>
          </p:cNvGraphicFramePr>
          <p:nvPr/>
        </p:nvGraphicFramePr>
        <p:xfrm>
          <a:off x="4495800" y="2743200"/>
          <a:ext cx="1073150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6" name="Equation" r:id="rId13" imgW="583920" imgH="393480" progId="Equation.3">
                  <p:embed/>
                </p:oleObj>
              </mc:Choice>
              <mc:Fallback>
                <p:oleObj name="Equation" r:id="rId13" imgW="5839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743200"/>
                        <a:ext cx="1073150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9035" name="Object 11"/>
          <p:cNvGraphicFramePr>
            <a:graphicFrameLocks noChangeAspect="1"/>
          </p:cNvGraphicFramePr>
          <p:nvPr/>
        </p:nvGraphicFramePr>
        <p:xfrm>
          <a:off x="76200" y="2057400"/>
          <a:ext cx="48006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7" name="Equation" r:id="rId15" imgW="3314520" imgH="393480" progId="Equation.3">
                  <p:embed/>
                </p:oleObj>
              </mc:Choice>
              <mc:Fallback>
                <p:oleObj name="Equation" r:id="rId15" imgW="33145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2057400"/>
                        <a:ext cx="480060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174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2401"/>
            <a:ext cx="7696200" cy="2286000"/>
          </a:xfrm>
        </p:spPr>
        <p:txBody>
          <a:bodyPr>
            <a:normAutofit/>
          </a:bodyPr>
          <a:lstStyle/>
          <a:p>
            <a:pPr marL="457200" indent="-457200">
              <a:buAutoNum type="alphaLcParenBoth"/>
            </a:pPr>
            <a:r>
              <a:rPr lang="en-US" dirty="0" smtClean="0"/>
              <a:t>What </a:t>
            </a:r>
            <a:r>
              <a:rPr lang="en-US" dirty="0"/>
              <a:t>is the entropy of this collection of training examples with </a:t>
            </a:r>
            <a:r>
              <a:rPr lang="en-US" dirty="0" smtClean="0"/>
              <a:t>respect to </a:t>
            </a:r>
            <a:r>
              <a:rPr lang="en-US" dirty="0"/>
              <a:t>the positive class</a:t>
            </a:r>
            <a:r>
              <a:rPr lang="en-US" dirty="0" smtClean="0"/>
              <a:t>?</a:t>
            </a:r>
          </a:p>
          <a:p>
            <a:r>
              <a:rPr lang="en-US" dirty="0"/>
              <a:t>(b) What are the information gains of </a:t>
            </a:r>
            <a:r>
              <a:rPr lang="en-US" i="1" dirty="0"/>
              <a:t>a</a:t>
            </a:r>
            <a:r>
              <a:rPr lang="en-US" dirty="0"/>
              <a:t>1 and </a:t>
            </a:r>
            <a:r>
              <a:rPr lang="en-US" i="1" dirty="0"/>
              <a:t>a</a:t>
            </a:r>
            <a:r>
              <a:rPr lang="en-US" dirty="0"/>
              <a:t>2 relative to these </a:t>
            </a:r>
            <a:r>
              <a:rPr lang="en-US" dirty="0" smtClean="0"/>
              <a:t>training examples</a:t>
            </a:r>
            <a:r>
              <a:rPr lang="en-US" dirty="0"/>
              <a:t>?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90600" y="1828800"/>
            <a:ext cx="5997375" cy="399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303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835025"/>
          </a:xfrm>
        </p:spPr>
        <p:txBody>
          <a:bodyPr/>
          <a:lstStyle/>
          <a:p>
            <a:pPr eaLnBrk="1" hangingPunct="1">
              <a:defRPr/>
            </a:pPr>
            <a:r>
              <a:rPr lang="en-US" sz="3800" dirty="0" smtClean="0"/>
              <a:t>Splitting Based on INFO...</a:t>
            </a:r>
            <a:endParaRPr lang="en-US" dirty="0" smtClean="0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524000"/>
            <a:ext cx="8382000" cy="495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/>
              <a:t>Information Gain: </a:t>
            </a:r>
          </a:p>
          <a:p>
            <a:pPr lvl="1" eaLnBrk="1" hangingPunct="1">
              <a:defRPr/>
            </a:pPr>
            <a:endParaRPr lang="en-US" sz="2400" dirty="0" smtClean="0"/>
          </a:p>
          <a:p>
            <a:pPr marL="1146175" lvl="2" eaLnBrk="1" hangingPunct="1">
              <a:buFont typeface="Wingdings" panose="05000000000000000000" pitchFamily="2" charset="2"/>
              <a:buNone/>
              <a:defRPr/>
            </a:pPr>
            <a:endParaRPr lang="en-US" sz="2000" dirty="0" smtClean="0"/>
          </a:p>
          <a:p>
            <a:pPr marL="1146175" lvl="2" eaLnBrk="1" hangingPunct="1">
              <a:buFont typeface="Wingdings" panose="05000000000000000000" pitchFamily="2" charset="2"/>
              <a:buNone/>
              <a:defRPr/>
            </a:pPr>
            <a:endParaRPr lang="en-US" sz="2000" dirty="0" smtClean="0"/>
          </a:p>
          <a:p>
            <a:pPr marL="1146175" lvl="2" eaLnBrk="1" hangingPunct="1">
              <a:buFont typeface="Wingdings" panose="05000000000000000000" pitchFamily="2" charset="2"/>
              <a:buNone/>
              <a:defRPr/>
            </a:pPr>
            <a:r>
              <a:rPr lang="en-US" sz="2000" dirty="0" smtClean="0"/>
              <a:t>		</a:t>
            </a:r>
            <a:r>
              <a:rPr lang="en-US" sz="2200" dirty="0" smtClean="0"/>
              <a:t>Parent Node, p is split into k partitions;</a:t>
            </a:r>
          </a:p>
          <a:p>
            <a:pPr marL="1146175" lvl="2" eaLnBrk="1" hangingPunct="1">
              <a:buFont typeface="Wingdings" panose="05000000000000000000" pitchFamily="2" charset="2"/>
              <a:buNone/>
              <a:defRPr/>
            </a:pPr>
            <a:r>
              <a:rPr lang="en-US" sz="2200" dirty="0" smtClean="0"/>
              <a:t>		</a:t>
            </a:r>
            <a:r>
              <a:rPr lang="en-US" sz="2200" dirty="0" err="1" smtClean="0"/>
              <a:t>n</a:t>
            </a:r>
            <a:r>
              <a:rPr lang="en-US" sz="2200" baseline="-25000" dirty="0" err="1" smtClean="0"/>
              <a:t>i</a:t>
            </a:r>
            <a:r>
              <a:rPr lang="en-US" sz="2200" dirty="0" smtClean="0"/>
              <a:t> is number of records in partition </a:t>
            </a:r>
            <a:r>
              <a:rPr lang="en-US" sz="2200" dirty="0" err="1" smtClean="0"/>
              <a:t>i</a:t>
            </a:r>
            <a:endParaRPr lang="en-US" sz="2200" dirty="0" smtClean="0"/>
          </a:p>
          <a:p>
            <a:pPr lvl="1" eaLnBrk="1" hangingPunct="1">
              <a:defRPr/>
            </a:pPr>
            <a:r>
              <a:rPr lang="en-US" sz="2400" dirty="0" smtClean="0"/>
              <a:t>Measures Reduction in Entropy achieved because of the split. Choose the split that achieves most reduction (maximizes GAIN)</a:t>
            </a:r>
          </a:p>
          <a:p>
            <a:pPr lvl="1" eaLnBrk="1" hangingPunct="1">
              <a:defRPr/>
            </a:pPr>
            <a:r>
              <a:rPr lang="en-US" sz="2400" dirty="0" smtClean="0"/>
              <a:t>Used in ID3 and C4.5</a:t>
            </a:r>
          </a:p>
          <a:p>
            <a:pPr lvl="1" eaLnBrk="1" hangingPunct="1">
              <a:defRPr/>
            </a:pPr>
            <a:r>
              <a:rPr lang="en-US" sz="2400" dirty="0" smtClean="0"/>
              <a:t>Disadvantage: Tends to prefer splits that result in large number of partitions, each being small but pure.</a:t>
            </a:r>
          </a:p>
        </p:txBody>
      </p:sp>
      <p:graphicFrame>
        <p:nvGraphicFramePr>
          <p:cNvPr id="48132" name="Object 4"/>
          <p:cNvGraphicFramePr>
            <a:graphicFrameLocks noChangeAspect="1"/>
          </p:cNvGraphicFramePr>
          <p:nvPr/>
        </p:nvGraphicFramePr>
        <p:xfrm>
          <a:off x="1752600" y="2057400"/>
          <a:ext cx="6189663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2" name="Equation" r:id="rId3" imgW="5041900" imgH="787400" progId="Equation.3">
                  <p:embed/>
                </p:oleObj>
              </mc:Choice>
              <mc:Fallback>
                <p:oleObj name="Equation" r:id="rId3" imgW="5041900" imgH="78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057400"/>
                        <a:ext cx="6189663" cy="966788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63892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800" smtClean="0"/>
              <a:t>Splitting Based on INFO...</a:t>
            </a:r>
            <a:endParaRPr lang="en-US" smtClean="0"/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43000"/>
            <a:ext cx="83820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/>
              <a:t>Gain Ratio: 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sz="2400" dirty="0" smtClean="0"/>
          </a:p>
          <a:p>
            <a:pPr lvl="1" eaLnBrk="1" hangingPunct="1">
              <a:lnSpc>
                <a:spcPct val="90000"/>
              </a:lnSpc>
              <a:defRPr/>
            </a:pPr>
            <a:endParaRPr lang="en-US" sz="2400" dirty="0" smtClean="0"/>
          </a:p>
          <a:p>
            <a:pPr marL="1146175" lvl="2" eaLnBrk="1" hangingPunct="1">
              <a:lnSpc>
                <a:spcPct val="90000"/>
              </a:lnSpc>
              <a:defRPr/>
            </a:pPr>
            <a:endParaRPr lang="en-US" sz="2000" dirty="0" smtClean="0"/>
          </a:p>
          <a:p>
            <a:pPr marL="1146175" lvl="2" eaLnBrk="1" hangingPunct="1">
              <a:lnSpc>
                <a:spcPct val="90000"/>
              </a:lnSpc>
              <a:defRPr/>
            </a:pPr>
            <a:endParaRPr lang="en-US" sz="2000" dirty="0" smtClean="0"/>
          </a:p>
          <a:p>
            <a:pPr marL="1146175" lvl="2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400" dirty="0" smtClean="0"/>
              <a:t>Parent Node, p is split into k partitions</a:t>
            </a:r>
          </a:p>
          <a:p>
            <a:pPr marL="1146175" lvl="2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400" dirty="0" err="1" smtClean="0"/>
              <a:t>n</a:t>
            </a:r>
            <a:r>
              <a:rPr lang="en-US" sz="2400" baseline="-25000" dirty="0" err="1" smtClean="0"/>
              <a:t>i</a:t>
            </a:r>
            <a:r>
              <a:rPr lang="en-US" sz="2400" dirty="0" smtClean="0"/>
              <a:t> is the number of records in partition </a:t>
            </a:r>
            <a:r>
              <a:rPr lang="en-US" sz="2400" dirty="0" err="1" smtClean="0"/>
              <a:t>i</a:t>
            </a:r>
            <a:endParaRPr lang="en-US" sz="2400" dirty="0" smtClean="0"/>
          </a:p>
          <a:p>
            <a:pPr marL="1146175" lvl="2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sz="900" dirty="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 smtClean="0"/>
              <a:t>Adjusts Information Gain by the entropy of the partitioning (</a:t>
            </a:r>
            <a:r>
              <a:rPr lang="en-US" sz="2400" dirty="0" err="1" smtClean="0"/>
              <a:t>SplitINFO</a:t>
            </a:r>
            <a:r>
              <a:rPr lang="en-US" sz="2400" dirty="0" smtClean="0"/>
              <a:t>). Higher entropy partitioning (large number of small partitions) is penalized!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 smtClean="0"/>
              <a:t>Used in C4.5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 smtClean="0"/>
              <a:t>Designed to overcome the disadvantage of Information Gain</a:t>
            </a:r>
          </a:p>
        </p:txBody>
      </p:sp>
      <p:graphicFrame>
        <p:nvGraphicFramePr>
          <p:cNvPr id="49156" name="Object 4"/>
          <p:cNvGraphicFramePr>
            <a:graphicFrameLocks noChangeAspect="1"/>
          </p:cNvGraphicFramePr>
          <p:nvPr/>
        </p:nvGraphicFramePr>
        <p:xfrm>
          <a:off x="609600" y="1752600"/>
          <a:ext cx="4114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98" name="Equation" r:id="rId3" imgW="3340100" imgH="800100" progId="Equation.3">
                  <p:embed/>
                </p:oleObj>
              </mc:Choice>
              <mc:Fallback>
                <p:oleObj name="Equation" r:id="rId3" imgW="3340100" imgH="800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752600"/>
                        <a:ext cx="4114800" cy="9271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7" name="Object 5"/>
          <p:cNvGraphicFramePr>
            <a:graphicFrameLocks noChangeAspect="1"/>
          </p:cNvGraphicFramePr>
          <p:nvPr/>
        </p:nvGraphicFramePr>
        <p:xfrm>
          <a:off x="4800600" y="1752600"/>
          <a:ext cx="4194175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99" name="Equation" r:id="rId5" imgW="2959100" imgH="723900" progId="Equation.3">
                  <p:embed/>
                </p:oleObj>
              </mc:Choice>
              <mc:Fallback>
                <p:oleObj name="Equation" r:id="rId5" imgW="2959100" imgH="723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752600"/>
                        <a:ext cx="4194175" cy="935038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5270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Tree Induction</a:t>
            </a:r>
          </a:p>
        </p:txBody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Greedy strategy.</a:t>
            </a:r>
          </a:p>
          <a:p>
            <a:pPr lvl="1" eaLnBrk="1" hangingPunct="1">
              <a:defRPr/>
            </a:pPr>
            <a:r>
              <a:rPr lang="en-US" smtClean="0"/>
              <a:t>Split the records based on an attribute test that optimizes certain criterion.</a:t>
            </a:r>
          </a:p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/>
              <a:t>Issues</a:t>
            </a:r>
          </a:p>
          <a:p>
            <a:pPr lvl="1" eaLnBrk="1" hangingPunct="1">
              <a:defRPr/>
            </a:pPr>
            <a:r>
              <a:rPr lang="en-US" smtClean="0"/>
              <a:t>Determine how to split the records</a:t>
            </a:r>
          </a:p>
          <a:p>
            <a:pPr lvl="2" eaLnBrk="1" hangingPunct="1">
              <a:defRPr/>
            </a:pPr>
            <a:r>
              <a:rPr lang="en-US" smtClean="0"/>
              <a:t>How to specify the attribute test condition?</a:t>
            </a:r>
          </a:p>
          <a:p>
            <a:pPr lvl="2" eaLnBrk="1" hangingPunct="1">
              <a:defRPr/>
            </a:pPr>
            <a:r>
              <a:rPr lang="en-US" smtClean="0"/>
              <a:t>How to determine the best split?</a:t>
            </a:r>
          </a:p>
          <a:p>
            <a:pPr lvl="1" eaLnBrk="1" hangingPunct="1">
              <a:defRPr/>
            </a:pPr>
            <a:r>
              <a:rPr lang="en-US" smtClean="0">
                <a:solidFill>
                  <a:srgbClr val="FF0000"/>
                </a:solidFill>
              </a:rPr>
              <a:t>Determine when to stop splitting</a:t>
            </a:r>
          </a:p>
          <a:p>
            <a:pPr lvl="1" eaLnBrk="1" hangingPunct="1">
              <a:defRPr/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799471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Stopping Criteria for Tree Induction</a:t>
            </a:r>
          </a:p>
        </p:txBody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Stop expanding a node when all the records belong to the same class</a:t>
            </a:r>
          </a:p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/>
              <a:t>Stop expanding a node when all the records have similar attribute values</a:t>
            </a:r>
          </a:p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/>
              <a:t>Early termination (to be discussed later)</a:t>
            </a:r>
          </a:p>
        </p:txBody>
      </p:sp>
    </p:spTree>
    <p:extLst>
      <p:ext uri="{BB962C8B-B14F-4D97-AF65-F5344CB8AC3E}">
        <p14:creationId xmlns:p14="http://schemas.microsoft.com/office/powerpoint/2010/main" val="4219672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Decision Tree Based Classification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Advantages:</a:t>
            </a:r>
          </a:p>
          <a:p>
            <a:pPr lvl="1" eaLnBrk="1" hangingPunct="1">
              <a:defRPr/>
            </a:pPr>
            <a:r>
              <a:rPr lang="en-US" dirty="0" smtClean="0"/>
              <a:t>Inexpensive to construct. It does not require any domain knowledge.</a:t>
            </a:r>
          </a:p>
          <a:p>
            <a:pPr lvl="1" eaLnBrk="1" hangingPunct="1">
              <a:defRPr/>
            </a:pPr>
            <a:r>
              <a:rPr lang="en-US" dirty="0" smtClean="0"/>
              <a:t>Extremely fast at classifying unknown records</a:t>
            </a:r>
          </a:p>
          <a:p>
            <a:pPr lvl="1">
              <a:defRPr/>
            </a:pPr>
            <a:r>
              <a:rPr lang="en-US" altLang="en-US" sz="2000" dirty="0"/>
              <a:t>convertible to simple and easy to understand classification rules</a:t>
            </a:r>
          </a:p>
          <a:p>
            <a:pPr lvl="1" eaLnBrk="1" hangingPunct="1">
              <a:defRPr/>
            </a:pPr>
            <a:r>
              <a:rPr lang="en-US" dirty="0" smtClean="0"/>
              <a:t>Easy to interpret for small-sized trees</a:t>
            </a:r>
          </a:p>
          <a:p>
            <a:pPr lvl="1" eaLnBrk="1" hangingPunct="1">
              <a:defRPr/>
            </a:pPr>
            <a:r>
              <a:rPr lang="en-US" dirty="0" smtClean="0"/>
              <a:t>Accuracy is comparable to other classification techniques for many simple data sets</a:t>
            </a:r>
          </a:p>
          <a:p>
            <a:pPr lvl="1" eaLnBrk="1" hangingPunct="1"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64279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Example: C4.5</a:t>
            </a:r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9154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Simple depth-first construction.</a:t>
            </a:r>
          </a:p>
          <a:p>
            <a:pPr eaLnBrk="1" hangingPunct="1">
              <a:defRPr/>
            </a:pPr>
            <a:r>
              <a:rPr lang="en-US" dirty="0" smtClean="0"/>
              <a:t>Uses Information Gain</a:t>
            </a:r>
          </a:p>
          <a:p>
            <a:pPr eaLnBrk="1" hangingPunct="1">
              <a:defRPr/>
            </a:pPr>
            <a:r>
              <a:rPr lang="en-US" dirty="0" smtClean="0"/>
              <a:t>Sorts Continuous Attributes at each node.</a:t>
            </a:r>
          </a:p>
          <a:p>
            <a:pPr eaLnBrk="1" hangingPunct="1">
              <a:defRPr/>
            </a:pPr>
            <a:r>
              <a:rPr lang="en-US" dirty="0" smtClean="0"/>
              <a:t>Needs entire data to fit in memory.</a:t>
            </a:r>
          </a:p>
          <a:p>
            <a:pPr eaLnBrk="1" hangingPunct="1">
              <a:defRPr/>
            </a:pPr>
            <a:r>
              <a:rPr lang="en-US" dirty="0" smtClean="0"/>
              <a:t>Unsuitable for Large Datasets.</a:t>
            </a:r>
          </a:p>
          <a:p>
            <a:pPr lvl="1" eaLnBrk="1" hangingPunct="1">
              <a:defRPr/>
            </a:pPr>
            <a:r>
              <a:rPr lang="en-US" dirty="0" smtClean="0"/>
              <a:t>Needs out-of-core sorting.</a:t>
            </a:r>
          </a:p>
          <a:p>
            <a:pPr lvl="1" eaLnBrk="1" hangingPunct="1"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85729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Practical Issues of Classification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Underfitting and Overfitting</a:t>
            </a:r>
          </a:p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/>
              <a:t>Missing Values</a:t>
            </a:r>
          </a:p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/>
              <a:t>Costs of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038279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Characteristics of Decision Tree Induction				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1"/>
            <a:ext cx="8210550" cy="5029200"/>
          </a:xfrm>
        </p:spPr>
        <p:txBody>
          <a:bodyPr>
            <a:normAutofit/>
          </a:bodyPr>
          <a:lstStyle/>
          <a:p>
            <a:r>
              <a:rPr lang="en-US" dirty="0" smtClean="0"/>
              <a:t>Non Parametric approach</a:t>
            </a:r>
          </a:p>
          <a:p>
            <a:r>
              <a:rPr lang="en-US" dirty="0" smtClean="0"/>
              <a:t>Finding an optimal decision tree is an NP-Complete Problem.</a:t>
            </a:r>
          </a:p>
          <a:p>
            <a:r>
              <a:rPr lang="en-US" dirty="0" smtClean="0"/>
              <a:t>Uses Computationally inexpensive techniques</a:t>
            </a:r>
          </a:p>
          <a:p>
            <a:r>
              <a:rPr lang="en-US" dirty="0" smtClean="0"/>
              <a:t>Robust of handle the presence of Noise</a:t>
            </a:r>
          </a:p>
          <a:p>
            <a:r>
              <a:rPr lang="en-US" dirty="0" smtClean="0"/>
              <a:t>Presence of Redundant Attributes (No Effect)</a:t>
            </a:r>
          </a:p>
          <a:p>
            <a:r>
              <a:rPr lang="en-US" dirty="0" smtClean="0"/>
              <a:t>Presence of Irrelevant Attributes(Overfitting)</a:t>
            </a:r>
          </a:p>
          <a:p>
            <a:r>
              <a:rPr lang="en-US" dirty="0" smtClean="0"/>
              <a:t>Data Fragmentation</a:t>
            </a:r>
          </a:p>
          <a:p>
            <a:r>
              <a:rPr lang="en-US" dirty="0" smtClean="0"/>
              <a:t>Subtree Replication</a:t>
            </a:r>
          </a:p>
          <a:p>
            <a:r>
              <a:rPr lang="en-US" dirty="0" smtClean="0"/>
              <a:t>Decision Boundary</a:t>
            </a:r>
          </a:p>
          <a:p>
            <a:r>
              <a:rPr lang="en-US" dirty="0" smtClean="0"/>
              <a:t>Oblique Decision Tree</a:t>
            </a:r>
          </a:p>
          <a:p>
            <a:r>
              <a:rPr lang="en-US" dirty="0" smtClean="0"/>
              <a:t>Constructive Induction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307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Other Issues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ffectLst/>
              </a:rPr>
              <a:t>Data Fragmentation</a:t>
            </a:r>
          </a:p>
          <a:p>
            <a:pPr eaLnBrk="1" hangingPunct="1"/>
            <a:r>
              <a:rPr lang="en-US" altLang="en-US" smtClean="0">
                <a:effectLst/>
              </a:rPr>
              <a:t>Search Strategy</a:t>
            </a:r>
          </a:p>
          <a:p>
            <a:pPr eaLnBrk="1" hangingPunct="1"/>
            <a:r>
              <a:rPr lang="en-US" altLang="en-US" smtClean="0">
                <a:effectLst/>
              </a:rPr>
              <a:t>Expressiveness</a:t>
            </a:r>
          </a:p>
          <a:p>
            <a:pPr eaLnBrk="1" hangingPunct="1"/>
            <a:r>
              <a:rPr lang="en-US" altLang="en-US" smtClean="0">
                <a:effectLst/>
              </a:rPr>
              <a:t>Tree Replication</a:t>
            </a:r>
          </a:p>
          <a:p>
            <a:pPr eaLnBrk="1" hangingPunct="1"/>
            <a:endParaRPr lang="en-US" altLang="en-US" smtClean="0">
              <a:effectLst/>
            </a:endParaRPr>
          </a:p>
          <a:p>
            <a:pPr eaLnBrk="1" hangingPunct="1"/>
            <a:endParaRPr lang="en-US" altLang="en-US" smtClean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55386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Data Fragmentation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effectLst/>
              </a:rPr>
              <a:t>Number of instances gets smaller as you traverse down the tree</a:t>
            </a:r>
          </a:p>
          <a:p>
            <a:pPr eaLnBrk="1" hangingPunct="1"/>
            <a:endParaRPr lang="en-US" altLang="en-US" dirty="0" smtClean="0">
              <a:effectLst/>
            </a:endParaRPr>
          </a:p>
          <a:p>
            <a:pPr eaLnBrk="1" hangingPunct="1"/>
            <a:r>
              <a:rPr lang="en-US" altLang="en-US" dirty="0" smtClean="0">
                <a:effectLst/>
              </a:rPr>
              <a:t>Number of instances at the leaf nodes could be too small to make any statistically significant </a:t>
            </a:r>
            <a:r>
              <a:rPr lang="en-US" altLang="en-US" dirty="0" smtClean="0">
                <a:effectLst/>
              </a:rPr>
              <a:t>decision</a:t>
            </a:r>
          </a:p>
          <a:p>
            <a:pPr eaLnBrk="1" hangingPunct="1"/>
            <a:endParaRPr lang="en-US" altLang="en-US" dirty="0"/>
          </a:p>
          <a:p>
            <a:r>
              <a:rPr lang="en-US" dirty="0"/>
              <a:t>You can introduce a lower bound on the number of </a:t>
            </a:r>
            <a:r>
              <a:rPr lang="en-US" dirty="0" smtClean="0"/>
              <a:t>records </a:t>
            </a:r>
            <a:r>
              <a:rPr lang="en-US" dirty="0"/>
              <a:t>per leaf node in the stopping criterion.</a:t>
            </a:r>
          </a:p>
          <a:p>
            <a:pPr eaLnBrk="1" hangingPunct="1"/>
            <a:endParaRPr lang="en-US" altLang="en-US" dirty="0" smtClean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63193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Tree Replication</a:t>
            </a:r>
          </a:p>
        </p:txBody>
      </p:sp>
      <p:graphicFrame>
        <p:nvGraphicFramePr>
          <p:cNvPr id="88067" name="Object 3"/>
          <p:cNvGraphicFramePr>
            <a:graphicFrameLocks noChangeAspect="1"/>
          </p:cNvGraphicFramePr>
          <p:nvPr/>
        </p:nvGraphicFramePr>
        <p:xfrm>
          <a:off x="914400" y="1128713"/>
          <a:ext cx="5867400" cy="431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18" name="VISIO" r:id="rId3" imgW="9538716" imgH="7008876" progId="Visio.Drawing.6">
                  <p:embed/>
                </p:oleObj>
              </mc:Choice>
              <mc:Fallback>
                <p:oleObj name="VISIO" r:id="rId3" imgW="9538716" imgH="7008876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128713"/>
                        <a:ext cx="5867400" cy="431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68" name="Text Box 4"/>
          <p:cNvSpPr txBox="1">
            <a:spLocks noChangeArrowheads="1"/>
          </p:cNvSpPr>
          <p:nvPr/>
        </p:nvSpPr>
        <p:spPr bwMode="auto">
          <a:xfrm>
            <a:off x="533400" y="5805488"/>
            <a:ext cx="800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800" b="1">
                <a:latin typeface="Arial" panose="020B0604020202020204" pitchFamily="34" charset="0"/>
              </a:rPr>
              <a:t> Same subtree appears in multiple branches</a:t>
            </a:r>
          </a:p>
        </p:txBody>
      </p:sp>
    </p:spTree>
    <p:extLst>
      <p:ext uri="{BB962C8B-B14F-4D97-AF65-F5344CB8AC3E}">
        <p14:creationId xmlns:p14="http://schemas.microsoft.com/office/powerpoint/2010/main" val="538455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Search Strategy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ffectLst/>
              </a:rPr>
              <a:t>Finding an optimal decision tree is NP-hard</a:t>
            </a:r>
          </a:p>
          <a:p>
            <a:pPr lvl="4" eaLnBrk="1" hangingPunct="1"/>
            <a:endParaRPr lang="en-US" altLang="en-US" smtClean="0">
              <a:effectLst/>
            </a:endParaRPr>
          </a:p>
          <a:p>
            <a:pPr eaLnBrk="1" hangingPunct="1"/>
            <a:r>
              <a:rPr lang="en-US" altLang="en-US" smtClean="0">
                <a:effectLst/>
              </a:rPr>
              <a:t>The algorithm presented so far uses a greedy, top-down, recursive partitioning strategy to induce a reasonable solution</a:t>
            </a:r>
          </a:p>
          <a:p>
            <a:pPr lvl="4" eaLnBrk="1" hangingPunct="1"/>
            <a:endParaRPr lang="en-US" altLang="en-US" smtClean="0">
              <a:effectLst/>
            </a:endParaRPr>
          </a:p>
          <a:p>
            <a:pPr eaLnBrk="1" hangingPunct="1"/>
            <a:r>
              <a:rPr lang="en-US" altLang="en-US" smtClean="0">
                <a:effectLst/>
              </a:rPr>
              <a:t>Other strategies?</a:t>
            </a:r>
          </a:p>
          <a:p>
            <a:pPr lvl="1" eaLnBrk="1" hangingPunct="1"/>
            <a:r>
              <a:rPr lang="en-US" altLang="en-US" smtClean="0">
                <a:effectLst/>
              </a:rPr>
              <a:t>Bottom-up</a:t>
            </a:r>
          </a:p>
          <a:p>
            <a:pPr lvl="1" eaLnBrk="1" hangingPunct="1"/>
            <a:r>
              <a:rPr lang="en-US" altLang="en-US" smtClean="0">
                <a:effectLst/>
              </a:rPr>
              <a:t>Bi-directional</a:t>
            </a:r>
          </a:p>
        </p:txBody>
      </p:sp>
    </p:spTree>
    <p:extLst>
      <p:ext uri="{BB962C8B-B14F-4D97-AF65-F5344CB8AC3E}">
        <p14:creationId xmlns:p14="http://schemas.microsoft.com/office/powerpoint/2010/main" val="3665884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Expressiveness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classifier defines a </a:t>
            </a:r>
            <a:r>
              <a:rPr lang="en-US" dirty="0" smtClean="0">
                <a:solidFill>
                  <a:srgbClr val="0070C0"/>
                </a:solidFill>
              </a:rPr>
              <a:t>function</a:t>
            </a:r>
            <a:r>
              <a:rPr lang="en-US" dirty="0" smtClean="0"/>
              <a:t> that discriminates between two (or more) classes.</a:t>
            </a:r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expressiveness</a:t>
            </a:r>
            <a:r>
              <a:rPr lang="en-US" dirty="0" smtClean="0"/>
              <a:t> of a classifier is the </a:t>
            </a:r>
            <a:r>
              <a:rPr lang="en-US" dirty="0" smtClean="0">
                <a:solidFill>
                  <a:srgbClr val="0070C0"/>
                </a:solidFill>
              </a:rPr>
              <a:t>class of functions</a:t>
            </a:r>
            <a:r>
              <a:rPr lang="en-US" dirty="0" smtClean="0"/>
              <a:t> that it can model, and the kind of data that it can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separate</a:t>
            </a:r>
          </a:p>
          <a:p>
            <a:pPr lvl="1"/>
            <a:r>
              <a:rPr lang="en-US" dirty="0" smtClean="0"/>
              <a:t>When we have </a:t>
            </a:r>
            <a:r>
              <a:rPr lang="en-US" dirty="0" smtClean="0">
                <a:solidFill>
                  <a:srgbClr val="0070C0"/>
                </a:solidFill>
              </a:rPr>
              <a:t>discrete</a:t>
            </a:r>
            <a:r>
              <a:rPr lang="en-US" dirty="0" smtClean="0"/>
              <a:t> (or binary) values, we are interested in the class of </a:t>
            </a:r>
            <a:r>
              <a:rPr lang="en-US" dirty="0" err="1" smtClean="0">
                <a:solidFill>
                  <a:schemeClr val="accent6">
                    <a:lumMod val="75000"/>
                  </a:schemeClr>
                </a:solidFill>
              </a:rPr>
              <a:t>boolean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functions </a:t>
            </a:r>
            <a:r>
              <a:rPr lang="en-US" dirty="0" smtClean="0"/>
              <a:t>that can be modeled</a:t>
            </a:r>
          </a:p>
          <a:p>
            <a:pPr lvl="1"/>
            <a:r>
              <a:rPr lang="en-US" dirty="0" smtClean="0"/>
              <a:t>If the data-points are real vectors we talk about the </a:t>
            </a:r>
            <a:r>
              <a:rPr lang="en-US" dirty="0" smtClean="0">
                <a:solidFill>
                  <a:srgbClr val="0070C0"/>
                </a:solidFill>
              </a:rPr>
              <a:t>decision boundary </a:t>
            </a:r>
            <a:r>
              <a:rPr lang="en-US" dirty="0" smtClean="0"/>
              <a:t>that the classifier can model</a:t>
            </a:r>
          </a:p>
        </p:txBody>
      </p:sp>
    </p:spTree>
    <p:extLst>
      <p:ext uri="{BB962C8B-B14F-4D97-AF65-F5344CB8AC3E}">
        <p14:creationId xmlns:p14="http://schemas.microsoft.com/office/powerpoint/2010/main" val="1828390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Expressiveness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5410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smtClean="0">
                <a:effectLst/>
              </a:rPr>
              <a:t>Decision tree provides expressive representation for learning discrete-valued function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>
                <a:effectLst/>
              </a:rPr>
              <a:t>But they do not generalize well to certain types of Boolean functions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smtClean="0">
                <a:effectLst/>
              </a:rPr>
              <a:t> Example: parity function: 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 sz="1800" smtClean="0">
                <a:effectLst/>
              </a:rPr>
              <a:t>Class = 1 if there is an even number of Boolean attributes with truth value = True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 sz="1800" smtClean="0">
                <a:effectLst/>
              </a:rPr>
              <a:t>Class = 0 if there is an odd number of Boolean attributes with truth value = True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smtClean="0">
                <a:effectLst/>
              </a:rPr>
              <a:t> For accurate modeling, must have a complete tree</a:t>
            </a:r>
          </a:p>
          <a:p>
            <a:pPr lvl="4" eaLnBrk="1" hangingPunct="1">
              <a:lnSpc>
                <a:spcPct val="90000"/>
              </a:lnSpc>
            </a:pPr>
            <a:endParaRPr lang="en-US" altLang="en-US" sz="1800" smtClean="0">
              <a:effectLst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>
                <a:effectLst/>
              </a:rPr>
              <a:t>Not expressive enough for modeling continuous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>
                <a:effectLst/>
              </a:rPr>
              <a:t>Particularly when test condition involves only a single attribute at-a-time</a:t>
            </a:r>
          </a:p>
        </p:txBody>
      </p:sp>
    </p:spTree>
    <p:extLst>
      <p:ext uri="{BB962C8B-B14F-4D97-AF65-F5344CB8AC3E}">
        <p14:creationId xmlns:p14="http://schemas.microsoft.com/office/powerpoint/2010/main" val="4010919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Decision Boundary</a:t>
            </a:r>
          </a:p>
        </p:txBody>
      </p:sp>
      <p:graphicFrame>
        <p:nvGraphicFramePr>
          <p:cNvPr id="86019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457200" y="1143000"/>
          <a:ext cx="8318500" cy="357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4" name="Visio" r:id="rId3" imgW="8908491" imgH="3827261" progId="Visio.Drawing.6">
                  <p:embed/>
                </p:oleObj>
              </mc:Choice>
              <mc:Fallback>
                <p:oleObj name="Visio" r:id="rId3" imgW="8908491" imgH="3827261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143000"/>
                        <a:ext cx="8318500" cy="357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0" name="Text Box 4"/>
          <p:cNvSpPr txBox="1">
            <a:spLocks noChangeArrowheads="1"/>
          </p:cNvSpPr>
          <p:nvPr/>
        </p:nvSpPr>
        <p:spPr bwMode="auto">
          <a:xfrm>
            <a:off x="533400" y="4876800"/>
            <a:ext cx="8001000" cy="132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800" b="1">
                <a:latin typeface="Arial" panose="020B0604020202020204" pitchFamily="34" charset="0"/>
              </a:rPr>
              <a:t> Border line between two neighboring regions of different classes is known as decision boundary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800" b="1">
                <a:latin typeface="Arial" panose="020B0604020202020204" pitchFamily="34" charset="0"/>
              </a:rPr>
              <a:t> Decision boundary is parallel to axes because test condition involves a single attribute at-a-time</a:t>
            </a:r>
          </a:p>
        </p:txBody>
      </p:sp>
    </p:spTree>
    <p:extLst>
      <p:ext uri="{BB962C8B-B14F-4D97-AF65-F5344CB8AC3E}">
        <p14:creationId xmlns:p14="http://schemas.microsoft.com/office/powerpoint/2010/main" val="2088661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Oblique Decision Trees</a:t>
            </a:r>
          </a:p>
        </p:txBody>
      </p:sp>
      <p:pic>
        <p:nvPicPr>
          <p:cNvPr id="870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6654" r="7353" b="5882"/>
          <a:stretch>
            <a:fillRect/>
          </a:stretch>
        </p:blipFill>
        <p:spPr bwMode="auto">
          <a:xfrm>
            <a:off x="261938" y="1219200"/>
            <a:ext cx="4953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638800" y="1981200"/>
            <a:ext cx="3200400" cy="2286000"/>
            <a:chOff x="3552" y="1248"/>
            <a:chExt cx="2016" cy="1440"/>
          </a:xfrm>
        </p:grpSpPr>
        <p:sp>
          <p:nvSpPr>
            <p:cNvPr id="87046" name="Oval 5"/>
            <p:cNvSpPr>
              <a:spLocks noChangeArrowheads="1"/>
            </p:cNvSpPr>
            <p:nvPr/>
          </p:nvSpPr>
          <p:spPr bwMode="auto">
            <a:xfrm>
              <a:off x="4080" y="1248"/>
              <a:ext cx="1008" cy="48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Arial" panose="020B0604020202020204" pitchFamily="34" charset="0"/>
                </a:rPr>
                <a:t>x + y &lt; 1</a:t>
              </a:r>
            </a:p>
          </p:txBody>
        </p:sp>
        <p:sp>
          <p:nvSpPr>
            <p:cNvPr id="87047" name="Line 6"/>
            <p:cNvSpPr>
              <a:spLocks noChangeShapeType="1"/>
            </p:cNvSpPr>
            <p:nvPr/>
          </p:nvSpPr>
          <p:spPr bwMode="auto">
            <a:xfrm flipH="1">
              <a:off x="4032" y="1728"/>
              <a:ext cx="528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048" name="Line 7"/>
            <p:cNvSpPr>
              <a:spLocks noChangeShapeType="1"/>
            </p:cNvSpPr>
            <p:nvPr/>
          </p:nvSpPr>
          <p:spPr bwMode="auto">
            <a:xfrm>
              <a:off x="4560" y="1728"/>
              <a:ext cx="624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049" name="Rectangle 8"/>
            <p:cNvSpPr>
              <a:spLocks noChangeArrowheads="1"/>
            </p:cNvSpPr>
            <p:nvPr/>
          </p:nvSpPr>
          <p:spPr bwMode="auto">
            <a:xfrm>
              <a:off x="3552" y="2208"/>
              <a:ext cx="816" cy="480"/>
            </a:xfrm>
            <a:prstGeom prst="rect">
              <a:avLst/>
            </a:prstGeom>
            <a:noFill/>
            <a:ln w="25400">
              <a:solidFill>
                <a:srgbClr val="1C5A6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Arial" panose="020B0604020202020204" pitchFamily="34" charset="0"/>
                </a:rPr>
                <a:t>Class = </a:t>
              </a:r>
              <a:r>
                <a:rPr lang="en-US" altLang="en-US" sz="2400" b="1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  <a:r>
                <a:rPr lang="en-US" altLang="en-US" sz="1800" b="1">
                  <a:latin typeface="Arial" panose="020B0604020202020204" pitchFamily="34" charset="0"/>
                </a:rPr>
                <a:t> </a:t>
              </a:r>
            </a:p>
          </p:txBody>
        </p:sp>
        <p:sp>
          <p:nvSpPr>
            <p:cNvPr id="87050" name="Rectangle 9"/>
            <p:cNvSpPr>
              <a:spLocks noChangeArrowheads="1"/>
            </p:cNvSpPr>
            <p:nvPr/>
          </p:nvSpPr>
          <p:spPr bwMode="auto">
            <a:xfrm>
              <a:off x="4752" y="2208"/>
              <a:ext cx="816" cy="480"/>
            </a:xfrm>
            <a:prstGeom prst="rect">
              <a:avLst/>
            </a:prstGeom>
            <a:noFill/>
            <a:ln w="25400">
              <a:solidFill>
                <a:srgbClr val="1C5A6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Arial" panose="020B0604020202020204" pitchFamily="34" charset="0"/>
                </a:rPr>
                <a:t>Class =     </a:t>
              </a:r>
            </a:p>
          </p:txBody>
        </p:sp>
        <p:sp>
          <p:nvSpPr>
            <p:cNvPr id="87051" name="Oval 10"/>
            <p:cNvSpPr>
              <a:spLocks noChangeArrowheads="1"/>
            </p:cNvSpPr>
            <p:nvPr/>
          </p:nvSpPr>
          <p:spPr bwMode="auto">
            <a:xfrm>
              <a:off x="5376" y="2400"/>
              <a:ext cx="96" cy="96"/>
            </a:xfrm>
            <a:prstGeom prst="ellipse">
              <a:avLst/>
            </a:prstGeom>
            <a:solidFill>
              <a:srgbClr val="0000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252939" name="Text Box 11"/>
          <p:cNvSpPr txBox="1">
            <a:spLocks noChangeArrowheads="1"/>
          </p:cNvSpPr>
          <p:nvPr/>
        </p:nvSpPr>
        <p:spPr bwMode="auto">
          <a:xfrm>
            <a:off x="533400" y="5056188"/>
            <a:ext cx="8001000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800" b="1">
                <a:latin typeface="Arial" panose="020B0604020202020204" pitchFamily="34" charset="0"/>
              </a:rPr>
              <a:t> Test condition may involve multiple attributes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800" b="1">
                <a:latin typeface="Arial" panose="020B0604020202020204" pitchFamily="34" charset="0"/>
              </a:rPr>
              <a:t> More expressive representation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800" b="1">
                <a:latin typeface="Arial" panose="020B0604020202020204" pitchFamily="34" charset="0"/>
              </a:rPr>
              <a:t> Finding optimal test condition is computationally expensive</a:t>
            </a:r>
          </a:p>
        </p:txBody>
      </p:sp>
    </p:spTree>
    <p:extLst>
      <p:ext uri="{BB962C8B-B14F-4D97-AF65-F5344CB8AC3E}">
        <p14:creationId xmlns:p14="http://schemas.microsoft.com/office/powerpoint/2010/main" val="378463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9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1143000" y="152400"/>
            <a:ext cx="75438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4400" dirty="0">
                <a:solidFill>
                  <a:schemeClr val="tx1"/>
                </a:solidFill>
                <a:latin typeface="Arial" panose="020B0604020202020204" pitchFamily="34" charset="0"/>
              </a:rPr>
              <a:t>Overfitting the Data</a:t>
            </a:r>
          </a:p>
        </p:txBody>
      </p:sp>
      <p:sp>
        <p:nvSpPr>
          <p:cNvPr id="60419" name="Rectangle 3"/>
          <p:cNvSpPr>
            <a:spLocks noChangeArrowheads="1"/>
          </p:cNvSpPr>
          <p:nvPr/>
        </p:nvSpPr>
        <p:spPr bwMode="auto">
          <a:xfrm>
            <a:off x="0" y="1524000"/>
            <a:ext cx="88392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800100" indent="-3429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A classification model commits two kinds of errors: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2400" b="0" dirty="0">
                <a:solidFill>
                  <a:schemeClr val="tx1"/>
                </a:solidFill>
                <a:latin typeface="Arial" panose="020B0604020202020204" pitchFamily="34" charset="0"/>
              </a:rPr>
              <a:t>Training </a:t>
            </a:r>
            <a:r>
              <a:rPr kumimoji="1" lang="en-US" altLang="en-US" sz="2400" b="0" dirty="0" smtClean="0">
                <a:solidFill>
                  <a:schemeClr val="tx1"/>
                </a:solidFill>
                <a:latin typeface="Arial" panose="020B0604020202020204" pitchFamily="34" charset="0"/>
              </a:rPr>
              <a:t>Error </a:t>
            </a:r>
            <a:r>
              <a:rPr kumimoji="1" lang="en-US" altLang="en-US" sz="2400" b="0" dirty="0">
                <a:solidFill>
                  <a:schemeClr val="tx1"/>
                </a:solidFill>
                <a:latin typeface="Arial" panose="020B0604020202020204" pitchFamily="34" charset="0"/>
              </a:rPr>
              <a:t>(TE) (</a:t>
            </a:r>
            <a:r>
              <a:rPr kumimoji="1" lang="en-US" altLang="en-US" sz="2400" b="0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resubstitution</a:t>
            </a:r>
            <a:r>
              <a:rPr kumimoji="1" lang="en-US" altLang="en-US" sz="2400" b="0" dirty="0" smtClean="0">
                <a:solidFill>
                  <a:schemeClr val="tx1"/>
                </a:solidFill>
                <a:latin typeface="Arial" panose="020B0604020202020204" pitchFamily="34" charset="0"/>
              </a:rPr>
              <a:t> error , </a:t>
            </a:r>
            <a:r>
              <a:rPr kumimoji="1" lang="en-US" altLang="en-US" sz="2400" b="0" dirty="0">
                <a:solidFill>
                  <a:schemeClr val="tx1"/>
                </a:solidFill>
                <a:latin typeface="Arial" panose="020B0604020202020204" pitchFamily="34" charset="0"/>
              </a:rPr>
              <a:t>apparent </a:t>
            </a:r>
            <a:r>
              <a:rPr kumimoji="1" lang="en-US" altLang="en-US" sz="2400" b="0" dirty="0" smtClean="0">
                <a:solidFill>
                  <a:schemeClr val="tx1"/>
                </a:solidFill>
                <a:latin typeface="Arial" panose="020B0604020202020204" pitchFamily="34" charset="0"/>
              </a:rPr>
              <a:t>error)</a:t>
            </a:r>
            <a:endParaRPr kumimoji="1" lang="en-US" altLang="en-US" sz="2400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2400" b="0" dirty="0">
                <a:solidFill>
                  <a:schemeClr val="tx1"/>
                </a:solidFill>
                <a:latin typeface="Arial" panose="020B0604020202020204" pitchFamily="34" charset="0"/>
              </a:rPr>
              <a:t>Generalization Errors (GE)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A good classification model must have low TE as well as low GE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A model that fits the training data too well can have high GE than a model with high TE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This problem is known as </a:t>
            </a:r>
            <a:r>
              <a:rPr kumimoji="1" lang="en-US" altLang="en-US" sz="3200" dirty="0">
                <a:solidFill>
                  <a:schemeClr val="tx1"/>
                </a:solidFill>
                <a:latin typeface="Arial" panose="020B0604020202020204" pitchFamily="34" charset="0"/>
              </a:rPr>
              <a:t>model overfitting</a:t>
            </a:r>
          </a:p>
        </p:txBody>
      </p:sp>
    </p:spTree>
    <p:extLst>
      <p:ext uri="{BB962C8B-B14F-4D97-AF65-F5344CB8AC3E}">
        <p14:creationId xmlns:p14="http://schemas.microsoft.com/office/powerpoint/2010/main" val="2658331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Underfitting and Overfitting (Example)</a:t>
            </a:r>
          </a:p>
        </p:txBody>
      </p:sp>
      <p:pic>
        <p:nvPicPr>
          <p:cNvPr id="9379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9" t="5307" r="5814" b="5804"/>
          <a:stretch>
            <a:fillRect/>
          </a:stretch>
        </p:blipFill>
        <p:spPr bwMode="auto">
          <a:xfrm>
            <a:off x="304800" y="1600200"/>
            <a:ext cx="56388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37988" name="Text Box 4"/>
          <p:cNvSpPr txBox="1">
            <a:spLocks noChangeArrowheads="1"/>
          </p:cNvSpPr>
          <p:nvPr/>
        </p:nvSpPr>
        <p:spPr bwMode="auto">
          <a:xfrm>
            <a:off x="6172200" y="2362200"/>
            <a:ext cx="2743200" cy="353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500 circular and 500 triangular data points.</a:t>
            </a:r>
          </a:p>
          <a:p>
            <a:pPr>
              <a:spcBef>
                <a:spcPct val="50000"/>
              </a:spcBef>
            </a:pPr>
            <a:endParaRPr lang="en-US" sz="1800"/>
          </a:p>
          <a:p>
            <a:pPr>
              <a:spcBef>
                <a:spcPct val="50000"/>
              </a:spcBef>
            </a:pPr>
            <a:r>
              <a:rPr lang="en-US" sz="1800"/>
              <a:t>Circular points:</a:t>
            </a:r>
          </a:p>
          <a:p>
            <a:pPr>
              <a:spcBef>
                <a:spcPct val="50000"/>
              </a:spcBef>
            </a:pPr>
            <a:r>
              <a:rPr lang="en-US" sz="1800"/>
              <a:t>0.5 </a:t>
            </a:r>
            <a:r>
              <a:rPr lang="en-US" sz="1800">
                <a:sym typeface="Symbol" pitchFamily="18" charset="2"/>
              </a:rPr>
              <a:t> sqrt(x</a:t>
            </a:r>
            <a:r>
              <a:rPr lang="en-US" sz="1800" baseline="-25000">
                <a:sym typeface="Symbol" pitchFamily="18" charset="2"/>
              </a:rPr>
              <a:t>1</a:t>
            </a:r>
            <a:r>
              <a:rPr lang="en-US" sz="1800" baseline="30000">
                <a:sym typeface="Symbol" pitchFamily="18" charset="2"/>
              </a:rPr>
              <a:t>2</a:t>
            </a:r>
            <a:r>
              <a:rPr lang="en-US" sz="1800">
                <a:sym typeface="Symbol" pitchFamily="18" charset="2"/>
              </a:rPr>
              <a:t>+x</a:t>
            </a:r>
            <a:r>
              <a:rPr lang="en-US" sz="1800" baseline="-25000">
                <a:sym typeface="Symbol" pitchFamily="18" charset="2"/>
              </a:rPr>
              <a:t>2</a:t>
            </a:r>
            <a:r>
              <a:rPr lang="en-US" sz="1800" baseline="30000">
                <a:sym typeface="Symbol" pitchFamily="18" charset="2"/>
              </a:rPr>
              <a:t>2</a:t>
            </a:r>
            <a:r>
              <a:rPr lang="en-US" sz="1800">
                <a:sym typeface="Symbol" pitchFamily="18" charset="2"/>
              </a:rPr>
              <a:t>)  1</a:t>
            </a:r>
            <a:endParaRPr lang="en-US" sz="1800"/>
          </a:p>
          <a:p>
            <a:pPr>
              <a:spcBef>
                <a:spcPct val="50000"/>
              </a:spcBef>
            </a:pPr>
            <a:endParaRPr lang="en-US" sz="1800"/>
          </a:p>
          <a:p>
            <a:pPr>
              <a:spcBef>
                <a:spcPct val="50000"/>
              </a:spcBef>
            </a:pPr>
            <a:r>
              <a:rPr lang="en-US" sz="1800"/>
              <a:t>Triangular points:</a:t>
            </a:r>
          </a:p>
          <a:p>
            <a:pPr>
              <a:spcBef>
                <a:spcPct val="50000"/>
              </a:spcBef>
            </a:pPr>
            <a:r>
              <a:rPr lang="en-US" sz="1800">
                <a:sym typeface="Symbol" pitchFamily="18" charset="2"/>
              </a:rPr>
              <a:t>sqrt(x</a:t>
            </a:r>
            <a:r>
              <a:rPr lang="en-US" sz="1800" baseline="-25000">
                <a:sym typeface="Symbol" pitchFamily="18" charset="2"/>
              </a:rPr>
              <a:t>1</a:t>
            </a:r>
            <a:r>
              <a:rPr lang="en-US" sz="1800" baseline="30000">
                <a:sym typeface="Symbol" pitchFamily="18" charset="2"/>
              </a:rPr>
              <a:t>2</a:t>
            </a:r>
            <a:r>
              <a:rPr lang="en-US" sz="1800">
                <a:sym typeface="Symbol" pitchFamily="18" charset="2"/>
              </a:rPr>
              <a:t>+x</a:t>
            </a:r>
            <a:r>
              <a:rPr lang="en-US" sz="1800" baseline="-25000">
                <a:sym typeface="Symbol" pitchFamily="18" charset="2"/>
              </a:rPr>
              <a:t>2</a:t>
            </a:r>
            <a:r>
              <a:rPr lang="en-US" sz="1800" baseline="30000">
                <a:sym typeface="Symbol" pitchFamily="18" charset="2"/>
              </a:rPr>
              <a:t>2</a:t>
            </a:r>
            <a:r>
              <a:rPr lang="en-US" sz="1800">
                <a:sym typeface="Symbol" pitchFamily="18" charset="2"/>
              </a:rPr>
              <a:t>) &gt; 0.5 or</a:t>
            </a:r>
          </a:p>
          <a:p>
            <a:pPr>
              <a:spcBef>
                <a:spcPct val="50000"/>
              </a:spcBef>
            </a:pPr>
            <a:r>
              <a:rPr lang="en-US" sz="1800">
                <a:sym typeface="Symbol" pitchFamily="18" charset="2"/>
              </a:rPr>
              <a:t>sqrt(x</a:t>
            </a:r>
            <a:r>
              <a:rPr lang="en-US" sz="1800" baseline="-25000">
                <a:sym typeface="Symbol" pitchFamily="18" charset="2"/>
              </a:rPr>
              <a:t>1</a:t>
            </a:r>
            <a:r>
              <a:rPr lang="en-US" sz="1800" baseline="30000">
                <a:sym typeface="Symbol" pitchFamily="18" charset="2"/>
              </a:rPr>
              <a:t>2</a:t>
            </a:r>
            <a:r>
              <a:rPr lang="en-US" sz="1800">
                <a:sym typeface="Symbol" pitchFamily="18" charset="2"/>
              </a:rPr>
              <a:t>+x</a:t>
            </a:r>
            <a:r>
              <a:rPr lang="en-US" sz="1800" baseline="-25000">
                <a:sym typeface="Symbol" pitchFamily="18" charset="2"/>
              </a:rPr>
              <a:t>2</a:t>
            </a:r>
            <a:r>
              <a:rPr lang="en-US" sz="1800" baseline="30000">
                <a:sym typeface="Symbol" pitchFamily="18" charset="2"/>
              </a:rPr>
              <a:t>2</a:t>
            </a:r>
            <a:r>
              <a:rPr lang="en-US" sz="1800">
                <a:sym typeface="Symbol" pitchFamily="18" charset="2"/>
              </a:rPr>
              <a:t>) &lt; 1</a:t>
            </a:r>
          </a:p>
        </p:txBody>
      </p:sp>
    </p:spTree>
    <p:extLst>
      <p:ext uri="{BB962C8B-B14F-4D97-AF65-F5344CB8AC3E}">
        <p14:creationId xmlns:p14="http://schemas.microsoft.com/office/powerpoint/2010/main" val="165346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25262"/>
            <a:ext cx="8229600" cy="990600"/>
          </a:xfrm>
        </p:spPr>
        <p:txBody>
          <a:bodyPr/>
          <a:lstStyle/>
          <a:p>
            <a:r>
              <a:rPr lang="en-US"/>
              <a:t>Underfitting and Overfitting</a:t>
            </a:r>
          </a:p>
        </p:txBody>
      </p:sp>
      <p:pic>
        <p:nvPicPr>
          <p:cNvPr id="9390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524000"/>
            <a:ext cx="5638800" cy="422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39012" name="Line 4"/>
          <p:cNvSpPr>
            <a:spLocks noChangeShapeType="1"/>
          </p:cNvSpPr>
          <p:nvPr/>
        </p:nvSpPr>
        <p:spPr bwMode="auto">
          <a:xfrm>
            <a:off x="4222811" y="1816963"/>
            <a:ext cx="0" cy="3581400"/>
          </a:xfrm>
          <a:prstGeom prst="line">
            <a:avLst/>
          </a:prstGeom>
          <a:noFill/>
          <a:ln w="25400">
            <a:solidFill>
              <a:srgbClr val="8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9013" name="Text Box 5"/>
          <p:cNvSpPr txBox="1">
            <a:spLocks noChangeArrowheads="1"/>
          </p:cNvSpPr>
          <p:nvPr/>
        </p:nvSpPr>
        <p:spPr bwMode="auto">
          <a:xfrm>
            <a:off x="4318247" y="1906873"/>
            <a:ext cx="160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 err="1"/>
              <a:t>Overfitting</a:t>
            </a:r>
            <a:endParaRPr lang="en-US" sz="1800" dirty="0">
              <a:sym typeface="Symbol" pitchFamily="18" charset="2"/>
            </a:endParaRPr>
          </a:p>
        </p:txBody>
      </p:sp>
      <p:sp>
        <p:nvSpPr>
          <p:cNvPr id="939014" name="Text Box 6"/>
          <p:cNvSpPr txBox="1">
            <a:spLocks noChangeArrowheads="1"/>
          </p:cNvSpPr>
          <p:nvPr/>
        </p:nvSpPr>
        <p:spPr bwMode="auto">
          <a:xfrm>
            <a:off x="419100" y="5782438"/>
            <a:ext cx="845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 err="1">
                <a:solidFill>
                  <a:srgbClr val="0070C0"/>
                </a:solidFill>
              </a:rPr>
              <a:t>Underfitting</a:t>
            </a:r>
            <a:r>
              <a:rPr lang="en-US" sz="1800" b="0" dirty="0"/>
              <a:t>: when model is </a:t>
            </a:r>
            <a:r>
              <a:rPr lang="en-US" sz="1800" b="0" dirty="0">
                <a:solidFill>
                  <a:schemeClr val="accent6">
                    <a:lumMod val="75000"/>
                  </a:schemeClr>
                </a:solidFill>
              </a:rPr>
              <a:t>too simple</a:t>
            </a:r>
            <a:r>
              <a:rPr lang="en-US" sz="1800" b="0" dirty="0"/>
              <a:t>, both training and test errors are large </a:t>
            </a:r>
            <a:endParaRPr lang="en-US" sz="1800" b="0" dirty="0">
              <a:sym typeface="Symbol" pitchFamily="18" charset="2"/>
            </a:endParaRPr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2743200" y="1816963"/>
            <a:ext cx="0" cy="3581400"/>
          </a:xfrm>
          <a:prstGeom prst="line">
            <a:avLst/>
          </a:prstGeom>
          <a:noFill/>
          <a:ln w="25400">
            <a:solidFill>
              <a:srgbClr val="8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828800" y="1889099"/>
            <a:ext cx="160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 err="1" smtClean="0"/>
              <a:t>Underfitting</a:t>
            </a:r>
            <a:endParaRPr lang="en-US" sz="1800" dirty="0">
              <a:sym typeface="Symbol" pitchFamily="18" charset="2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454611" y="6149150"/>
            <a:ext cx="84582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 smtClean="0">
                <a:solidFill>
                  <a:srgbClr val="0070C0"/>
                </a:solidFill>
              </a:rPr>
              <a:t>Ove</a:t>
            </a:r>
            <a:r>
              <a:rPr lang="en-US" sz="1800" dirty="0" err="1" smtClean="0">
                <a:solidFill>
                  <a:srgbClr val="0070C0"/>
                </a:solidFill>
              </a:rPr>
              <a:t>rfitting</a:t>
            </a:r>
            <a:r>
              <a:rPr lang="en-US" sz="1800" b="0" dirty="0"/>
              <a:t>: when model is </a:t>
            </a:r>
            <a:r>
              <a:rPr lang="en-US" sz="1800" b="0" dirty="0">
                <a:solidFill>
                  <a:schemeClr val="accent6">
                    <a:lumMod val="75000"/>
                  </a:schemeClr>
                </a:solidFill>
              </a:rPr>
              <a:t>too </a:t>
            </a:r>
            <a:r>
              <a:rPr lang="en-US" sz="1800" b="0" dirty="0" smtClean="0">
                <a:solidFill>
                  <a:schemeClr val="accent6">
                    <a:lumMod val="75000"/>
                  </a:schemeClr>
                </a:solidFill>
              </a:rPr>
              <a:t>complex </a:t>
            </a:r>
            <a:r>
              <a:rPr lang="en-US" sz="1800" b="0" dirty="0" smtClean="0"/>
              <a:t>it models the details of the training set and fails on the test set </a:t>
            </a:r>
            <a:endParaRPr lang="en-US" sz="1800" b="0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64762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ChangeArrowheads="1"/>
          </p:cNvSpPr>
          <p:nvPr/>
        </p:nvSpPr>
        <p:spPr bwMode="auto">
          <a:xfrm>
            <a:off x="1143000" y="152400"/>
            <a:ext cx="75438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4400" dirty="0">
                <a:solidFill>
                  <a:schemeClr val="tx1"/>
                </a:solidFill>
                <a:latin typeface="Arial" panose="020B0604020202020204" pitchFamily="34" charset="0"/>
              </a:rPr>
              <a:t>Overfitting the Data</a:t>
            </a:r>
          </a:p>
        </p:txBody>
      </p:sp>
      <p:sp>
        <p:nvSpPr>
          <p:cNvPr id="62467" name="Rectangle 3"/>
          <p:cNvSpPr>
            <a:spLocks noChangeArrowheads="1"/>
          </p:cNvSpPr>
          <p:nvPr/>
        </p:nvSpPr>
        <p:spPr bwMode="auto">
          <a:xfrm>
            <a:off x="0" y="1905000"/>
            <a:ext cx="88392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When a decision tree is built, many of the branches may reflect anomalies in the training data due to noise or outliers.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We may grow the tree just deeply enough to perfectly classify the training data set.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This problem is known as overfitting the data.</a:t>
            </a:r>
          </a:p>
        </p:txBody>
      </p:sp>
    </p:spTree>
    <p:extLst>
      <p:ext uri="{BB962C8B-B14F-4D97-AF65-F5344CB8AC3E}">
        <p14:creationId xmlns:p14="http://schemas.microsoft.com/office/powerpoint/2010/main" val="1701278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1143000" y="152400"/>
            <a:ext cx="75438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4400" dirty="0">
                <a:solidFill>
                  <a:schemeClr val="tx1"/>
                </a:solidFill>
                <a:latin typeface="Arial" panose="020B0604020202020204" pitchFamily="34" charset="0"/>
              </a:rPr>
              <a:t>Overfitting the Data</a:t>
            </a:r>
          </a:p>
        </p:txBody>
      </p:sp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0" y="1447800"/>
            <a:ext cx="88392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TE of a model can be reduced by increasing the model complexity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Leaf nodes of the tree can be expanded until it perfectly fits the training data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TE for such a complex tree = 0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GE can be large because the tree may accidently fit noise points in the training set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Overfitting &amp; </a:t>
            </a:r>
            <a:r>
              <a:rPr kumimoji="1" lang="en-US" altLang="en-US" sz="3200" b="0" dirty="0" err="1">
                <a:solidFill>
                  <a:schemeClr val="tx1"/>
                </a:solidFill>
                <a:latin typeface="Arial" panose="020B0604020202020204" pitchFamily="34" charset="0"/>
              </a:rPr>
              <a:t>underfitting</a:t>
            </a: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 are two pathologies that are related to model complexity</a:t>
            </a:r>
          </a:p>
        </p:txBody>
      </p:sp>
    </p:spTree>
    <p:extLst>
      <p:ext uri="{BB962C8B-B14F-4D97-AF65-F5344CB8AC3E}">
        <p14:creationId xmlns:p14="http://schemas.microsoft.com/office/powerpoint/2010/main" val="1600719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66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77" y="762000"/>
            <a:ext cx="8323423" cy="500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5754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b="1" dirty="0" smtClean="0"/>
              <a:t>Occam’s Razor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382000" cy="4953000"/>
          </a:xfr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en-US" altLang="en-US" sz="3200" dirty="0" smtClean="0"/>
              <a:t>Given two models of similar generalization errors,  one should prefer the simpler model over the more complex model</a:t>
            </a:r>
          </a:p>
          <a:p>
            <a:r>
              <a:rPr lang="en-US" altLang="en-US" sz="3200" dirty="0" smtClean="0"/>
              <a:t> For complex models, there is a greater chance that it was fitted accidentally by errors in data</a:t>
            </a:r>
          </a:p>
          <a:p>
            <a:r>
              <a:rPr lang="en-US" altLang="en-US" sz="3200" dirty="0" smtClean="0"/>
              <a:t> Therefore, one should include model complexity when evaluating a model</a:t>
            </a:r>
          </a:p>
        </p:txBody>
      </p:sp>
    </p:spTree>
    <p:extLst>
      <p:ext uri="{BB962C8B-B14F-4D97-AF65-F5344CB8AC3E}">
        <p14:creationId xmlns:p14="http://schemas.microsoft.com/office/powerpoint/2010/main" val="3410062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ChangeArrowheads="1"/>
          </p:cNvSpPr>
          <p:nvPr/>
        </p:nvSpPr>
        <p:spPr bwMode="auto">
          <a:xfrm>
            <a:off x="1143000" y="381000"/>
            <a:ext cx="7086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4400" dirty="0">
                <a:solidFill>
                  <a:schemeClr val="tx1"/>
                </a:solidFill>
                <a:latin typeface="Arial" panose="020B0604020202020204" pitchFamily="34" charset="0"/>
              </a:rPr>
              <a:t>Definition</a:t>
            </a:r>
          </a:p>
        </p:txBody>
      </p:sp>
      <p:sp>
        <p:nvSpPr>
          <p:cNvPr id="65539" name="Rectangle 3"/>
          <p:cNvSpPr>
            <a:spLocks noChangeArrowheads="1"/>
          </p:cNvSpPr>
          <p:nvPr/>
        </p:nvSpPr>
        <p:spPr bwMode="auto">
          <a:xfrm>
            <a:off x="0" y="1905000"/>
            <a:ext cx="89916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   A decision tree </a:t>
            </a:r>
            <a:r>
              <a:rPr kumimoji="1" lang="en-US" altLang="en-US" sz="3200" b="0" i="1" dirty="0">
                <a:solidFill>
                  <a:schemeClr val="tx1"/>
                </a:solidFill>
                <a:latin typeface="Arial" panose="020B0604020202020204" pitchFamily="34" charset="0"/>
              </a:rPr>
              <a:t>T</a:t>
            </a: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 is said to </a:t>
            </a:r>
            <a:r>
              <a:rPr kumimoji="1" lang="en-US" altLang="en-US" sz="3200" b="0" dirty="0" err="1">
                <a:solidFill>
                  <a:schemeClr val="tx1"/>
                </a:solidFill>
                <a:latin typeface="Arial" panose="020B0604020202020204" pitchFamily="34" charset="0"/>
              </a:rPr>
              <a:t>overfit</a:t>
            </a: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 the training data if there exists some other tree </a:t>
            </a:r>
            <a:r>
              <a:rPr kumimoji="1" lang="en-US" altLang="en-US" sz="3200" b="0" i="1" dirty="0">
                <a:solidFill>
                  <a:schemeClr val="tx1"/>
                </a:solidFill>
                <a:latin typeface="Arial" panose="020B0604020202020204" pitchFamily="34" charset="0"/>
              </a:rPr>
              <a:t>T’</a:t>
            </a: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 which is a simplification of </a:t>
            </a:r>
            <a:r>
              <a:rPr kumimoji="1" lang="en-US" altLang="en-US" sz="3200" b="0" i="1" dirty="0">
                <a:solidFill>
                  <a:schemeClr val="tx1"/>
                </a:solidFill>
                <a:latin typeface="Arial" panose="020B0604020202020204" pitchFamily="34" charset="0"/>
              </a:rPr>
              <a:t>T</a:t>
            </a: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, such that </a:t>
            </a:r>
            <a:r>
              <a:rPr kumimoji="1" lang="en-US" altLang="en-US" sz="3200" b="0" i="1" dirty="0">
                <a:solidFill>
                  <a:schemeClr val="tx1"/>
                </a:solidFill>
                <a:latin typeface="Arial" panose="020B0604020202020204" pitchFamily="34" charset="0"/>
              </a:rPr>
              <a:t>T</a:t>
            </a: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 has smaller error than </a:t>
            </a:r>
            <a:r>
              <a:rPr kumimoji="1" lang="en-US" altLang="en-US" sz="3200" b="0" i="1" dirty="0">
                <a:solidFill>
                  <a:schemeClr val="tx1"/>
                </a:solidFill>
                <a:latin typeface="Arial" panose="020B0604020202020204" pitchFamily="34" charset="0"/>
              </a:rPr>
              <a:t>T’</a:t>
            </a: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 over the training set but </a:t>
            </a:r>
            <a:r>
              <a:rPr kumimoji="1" lang="en-US" altLang="en-US" sz="3200" b="0" i="1" dirty="0">
                <a:solidFill>
                  <a:schemeClr val="tx1"/>
                </a:solidFill>
                <a:latin typeface="Arial" panose="020B0604020202020204" pitchFamily="34" charset="0"/>
              </a:rPr>
              <a:t>T’</a:t>
            </a: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  has a smaller error than </a:t>
            </a:r>
            <a:r>
              <a:rPr kumimoji="1" lang="en-US" altLang="en-US" sz="3200" b="0" i="1" dirty="0">
                <a:solidFill>
                  <a:schemeClr val="tx1"/>
                </a:solidFill>
                <a:latin typeface="Arial" panose="020B0604020202020204" pitchFamily="34" charset="0"/>
              </a:rPr>
              <a:t>T</a:t>
            </a:r>
            <a:r>
              <a:rPr kumimoji="1" lang="en-US" altLang="en-US" sz="3200" b="0" dirty="0">
                <a:solidFill>
                  <a:schemeClr val="tx1"/>
                </a:solidFill>
                <a:latin typeface="Arial" panose="020B0604020202020204" pitchFamily="34" charset="0"/>
              </a:rPr>
              <a:t> over the entire distribution of the instances.</a:t>
            </a:r>
          </a:p>
        </p:txBody>
      </p:sp>
    </p:spTree>
    <p:extLst>
      <p:ext uri="{BB962C8B-B14F-4D97-AF65-F5344CB8AC3E}">
        <p14:creationId xmlns:p14="http://schemas.microsoft.com/office/powerpoint/2010/main" val="2791496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762000" y="304800"/>
            <a:ext cx="8001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4400" dirty="0">
                <a:solidFill>
                  <a:schemeClr val="tx1"/>
                </a:solidFill>
                <a:latin typeface="Arial" panose="020B0604020202020204" pitchFamily="34" charset="0"/>
              </a:rPr>
              <a:t>Problems of Overfitting</a:t>
            </a:r>
          </a:p>
        </p:txBody>
      </p:sp>
      <p:sp>
        <p:nvSpPr>
          <p:cNvPr id="66563" name="Rectangle 3"/>
          <p:cNvSpPr>
            <a:spLocks noChangeArrowheads="1"/>
          </p:cNvSpPr>
          <p:nvPr/>
        </p:nvSpPr>
        <p:spPr bwMode="auto">
          <a:xfrm>
            <a:off x="457200" y="1447800"/>
            <a:ext cx="83820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en-US" b="0" dirty="0">
                <a:solidFill>
                  <a:schemeClr val="tx1"/>
                </a:solidFill>
                <a:latin typeface="Arial" panose="020B0604020202020204" pitchFamily="34" charset="0"/>
              </a:rPr>
              <a:t>Overfitting can lead to many difficulties: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Overfitted</a:t>
            </a:r>
            <a:r>
              <a:rPr kumimoji="1"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models are incorrect.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Require more space and more computational resources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Require collection of unnecessary features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</a:pPr>
            <a:r>
              <a:rPr kumimoji="1"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They are more difficult to comprehend</a:t>
            </a:r>
          </a:p>
        </p:txBody>
      </p:sp>
    </p:spTree>
    <p:extLst>
      <p:ext uri="{BB962C8B-B14F-4D97-AF65-F5344CB8AC3E}">
        <p14:creationId xmlns:p14="http://schemas.microsoft.com/office/powerpoint/2010/main" val="3286119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ChangeArrowheads="1"/>
          </p:cNvSpPr>
          <p:nvPr/>
        </p:nvSpPr>
        <p:spPr bwMode="auto">
          <a:xfrm>
            <a:off x="762000" y="304800"/>
            <a:ext cx="8001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4400" dirty="0">
                <a:solidFill>
                  <a:schemeClr val="tx1"/>
                </a:solidFill>
                <a:latin typeface="Arial" panose="020B0604020202020204" pitchFamily="34" charset="0"/>
              </a:rPr>
              <a:t>Overfitting</a:t>
            </a:r>
          </a:p>
        </p:txBody>
      </p:sp>
      <p:sp>
        <p:nvSpPr>
          <p:cNvPr id="344067" name="Rectangle 3"/>
          <p:cNvSpPr>
            <a:spLocks noChangeArrowheads="1"/>
          </p:cNvSpPr>
          <p:nvPr/>
        </p:nvSpPr>
        <p:spPr bwMode="auto">
          <a:xfrm>
            <a:off x="457200" y="1447800"/>
            <a:ext cx="83820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sz="2400" b="0" dirty="0" err="1">
                <a:latin typeface="Arial" charset="0"/>
              </a:rPr>
              <a:t>Overfitting</a:t>
            </a:r>
            <a:r>
              <a:rPr kumimoji="1" lang="en-US" sz="2400" b="0" dirty="0">
                <a:latin typeface="Arial" charset="0"/>
              </a:rPr>
              <a:t> can be due to:</a:t>
            </a:r>
          </a:p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+mj-lt"/>
              <a:buAutoNum type="arabicPeriod"/>
              <a:defRPr/>
            </a:pPr>
            <a:r>
              <a:rPr kumimoji="1" lang="en-US" sz="2400" b="0" dirty="0">
                <a:latin typeface="Arial" charset="0"/>
              </a:rPr>
              <a:t>Presence of Noise</a:t>
            </a:r>
          </a:p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+mj-lt"/>
              <a:buAutoNum type="arabicPeriod"/>
              <a:defRPr/>
            </a:pPr>
            <a:r>
              <a:rPr kumimoji="1" lang="en-US" sz="2400" b="0" dirty="0">
                <a:latin typeface="Arial" charset="0"/>
              </a:rPr>
              <a:t>Lack of representative samples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defRPr/>
            </a:pPr>
            <a:endParaRPr kumimoji="1" lang="en-US" sz="32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231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Overfitting due to Noise </a:t>
            </a:r>
          </a:p>
        </p:txBody>
      </p:sp>
      <p:pic>
        <p:nvPicPr>
          <p:cNvPr id="9400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19" b="3615"/>
          <a:stretch>
            <a:fillRect/>
          </a:stretch>
        </p:blipFill>
        <p:spPr bwMode="auto">
          <a:xfrm>
            <a:off x="1295400" y="1614487"/>
            <a:ext cx="63246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40036" name="Text Box 4"/>
          <p:cNvSpPr txBox="1">
            <a:spLocks noChangeArrowheads="1"/>
          </p:cNvSpPr>
          <p:nvPr/>
        </p:nvSpPr>
        <p:spPr bwMode="auto">
          <a:xfrm>
            <a:off x="1676400" y="6262687"/>
            <a:ext cx="5791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Decision boundary is distorted by noise point</a:t>
            </a:r>
            <a:endParaRPr lang="en-US" sz="180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14703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ChangeArrowheads="1"/>
          </p:cNvSpPr>
          <p:nvPr/>
        </p:nvSpPr>
        <p:spPr bwMode="auto">
          <a:xfrm>
            <a:off x="1143000" y="304800"/>
            <a:ext cx="7467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4400" dirty="0">
                <a:solidFill>
                  <a:schemeClr val="tx1"/>
                </a:solidFill>
                <a:latin typeface="Arial" panose="020B0604020202020204" pitchFamily="34" charset="0"/>
              </a:rPr>
              <a:t>Overfitting: Example</a:t>
            </a:r>
          </a:p>
        </p:txBody>
      </p:sp>
      <p:sp>
        <p:nvSpPr>
          <p:cNvPr id="344067" name="Rectangle 3"/>
          <p:cNvSpPr>
            <a:spLocks noChangeArrowheads="1"/>
          </p:cNvSpPr>
          <p:nvPr/>
        </p:nvSpPr>
        <p:spPr bwMode="auto">
          <a:xfrm>
            <a:off x="457200" y="1447800"/>
            <a:ext cx="83820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75000"/>
              <a:defRPr/>
            </a:pPr>
            <a:r>
              <a:rPr kumimoji="1" lang="en-US" dirty="0">
                <a:latin typeface="Arial" charset="0"/>
              </a:rPr>
              <a:t>Presence of </a:t>
            </a:r>
            <a:r>
              <a:rPr kumimoji="1" lang="en-US" dirty="0" smtClean="0">
                <a:latin typeface="Arial" charset="0"/>
              </a:rPr>
              <a:t>Noise: Training </a:t>
            </a:r>
            <a:r>
              <a:rPr kumimoji="1" lang="en-US" dirty="0">
                <a:latin typeface="Arial" charset="0"/>
              </a:rPr>
              <a:t>Set</a:t>
            </a:r>
          </a:p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75000"/>
              <a:defRPr/>
            </a:pPr>
            <a:endParaRPr kumimoji="1" lang="en-US" dirty="0">
              <a:latin typeface="Arial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defRPr/>
            </a:pPr>
            <a:endParaRPr kumimoji="1" lang="en-US" sz="2400" dirty="0">
              <a:latin typeface="Arial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defRPr/>
            </a:pPr>
            <a:endParaRPr kumimoji="1" lang="en-US" sz="2400" dirty="0">
              <a:latin typeface="Arial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74638" y="1957388"/>
          <a:ext cx="8610600" cy="4348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676400"/>
                <a:gridCol w="1219200"/>
                <a:gridCol w="1143000"/>
                <a:gridCol w="1524000"/>
                <a:gridCol w="1524000"/>
              </a:tblGrid>
              <a:tr h="64003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Body Temperature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Gives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</a:rPr>
                        <a:t> Birth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4-legged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Hibernates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Class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</a:rPr>
                        <a:t> Label</a:t>
                      </a:r>
                    </a:p>
                    <a:p>
                      <a:pPr algn="ctr"/>
                      <a:r>
                        <a:rPr lang="en-US" sz="1800" baseline="0" dirty="0" smtClean="0">
                          <a:solidFill>
                            <a:schemeClr val="tx1"/>
                          </a:solidFill>
                        </a:rPr>
                        <a:t>(mammal)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Porcupine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Warm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Cat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Warm Blooded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Bat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Warm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N*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Whale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Warm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N*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Salamander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Cold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Komodo Dragon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Cold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Python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Cold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Salmon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Cold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Eagle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Warm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Guppy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Cold 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8938" name="TextBox 4"/>
          <p:cNvSpPr txBox="1">
            <a:spLocks noChangeArrowheads="1"/>
          </p:cNvSpPr>
          <p:nvPr/>
        </p:nvSpPr>
        <p:spPr bwMode="auto">
          <a:xfrm>
            <a:off x="1219200" y="6488113"/>
            <a:ext cx="7010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i="1" dirty="0" smtClean="0"/>
              <a:t>*mislabeled records</a:t>
            </a:r>
            <a:endParaRPr lang="en-US" altLang="en-US" sz="1800" i="1" dirty="0"/>
          </a:p>
        </p:txBody>
      </p:sp>
    </p:spTree>
    <p:extLst>
      <p:ext uri="{BB962C8B-B14F-4D97-AF65-F5344CB8AC3E}">
        <p14:creationId xmlns:p14="http://schemas.microsoft.com/office/powerpoint/2010/main" val="2986929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ChangeArrowheads="1"/>
          </p:cNvSpPr>
          <p:nvPr/>
        </p:nvSpPr>
        <p:spPr bwMode="auto">
          <a:xfrm>
            <a:off x="1143000" y="304800"/>
            <a:ext cx="7467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4400" dirty="0">
                <a:solidFill>
                  <a:schemeClr val="tx1"/>
                </a:solidFill>
                <a:latin typeface="Arial" panose="020B0604020202020204" pitchFamily="34" charset="0"/>
              </a:rPr>
              <a:t>Overfitting: Example</a:t>
            </a:r>
          </a:p>
        </p:txBody>
      </p:sp>
      <p:sp>
        <p:nvSpPr>
          <p:cNvPr id="344067" name="Rectangle 3"/>
          <p:cNvSpPr>
            <a:spLocks noChangeArrowheads="1"/>
          </p:cNvSpPr>
          <p:nvPr/>
        </p:nvSpPr>
        <p:spPr bwMode="auto">
          <a:xfrm>
            <a:off x="457200" y="1447800"/>
            <a:ext cx="83820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75000"/>
              <a:defRPr/>
            </a:pPr>
            <a:r>
              <a:rPr kumimoji="1" lang="en-US" dirty="0">
                <a:latin typeface="Arial" charset="0"/>
              </a:rPr>
              <a:t>Presence of </a:t>
            </a:r>
            <a:r>
              <a:rPr kumimoji="1" lang="en-US" dirty="0" err="1">
                <a:latin typeface="Arial" charset="0"/>
              </a:rPr>
              <a:t>Noise:Test</a:t>
            </a:r>
            <a:r>
              <a:rPr kumimoji="1" lang="en-US" dirty="0">
                <a:latin typeface="Arial" charset="0"/>
              </a:rPr>
              <a:t> Set</a:t>
            </a:r>
          </a:p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75000"/>
              <a:defRPr/>
            </a:pPr>
            <a:endParaRPr kumimoji="1" lang="en-US" dirty="0" smtClean="0">
              <a:latin typeface="Arial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defRPr/>
            </a:pPr>
            <a:endParaRPr kumimoji="1" lang="en-US" sz="2400" dirty="0">
              <a:latin typeface="Arial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defRPr/>
            </a:pPr>
            <a:endParaRPr kumimoji="1" lang="en-US" sz="2400" dirty="0">
              <a:latin typeface="Arial" charset="0"/>
            </a:endParaRPr>
          </a:p>
        </p:txBody>
      </p:sp>
      <p:sp>
        <p:nvSpPr>
          <p:cNvPr id="68698" name="TextBox 4"/>
          <p:cNvSpPr txBox="1">
            <a:spLocks noChangeArrowheads="1"/>
          </p:cNvSpPr>
          <p:nvPr/>
        </p:nvSpPr>
        <p:spPr bwMode="auto">
          <a:xfrm>
            <a:off x="1219200" y="6488113"/>
            <a:ext cx="7010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i="1"/>
              <a:t>Table taken from text book (Tan, Steinbach, Kumar)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74638" y="1957388"/>
          <a:ext cx="8610600" cy="4348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676400"/>
                <a:gridCol w="1219200"/>
                <a:gridCol w="1143000"/>
                <a:gridCol w="1524000"/>
                <a:gridCol w="1524000"/>
              </a:tblGrid>
              <a:tr h="640033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Body Temperature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Gives</a:t>
                      </a:r>
                      <a:r>
                        <a:rPr lang="en-US" sz="1800" b="0" baseline="0" dirty="0" smtClean="0">
                          <a:solidFill>
                            <a:schemeClr val="tx1"/>
                          </a:solidFill>
                        </a:rPr>
                        <a:t> Birth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4-legged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Hibernates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Class</a:t>
                      </a:r>
                      <a:r>
                        <a:rPr lang="en-US" sz="1800" b="0" baseline="0" dirty="0" smtClean="0">
                          <a:solidFill>
                            <a:schemeClr val="tx1"/>
                          </a:solidFill>
                        </a:rPr>
                        <a:t> Label</a:t>
                      </a:r>
                    </a:p>
                    <a:p>
                      <a:pPr algn="ctr"/>
                      <a:r>
                        <a:rPr lang="en-US" sz="1800" b="0" baseline="0" dirty="0" smtClean="0">
                          <a:solidFill>
                            <a:schemeClr val="tx1"/>
                          </a:solidFill>
                        </a:rPr>
                        <a:t>(mammal)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Human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Warm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Pigeon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Warm Blooded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Elephant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Warm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Leopard Shark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Cold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Turtle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Cold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Penguin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Cold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Eel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Cold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Dolphin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Warm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Spiny Anteater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Warm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1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Gila Monster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Cold  Blooded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519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ChangeArrowheads="1"/>
          </p:cNvSpPr>
          <p:nvPr/>
        </p:nvSpPr>
        <p:spPr bwMode="auto">
          <a:xfrm>
            <a:off x="1143000" y="304800"/>
            <a:ext cx="7467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4400" dirty="0">
                <a:solidFill>
                  <a:schemeClr val="tx1"/>
                </a:solidFill>
                <a:latin typeface="Arial" panose="020B0604020202020204" pitchFamily="34" charset="0"/>
              </a:rPr>
              <a:t>Overfitting: Example</a:t>
            </a:r>
          </a:p>
        </p:txBody>
      </p:sp>
      <p:sp>
        <p:nvSpPr>
          <p:cNvPr id="344067" name="Rectangle 3"/>
          <p:cNvSpPr>
            <a:spLocks noChangeArrowheads="1"/>
          </p:cNvSpPr>
          <p:nvPr/>
        </p:nvSpPr>
        <p:spPr bwMode="auto">
          <a:xfrm>
            <a:off x="457200" y="1447800"/>
            <a:ext cx="83820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75000"/>
              <a:defRPr/>
            </a:pPr>
            <a:r>
              <a:rPr kumimoji="1" lang="en-US" dirty="0">
                <a:latin typeface="Arial" charset="0"/>
              </a:rPr>
              <a:t>Presence of Noise: Models</a:t>
            </a:r>
          </a:p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75000"/>
              <a:defRPr/>
            </a:pPr>
            <a:endParaRPr kumimoji="1" lang="en-US" dirty="0">
              <a:latin typeface="Arial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defRPr/>
            </a:pPr>
            <a:endParaRPr kumimoji="1" lang="en-US" sz="2400" dirty="0">
              <a:latin typeface="Arial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defRPr/>
            </a:pPr>
            <a:endParaRPr kumimoji="1" lang="en-US" sz="2400" dirty="0">
              <a:latin typeface="Arial" charset="0"/>
            </a:endParaRPr>
          </a:p>
        </p:txBody>
      </p:sp>
      <p:grpSp>
        <p:nvGrpSpPr>
          <p:cNvPr id="69636" name="Group 65"/>
          <p:cNvGrpSpPr>
            <a:grpSpLocks/>
          </p:cNvGrpSpPr>
          <p:nvPr/>
        </p:nvGrpSpPr>
        <p:grpSpPr bwMode="auto">
          <a:xfrm>
            <a:off x="533400" y="1981200"/>
            <a:ext cx="3949700" cy="3810000"/>
            <a:chOff x="381000" y="2667000"/>
            <a:chExt cx="3949608" cy="3810000"/>
          </a:xfrm>
        </p:grpSpPr>
        <p:grpSp>
          <p:nvGrpSpPr>
            <p:cNvPr id="69655" name="Group 4"/>
            <p:cNvGrpSpPr>
              <a:grpSpLocks/>
            </p:cNvGrpSpPr>
            <p:nvPr/>
          </p:nvGrpSpPr>
          <p:grpSpPr bwMode="auto">
            <a:xfrm>
              <a:off x="381000" y="2667000"/>
              <a:ext cx="3048000" cy="3810000"/>
              <a:chOff x="192" y="2016"/>
              <a:chExt cx="1920" cy="2016"/>
            </a:xfrm>
          </p:grpSpPr>
          <p:sp>
            <p:nvSpPr>
              <p:cNvPr id="69660" name="Oval 5"/>
              <p:cNvSpPr>
                <a:spLocks noChangeArrowheads="1"/>
              </p:cNvSpPr>
              <p:nvPr/>
            </p:nvSpPr>
            <p:spPr bwMode="auto">
              <a:xfrm>
                <a:off x="1008" y="2016"/>
                <a:ext cx="912" cy="384"/>
              </a:xfrm>
              <a:prstGeom prst="ellipse">
                <a:avLst/>
              </a:prstGeom>
              <a:solidFill>
                <a:srgbClr val="0099FF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2000" b="0">
                    <a:solidFill>
                      <a:srgbClr val="000000"/>
                    </a:solidFill>
                  </a:rPr>
                  <a:t>Body Temp</a:t>
                </a:r>
              </a:p>
            </p:txBody>
          </p:sp>
          <p:sp>
            <p:nvSpPr>
              <p:cNvPr id="69661" name="Line 6"/>
              <p:cNvSpPr>
                <a:spLocks noChangeShapeType="1"/>
              </p:cNvSpPr>
              <p:nvPr/>
            </p:nvSpPr>
            <p:spPr bwMode="auto">
              <a:xfrm flipH="1">
                <a:off x="1056" y="2352"/>
                <a:ext cx="144" cy="288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9662" name="Line 7"/>
              <p:cNvSpPr>
                <a:spLocks noChangeShapeType="1"/>
              </p:cNvSpPr>
              <p:nvPr/>
            </p:nvSpPr>
            <p:spPr bwMode="auto">
              <a:xfrm>
                <a:off x="1680" y="2379"/>
                <a:ext cx="144" cy="24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9663" name="Oval 8"/>
              <p:cNvSpPr>
                <a:spLocks noChangeArrowheads="1"/>
              </p:cNvSpPr>
              <p:nvPr/>
            </p:nvSpPr>
            <p:spPr bwMode="auto">
              <a:xfrm>
                <a:off x="576" y="3216"/>
                <a:ext cx="816" cy="384"/>
              </a:xfrm>
              <a:prstGeom prst="ellipse">
                <a:avLst/>
              </a:prstGeom>
              <a:solidFill>
                <a:srgbClr val="0099FF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2000" b="0">
                    <a:solidFill>
                      <a:srgbClr val="000000"/>
                    </a:solidFill>
                  </a:rPr>
                  <a:t>4-legged</a:t>
                </a:r>
              </a:p>
            </p:txBody>
          </p:sp>
          <p:sp>
            <p:nvSpPr>
              <p:cNvPr id="69664" name="Line 9"/>
              <p:cNvSpPr>
                <a:spLocks noChangeShapeType="1"/>
              </p:cNvSpPr>
              <p:nvPr/>
            </p:nvSpPr>
            <p:spPr bwMode="auto">
              <a:xfrm flipH="1">
                <a:off x="576" y="3552"/>
                <a:ext cx="192" cy="24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9665" name="Line 10"/>
              <p:cNvSpPr>
                <a:spLocks noChangeShapeType="1"/>
              </p:cNvSpPr>
              <p:nvPr/>
            </p:nvSpPr>
            <p:spPr bwMode="auto">
              <a:xfrm>
                <a:off x="1248" y="3552"/>
                <a:ext cx="144" cy="238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9666" name="Rectangle 11"/>
              <p:cNvSpPr>
                <a:spLocks noChangeArrowheads="1"/>
              </p:cNvSpPr>
              <p:nvPr/>
            </p:nvSpPr>
            <p:spPr bwMode="auto">
              <a:xfrm>
                <a:off x="240" y="3792"/>
                <a:ext cx="768" cy="240"/>
              </a:xfrm>
              <a:prstGeom prst="rect">
                <a:avLst/>
              </a:prstGeom>
              <a:solidFill>
                <a:srgbClr val="0099FF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Mammals</a:t>
                </a:r>
              </a:p>
            </p:txBody>
          </p:sp>
          <p:sp>
            <p:nvSpPr>
              <p:cNvPr id="69667" name="Rectangle 12"/>
              <p:cNvSpPr>
                <a:spLocks noChangeArrowheads="1"/>
              </p:cNvSpPr>
              <p:nvPr/>
            </p:nvSpPr>
            <p:spPr bwMode="auto">
              <a:xfrm>
                <a:off x="1200" y="3790"/>
                <a:ext cx="912" cy="242"/>
              </a:xfrm>
              <a:prstGeom prst="rect">
                <a:avLst/>
              </a:prstGeom>
              <a:solidFill>
                <a:srgbClr val="0099FF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Non-mammals</a:t>
                </a:r>
                <a:endParaRPr lang="en-US" altLang="en-US" sz="2400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9668" name="Text Box 15"/>
              <p:cNvSpPr txBox="1">
                <a:spLocks noChangeArrowheads="1"/>
              </p:cNvSpPr>
              <p:nvPr/>
            </p:nvSpPr>
            <p:spPr bwMode="auto">
              <a:xfrm>
                <a:off x="422" y="3480"/>
                <a:ext cx="328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Yes</a:t>
                </a:r>
              </a:p>
            </p:txBody>
          </p:sp>
          <p:sp>
            <p:nvSpPr>
              <p:cNvPr id="69669" name="Text Box 18"/>
              <p:cNvSpPr txBox="1">
                <a:spLocks noChangeArrowheads="1"/>
              </p:cNvSpPr>
              <p:nvPr/>
            </p:nvSpPr>
            <p:spPr bwMode="auto">
              <a:xfrm>
                <a:off x="192" y="2339"/>
                <a:ext cx="973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Warm blooded</a:t>
                </a:r>
              </a:p>
            </p:txBody>
          </p:sp>
          <p:sp>
            <p:nvSpPr>
              <p:cNvPr id="69670" name="Oval 19"/>
              <p:cNvSpPr>
                <a:spLocks noChangeArrowheads="1"/>
              </p:cNvSpPr>
              <p:nvPr/>
            </p:nvSpPr>
            <p:spPr bwMode="auto">
              <a:xfrm>
                <a:off x="720" y="2640"/>
                <a:ext cx="768" cy="384"/>
              </a:xfrm>
              <a:prstGeom prst="ellipse">
                <a:avLst/>
              </a:prstGeom>
              <a:solidFill>
                <a:srgbClr val="0099FF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Gives Birth</a:t>
                </a:r>
              </a:p>
            </p:txBody>
          </p:sp>
          <p:sp>
            <p:nvSpPr>
              <p:cNvPr id="69671" name="Line 20"/>
              <p:cNvSpPr>
                <a:spLocks noChangeShapeType="1"/>
              </p:cNvSpPr>
              <p:nvPr/>
            </p:nvSpPr>
            <p:spPr bwMode="auto">
              <a:xfrm flipH="1">
                <a:off x="816" y="3024"/>
                <a:ext cx="192" cy="192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9672" name="Line 21"/>
              <p:cNvSpPr>
                <a:spLocks noChangeShapeType="1"/>
              </p:cNvSpPr>
              <p:nvPr/>
            </p:nvSpPr>
            <p:spPr bwMode="auto">
              <a:xfrm>
                <a:off x="1344" y="2976"/>
                <a:ext cx="240" cy="192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9673" name="Text Box 22"/>
              <p:cNvSpPr txBox="1">
                <a:spLocks noChangeArrowheads="1"/>
              </p:cNvSpPr>
              <p:nvPr/>
            </p:nvSpPr>
            <p:spPr bwMode="auto">
              <a:xfrm>
                <a:off x="1488" y="2880"/>
                <a:ext cx="294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No</a:t>
                </a:r>
              </a:p>
            </p:txBody>
          </p:sp>
          <p:sp>
            <p:nvSpPr>
              <p:cNvPr id="69674" name="Text Box 23"/>
              <p:cNvSpPr txBox="1">
                <a:spLocks noChangeArrowheads="1"/>
              </p:cNvSpPr>
              <p:nvPr/>
            </p:nvSpPr>
            <p:spPr bwMode="auto">
              <a:xfrm>
                <a:off x="528" y="2928"/>
                <a:ext cx="328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Yes</a:t>
                </a:r>
              </a:p>
            </p:txBody>
          </p:sp>
        </p:grpSp>
        <p:sp>
          <p:nvSpPr>
            <p:cNvPr id="69656" name="Text Box 23"/>
            <p:cNvSpPr txBox="1">
              <a:spLocks noChangeArrowheads="1"/>
            </p:cNvSpPr>
            <p:nvPr/>
          </p:nvSpPr>
          <p:spPr bwMode="auto">
            <a:xfrm>
              <a:off x="2209800" y="5410200"/>
              <a:ext cx="463550" cy="436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>
                  <a:solidFill>
                    <a:srgbClr val="000000"/>
                  </a:solidFill>
                </a:rPr>
                <a:t>No</a:t>
              </a:r>
            </a:p>
          </p:txBody>
        </p:sp>
        <p:sp>
          <p:nvSpPr>
            <p:cNvPr id="69657" name="Rectangle 42"/>
            <p:cNvSpPr>
              <a:spLocks noChangeArrowheads="1"/>
            </p:cNvSpPr>
            <p:nvPr/>
          </p:nvSpPr>
          <p:spPr bwMode="auto">
            <a:xfrm>
              <a:off x="2362200" y="4800600"/>
              <a:ext cx="1447800" cy="457351"/>
            </a:xfrm>
            <a:prstGeom prst="rect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800" b="0">
                  <a:solidFill>
                    <a:srgbClr val="000000"/>
                  </a:solidFill>
                </a:rPr>
                <a:t>Non-mammals</a:t>
              </a:r>
              <a:endParaRPr lang="en-US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69658" name="Rectangle 43"/>
            <p:cNvSpPr>
              <a:spLocks noChangeArrowheads="1"/>
            </p:cNvSpPr>
            <p:nvPr/>
          </p:nvSpPr>
          <p:spPr bwMode="auto">
            <a:xfrm>
              <a:off x="2514600" y="3810000"/>
              <a:ext cx="1447800" cy="457351"/>
            </a:xfrm>
            <a:prstGeom prst="rect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800" b="0">
                  <a:solidFill>
                    <a:srgbClr val="000000"/>
                  </a:solidFill>
                </a:rPr>
                <a:t>Non-mammals</a:t>
              </a:r>
              <a:endParaRPr lang="en-US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69659" name="Text Box 18"/>
            <p:cNvSpPr txBox="1">
              <a:spLocks noChangeArrowheads="1"/>
            </p:cNvSpPr>
            <p:nvPr/>
          </p:nvSpPr>
          <p:spPr bwMode="auto">
            <a:xfrm>
              <a:off x="2895600" y="3276600"/>
              <a:ext cx="143500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>
                  <a:solidFill>
                    <a:srgbClr val="000000"/>
                  </a:solidFill>
                </a:rPr>
                <a:t>Cold blooded</a:t>
              </a:r>
            </a:p>
          </p:txBody>
        </p:sp>
      </p:grpSp>
      <p:grpSp>
        <p:nvGrpSpPr>
          <p:cNvPr id="69637" name="Group 66"/>
          <p:cNvGrpSpPr>
            <a:grpSpLocks/>
          </p:cNvGrpSpPr>
          <p:nvPr/>
        </p:nvGrpSpPr>
        <p:grpSpPr bwMode="auto">
          <a:xfrm>
            <a:off x="4953000" y="2209800"/>
            <a:ext cx="3873500" cy="2744788"/>
            <a:chOff x="4953000" y="2666999"/>
            <a:chExt cx="3873408" cy="2744107"/>
          </a:xfrm>
        </p:grpSpPr>
        <p:grpSp>
          <p:nvGrpSpPr>
            <p:cNvPr id="69641" name="Group 45"/>
            <p:cNvGrpSpPr>
              <a:grpSpLocks/>
            </p:cNvGrpSpPr>
            <p:nvPr/>
          </p:nvGrpSpPr>
          <p:grpSpPr bwMode="auto">
            <a:xfrm>
              <a:off x="4953000" y="2666999"/>
              <a:ext cx="3048000" cy="2744107"/>
              <a:chOff x="192" y="2016"/>
              <a:chExt cx="1920" cy="1452"/>
            </a:xfrm>
          </p:grpSpPr>
          <p:sp>
            <p:nvSpPr>
              <p:cNvPr id="69644" name="Oval 46"/>
              <p:cNvSpPr>
                <a:spLocks noChangeArrowheads="1"/>
              </p:cNvSpPr>
              <p:nvPr/>
            </p:nvSpPr>
            <p:spPr bwMode="auto">
              <a:xfrm>
                <a:off x="1008" y="2016"/>
                <a:ext cx="912" cy="384"/>
              </a:xfrm>
              <a:prstGeom prst="ellipse">
                <a:avLst/>
              </a:prstGeom>
              <a:solidFill>
                <a:srgbClr val="0099FF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2000" b="0">
                    <a:solidFill>
                      <a:srgbClr val="000000"/>
                    </a:solidFill>
                  </a:rPr>
                  <a:t>Body Temp</a:t>
                </a:r>
              </a:p>
            </p:txBody>
          </p:sp>
          <p:sp>
            <p:nvSpPr>
              <p:cNvPr id="69645" name="Line 6"/>
              <p:cNvSpPr>
                <a:spLocks noChangeShapeType="1"/>
              </p:cNvSpPr>
              <p:nvPr/>
            </p:nvSpPr>
            <p:spPr bwMode="auto">
              <a:xfrm flipH="1">
                <a:off x="1056" y="2352"/>
                <a:ext cx="144" cy="288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9646" name="Line 7"/>
              <p:cNvSpPr>
                <a:spLocks noChangeShapeType="1"/>
              </p:cNvSpPr>
              <p:nvPr/>
            </p:nvSpPr>
            <p:spPr bwMode="auto">
              <a:xfrm>
                <a:off x="1680" y="2379"/>
                <a:ext cx="144" cy="24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9647" name="Rectangle 52"/>
              <p:cNvSpPr>
                <a:spLocks noChangeArrowheads="1"/>
              </p:cNvSpPr>
              <p:nvPr/>
            </p:nvSpPr>
            <p:spPr bwMode="auto">
              <a:xfrm>
                <a:off x="336" y="3226"/>
                <a:ext cx="768" cy="240"/>
              </a:xfrm>
              <a:prstGeom prst="rect">
                <a:avLst/>
              </a:prstGeom>
              <a:solidFill>
                <a:srgbClr val="0099FF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Mammals</a:t>
                </a:r>
              </a:p>
            </p:txBody>
          </p:sp>
          <p:sp>
            <p:nvSpPr>
              <p:cNvPr id="69648" name="Rectangle 53"/>
              <p:cNvSpPr>
                <a:spLocks noChangeArrowheads="1"/>
              </p:cNvSpPr>
              <p:nvPr/>
            </p:nvSpPr>
            <p:spPr bwMode="auto">
              <a:xfrm>
                <a:off x="1200" y="3226"/>
                <a:ext cx="912" cy="242"/>
              </a:xfrm>
              <a:prstGeom prst="rect">
                <a:avLst/>
              </a:prstGeom>
              <a:solidFill>
                <a:srgbClr val="0099FF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Non-mammals</a:t>
                </a:r>
                <a:endParaRPr lang="en-US" altLang="en-US" sz="2400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9649" name="Text Box 18"/>
              <p:cNvSpPr txBox="1">
                <a:spLocks noChangeArrowheads="1"/>
              </p:cNvSpPr>
              <p:nvPr/>
            </p:nvSpPr>
            <p:spPr bwMode="auto">
              <a:xfrm>
                <a:off x="192" y="2339"/>
                <a:ext cx="973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Warm blooded</a:t>
                </a:r>
              </a:p>
            </p:txBody>
          </p:sp>
          <p:sp>
            <p:nvSpPr>
              <p:cNvPr id="69650" name="Oval 56"/>
              <p:cNvSpPr>
                <a:spLocks noChangeArrowheads="1"/>
              </p:cNvSpPr>
              <p:nvPr/>
            </p:nvSpPr>
            <p:spPr bwMode="auto">
              <a:xfrm>
                <a:off x="720" y="2640"/>
                <a:ext cx="768" cy="384"/>
              </a:xfrm>
              <a:prstGeom prst="ellipse">
                <a:avLst/>
              </a:prstGeom>
              <a:solidFill>
                <a:srgbClr val="0099FF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Gives Birth</a:t>
                </a:r>
              </a:p>
            </p:txBody>
          </p:sp>
          <p:sp>
            <p:nvSpPr>
              <p:cNvPr id="69651" name="Line 20"/>
              <p:cNvSpPr>
                <a:spLocks noChangeShapeType="1"/>
              </p:cNvSpPr>
              <p:nvPr/>
            </p:nvSpPr>
            <p:spPr bwMode="auto">
              <a:xfrm flipH="1">
                <a:off x="816" y="3024"/>
                <a:ext cx="192" cy="192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9652" name="Line 21"/>
              <p:cNvSpPr>
                <a:spLocks noChangeShapeType="1"/>
              </p:cNvSpPr>
              <p:nvPr/>
            </p:nvSpPr>
            <p:spPr bwMode="auto">
              <a:xfrm>
                <a:off x="1344" y="2976"/>
                <a:ext cx="192" cy="25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9653" name="Text Box 22"/>
              <p:cNvSpPr txBox="1">
                <a:spLocks noChangeArrowheads="1"/>
              </p:cNvSpPr>
              <p:nvPr/>
            </p:nvSpPr>
            <p:spPr bwMode="auto">
              <a:xfrm>
                <a:off x="1488" y="2880"/>
                <a:ext cx="294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No</a:t>
                </a:r>
              </a:p>
            </p:txBody>
          </p:sp>
          <p:sp>
            <p:nvSpPr>
              <p:cNvPr id="69654" name="Text Box 23"/>
              <p:cNvSpPr txBox="1">
                <a:spLocks noChangeArrowheads="1"/>
              </p:cNvSpPr>
              <p:nvPr/>
            </p:nvSpPr>
            <p:spPr bwMode="auto">
              <a:xfrm>
                <a:off x="528" y="2928"/>
                <a:ext cx="328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Yes</a:t>
                </a:r>
              </a:p>
            </p:txBody>
          </p:sp>
        </p:grpSp>
        <p:sp>
          <p:nvSpPr>
            <p:cNvPr id="69642" name="Text Box 18"/>
            <p:cNvSpPr txBox="1">
              <a:spLocks noChangeArrowheads="1"/>
            </p:cNvSpPr>
            <p:nvPr/>
          </p:nvSpPr>
          <p:spPr bwMode="auto">
            <a:xfrm>
              <a:off x="7391400" y="3276600"/>
              <a:ext cx="143500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>
                  <a:solidFill>
                    <a:srgbClr val="000000"/>
                  </a:solidFill>
                </a:rPr>
                <a:t>Cold blooded</a:t>
              </a:r>
            </a:p>
          </p:txBody>
        </p:sp>
        <p:sp>
          <p:nvSpPr>
            <p:cNvPr id="69643" name="Rectangle 62"/>
            <p:cNvSpPr>
              <a:spLocks noChangeArrowheads="1"/>
            </p:cNvSpPr>
            <p:nvPr/>
          </p:nvSpPr>
          <p:spPr bwMode="auto">
            <a:xfrm>
              <a:off x="7239000" y="3810000"/>
              <a:ext cx="1447800" cy="457351"/>
            </a:xfrm>
            <a:prstGeom prst="rect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800" b="0">
                  <a:solidFill>
                    <a:srgbClr val="000000"/>
                  </a:solidFill>
                </a:rPr>
                <a:t>Non-mammals</a:t>
              </a:r>
              <a:endParaRPr lang="en-US" altLang="en-US" sz="2400" b="0">
                <a:solidFill>
                  <a:srgbClr val="000000"/>
                </a:solidFill>
              </a:endParaRPr>
            </a:p>
          </p:txBody>
        </p:sp>
      </p:grpSp>
      <p:sp>
        <p:nvSpPr>
          <p:cNvPr id="69638" name="Text Box 18"/>
          <p:cNvSpPr txBox="1">
            <a:spLocks noChangeArrowheads="1"/>
          </p:cNvSpPr>
          <p:nvPr/>
        </p:nvSpPr>
        <p:spPr bwMode="auto">
          <a:xfrm>
            <a:off x="685800" y="5791200"/>
            <a:ext cx="33877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b="0">
                <a:solidFill>
                  <a:srgbClr val="000000"/>
                </a:solidFill>
              </a:rPr>
              <a:t>Model M1</a:t>
            </a:r>
          </a:p>
          <a:p>
            <a:pPr eaLnBrk="1" hangingPunct="1"/>
            <a:r>
              <a:rPr lang="en-US" altLang="en-US" sz="1800" b="0">
                <a:solidFill>
                  <a:srgbClr val="000000"/>
                </a:solidFill>
              </a:rPr>
              <a:t>TE = 0%, GE=30% Find out why?</a:t>
            </a:r>
          </a:p>
        </p:txBody>
      </p:sp>
      <p:sp>
        <p:nvSpPr>
          <p:cNvPr id="69639" name="Text Box 18"/>
          <p:cNvSpPr txBox="1">
            <a:spLocks noChangeArrowheads="1"/>
          </p:cNvSpPr>
          <p:nvPr/>
        </p:nvSpPr>
        <p:spPr bwMode="auto">
          <a:xfrm>
            <a:off x="5715000" y="4953000"/>
            <a:ext cx="21113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b="0">
                <a:solidFill>
                  <a:srgbClr val="000000"/>
                </a:solidFill>
              </a:rPr>
              <a:t>Model M2</a:t>
            </a:r>
          </a:p>
          <a:p>
            <a:pPr eaLnBrk="1" hangingPunct="1"/>
            <a:r>
              <a:rPr lang="en-US" altLang="en-US" sz="1800" b="0">
                <a:solidFill>
                  <a:srgbClr val="000000"/>
                </a:solidFill>
              </a:rPr>
              <a:t>TE = 20%, GE=10%</a:t>
            </a:r>
          </a:p>
          <a:p>
            <a:pPr eaLnBrk="1" hangingPunct="1"/>
            <a:endParaRPr lang="en-US" altLang="en-US" sz="1800" b="0">
              <a:solidFill>
                <a:srgbClr val="000000"/>
              </a:solidFill>
            </a:endParaRPr>
          </a:p>
        </p:txBody>
      </p:sp>
      <p:sp>
        <p:nvSpPr>
          <p:cNvPr id="69640" name="TextBox 41"/>
          <p:cNvSpPr txBox="1">
            <a:spLocks noChangeArrowheads="1"/>
          </p:cNvSpPr>
          <p:nvPr/>
        </p:nvSpPr>
        <p:spPr bwMode="auto">
          <a:xfrm>
            <a:off x="1219200" y="6488113"/>
            <a:ext cx="7010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i="1"/>
              <a:t>Figure taken from text book (Tan, Steinbach, Kumar)</a:t>
            </a:r>
          </a:p>
        </p:txBody>
      </p:sp>
    </p:spTree>
    <p:extLst>
      <p:ext uri="{BB962C8B-B14F-4D97-AF65-F5344CB8AC3E}">
        <p14:creationId xmlns:p14="http://schemas.microsoft.com/office/powerpoint/2010/main" val="1729270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610600" cy="533400"/>
          </a:xfrm>
        </p:spPr>
        <p:txBody>
          <a:bodyPr>
            <a:normAutofit fontScale="90000"/>
          </a:bodyPr>
          <a:lstStyle/>
          <a:p>
            <a:r>
              <a:rPr lang="en-US" altLang="en-US" sz="3600" smtClean="0"/>
              <a:t>Overfitting due to Insufficient Examples</a:t>
            </a:r>
          </a:p>
        </p:txBody>
      </p:sp>
      <p:sp>
        <p:nvSpPr>
          <p:cNvPr id="73731" name="Text Box 3"/>
          <p:cNvSpPr txBox="1">
            <a:spLocks noChangeArrowheads="1"/>
          </p:cNvSpPr>
          <p:nvPr/>
        </p:nvSpPr>
        <p:spPr bwMode="auto">
          <a:xfrm>
            <a:off x="609600" y="4724400"/>
            <a:ext cx="7620000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>
                <a:sym typeface="Symbol" panose="05050102010706020507" pitchFamily="18" charset="2"/>
              </a:rPr>
              <a:t>Lack of data points in the lower half of the diagram makes it difficult to predict correctly the class labels of that region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/>
              <a:t>- Insufficient number of training records in the region causes the decision tree to predict the test examples using other training records that are irrelevant to the classification task</a:t>
            </a:r>
            <a:endParaRPr lang="en-US" altLang="en-US" sz="1800">
              <a:sym typeface="Symbol" panose="05050102010706020507" pitchFamily="18" charset="2"/>
            </a:endParaRPr>
          </a:p>
        </p:txBody>
      </p:sp>
      <p:pic>
        <p:nvPicPr>
          <p:cNvPr id="7373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2" t="4857" r="5357" b="4857"/>
          <a:stretch>
            <a:fillRect/>
          </a:stretch>
        </p:blipFill>
        <p:spPr>
          <a:xfrm>
            <a:off x="1828800" y="1295400"/>
            <a:ext cx="4470400" cy="3454400"/>
          </a:xfrm>
          <a:noFill/>
        </p:spPr>
      </p:pic>
      <p:sp>
        <p:nvSpPr>
          <p:cNvPr id="73733" name="TextBox 25"/>
          <p:cNvSpPr txBox="1">
            <a:spLocks noChangeArrowheads="1"/>
          </p:cNvSpPr>
          <p:nvPr/>
        </p:nvSpPr>
        <p:spPr bwMode="auto">
          <a:xfrm>
            <a:off x="1219200" y="6248400"/>
            <a:ext cx="7010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i="1"/>
              <a:t>Figure taken from text book (Tan, Steinbach, Kumar)</a:t>
            </a:r>
          </a:p>
        </p:txBody>
      </p:sp>
    </p:spTree>
    <p:extLst>
      <p:ext uri="{BB962C8B-B14F-4D97-AF65-F5344CB8AC3E}">
        <p14:creationId xmlns:p14="http://schemas.microsoft.com/office/powerpoint/2010/main" val="219032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ChangeArrowheads="1"/>
          </p:cNvSpPr>
          <p:nvPr/>
        </p:nvSpPr>
        <p:spPr bwMode="auto">
          <a:xfrm>
            <a:off x="1143000" y="304800"/>
            <a:ext cx="7467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4400" dirty="0">
                <a:solidFill>
                  <a:schemeClr val="tx1"/>
                </a:solidFill>
                <a:latin typeface="Arial" panose="020B0604020202020204" pitchFamily="34" charset="0"/>
              </a:rPr>
              <a:t>Overfitting: Example</a:t>
            </a:r>
          </a:p>
        </p:txBody>
      </p:sp>
      <p:sp>
        <p:nvSpPr>
          <p:cNvPr id="344067" name="Rectangle 3"/>
          <p:cNvSpPr>
            <a:spLocks noChangeArrowheads="1"/>
          </p:cNvSpPr>
          <p:nvPr/>
        </p:nvSpPr>
        <p:spPr bwMode="auto">
          <a:xfrm>
            <a:off x="457200" y="1447800"/>
            <a:ext cx="83820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75000"/>
              <a:defRPr/>
            </a:pPr>
            <a:r>
              <a:rPr kumimoji="1" lang="en-US" dirty="0">
                <a:latin typeface="Arial" charset="0"/>
              </a:rPr>
              <a:t>Lack of representative samples: Training Set</a:t>
            </a:r>
          </a:p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75000"/>
              <a:defRPr/>
            </a:pPr>
            <a:endParaRPr kumimoji="1" lang="en-US" dirty="0">
              <a:latin typeface="Arial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defRPr/>
            </a:pPr>
            <a:endParaRPr kumimoji="1" lang="en-US" sz="2400" dirty="0">
              <a:latin typeface="Arial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defRPr/>
            </a:pPr>
            <a:endParaRPr kumimoji="1" lang="en-US" sz="2400" dirty="0">
              <a:latin typeface="Arial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28600" y="2286000"/>
          <a:ext cx="8610600" cy="24526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676400"/>
                <a:gridCol w="1219200"/>
                <a:gridCol w="1143000"/>
                <a:gridCol w="1524000"/>
                <a:gridCol w="1524000"/>
              </a:tblGrid>
              <a:tr h="6402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Body Temperature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Gives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</a:rPr>
                        <a:t> Birth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4-legged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Hibernates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Class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</a:rPr>
                        <a:t> Label</a:t>
                      </a:r>
                    </a:p>
                    <a:p>
                      <a:pPr algn="ctr"/>
                      <a:r>
                        <a:rPr lang="en-US" sz="1800" baseline="0" dirty="0" smtClean="0">
                          <a:solidFill>
                            <a:schemeClr val="tx1"/>
                          </a:solidFill>
                        </a:rPr>
                        <a:t>(mammal)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936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Salamander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Cold Blooded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936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Eagle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Warm Blooded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936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Guppy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Cold  Blooded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8697"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 smtClean="0"/>
                        <a:t>Poorwill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Warm</a:t>
                      </a:r>
                      <a:r>
                        <a:rPr lang="en-US" sz="1400" baseline="0" dirty="0" smtClean="0"/>
                        <a:t> blooded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936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Platypus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Warm blooded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N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Y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0711" name="TextBox 4"/>
          <p:cNvSpPr txBox="1">
            <a:spLocks noChangeArrowheads="1"/>
          </p:cNvSpPr>
          <p:nvPr/>
        </p:nvSpPr>
        <p:spPr bwMode="auto">
          <a:xfrm>
            <a:off x="1219200" y="6488113"/>
            <a:ext cx="7010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i="1"/>
              <a:t>Table taken from text book (Tan, Steinbach, Kumar)</a:t>
            </a:r>
          </a:p>
        </p:txBody>
      </p:sp>
    </p:spTree>
    <p:extLst>
      <p:ext uri="{BB962C8B-B14F-4D97-AF65-F5344CB8AC3E}">
        <p14:creationId xmlns:p14="http://schemas.microsoft.com/office/powerpoint/2010/main" val="1025857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1143000" y="304800"/>
            <a:ext cx="7467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4400" dirty="0">
                <a:solidFill>
                  <a:schemeClr val="tx1"/>
                </a:solidFill>
                <a:latin typeface="Arial" panose="020B0604020202020204" pitchFamily="34" charset="0"/>
              </a:rPr>
              <a:t>Overfitting: Example</a:t>
            </a:r>
          </a:p>
        </p:txBody>
      </p:sp>
      <p:sp>
        <p:nvSpPr>
          <p:cNvPr id="344067" name="Rectangle 3"/>
          <p:cNvSpPr>
            <a:spLocks noChangeArrowheads="1"/>
          </p:cNvSpPr>
          <p:nvPr/>
        </p:nvSpPr>
        <p:spPr bwMode="auto">
          <a:xfrm>
            <a:off x="304800" y="1447800"/>
            <a:ext cx="83820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75000"/>
              <a:defRPr/>
            </a:pPr>
            <a:r>
              <a:rPr kumimoji="1" lang="en-US" dirty="0">
                <a:latin typeface="Arial" charset="0"/>
              </a:rPr>
              <a:t>Lack of representative samples: Training Set</a:t>
            </a:r>
          </a:p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75000"/>
              <a:defRPr/>
            </a:pPr>
            <a:endParaRPr kumimoji="1" lang="en-US" dirty="0">
              <a:solidFill>
                <a:schemeClr val="bg2"/>
              </a:solidFill>
              <a:latin typeface="Arial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defRPr/>
            </a:pPr>
            <a:endParaRPr kumimoji="1" lang="en-US" sz="2400" dirty="0">
              <a:solidFill>
                <a:schemeClr val="bg2"/>
              </a:solidFill>
              <a:latin typeface="Arial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  <a:defRPr/>
            </a:pPr>
            <a:endParaRPr kumimoji="1" lang="en-US" sz="2400" dirty="0">
              <a:solidFill>
                <a:schemeClr val="bg2"/>
              </a:solidFill>
              <a:latin typeface="Arial" charset="0"/>
            </a:endParaRPr>
          </a:p>
        </p:txBody>
      </p:sp>
      <p:grpSp>
        <p:nvGrpSpPr>
          <p:cNvPr id="71684" name="Group 4"/>
          <p:cNvGrpSpPr>
            <a:grpSpLocks/>
          </p:cNvGrpSpPr>
          <p:nvPr/>
        </p:nvGrpSpPr>
        <p:grpSpPr bwMode="auto">
          <a:xfrm>
            <a:off x="533400" y="2362200"/>
            <a:ext cx="3949700" cy="3810000"/>
            <a:chOff x="381000" y="2667000"/>
            <a:chExt cx="3949608" cy="3810000"/>
          </a:xfrm>
        </p:grpSpPr>
        <p:grpSp>
          <p:nvGrpSpPr>
            <p:cNvPr id="71687" name="Group 4"/>
            <p:cNvGrpSpPr>
              <a:grpSpLocks/>
            </p:cNvGrpSpPr>
            <p:nvPr/>
          </p:nvGrpSpPr>
          <p:grpSpPr bwMode="auto">
            <a:xfrm>
              <a:off x="381000" y="2666998"/>
              <a:ext cx="3048000" cy="3809998"/>
              <a:chOff x="192" y="2016"/>
              <a:chExt cx="1920" cy="2016"/>
            </a:xfrm>
          </p:grpSpPr>
          <p:sp>
            <p:nvSpPr>
              <p:cNvPr id="71692" name="Oval 10"/>
              <p:cNvSpPr>
                <a:spLocks noChangeArrowheads="1"/>
              </p:cNvSpPr>
              <p:nvPr/>
            </p:nvSpPr>
            <p:spPr bwMode="auto">
              <a:xfrm>
                <a:off x="1008" y="2016"/>
                <a:ext cx="912" cy="384"/>
              </a:xfrm>
              <a:prstGeom prst="ellipse">
                <a:avLst/>
              </a:prstGeom>
              <a:solidFill>
                <a:srgbClr val="0099FF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2000" b="0">
                    <a:solidFill>
                      <a:srgbClr val="000000"/>
                    </a:solidFill>
                  </a:rPr>
                  <a:t>Body Temp</a:t>
                </a:r>
              </a:p>
            </p:txBody>
          </p:sp>
          <p:sp>
            <p:nvSpPr>
              <p:cNvPr id="71693" name="Line 6"/>
              <p:cNvSpPr>
                <a:spLocks noChangeShapeType="1"/>
              </p:cNvSpPr>
              <p:nvPr/>
            </p:nvSpPr>
            <p:spPr bwMode="auto">
              <a:xfrm flipH="1">
                <a:off x="1056" y="2352"/>
                <a:ext cx="144" cy="288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71694" name="Line 7"/>
              <p:cNvSpPr>
                <a:spLocks noChangeShapeType="1"/>
              </p:cNvSpPr>
              <p:nvPr/>
            </p:nvSpPr>
            <p:spPr bwMode="auto">
              <a:xfrm>
                <a:off x="1680" y="2379"/>
                <a:ext cx="144" cy="24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71695" name="Oval 13"/>
              <p:cNvSpPr>
                <a:spLocks noChangeArrowheads="1"/>
              </p:cNvSpPr>
              <p:nvPr/>
            </p:nvSpPr>
            <p:spPr bwMode="auto">
              <a:xfrm>
                <a:off x="576" y="3216"/>
                <a:ext cx="816" cy="384"/>
              </a:xfrm>
              <a:prstGeom prst="ellipse">
                <a:avLst/>
              </a:prstGeom>
              <a:solidFill>
                <a:srgbClr val="0099FF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2000" b="0">
                    <a:solidFill>
                      <a:srgbClr val="000000"/>
                    </a:solidFill>
                  </a:rPr>
                  <a:t>4-legged</a:t>
                </a:r>
              </a:p>
            </p:txBody>
          </p:sp>
          <p:sp>
            <p:nvSpPr>
              <p:cNvPr id="71696" name="Line 9"/>
              <p:cNvSpPr>
                <a:spLocks noChangeShapeType="1"/>
              </p:cNvSpPr>
              <p:nvPr/>
            </p:nvSpPr>
            <p:spPr bwMode="auto">
              <a:xfrm flipH="1">
                <a:off x="576" y="3552"/>
                <a:ext cx="192" cy="24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71697" name="Line 10"/>
              <p:cNvSpPr>
                <a:spLocks noChangeShapeType="1"/>
              </p:cNvSpPr>
              <p:nvPr/>
            </p:nvSpPr>
            <p:spPr bwMode="auto">
              <a:xfrm>
                <a:off x="1248" y="3552"/>
                <a:ext cx="144" cy="238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71698" name="Rectangle 16"/>
              <p:cNvSpPr>
                <a:spLocks noChangeArrowheads="1"/>
              </p:cNvSpPr>
              <p:nvPr/>
            </p:nvSpPr>
            <p:spPr bwMode="auto">
              <a:xfrm>
                <a:off x="240" y="3792"/>
                <a:ext cx="768" cy="240"/>
              </a:xfrm>
              <a:prstGeom prst="rect">
                <a:avLst/>
              </a:prstGeom>
              <a:solidFill>
                <a:srgbClr val="0099FF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Mammals</a:t>
                </a:r>
              </a:p>
            </p:txBody>
          </p:sp>
          <p:sp>
            <p:nvSpPr>
              <p:cNvPr id="71699" name="Rectangle 17"/>
              <p:cNvSpPr>
                <a:spLocks noChangeArrowheads="1"/>
              </p:cNvSpPr>
              <p:nvPr/>
            </p:nvSpPr>
            <p:spPr bwMode="auto">
              <a:xfrm>
                <a:off x="1200" y="3790"/>
                <a:ext cx="912" cy="242"/>
              </a:xfrm>
              <a:prstGeom prst="rect">
                <a:avLst/>
              </a:prstGeom>
              <a:solidFill>
                <a:srgbClr val="0099FF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Non-mammals</a:t>
                </a:r>
                <a:endParaRPr lang="en-US" altLang="en-US" sz="2400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1700" name="Text Box 15"/>
              <p:cNvSpPr txBox="1">
                <a:spLocks noChangeArrowheads="1"/>
              </p:cNvSpPr>
              <p:nvPr/>
            </p:nvSpPr>
            <p:spPr bwMode="auto">
              <a:xfrm>
                <a:off x="422" y="3480"/>
                <a:ext cx="328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Yes</a:t>
                </a:r>
              </a:p>
            </p:txBody>
          </p:sp>
          <p:sp>
            <p:nvSpPr>
              <p:cNvPr id="71701" name="Text Box 18"/>
              <p:cNvSpPr txBox="1">
                <a:spLocks noChangeArrowheads="1"/>
              </p:cNvSpPr>
              <p:nvPr/>
            </p:nvSpPr>
            <p:spPr bwMode="auto">
              <a:xfrm>
                <a:off x="192" y="2339"/>
                <a:ext cx="973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Warm blooded</a:t>
                </a:r>
              </a:p>
            </p:txBody>
          </p:sp>
          <p:sp>
            <p:nvSpPr>
              <p:cNvPr id="71702" name="Oval 20"/>
              <p:cNvSpPr>
                <a:spLocks noChangeArrowheads="1"/>
              </p:cNvSpPr>
              <p:nvPr/>
            </p:nvSpPr>
            <p:spPr bwMode="auto">
              <a:xfrm>
                <a:off x="720" y="2640"/>
                <a:ext cx="768" cy="384"/>
              </a:xfrm>
              <a:prstGeom prst="ellipse">
                <a:avLst/>
              </a:prstGeom>
              <a:solidFill>
                <a:srgbClr val="0099FF"/>
              </a:solidFill>
              <a:ln w="9525">
                <a:solidFill>
                  <a:srgbClr val="CCEC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Hibernates</a:t>
                </a:r>
              </a:p>
            </p:txBody>
          </p:sp>
          <p:sp>
            <p:nvSpPr>
              <p:cNvPr id="71703" name="Line 20"/>
              <p:cNvSpPr>
                <a:spLocks noChangeShapeType="1"/>
              </p:cNvSpPr>
              <p:nvPr/>
            </p:nvSpPr>
            <p:spPr bwMode="auto">
              <a:xfrm flipH="1">
                <a:off x="816" y="3024"/>
                <a:ext cx="192" cy="192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71704" name="Line 21"/>
              <p:cNvSpPr>
                <a:spLocks noChangeShapeType="1"/>
              </p:cNvSpPr>
              <p:nvPr/>
            </p:nvSpPr>
            <p:spPr bwMode="auto">
              <a:xfrm>
                <a:off x="1344" y="2976"/>
                <a:ext cx="240" cy="192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71705" name="Text Box 22"/>
              <p:cNvSpPr txBox="1">
                <a:spLocks noChangeArrowheads="1"/>
              </p:cNvSpPr>
              <p:nvPr/>
            </p:nvSpPr>
            <p:spPr bwMode="auto">
              <a:xfrm>
                <a:off x="1488" y="2880"/>
                <a:ext cx="294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No</a:t>
                </a:r>
              </a:p>
            </p:txBody>
          </p:sp>
          <p:sp>
            <p:nvSpPr>
              <p:cNvPr id="71706" name="Text Box 23"/>
              <p:cNvSpPr txBox="1">
                <a:spLocks noChangeArrowheads="1"/>
              </p:cNvSpPr>
              <p:nvPr/>
            </p:nvSpPr>
            <p:spPr bwMode="auto">
              <a:xfrm>
                <a:off x="528" y="2928"/>
                <a:ext cx="328" cy="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folHlink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b="0">
                    <a:solidFill>
                      <a:srgbClr val="000000"/>
                    </a:solidFill>
                  </a:rPr>
                  <a:t>Yes</a:t>
                </a:r>
              </a:p>
            </p:txBody>
          </p:sp>
        </p:grpSp>
        <p:sp>
          <p:nvSpPr>
            <p:cNvPr id="71688" name="Text Box 23"/>
            <p:cNvSpPr txBox="1">
              <a:spLocks noChangeArrowheads="1"/>
            </p:cNvSpPr>
            <p:nvPr/>
          </p:nvSpPr>
          <p:spPr bwMode="auto">
            <a:xfrm>
              <a:off x="2209800" y="5410200"/>
              <a:ext cx="463550" cy="436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>
                  <a:solidFill>
                    <a:srgbClr val="000000"/>
                  </a:solidFill>
                </a:rPr>
                <a:t>No</a:t>
              </a:r>
            </a:p>
          </p:txBody>
        </p:sp>
        <p:sp>
          <p:nvSpPr>
            <p:cNvPr id="71689" name="Rectangle 7"/>
            <p:cNvSpPr>
              <a:spLocks noChangeArrowheads="1"/>
            </p:cNvSpPr>
            <p:nvPr/>
          </p:nvSpPr>
          <p:spPr bwMode="auto">
            <a:xfrm>
              <a:off x="2362200" y="4800600"/>
              <a:ext cx="1447800" cy="457351"/>
            </a:xfrm>
            <a:prstGeom prst="rect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800" b="0">
                  <a:solidFill>
                    <a:srgbClr val="000000"/>
                  </a:solidFill>
                </a:rPr>
                <a:t>Non-mammals</a:t>
              </a:r>
              <a:endParaRPr lang="en-US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71690" name="Rectangle 8"/>
            <p:cNvSpPr>
              <a:spLocks noChangeArrowheads="1"/>
            </p:cNvSpPr>
            <p:nvPr/>
          </p:nvSpPr>
          <p:spPr bwMode="auto">
            <a:xfrm>
              <a:off x="2514600" y="3810000"/>
              <a:ext cx="1447800" cy="457351"/>
            </a:xfrm>
            <a:prstGeom prst="rect">
              <a:avLst/>
            </a:prstGeom>
            <a:solidFill>
              <a:srgbClr val="0099FF"/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800" b="0">
                  <a:solidFill>
                    <a:srgbClr val="000000"/>
                  </a:solidFill>
                </a:rPr>
                <a:t>Non-mammals</a:t>
              </a:r>
              <a:endParaRPr lang="en-US" altLang="en-US" sz="2400" b="0">
                <a:solidFill>
                  <a:srgbClr val="000000"/>
                </a:solidFill>
              </a:endParaRPr>
            </a:p>
          </p:txBody>
        </p:sp>
        <p:sp>
          <p:nvSpPr>
            <p:cNvPr id="71691" name="Text Box 18"/>
            <p:cNvSpPr txBox="1">
              <a:spLocks noChangeArrowheads="1"/>
            </p:cNvSpPr>
            <p:nvPr/>
          </p:nvSpPr>
          <p:spPr bwMode="auto">
            <a:xfrm>
              <a:off x="2895600" y="3276600"/>
              <a:ext cx="143500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folHlink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800" b="0">
                  <a:solidFill>
                    <a:srgbClr val="000000"/>
                  </a:solidFill>
                </a:rPr>
                <a:t>Cold blooded</a:t>
              </a:r>
            </a:p>
          </p:txBody>
        </p:sp>
      </p:grpSp>
      <p:sp>
        <p:nvSpPr>
          <p:cNvPr id="71685" name="Text Box 18"/>
          <p:cNvSpPr txBox="1">
            <a:spLocks noChangeArrowheads="1"/>
          </p:cNvSpPr>
          <p:nvPr/>
        </p:nvSpPr>
        <p:spPr bwMode="auto">
          <a:xfrm>
            <a:off x="5105400" y="3581400"/>
            <a:ext cx="33877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b="0">
                <a:solidFill>
                  <a:srgbClr val="000000"/>
                </a:solidFill>
              </a:rPr>
              <a:t>Model M3</a:t>
            </a:r>
          </a:p>
          <a:p>
            <a:pPr eaLnBrk="1" hangingPunct="1"/>
            <a:r>
              <a:rPr lang="en-US" altLang="en-US" sz="1800" b="0">
                <a:solidFill>
                  <a:srgbClr val="000000"/>
                </a:solidFill>
              </a:rPr>
              <a:t>TE = 0%, GE=30% Find out why?</a:t>
            </a:r>
          </a:p>
        </p:txBody>
      </p:sp>
      <p:sp>
        <p:nvSpPr>
          <p:cNvPr id="71686" name="TextBox 25"/>
          <p:cNvSpPr txBox="1">
            <a:spLocks noChangeArrowheads="1"/>
          </p:cNvSpPr>
          <p:nvPr/>
        </p:nvSpPr>
        <p:spPr bwMode="auto">
          <a:xfrm>
            <a:off x="1219200" y="6248400"/>
            <a:ext cx="7010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folHlink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 i="1"/>
              <a:t>Figure taken from text book (Tan, Steinbach, Kumar)</a:t>
            </a:r>
          </a:p>
        </p:txBody>
      </p:sp>
    </p:spTree>
    <p:extLst>
      <p:ext uri="{BB962C8B-B14F-4D97-AF65-F5344CB8AC3E}">
        <p14:creationId xmlns:p14="http://schemas.microsoft.com/office/powerpoint/2010/main" val="4137936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6E747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85296"/>
      </a:hlink>
      <a:folHlink>
        <a:srgbClr val="99336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5476</TotalTime>
  <Words>1861</Words>
  <Application>Microsoft Office PowerPoint</Application>
  <PresentationFormat>On-screen Show (4:3)</PresentationFormat>
  <Paragraphs>481</Paragraphs>
  <Slides>39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39</vt:i4>
      </vt:variant>
    </vt:vector>
  </HeadingPairs>
  <TitlesOfParts>
    <vt:vector size="52" baseType="lpstr">
      <vt:lpstr>Arial</vt:lpstr>
      <vt:lpstr>Calibri</vt:lpstr>
      <vt:lpstr>Marlett</vt:lpstr>
      <vt:lpstr>Symbol</vt:lpstr>
      <vt:lpstr>Tahoma</vt:lpstr>
      <vt:lpstr>Times New Roman</vt:lpstr>
      <vt:lpstr>Wingdings</vt:lpstr>
      <vt:lpstr>Wingdings 2</vt:lpstr>
      <vt:lpstr>Blank</vt:lpstr>
      <vt:lpstr>Worksheet</vt:lpstr>
      <vt:lpstr>Equation</vt:lpstr>
      <vt:lpstr>Visio</vt:lpstr>
      <vt:lpstr>VISIO</vt:lpstr>
      <vt:lpstr>Classification</vt:lpstr>
      <vt:lpstr>Decision Tree Induction: Training Dataset</vt:lpstr>
      <vt:lpstr>Output: A Decision Tree for “buys_computer”</vt:lpstr>
      <vt:lpstr>Gain</vt:lpstr>
      <vt:lpstr>Attribute Selection: Information Gain</vt:lpstr>
      <vt:lpstr>PowerPoint Presentation</vt:lpstr>
      <vt:lpstr>Splitting Based on INFO...</vt:lpstr>
      <vt:lpstr>Splitting Based on INFO...</vt:lpstr>
      <vt:lpstr>Tree Induction</vt:lpstr>
      <vt:lpstr>Stopping Criteria for Tree Induction</vt:lpstr>
      <vt:lpstr>Decision Tree Based Classification</vt:lpstr>
      <vt:lpstr>Example: C4.5</vt:lpstr>
      <vt:lpstr>Practical Issues of Classification</vt:lpstr>
      <vt:lpstr>Characteristics of Decision Tree Induction     </vt:lpstr>
      <vt:lpstr>Other Issues</vt:lpstr>
      <vt:lpstr>Data Fragmentation</vt:lpstr>
      <vt:lpstr>Tree Replication</vt:lpstr>
      <vt:lpstr>Search Strategy</vt:lpstr>
      <vt:lpstr>Expressiveness</vt:lpstr>
      <vt:lpstr>Expressiveness</vt:lpstr>
      <vt:lpstr>Decision Boundary</vt:lpstr>
      <vt:lpstr>Oblique Decision Trees</vt:lpstr>
      <vt:lpstr>PowerPoint Presentation</vt:lpstr>
      <vt:lpstr>Underfitting and Overfitting (Example)</vt:lpstr>
      <vt:lpstr>Underfitting and Overfitting</vt:lpstr>
      <vt:lpstr>PowerPoint Presentation</vt:lpstr>
      <vt:lpstr>PowerPoint Presentation</vt:lpstr>
      <vt:lpstr>PowerPoint Presentation</vt:lpstr>
      <vt:lpstr>Occam’s Razor</vt:lpstr>
      <vt:lpstr>PowerPoint Presentation</vt:lpstr>
      <vt:lpstr>PowerPoint Presentation</vt:lpstr>
      <vt:lpstr>PowerPoint Presentation</vt:lpstr>
      <vt:lpstr>Overfitting due to Noise </vt:lpstr>
      <vt:lpstr>PowerPoint Presentation</vt:lpstr>
      <vt:lpstr>PowerPoint Presentation</vt:lpstr>
      <vt:lpstr>PowerPoint Presentation</vt:lpstr>
      <vt:lpstr>Overfitting due to Insufficient Examples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yash Sharma</dc:creator>
  <cp:lastModifiedBy>yash Sharma</cp:lastModifiedBy>
  <cp:revision>242</cp:revision>
  <cp:lastPrinted>1601-01-01T00:00:00Z</cp:lastPrinted>
  <dcterms:created xsi:type="dcterms:W3CDTF">1601-01-01T00:00:00Z</dcterms:created>
  <dcterms:modified xsi:type="dcterms:W3CDTF">2018-02-09T10:20:17Z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