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9" r:id="rId1"/>
  </p:sldMasterIdLst>
  <p:notesMasterIdLst>
    <p:notesMasterId r:id="rId52"/>
  </p:notesMasterIdLst>
  <p:sldIdLst>
    <p:sldId id="256" r:id="rId2"/>
    <p:sldId id="509" r:id="rId3"/>
    <p:sldId id="514" r:id="rId4"/>
    <p:sldId id="516" r:id="rId5"/>
    <p:sldId id="517" r:id="rId6"/>
    <p:sldId id="518" r:id="rId7"/>
    <p:sldId id="519" r:id="rId8"/>
    <p:sldId id="520" r:id="rId9"/>
    <p:sldId id="521" r:id="rId10"/>
    <p:sldId id="522" r:id="rId11"/>
    <p:sldId id="523" r:id="rId12"/>
    <p:sldId id="524" r:id="rId13"/>
    <p:sldId id="525" r:id="rId14"/>
    <p:sldId id="526" r:id="rId15"/>
    <p:sldId id="527" r:id="rId16"/>
    <p:sldId id="528" r:id="rId17"/>
    <p:sldId id="559" r:id="rId18"/>
    <p:sldId id="560" r:id="rId19"/>
    <p:sldId id="529" r:id="rId20"/>
    <p:sldId id="530" r:id="rId21"/>
    <p:sldId id="531" r:id="rId22"/>
    <p:sldId id="532" r:id="rId23"/>
    <p:sldId id="533" r:id="rId24"/>
    <p:sldId id="534" r:id="rId25"/>
    <p:sldId id="535" r:id="rId26"/>
    <p:sldId id="536" r:id="rId27"/>
    <p:sldId id="537" r:id="rId28"/>
    <p:sldId id="538" r:id="rId29"/>
    <p:sldId id="539" r:id="rId30"/>
    <p:sldId id="540" r:id="rId31"/>
    <p:sldId id="541" r:id="rId32"/>
    <p:sldId id="542" r:id="rId33"/>
    <p:sldId id="543" r:id="rId34"/>
    <p:sldId id="544" r:id="rId35"/>
    <p:sldId id="545" r:id="rId36"/>
    <p:sldId id="546" r:id="rId37"/>
    <p:sldId id="561" r:id="rId38"/>
    <p:sldId id="547" r:id="rId39"/>
    <p:sldId id="548" r:id="rId40"/>
    <p:sldId id="549" r:id="rId41"/>
    <p:sldId id="550" r:id="rId42"/>
    <p:sldId id="562" r:id="rId43"/>
    <p:sldId id="551" r:id="rId44"/>
    <p:sldId id="552" r:id="rId45"/>
    <p:sldId id="553" r:id="rId46"/>
    <p:sldId id="554" r:id="rId47"/>
    <p:sldId id="555" r:id="rId48"/>
    <p:sldId id="556" r:id="rId49"/>
    <p:sldId id="557" r:id="rId50"/>
    <p:sldId id="558" r:id="rId51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8E2635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171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7025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4538"/>
            <a:ext cx="584200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7025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B7CBCB5-AD2F-4B40-865E-77C0A819D5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73771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391AD5C-63A2-4CA0-BB00-F3DDAC05A304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907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DBC560-FA14-4E76-A03A-0D7AC0264485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483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189CDBC-1BF3-443E-885B-E814875CA17E}" type="slidenum">
              <a:rPr lang="en-US" altLang="en-US">
                <a:latin typeface="Calibri" panose="020F0502020204030204" pitchFamily="34" charset="0"/>
              </a:rPr>
              <a:pPr eaLnBrk="1" hangingPunct="1"/>
              <a:t>20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344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4485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0376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17019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43857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561351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1393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900554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473881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901260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613269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395945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182166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451581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82655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548386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157120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812913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956184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671642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274343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66931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041400"/>
            <a:ext cx="6858000" cy="2387600"/>
          </a:xfrm>
        </p:spPr>
        <p:txBody>
          <a:bodyPr anchor="b"/>
          <a:lstStyle>
            <a:lvl1pPr algn="ctr"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44F4E-2C72-4152-887A-3D43B5DE434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8933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22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4406901"/>
            <a:ext cx="7886700" cy="1362075"/>
          </a:xfrm>
        </p:spPr>
        <p:txBody>
          <a:bodyPr anchor="t"/>
          <a:lstStyle>
            <a:lvl1pPr>
              <a:defRPr sz="3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906713"/>
            <a:ext cx="78867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9CA3F4-4238-430B-87CE-577B9175E4F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871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0863"/>
            <a:ext cx="3886200" cy="435133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0863"/>
            <a:ext cx="3886200" cy="435133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DC1B73-D32C-4321-9BBF-954A8D3FF08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20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74638"/>
            <a:ext cx="78867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1535113"/>
            <a:ext cx="3867150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888" y="2174876"/>
            <a:ext cx="3867150" cy="399732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2248" y="1535113"/>
            <a:ext cx="3868340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248" y="2174876"/>
            <a:ext cx="3868340" cy="399732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993D44-90D9-4320-8616-48C84A8F550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9462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529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26231F-AE74-4592-B491-F5FC77EC005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138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685801"/>
            <a:ext cx="3009900" cy="1160463"/>
          </a:xfrm>
        </p:spPr>
        <p:txBody>
          <a:bodyPr anchor="b"/>
          <a:lstStyle>
            <a:lvl1pPr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4998" y="685800"/>
            <a:ext cx="4725590" cy="54864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3888" y="1846264"/>
            <a:ext cx="3009900" cy="432593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22E0B5-74EE-4158-8226-5C46F623953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311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8806" y="4800600"/>
            <a:ext cx="5382816" cy="566738"/>
          </a:xfrm>
        </p:spPr>
        <p:txBody>
          <a:bodyPr anchor="b"/>
          <a:lstStyle>
            <a:lvl1pPr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78806" y="685801"/>
            <a:ext cx="5382816" cy="404177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8806" y="5367338"/>
            <a:ext cx="5382816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6B6A00-779D-4AD5-BC72-98EADCD1953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33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420840-1552-4FE9-A273-06437259782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786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800725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93BE88-9395-4C19-B7FB-C3D637D97B4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4202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0863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D601AF9-070E-4758-9256-B5E4926B0AF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6170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0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</p:sldLayoutIdLst>
  <p:txStyles>
    <p:titleStyle>
      <a:lvl1pPr algn="l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2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3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4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838200"/>
            <a:ext cx="4419600" cy="1828800"/>
          </a:xfrm>
        </p:spPr>
        <p:txBody>
          <a:bodyPr/>
          <a:lstStyle/>
          <a:p>
            <a:pPr eaLnBrk="1" hangingPunct="1">
              <a:defRPr/>
            </a:pPr>
            <a:r>
              <a:rPr lang="en-US" sz="5400" smtClean="0"/>
              <a:t>Classification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143000" y="3124200"/>
            <a:ext cx="6858000" cy="2743200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 smtClean="0"/>
              <a:t>Naïve Bayes Classifier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 smtClean="0"/>
              <a:t>Ensemble Classifiers</a:t>
            </a:r>
            <a:endParaRPr lang="en-US" dirty="0"/>
          </a:p>
          <a:p>
            <a:pPr marL="800100" lvl="1" indent="-457200" algn="l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800100" lvl="1" indent="-4572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Bayes Classifier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 dirty="0"/>
              <a:t>Use Bayes Rule!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endParaRPr lang="en-US" altLang="en-US" sz="1800" dirty="0" smtClean="0"/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endParaRPr lang="en-US" altLang="en-US" sz="18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 smtClean="0"/>
              <a:t>Why </a:t>
            </a:r>
            <a:r>
              <a:rPr lang="en-US" altLang="en-US" sz="1800" dirty="0"/>
              <a:t>did this help?  Well, we think that we might be able to specify how features are “generated” by the class label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</p:txBody>
      </p:sp>
      <p:pic>
        <p:nvPicPr>
          <p:cNvPr id="922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0" y="2890837"/>
            <a:ext cx="508635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Text Box 6"/>
          <p:cNvSpPr txBox="1">
            <a:spLocks noChangeArrowheads="1"/>
          </p:cNvSpPr>
          <p:nvPr/>
        </p:nvSpPr>
        <p:spPr bwMode="auto">
          <a:xfrm>
            <a:off x="4914900" y="3976688"/>
            <a:ext cx="1828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200">
                <a:solidFill>
                  <a:schemeClr val="hlink"/>
                </a:solidFill>
              </a:rPr>
              <a:t>Normalization Constant</a:t>
            </a:r>
          </a:p>
        </p:txBody>
      </p:sp>
      <p:sp>
        <p:nvSpPr>
          <p:cNvPr id="9222" name="Text Box 7"/>
          <p:cNvSpPr txBox="1">
            <a:spLocks noChangeArrowheads="1"/>
          </p:cNvSpPr>
          <p:nvPr/>
        </p:nvSpPr>
        <p:spPr bwMode="auto">
          <a:xfrm>
            <a:off x="4514850" y="2662238"/>
            <a:ext cx="1828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200">
                <a:solidFill>
                  <a:srgbClr val="0000FF"/>
                </a:solidFill>
              </a:rPr>
              <a:t>Likelihood</a:t>
            </a:r>
          </a:p>
        </p:txBody>
      </p:sp>
      <p:sp>
        <p:nvSpPr>
          <p:cNvPr id="9223" name="Text Box 8"/>
          <p:cNvSpPr txBox="1">
            <a:spLocks noChangeArrowheads="1"/>
          </p:cNvSpPr>
          <p:nvPr/>
        </p:nvSpPr>
        <p:spPr bwMode="auto">
          <a:xfrm>
            <a:off x="6915150" y="2662238"/>
            <a:ext cx="1085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200">
                <a:solidFill>
                  <a:srgbClr val="800080"/>
                </a:solidFill>
              </a:rPr>
              <a:t>Prior</a:t>
            </a:r>
          </a:p>
        </p:txBody>
      </p:sp>
      <p:sp>
        <p:nvSpPr>
          <p:cNvPr id="9224" name="Line 9"/>
          <p:cNvSpPr>
            <a:spLocks noChangeShapeType="1"/>
          </p:cNvSpPr>
          <p:nvPr/>
        </p:nvSpPr>
        <p:spPr bwMode="auto">
          <a:xfrm flipH="1">
            <a:off x="7086600" y="2890838"/>
            <a:ext cx="571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5" name="Line 10"/>
          <p:cNvSpPr>
            <a:spLocks noChangeShapeType="1"/>
          </p:cNvSpPr>
          <p:nvPr/>
        </p:nvSpPr>
        <p:spPr bwMode="auto">
          <a:xfrm>
            <a:off x="4914900" y="2890838"/>
            <a:ext cx="1143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6" name="Line 12"/>
          <p:cNvSpPr>
            <a:spLocks noChangeShapeType="1"/>
          </p:cNvSpPr>
          <p:nvPr/>
        </p:nvSpPr>
        <p:spPr bwMode="auto">
          <a:xfrm flipV="1">
            <a:off x="5772150" y="3862388"/>
            <a:ext cx="1714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6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Naïve Bayes Model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The </a:t>
            </a:r>
            <a:r>
              <a:rPr lang="en-US" altLang="en-US" i="1" dirty="0"/>
              <a:t>Naïve Bayes Assumption</a:t>
            </a:r>
            <a:r>
              <a:rPr lang="en-US" altLang="en-US" dirty="0"/>
              <a:t>: Assume that all features are independent </a:t>
            </a:r>
            <a:r>
              <a:rPr lang="en-US" altLang="en-US" b="1" dirty="0"/>
              <a:t>given the class label Y</a:t>
            </a: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 err="1"/>
              <a:t>Equationally</a:t>
            </a:r>
            <a:r>
              <a:rPr lang="en-US" altLang="en-US" dirty="0"/>
              <a:t> speaking: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786" y="3436145"/>
            <a:ext cx="3450431" cy="907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0524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781050" y="1285875"/>
            <a:ext cx="6572250" cy="571500"/>
          </a:xfrm>
        </p:spPr>
        <p:txBody>
          <a:bodyPr vert="horz" lIns="69056" tIns="34529" rIns="69056" bIns="34529" rtlCol="0" anchor="b" anchorCtr="0"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Naïve Bayesian Classification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838200" y="2124075"/>
            <a:ext cx="7391400" cy="2701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 Also called Simple </a:t>
            </a:r>
            <a:r>
              <a:rPr lang="en-US" sz="2400" dirty="0"/>
              <a:t>Bayesian Classification</a:t>
            </a:r>
            <a:endParaRPr lang="en-US" altLang="en-US" sz="2100" dirty="0" smtClean="0">
              <a:solidFill>
                <a:srgbClr val="000000"/>
              </a:solidFill>
            </a:endParaRPr>
          </a:p>
          <a:p>
            <a:pPr>
              <a:spcBef>
                <a:spcPct val="50000"/>
              </a:spcBef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 smtClean="0">
                <a:solidFill>
                  <a:srgbClr val="000000"/>
                </a:solidFill>
              </a:rPr>
              <a:t>Why Naïve/Simple??</a:t>
            </a:r>
          </a:p>
          <a:p>
            <a:pPr>
              <a:spcBef>
                <a:spcPct val="50000"/>
              </a:spcBef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 smtClean="0">
                <a:solidFill>
                  <a:srgbClr val="000000"/>
                </a:solidFill>
              </a:rPr>
              <a:t> </a:t>
            </a:r>
            <a:r>
              <a:rPr lang="en-US" altLang="en-US" sz="2100" dirty="0">
                <a:solidFill>
                  <a:srgbClr val="000000"/>
                </a:solidFill>
              </a:rPr>
              <a:t>Class Conditional Independence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100" i="1" dirty="0">
                <a:solidFill>
                  <a:srgbClr val="000000"/>
                </a:solidFill>
              </a:rPr>
              <a:t>	Effect of an attribute values on a given class 	is independent of the values of other attributes</a:t>
            </a:r>
          </a:p>
          <a:p>
            <a:pPr>
              <a:spcBef>
                <a:spcPct val="50000"/>
              </a:spcBef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 This assumption simplifies computations</a:t>
            </a:r>
          </a:p>
        </p:txBody>
      </p:sp>
    </p:spTree>
    <p:extLst>
      <p:ext uri="{BB962C8B-B14F-4D97-AF65-F5344CB8AC3E}">
        <p14:creationId xmlns:p14="http://schemas.microsoft.com/office/powerpoint/2010/main" val="3404300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43050" y="1028700"/>
            <a:ext cx="5915025" cy="53697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Bayesian Classifiers</a:t>
            </a:r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51373" y="1714500"/>
            <a:ext cx="6435328" cy="38862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Approach: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compute the posterior probability P(C | 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…, A</a:t>
            </a:r>
            <a:r>
              <a:rPr lang="en-US" baseline="-25000" dirty="0"/>
              <a:t>n</a:t>
            </a:r>
            <a:r>
              <a:rPr lang="en-US" dirty="0"/>
              <a:t>) for all values of C using the Bayes theorem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dirty="0"/>
          </a:p>
          <a:p>
            <a:pPr lvl="1" eaLnBrk="1" hangingPunct="1">
              <a:lnSpc>
                <a:spcPct val="90000"/>
              </a:lnSpc>
              <a:defRPr/>
            </a:pPr>
            <a:endParaRPr lang="en-US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Choose value of C that maximizes </a:t>
            </a:r>
            <a:br>
              <a:rPr lang="en-US" dirty="0"/>
            </a:br>
            <a:r>
              <a:rPr lang="en-US" dirty="0"/>
              <a:t>		P(C | 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…, A</a:t>
            </a:r>
            <a:r>
              <a:rPr lang="en-US" baseline="-25000" dirty="0"/>
              <a:t>n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Equivalent to choosing value of C that maximizes</a:t>
            </a:r>
            <a:br>
              <a:rPr lang="en-US" dirty="0"/>
            </a:br>
            <a:r>
              <a:rPr lang="en-US" dirty="0"/>
              <a:t>     	P(A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dirty="0" err="1"/>
              <a:t>A</a:t>
            </a:r>
            <a:r>
              <a:rPr lang="en-US" baseline="-25000" dirty="0" err="1"/>
              <a:t>n</a:t>
            </a:r>
            <a:r>
              <a:rPr lang="en-US" dirty="0" err="1"/>
              <a:t>|C</a:t>
            </a:r>
            <a:r>
              <a:rPr lang="en-US" dirty="0"/>
              <a:t>) P(C)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How to estimate P(A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…, A</a:t>
            </a:r>
            <a:r>
              <a:rPr lang="en-US" baseline="-25000" dirty="0"/>
              <a:t>n </a:t>
            </a:r>
            <a:r>
              <a:rPr lang="en-US" dirty="0"/>
              <a:t>| C )?</a:t>
            </a:r>
          </a:p>
        </p:txBody>
      </p:sp>
      <p:graphicFrame>
        <p:nvGraphicFramePr>
          <p:cNvPr id="30724" name="Object 4"/>
          <p:cNvGraphicFramePr>
            <a:graphicFrameLocks noChangeAspect="1"/>
          </p:cNvGraphicFramePr>
          <p:nvPr/>
        </p:nvGraphicFramePr>
        <p:xfrm>
          <a:off x="2514600" y="2717007"/>
          <a:ext cx="4343400" cy="597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3" name="Equation" r:id="rId3" imgW="4864100" imgH="800100" progId="Equation.3">
                  <p:embed/>
                </p:oleObj>
              </mc:Choice>
              <mc:Fallback>
                <p:oleObj name="Equation" r:id="rId3" imgW="4864100" imgH="80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717007"/>
                        <a:ext cx="4343400" cy="597694"/>
                      </a:xfrm>
                      <a:prstGeom prst="rect">
                        <a:avLst/>
                      </a:prstGeom>
                      <a:noFill/>
                      <a:ln w="57150" cmpd="thickThin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6724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Naïve Bayes Classifier</a:t>
            </a:r>
          </a:p>
        </p:txBody>
      </p:sp>
      <p:sp>
        <p:nvSpPr>
          <p:cNvPr id="335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Assume independence among attributes A</a:t>
            </a:r>
            <a:r>
              <a:rPr lang="en-US" baseline="-25000" dirty="0" smtClean="0"/>
              <a:t>i</a:t>
            </a:r>
            <a:r>
              <a:rPr lang="en-US" dirty="0"/>
              <a:t> when class is given:    </a:t>
            </a:r>
          </a:p>
          <a:p>
            <a:pPr lvl="1" eaLnBrk="1" hangingPunct="1">
              <a:defRPr/>
            </a:pPr>
            <a:r>
              <a:rPr lang="en-US" dirty="0"/>
              <a:t>P(A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…, A</a:t>
            </a:r>
            <a:r>
              <a:rPr lang="en-US" baseline="-25000" dirty="0"/>
              <a:t>n </a:t>
            </a:r>
            <a:r>
              <a:rPr lang="en-US" dirty="0"/>
              <a:t>|C) = P(A</a:t>
            </a:r>
            <a:r>
              <a:rPr lang="en-US" baseline="-25000" dirty="0"/>
              <a:t>1</a:t>
            </a:r>
            <a:r>
              <a:rPr lang="en-US" dirty="0"/>
              <a:t>| </a:t>
            </a:r>
            <a:r>
              <a:rPr lang="en-US" dirty="0" err="1"/>
              <a:t>C</a:t>
            </a:r>
            <a:r>
              <a:rPr lang="en-US" baseline="-25000" dirty="0" err="1"/>
              <a:t>j</a:t>
            </a:r>
            <a:r>
              <a:rPr lang="en-US" dirty="0"/>
              <a:t>) P(A</a:t>
            </a:r>
            <a:r>
              <a:rPr lang="en-US" baseline="-25000" dirty="0"/>
              <a:t>2</a:t>
            </a:r>
            <a:r>
              <a:rPr lang="en-US" dirty="0"/>
              <a:t>| </a:t>
            </a:r>
            <a:r>
              <a:rPr lang="en-US" dirty="0" err="1"/>
              <a:t>C</a:t>
            </a:r>
            <a:r>
              <a:rPr lang="en-US" baseline="-25000" dirty="0" err="1"/>
              <a:t>j</a:t>
            </a:r>
            <a:r>
              <a:rPr lang="en-US" dirty="0"/>
              <a:t>)… P(A</a:t>
            </a:r>
            <a:r>
              <a:rPr lang="en-US" baseline="-25000" dirty="0"/>
              <a:t>n</a:t>
            </a:r>
            <a:r>
              <a:rPr lang="en-US" dirty="0"/>
              <a:t>| </a:t>
            </a:r>
            <a:r>
              <a:rPr lang="en-US" dirty="0" err="1"/>
              <a:t>C</a:t>
            </a:r>
            <a:r>
              <a:rPr lang="en-US" baseline="-25000" dirty="0" err="1"/>
              <a:t>j</a:t>
            </a:r>
            <a:r>
              <a:rPr lang="en-US" dirty="0"/>
              <a:t>)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dirty="0"/>
              <a:t> </a:t>
            </a:r>
          </a:p>
          <a:p>
            <a:pPr lvl="1" eaLnBrk="1" hangingPunct="1">
              <a:defRPr/>
            </a:pPr>
            <a:r>
              <a:rPr lang="en-US" dirty="0"/>
              <a:t>Can estimate P(A</a:t>
            </a:r>
            <a:r>
              <a:rPr lang="en-US" baseline="-25000" dirty="0" smtClean="0"/>
              <a:t>i</a:t>
            </a:r>
            <a:r>
              <a:rPr lang="en-US" dirty="0"/>
              <a:t>| </a:t>
            </a:r>
            <a:r>
              <a:rPr lang="en-US" dirty="0" err="1"/>
              <a:t>C</a:t>
            </a:r>
            <a:r>
              <a:rPr lang="en-US" baseline="-25000" dirty="0" err="1" smtClean="0"/>
              <a:t>j</a:t>
            </a:r>
            <a:r>
              <a:rPr lang="en-US" dirty="0"/>
              <a:t>) for all A</a:t>
            </a:r>
            <a:r>
              <a:rPr lang="en-US" baseline="-25000" dirty="0" smtClean="0"/>
              <a:t>i</a:t>
            </a:r>
            <a:r>
              <a:rPr lang="en-US" dirty="0"/>
              <a:t> and </a:t>
            </a:r>
            <a:r>
              <a:rPr lang="en-US" dirty="0" err="1"/>
              <a:t>C</a:t>
            </a:r>
            <a:r>
              <a:rPr lang="en-US" baseline="-25000" dirty="0" err="1" smtClean="0"/>
              <a:t>j</a:t>
            </a:r>
            <a:r>
              <a:rPr lang="en-US" dirty="0"/>
              <a:t>.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lvl="1" eaLnBrk="1" hangingPunct="1">
              <a:defRPr/>
            </a:pPr>
            <a:r>
              <a:rPr lang="en-US" dirty="0"/>
              <a:t>New point is classified to </a:t>
            </a:r>
            <a:r>
              <a:rPr lang="en-US" dirty="0" err="1"/>
              <a:t>C</a:t>
            </a:r>
            <a:r>
              <a:rPr lang="en-US" baseline="-25000" dirty="0" err="1"/>
              <a:t>j</a:t>
            </a:r>
            <a:r>
              <a:rPr lang="en-US" dirty="0"/>
              <a:t> if  P(</a:t>
            </a:r>
            <a:r>
              <a:rPr lang="en-US" dirty="0" err="1"/>
              <a:t>C</a:t>
            </a:r>
            <a:r>
              <a:rPr lang="en-US" baseline="-25000" dirty="0" err="1"/>
              <a:t>j</a:t>
            </a:r>
            <a:r>
              <a:rPr lang="en-US" dirty="0"/>
              <a:t>) </a:t>
            </a:r>
            <a:r>
              <a:rPr lang="en-US" dirty="0">
                <a:sym typeface="Symbol" pitchFamily="18" charset="2"/>
              </a:rPr>
              <a:t></a:t>
            </a:r>
            <a:r>
              <a:rPr lang="en-US" dirty="0"/>
              <a:t> P(A</a:t>
            </a:r>
            <a:r>
              <a:rPr lang="en-US" baseline="-25000" dirty="0"/>
              <a:t>i</a:t>
            </a:r>
            <a:r>
              <a:rPr lang="en-US" dirty="0"/>
              <a:t>| </a:t>
            </a:r>
            <a:r>
              <a:rPr lang="en-US" dirty="0" err="1"/>
              <a:t>C</a:t>
            </a:r>
            <a:r>
              <a:rPr lang="en-US" baseline="-25000" dirty="0" err="1"/>
              <a:t>j</a:t>
            </a:r>
            <a:r>
              <a:rPr lang="en-US" dirty="0"/>
              <a:t>)  is maximal.</a:t>
            </a:r>
            <a:endParaRPr lang="en-US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96161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314450" y="1085850"/>
            <a:ext cx="6572250" cy="8001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How to Estimate Probabilities from Data?</a:t>
            </a:r>
          </a:p>
        </p:txBody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71950" y="2114550"/>
            <a:ext cx="3657600" cy="36004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Class:  P(C) = </a:t>
            </a:r>
            <a:r>
              <a:rPr lang="en-US" dirty="0" err="1" smtClean="0"/>
              <a:t>N</a:t>
            </a:r>
            <a:r>
              <a:rPr lang="en-US" baseline="-25000" dirty="0" err="1" smtClean="0"/>
              <a:t>c</a:t>
            </a:r>
            <a:r>
              <a:rPr lang="en-US" dirty="0" smtClean="0"/>
              <a:t>/N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500" dirty="0"/>
              <a:t>e.g.,  P(No) = 7/10, </a:t>
            </a:r>
            <a:br>
              <a:rPr lang="en-US" sz="1500" dirty="0"/>
            </a:br>
            <a:r>
              <a:rPr lang="en-US" sz="1500" dirty="0"/>
              <a:t>	        P(Yes) = 3/10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dirty="0" smtClean="0"/>
              <a:t>For discrete attributes:</a:t>
            </a:r>
            <a:br>
              <a:rPr lang="en-US" dirty="0" smtClean="0"/>
            </a:br>
            <a:r>
              <a:rPr lang="en-US" sz="675" dirty="0"/>
              <a:t>  </a:t>
            </a:r>
            <a:br>
              <a:rPr lang="en-US" sz="675" dirty="0"/>
            </a:br>
            <a:r>
              <a:rPr lang="en-US" dirty="0" smtClean="0"/>
              <a:t>     P(A</a:t>
            </a:r>
            <a:r>
              <a:rPr lang="en-US" baseline="-25000" dirty="0" smtClean="0"/>
              <a:t>i</a:t>
            </a:r>
            <a:r>
              <a:rPr lang="en-US" dirty="0" smtClean="0"/>
              <a:t> | C</a:t>
            </a:r>
            <a:r>
              <a:rPr lang="en-US" baseline="-25000" dirty="0" smtClean="0"/>
              <a:t>k</a:t>
            </a:r>
            <a:r>
              <a:rPr lang="en-US" dirty="0" smtClean="0"/>
              <a:t>) = |</a:t>
            </a:r>
            <a:r>
              <a:rPr lang="en-US" dirty="0" err="1" smtClean="0"/>
              <a:t>A</a:t>
            </a:r>
            <a:r>
              <a:rPr lang="en-US" baseline="-25000" dirty="0" err="1" smtClean="0"/>
              <a:t>ik</a:t>
            </a:r>
            <a:r>
              <a:rPr lang="en-US" dirty="0" smtClean="0"/>
              <a:t>|/ </a:t>
            </a:r>
            <a:r>
              <a:rPr lang="en-US" dirty="0" err="1" smtClean="0"/>
              <a:t>N</a:t>
            </a:r>
            <a:r>
              <a:rPr lang="en-US" baseline="-25000" dirty="0" err="1" smtClean="0"/>
              <a:t>c</a:t>
            </a:r>
            <a:r>
              <a:rPr lang="en-US" baseline="-25000" dirty="0" smtClean="0"/>
              <a:t> 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sz="6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where |</a:t>
            </a:r>
            <a:r>
              <a:rPr lang="en-US" dirty="0" err="1"/>
              <a:t>A</a:t>
            </a:r>
            <a:r>
              <a:rPr lang="en-US" baseline="-25000" dirty="0" err="1"/>
              <a:t>ik</a:t>
            </a:r>
            <a:r>
              <a:rPr lang="en-US" dirty="0"/>
              <a:t>| is number of instances having attribute A</a:t>
            </a:r>
            <a:r>
              <a:rPr lang="en-US" baseline="-25000" dirty="0"/>
              <a:t>i</a:t>
            </a:r>
            <a:r>
              <a:rPr lang="en-US" dirty="0"/>
              <a:t> and belongs to class C</a:t>
            </a:r>
            <a:r>
              <a:rPr lang="en-US" baseline="-25000" dirty="0"/>
              <a:t>k</a:t>
            </a:r>
            <a:endParaRPr lang="en-US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Examples:</a:t>
            </a:r>
            <a:br>
              <a:rPr lang="en-US" dirty="0"/>
            </a:br>
            <a:endParaRPr lang="en-US" sz="6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1500" dirty="0"/>
              <a:t>	P(Status=</a:t>
            </a:r>
            <a:r>
              <a:rPr lang="en-US" sz="1500" dirty="0" err="1"/>
              <a:t>Married|No</a:t>
            </a:r>
            <a:r>
              <a:rPr lang="en-US" sz="1500" dirty="0"/>
              <a:t>) = 4/7</a:t>
            </a:r>
            <a:r>
              <a:rPr lang="en-US" sz="1500" baseline="-25000" dirty="0"/>
              <a:t/>
            </a:r>
            <a:br>
              <a:rPr lang="en-US" sz="1500" baseline="-25000" dirty="0"/>
            </a:br>
            <a:r>
              <a:rPr lang="en-US" sz="1500" dirty="0"/>
              <a:t>P(Refund=</a:t>
            </a:r>
            <a:r>
              <a:rPr lang="en-US" sz="1500" dirty="0" err="1"/>
              <a:t>Yes|Yes</a:t>
            </a:r>
            <a:r>
              <a:rPr lang="en-US" sz="1500" dirty="0"/>
              <a:t>)=0</a:t>
            </a:r>
            <a:endParaRPr lang="en-US" sz="1500" baseline="-25000" dirty="0"/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7206854" y="3603427"/>
            <a:ext cx="171450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050" b="1" dirty="0">
                <a:latin typeface="Arial" panose="020B0604020202020204" pitchFamily="34" charset="0"/>
              </a:rPr>
              <a:t>k</a:t>
            </a:r>
          </a:p>
        </p:txBody>
      </p:sp>
      <p:graphicFrame>
        <p:nvGraphicFramePr>
          <p:cNvPr id="40965" name="Object 5"/>
          <p:cNvGraphicFramePr>
            <a:graphicFrameLocks noChangeAspect="1"/>
          </p:cNvGraphicFramePr>
          <p:nvPr/>
        </p:nvGraphicFramePr>
        <p:xfrm>
          <a:off x="1314450" y="2000250"/>
          <a:ext cx="3120629" cy="3206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38" name="VISIO" r:id="rId3" imgW="4392168" imgH="5334000" progId="Visio.Drawing.6">
                  <p:embed/>
                </p:oleObj>
              </mc:Choice>
              <mc:Fallback>
                <p:oleObj name="VISIO" r:id="rId3" imgW="4392168" imgH="53340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9971"/>
                      <a:stretch>
                        <a:fillRect/>
                      </a:stretch>
                    </p:blipFill>
                    <p:spPr bwMode="auto">
                      <a:xfrm>
                        <a:off x="1314450" y="2000250"/>
                        <a:ext cx="3120629" cy="3206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35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971550"/>
            <a:ext cx="6781800" cy="9144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How to Estimate Probabilities from Data?</a:t>
            </a:r>
          </a:p>
        </p:txBody>
      </p:sp>
      <p:sp>
        <p:nvSpPr>
          <p:cNvPr id="337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885951"/>
            <a:ext cx="7981950" cy="360402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For continuous attributes: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solidFill>
                  <a:srgbClr val="FF0000"/>
                </a:solidFill>
              </a:rPr>
              <a:t>Discretize</a:t>
            </a:r>
            <a:r>
              <a:rPr lang="en-US" dirty="0"/>
              <a:t> the range into bins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solidFill>
                  <a:srgbClr val="FF0000"/>
                </a:solidFill>
              </a:rPr>
              <a:t>Two-way split:</a:t>
            </a:r>
            <a:r>
              <a:rPr lang="en-US" dirty="0"/>
              <a:t>  (A &lt; v) or (A &gt; v)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dirty="0"/>
              <a:t> choose only one of the two splits as new attribute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solidFill>
                  <a:srgbClr val="FF0000"/>
                </a:solidFill>
              </a:rPr>
              <a:t>Probability density estimation: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dirty="0"/>
              <a:t> Assume attribute follows a normal distribution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dirty="0"/>
              <a:t> Use data to estimate parameters of distribution </a:t>
            </a:r>
            <a:br>
              <a:rPr lang="en-US" dirty="0"/>
            </a:br>
            <a:r>
              <a:rPr lang="en-US" dirty="0"/>
              <a:t>   (e.g., mean and standard deviation)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dirty="0"/>
              <a:t> Once probability distribution is known, can use it to estimate the conditional probability P(</a:t>
            </a:r>
            <a:r>
              <a:rPr lang="en-US" dirty="0" err="1"/>
              <a:t>A</a:t>
            </a:r>
            <a:r>
              <a:rPr lang="en-US" baseline="-25000" dirty="0" err="1"/>
              <a:t>i</a:t>
            </a:r>
            <a:r>
              <a:rPr lang="en-US" dirty="0" err="1"/>
              <a:t>|c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62156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13705"/>
            <a:ext cx="7772400" cy="49589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How to Estimate Probabilities from Data?</a:t>
            </a:r>
          </a:p>
        </p:txBody>
      </p:sp>
      <p:sp>
        <p:nvSpPr>
          <p:cNvPr id="33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400" y="1676400"/>
            <a:ext cx="3886200" cy="363855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Normal distribution:</a:t>
            </a:r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sz="750" dirty="0"/>
          </a:p>
          <a:p>
            <a:pPr lvl="1" eaLnBrk="1" hangingPunct="1">
              <a:defRPr/>
            </a:pPr>
            <a:r>
              <a:rPr lang="en-US" dirty="0"/>
              <a:t>One for each (</a:t>
            </a:r>
            <a:r>
              <a:rPr lang="en-US" dirty="0" err="1"/>
              <a:t>A</a:t>
            </a:r>
            <a:r>
              <a:rPr lang="en-US" baseline="-25000" dirty="0" err="1"/>
              <a:t>i</a:t>
            </a:r>
            <a:r>
              <a:rPr lang="en-US" dirty="0" err="1"/>
              <a:t>,c</a:t>
            </a:r>
            <a:r>
              <a:rPr lang="en-US" baseline="-25000" dirty="0" err="1"/>
              <a:t>i</a:t>
            </a:r>
            <a:r>
              <a:rPr lang="en-US" dirty="0"/>
              <a:t>) pair</a:t>
            </a:r>
          </a:p>
          <a:p>
            <a:pPr lvl="1" eaLnBrk="1" hangingPunct="1">
              <a:defRPr/>
            </a:pPr>
            <a:endParaRPr lang="en-US" sz="600" dirty="0"/>
          </a:p>
          <a:p>
            <a:pPr eaLnBrk="1" hangingPunct="1">
              <a:defRPr/>
            </a:pPr>
            <a:r>
              <a:rPr lang="en-US" dirty="0"/>
              <a:t>For (Income, class=No):</a:t>
            </a:r>
          </a:p>
          <a:p>
            <a:pPr lvl="1" eaLnBrk="1" hangingPunct="1">
              <a:defRPr/>
            </a:pPr>
            <a:r>
              <a:rPr lang="en-US" dirty="0"/>
              <a:t>If Class=No</a:t>
            </a:r>
          </a:p>
          <a:p>
            <a:pPr lvl="2" eaLnBrk="1" hangingPunct="1">
              <a:defRPr/>
            </a:pPr>
            <a:r>
              <a:rPr lang="en-US" dirty="0"/>
              <a:t> sample mean = 110</a:t>
            </a:r>
          </a:p>
          <a:p>
            <a:pPr lvl="2" eaLnBrk="1" hangingPunct="1">
              <a:defRPr/>
            </a:pPr>
            <a:r>
              <a:rPr lang="en-US" dirty="0"/>
              <a:t> sample variance = 2975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graphicFrame>
        <p:nvGraphicFramePr>
          <p:cNvPr id="43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453703"/>
              </p:ext>
            </p:extLst>
          </p:nvPr>
        </p:nvGraphicFramePr>
        <p:xfrm>
          <a:off x="767369" y="1635967"/>
          <a:ext cx="3604023" cy="346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83" name="VISIO" r:id="rId3" imgW="4392168" imgH="5334000" progId="Visio.Drawing.6">
                  <p:embed/>
                </p:oleObj>
              </mc:Choice>
              <mc:Fallback>
                <p:oleObj name="VISIO" r:id="rId3" imgW="4392168" imgH="53340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0895"/>
                      <a:stretch>
                        <a:fillRect/>
                      </a:stretch>
                    </p:blipFill>
                    <p:spPr bwMode="auto">
                      <a:xfrm>
                        <a:off x="767369" y="1635967"/>
                        <a:ext cx="3604023" cy="346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4203804"/>
              </p:ext>
            </p:extLst>
          </p:nvPr>
        </p:nvGraphicFramePr>
        <p:xfrm>
          <a:off x="4893979" y="2133600"/>
          <a:ext cx="2846096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84" name="Equation" r:id="rId5" imgW="1739900" imgH="558800" progId="Equation.3">
                  <p:embed/>
                </p:oleObj>
              </mc:Choice>
              <mc:Fallback>
                <p:oleObj name="Equation" r:id="rId5" imgW="1739900" imgH="558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3979" y="2133600"/>
                        <a:ext cx="2846096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6"/>
          <p:cNvGraphicFramePr>
            <a:graphicFrameLocks noChangeAspect="1"/>
          </p:cNvGraphicFramePr>
          <p:nvPr/>
        </p:nvGraphicFramePr>
        <p:xfrm>
          <a:off x="1314451" y="5208986"/>
          <a:ext cx="6390085" cy="791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85" name="Equation" r:id="rId7" imgW="6350000" imgH="787400" progId="Equation.3">
                  <p:embed/>
                </p:oleObj>
              </mc:Choice>
              <mc:Fallback>
                <p:oleObj name="Equation" r:id="rId7" imgW="63500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451" y="5208986"/>
                        <a:ext cx="6390085" cy="7917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9825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46118"/>
            <a:ext cx="6172200" cy="854869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Example of Naïve Bayes Classifier</a:t>
            </a:r>
          </a:p>
        </p:txBody>
      </p:sp>
      <p:graphicFrame>
        <p:nvGraphicFramePr>
          <p:cNvPr id="440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059339"/>
              </p:ext>
            </p:extLst>
          </p:nvPr>
        </p:nvGraphicFramePr>
        <p:xfrm>
          <a:off x="381000" y="2057400"/>
          <a:ext cx="3448050" cy="4259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98" name="VISIO" r:id="rId3" imgW="9057132" imgH="5539740" progId="Visio.Drawing.6">
                  <p:embed/>
                </p:oleObj>
              </mc:Choice>
              <mc:Fallback>
                <p:oleObj name="VISIO" r:id="rId3" imgW="9057132" imgH="55397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8478" r="26086"/>
                      <a:stretch>
                        <a:fillRect/>
                      </a:stretch>
                    </p:blipFill>
                    <p:spPr bwMode="auto">
                      <a:xfrm>
                        <a:off x="381000" y="2057400"/>
                        <a:ext cx="3448050" cy="42593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1785463"/>
              </p:ext>
            </p:extLst>
          </p:nvPr>
        </p:nvGraphicFramePr>
        <p:xfrm>
          <a:off x="1628775" y="1221125"/>
          <a:ext cx="4857750" cy="305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99" name="Equation" r:id="rId5" imgW="5448300" imgH="342900" progId="Equation.3">
                  <p:embed/>
                </p:oleObj>
              </mc:Choice>
              <mc:Fallback>
                <p:oleObj name="Equation" r:id="rId5" imgW="5448300" imgH="342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5" y="1221125"/>
                        <a:ext cx="4857750" cy="3059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3714750" y="2436475"/>
            <a:ext cx="4514850" cy="365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866" tIns="33338" rIns="67866" bIns="33338"/>
          <a:lstStyle>
            <a:lvl1pPr marL="292100" indent="-2921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10000"/>
              </a:spcBef>
              <a:spcAft>
                <a:spcPts val="3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1500" dirty="0">
                <a:latin typeface="Arial" panose="020B0604020202020204" pitchFamily="34" charset="0"/>
              </a:rPr>
              <a:t>P(</a:t>
            </a:r>
            <a:r>
              <a:rPr lang="en-US" altLang="en-US" sz="1500" dirty="0" err="1">
                <a:latin typeface="Arial" panose="020B0604020202020204" pitchFamily="34" charset="0"/>
              </a:rPr>
              <a:t>X|Class</a:t>
            </a:r>
            <a:r>
              <a:rPr lang="en-US" altLang="en-US" sz="1500" dirty="0">
                <a:latin typeface="Arial" panose="020B0604020202020204" pitchFamily="34" charset="0"/>
              </a:rPr>
              <a:t>=No) = P(Refund=</a:t>
            </a:r>
            <a:r>
              <a:rPr lang="en-US" altLang="en-US" sz="1500" dirty="0" err="1">
                <a:latin typeface="Arial" panose="020B0604020202020204" pitchFamily="34" charset="0"/>
              </a:rPr>
              <a:t>No|Class</a:t>
            </a:r>
            <a:r>
              <a:rPr lang="en-US" altLang="en-US" sz="1500" dirty="0">
                <a:latin typeface="Arial" panose="020B0604020202020204" pitchFamily="34" charset="0"/>
              </a:rPr>
              <a:t>=No)</a:t>
            </a:r>
            <a:br>
              <a:rPr lang="en-US" altLang="en-US" sz="1500" dirty="0">
                <a:latin typeface="Arial" panose="020B0604020202020204" pitchFamily="34" charset="0"/>
              </a:rPr>
            </a:br>
            <a:r>
              <a:rPr lang="en-US" altLang="en-US" sz="1500" dirty="0">
                <a:latin typeface="Arial" panose="020B0604020202020204" pitchFamily="34" charset="0"/>
              </a:rPr>
              <a:t>		 </a:t>
            </a:r>
            <a:r>
              <a:rPr lang="en-US" altLang="en-US" sz="1500" dirty="0">
                <a:latin typeface="Arial" panose="020B0604020202020204" pitchFamily="34" charset="0"/>
                <a:sym typeface="Symbol" panose="05050102010706020507" pitchFamily="18" charset="2"/>
              </a:rPr>
              <a:t> P(Married| </a:t>
            </a:r>
            <a:r>
              <a:rPr lang="en-US" altLang="en-US" sz="1500" dirty="0">
                <a:latin typeface="Arial" panose="020B0604020202020204" pitchFamily="34" charset="0"/>
              </a:rPr>
              <a:t>Class=No)</a:t>
            </a:r>
            <a:br>
              <a:rPr lang="en-US" altLang="en-US" sz="1500" dirty="0">
                <a:latin typeface="Arial" panose="020B0604020202020204" pitchFamily="34" charset="0"/>
              </a:rPr>
            </a:br>
            <a:r>
              <a:rPr lang="en-US" altLang="en-US" sz="1500" dirty="0">
                <a:latin typeface="Arial" panose="020B0604020202020204" pitchFamily="34" charset="0"/>
              </a:rPr>
              <a:t>		 </a:t>
            </a:r>
            <a:r>
              <a:rPr lang="en-US" altLang="en-US" sz="1500" dirty="0">
                <a:latin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n-US" altLang="en-US" sz="1500" dirty="0">
                <a:latin typeface="Arial" panose="020B0604020202020204" pitchFamily="34" charset="0"/>
              </a:rPr>
              <a:t> P(Income=120K| Class=No)</a:t>
            </a:r>
            <a:br>
              <a:rPr lang="en-US" altLang="en-US" sz="1500" dirty="0">
                <a:latin typeface="Arial" panose="020B0604020202020204" pitchFamily="34" charset="0"/>
              </a:rPr>
            </a:br>
            <a:r>
              <a:rPr lang="en-US" altLang="en-US" sz="1500" dirty="0">
                <a:latin typeface="Arial" panose="020B0604020202020204" pitchFamily="34" charset="0"/>
              </a:rPr>
              <a:t>	              = 4/7 </a:t>
            </a:r>
            <a:r>
              <a:rPr lang="en-US" altLang="en-US" sz="1500" dirty="0">
                <a:latin typeface="Arial" panose="020B0604020202020204" pitchFamily="34" charset="0"/>
                <a:sym typeface="Symbol" panose="05050102010706020507" pitchFamily="18" charset="2"/>
              </a:rPr>
              <a:t> 4/7  0.0072 = 0.0024</a:t>
            </a:r>
          </a:p>
          <a:p>
            <a:pPr>
              <a:spcBef>
                <a:spcPct val="10000"/>
              </a:spcBef>
              <a:spcAft>
                <a:spcPts val="300"/>
              </a:spcAft>
              <a:buClr>
                <a:srgbClr val="0C7B9C"/>
              </a:buClr>
              <a:buSzPct val="75000"/>
              <a:buNone/>
            </a:pPr>
            <a:r>
              <a:rPr lang="en-US" altLang="en-US" sz="1500" dirty="0">
                <a:latin typeface="Arial" panose="020B0604020202020204" pitchFamily="34" charset="0"/>
              </a:rPr>
              <a:t>P(</a:t>
            </a:r>
            <a:r>
              <a:rPr lang="en-US" altLang="en-US" sz="1500" dirty="0" err="1">
                <a:latin typeface="Arial" panose="020B0604020202020204" pitchFamily="34" charset="0"/>
              </a:rPr>
              <a:t>X|Class</a:t>
            </a:r>
            <a:r>
              <a:rPr lang="en-US" altLang="en-US" sz="1500" dirty="0">
                <a:latin typeface="Arial" panose="020B0604020202020204" pitchFamily="34" charset="0"/>
              </a:rPr>
              <a:t>=Yes) = P(Refund=No| Class=Yes)</a:t>
            </a:r>
            <a:br>
              <a:rPr lang="en-US" altLang="en-US" sz="1500" dirty="0">
                <a:latin typeface="Arial" panose="020B0604020202020204" pitchFamily="34" charset="0"/>
              </a:rPr>
            </a:br>
            <a:r>
              <a:rPr lang="en-US" altLang="en-US" sz="1500" dirty="0">
                <a:latin typeface="Arial" panose="020B0604020202020204" pitchFamily="34" charset="0"/>
              </a:rPr>
              <a:t>   	                  </a:t>
            </a:r>
            <a:r>
              <a:rPr lang="en-US" altLang="en-US" sz="1500" dirty="0">
                <a:latin typeface="Arial" panose="020B0604020202020204" pitchFamily="34" charset="0"/>
                <a:sym typeface="Symbol" panose="05050102010706020507" pitchFamily="18" charset="2"/>
              </a:rPr>
              <a:t> P(Married| </a:t>
            </a:r>
            <a:r>
              <a:rPr lang="en-US" altLang="en-US" sz="1500" dirty="0">
                <a:latin typeface="Arial" panose="020B0604020202020204" pitchFamily="34" charset="0"/>
              </a:rPr>
              <a:t>Class=Yes)</a:t>
            </a:r>
            <a:br>
              <a:rPr lang="en-US" altLang="en-US" sz="1500" dirty="0">
                <a:latin typeface="Arial" panose="020B0604020202020204" pitchFamily="34" charset="0"/>
              </a:rPr>
            </a:br>
            <a:r>
              <a:rPr lang="en-US" altLang="en-US" sz="1500" dirty="0">
                <a:latin typeface="Arial" panose="020B0604020202020204" pitchFamily="34" charset="0"/>
              </a:rPr>
              <a:t>   	                  </a:t>
            </a:r>
            <a:r>
              <a:rPr lang="en-US" altLang="en-US" sz="1500" dirty="0">
                <a:latin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n-US" altLang="en-US" sz="1500" dirty="0">
                <a:latin typeface="Arial" panose="020B0604020202020204" pitchFamily="34" charset="0"/>
              </a:rPr>
              <a:t> P(</a:t>
            </a:r>
            <a:r>
              <a:rPr lang="en-US" altLang="en-US" sz="1500" dirty="0" err="1">
                <a:latin typeface="Arial" panose="020B0604020202020204" pitchFamily="34" charset="0"/>
              </a:rPr>
              <a:t>Incm</a:t>
            </a:r>
            <a:r>
              <a:rPr lang="en-US" altLang="en-US" sz="1500" dirty="0">
                <a:latin typeface="Arial" panose="020B0604020202020204" pitchFamily="34" charset="0"/>
              </a:rPr>
              <a:t>=120K| Class=Yes)</a:t>
            </a:r>
            <a:br>
              <a:rPr lang="en-US" altLang="en-US" sz="1500" dirty="0">
                <a:latin typeface="Arial" panose="020B0604020202020204" pitchFamily="34" charset="0"/>
              </a:rPr>
            </a:br>
            <a:r>
              <a:rPr lang="en-US" altLang="en-US" sz="1500" dirty="0">
                <a:latin typeface="Arial" panose="020B0604020202020204" pitchFamily="34" charset="0"/>
              </a:rPr>
              <a:t>	               = 1 </a:t>
            </a:r>
            <a:r>
              <a:rPr lang="en-US" altLang="en-US" sz="1500" dirty="0">
                <a:latin typeface="Arial" panose="020B0604020202020204" pitchFamily="34" charset="0"/>
                <a:sym typeface="Symbol" panose="05050102010706020507" pitchFamily="18" charset="2"/>
              </a:rPr>
              <a:t> 0  1.2  10</a:t>
            </a:r>
            <a:r>
              <a:rPr lang="en-US" altLang="en-US" sz="1500" baseline="30000" dirty="0">
                <a:latin typeface="Arial" panose="020B0604020202020204" pitchFamily="34" charset="0"/>
                <a:sym typeface="Symbol" panose="05050102010706020507" pitchFamily="18" charset="2"/>
              </a:rPr>
              <a:t>-9</a:t>
            </a:r>
            <a:r>
              <a:rPr lang="en-US" altLang="en-US" sz="1500" dirty="0">
                <a:latin typeface="Arial" panose="020B0604020202020204" pitchFamily="34" charset="0"/>
                <a:sym typeface="Symbol" panose="05050102010706020507" pitchFamily="18" charset="2"/>
              </a:rPr>
              <a:t> = 0</a:t>
            </a:r>
          </a:p>
          <a:p>
            <a:pPr>
              <a:spcBef>
                <a:spcPct val="10000"/>
              </a:spcBef>
              <a:spcAft>
                <a:spcPts val="300"/>
              </a:spcAft>
              <a:buClr>
                <a:srgbClr val="0C7B9C"/>
              </a:buClr>
              <a:buSzPct val="75000"/>
              <a:buNone/>
            </a:pPr>
            <a:r>
              <a:rPr lang="en-US" altLang="en-US" sz="1500" dirty="0">
                <a:latin typeface="Arial" panose="020B0604020202020204" pitchFamily="34" charset="0"/>
              </a:rPr>
              <a:t>Since P(</a:t>
            </a:r>
            <a:r>
              <a:rPr lang="en-US" altLang="en-US" sz="1500" dirty="0" err="1">
                <a:latin typeface="Arial" panose="020B0604020202020204" pitchFamily="34" charset="0"/>
              </a:rPr>
              <a:t>X|No</a:t>
            </a:r>
            <a:r>
              <a:rPr lang="en-US" altLang="en-US" sz="1500" dirty="0">
                <a:latin typeface="Arial" panose="020B0604020202020204" pitchFamily="34" charset="0"/>
              </a:rPr>
              <a:t>)P(No) &gt; P(</a:t>
            </a:r>
            <a:r>
              <a:rPr lang="en-US" altLang="en-US" sz="1500" dirty="0" err="1">
                <a:latin typeface="Arial" panose="020B0604020202020204" pitchFamily="34" charset="0"/>
              </a:rPr>
              <a:t>X|Yes</a:t>
            </a:r>
            <a:r>
              <a:rPr lang="en-US" altLang="en-US" sz="1500" dirty="0">
                <a:latin typeface="Arial" panose="020B0604020202020204" pitchFamily="34" charset="0"/>
              </a:rPr>
              <a:t>)P(Yes)</a:t>
            </a:r>
          </a:p>
          <a:p>
            <a:pPr>
              <a:spcBef>
                <a:spcPct val="10000"/>
              </a:spcBef>
              <a:spcAft>
                <a:spcPts val="300"/>
              </a:spcAft>
              <a:buClr>
                <a:srgbClr val="0C7B9C"/>
              </a:buClr>
              <a:buSzPct val="75000"/>
              <a:buNone/>
            </a:pPr>
            <a:r>
              <a:rPr lang="en-US" altLang="en-US" sz="1500" dirty="0">
                <a:latin typeface="Arial" panose="020B0604020202020204" pitchFamily="34" charset="0"/>
              </a:rPr>
              <a:t>Therefore P(</a:t>
            </a:r>
            <a:r>
              <a:rPr lang="en-US" altLang="en-US" sz="1500" dirty="0" err="1">
                <a:latin typeface="Arial" panose="020B0604020202020204" pitchFamily="34" charset="0"/>
              </a:rPr>
              <a:t>No|X</a:t>
            </a:r>
            <a:r>
              <a:rPr lang="en-US" altLang="en-US" sz="1500" dirty="0">
                <a:latin typeface="Arial" panose="020B0604020202020204" pitchFamily="34" charset="0"/>
              </a:rPr>
              <a:t>) &gt; P(</a:t>
            </a:r>
            <a:r>
              <a:rPr lang="en-US" altLang="en-US" sz="1500" dirty="0" err="1">
                <a:latin typeface="Arial" panose="020B0604020202020204" pitchFamily="34" charset="0"/>
              </a:rPr>
              <a:t>Yes|X</a:t>
            </a:r>
            <a:r>
              <a:rPr lang="en-US" altLang="en-US" sz="1500" dirty="0">
                <a:latin typeface="Arial" panose="020B0604020202020204" pitchFamily="34" charset="0"/>
              </a:rPr>
              <a:t>)</a:t>
            </a:r>
            <a:br>
              <a:rPr lang="en-US" altLang="en-US" sz="1500" dirty="0">
                <a:latin typeface="Arial" panose="020B0604020202020204" pitchFamily="34" charset="0"/>
              </a:rPr>
            </a:br>
            <a:r>
              <a:rPr lang="en-US" altLang="en-US" sz="1500" dirty="0">
                <a:latin typeface="Arial" panose="020B0604020202020204" pitchFamily="34" charset="0"/>
              </a:rPr>
              <a:t>      </a:t>
            </a:r>
            <a:r>
              <a:rPr lang="en-US" altLang="en-US" sz="1500" dirty="0">
                <a:latin typeface="Arial" panose="020B0604020202020204" pitchFamily="34" charset="0"/>
                <a:sym typeface="Symbol" panose="05050102010706020507" pitchFamily="18" charset="2"/>
              </a:rPr>
              <a:t>=&gt; Class = No</a:t>
            </a:r>
          </a:p>
        </p:txBody>
      </p:sp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685800" y="847959"/>
            <a:ext cx="205740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350" b="1">
                <a:solidFill>
                  <a:srgbClr val="FF0000"/>
                </a:solidFill>
                <a:latin typeface="Arial" panose="020B0604020202020204" pitchFamily="34" charset="0"/>
              </a:rPr>
              <a:t>Given a Test Record:</a:t>
            </a:r>
          </a:p>
        </p:txBody>
      </p:sp>
    </p:spTree>
    <p:extLst>
      <p:ext uri="{BB962C8B-B14F-4D97-AF65-F5344CB8AC3E}">
        <p14:creationId xmlns:p14="http://schemas.microsoft.com/office/powerpoint/2010/main" val="33222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857251"/>
            <a:ext cx="6172200" cy="854869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Naïve Bayes Classifier</a:t>
            </a:r>
          </a:p>
        </p:txBody>
      </p:sp>
      <p:sp>
        <p:nvSpPr>
          <p:cNvPr id="340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467600" cy="43434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If one of the conditional probability is zero, then the entire expression becomes zero</a:t>
            </a:r>
          </a:p>
          <a:p>
            <a:pPr eaLnBrk="1" hangingPunct="1">
              <a:defRPr/>
            </a:pPr>
            <a:r>
              <a:rPr lang="en-US" dirty="0" smtClean="0"/>
              <a:t>Probability estimation: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dirty="0" smtClean="0"/>
          </a:p>
        </p:txBody>
      </p:sp>
      <p:graphicFrame>
        <p:nvGraphicFramePr>
          <p:cNvPr id="45060" name="Object 4"/>
          <p:cNvGraphicFramePr>
            <a:graphicFrameLocks noChangeAspect="1"/>
          </p:cNvGraphicFramePr>
          <p:nvPr/>
        </p:nvGraphicFramePr>
        <p:xfrm>
          <a:off x="1714500" y="3600451"/>
          <a:ext cx="3257550" cy="2027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09" name="Equation" r:id="rId3" imgW="2120900" imgH="1320800" progId="Equation.3">
                  <p:embed/>
                </p:oleObj>
              </mc:Choice>
              <mc:Fallback>
                <p:oleObj name="Equation" r:id="rId3" imgW="2120900" imgH="1320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3600451"/>
                        <a:ext cx="3257550" cy="2027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5657850" y="3543301"/>
            <a:ext cx="20574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500">
                <a:latin typeface="Times New Roman" panose="02020603050405020304" pitchFamily="18" charset="0"/>
              </a:rPr>
              <a:t>c: number of classes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500">
                <a:latin typeface="Times New Roman" panose="02020603050405020304" pitchFamily="18" charset="0"/>
              </a:rPr>
              <a:t>p: prior probability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500">
                <a:latin typeface="Times New Roman" panose="02020603050405020304" pitchFamily="18" charset="0"/>
              </a:rPr>
              <a:t>m: parameter</a:t>
            </a:r>
          </a:p>
        </p:txBody>
      </p:sp>
    </p:spTree>
    <p:extLst>
      <p:ext uri="{BB962C8B-B14F-4D97-AF65-F5344CB8AC3E}">
        <p14:creationId xmlns:p14="http://schemas.microsoft.com/office/powerpoint/2010/main" val="2354864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6172200" cy="854869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Example of Naïve Bayes Classifier</a:t>
            </a:r>
          </a:p>
        </p:txBody>
      </p:sp>
      <p:graphicFrame>
        <p:nvGraphicFramePr>
          <p:cNvPr id="460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076543"/>
              </p:ext>
            </p:extLst>
          </p:nvPr>
        </p:nvGraphicFramePr>
        <p:xfrm>
          <a:off x="120520" y="1295400"/>
          <a:ext cx="5022980" cy="361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55" name="Worksheet" r:id="rId3" imgW="6401181" imgH="4782109" progId="Excel.Sheet.8">
                  <p:embed/>
                </p:oleObj>
              </mc:Choice>
              <mc:Fallback>
                <p:oleObj name="Worksheet" r:id="rId3" imgW="6401181" imgH="4782109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520" y="1295400"/>
                        <a:ext cx="5022980" cy="361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4" name="Object 4"/>
          <p:cNvGraphicFramePr>
            <a:graphicFrameLocks noChangeAspect="1"/>
          </p:cNvGraphicFramePr>
          <p:nvPr/>
        </p:nvGraphicFramePr>
        <p:xfrm>
          <a:off x="1314451" y="5429250"/>
          <a:ext cx="3864769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56" name="Worksheet" r:id="rId5" imgW="5153406" imgH="438506" progId="Excel.Sheet.8">
                  <p:embed/>
                </p:oleObj>
              </mc:Choice>
              <mc:Fallback>
                <p:oleObj name="Worksheet" r:id="rId5" imgW="5153406" imgH="438506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451" y="5429250"/>
                        <a:ext cx="3864769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5"/>
          <p:cNvGraphicFramePr>
            <a:graphicFrameLocks noChangeAspect="1"/>
          </p:cNvGraphicFramePr>
          <p:nvPr/>
        </p:nvGraphicFramePr>
        <p:xfrm>
          <a:off x="5258991" y="2743200"/>
          <a:ext cx="2742009" cy="193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57" name="Equation" r:id="rId7" imgW="4457700" imgH="3149600" progId="Equation.3">
                  <p:embed/>
                </p:oleObj>
              </mc:Choice>
              <mc:Fallback>
                <p:oleObj name="Equation" r:id="rId7" imgW="4457700" imgH="314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8991" y="2743200"/>
                        <a:ext cx="2742009" cy="193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5543550" y="1828801"/>
            <a:ext cx="20574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050" b="1">
                <a:latin typeface="Arial" panose="020B0604020202020204" pitchFamily="34" charset="0"/>
              </a:rPr>
              <a:t>A: attributes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050" b="1">
                <a:latin typeface="Arial" panose="020B0604020202020204" pitchFamily="34" charset="0"/>
              </a:rPr>
              <a:t>M: mammals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050" b="1">
                <a:latin typeface="Arial" panose="020B0604020202020204" pitchFamily="34" charset="0"/>
              </a:rPr>
              <a:t>N: non-mammals</a:t>
            </a:r>
          </a:p>
        </p:txBody>
      </p:sp>
      <p:sp>
        <p:nvSpPr>
          <p:cNvPr id="46087" name="Text Box 7"/>
          <p:cNvSpPr txBox="1">
            <a:spLocks noChangeArrowheads="1"/>
          </p:cNvSpPr>
          <p:nvPr/>
        </p:nvSpPr>
        <p:spPr bwMode="auto">
          <a:xfrm>
            <a:off x="5486400" y="5029200"/>
            <a:ext cx="2057400" cy="496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050" b="1">
                <a:latin typeface="Arial" panose="020B0604020202020204" pitchFamily="34" charset="0"/>
              </a:rPr>
              <a:t>P(A|M)P(M) &gt; P(A|N)P(N)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050" b="1">
                <a:latin typeface="Arial" panose="020B0604020202020204" pitchFamily="34" charset="0"/>
              </a:rPr>
              <a:t>=&gt; Mammals</a:t>
            </a:r>
          </a:p>
        </p:txBody>
      </p:sp>
    </p:spTree>
    <p:extLst>
      <p:ext uri="{BB962C8B-B14F-4D97-AF65-F5344CB8AC3E}">
        <p14:creationId xmlns:p14="http://schemas.microsoft.com/office/powerpoint/2010/main" val="3568170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25" y="1028700"/>
            <a:ext cx="6686550" cy="578644"/>
          </a:xfrm>
        </p:spPr>
        <p:txBody>
          <a:bodyPr vert="horz" lIns="69056" tIns="34529" rIns="69056" bIns="34529" rtlCol="0" anchor="b" anchorCtr="0">
            <a:normAutofit/>
          </a:bodyPr>
          <a:lstStyle/>
          <a:p>
            <a:pPr eaLnBrk="1" hangingPunct="1">
              <a:defRPr/>
            </a:pPr>
            <a:r>
              <a:rPr lang="en-US" smtClean="0"/>
              <a:t>Naïve Bayesian Classification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57175" y="1657350"/>
            <a:ext cx="1485900" cy="392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2100" b="1">
                <a:solidFill>
                  <a:srgbClr val="000066"/>
                </a:solidFill>
              </a:rPr>
              <a:t>Example</a:t>
            </a:r>
          </a:p>
        </p:txBody>
      </p:sp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885825" y="2228850"/>
            <a:ext cx="5735241" cy="3411141"/>
            <a:chOff x="655" y="1382"/>
            <a:chExt cx="4817" cy="2865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4351" y="4057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3429" y="4057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EXCELLENT</a:t>
              </a:r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2502" y="4057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1581" y="4057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MEDIUM</a:t>
              </a:r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656" y="4057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&gt;40</a:t>
              </a:r>
            </a:p>
          </p:txBody>
        </p:sp>
        <p:sp>
          <p:nvSpPr>
            <p:cNvPr id="10" name="Rectangle 11"/>
            <p:cNvSpPr>
              <a:spLocks noChangeArrowheads="1"/>
            </p:cNvSpPr>
            <p:nvPr/>
          </p:nvSpPr>
          <p:spPr bwMode="auto">
            <a:xfrm>
              <a:off x="4351" y="3866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3429" y="3866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FAIR</a:t>
              </a:r>
            </a:p>
          </p:txBody>
        </p: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2502" y="3866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1581" y="3866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HIGH</a:t>
              </a:r>
            </a:p>
          </p:txBody>
        </p:sp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656" y="3866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31….40</a:t>
              </a:r>
            </a:p>
          </p:txBody>
        </p:sp>
        <p:sp>
          <p:nvSpPr>
            <p:cNvPr id="15" name="Rectangle 16"/>
            <p:cNvSpPr>
              <a:spLocks noChangeArrowheads="1"/>
            </p:cNvSpPr>
            <p:nvPr/>
          </p:nvSpPr>
          <p:spPr bwMode="auto">
            <a:xfrm>
              <a:off x="4351" y="3675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16" name="Rectangle 17"/>
            <p:cNvSpPr>
              <a:spLocks noChangeArrowheads="1"/>
            </p:cNvSpPr>
            <p:nvPr/>
          </p:nvSpPr>
          <p:spPr bwMode="auto">
            <a:xfrm>
              <a:off x="3429" y="3675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EXCELLENT</a:t>
              </a:r>
            </a:p>
          </p:txBody>
        </p:sp>
        <p:sp>
          <p:nvSpPr>
            <p:cNvPr id="17" name="Rectangle 18"/>
            <p:cNvSpPr>
              <a:spLocks noChangeArrowheads="1"/>
            </p:cNvSpPr>
            <p:nvPr/>
          </p:nvSpPr>
          <p:spPr bwMode="auto">
            <a:xfrm>
              <a:off x="2502" y="3675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18" name="Rectangle 19"/>
            <p:cNvSpPr>
              <a:spLocks noChangeArrowheads="1"/>
            </p:cNvSpPr>
            <p:nvPr/>
          </p:nvSpPr>
          <p:spPr bwMode="auto">
            <a:xfrm>
              <a:off x="1581" y="3675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MEDIUM</a:t>
              </a:r>
            </a:p>
          </p:txBody>
        </p:sp>
        <p:sp>
          <p:nvSpPr>
            <p:cNvPr id="19" name="Rectangle 20"/>
            <p:cNvSpPr>
              <a:spLocks noChangeArrowheads="1"/>
            </p:cNvSpPr>
            <p:nvPr/>
          </p:nvSpPr>
          <p:spPr bwMode="auto">
            <a:xfrm>
              <a:off x="656" y="3675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31….40</a:t>
              </a:r>
            </a:p>
          </p:txBody>
        </p:sp>
        <p:sp>
          <p:nvSpPr>
            <p:cNvPr id="20" name="Rectangle 21"/>
            <p:cNvSpPr>
              <a:spLocks noChangeArrowheads="1"/>
            </p:cNvSpPr>
            <p:nvPr/>
          </p:nvSpPr>
          <p:spPr bwMode="auto">
            <a:xfrm>
              <a:off x="4351" y="3484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21" name="Rectangle 22"/>
            <p:cNvSpPr>
              <a:spLocks noChangeArrowheads="1"/>
            </p:cNvSpPr>
            <p:nvPr/>
          </p:nvSpPr>
          <p:spPr bwMode="auto">
            <a:xfrm>
              <a:off x="3429" y="3484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EXCELLENT</a:t>
              </a:r>
            </a:p>
          </p:txBody>
        </p:sp>
        <p:sp>
          <p:nvSpPr>
            <p:cNvPr id="22" name="Rectangle 23"/>
            <p:cNvSpPr>
              <a:spLocks noChangeArrowheads="1"/>
            </p:cNvSpPr>
            <p:nvPr/>
          </p:nvSpPr>
          <p:spPr bwMode="auto">
            <a:xfrm>
              <a:off x="2502" y="3484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23" name="Rectangle 24"/>
            <p:cNvSpPr>
              <a:spLocks noChangeArrowheads="1"/>
            </p:cNvSpPr>
            <p:nvPr/>
          </p:nvSpPr>
          <p:spPr bwMode="auto">
            <a:xfrm>
              <a:off x="1581" y="3484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MEDIUM</a:t>
              </a:r>
            </a:p>
          </p:txBody>
        </p:sp>
        <p:sp>
          <p:nvSpPr>
            <p:cNvPr id="24" name="Rectangle 25"/>
            <p:cNvSpPr>
              <a:spLocks noChangeArrowheads="1"/>
            </p:cNvSpPr>
            <p:nvPr/>
          </p:nvSpPr>
          <p:spPr bwMode="auto">
            <a:xfrm>
              <a:off x="656" y="3484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&lt;=30</a:t>
              </a:r>
            </a:p>
          </p:txBody>
        </p:sp>
        <p:sp>
          <p:nvSpPr>
            <p:cNvPr id="25" name="Rectangle 26"/>
            <p:cNvSpPr>
              <a:spLocks noChangeArrowheads="1"/>
            </p:cNvSpPr>
            <p:nvPr/>
          </p:nvSpPr>
          <p:spPr bwMode="auto">
            <a:xfrm>
              <a:off x="4351" y="3293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26" name="Rectangle 27"/>
            <p:cNvSpPr>
              <a:spLocks noChangeArrowheads="1"/>
            </p:cNvSpPr>
            <p:nvPr/>
          </p:nvSpPr>
          <p:spPr bwMode="auto">
            <a:xfrm>
              <a:off x="3429" y="3293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FAIR</a:t>
              </a:r>
            </a:p>
          </p:txBody>
        </p:sp>
        <p:sp>
          <p:nvSpPr>
            <p:cNvPr id="27" name="Rectangle 28"/>
            <p:cNvSpPr>
              <a:spLocks noChangeArrowheads="1"/>
            </p:cNvSpPr>
            <p:nvPr/>
          </p:nvSpPr>
          <p:spPr bwMode="auto">
            <a:xfrm>
              <a:off x="2502" y="3293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28" name="Rectangle 29"/>
            <p:cNvSpPr>
              <a:spLocks noChangeArrowheads="1"/>
            </p:cNvSpPr>
            <p:nvPr/>
          </p:nvSpPr>
          <p:spPr bwMode="auto">
            <a:xfrm>
              <a:off x="1581" y="3293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MEDIUM</a:t>
              </a:r>
            </a:p>
          </p:txBody>
        </p:sp>
        <p:sp>
          <p:nvSpPr>
            <p:cNvPr id="29" name="Rectangle 30"/>
            <p:cNvSpPr>
              <a:spLocks noChangeArrowheads="1"/>
            </p:cNvSpPr>
            <p:nvPr/>
          </p:nvSpPr>
          <p:spPr bwMode="auto">
            <a:xfrm>
              <a:off x="656" y="3293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&gt;40</a:t>
              </a:r>
            </a:p>
          </p:txBody>
        </p:sp>
        <p:sp>
          <p:nvSpPr>
            <p:cNvPr id="30" name="Rectangle 31"/>
            <p:cNvSpPr>
              <a:spLocks noChangeArrowheads="1"/>
            </p:cNvSpPr>
            <p:nvPr/>
          </p:nvSpPr>
          <p:spPr bwMode="auto">
            <a:xfrm>
              <a:off x="4351" y="3102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3429" y="3102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FAIR</a:t>
              </a:r>
            </a:p>
          </p:txBody>
        </p:sp>
        <p:sp>
          <p:nvSpPr>
            <p:cNvPr id="32" name="Rectangle 33"/>
            <p:cNvSpPr>
              <a:spLocks noChangeArrowheads="1"/>
            </p:cNvSpPr>
            <p:nvPr/>
          </p:nvSpPr>
          <p:spPr bwMode="auto">
            <a:xfrm>
              <a:off x="2502" y="3102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33" name="Rectangle 34"/>
            <p:cNvSpPr>
              <a:spLocks noChangeArrowheads="1"/>
            </p:cNvSpPr>
            <p:nvPr/>
          </p:nvSpPr>
          <p:spPr bwMode="auto">
            <a:xfrm>
              <a:off x="1581" y="3102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LOW</a:t>
              </a:r>
            </a:p>
          </p:txBody>
        </p:sp>
        <p:sp>
          <p:nvSpPr>
            <p:cNvPr id="34" name="Rectangle 35"/>
            <p:cNvSpPr>
              <a:spLocks noChangeArrowheads="1"/>
            </p:cNvSpPr>
            <p:nvPr/>
          </p:nvSpPr>
          <p:spPr bwMode="auto">
            <a:xfrm>
              <a:off x="656" y="3102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&lt;=30</a:t>
              </a:r>
            </a:p>
          </p:txBody>
        </p:sp>
        <p:sp>
          <p:nvSpPr>
            <p:cNvPr id="35" name="Rectangle 36"/>
            <p:cNvSpPr>
              <a:spLocks noChangeArrowheads="1"/>
            </p:cNvSpPr>
            <p:nvPr/>
          </p:nvSpPr>
          <p:spPr bwMode="auto">
            <a:xfrm>
              <a:off x="4351" y="2911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36" name="Rectangle 37"/>
            <p:cNvSpPr>
              <a:spLocks noChangeArrowheads="1"/>
            </p:cNvSpPr>
            <p:nvPr/>
          </p:nvSpPr>
          <p:spPr bwMode="auto">
            <a:xfrm>
              <a:off x="3429" y="2911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FAIR</a:t>
              </a:r>
            </a:p>
          </p:txBody>
        </p:sp>
        <p:sp>
          <p:nvSpPr>
            <p:cNvPr id="37" name="Rectangle 38"/>
            <p:cNvSpPr>
              <a:spLocks noChangeArrowheads="1"/>
            </p:cNvSpPr>
            <p:nvPr/>
          </p:nvSpPr>
          <p:spPr bwMode="auto">
            <a:xfrm>
              <a:off x="2502" y="2911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38" name="Rectangle 39"/>
            <p:cNvSpPr>
              <a:spLocks noChangeArrowheads="1"/>
            </p:cNvSpPr>
            <p:nvPr/>
          </p:nvSpPr>
          <p:spPr bwMode="auto">
            <a:xfrm>
              <a:off x="1581" y="2911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MEDIUM</a:t>
              </a:r>
            </a:p>
          </p:txBody>
        </p:sp>
        <p:sp>
          <p:nvSpPr>
            <p:cNvPr id="39" name="Rectangle 40"/>
            <p:cNvSpPr>
              <a:spLocks noChangeArrowheads="1"/>
            </p:cNvSpPr>
            <p:nvPr/>
          </p:nvSpPr>
          <p:spPr bwMode="auto">
            <a:xfrm>
              <a:off x="656" y="2911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&lt;=30</a:t>
              </a:r>
            </a:p>
          </p:txBody>
        </p:sp>
        <p:sp>
          <p:nvSpPr>
            <p:cNvPr id="40" name="Rectangle 41"/>
            <p:cNvSpPr>
              <a:spLocks noChangeArrowheads="1"/>
            </p:cNvSpPr>
            <p:nvPr/>
          </p:nvSpPr>
          <p:spPr bwMode="auto">
            <a:xfrm>
              <a:off x="4351" y="2720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41" name="Rectangle 42"/>
            <p:cNvSpPr>
              <a:spLocks noChangeArrowheads="1"/>
            </p:cNvSpPr>
            <p:nvPr/>
          </p:nvSpPr>
          <p:spPr bwMode="auto">
            <a:xfrm>
              <a:off x="3429" y="2720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EXCELLENT</a:t>
              </a:r>
            </a:p>
          </p:txBody>
        </p:sp>
        <p:sp>
          <p:nvSpPr>
            <p:cNvPr id="42" name="Rectangle 43"/>
            <p:cNvSpPr>
              <a:spLocks noChangeArrowheads="1"/>
            </p:cNvSpPr>
            <p:nvPr/>
          </p:nvSpPr>
          <p:spPr bwMode="auto">
            <a:xfrm>
              <a:off x="2502" y="2720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43" name="Rectangle 44"/>
            <p:cNvSpPr>
              <a:spLocks noChangeArrowheads="1"/>
            </p:cNvSpPr>
            <p:nvPr/>
          </p:nvSpPr>
          <p:spPr bwMode="auto">
            <a:xfrm>
              <a:off x="1581" y="2720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LOW</a:t>
              </a:r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656" y="2720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31…..40</a:t>
              </a:r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4351" y="2529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46" name="Rectangle 47"/>
            <p:cNvSpPr>
              <a:spLocks noChangeArrowheads="1"/>
            </p:cNvSpPr>
            <p:nvPr/>
          </p:nvSpPr>
          <p:spPr bwMode="auto">
            <a:xfrm>
              <a:off x="3429" y="2529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EXCELLENT</a:t>
              </a:r>
            </a:p>
          </p:txBody>
        </p:sp>
        <p:sp>
          <p:nvSpPr>
            <p:cNvPr id="47" name="Rectangle 48"/>
            <p:cNvSpPr>
              <a:spLocks noChangeArrowheads="1"/>
            </p:cNvSpPr>
            <p:nvPr/>
          </p:nvSpPr>
          <p:spPr bwMode="auto">
            <a:xfrm>
              <a:off x="2502" y="2529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48" name="Rectangle 49"/>
            <p:cNvSpPr>
              <a:spLocks noChangeArrowheads="1"/>
            </p:cNvSpPr>
            <p:nvPr/>
          </p:nvSpPr>
          <p:spPr bwMode="auto">
            <a:xfrm>
              <a:off x="1581" y="2529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LOW</a:t>
              </a:r>
            </a:p>
          </p:txBody>
        </p:sp>
        <p:sp>
          <p:nvSpPr>
            <p:cNvPr id="49" name="Rectangle 50"/>
            <p:cNvSpPr>
              <a:spLocks noChangeArrowheads="1"/>
            </p:cNvSpPr>
            <p:nvPr/>
          </p:nvSpPr>
          <p:spPr bwMode="auto">
            <a:xfrm>
              <a:off x="656" y="2529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&gt;40</a:t>
              </a:r>
            </a:p>
          </p:txBody>
        </p:sp>
        <p:sp>
          <p:nvSpPr>
            <p:cNvPr id="50" name="Rectangle 51"/>
            <p:cNvSpPr>
              <a:spLocks noChangeArrowheads="1"/>
            </p:cNvSpPr>
            <p:nvPr/>
          </p:nvSpPr>
          <p:spPr bwMode="auto">
            <a:xfrm>
              <a:off x="4351" y="2338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51" name="Rectangle 52"/>
            <p:cNvSpPr>
              <a:spLocks noChangeArrowheads="1"/>
            </p:cNvSpPr>
            <p:nvPr/>
          </p:nvSpPr>
          <p:spPr bwMode="auto">
            <a:xfrm>
              <a:off x="3429" y="2338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FAIR</a:t>
              </a:r>
            </a:p>
          </p:txBody>
        </p:sp>
        <p:sp>
          <p:nvSpPr>
            <p:cNvPr id="52" name="Rectangle 53"/>
            <p:cNvSpPr>
              <a:spLocks noChangeArrowheads="1"/>
            </p:cNvSpPr>
            <p:nvPr/>
          </p:nvSpPr>
          <p:spPr bwMode="auto">
            <a:xfrm>
              <a:off x="2502" y="2338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53" name="Rectangle 54"/>
            <p:cNvSpPr>
              <a:spLocks noChangeArrowheads="1"/>
            </p:cNvSpPr>
            <p:nvPr/>
          </p:nvSpPr>
          <p:spPr bwMode="auto">
            <a:xfrm>
              <a:off x="1581" y="2338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LOW</a:t>
              </a:r>
            </a:p>
          </p:txBody>
        </p:sp>
        <p:sp>
          <p:nvSpPr>
            <p:cNvPr id="54" name="Rectangle 55"/>
            <p:cNvSpPr>
              <a:spLocks noChangeArrowheads="1"/>
            </p:cNvSpPr>
            <p:nvPr/>
          </p:nvSpPr>
          <p:spPr bwMode="auto">
            <a:xfrm>
              <a:off x="656" y="2338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&gt;40</a:t>
              </a:r>
            </a:p>
          </p:txBody>
        </p:sp>
        <p:sp>
          <p:nvSpPr>
            <p:cNvPr id="55" name="Rectangle 56"/>
            <p:cNvSpPr>
              <a:spLocks noChangeArrowheads="1"/>
            </p:cNvSpPr>
            <p:nvPr/>
          </p:nvSpPr>
          <p:spPr bwMode="auto">
            <a:xfrm>
              <a:off x="4351" y="2147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56" name="Rectangle 57"/>
            <p:cNvSpPr>
              <a:spLocks noChangeArrowheads="1"/>
            </p:cNvSpPr>
            <p:nvPr/>
          </p:nvSpPr>
          <p:spPr bwMode="auto">
            <a:xfrm>
              <a:off x="3429" y="2147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FAIR</a:t>
              </a:r>
            </a:p>
          </p:txBody>
        </p:sp>
        <p:sp>
          <p:nvSpPr>
            <p:cNvPr id="57" name="Rectangle 58"/>
            <p:cNvSpPr>
              <a:spLocks noChangeArrowheads="1"/>
            </p:cNvSpPr>
            <p:nvPr/>
          </p:nvSpPr>
          <p:spPr bwMode="auto">
            <a:xfrm>
              <a:off x="2502" y="2147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58" name="Rectangle 59"/>
            <p:cNvSpPr>
              <a:spLocks noChangeArrowheads="1"/>
            </p:cNvSpPr>
            <p:nvPr/>
          </p:nvSpPr>
          <p:spPr bwMode="auto">
            <a:xfrm>
              <a:off x="1581" y="2147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MEDIUM</a:t>
              </a:r>
            </a:p>
          </p:txBody>
        </p:sp>
        <p:sp>
          <p:nvSpPr>
            <p:cNvPr id="59" name="Rectangle 60"/>
            <p:cNvSpPr>
              <a:spLocks noChangeArrowheads="1"/>
            </p:cNvSpPr>
            <p:nvPr/>
          </p:nvSpPr>
          <p:spPr bwMode="auto">
            <a:xfrm>
              <a:off x="656" y="2147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&gt;40</a:t>
              </a:r>
            </a:p>
          </p:txBody>
        </p:sp>
        <p:sp>
          <p:nvSpPr>
            <p:cNvPr id="60" name="Rectangle 61"/>
            <p:cNvSpPr>
              <a:spLocks noChangeArrowheads="1"/>
            </p:cNvSpPr>
            <p:nvPr/>
          </p:nvSpPr>
          <p:spPr bwMode="auto">
            <a:xfrm>
              <a:off x="4351" y="1956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61" name="Rectangle 62"/>
            <p:cNvSpPr>
              <a:spLocks noChangeArrowheads="1"/>
            </p:cNvSpPr>
            <p:nvPr/>
          </p:nvSpPr>
          <p:spPr bwMode="auto">
            <a:xfrm>
              <a:off x="3429" y="1956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FAIR</a:t>
              </a:r>
            </a:p>
          </p:txBody>
        </p:sp>
        <p:sp>
          <p:nvSpPr>
            <p:cNvPr id="62" name="Rectangle 63"/>
            <p:cNvSpPr>
              <a:spLocks noChangeArrowheads="1"/>
            </p:cNvSpPr>
            <p:nvPr/>
          </p:nvSpPr>
          <p:spPr bwMode="auto">
            <a:xfrm>
              <a:off x="2502" y="1956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63" name="Rectangle 64"/>
            <p:cNvSpPr>
              <a:spLocks noChangeArrowheads="1"/>
            </p:cNvSpPr>
            <p:nvPr/>
          </p:nvSpPr>
          <p:spPr bwMode="auto">
            <a:xfrm>
              <a:off x="1581" y="1956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 dirty="0">
                  <a:solidFill>
                    <a:srgbClr val="000000"/>
                  </a:solidFill>
                </a:rPr>
                <a:t>HIGH</a:t>
              </a:r>
            </a:p>
          </p:txBody>
        </p:sp>
        <p:sp>
          <p:nvSpPr>
            <p:cNvPr id="64" name="Rectangle 65"/>
            <p:cNvSpPr>
              <a:spLocks noChangeArrowheads="1"/>
            </p:cNvSpPr>
            <p:nvPr/>
          </p:nvSpPr>
          <p:spPr bwMode="auto">
            <a:xfrm>
              <a:off x="656" y="1956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31…..40</a:t>
              </a:r>
            </a:p>
          </p:txBody>
        </p:sp>
        <p:sp>
          <p:nvSpPr>
            <p:cNvPr id="65" name="Rectangle 66"/>
            <p:cNvSpPr>
              <a:spLocks noChangeArrowheads="1"/>
            </p:cNvSpPr>
            <p:nvPr/>
          </p:nvSpPr>
          <p:spPr bwMode="auto">
            <a:xfrm>
              <a:off x="4351" y="1765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66" name="Rectangle 67"/>
            <p:cNvSpPr>
              <a:spLocks noChangeArrowheads="1"/>
            </p:cNvSpPr>
            <p:nvPr/>
          </p:nvSpPr>
          <p:spPr bwMode="auto">
            <a:xfrm>
              <a:off x="3429" y="1765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EXCELLENT</a:t>
              </a:r>
            </a:p>
          </p:txBody>
        </p:sp>
        <p:sp>
          <p:nvSpPr>
            <p:cNvPr id="67" name="Rectangle 68"/>
            <p:cNvSpPr>
              <a:spLocks noChangeArrowheads="1"/>
            </p:cNvSpPr>
            <p:nvPr/>
          </p:nvSpPr>
          <p:spPr bwMode="auto">
            <a:xfrm>
              <a:off x="2502" y="1765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68" name="Rectangle 69"/>
            <p:cNvSpPr>
              <a:spLocks noChangeArrowheads="1"/>
            </p:cNvSpPr>
            <p:nvPr/>
          </p:nvSpPr>
          <p:spPr bwMode="auto">
            <a:xfrm>
              <a:off x="1581" y="1765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HIGH</a:t>
              </a:r>
            </a:p>
          </p:txBody>
        </p:sp>
        <p:sp>
          <p:nvSpPr>
            <p:cNvPr id="69" name="Rectangle 70"/>
            <p:cNvSpPr>
              <a:spLocks noChangeArrowheads="1"/>
            </p:cNvSpPr>
            <p:nvPr/>
          </p:nvSpPr>
          <p:spPr bwMode="auto">
            <a:xfrm>
              <a:off x="656" y="1765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&lt;=30</a:t>
              </a:r>
            </a:p>
          </p:txBody>
        </p:sp>
        <p:sp>
          <p:nvSpPr>
            <p:cNvPr id="70" name="Rectangle 71"/>
            <p:cNvSpPr>
              <a:spLocks noChangeArrowheads="1"/>
            </p:cNvSpPr>
            <p:nvPr/>
          </p:nvSpPr>
          <p:spPr bwMode="auto">
            <a:xfrm>
              <a:off x="4351" y="1574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71" name="Rectangle 72"/>
            <p:cNvSpPr>
              <a:spLocks noChangeArrowheads="1"/>
            </p:cNvSpPr>
            <p:nvPr/>
          </p:nvSpPr>
          <p:spPr bwMode="auto">
            <a:xfrm>
              <a:off x="3429" y="1574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FAIR</a:t>
              </a:r>
            </a:p>
          </p:txBody>
        </p:sp>
        <p:sp>
          <p:nvSpPr>
            <p:cNvPr id="72" name="Rectangle 73"/>
            <p:cNvSpPr>
              <a:spLocks noChangeArrowheads="1"/>
            </p:cNvSpPr>
            <p:nvPr/>
          </p:nvSpPr>
          <p:spPr bwMode="auto">
            <a:xfrm>
              <a:off x="2502" y="1574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73" name="Rectangle 74"/>
            <p:cNvSpPr>
              <a:spLocks noChangeArrowheads="1"/>
            </p:cNvSpPr>
            <p:nvPr/>
          </p:nvSpPr>
          <p:spPr bwMode="auto">
            <a:xfrm>
              <a:off x="1581" y="1574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HIGH</a:t>
              </a:r>
            </a:p>
          </p:txBody>
        </p:sp>
        <p:sp>
          <p:nvSpPr>
            <p:cNvPr id="74" name="Rectangle 75"/>
            <p:cNvSpPr>
              <a:spLocks noChangeArrowheads="1"/>
            </p:cNvSpPr>
            <p:nvPr/>
          </p:nvSpPr>
          <p:spPr bwMode="auto">
            <a:xfrm>
              <a:off x="656" y="1574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&lt;=30</a:t>
              </a:r>
            </a:p>
          </p:txBody>
        </p:sp>
        <p:sp>
          <p:nvSpPr>
            <p:cNvPr id="75" name="Rectangle 76"/>
            <p:cNvSpPr>
              <a:spLocks noChangeArrowheads="1"/>
            </p:cNvSpPr>
            <p:nvPr/>
          </p:nvSpPr>
          <p:spPr bwMode="auto">
            <a:xfrm>
              <a:off x="4351" y="1383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Class:Buys_comp</a:t>
              </a:r>
            </a:p>
          </p:txBody>
        </p:sp>
        <p:sp>
          <p:nvSpPr>
            <p:cNvPr id="76" name="Rectangle 77"/>
            <p:cNvSpPr>
              <a:spLocks noChangeArrowheads="1"/>
            </p:cNvSpPr>
            <p:nvPr/>
          </p:nvSpPr>
          <p:spPr bwMode="auto">
            <a:xfrm>
              <a:off x="3429" y="1383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Credit_rating</a:t>
              </a:r>
            </a:p>
          </p:txBody>
        </p:sp>
        <p:sp>
          <p:nvSpPr>
            <p:cNvPr id="77" name="Rectangle 78"/>
            <p:cNvSpPr>
              <a:spLocks noChangeArrowheads="1"/>
            </p:cNvSpPr>
            <p:nvPr/>
          </p:nvSpPr>
          <p:spPr bwMode="auto">
            <a:xfrm>
              <a:off x="2502" y="1383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Student</a:t>
              </a:r>
            </a:p>
          </p:txBody>
        </p:sp>
        <p:sp>
          <p:nvSpPr>
            <p:cNvPr id="78" name="Rectangle 79"/>
            <p:cNvSpPr>
              <a:spLocks noChangeArrowheads="1"/>
            </p:cNvSpPr>
            <p:nvPr/>
          </p:nvSpPr>
          <p:spPr bwMode="auto">
            <a:xfrm>
              <a:off x="1581" y="1383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Income</a:t>
              </a:r>
            </a:p>
          </p:txBody>
        </p:sp>
        <p:sp>
          <p:nvSpPr>
            <p:cNvPr id="79" name="Rectangle 80"/>
            <p:cNvSpPr>
              <a:spLocks noChangeArrowheads="1"/>
            </p:cNvSpPr>
            <p:nvPr/>
          </p:nvSpPr>
          <p:spPr bwMode="auto">
            <a:xfrm>
              <a:off x="656" y="1383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Age</a:t>
              </a:r>
            </a:p>
          </p:txBody>
        </p:sp>
        <p:sp>
          <p:nvSpPr>
            <p:cNvPr id="80" name="Line 81"/>
            <p:cNvSpPr>
              <a:spLocks noChangeShapeType="1"/>
            </p:cNvSpPr>
            <p:nvPr/>
          </p:nvSpPr>
          <p:spPr bwMode="auto">
            <a:xfrm>
              <a:off x="655" y="1382"/>
              <a:ext cx="481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82"/>
            <p:cNvSpPr>
              <a:spLocks noChangeShapeType="1"/>
            </p:cNvSpPr>
            <p:nvPr/>
          </p:nvSpPr>
          <p:spPr bwMode="auto">
            <a:xfrm>
              <a:off x="655" y="1573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83"/>
            <p:cNvSpPr>
              <a:spLocks noChangeShapeType="1"/>
            </p:cNvSpPr>
            <p:nvPr/>
          </p:nvSpPr>
          <p:spPr bwMode="auto">
            <a:xfrm>
              <a:off x="655" y="1764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84"/>
            <p:cNvSpPr>
              <a:spLocks noChangeShapeType="1"/>
            </p:cNvSpPr>
            <p:nvPr/>
          </p:nvSpPr>
          <p:spPr bwMode="auto">
            <a:xfrm>
              <a:off x="655" y="1955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85"/>
            <p:cNvSpPr>
              <a:spLocks noChangeShapeType="1"/>
            </p:cNvSpPr>
            <p:nvPr/>
          </p:nvSpPr>
          <p:spPr bwMode="auto">
            <a:xfrm>
              <a:off x="655" y="2146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86"/>
            <p:cNvSpPr>
              <a:spLocks noChangeShapeType="1"/>
            </p:cNvSpPr>
            <p:nvPr/>
          </p:nvSpPr>
          <p:spPr bwMode="auto">
            <a:xfrm>
              <a:off x="655" y="2337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87"/>
            <p:cNvSpPr>
              <a:spLocks noChangeShapeType="1"/>
            </p:cNvSpPr>
            <p:nvPr/>
          </p:nvSpPr>
          <p:spPr bwMode="auto">
            <a:xfrm>
              <a:off x="655" y="2528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Line 88"/>
            <p:cNvSpPr>
              <a:spLocks noChangeShapeType="1"/>
            </p:cNvSpPr>
            <p:nvPr/>
          </p:nvSpPr>
          <p:spPr bwMode="auto">
            <a:xfrm>
              <a:off x="655" y="2719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Line 89"/>
            <p:cNvSpPr>
              <a:spLocks noChangeShapeType="1"/>
            </p:cNvSpPr>
            <p:nvPr/>
          </p:nvSpPr>
          <p:spPr bwMode="auto">
            <a:xfrm>
              <a:off x="655" y="2910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90"/>
            <p:cNvSpPr>
              <a:spLocks noChangeShapeType="1"/>
            </p:cNvSpPr>
            <p:nvPr/>
          </p:nvSpPr>
          <p:spPr bwMode="auto">
            <a:xfrm>
              <a:off x="655" y="3101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Line 91"/>
            <p:cNvSpPr>
              <a:spLocks noChangeShapeType="1"/>
            </p:cNvSpPr>
            <p:nvPr/>
          </p:nvSpPr>
          <p:spPr bwMode="auto">
            <a:xfrm>
              <a:off x="655" y="3292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Line 92"/>
            <p:cNvSpPr>
              <a:spLocks noChangeShapeType="1"/>
            </p:cNvSpPr>
            <p:nvPr/>
          </p:nvSpPr>
          <p:spPr bwMode="auto">
            <a:xfrm>
              <a:off x="655" y="3483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Line 93"/>
            <p:cNvSpPr>
              <a:spLocks noChangeShapeType="1"/>
            </p:cNvSpPr>
            <p:nvPr/>
          </p:nvSpPr>
          <p:spPr bwMode="auto">
            <a:xfrm>
              <a:off x="655" y="3674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94"/>
            <p:cNvSpPr>
              <a:spLocks noChangeShapeType="1"/>
            </p:cNvSpPr>
            <p:nvPr/>
          </p:nvSpPr>
          <p:spPr bwMode="auto">
            <a:xfrm>
              <a:off x="655" y="3865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95"/>
            <p:cNvSpPr>
              <a:spLocks noChangeShapeType="1"/>
            </p:cNvSpPr>
            <p:nvPr/>
          </p:nvSpPr>
          <p:spPr bwMode="auto">
            <a:xfrm>
              <a:off x="655" y="4056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Line 96"/>
            <p:cNvSpPr>
              <a:spLocks noChangeShapeType="1"/>
            </p:cNvSpPr>
            <p:nvPr/>
          </p:nvSpPr>
          <p:spPr bwMode="auto">
            <a:xfrm>
              <a:off x="655" y="4247"/>
              <a:ext cx="481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Line 97"/>
            <p:cNvSpPr>
              <a:spLocks noChangeShapeType="1"/>
            </p:cNvSpPr>
            <p:nvPr/>
          </p:nvSpPr>
          <p:spPr bwMode="auto">
            <a:xfrm>
              <a:off x="655" y="1382"/>
              <a:ext cx="0" cy="286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Line 98"/>
            <p:cNvSpPr>
              <a:spLocks noChangeShapeType="1"/>
            </p:cNvSpPr>
            <p:nvPr/>
          </p:nvSpPr>
          <p:spPr bwMode="auto">
            <a:xfrm>
              <a:off x="1580" y="1382"/>
              <a:ext cx="0" cy="286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Line 99"/>
            <p:cNvSpPr>
              <a:spLocks noChangeShapeType="1"/>
            </p:cNvSpPr>
            <p:nvPr/>
          </p:nvSpPr>
          <p:spPr bwMode="auto">
            <a:xfrm>
              <a:off x="2501" y="1382"/>
              <a:ext cx="0" cy="286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Line 100"/>
            <p:cNvSpPr>
              <a:spLocks noChangeShapeType="1"/>
            </p:cNvSpPr>
            <p:nvPr/>
          </p:nvSpPr>
          <p:spPr bwMode="auto">
            <a:xfrm>
              <a:off x="3428" y="1382"/>
              <a:ext cx="0" cy="286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Line 101"/>
            <p:cNvSpPr>
              <a:spLocks noChangeShapeType="1"/>
            </p:cNvSpPr>
            <p:nvPr/>
          </p:nvSpPr>
          <p:spPr bwMode="auto">
            <a:xfrm>
              <a:off x="4350" y="1382"/>
              <a:ext cx="0" cy="286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Line 102"/>
            <p:cNvSpPr>
              <a:spLocks noChangeShapeType="1"/>
            </p:cNvSpPr>
            <p:nvPr/>
          </p:nvSpPr>
          <p:spPr bwMode="auto">
            <a:xfrm>
              <a:off x="5472" y="2719"/>
              <a:ext cx="0" cy="19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Line 103"/>
            <p:cNvSpPr>
              <a:spLocks noChangeShapeType="1"/>
            </p:cNvSpPr>
            <p:nvPr/>
          </p:nvSpPr>
          <p:spPr bwMode="auto">
            <a:xfrm>
              <a:off x="5472" y="1382"/>
              <a:ext cx="0" cy="13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Line 104"/>
            <p:cNvSpPr>
              <a:spLocks noChangeShapeType="1"/>
            </p:cNvSpPr>
            <p:nvPr/>
          </p:nvSpPr>
          <p:spPr bwMode="auto">
            <a:xfrm>
              <a:off x="5472" y="2910"/>
              <a:ext cx="0" cy="13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69888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" y="1085850"/>
            <a:ext cx="6457950" cy="521494"/>
          </a:xfrm>
        </p:spPr>
        <p:txBody>
          <a:bodyPr vert="horz" lIns="69056" tIns="34529" rIns="69056" bIns="34529" rtlCol="0" anchor="b" anchorCtr="0"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Naïve Bayesian Classification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400050" y="1943101"/>
            <a:ext cx="5657850" cy="3716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2100" b="1" dirty="0">
                <a:solidFill>
                  <a:srgbClr val="000066"/>
                </a:solidFill>
              </a:rPr>
              <a:t>Example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</a:rPr>
              <a:t>A= (&lt;=30,MEDIUM, Y,FAIR, ???)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We need to max.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</a:t>
            </a:r>
            <a:r>
              <a:rPr lang="en-US" altLang="en-US" sz="1800" dirty="0" err="1">
                <a:solidFill>
                  <a:srgbClr val="000000"/>
                </a:solidFill>
              </a:rPr>
              <a:t>A|C</a:t>
            </a:r>
            <a:r>
              <a:rPr lang="en-US" altLang="en-US" sz="1800" baseline="-25000" dirty="0" err="1">
                <a:solidFill>
                  <a:srgbClr val="000000"/>
                </a:solidFill>
              </a:rPr>
              <a:t>j</a:t>
            </a:r>
            <a:r>
              <a:rPr lang="en-US" altLang="en-US" sz="1800" dirty="0">
                <a:solidFill>
                  <a:srgbClr val="000000"/>
                </a:solidFill>
              </a:rPr>
              <a:t>)P(</a:t>
            </a:r>
            <a:r>
              <a:rPr lang="en-US" altLang="en-US" sz="1800" dirty="0" err="1">
                <a:solidFill>
                  <a:srgbClr val="000000"/>
                </a:solidFill>
              </a:rPr>
              <a:t>C</a:t>
            </a:r>
            <a:r>
              <a:rPr lang="en-US" altLang="en-US" sz="1800" baseline="-25000" dirty="0" err="1">
                <a:solidFill>
                  <a:srgbClr val="000000"/>
                </a:solidFill>
              </a:rPr>
              <a:t>j</a:t>
            </a:r>
            <a:r>
              <a:rPr lang="en-US" altLang="en-US" sz="1800" dirty="0">
                <a:solidFill>
                  <a:srgbClr val="000000"/>
                </a:solidFill>
              </a:rPr>
              <a:t>)  for j =1,2.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</a:t>
            </a:r>
            <a:r>
              <a:rPr lang="en-US" altLang="en-US" sz="1800" dirty="0" err="1">
                <a:solidFill>
                  <a:srgbClr val="000000"/>
                </a:solidFill>
              </a:rPr>
              <a:t>C</a:t>
            </a:r>
            <a:r>
              <a:rPr lang="en-US" altLang="en-US" sz="1800" baseline="-25000" dirty="0" err="1">
                <a:solidFill>
                  <a:srgbClr val="000000"/>
                </a:solidFill>
              </a:rPr>
              <a:t>j</a:t>
            </a:r>
            <a:r>
              <a:rPr lang="en-US" altLang="en-US" sz="1800" dirty="0">
                <a:solidFill>
                  <a:srgbClr val="000000"/>
                </a:solidFill>
              </a:rPr>
              <a:t>) is computed from training sample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=Y) = 9/14 = 0.643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=N) = 5/14 = 0.357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How to calculate P(</a:t>
            </a:r>
            <a:r>
              <a:rPr lang="en-US" altLang="en-US" sz="1800" dirty="0" err="1">
                <a:solidFill>
                  <a:srgbClr val="000000"/>
                </a:solidFill>
              </a:rPr>
              <a:t>X|C</a:t>
            </a:r>
            <a:r>
              <a:rPr lang="en-US" altLang="en-US" sz="1800" baseline="-25000" dirty="0" err="1">
                <a:solidFill>
                  <a:srgbClr val="000000"/>
                </a:solidFill>
              </a:rPr>
              <a:t>i</a:t>
            </a:r>
            <a:r>
              <a:rPr lang="en-US" altLang="en-US" sz="1800" dirty="0">
                <a:solidFill>
                  <a:srgbClr val="000000"/>
                </a:solidFill>
              </a:rPr>
              <a:t>)P(C</a:t>
            </a:r>
            <a:r>
              <a:rPr lang="en-US" altLang="en-US" sz="1800" baseline="-25000" dirty="0">
                <a:solidFill>
                  <a:srgbClr val="000000"/>
                </a:solidFill>
              </a:rPr>
              <a:t>i</a:t>
            </a:r>
            <a:r>
              <a:rPr lang="en-US" altLang="en-US" sz="1800" dirty="0">
                <a:solidFill>
                  <a:srgbClr val="000000"/>
                </a:solidFill>
              </a:rPr>
              <a:t>)  for </a:t>
            </a:r>
            <a:r>
              <a:rPr lang="en-US" altLang="en-US" sz="1800" dirty="0" err="1">
                <a:solidFill>
                  <a:srgbClr val="000000"/>
                </a:solidFill>
              </a:rPr>
              <a:t>i</a:t>
            </a:r>
            <a:r>
              <a:rPr lang="en-US" altLang="en-US" sz="1800" dirty="0">
                <a:solidFill>
                  <a:srgbClr val="000000"/>
                </a:solidFill>
              </a:rPr>
              <a:t>=1,2?</a:t>
            </a:r>
          </a:p>
          <a:p>
            <a:pPr algn="ctr"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</a:t>
            </a:r>
            <a:r>
              <a:rPr lang="en-US" altLang="en-US" sz="1800" dirty="0" err="1">
                <a:solidFill>
                  <a:srgbClr val="000000"/>
                </a:solidFill>
              </a:rPr>
              <a:t>A|C</a:t>
            </a:r>
            <a:r>
              <a:rPr lang="en-US" altLang="en-US" sz="1800" baseline="-25000" dirty="0" err="1">
                <a:solidFill>
                  <a:srgbClr val="000000"/>
                </a:solidFill>
              </a:rPr>
              <a:t>j</a:t>
            </a:r>
            <a:r>
              <a:rPr lang="en-US" altLang="en-US" sz="1800" dirty="0">
                <a:solidFill>
                  <a:srgbClr val="000000"/>
                </a:solidFill>
              </a:rPr>
              <a:t>) P(A</a:t>
            </a:r>
            <a:r>
              <a:rPr lang="en-US" altLang="en-US" sz="1800" baseline="-25000" dirty="0">
                <a:solidFill>
                  <a:srgbClr val="000000"/>
                </a:solidFill>
              </a:rPr>
              <a:t>1</a:t>
            </a:r>
            <a:r>
              <a:rPr lang="en-US" altLang="en-US" sz="1800" dirty="0">
                <a:solidFill>
                  <a:srgbClr val="000000"/>
                </a:solidFill>
              </a:rPr>
              <a:t>, A</a:t>
            </a:r>
            <a:r>
              <a:rPr lang="en-US" altLang="en-US" sz="1800" baseline="-25000" dirty="0">
                <a:solidFill>
                  <a:srgbClr val="000000"/>
                </a:solidFill>
              </a:rPr>
              <a:t>2</a:t>
            </a:r>
            <a:r>
              <a:rPr lang="en-US" altLang="en-US" sz="1800" dirty="0">
                <a:solidFill>
                  <a:srgbClr val="000000"/>
                </a:solidFill>
              </a:rPr>
              <a:t>, A</a:t>
            </a:r>
            <a:r>
              <a:rPr lang="en-US" altLang="en-US" sz="1800" baseline="-25000" dirty="0">
                <a:solidFill>
                  <a:srgbClr val="000000"/>
                </a:solidFill>
              </a:rPr>
              <a:t>3</a:t>
            </a:r>
            <a:r>
              <a:rPr lang="en-US" altLang="en-US" sz="1800" dirty="0">
                <a:solidFill>
                  <a:srgbClr val="000000"/>
                </a:solidFill>
              </a:rPr>
              <a:t>, A</a:t>
            </a:r>
            <a:r>
              <a:rPr lang="en-US" altLang="en-US" sz="1800" baseline="-25000" dirty="0">
                <a:solidFill>
                  <a:srgbClr val="000000"/>
                </a:solidFill>
              </a:rPr>
              <a:t>4</a:t>
            </a:r>
            <a:r>
              <a:rPr lang="en-US" altLang="en-US" sz="1800" dirty="0">
                <a:solidFill>
                  <a:srgbClr val="000000"/>
                </a:solidFill>
              </a:rPr>
              <a:t>|C) = </a:t>
            </a:r>
            <a:r>
              <a:rPr lang="en-US" altLang="en-US" sz="1800" dirty="0">
                <a:solidFill>
                  <a:srgbClr val="000000"/>
                </a:solidFill>
                <a:latin typeface="Symbol" panose="05050102010706020507" pitchFamily="18" charset="2"/>
              </a:rPr>
              <a:t>P</a:t>
            </a:r>
            <a:r>
              <a:rPr lang="en-US" altLang="en-US" sz="1800" dirty="0">
                <a:solidFill>
                  <a:srgbClr val="000000"/>
                </a:solidFill>
              </a:rPr>
              <a:t>P(</a:t>
            </a:r>
            <a:r>
              <a:rPr lang="en-US" altLang="en-US" sz="1800" dirty="0" err="1">
                <a:solidFill>
                  <a:srgbClr val="000000"/>
                </a:solidFill>
              </a:rPr>
              <a:t>A</a:t>
            </a:r>
            <a:r>
              <a:rPr lang="en-US" altLang="en-US" sz="1800" baseline="-25000" dirty="0" err="1">
                <a:solidFill>
                  <a:srgbClr val="000000"/>
                </a:solidFill>
              </a:rPr>
              <a:t>k</a:t>
            </a:r>
            <a:r>
              <a:rPr lang="en-US" altLang="en-US" sz="1800" dirty="0" err="1">
                <a:solidFill>
                  <a:srgbClr val="000000"/>
                </a:solidFill>
              </a:rPr>
              <a:t>|C</a:t>
            </a:r>
            <a:r>
              <a:rPr lang="en-US" altLang="en-US" sz="1800" dirty="0">
                <a:solidFill>
                  <a:srgbClr val="000000"/>
                </a:solidFill>
              </a:rPr>
              <a:t>)</a:t>
            </a:r>
            <a:endParaRPr lang="en-US" altLang="en-US" sz="1800" dirty="0">
              <a:solidFill>
                <a:schemeClr val="folHlink"/>
              </a:solidFill>
            </a:endParaRPr>
          </a:p>
          <a:p>
            <a:pPr eaLnBrk="1" hangingPunct="1">
              <a:buClrTx/>
              <a:buSzTx/>
              <a:buFontTx/>
              <a:buNone/>
            </a:pPr>
            <a:endParaRPr lang="en-US" altLang="en-US" sz="1800" dirty="0">
              <a:solidFill>
                <a:schemeClr val="folHlink"/>
              </a:solidFill>
            </a:endParaRPr>
          </a:p>
          <a:p>
            <a:pPr eaLnBrk="1" hangingPunct="1">
              <a:buClrTx/>
              <a:buSzTx/>
              <a:buFontTx/>
              <a:buNone/>
            </a:pPr>
            <a:endParaRPr lang="en-US" altLang="en-US" sz="1800" dirty="0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2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028700"/>
            <a:ext cx="6457950" cy="578644"/>
          </a:xfrm>
        </p:spPr>
        <p:txBody>
          <a:bodyPr vert="horz" lIns="69056" tIns="34529" rIns="69056" bIns="34529" rtlCol="0" anchor="b" anchorCtr="0">
            <a:normAutofit/>
          </a:bodyPr>
          <a:lstStyle/>
          <a:p>
            <a:pPr eaLnBrk="1" hangingPunct="1">
              <a:defRPr/>
            </a:pPr>
            <a:r>
              <a:rPr lang="en-US" smtClean="0"/>
              <a:t>Naïve Bayesian Classification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85750" y="2057400"/>
            <a:ext cx="6572250" cy="3384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2100" b="1" dirty="0">
                <a:solidFill>
                  <a:srgbClr val="000066"/>
                </a:solidFill>
              </a:rPr>
              <a:t>Example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P(age</a:t>
            </a:r>
            <a:r>
              <a:rPr lang="en-US" altLang="en-US" sz="1800" b="1" dirty="0">
                <a:solidFill>
                  <a:srgbClr val="000000"/>
                </a:solidFill>
              </a:rPr>
              <a:t>&lt;=30</a:t>
            </a:r>
            <a:r>
              <a:rPr lang="en-US" altLang="en-US" sz="1800" dirty="0">
                <a:solidFill>
                  <a:srgbClr val="000000"/>
                </a:solidFill>
              </a:rPr>
              <a:t> 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Y</a:t>
            </a:r>
            <a:r>
              <a:rPr lang="en-US" altLang="en-US" sz="1800" dirty="0">
                <a:solidFill>
                  <a:srgbClr val="000000"/>
                </a:solidFill>
              </a:rPr>
              <a:t>)=2/9=0.222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P(age</a:t>
            </a:r>
            <a:r>
              <a:rPr lang="en-US" altLang="en-US" sz="1800" b="1" dirty="0">
                <a:solidFill>
                  <a:srgbClr val="000000"/>
                </a:solidFill>
              </a:rPr>
              <a:t>&lt;=30</a:t>
            </a:r>
            <a:r>
              <a:rPr lang="en-US" altLang="en-US" sz="1800" dirty="0">
                <a:solidFill>
                  <a:srgbClr val="000000"/>
                </a:solidFill>
              </a:rPr>
              <a:t> 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N</a:t>
            </a:r>
            <a:r>
              <a:rPr lang="en-US" altLang="en-US" sz="1800" dirty="0">
                <a:solidFill>
                  <a:srgbClr val="000000"/>
                </a:solidFill>
              </a:rPr>
              <a:t>)=3/5=0.600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P(income=</a:t>
            </a:r>
            <a:r>
              <a:rPr lang="en-US" altLang="en-US" sz="1800" b="1" dirty="0">
                <a:solidFill>
                  <a:srgbClr val="000000"/>
                </a:solidFill>
              </a:rPr>
              <a:t>medium</a:t>
            </a:r>
            <a:r>
              <a:rPr lang="en-US" altLang="en-US" sz="1800" dirty="0">
                <a:solidFill>
                  <a:srgbClr val="000000"/>
                </a:solidFill>
              </a:rPr>
              <a:t> 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Y</a:t>
            </a:r>
            <a:r>
              <a:rPr lang="en-US" altLang="en-US" sz="1800" dirty="0">
                <a:solidFill>
                  <a:srgbClr val="000000"/>
                </a:solidFill>
              </a:rPr>
              <a:t>)=4/9=0.444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P(income=</a:t>
            </a:r>
            <a:r>
              <a:rPr lang="en-US" altLang="en-US" sz="1800" b="1" dirty="0">
                <a:solidFill>
                  <a:srgbClr val="000000"/>
                </a:solidFill>
              </a:rPr>
              <a:t>medium</a:t>
            </a:r>
            <a:r>
              <a:rPr lang="en-US" altLang="en-US" sz="1800" dirty="0">
                <a:solidFill>
                  <a:srgbClr val="000000"/>
                </a:solidFill>
              </a:rPr>
              <a:t> 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N</a:t>
            </a:r>
            <a:r>
              <a:rPr lang="en-US" altLang="en-US" sz="1800" dirty="0">
                <a:solidFill>
                  <a:srgbClr val="000000"/>
                </a:solidFill>
              </a:rPr>
              <a:t>)=2/5=0.400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P(student=</a:t>
            </a:r>
            <a:r>
              <a:rPr lang="en-US" altLang="en-US" sz="1800" b="1" dirty="0">
                <a:solidFill>
                  <a:srgbClr val="000000"/>
                </a:solidFill>
              </a:rPr>
              <a:t>Y</a:t>
            </a:r>
            <a:r>
              <a:rPr lang="en-US" altLang="en-US" sz="1800" dirty="0">
                <a:solidFill>
                  <a:srgbClr val="000000"/>
                </a:solidFill>
              </a:rPr>
              <a:t> 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Y</a:t>
            </a:r>
            <a:r>
              <a:rPr lang="en-US" altLang="en-US" sz="1800" dirty="0">
                <a:solidFill>
                  <a:srgbClr val="000000"/>
                </a:solidFill>
              </a:rPr>
              <a:t>)=6/9=0.667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P(student=</a:t>
            </a:r>
            <a:r>
              <a:rPr lang="en-US" altLang="en-US" sz="1800" b="1" dirty="0">
                <a:solidFill>
                  <a:srgbClr val="000000"/>
                </a:solidFill>
              </a:rPr>
              <a:t>Y </a:t>
            </a:r>
            <a:r>
              <a:rPr lang="en-US" altLang="en-US" sz="1800" dirty="0">
                <a:solidFill>
                  <a:srgbClr val="000000"/>
                </a:solidFill>
              </a:rPr>
              <a:t>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N</a:t>
            </a:r>
            <a:r>
              <a:rPr lang="en-US" altLang="en-US" sz="1800" dirty="0">
                <a:solidFill>
                  <a:srgbClr val="000000"/>
                </a:solidFill>
              </a:rPr>
              <a:t>)=1/5=0.200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</a:t>
            </a:r>
            <a:r>
              <a:rPr lang="en-US" altLang="en-US" sz="1800" dirty="0" err="1">
                <a:solidFill>
                  <a:srgbClr val="000000"/>
                </a:solidFill>
              </a:rPr>
              <a:t>credit_rating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FAIR</a:t>
            </a:r>
            <a:r>
              <a:rPr lang="en-US" altLang="en-US" sz="1800" dirty="0">
                <a:solidFill>
                  <a:srgbClr val="000000"/>
                </a:solidFill>
              </a:rPr>
              <a:t> 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Y</a:t>
            </a:r>
            <a:r>
              <a:rPr lang="en-US" altLang="en-US" sz="1800" dirty="0">
                <a:solidFill>
                  <a:srgbClr val="000000"/>
                </a:solidFill>
              </a:rPr>
              <a:t>)=6/9=0.667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</a:t>
            </a:r>
            <a:r>
              <a:rPr lang="en-US" altLang="en-US" sz="1800" dirty="0" err="1">
                <a:solidFill>
                  <a:srgbClr val="000000"/>
                </a:solidFill>
              </a:rPr>
              <a:t>credit_rating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FAIR</a:t>
            </a:r>
            <a:r>
              <a:rPr lang="en-US" altLang="en-US" sz="1800" dirty="0">
                <a:solidFill>
                  <a:srgbClr val="000000"/>
                </a:solidFill>
              </a:rPr>
              <a:t> 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N</a:t>
            </a:r>
            <a:r>
              <a:rPr lang="en-US" altLang="en-US" sz="1800" dirty="0">
                <a:solidFill>
                  <a:srgbClr val="000000"/>
                </a:solidFill>
              </a:rPr>
              <a:t>)=2/5=0.400</a:t>
            </a:r>
          </a:p>
          <a:p>
            <a:pPr eaLnBrk="1" hangingPunct="1">
              <a:buClrTx/>
              <a:buSzTx/>
              <a:buFontTx/>
              <a:buNone/>
            </a:pPr>
            <a:endParaRPr lang="en-US" altLang="en-US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96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85850"/>
            <a:ext cx="6515100" cy="578644"/>
          </a:xfrm>
        </p:spPr>
        <p:txBody>
          <a:bodyPr vert="horz" lIns="69056" tIns="34529" rIns="69056" bIns="34529" rtlCol="0" anchor="b" anchorCtr="0">
            <a:normAutofit/>
          </a:bodyPr>
          <a:lstStyle/>
          <a:p>
            <a:pPr eaLnBrk="1" hangingPunct="1">
              <a:defRPr/>
            </a:pPr>
            <a:r>
              <a:rPr lang="en-US" smtClean="0"/>
              <a:t>Naïve Bayesian Classification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14300" y="2228851"/>
            <a:ext cx="6743700" cy="2719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2100" b="1" dirty="0">
                <a:solidFill>
                  <a:srgbClr val="000066"/>
                </a:solidFill>
              </a:rPr>
              <a:t>Example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P(X 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Y</a:t>
            </a:r>
            <a:r>
              <a:rPr lang="en-US" altLang="en-US" sz="1800" dirty="0">
                <a:solidFill>
                  <a:srgbClr val="000000"/>
                </a:solidFill>
              </a:rPr>
              <a:t>)=0.222*0.444*0.667*0.667=0.044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P(X 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N</a:t>
            </a:r>
            <a:r>
              <a:rPr lang="en-US" altLang="en-US" sz="1800" dirty="0">
                <a:solidFill>
                  <a:srgbClr val="000000"/>
                </a:solidFill>
              </a:rPr>
              <a:t>)=0.600*0.400*0.200*0.400=0.019</a:t>
            </a:r>
          </a:p>
          <a:p>
            <a:pPr eaLnBrk="1" hangingPunct="1">
              <a:buClrTx/>
              <a:buSzTx/>
              <a:buFontTx/>
              <a:buNone/>
            </a:pPr>
            <a:endParaRPr lang="en-US" altLang="en-US" sz="1800" dirty="0">
              <a:solidFill>
                <a:srgbClr val="000000"/>
              </a:solidFill>
            </a:endParaRP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P(X 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=Y)P(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=Y) = 0.044*0.643=0.028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P(X 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=N)P(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=N) = 0.019*0.357=0.007</a:t>
            </a:r>
          </a:p>
          <a:p>
            <a:pPr eaLnBrk="1" hangingPunct="1">
              <a:buClrTx/>
              <a:buSzTx/>
              <a:buFontTx/>
              <a:buNone/>
            </a:pPr>
            <a:endParaRPr lang="en-US" altLang="en-US" sz="1800" dirty="0">
              <a:solidFill>
                <a:srgbClr val="000000"/>
              </a:solidFill>
            </a:endParaRP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CONCLUSION: </a:t>
            </a:r>
            <a:r>
              <a:rPr lang="en-US" altLang="en-US" sz="1800" b="1" i="1" dirty="0">
                <a:solidFill>
                  <a:srgbClr val="FF3300"/>
                </a:solidFill>
              </a:rPr>
              <a:t>A buys computer</a:t>
            </a:r>
          </a:p>
        </p:txBody>
      </p:sp>
    </p:spTree>
    <p:extLst>
      <p:ext uri="{BB962C8B-B14F-4D97-AF65-F5344CB8AC3E}">
        <p14:creationId xmlns:p14="http://schemas.microsoft.com/office/powerpoint/2010/main" val="3874821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334962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Probability of Error </a:t>
            </a:r>
            <a:r>
              <a:rPr lang="en-US" dirty="0" smtClean="0"/>
              <a:t> - Bayes Error Rate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1" y="838200"/>
            <a:ext cx="6705600" cy="466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582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334962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Probability of Error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066800"/>
            <a:ext cx="8763000" cy="467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4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857251"/>
            <a:ext cx="6172200" cy="854869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Naïve Bayes (Summary)</a:t>
            </a:r>
          </a:p>
        </p:txBody>
      </p:sp>
      <p:sp>
        <p:nvSpPr>
          <p:cNvPr id="343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0100" y="1609725"/>
            <a:ext cx="7210425" cy="416242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Robust to isolated noise points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Handle missing values by ignoring the instance during probability estimate calculations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Robust to irrelevant attributes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Independence assumption may not hold for some attributes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Use other techniques such as Bayesian Belief Networks (BBN)</a:t>
            </a:r>
          </a:p>
        </p:txBody>
      </p:sp>
    </p:spTree>
    <p:extLst>
      <p:ext uri="{BB962C8B-B14F-4D97-AF65-F5344CB8AC3E}">
        <p14:creationId xmlns:p14="http://schemas.microsoft.com/office/powerpoint/2010/main" val="15725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5400" b="1" smtClean="0"/>
              <a:t>Ensemble Classifiers</a:t>
            </a:r>
          </a:p>
        </p:txBody>
      </p:sp>
    </p:spTree>
    <p:extLst>
      <p:ext uri="{BB962C8B-B14F-4D97-AF65-F5344CB8AC3E}">
        <p14:creationId xmlns:p14="http://schemas.microsoft.com/office/powerpoint/2010/main" val="42330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tx2"/>
                </a:solidFill>
              </a:rPr>
              <a:t>Ensemble Classifiers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058150" cy="4729163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3600" dirty="0" smtClean="0">
                <a:solidFill>
                  <a:srgbClr val="000000"/>
                </a:solidFill>
              </a:rPr>
              <a:t>Introduction &amp; Motivation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600" dirty="0" smtClean="0">
                <a:solidFill>
                  <a:srgbClr val="000000"/>
                </a:solidFill>
              </a:rPr>
              <a:t>Methods to create Ensemble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600" dirty="0" err="1" smtClean="0">
                <a:solidFill>
                  <a:srgbClr val="000000"/>
                </a:solidFill>
              </a:rPr>
              <a:t>Bais</a:t>
            </a:r>
            <a:r>
              <a:rPr lang="en-US" altLang="en-US" sz="3600" dirty="0" smtClean="0">
                <a:solidFill>
                  <a:srgbClr val="000000"/>
                </a:solidFill>
              </a:rPr>
              <a:t> Variance Decomposition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600" dirty="0" smtClean="0">
                <a:solidFill>
                  <a:srgbClr val="000000"/>
                </a:solidFill>
              </a:rPr>
              <a:t>Construction of Ensemble Classifiers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3200" dirty="0" smtClean="0">
                <a:solidFill>
                  <a:srgbClr val="000000"/>
                </a:solidFill>
              </a:rPr>
              <a:t>Bagging</a:t>
            </a:r>
          </a:p>
          <a:p>
            <a:pPr lvl="1">
              <a:spcBef>
                <a:spcPct val="0"/>
              </a:spcBef>
            </a:pPr>
            <a:r>
              <a:rPr lang="en-US" altLang="en-US" sz="3200" dirty="0">
                <a:solidFill>
                  <a:srgbClr val="000000"/>
                </a:solidFill>
              </a:rPr>
              <a:t>Boosting (Ada Boost)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3200" dirty="0" smtClean="0">
                <a:solidFill>
                  <a:srgbClr val="000000"/>
                </a:solidFill>
              </a:rPr>
              <a:t>Random Forests</a:t>
            </a:r>
          </a:p>
          <a:p>
            <a:pPr eaLnBrk="1" hangingPunct="1">
              <a:spcBef>
                <a:spcPct val="0"/>
              </a:spcBef>
            </a:pPr>
            <a:endParaRPr lang="en-US" altLang="en-US" sz="36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129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tx2"/>
                </a:solidFill>
              </a:rPr>
              <a:t>Introduction &amp; Motivation</a:t>
            </a:r>
            <a:endParaRPr lang="en-US" altLang="en-US" sz="4000" b="1" smtClean="0">
              <a:solidFill>
                <a:schemeClr val="tx2"/>
              </a:solidFill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19200"/>
            <a:ext cx="8153400" cy="5181600"/>
          </a:xfrm>
        </p:spPr>
        <p:txBody>
          <a:bodyPr rtlCol="0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dirty="0" smtClean="0">
                <a:solidFill>
                  <a:sysClr val="windowText" lastClr="000000"/>
                </a:solidFill>
              </a:rPr>
              <a:t>Suppose that you are a patient with a set of symptoms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dirty="0" smtClean="0">
                <a:solidFill>
                  <a:sysClr val="windowText" lastClr="000000"/>
                </a:solidFill>
              </a:rPr>
              <a:t>Instead of taking opinion of just one doctor (classifier), you decide to take opinion of a few doctors!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dirty="0" smtClean="0">
                <a:solidFill>
                  <a:sysClr val="windowText" lastClr="000000"/>
                </a:solidFill>
              </a:rPr>
              <a:t>Is this a good idea? Indeed it is.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dirty="0" smtClean="0">
                <a:solidFill>
                  <a:sysClr val="windowText" lastClr="000000"/>
                </a:solidFill>
              </a:rPr>
              <a:t>Consult many doctors and then based on their diagnosis; you can get a fairly accurate idea of the diagnosis.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dirty="0" smtClean="0">
                <a:solidFill>
                  <a:sysClr val="windowText" lastClr="000000"/>
                </a:solidFill>
              </a:rPr>
              <a:t>Majority voting -  ‘bagging’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dirty="0" smtClean="0">
                <a:solidFill>
                  <a:sysClr val="windowText" lastClr="000000"/>
                </a:solidFill>
              </a:rPr>
              <a:t>More weightage to the opinion of some ‘good’ (accurate) doctors - ‘boosting’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dirty="0" smtClean="0">
                <a:solidFill>
                  <a:sysClr val="windowText" lastClr="000000"/>
                </a:solidFill>
              </a:rPr>
              <a:t>In bagging, you give equal weightage to all classifiers, whereas in boosting you give weightage according to the accuracy of the classifier.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600" dirty="0" smtClea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188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tx2"/>
                </a:solidFill>
              </a:rPr>
              <a:t>Ensemble Methods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Construct a set of classifiers from the training data</a:t>
            </a:r>
          </a:p>
          <a:p>
            <a:pPr eaLnBrk="1" hangingPunct="1">
              <a:spcBef>
                <a:spcPct val="0"/>
              </a:spcBef>
            </a:pPr>
            <a:endParaRPr lang="en-US" altLang="en-US" sz="2800" dirty="0" smtClean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Predict class label of previously unseen records by aggregating predictions made by multiple classifiers</a:t>
            </a:r>
          </a:p>
        </p:txBody>
      </p:sp>
    </p:spTree>
    <p:extLst>
      <p:ext uri="{BB962C8B-B14F-4D97-AF65-F5344CB8AC3E}">
        <p14:creationId xmlns:p14="http://schemas.microsoft.com/office/powerpoint/2010/main" val="27654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tx2"/>
                </a:solidFill>
              </a:rPr>
              <a:t>General Idea</a:t>
            </a:r>
          </a:p>
        </p:txBody>
      </p:sp>
      <p:graphicFrame>
        <p:nvGraphicFramePr>
          <p:cNvPr id="1026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1219200" y="1447800"/>
          <a:ext cx="65913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51" name="Visio" r:id="rId4" imgW="9740951" imgH="7320219" progId="">
                  <p:embed/>
                </p:oleObj>
              </mc:Choice>
              <mc:Fallback>
                <p:oleObj name="Visio" r:id="rId4" imgW="9740951" imgH="732021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447800"/>
                        <a:ext cx="6591300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TextBox 3"/>
          <p:cNvSpPr txBox="1">
            <a:spLocks noChangeArrowheads="1"/>
          </p:cNvSpPr>
          <p:nvPr/>
        </p:nvSpPr>
        <p:spPr bwMode="auto">
          <a:xfrm>
            <a:off x="609600" y="6553200"/>
            <a:ext cx="7010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Figure taken from Tan et. al. book “Introduction to Data Mining”</a:t>
            </a:r>
          </a:p>
        </p:txBody>
      </p:sp>
    </p:spTree>
    <p:extLst>
      <p:ext uri="{BB962C8B-B14F-4D97-AF65-F5344CB8AC3E}">
        <p14:creationId xmlns:p14="http://schemas.microsoft.com/office/powerpoint/2010/main" val="1242372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96874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sz="4000" dirty="0"/>
              <a:t>Rationale for Ensemble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210550" cy="51863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Statistical </a:t>
            </a:r>
            <a:r>
              <a:rPr lang="en-US" sz="2800" dirty="0"/>
              <a:t>reasons</a:t>
            </a:r>
          </a:p>
          <a:p>
            <a:pPr marL="342900" lvl="1" indent="0">
              <a:buNone/>
            </a:pPr>
            <a:r>
              <a:rPr lang="en-US" sz="2400" dirty="0"/>
              <a:t>–A set of classifiers with similar training performances may have different generalization performances.</a:t>
            </a:r>
          </a:p>
          <a:p>
            <a:pPr marL="342900" lvl="1" indent="0">
              <a:buNone/>
            </a:pPr>
            <a:r>
              <a:rPr lang="en-US" sz="2400" dirty="0"/>
              <a:t>–Combining outputs of several classifiers </a:t>
            </a:r>
            <a:r>
              <a:rPr lang="en-US" sz="2400" i="1" dirty="0"/>
              <a:t>reduces the risk of selecting a poorly performing classifier</a:t>
            </a:r>
            <a:r>
              <a:rPr lang="en-US" sz="2400" dirty="0"/>
              <a:t>. </a:t>
            </a:r>
          </a:p>
          <a:p>
            <a:r>
              <a:rPr lang="en-US" sz="2800" dirty="0" smtClean="0"/>
              <a:t>Large </a:t>
            </a:r>
            <a:r>
              <a:rPr lang="en-US" sz="2800" dirty="0"/>
              <a:t>volumes of data</a:t>
            </a:r>
          </a:p>
          <a:p>
            <a:pPr marL="342900" lvl="1" indent="0">
              <a:buNone/>
            </a:pPr>
            <a:r>
              <a:rPr lang="en-US" sz="2400" dirty="0" smtClean="0"/>
              <a:t>–</a:t>
            </a:r>
            <a:r>
              <a:rPr lang="en-US" sz="2400" dirty="0"/>
              <a:t>If the amount of data to be analyzed is too large, a single classifier may not be able to handle it; train different classifiers on </a:t>
            </a:r>
            <a:r>
              <a:rPr lang="en-US" sz="2400" i="1" dirty="0"/>
              <a:t>different partitions of data</a:t>
            </a:r>
            <a:r>
              <a:rPr lang="en-US" sz="2400" dirty="0"/>
              <a:t>.</a:t>
            </a:r>
          </a:p>
          <a:p>
            <a:r>
              <a:rPr lang="en-US" sz="2800" dirty="0" smtClean="0"/>
              <a:t>Too </a:t>
            </a:r>
            <a:r>
              <a:rPr lang="en-US" sz="2800" dirty="0"/>
              <a:t>little data</a:t>
            </a:r>
          </a:p>
          <a:p>
            <a:pPr marL="342900" lvl="1" indent="0">
              <a:buNone/>
            </a:pPr>
            <a:r>
              <a:rPr lang="en-US" sz="2400" dirty="0"/>
              <a:t>–Ensemble systems can also be used when there is too little data; </a:t>
            </a:r>
            <a:r>
              <a:rPr lang="en-US" sz="2400" i="1" dirty="0"/>
              <a:t>resampling techniques</a:t>
            </a:r>
            <a:r>
              <a:rPr lang="en-US" sz="2400" dirty="0"/>
              <a:t>.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90994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96874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Rationale for Ensemble Methods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143000"/>
            <a:ext cx="78867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3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tx2"/>
                </a:solidFill>
              </a:rPr>
              <a:t>Why does it work?</a:t>
            </a:r>
          </a:p>
        </p:txBody>
      </p:sp>
      <p:graphicFrame>
        <p:nvGraphicFramePr>
          <p:cNvPr id="1098756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2514600" y="3278188"/>
          <a:ext cx="3657600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5" name="Equation" r:id="rId4" imgW="1638000" imgH="457200" progId="Equation.3">
                  <p:embed/>
                </p:oleObj>
              </mc:Choice>
              <mc:Fallback>
                <p:oleObj name="Equation" r:id="rId4" imgW="16380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278188"/>
                        <a:ext cx="3657600" cy="1020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1447800"/>
            <a:ext cx="8229600" cy="4525963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Suppose there are 25 base classifiers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Each classifier has error rate, </a:t>
            </a:r>
            <a:r>
              <a:rPr lang="en-US" altLang="en-US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</a:t>
            </a:r>
            <a:r>
              <a:rPr lang="en-US" altLang="en-US" sz="2400" dirty="0" smtClean="0">
                <a:solidFill>
                  <a:srgbClr val="000000"/>
                </a:solidFill>
              </a:rPr>
              <a:t> = 0.35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Assume classifiers are independent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Probability that the ensemble classifier makes a wrong prediction:</a:t>
            </a:r>
          </a:p>
          <a:p>
            <a:pPr lvl="1" eaLnBrk="1" hangingPunct="1">
              <a:spcBef>
                <a:spcPct val="0"/>
              </a:spcBef>
            </a:pPr>
            <a:endParaRPr lang="en-US" altLang="en-US" sz="2400" dirty="0" smtClean="0">
              <a:solidFill>
                <a:srgbClr val="000000"/>
              </a:solidFill>
            </a:endParaRPr>
          </a:p>
          <a:p>
            <a:pPr lvl="1" eaLnBrk="1" hangingPunct="1">
              <a:spcBef>
                <a:spcPct val="0"/>
              </a:spcBef>
            </a:pPr>
            <a:endParaRPr lang="en-US" altLang="en-US" sz="2400" dirty="0" smtClean="0">
              <a:solidFill>
                <a:srgbClr val="000000"/>
              </a:solidFill>
            </a:endParaRPr>
          </a:p>
          <a:p>
            <a:pPr lvl="1" eaLnBrk="1" hangingPunct="1">
              <a:spcBef>
                <a:spcPct val="0"/>
              </a:spcBef>
            </a:pPr>
            <a:endParaRPr lang="en-US" altLang="en-US" sz="2400" dirty="0" smtClean="0">
              <a:solidFill>
                <a:srgbClr val="000000"/>
              </a:solidFill>
            </a:endParaRPr>
          </a:p>
          <a:p>
            <a:pPr lvl="1" eaLnBrk="1" hangingPunct="1">
              <a:spcBef>
                <a:spcPct val="0"/>
              </a:spcBef>
            </a:pPr>
            <a:endParaRPr lang="en-US" altLang="en-US" sz="2400" dirty="0" smtClean="0">
              <a:solidFill>
                <a:srgbClr val="000000"/>
              </a:solidFill>
            </a:endParaRPr>
          </a:p>
          <a:p>
            <a:pPr lvl="1" eaLnBrk="1" hangingPunct="1"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CHK out yourself if it is correct!!</a:t>
            </a:r>
          </a:p>
        </p:txBody>
      </p:sp>
      <p:sp>
        <p:nvSpPr>
          <p:cNvPr id="2053" name="TextBox 4"/>
          <p:cNvSpPr txBox="1">
            <a:spLocks noChangeArrowheads="1"/>
          </p:cNvSpPr>
          <p:nvPr/>
        </p:nvSpPr>
        <p:spPr bwMode="auto">
          <a:xfrm>
            <a:off x="609600" y="6172200"/>
            <a:ext cx="7010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Example  taken from Tan et. al. book “Introduction to Data Mining”</a:t>
            </a:r>
          </a:p>
        </p:txBody>
      </p:sp>
    </p:spTree>
    <p:extLst>
      <p:ext uri="{BB962C8B-B14F-4D97-AF65-F5344CB8AC3E}">
        <p14:creationId xmlns:p14="http://schemas.microsoft.com/office/powerpoint/2010/main" val="19803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98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838201"/>
            <a:ext cx="7856537" cy="475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491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tx2"/>
                </a:solidFill>
              </a:rPr>
              <a:t>Ensemble Classifiers (EC)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058150" cy="4805363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An ensemble classifier constructs a set of ‘base classifiers’ from the training data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Methods for constructing an EC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000000"/>
                </a:solidFill>
              </a:rPr>
              <a:t>Manipulating training set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000000"/>
                </a:solidFill>
              </a:rPr>
              <a:t>Manipulating input features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000000"/>
                </a:solidFill>
              </a:rPr>
              <a:t>Manipulating class labels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000000"/>
                </a:solidFill>
              </a:rPr>
              <a:t>Manipulating learning algorithms</a:t>
            </a:r>
          </a:p>
        </p:txBody>
      </p:sp>
    </p:spTree>
    <p:extLst>
      <p:ext uri="{BB962C8B-B14F-4D97-AF65-F5344CB8AC3E}">
        <p14:creationId xmlns:p14="http://schemas.microsoft.com/office/powerpoint/2010/main" val="1876577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tx2"/>
                </a:solidFill>
              </a:rPr>
              <a:t>Ensemble Classifiers (EC)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95400"/>
            <a:ext cx="8686800" cy="4830763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Manipulating training set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000000"/>
                </a:solidFill>
              </a:rPr>
              <a:t>Multiple training sets are created by resampling the data according to some sampling distribution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000000"/>
                </a:solidFill>
              </a:rPr>
              <a:t>Sampling distribution determines how likely it is that an example will be selected for training – may vary from one trial to another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000000"/>
                </a:solidFill>
              </a:rPr>
              <a:t>Classifier is built from each training set using a particular learning algorithm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000000"/>
                </a:solidFill>
              </a:rPr>
              <a:t>Examples: Bagging &amp; Boosting</a:t>
            </a:r>
          </a:p>
        </p:txBody>
      </p:sp>
    </p:spTree>
    <p:extLst>
      <p:ext uri="{BB962C8B-B14F-4D97-AF65-F5344CB8AC3E}">
        <p14:creationId xmlns:p14="http://schemas.microsoft.com/office/powerpoint/2010/main" val="4132955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tx2"/>
                </a:solidFill>
              </a:rPr>
              <a:t>Ensemble Classifiers (EC)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Manipulating input features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000000"/>
                </a:solidFill>
              </a:rPr>
              <a:t>Subset of input features chosen to form each training set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000000"/>
                </a:solidFill>
              </a:rPr>
              <a:t>Subset can be chosen randomly or based on inputs given by Domain Experts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000000"/>
                </a:solidFill>
              </a:rPr>
              <a:t>Good for data that has redundant features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000000"/>
                </a:solidFill>
              </a:rPr>
              <a:t>Random Forest is an example which uses DT as its base classifiers</a:t>
            </a:r>
          </a:p>
        </p:txBody>
      </p:sp>
    </p:spTree>
    <p:extLst>
      <p:ext uri="{BB962C8B-B14F-4D97-AF65-F5344CB8AC3E}">
        <p14:creationId xmlns:p14="http://schemas.microsoft.com/office/powerpoint/2010/main" val="629826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tx2"/>
                </a:solidFill>
              </a:rPr>
              <a:t>Ensemble Classifiers (EC)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Manipulating class labels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000000"/>
                </a:solidFill>
              </a:rPr>
              <a:t>When no. of classes is sufficiently large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000000"/>
                </a:solidFill>
              </a:rPr>
              <a:t>Training data is transformed into a binary class problem by randomly partitioning the class labels into 2 disjoint subsets, A0 &amp; A1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000000"/>
                </a:solidFill>
              </a:rPr>
              <a:t>Re-labelled examples are used to train a base classifier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000000"/>
                </a:solidFill>
              </a:rPr>
              <a:t>By repeating the class labeling and model building steps several times, and ensemble of base classifiers is obtained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000000"/>
                </a:solidFill>
              </a:rPr>
              <a:t>How a new tuple is classified?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000000"/>
                </a:solidFill>
              </a:rPr>
              <a:t>Example – error correcting output coding (pp 307)</a:t>
            </a:r>
          </a:p>
        </p:txBody>
      </p:sp>
    </p:spTree>
    <p:extLst>
      <p:ext uri="{BB962C8B-B14F-4D97-AF65-F5344CB8AC3E}">
        <p14:creationId xmlns:p14="http://schemas.microsoft.com/office/powerpoint/2010/main" val="1587859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tx2"/>
                </a:solidFill>
              </a:rPr>
              <a:t>Ensemble Classifiers (EC)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Manipulating learning algorithm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000000"/>
                </a:solidFill>
              </a:rPr>
              <a:t>Learning algorithms can be manipulated in such a way that applying the algorithm several times on the same training data may result in different models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000000"/>
                </a:solidFill>
              </a:rPr>
              <a:t>Example – ANN can produce different  models by changing network topology or the initial weights of links between neurons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000000"/>
                </a:solidFill>
              </a:rPr>
              <a:t>Example – ensemble of DTs can be constructed by introducing randomness into the tree growing procedure – instead of choosing the best split attribute at each node, we randomly choose one of the top k attributes</a:t>
            </a:r>
          </a:p>
        </p:txBody>
      </p:sp>
    </p:spTree>
    <p:extLst>
      <p:ext uri="{BB962C8B-B14F-4D97-AF65-F5344CB8AC3E}">
        <p14:creationId xmlns:p14="http://schemas.microsoft.com/office/powerpoint/2010/main" val="374639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tx2"/>
                </a:solidFill>
              </a:rPr>
              <a:t>Ensemble Classifiers (EC)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First 3 approaches are generic – can be applied to any classifier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Fourth approach depends on the type of classifier used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Base classifiers can be generated sequentially or in parallel</a:t>
            </a:r>
          </a:p>
        </p:txBody>
      </p:sp>
    </p:spTree>
    <p:extLst>
      <p:ext uri="{BB962C8B-B14F-4D97-AF65-F5344CB8AC3E}">
        <p14:creationId xmlns:p14="http://schemas.microsoft.com/office/powerpoint/2010/main" val="392888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Typical Ensemble Procedure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218" y="1371600"/>
            <a:ext cx="7971132" cy="460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62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tx2"/>
                </a:solidFill>
              </a:rPr>
              <a:t>Ensemble Classifiers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8382000" cy="4525963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Ensemble methods work better with ‘unstable classifiers’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Classifiers that are sensitive to minor perturbations in the training set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Examples: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Decision trees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Rule-based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Artificial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58955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Bias-Variance Decomposition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5257800"/>
            <a:ext cx="7034626" cy="89226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7" y="1966912"/>
            <a:ext cx="812482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261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25474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Bias Vs Variance</a:t>
            </a:r>
          </a:p>
        </p:txBody>
      </p:sp>
      <p:pic>
        <p:nvPicPr>
          <p:cNvPr id="4813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3000"/>
            <a:ext cx="83058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1428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20674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Bias: Example</a:t>
            </a:r>
          </a:p>
        </p:txBody>
      </p:sp>
      <p:pic>
        <p:nvPicPr>
          <p:cNvPr id="4915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4363" y="990601"/>
            <a:ext cx="7915275" cy="5334000"/>
          </a:xfrm>
        </p:spPr>
      </p:pic>
    </p:spTree>
    <p:extLst>
      <p:ext uri="{BB962C8B-B14F-4D97-AF65-F5344CB8AC3E}">
        <p14:creationId xmlns:p14="http://schemas.microsoft.com/office/powerpoint/2010/main" val="29078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543800" cy="874713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tx2"/>
                </a:solidFill>
              </a:rPr>
              <a:t>Examples of Ensemble Methods</a:t>
            </a:r>
          </a:p>
        </p:txBody>
      </p:sp>
      <p:sp>
        <p:nvSpPr>
          <p:cNvPr id="26626" name="Rectangle 1027"/>
          <p:cNvSpPr>
            <a:spLocks noGrp="1" noChangeArrowheads="1"/>
          </p:cNvSpPr>
          <p:nvPr>
            <p:ph idx="1"/>
          </p:nvPr>
        </p:nvSpPr>
        <p:spPr>
          <a:xfrm>
            <a:off x="628650" y="1219200"/>
            <a:ext cx="7886700" cy="4957763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3200" dirty="0" smtClean="0">
                <a:solidFill>
                  <a:srgbClr val="000000"/>
                </a:solidFill>
              </a:rPr>
              <a:t>How to generate an ensemble of classifiers?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Bagging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Boosting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Random Forests</a:t>
            </a:r>
          </a:p>
          <a:p>
            <a:pPr eaLnBrk="1" hangingPunct="1">
              <a:spcBef>
                <a:spcPct val="0"/>
              </a:spcBef>
              <a:buFont typeface="Monotype Sorts"/>
              <a:buNone/>
            </a:pPr>
            <a:endParaRPr lang="en-US" altLang="en-US" sz="32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834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b="1" dirty="0" smtClean="0">
                <a:solidFill>
                  <a:schemeClr val="tx2"/>
                </a:solidFill>
              </a:rPr>
              <a:t>Bagging</a:t>
            </a:r>
          </a:p>
        </p:txBody>
      </p:sp>
      <p:pic>
        <p:nvPicPr>
          <p:cNvPr id="2765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2133600"/>
            <a:ext cx="7239000" cy="852488"/>
          </a:xfrm>
        </p:spPr>
      </p:pic>
      <p:sp>
        <p:nvSpPr>
          <p:cNvPr id="2765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294315"/>
            <a:ext cx="8229600" cy="4525963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Also known as bootstrap aggregation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 dirty="0" smtClean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en-US" altLang="en-US" sz="2400" dirty="0" smtClean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en-US" altLang="en-US" sz="2400" dirty="0" smtClean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en-US" altLang="en-US" sz="2400" dirty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en-US" altLang="en-US" sz="2400" dirty="0" smtClean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Sampling uniformly with replacement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Build classifier on each bootstrap sample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0.632 bootstrap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Each bootstrap sample D</a:t>
            </a:r>
            <a:r>
              <a:rPr lang="en-US" altLang="en-US" sz="2400" i="1" baseline="-25000" dirty="0" smtClean="0">
                <a:solidFill>
                  <a:srgbClr val="000000"/>
                </a:solidFill>
              </a:rPr>
              <a:t>i</a:t>
            </a:r>
            <a:r>
              <a:rPr lang="en-US" altLang="en-US" sz="2400" dirty="0" smtClean="0">
                <a:solidFill>
                  <a:srgbClr val="000000"/>
                </a:solidFill>
              </a:rPr>
              <a:t> contains approx. 63.2% of the original training data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Remaining (36.8%) are used as test set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 dirty="0" smtClean="0">
              <a:solidFill>
                <a:srgbClr val="000000"/>
              </a:solidFill>
            </a:endParaRPr>
          </a:p>
        </p:txBody>
      </p:sp>
      <p:sp>
        <p:nvSpPr>
          <p:cNvPr id="27653" name="TextBox 4"/>
          <p:cNvSpPr txBox="1">
            <a:spLocks noChangeArrowheads="1"/>
          </p:cNvSpPr>
          <p:nvPr/>
        </p:nvSpPr>
        <p:spPr bwMode="auto">
          <a:xfrm>
            <a:off x="609600" y="6172200"/>
            <a:ext cx="7010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Example  taken from Tan et. al. book “Introduction to Data Mining”</a:t>
            </a:r>
          </a:p>
        </p:txBody>
      </p:sp>
    </p:spTree>
    <p:extLst>
      <p:ext uri="{BB962C8B-B14F-4D97-AF65-F5344CB8AC3E}">
        <p14:creationId xmlns:p14="http://schemas.microsoft.com/office/powerpoint/2010/main" val="360040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371600"/>
            <a:ext cx="7886700" cy="348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9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BD71E83-6AC3-41F4-A145-B7B4977019C8}" type="slidenum">
              <a:rPr lang="zh-CN" altLang="en-US"/>
              <a:pPr eaLnBrk="1" hangingPunct="1"/>
              <a:t>43</a:t>
            </a:fld>
            <a:endParaRPr lang="en-US" altLang="zh-CN"/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134350" cy="60960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Bagging: Boostrap Aggregation</a:t>
            </a:r>
          </a:p>
        </p:txBody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458200" cy="5334000"/>
          </a:xfrm>
        </p:spPr>
        <p:txBody>
          <a:bodyPr/>
          <a:lstStyle/>
          <a:p>
            <a:pPr eaLnBrk="1" hangingPunct="1"/>
            <a:r>
              <a:rPr lang="en-US" altLang="zh-CN" sz="2000" smtClean="0">
                <a:ea typeface="宋体" panose="02010600030101010101" pitchFamily="2" charset="-122"/>
              </a:rPr>
              <a:t>Analogy: Diagnosis based on multiple doctors’ majority vote</a:t>
            </a:r>
          </a:p>
          <a:p>
            <a:pPr eaLnBrk="1" hangingPunct="1"/>
            <a:r>
              <a:rPr lang="en-US" altLang="zh-CN" sz="2000" smtClean="0">
                <a:ea typeface="宋体" panose="02010600030101010101" pitchFamily="2" charset="-122"/>
              </a:rPr>
              <a:t>Training</a:t>
            </a:r>
          </a:p>
          <a:p>
            <a:pPr lvl="1" eaLnBrk="1" hangingPunct="1"/>
            <a:r>
              <a:rPr lang="en-US" altLang="zh-CN" sz="2000" smtClean="0">
                <a:ea typeface="宋体" panose="02010600030101010101" pitchFamily="2" charset="-122"/>
              </a:rPr>
              <a:t>Given a set D of </a:t>
            </a:r>
            <a:r>
              <a:rPr lang="en-US" altLang="zh-CN" sz="2000" i="1" smtClean="0">
                <a:ea typeface="宋体" panose="02010600030101010101" pitchFamily="2" charset="-122"/>
              </a:rPr>
              <a:t>d </a:t>
            </a:r>
            <a:r>
              <a:rPr lang="en-US" altLang="zh-CN" sz="2000" smtClean="0">
                <a:ea typeface="宋体" panose="02010600030101010101" pitchFamily="2" charset="-122"/>
              </a:rPr>
              <a:t>tuples, at each iteration </a:t>
            </a:r>
            <a:r>
              <a:rPr lang="en-US" altLang="zh-CN" sz="2000" i="1" smtClean="0">
                <a:ea typeface="宋体" panose="02010600030101010101" pitchFamily="2" charset="-122"/>
              </a:rPr>
              <a:t>i</a:t>
            </a:r>
            <a:r>
              <a:rPr lang="en-US" altLang="zh-CN" sz="2000" smtClean="0">
                <a:ea typeface="宋体" panose="02010600030101010101" pitchFamily="2" charset="-122"/>
              </a:rPr>
              <a:t>, a training set D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i</a:t>
            </a:r>
            <a:r>
              <a:rPr lang="en-US" altLang="zh-CN" sz="2000" smtClean="0">
                <a:ea typeface="宋体" panose="02010600030101010101" pitchFamily="2" charset="-122"/>
              </a:rPr>
              <a:t> of </a:t>
            </a:r>
            <a:r>
              <a:rPr lang="en-US" altLang="zh-CN" sz="2000" i="1" smtClean="0">
                <a:ea typeface="宋体" panose="02010600030101010101" pitchFamily="2" charset="-122"/>
              </a:rPr>
              <a:t>d</a:t>
            </a:r>
            <a:r>
              <a:rPr lang="en-US" altLang="zh-CN" sz="2000" smtClean="0">
                <a:ea typeface="宋体" panose="02010600030101010101" pitchFamily="2" charset="-122"/>
              </a:rPr>
              <a:t> tuples is sampled with replacement from D (i.e., boostrap)</a:t>
            </a:r>
          </a:p>
          <a:p>
            <a:pPr lvl="1" eaLnBrk="1" hangingPunct="1"/>
            <a:r>
              <a:rPr lang="en-US" altLang="zh-CN" sz="2000" smtClean="0">
                <a:ea typeface="宋体" panose="02010600030101010101" pitchFamily="2" charset="-122"/>
              </a:rPr>
              <a:t>A classifier model M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i</a:t>
            </a:r>
            <a:r>
              <a:rPr lang="en-US" altLang="zh-CN" sz="2000" smtClean="0">
                <a:ea typeface="宋体" panose="02010600030101010101" pitchFamily="2" charset="-122"/>
              </a:rPr>
              <a:t> is learned for each training set D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i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smtClean="0">
                <a:ea typeface="宋体" panose="02010600030101010101" pitchFamily="2" charset="-122"/>
              </a:rPr>
              <a:t>Classification: classify an unknown sample</a:t>
            </a:r>
            <a:r>
              <a:rPr lang="en-US" altLang="zh-CN" sz="2000" b="1" smtClean="0">
                <a:ea typeface="宋体" panose="02010600030101010101" pitchFamily="2" charset="-122"/>
              </a:rPr>
              <a:t> X</a:t>
            </a:r>
            <a:r>
              <a:rPr lang="en-US" altLang="zh-CN" sz="2000" smtClean="0">
                <a:ea typeface="宋体" panose="02010600030101010101" pitchFamily="2" charset="-122"/>
              </a:rPr>
              <a:t> </a:t>
            </a:r>
          </a:p>
          <a:p>
            <a:pPr lvl="1" eaLnBrk="1" hangingPunct="1"/>
            <a:r>
              <a:rPr lang="en-US" altLang="zh-CN" sz="2000" smtClean="0">
                <a:ea typeface="宋体" panose="02010600030101010101" pitchFamily="2" charset="-122"/>
              </a:rPr>
              <a:t>Each classifier M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i</a:t>
            </a:r>
            <a:r>
              <a:rPr lang="en-US" altLang="zh-CN" sz="2000" smtClean="0">
                <a:ea typeface="宋体" panose="02010600030101010101" pitchFamily="2" charset="-122"/>
              </a:rPr>
              <a:t> returns its class prediction</a:t>
            </a:r>
          </a:p>
          <a:p>
            <a:pPr lvl="1" eaLnBrk="1" hangingPunct="1"/>
            <a:r>
              <a:rPr lang="en-US" altLang="zh-CN" sz="2000" smtClean="0">
                <a:ea typeface="宋体" panose="02010600030101010101" pitchFamily="2" charset="-122"/>
              </a:rPr>
              <a:t>The bagged classifier M* counts the votes and assigns the class with the most votes to </a:t>
            </a:r>
            <a:r>
              <a:rPr lang="en-US" altLang="zh-CN" sz="2000" b="1" smtClean="0">
                <a:ea typeface="宋体" panose="02010600030101010101" pitchFamily="2" charset="-122"/>
              </a:rPr>
              <a:t>X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smtClean="0">
                <a:ea typeface="宋体" panose="02010600030101010101" pitchFamily="2" charset="-122"/>
              </a:rPr>
              <a:t>Prediction: can be applied to the prediction of continuous values by taking the average value of each prediction for a given test tuple</a:t>
            </a:r>
          </a:p>
          <a:p>
            <a:pPr eaLnBrk="1" hangingPunct="1"/>
            <a:r>
              <a:rPr lang="en-US" altLang="zh-CN" sz="2000" smtClean="0">
                <a:ea typeface="宋体" panose="02010600030101010101" pitchFamily="2" charset="-122"/>
              </a:rPr>
              <a:t>Accuracy</a:t>
            </a:r>
          </a:p>
          <a:p>
            <a:pPr lvl="1" eaLnBrk="1" hangingPunct="1"/>
            <a:r>
              <a:rPr lang="en-US" altLang="zh-CN" sz="2000" smtClean="0">
                <a:ea typeface="宋体" panose="02010600030101010101" pitchFamily="2" charset="-122"/>
              </a:rPr>
              <a:t>Often significant better than a single classifier derived from D</a:t>
            </a:r>
          </a:p>
          <a:p>
            <a:pPr lvl="1" eaLnBrk="1" hangingPunct="1"/>
            <a:r>
              <a:rPr lang="en-US" altLang="zh-CN" sz="2000" smtClean="0">
                <a:ea typeface="宋体" panose="02010600030101010101" pitchFamily="2" charset="-122"/>
              </a:rPr>
              <a:t>For noise data: not considerably worse, more robust </a:t>
            </a:r>
          </a:p>
          <a:p>
            <a:pPr lvl="1" eaLnBrk="1" hangingPunct="1"/>
            <a:r>
              <a:rPr lang="en-US" altLang="zh-CN" sz="2000" smtClean="0">
                <a:ea typeface="宋体" panose="02010600030101010101" pitchFamily="2" charset="-122"/>
              </a:rPr>
              <a:t>Proved improved accuracy in prediction</a:t>
            </a:r>
          </a:p>
        </p:txBody>
      </p:sp>
    </p:spTree>
    <p:extLst>
      <p:ext uri="{BB962C8B-B14F-4D97-AF65-F5344CB8AC3E}">
        <p14:creationId xmlns:p14="http://schemas.microsoft.com/office/powerpoint/2010/main" val="368921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tx2"/>
                </a:solidFill>
              </a:rPr>
              <a:t>Bagging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06513"/>
            <a:ext cx="8134350" cy="487045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Accuracy of bagging: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 dirty="0" smtClean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en-US" altLang="en-US" sz="2400" dirty="0" smtClean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en-US" altLang="en-US" sz="2400" dirty="0" smtClean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Works well for small data sets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Example: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dirty="0" smtClean="0">
              <a:solidFill>
                <a:srgbClr val="000000"/>
              </a:solidFill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en-US" altLang="en-US" dirty="0" smtClean="0">
              <a:solidFill>
                <a:srgbClr val="000000"/>
              </a:solidFill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/>
          </p:nvPr>
        </p:nvGraphicFramePr>
        <p:xfrm>
          <a:off x="997598" y="1720057"/>
          <a:ext cx="737076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9" name="Equation" r:id="rId4" imgW="3797280" imgH="431640" progId="Equation.3">
                  <p:embed/>
                </p:oleObj>
              </mc:Choice>
              <mc:Fallback>
                <p:oleObj name="Equation" r:id="rId4" imgW="37972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7598" y="1720057"/>
                        <a:ext cx="7370763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95400" y="4648200"/>
          <a:ext cx="6096002" cy="741364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</a:tblGrid>
              <a:tr h="37068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X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0.1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0.2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0.3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0.4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0.5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0.6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0.7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0.8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0.9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1.0</a:t>
                      </a:r>
                      <a:endParaRPr lang="en-US" sz="1800" dirty="0"/>
                    </a:p>
                  </a:txBody>
                  <a:tcPr marT="45700" marB="45700"/>
                </a:tc>
              </a:tr>
              <a:tr h="37068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y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0" marB="45700"/>
                </a:tc>
              </a:tr>
            </a:tbl>
          </a:graphicData>
        </a:graphic>
      </p:graphicFrame>
      <p:sp>
        <p:nvSpPr>
          <p:cNvPr id="8" name="Bent Arrow 7"/>
          <p:cNvSpPr/>
          <p:nvPr/>
        </p:nvSpPr>
        <p:spPr>
          <a:xfrm>
            <a:off x="685800" y="5105400"/>
            <a:ext cx="533400" cy="30480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0" y="5486400"/>
            <a:ext cx="1752600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Actual Class labels</a:t>
            </a:r>
          </a:p>
          <a:p>
            <a:pPr algn="ctr">
              <a:defRPr/>
            </a:pPr>
            <a:endParaRPr lang="en-US" dirty="0"/>
          </a:p>
        </p:txBody>
      </p:sp>
      <p:sp>
        <p:nvSpPr>
          <p:cNvPr id="3103" name="TextBox 9"/>
          <p:cNvSpPr txBox="1">
            <a:spLocks noChangeArrowheads="1"/>
          </p:cNvSpPr>
          <p:nvPr/>
        </p:nvSpPr>
        <p:spPr bwMode="auto">
          <a:xfrm>
            <a:off x="609600" y="6488113"/>
            <a:ext cx="701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Example  taken from Tan et. al. book “Introduction to Data Mining”</a:t>
            </a:r>
          </a:p>
        </p:txBody>
      </p:sp>
    </p:spTree>
    <p:extLst>
      <p:ext uri="{BB962C8B-B14F-4D97-AF65-F5344CB8AC3E}">
        <p14:creationId xmlns:p14="http://schemas.microsoft.com/office/powerpoint/2010/main" val="327925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tx2"/>
                </a:solidFill>
              </a:rPr>
              <a:t>Bagging</a:t>
            </a:r>
          </a:p>
        </p:txBody>
      </p:sp>
      <p:pic>
        <p:nvPicPr>
          <p:cNvPr id="2867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52400"/>
            <a:ext cx="5683250" cy="653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TextBox 8"/>
          <p:cNvSpPr txBox="1">
            <a:spLocks noChangeArrowheads="1"/>
          </p:cNvSpPr>
          <p:nvPr/>
        </p:nvSpPr>
        <p:spPr bwMode="auto">
          <a:xfrm>
            <a:off x="106363" y="1274763"/>
            <a:ext cx="297180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pitchFamily="34" charset="0"/>
              </a:rPr>
              <a:t> Decision Stump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pitchFamily="34" charset="0"/>
              </a:rPr>
              <a:t> Single level decision binary tree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pitchFamily="34" charset="0"/>
              </a:rPr>
              <a:t> Entropy – x&lt;=0.35 or x&lt;=0.75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pitchFamily="34" charset="0"/>
              </a:rPr>
              <a:t> Accuracy at most 70%</a:t>
            </a:r>
          </a:p>
        </p:txBody>
      </p:sp>
      <p:sp>
        <p:nvSpPr>
          <p:cNvPr id="5" name="Oval 4"/>
          <p:cNvSpPr/>
          <p:nvPr/>
        </p:nvSpPr>
        <p:spPr>
          <a:xfrm>
            <a:off x="1219200" y="4724400"/>
            <a:ext cx="1752600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Actual Class labels</a:t>
            </a:r>
          </a:p>
          <a:p>
            <a:pPr algn="ctr">
              <a:defRPr/>
            </a:pPr>
            <a:endParaRPr lang="en-US" dirty="0"/>
          </a:p>
        </p:txBody>
      </p:sp>
      <p:sp>
        <p:nvSpPr>
          <p:cNvPr id="6" name="Bent Arrow 5"/>
          <p:cNvSpPr/>
          <p:nvPr/>
        </p:nvSpPr>
        <p:spPr>
          <a:xfrm>
            <a:off x="2438400" y="4267200"/>
            <a:ext cx="533400" cy="30480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Bent Arrow 6"/>
          <p:cNvSpPr/>
          <p:nvPr/>
        </p:nvSpPr>
        <p:spPr>
          <a:xfrm>
            <a:off x="2819400" y="3657600"/>
            <a:ext cx="152400" cy="121920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960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tx2"/>
                </a:solidFill>
              </a:rPr>
              <a:t>Bagging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667000" y="5943600"/>
            <a:ext cx="4114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Accuracy of ensemble classifier: 100% </a:t>
            </a:r>
            <a:r>
              <a:rPr lang="en-US" altLang="en-US">
                <a:latin typeface="Calibri" panose="020F0502020204030204" pitchFamily="34" charset="0"/>
                <a:sym typeface="Wingdings" panose="05000000000000000000" pitchFamily="2" charset="2"/>
              </a:rPr>
              <a:t></a:t>
            </a:r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2970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371600"/>
            <a:ext cx="7358063" cy="446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TextBox 4"/>
          <p:cNvSpPr txBox="1">
            <a:spLocks noChangeArrowheads="1"/>
          </p:cNvSpPr>
          <p:nvPr/>
        </p:nvSpPr>
        <p:spPr bwMode="auto">
          <a:xfrm>
            <a:off x="609600" y="6324600"/>
            <a:ext cx="7010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Example  taken from Tan et. al. book “Introduction to Data Mining”</a:t>
            </a:r>
          </a:p>
        </p:txBody>
      </p:sp>
    </p:spTree>
    <p:extLst>
      <p:ext uri="{BB962C8B-B14F-4D97-AF65-F5344CB8AC3E}">
        <p14:creationId xmlns:p14="http://schemas.microsoft.com/office/powerpoint/2010/main" val="41244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543800" cy="874713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tx2"/>
                </a:solidFill>
              </a:rPr>
              <a:t>Bagging- Final Points</a:t>
            </a:r>
          </a:p>
        </p:txBody>
      </p:sp>
      <p:sp>
        <p:nvSpPr>
          <p:cNvPr id="30722" name="Rectangle 1027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134350" cy="4805363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Works well if the base classifiers are unstable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Increased accuracy because it reduces the variance of the individual classifier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Does not focus on any particular instance of the training data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Therefore, less susceptible to model over-fitting when applied to noisy data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What if we want to focus on a particular instances of training data?</a:t>
            </a:r>
          </a:p>
        </p:txBody>
      </p:sp>
    </p:spTree>
    <p:extLst>
      <p:ext uri="{BB962C8B-B14F-4D97-AF65-F5344CB8AC3E}">
        <p14:creationId xmlns:p14="http://schemas.microsoft.com/office/powerpoint/2010/main" val="435196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tx2"/>
                </a:solidFill>
              </a:rPr>
              <a:t>Boosting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00200"/>
            <a:ext cx="7886700" cy="4576763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An iterative procedure to adaptively change distribution of training data by focusing more on previously misclassified records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Initially, all N records are assigned equal weights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Unlike bagging, weights may change at the end of a boosting round</a:t>
            </a:r>
          </a:p>
        </p:txBody>
      </p:sp>
    </p:spTree>
    <p:extLst>
      <p:ext uri="{BB962C8B-B14F-4D97-AF65-F5344CB8AC3E}">
        <p14:creationId xmlns:p14="http://schemas.microsoft.com/office/powerpoint/2010/main" val="3848656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tx2"/>
                </a:solidFill>
              </a:rPr>
              <a:t>Boosting</a:t>
            </a:r>
          </a:p>
        </p:txBody>
      </p:sp>
      <p:pic>
        <p:nvPicPr>
          <p:cNvPr id="3277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66" y="3411832"/>
            <a:ext cx="7703734" cy="910264"/>
          </a:xfrm>
        </p:spPr>
      </p:pic>
      <p:sp>
        <p:nvSpPr>
          <p:cNvPr id="327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417510"/>
            <a:ext cx="8229600" cy="4525963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Records that are wrongly classified will have their weights increased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 dirty="0" smtClean="0">
                <a:solidFill>
                  <a:srgbClr val="000000"/>
                </a:solidFill>
              </a:rPr>
              <a:t>Records that are classified correctly will have their weights decreased</a:t>
            </a:r>
          </a:p>
        </p:txBody>
      </p:sp>
      <p:sp>
        <p:nvSpPr>
          <p:cNvPr id="32773" name="Oval 5"/>
          <p:cNvSpPr>
            <a:spLocks noChangeArrowheads="1"/>
          </p:cNvSpPr>
          <p:nvPr/>
        </p:nvSpPr>
        <p:spPr bwMode="auto">
          <a:xfrm>
            <a:off x="2455506" y="4051319"/>
            <a:ext cx="304800" cy="3048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2774" name="Oval 6"/>
          <p:cNvSpPr>
            <a:spLocks noChangeArrowheads="1"/>
          </p:cNvSpPr>
          <p:nvPr/>
        </p:nvSpPr>
        <p:spPr bwMode="auto">
          <a:xfrm>
            <a:off x="3066661" y="4085341"/>
            <a:ext cx="304800" cy="3048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2775" name="Oval 7"/>
          <p:cNvSpPr>
            <a:spLocks noChangeArrowheads="1"/>
          </p:cNvSpPr>
          <p:nvPr/>
        </p:nvSpPr>
        <p:spPr bwMode="auto">
          <a:xfrm>
            <a:off x="4787382" y="4085341"/>
            <a:ext cx="304800" cy="3048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2776" name="Oval 8"/>
          <p:cNvSpPr>
            <a:spLocks noChangeArrowheads="1"/>
          </p:cNvSpPr>
          <p:nvPr/>
        </p:nvSpPr>
        <p:spPr bwMode="auto">
          <a:xfrm>
            <a:off x="5915608" y="4087870"/>
            <a:ext cx="304800" cy="3048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2777" name="Oval 9"/>
          <p:cNvSpPr>
            <a:spLocks noChangeArrowheads="1"/>
          </p:cNvSpPr>
          <p:nvPr/>
        </p:nvSpPr>
        <p:spPr bwMode="auto">
          <a:xfrm>
            <a:off x="7656787" y="4066680"/>
            <a:ext cx="304800" cy="3048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2778" name="Text Box 10"/>
          <p:cNvSpPr txBox="1">
            <a:spLocks noChangeArrowheads="1"/>
          </p:cNvSpPr>
          <p:nvPr/>
        </p:nvSpPr>
        <p:spPr bwMode="auto">
          <a:xfrm>
            <a:off x="2971800" y="4724400"/>
            <a:ext cx="5486400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Calibri" panose="020F0502020204030204" pitchFamily="34" charset="0"/>
              </a:rPr>
              <a:t> Example 4 is hard to classify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Calibri" panose="020F0502020204030204" pitchFamily="34" charset="0"/>
              </a:rPr>
              <a:t> Its weight is increased, therefore it is more likely to be chosen again in subsequent rounds</a:t>
            </a:r>
          </a:p>
        </p:txBody>
      </p:sp>
      <p:sp>
        <p:nvSpPr>
          <p:cNvPr id="32779" name="TextBox 10"/>
          <p:cNvSpPr txBox="1">
            <a:spLocks noChangeArrowheads="1"/>
          </p:cNvSpPr>
          <p:nvPr/>
        </p:nvSpPr>
        <p:spPr bwMode="auto">
          <a:xfrm>
            <a:off x="609600" y="6172200"/>
            <a:ext cx="7010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Example  taken from Tan et. al. book “Introduction to Data Mining”</a:t>
            </a:r>
          </a:p>
        </p:txBody>
      </p:sp>
    </p:spTree>
    <p:extLst>
      <p:ext uri="{BB962C8B-B14F-4D97-AF65-F5344CB8AC3E}">
        <p14:creationId xmlns:p14="http://schemas.microsoft.com/office/powerpoint/2010/main" val="2747966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625474"/>
          </a:xfrm>
        </p:spPr>
        <p:txBody>
          <a:bodyPr/>
          <a:lstStyle/>
          <a:p>
            <a:pPr eaLnBrk="1" hangingPunct="1"/>
            <a:r>
              <a:rPr lang="en-US" altLang="en-US" b="1" dirty="0" smtClean="0">
                <a:solidFill>
                  <a:schemeClr val="tx2"/>
                </a:solidFill>
              </a:rPr>
              <a:t>Boosting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4906963"/>
          </a:xfrm>
        </p:spPr>
        <p:txBody>
          <a:bodyPr rtlCol="0"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smtClean="0">
                <a:solidFill>
                  <a:sysClr val="windowText" lastClr="000000"/>
                </a:solidFill>
              </a:rPr>
              <a:t>Equal weights are assigned to each training </a:t>
            </a:r>
            <a:r>
              <a:rPr lang="en-US" sz="2800" dirty="0" err="1" smtClean="0">
                <a:solidFill>
                  <a:sysClr val="windowText" lastClr="000000"/>
                </a:solidFill>
              </a:rPr>
              <a:t>tuple</a:t>
            </a:r>
            <a:r>
              <a:rPr lang="en-US" sz="2800" dirty="0" smtClean="0">
                <a:solidFill>
                  <a:sysClr val="windowText" lastClr="000000"/>
                </a:solidFill>
              </a:rPr>
              <a:t> (1/d for round 1)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smtClean="0">
                <a:solidFill>
                  <a:sysClr val="windowText" lastClr="000000"/>
                </a:solidFill>
              </a:rPr>
              <a:t>After a classifier M</a:t>
            </a:r>
            <a:r>
              <a:rPr lang="en-US" sz="2800" baseline="-25000" dirty="0" smtClean="0">
                <a:solidFill>
                  <a:sysClr val="windowText" lastClr="000000"/>
                </a:solidFill>
              </a:rPr>
              <a:t>i </a:t>
            </a:r>
            <a:r>
              <a:rPr lang="en-US" sz="2800" dirty="0" smtClean="0">
                <a:solidFill>
                  <a:sysClr val="windowText" lastClr="000000"/>
                </a:solidFill>
              </a:rPr>
              <a:t>is learned, the weights are adjusted to allow the subsequent classifier M</a:t>
            </a:r>
            <a:r>
              <a:rPr lang="en-US" sz="2800" baseline="-25000" dirty="0" smtClean="0">
                <a:solidFill>
                  <a:sysClr val="windowText" lastClr="000000"/>
                </a:solidFill>
              </a:rPr>
              <a:t>i+1</a:t>
            </a:r>
            <a:r>
              <a:rPr lang="en-US" sz="2800" dirty="0" smtClean="0">
                <a:solidFill>
                  <a:sysClr val="windowText" lastClr="000000"/>
                </a:solidFill>
              </a:rPr>
              <a:t> to “pay more attention”  to </a:t>
            </a:r>
            <a:r>
              <a:rPr lang="en-US" sz="2800" dirty="0" err="1" smtClean="0">
                <a:solidFill>
                  <a:sysClr val="windowText" lastClr="000000"/>
                </a:solidFill>
              </a:rPr>
              <a:t>tuples</a:t>
            </a:r>
            <a:r>
              <a:rPr lang="en-US" sz="2800" dirty="0" smtClean="0">
                <a:solidFill>
                  <a:sysClr val="windowText" lastClr="000000"/>
                </a:solidFill>
              </a:rPr>
              <a:t> that were misclassified by M</a:t>
            </a:r>
            <a:r>
              <a:rPr lang="en-US" sz="2800" baseline="-25000" dirty="0" smtClean="0">
                <a:solidFill>
                  <a:sysClr val="windowText" lastClr="000000"/>
                </a:solidFill>
              </a:rPr>
              <a:t>i</a:t>
            </a:r>
            <a:r>
              <a:rPr lang="en-US" sz="2800" dirty="0" smtClean="0">
                <a:solidFill>
                  <a:sysClr val="windowText" lastClr="000000"/>
                </a:solidFill>
              </a:rPr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smtClean="0">
                <a:solidFill>
                  <a:sysClr val="windowText" lastClr="000000"/>
                </a:solidFill>
              </a:rPr>
              <a:t>Final boosted classifier M* combines the votes of each individual classifier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smtClean="0">
                <a:solidFill>
                  <a:sysClr val="windowText" lastClr="000000"/>
                </a:solidFill>
              </a:rPr>
              <a:t>Weight of each classifier’s vote is a function of its accuracy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err="1" smtClean="0">
                <a:solidFill>
                  <a:sysClr val="windowText" lastClr="000000"/>
                </a:solidFill>
              </a:rPr>
              <a:t>Adaboost</a:t>
            </a:r>
            <a:r>
              <a:rPr lang="en-US" sz="2800" dirty="0" smtClean="0">
                <a:solidFill>
                  <a:sysClr val="windowText" lastClr="000000"/>
                </a:solidFill>
              </a:rPr>
              <a:t> – popular boosting algorithm</a:t>
            </a:r>
          </a:p>
        </p:txBody>
      </p:sp>
    </p:spTree>
    <p:extLst>
      <p:ext uri="{BB962C8B-B14F-4D97-AF65-F5344CB8AC3E}">
        <p14:creationId xmlns:p14="http://schemas.microsoft.com/office/powerpoint/2010/main" val="2018493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6E747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85296"/>
      </a:hlink>
      <a:folHlink>
        <a:srgbClr val="9933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7115</TotalTime>
  <Words>1936</Words>
  <Application>Microsoft Office PowerPoint</Application>
  <PresentationFormat>On-screen Show (4:3)</PresentationFormat>
  <Paragraphs>396</Paragraphs>
  <Slides>50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50</vt:i4>
      </vt:variant>
    </vt:vector>
  </HeadingPairs>
  <TitlesOfParts>
    <vt:vector size="63" baseType="lpstr">
      <vt:lpstr>宋体</vt:lpstr>
      <vt:lpstr>Arial</vt:lpstr>
      <vt:lpstr>Calibri</vt:lpstr>
      <vt:lpstr>Monotype Sorts</vt:lpstr>
      <vt:lpstr>Symbol</vt:lpstr>
      <vt:lpstr>Tahoma</vt:lpstr>
      <vt:lpstr>Times New Roman</vt:lpstr>
      <vt:lpstr>Wingdings</vt:lpstr>
      <vt:lpstr>Blank</vt:lpstr>
      <vt:lpstr>Equation</vt:lpstr>
      <vt:lpstr>VISIO</vt:lpstr>
      <vt:lpstr>Worksheet</vt:lpstr>
      <vt:lpstr>Visio</vt:lpstr>
      <vt:lpstr>Classification</vt:lpstr>
      <vt:lpstr>The Bayes Classifier</vt:lpstr>
      <vt:lpstr>The Naïve Bayes Model</vt:lpstr>
      <vt:lpstr>Naïve Bayesian Classification</vt:lpstr>
      <vt:lpstr>Bayesian Classifiers</vt:lpstr>
      <vt:lpstr>Naïve Bayes Classifier</vt:lpstr>
      <vt:lpstr>How to Estimate Probabilities from Data?</vt:lpstr>
      <vt:lpstr>How to Estimate Probabilities from Data?</vt:lpstr>
      <vt:lpstr>How to Estimate Probabilities from Data?</vt:lpstr>
      <vt:lpstr>Example of Naïve Bayes Classifier</vt:lpstr>
      <vt:lpstr>Naïve Bayes Classifier</vt:lpstr>
      <vt:lpstr>Example of Naïve Bayes Classifier</vt:lpstr>
      <vt:lpstr>Naïve Bayesian Classification</vt:lpstr>
      <vt:lpstr>Naïve Bayesian Classification</vt:lpstr>
      <vt:lpstr>Naïve Bayesian Classification</vt:lpstr>
      <vt:lpstr>Naïve Bayesian Classification</vt:lpstr>
      <vt:lpstr> Probability of Error  - Bayes Error Rate</vt:lpstr>
      <vt:lpstr> Probability of Error </vt:lpstr>
      <vt:lpstr>Naïve Bayes (Summary)</vt:lpstr>
      <vt:lpstr>Ensemble Classifiers</vt:lpstr>
      <vt:lpstr>Ensemble Classifiers</vt:lpstr>
      <vt:lpstr>Introduction &amp; Motivation</vt:lpstr>
      <vt:lpstr>Ensemble Methods</vt:lpstr>
      <vt:lpstr>General Idea</vt:lpstr>
      <vt:lpstr> Rationale for Ensemble Methods</vt:lpstr>
      <vt:lpstr>Rationale for Ensemble Methods</vt:lpstr>
      <vt:lpstr>Why does it work?</vt:lpstr>
      <vt:lpstr>PowerPoint Presentation</vt:lpstr>
      <vt:lpstr>Ensemble Classifiers (EC)</vt:lpstr>
      <vt:lpstr>Ensemble Classifiers (EC)</vt:lpstr>
      <vt:lpstr>Ensemble Classifiers (EC)</vt:lpstr>
      <vt:lpstr>Ensemble Classifiers (EC)</vt:lpstr>
      <vt:lpstr>Ensemble Classifiers (EC)</vt:lpstr>
      <vt:lpstr>Ensemble Classifiers (EC)</vt:lpstr>
      <vt:lpstr> Typical Ensemble Procedure</vt:lpstr>
      <vt:lpstr>Ensemble Classifiers</vt:lpstr>
      <vt:lpstr>Bias-Variance Decomposition</vt:lpstr>
      <vt:lpstr>Bias Vs Variance</vt:lpstr>
      <vt:lpstr>Bias: Example</vt:lpstr>
      <vt:lpstr>Examples of Ensemble Methods</vt:lpstr>
      <vt:lpstr>Bagging</vt:lpstr>
      <vt:lpstr>PowerPoint Presentation</vt:lpstr>
      <vt:lpstr>Bagging: Boostrap Aggregation</vt:lpstr>
      <vt:lpstr>Bagging</vt:lpstr>
      <vt:lpstr>Bagging</vt:lpstr>
      <vt:lpstr>Bagging</vt:lpstr>
      <vt:lpstr>Bagging- Final Points</vt:lpstr>
      <vt:lpstr>Boosting</vt:lpstr>
      <vt:lpstr>Boosting</vt:lpstr>
      <vt:lpstr>Boosting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yash Sharma</dc:creator>
  <cp:lastModifiedBy>yash Sharma</cp:lastModifiedBy>
  <cp:revision>275</cp:revision>
  <cp:lastPrinted>1601-01-01T00:00:00Z</cp:lastPrinted>
  <dcterms:created xsi:type="dcterms:W3CDTF">1601-01-01T00:00:00Z</dcterms:created>
  <dcterms:modified xsi:type="dcterms:W3CDTF">2018-02-26T10:20:51Z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