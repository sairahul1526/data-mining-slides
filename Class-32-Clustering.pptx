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88" r:id="rId2"/>
    <p:sldId id="427" r:id="rId3"/>
    <p:sldId id="430" r:id="rId4"/>
    <p:sldId id="431" r:id="rId5"/>
    <p:sldId id="432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87" r:id="rId17"/>
    <p:sldId id="488" r:id="rId18"/>
    <p:sldId id="443" r:id="rId19"/>
    <p:sldId id="444" r:id="rId20"/>
    <p:sldId id="446" r:id="rId21"/>
    <p:sldId id="457" r:id="rId22"/>
    <p:sldId id="458" r:id="rId23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89" r:id="rId33"/>
    <p:sldId id="468" r:id="rId34"/>
    <p:sldId id="469" r:id="rId35"/>
    <p:sldId id="470" r:id="rId36"/>
    <p:sldId id="471" r:id="rId37"/>
    <p:sldId id="472" r:id="rId38"/>
    <p:sldId id="490" r:id="rId39"/>
    <p:sldId id="473" r:id="rId40"/>
    <p:sldId id="474" r:id="rId41"/>
    <p:sldId id="475" r:id="rId42"/>
    <p:sldId id="476" r:id="rId43"/>
    <p:sldId id="477" r:id="rId44"/>
    <p:sldId id="478" r:id="rId45"/>
    <p:sldId id="479" r:id="rId46"/>
    <p:sldId id="480" r:id="rId47"/>
    <p:sldId id="481" r:id="rId48"/>
    <p:sldId id="482" r:id="rId49"/>
    <p:sldId id="483" r:id="rId50"/>
    <p:sldId id="484" r:id="rId51"/>
    <p:sldId id="485" r:id="rId52"/>
    <p:sldId id="486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F0C4638-5511-4588-9322-D4210C89BC56}" type="slidenum">
              <a:rPr lang="en-US" altLang="en-US" smtClean="0">
                <a:latin typeface="Arial" panose="020B0604020202020204" pitchFamily="34" charset="0"/>
              </a:rPr>
              <a:pPr/>
              <a:t>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26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72C47D1-5ECF-422F-B25F-FE01F85C1B19}" type="slidenum">
              <a:rPr lang="en-US" altLang="en-US" smtClean="0">
                <a:latin typeface="Arial" panose="020B0604020202020204" pitchFamily="34" charset="0"/>
              </a:rPr>
              <a:pPr/>
              <a:t>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13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94510E-B881-433B-85E7-1D850E5F70BA}" type="slidenum">
              <a:rPr lang="en-US" altLang="en-US" smtClean="0">
                <a:latin typeface="Arial" panose="020B0604020202020204" pitchFamily="34" charset="0"/>
              </a:rPr>
              <a:pPr/>
              <a:t>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490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5741847-486C-499F-97C8-0D7155D50BEA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83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631BF0-0060-42BD-8E36-2575A247A6EB}" type="slidenum">
              <a:rPr lang="en-US" altLang="en-US" smtClean="0">
                <a:latin typeface="Arial" panose="020B0604020202020204" pitchFamily="34" charset="0"/>
              </a:rPr>
              <a:pPr/>
              <a:t>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923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F82978F-2B78-47CC-818B-D2C0062BF46E}" type="slidenum">
              <a:rPr lang="en-US" altLang="en-US" smtClean="0">
                <a:latin typeface="Arial" panose="020B0604020202020204" pitchFamily="34" charset="0"/>
              </a:rPr>
              <a:pPr/>
              <a:t>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22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A4A600-AF23-4F90-BC5A-95BD129AAE2A}" type="slidenum">
              <a:rPr lang="en-US" altLang="en-US" smtClean="0">
                <a:latin typeface="Arial" panose="020B0604020202020204" pitchFamily="34" charset="0"/>
              </a:rPr>
              <a:pPr/>
              <a:t>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705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8A45E09-BBDE-4F97-BEC4-ABC2E697EBF4}" type="slidenum">
              <a:rPr lang="en-US" altLang="en-US" smtClean="0">
                <a:latin typeface="Arial" panose="020B0604020202020204" pitchFamily="34" charset="0"/>
              </a:rPr>
              <a:pPr/>
              <a:t>10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999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156CC6-4D63-423D-98EB-7E61A947DC6B}" type="slidenum">
              <a:rPr lang="en-US" altLang="en-US" smtClean="0">
                <a:latin typeface="Arial" panose="020B0604020202020204" pitchFamily="34" charset="0"/>
              </a:rPr>
              <a:pPr/>
              <a:t>11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595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495C35-9A39-4D3F-BD70-05566DCEABA6}" type="slidenum">
              <a:rPr lang="en-US" altLang="en-US" smtClean="0">
                <a:latin typeface="Arial" panose="020B0604020202020204" pitchFamily="34" charset="0"/>
              </a:rPr>
              <a:pPr/>
              <a:t>12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72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2E1C1D-A4E5-4A90-B0B8-150BAA58A60B}" type="slidenum">
              <a:rPr lang="en-US" altLang="en-US" smtClean="0">
                <a:latin typeface="Arial" panose="020B0604020202020204" pitchFamily="34" charset="0"/>
              </a:rPr>
              <a:pPr/>
              <a:t>13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866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865B417-A3EC-4152-94C0-442E3E5F3425}" type="slidenum">
              <a:rPr lang="en-US" altLang="en-US" smtClean="0">
                <a:latin typeface="Arial" panose="020B0604020202020204" pitchFamily="34" charset="0"/>
              </a:rPr>
              <a:pPr/>
              <a:t>14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139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B8FD29F-48BB-4C5C-8E87-523A8DF9DC49}" type="slidenum">
              <a:rPr lang="en-US" altLang="en-US" smtClean="0">
                <a:latin typeface="Arial" panose="020B0604020202020204" pitchFamily="34" charset="0"/>
              </a:rPr>
              <a:pPr/>
              <a:t>15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70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86F0934-02F1-4D36-86D5-0ADDFBB0E72F}" type="slidenum">
              <a:rPr lang="en-US" altLang="en-US" smtClean="0">
                <a:latin typeface="Arial" panose="020B0604020202020204" pitchFamily="34" charset="0"/>
              </a:rPr>
              <a:pPr/>
              <a:t>18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180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14005FF-9B6C-4E35-B87F-98AE26A924C7}" type="slidenum">
              <a:rPr lang="en-US" altLang="en-US" smtClean="0">
                <a:latin typeface="Arial" panose="020B0604020202020204" pitchFamily="34" charset="0"/>
              </a:rPr>
              <a:pPr/>
              <a:t>19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8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76AE2E-B673-4EA2-BAC0-7FBBABA109DB}" type="slidenum">
              <a:rPr lang="en-US" altLang="en-US" smtClean="0">
                <a:latin typeface="Arial" panose="020B0604020202020204" pitchFamily="34" charset="0"/>
              </a:rPr>
              <a:pPr/>
              <a:t>20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518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DE87F16-3685-473A-8645-987FDECDA41C}" type="slidenum">
              <a:rPr lang="en-US" altLang="en-US" smtClean="0">
                <a:latin typeface="Arial" panose="020B0604020202020204" pitchFamily="34" charset="0"/>
              </a:rPr>
              <a:pPr/>
              <a:t>25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65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5560D12-2BAF-4DCF-8C27-4D88E5A4CA9D}" type="slidenum">
              <a:rPr lang="en-US" altLang="en-US" smtClean="0">
                <a:latin typeface="Arial" panose="020B0604020202020204" pitchFamily="34" charset="0"/>
              </a:rPr>
              <a:pPr/>
              <a:t>26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81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147412F-D4C0-426E-ABB7-37566B81B0D9}" type="slidenum">
              <a:rPr lang="en-US" altLang="en-US" smtClean="0">
                <a:latin typeface="Arial" panose="020B0604020202020204" pitchFamily="34" charset="0"/>
              </a:rPr>
              <a:pPr/>
              <a:t>28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762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348CDD7-AA6F-4DC3-9DBD-769D039FB962}" type="slidenum">
              <a:rPr lang="en-US" altLang="en-US" smtClean="0">
                <a:latin typeface="Arial" panose="020B0604020202020204" pitchFamily="34" charset="0"/>
              </a:rPr>
              <a:pPr/>
              <a:t>30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83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298F2E9-9109-487F-9681-9378DAA88B23}" type="slidenum">
              <a:rPr lang="en-US" altLang="en-US" smtClean="0">
                <a:latin typeface="Arial" panose="020B0604020202020204" pitchFamily="34" charset="0"/>
              </a:rPr>
              <a:pPr/>
              <a:t>31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87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677AE8-531F-40A9-BCB5-6509F81917D7}" type="slidenum">
              <a:rPr lang="en-US" altLang="en-US" smtClean="0">
                <a:latin typeface="Arial" panose="020B0604020202020204" pitchFamily="34" charset="0"/>
              </a:rPr>
              <a:pPr/>
              <a:t>33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973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648831D-45FC-4757-850C-B5A5BDBED14F}" type="slidenum">
              <a:rPr lang="en-US" altLang="en-US" smtClean="0">
                <a:latin typeface="Arial" panose="020B0604020202020204" pitchFamily="34" charset="0"/>
              </a:rPr>
              <a:pPr/>
              <a:t>34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0040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96E33FC-7B18-4C8A-9916-E75562C69450}" type="slidenum">
              <a:rPr lang="en-US" altLang="en-US" smtClean="0">
                <a:latin typeface="Arial" panose="020B0604020202020204" pitchFamily="34" charset="0"/>
              </a:rPr>
              <a:pPr/>
              <a:t>35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2261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59CE3A9-93B0-4230-AF7B-C0BC6813D3CE}" type="slidenum">
              <a:rPr lang="en-US" altLang="en-US" smtClean="0">
                <a:latin typeface="Arial" panose="020B0604020202020204" pitchFamily="34" charset="0"/>
              </a:rPr>
              <a:pPr/>
              <a:t>37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009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85E24EB-9C42-4F36-8B4B-56429F68E284}" type="slidenum">
              <a:rPr lang="en-US" altLang="en-US" smtClean="0">
                <a:latin typeface="Arial" panose="020B0604020202020204" pitchFamily="34" charset="0"/>
              </a:rPr>
              <a:pPr/>
              <a:t>40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789488" cy="3592513"/>
          </a:xfrm>
          <a:ln w="12700"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185" tIns="48593" rIns="97185" bIns="48593"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3639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7F2D575-9D0A-403B-95AA-244D3D2DBF8B}" type="slidenum">
              <a:rPr lang="en-US" altLang="en-US" smtClean="0">
                <a:latin typeface="Arial" panose="020B0604020202020204" pitchFamily="34" charset="0"/>
              </a:rPr>
              <a:pPr/>
              <a:t>42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6922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8A541D8-7A5C-4CB5-8E71-003AC9DDCEFD}" type="slidenum">
              <a:rPr lang="en-US" altLang="en-US" smtClean="0">
                <a:latin typeface="Arial" panose="020B0604020202020204" pitchFamily="34" charset="0"/>
              </a:rPr>
              <a:pPr/>
              <a:t>44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071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FD49601-C3F6-4846-8480-A2B8901FBD7B}" type="slidenum">
              <a:rPr lang="en-US" altLang="en-US" smtClean="0">
                <a:latin typeface="Arial" panose="020B0604020202020204" pitchFamily="34" charset="0"/>
              </a:rPr>
              <a:pPr/>
              <a:t>46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5057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EC7278D-15D0-4289-A2F3-49BCCFDB93E1}" type="slidenum">
              <a:rPr lang="en-US" altLang="en-US" smtClean="0">
                <a:latin typeface="Arial" panose="020B0604020202020204" pitchFamily="34" charset="0"/>
              </a:rPr>
              <a:pPr/>
              <a:t>47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0046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C464AE5-0CBA-45AE-887F-0D776C389F84}" type="slidenum">
              <a:rPr lang="en-US" altLang="en-US" smtClean="0">
                <a:latin typeface="Arial" panose="020B0604020202020204" pitchFamily="34" charset="0"/>
              </a:rPr>
              <a:pPr/>
              <a:t>48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3224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6A2B279-457A-4179-9ED6-48CDBA4DAFAF}" type="slidenum">
              <a:rPr lang="en-US" altLang="en-US" smtClean="0">
                <a:latin typeface="Arial" panose="020B0604020202020204" pitchFamily="34" charset="0"/>
              </a:rPr>
              <a:pPr/>
              <a:t>49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0266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3400D4A-9BCA-4814-8266-8566558E2D19}" type="slidenum">
              <a:rPr lang="en-US" altLang="en-US" smtClean="0">
                <a:latin typeface="Arial" panose="020B0604020202020204" pitchFamily="34" charset="0"/>
              </a:rPr>
              <a:pPr/>
              <a:t>51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3219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4960360-4E71-465A-838B-41B6A5260E1E}" type="slidenum">
              <a:rPr lang="en-US" altLang="en-US" smtClean="0">
                <a:latin typeface="Arial" panose="020B0604020202020204" pitchFamily="34" charset="0"/>
              </a:rPr>
              <a:pPr/>
              <a:t>52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69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FAE64-A376-4B26-B54D-84172011A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154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359465"/>
            <a:ext cx="82296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13-Apr-18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71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24D72-B2D7-4304-9FFF-2618F8F6EC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13-Apr-18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9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3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9.png"/><Relationship Id="rId4" Type="http://schemas.openxmlformats.org/officeDocument/2006/relationships/oleObject" Target="../embeddings/oleObject14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0.png"/><Relationship Id="rId4" Type="http://schemas.openxmlformats.org/officeDocument/2006/relationships/oleObject" Target="../embeddings/oleObject15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Clustering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6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152400" y="685800"/>
            <a:ext cx="8839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 sz="4000" b="1"/>
              <a:t>Comparison of the Three Methods</a:t>
            </a:r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152400" y="1905000"/>
            <a:ext cx="8458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Single-link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“Loose” clusters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Individual decision, sensitive to outliers 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Complete-link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 “Tight” clusters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Individual decision, sensitive to outliers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Average-link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“In between”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Group decision, insensitive to outliers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Which one is the best? Depends on what you need! </a:t>
            </a:r>
          </a:p>
        </p:txBody>
      </p:sp>
    </p:spTree>
    <p:extLst>
      <p:ext uri="{BB962C8B-B14F-4D97-AF65-F5344CB8AC3E}">
        <p14:creationId xmlns:p14="http://schemas.microsoft.com/office/powerpoint/2010/main" val="417197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 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Produces a set of nested clusters organized as a hierarchical tree</a:t>
            </a:r>
          </a:p>
          <a:p>
            <a:pPr eaLnBrk="1" hangingPunct="1">
              <a:defRPr/>
            </a:pPr>
            <a:r>
              <a:rPr lang="en-US" smtClean="0"/>
              <a:t>Can be visualized as a dendrogram</a:t>
            </a:r>
          </a:p>
          <a:p>
            <a:pPr lvl="1" eaLnBrk="1" hangingPunct="1">
              <a:defRPr/>
            </a:pPr>
            <a:r>
              <a:rPr lang="en-US" smtClean="0"/>
              <a:t>A tree like diagram that records the sequences of merges or splits</a:t>
            </a:r>
          </a:p>
        </p:txBody>
      </p:sp>
      <p:pic>
        <p:nvPicPr>
          <p:cNvPr id="1679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5257800" y="36290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5" name="VISIO" r:id="rId5" imgW="3163511" imgH="3230582" progId="Visio.Drawing.6">
                  <p:embed/>
                </p:oleObj>
              </mc:Choice>
              <mc:Fallback>
                <p:oleObj name="VISIO" r:id="rId5" imgW="3163511" imgH="323058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90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694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Strengths of Hierarchical Clustering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Do not have to assume any particular number of clusters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Any desired number of clusters can be obtained by ‘cutting’ the </a:t>
            </a:r>
            <a:r>
              <a:rPr lang="en-US" dirty="0" err="1" smtClean="0"/>
              <a:t>dendogram</a:t>
            </a:r>
            <a:r>
              <a:rPr lang="en-US" dirty="0" smtClean="0"/>
              <a:t> at the proper level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They may correspond to meaningful taxonomies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Example in biological sciences (e.g., animal kingdom, phylogeny reconstruction, …)</a:t>
            </a:r>
          </a:p>
        </p:txBody>
      </p:sp>
    </p:spTree>
    <p:extLst>
      <p:ext uri="{BB962C8B-B14F-4D97-AF65-F5344CB8AC3E}">
        <p14:creationId xmlns:p14="http://schemas.microsoft.com/office/powerpoint/2010/main" val="388223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MIN or Single Link 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Similarity of two clusters is based on the two most similar (closest) points in the different clusters</a:t>
            </a:r>
          </a:p>
          <a:p>
            <a:pPr lvl="1" eaLnBrk="1" hangingPunct="1">
              <a:defRPr/>
            </a:pPr>
            <a:r>
              <a:rPr lang="en-US" smtClean="0"/>
              <a:t>Determined by one pair of points, i.e., by one link in the proximity graph.</a:t>
            </a:r>
          </a:p>
        </p:txBody>
      </p:sp>
      <p:graphicFrame>
        <p:nvGraphicFramePr>
          <p:cNvPr id="488452" name="Object 4"/>
          <p:cNvGraphicFramePr>
            <a:graphicFrameLocks noChangeAspect="1"/>
          </p:cNvGraphicFramePr>
          <p:nvPr/>
        </p:nvGraphicFramePr>
        <p:xfrm>
          <a:off x="0" y="4343400"/>
          <a:ext cx="408781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9" name="Worksheet" r:id="rId4" imgW="2294001" imgH="1013841" progId="Excel.Sheet.8">
                  <p:embed/>
                </p:oleObj>
              </mc:Choice>
              <mc:Fallback>
                <p:oleObj name="Worksheet" r:id="rId4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343400"/>
                        <a:ext cx="408781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562600" y="3810000"/>
            <a:ext cx="2820988" cy="2562225"/>
            <a:chOff x="3616" y="2256"/>
            <a:chExt cx="1777" cy="1614"/>
          </a:xfrm>
        </p:grpSpPr>
        <p:sp>
          <p:nvSpPr>
            <p:cNvPr id="172038" name="Line 6"/>
            <p:cNvSpPr>
              <a:spLocks noChangeShapeType="1"/>
            </p:cNvSpPr>
            <p:nvPr/>
          </p:nvSpPr>
          <p:spPr bwMode="auto">
            <a:xfrm flipV="1">
              <a:off x="3696" y="3221"/>
              <a:ext cx="0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39" name="Line 7"/>
            <p:cNvSpPr>
              <a:spLocks noChangeShapeType="1"/>
            </p:cNvSpPr>
            <p:nvPr/>
          </p:nvSpPr>
          <p:spPr bwMode="auto">
            <a:xfrm>
              <a:off x="3696" y="3221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0" name="Line 8"/>
            <p:cNvSpPr>
              <a:spLocks noChangeShapeType="1"/>
            </p:cNvSpPr>
            <p:nvPr/>
          </p:nvSpPr>
          <p:spPr bwMode="auto">
            <a:xfrm>
              <a:off x="4163" y="3221"/>
              <a:ext cx="0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1" name="Line 9"/>
            <p:cNvSpPr>
              <a:spLocks noChangeShapeType="1"/>
            </p:cNvSpPr>
            <p:nvPr/>
          </p:nvSpPr>
          <p:spPr bwMode="auto">
            <a:xfrm flipV="1">
              <a:off x="3976" y="2979"/>
              <a:ext cx="0" cy="2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2" name="Line 10"/>
            <p:cNvSpPr>
              <a:spLocks noChangeShapeType="1"/>
            </p:cNvSpPr>
            <p:nvPr/>
          </p:nvSpPr>
          <p:spPr bwMode="auto">
            <a:xfrm flipV="1">
              <a:off x="3976" y="2899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3" name="Line 11"/>
            <p:cNvSpPr>
              <a:spLocks noChangeShapeType="1"/>
            </p:cNvSpPr>
            <p:nvPr/>
          </p:nvSpPr>
          <p:spPr bwMode="auto">
            <a:xfrm flipV="1">
              <a:off x="4818" y="3060"/>
              <a:ext cx="0" cy="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4" name="Line 12"/>
            <p:cNvSpPr>
              <a:spLocks noChangeShapeType="1"/>
            </p:cNvSpPr>
            <p:nvPr/>
          </p:nvSpPr>
          <p:spPr bwMode="auto">
            <a:xfrm>
              <a:off x="4818" y="3060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5" name="Line 13"/>
            <p:cNvSpPr>
              <a:spLocks noChangeShapeType="1"/>
            </p:cNvSpPr>
            <p:nvPr/>
          </p:nvSpPr>
          <p:spPr bwMode="auto">
            <a:xfrm>
              <a:off x="5285" y="3060"/>
              <a:ext cx="0" cy="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6" name="Line 14"/>
            <p:cNvSpPr>
              <a:spLocks noChangeShapeType="1"/>
            </p:cNvSpPr>
            <p:nvPr/>
          </p:nvSpPr>
          <p:spPr bwMode="auto">
            <a:xfrm flipV="1">
              <a:off x="5098" y="2819"/>
              <a:ext cx="0" cy="2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7" name="Line 15"/>
            <p:cNvSpPr>
              <a:spLocks noChangeShapeType="1"/>
            </p:cNvSpPr>
            <p:nvPr/>
          </p:nvSpPr>
          <p:spPr bwMode="auto">
            <a:xfrm flipV="1">
              <a:off x="5098" y="2738"/>
              <a:ext cx="0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8" name="Line 16"/>
            <p:cNvSpPr>
              <a:spLocks noChangeShapeType="1"/>
            </p:cNvSpPr>
            <p:nvPr/>
          </p:nvSpPr>
          <p:spPr bwMode="auto">
            <a:xfrm flipV="1">
              <a:off x="4444" y="2899"/>
              <a:ext cx="0" cy="7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9" name="Line 17"/>
            <p:cNvSpPr>
              <a:spLocks noChangeShapeType="1"/>
            </p:cNvSpPr>
            <p:nvPr/>
          </p:nvSpPr>
          <p:spPr bwMode="auto">
            <a:xfrm>
              <a:off x="3976" y="2899"/>
              <a:ext cx="4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0" name="Line 18"/>
            <p:cNvSpPr>
              <a:spLocks noChangeShapeType="1"/>
            </p:cNvSpPr>
            <p:nvPr/>
          </p:nvSpPr>
          <p:spPr bwMode="auto">
            <a:xfrm flipV="1">
              <a:off x="4163" y="2578"/>
              <a:ext cx="0" cy="3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1" name="Line 19"/>
            <p:cNvSpPr>
              <a:spLocks noChangeShapeType="1"/>
            </p:cNvSpPr>
            <p:nvPr/>
          </p:nvSpPr>
          <p:spPr bwMode="auto">
            <a:xfrm>
              <a:off x="4163" y="2578"/>
              <a:ext cx="9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2" name="Line 20"/>
            <p:cNvSpPr>
              <a:spLocks noChangeShapeType="1"/>
            </p:cNvSpPr>
            <p:nvPr/>
          </p:nvSpPr>
          <p:spPr bwMode="auto">
            <a:xfrm>
              <a:off x="5098" y="2578"/>
              <a:ext cx="0" cy="2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3" name="Line 21"/>
            <p:cNvSpPr>
              <a:spLocks noChangeShapeType="1"/>
            </p:cNvSpPr>
            <p:nvPr/>
          </p:nvSpPr>
          <p:spPr bwMode="auto">
            <a:xfrm flipV="1">
              <a:off x="4631" y="2256"/>
              <a:ext cx="0" cy="3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4" name="Text Box 22"/>
            <p:cNvSpPr txBox="1">
              <a:spLocks noChangeArrowheads="1"/>
            </p:cNvSpPr>
            <p:nvPr/>
          </p:nvSpPr>
          <p:spPr bwMode="auto">
            <a:xfrm>
              <a:off x="3616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2055" name="Text Box 23"/>
            <p:cNvSpPr txBox="1">
              <a:spLocks noChangeArrowheads="1"/>
            </p:cNvSpPr>
            <p:nvPr/>
          </p:nvSpPr>
          <p:spPr bwMode="auto">
            <a:xfrm>
              <a:off x="4083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2056" name="Text Box 24"/>
            <p:cNvSpPr txBox="1">
              <a:spLocks noChangeArrowheads="1"/>
            </p:cNvSpPr>
            <p:nvPr/>
          </p:nvSpPr>
          <p:spPr bwMode="auto">
            <a:xfrm>
              <a:off x="4364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2057" name="Text Box 25"/>
            <p:cNvSpPr txBox="1">
              <a:spLocks noChangeArrowheads="1"/>
            </p:cNvSpPr>
            <p:nvPr/>
          </p:nvSpPr>
          <p:spPr bwMode="auto">
            <a:xfrm>
              <a:off x="4738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2058" name="Text Box 26"/>
            <p:cNvSpPr txBox="1">
              <a:spLocks noChangeArrowheads="1"/>
            </p:cNvSpPr>
            <p:nvPr/>
          </p:nvSpPr>
          <p:spPr bwMode="auto">
            <a:xfrm>
              <a:off x="5205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09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Hierarchical Clustering: MIN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914400" y="57150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5791200" y="5715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grpSp>
        <p:nvGrpSpPr>
          <p:cNvPr id="174085" name="Group 5"/>
          <p:cNvGrpSpPr>
            <a:grpSpLocks/>
          </p:cNvGrpSpPr>
          <p:nvPr/>
        </p:nvGrpSpPr>
        <p:grpSpPr bwMode="auto">
          <a:xfrm>
            <a:off x="747713" y="1773238"/>
            <a:ext cx="3175000" cy="2790825"/>
            <a:chOff x="471" y="1117"/>
            <a:chExt cx="2000" cy="1758"/>
          </a:xfrm>
        </p:grpSpPr>
        <p:sp>
          <p:nvSpPr>
            <p:cNvPr id="174102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3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4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5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6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7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8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09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0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1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2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3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6" name="Group 18"/>
          <p:cNvGrpSpPr>
            <a:grpSpLocks/>
          </p:cNvGrpSpPr>
          <p:nvPr/>
        </p:nvGrpSpPr>
        <p:grpSpPr bwMode="auto">
          <a:xfrm>
            <a:off x="2495550" y="2863850"/>
            <a:ext cx="1423988" cy="914400"/>
            <a:chOff x="1572" y="1804"/>
            <a:chExt cx="897" cy="576"/>
          </a:xfrm>
        </p:grpSpPr>
        <p:sp>
          <p:nvSpPr>
            <p:cNvPr id="174100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01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7" name="Group 21"/>
          <p:cNvGrpSpPr>
            <a:grpSpLocks/>
          </p:cNvGrpSpPr>
          <p:nvPr/>
        </p:nvGrpSpPr>
        <p:grpSpPr bwMode="auto">
          <a:xfrm>
            <a:off x="527050" y="2489200"/>
            <a:ext cx="1735138" cy="1158875"/>
            <a:chOff x="332" y="1568"/>
            <a:chExt cx="1093" cy="730"/>
          </a:xfrm>
        </p:grpSpPr>
        <p:sp>
          <p:nvSpPr>
            <p:cNvPr id="174098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9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8" name="Group 24"/>
          <p:cNvGrpSpPr>
            <a:grpSpLocks/>
          </p:cNvGrpSpPr>
          <p:nvPr/>
        </p:nvGrpSpPr>
        <p:grpSpPr bwMode="auto">
          <a:xfrm>
            <a:off x="444500" y="2071688"/>
            <a:ext cx="3675063" cy="2097087"/>
            <a:chOff x="280" y="1305"/>
            <a:chExt cx="2315" cy="1321"/>
          </a:xfrm>
        </p:grpSpPr>
        <p:sp>
          <p:nvSpPr>
            <p:cNvPr id="174096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7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9" name="Group 27"/>
          <p:cNvGrpSpPr>
            <a:grpSpLocks/>
          </p:cNvGrpSpPr>
          <p:nvPr/>
        </p:nvGrpSpPr>
        <p:grpSpPr bwMode="auto">
          <a:xfrm>
            <a:off x="382588" y="1951038"/>
            <a:ext cx="3795712" cy="2924175"/>
            <a:chOff x="241" y="1229"/>
            <a:chExt cx="2391" cy="1842"/>
          </a:xfrm>
        </p:grpSpPr>
        <p:sp>
          <p:nvSpPr>
            <p:cNvPr id="174094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5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90" name="Group 30"/>
          <p:cNvGrpSpPr>
            <a:grpSpLocks/>
          </p:cNvGrpSpPr>
          <p:nvPr/>
        </p:nvGrpSpPr>
        <p:grpSpPr bwMode="auto">
          <a:xfrm>
            <a:off x="307975" y="1547813"/>
            <a:ext cx="4003675" cy="3530600"/>
            <a:chOff x="194" y="975"/>
            <a:chExt cx="2522" cy="2224"/>
          </a:xfrm>
        </p:grpSpPr>
        <p:sp>
          <p:nvSpPr>
            <p:cNvPr id="174092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093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091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992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Strength of MIN</a:t>
            </a:r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6800" y="1981200"/>
            <a:ext cx="4103688" cy="2652713"/>
            <a:chOff x="3072" y="1248"/>
            <a:chExt cx="2585" cy="1671"/>
          </a:xfrm>
        </p:grpSpPr>
        <p:sp>
          <p:nvSpPr>
            <p:cNvPr id="176135" name="Text Box 5"/>
            <p:cNvSpPr txBox="1">
              <a:spLocks noChangeArrowheads="1"/>
            </p:cNvSpPr>
            <p:nvPr/>
          </p:nvSpPr>
          <p:spPr bwMode="auto">
            <a:xfrm>
              <a:off x="3408" y="2688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7613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28" r="7143"/>
            <a:stretch>
              <a:fillRect/>
            </a:stretch>
          </p:blipFill>
          <p:spPr bwMode="auto">
            <a:xfrm>
              <a:off x="3072" y="1248"/>
              <a:ext cx="2585" cy="1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613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5357"/>
          <a:stretch>
            <a:fillRect/>
          </a:stretch>
        </p:blipFill>
        <p:spPr bwMode="auto">
          <a:xfrm>
            <a:off x="152400" y="1981200"/>
            <a:ext cx="418623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2552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Can handle non-elliptical shapes</a:t>
            </a:r>
          </a:p>
        </p:txBody>
      </p:sp>
    </p:spTree>
    <p:extLst>
      <p:ext uri="{BB962C8B-B14F-4D97-AF65-F5344CB8AC3E}">
        <p14:creationId xmlns:p14="http://schemas.microsoft.com/office/powerpoint/2010/main" val="421199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MIN</a:t>
            </a: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178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265613" y="1524000"/>
            <a:ext cx="4878387" cy="3567113"/>
            <a:chOff x="2496" y="960"/>
            <a:chExt cx="2689" cy="2247"/>
          </a:xfrm>
        </p:grpSpPr>
        <p:sp>
          <p:nvSpPr>
            <p:cNvPr id="178183" name="Text Box 6"/>
            <p:cNvSpPr txBox="1">
              <a:spLocks noChangeArrowheads="1"/>
            </p:cNvSpPr>
            <p:nvPr/>
          </p:nvSpPr>
          <p:spPr bwMode="auto">
            <a:xfrm>
              <a:off x="3072" y="2976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78184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960"/>
              <a:ext cx="2689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4600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Sensitive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29325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0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Cluster Similarity: MAX or Complete Linkage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Similarity of two clusters is based on the two least similar (most distant) points in the different clusters</a:t>
            </a:r>
          </a:p>
          <a:p>
            <a:pPr lvl="1" eaLnBrk="1" hangingPunct="1">
              <a:defRPr/>
            </a:pPr>
            <a:r>
              <a:rPr lang="en-US" smtClean="0"/>
              <a:t>Determined by all pairs of points in the two clusters</a:t>
            </a:r>
          </a:p>
          <a:p>
            <a:pPr eaLnBrk="1" hangingPunct="1">
              <a:defRPr/>
            </a:pPr>
            <a:endParaRPr lang="en-US" smtClean="0"/>
          </a:p>
        </p:txBody>
      </p:sp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152400" y="4114800"/>
          <a:ext cx="43434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3" name="Worksheet" r:id="rId4" imgW="2294001" imgH="1013841" progId="Excel.Sheet.8">
                  <p:embed/>
                </p:oleObj>
              </mc:Choice>
              <mc:Fallback>
                <p:oleObj name="Worksheet" r:id="rId4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14800"/>
                        <a:ext cx="4343400" cy="245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5000" y="3886200"/>
            <a:ext cx="2598738" cy="2667000"/>
            <a:chOff x="3691" y="2160"/>
            <a:chExt cx="1637" cy="1680"/>
          </a:xfrm>
        </p:grpSpPr>
        <p:sp>
          <p:nvSpPr>
            <p:cNvPr id="180230" name="Line 6"/>
            <p:cNvSpPr>
              <a:spLocks noChangeShapeType="1"/>
            </p:cNvSpPr>
            <p:nvPr/>
          </p:nvSpPr>
          <p:spPr bwMode="auto">
            <a:xfrm flipV="1">
              <a:off x="5219" y="3168"/>
              <a:ext cx="0" cy="4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1" name="Line 7"/>
            <p:cNvSpPr>
              <a:spLocks noChangeShapeType="1"/>
            </p:cNvSpPr>
            <p:nvPr/>
          </p:nvSpPr>
          <p:spPr bwMode="auto">
            <a:xfrm>
              <a:off x="4793" y="3168"/>
              <a:ext cx="4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2" name="Line 8"/>
            <p:cNvSpPr>
              <a:spLocks noChangeShapeType="1"/>
            </p:cNvSpPr>
            <p:nvPr/>
          </p:nvSpPr>
          <p:spPr bwMode="auto">
            <a:xfrm>
              <a:off x="4793" y="3168"/>
              <a:ext cx="0" cy="4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3" name="Line 9"/>
            <p:cNvSpPr>
              <a:spLocks noChangeShapeType="1"/>
            </p:cNvSpPr>
            <p:nvPr/>
          </p:nvSpPr>
          <p:spPr bwMode="auto">
            <a:xfrm flipV="1">
              <a:off x="4964" y="2916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4" name="Line 10"/>
            <p:cNvSpPr>
              <a:spLocks noChangeShapeType="1"/>
            </p:cNvSpPr>
            <p:nvPr/>
          </p:nvSpPr>
          <p:spPr bwMode="auto">
            <a:xfrm flipV="1">
              <a:off x="4964" y="2832"/>
              <a:ext cx="0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5" name="Line 11"/>
            <p:cNvSpPr>
              <a:spLocks noChangeShapeType="1"/>
            </p:cNvSpPr>
            <p:nvPr/>
          </p:nvSpPr>
          <p:spPr bwMode="auto">
            <a:xfrm flipV="1">
              <a:off x="4197" y="325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6" name="Line 12"/>
            <p:cNvSpPr>
              <a:spLocks noChangeShapeType="1"/>
            </p:cNvSpPr>
            <p:nvPr/>
          </p:nvSpPr>
          <p:spPr bwMode="auto">
            <a:xfrm>
              <a:off x="3770" y="3252"/>
              <a:ext cx="4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7" name="Line 13"/>
            <p:cNvSpPr>
              <a:spLocks noChangeShapeType="1"/>
            </p:cNvSpPr>
            <p:nvPr/>
          </p:nvSpPr>
          <p:spPr bwMode="auto">
            <a:xfrm>
              <a:off x="3770" y="325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8" name="Line 14"/>
            <p:cNvSpPr>
              <a:spLocks noChangeShapeType="1"/>
            </p:cNvSpPr>
            <p:nvPr/>
          </p:nvSpPr>
          <p:spPr bwMode="auto">
            <a:xfrm flipV="1">
              <a:off x="3941" y="2748"/>
              <a:ext cx="0" cy="5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9" name="Line 15"/>
            <p:cNvSpPr>
              <a:spLocks noChangeShapeType="1"/>
            </p:cNvSpPr>
            <p:nvPr/>
          </p:nvSpPr>
          <p:spPr bwMode="auto">
            <a:xfrm flipV="1">
              <a:off x="3941" y="2664"/>
              <a:ext cx="0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0" name="Line 16"/>
            <p:cNvSpPr>
              <a:spLocks noChangeShapeType="1"/>
            </p:cNvSpPr>
            <p:nvPr/>
          </p:nvSpPr>
          <p:spPr bwMode="auto">
            <a:xfrm flipV="1">
              <a:off x="4537" y="2832"/>
              <a:ext cx="0" cy="7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1" name="Line 17"/>
            <p:cNvSpPr>
              <a:spLocks noChangeShapeType="1"/>
            </p:cNvSpPr>
            <p:nvPr/>
          </p:nvSpPr>
          <p:spPr bwMode="auto">
            <a:xfrm>
              <a:off x="4537" y="2832"/>
              <a:ext cx="4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2" name="Line 18"/>
            <p:cNvSpPr>
              <a:spLocks noChangeShapeType="1"/>
            </p:cNvSpPr>
            <p:nvPr/>
          </p:nvSpPr>
          <p:spPr bwMode="auto">
            <a:xfrm flipV="1">
              <a:off x="4793" y="24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3" name="Line 19"/>
            <p:cNvSpPr>
              <a:spLocks noChangeShapeType="1"/>
            </p:cNvSpPr>
            <p:nvPr/>
          </p:nvSpPr>
          <p:spPr bwMode="auto">
            <a:xfrm>
              <a:off x="3941" y="2496"/>
              <a:ext cx="8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4" name="Line 20"/>
            <p:cNvSpPr>
              <a:spLocks noChangeShapeType="1"/>
            </p:cNvSpPr>
            <p:nvPr/>
          </p:nvSpPr>
          <p:spPr bwMode="auto">
            <a:xfrm>
              <a:off x="3941" y="2496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5" name="Line 21"/>
            <p:cNvSpPr>
              <a:spLocks noChangeShapeType="1"/>
            </p:cNvSpPr>
            <p:nvPr/>
          </p:nvSpPr>
          <p:spPr bwMode="auto">
            <a:xfrm flipV="1">
              <a:off x="4367" y="216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6" name="Text Box 22"/>
            <p:cNvSpPr txBox="1">
              <a:spLocks noChangeArrowheads="1"/>
            </p:cNvSpPr>
            <p:nvPr/>
          </p:nvSpPr>
          <p:spPr bwMode="auto">
            <a:xfrm>
              <a:off x="3691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0247" name="Text Box 23"/>
            <p:cNvSpPr txBox="1">
              <a:spLocks noChangeArrowheads="1"/>
            </p:cNvSpPr>
            <p:nvPr/>
          </p:nvSpPr>
          <p:spPr bwMode="auto">
            <a:xfrm>
              <a:off x="4117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0248" name="Text Box 24"/>
            <p:cNvSpPr txBox="1">
              <a:spLocks noChangeArrowheads="1"/>
            </p:cNvSpPr>
            <p:nvPr/>
          </p:nvSpPr>
          <p:spPr bwMode="auto">
            <a:xfrm>
              <a:off x="4458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0249" name="Text Box 25"/>
            <p:cNvSpPr txBox="1">
              <a:spLocks noChangeArrowheads="1"/>
            </p:cNvSpPr>
            <p:nvPr/>
          </p:nvSpPr>
          <p:spPr bwMode="auto">
            <a:xfrm>
              <a:off x="4715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0250" name="Text Box 26"/>
            <p:cNvSpPr txBox="1">
              <a:spLocks noChangeArrowheads="1"/>
            </p:cNvSpPr>
            <p:nvPr/>
          </p:nvSpPr>
          <p:spPr bwMode="auto">
            <a:xfrm>
              <a:off x="5140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37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Hierarchical Clustering: MAX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1098550" y="5348288"/>
            <a:ext cx="335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5670550" y="534828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pic>
        <p:nvPicPr>
          <p:cNvPr id="182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21336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2278" name="Group 6"/>
          <p:cNvGrpSpPr>
            <a:grpSpLocks/>
          </p:cNvGrpSpPr>
          <p:nvPr/>
        </p:nvGrpSpPr>
        <p:grpSpPr bwMode="auto">
          <a:xfrm>
            <a:off x="792163" y="1824038"/>
            <a:ext cx="2998787" cy="2687637"/>
            <a:chOff x="383" y="1437"/>
            <a:chExt cx="1889" cy="1693"/>
          </a:xfrm>
        </p:grpSpPr>
        <p:sp>
          <p:nvSpPr>
            <p:cNvPr id="182294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5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6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7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8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9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79" name="Group 19"/>
          <p:cNvGrpSpPr>
            <a:grpSpLocks/>
          </p:cNvGrpSpPr>
          <p:nvPr/>
        </p:nvGrpSpPr>
        <p:grpSpPr bwMode="auto">
          <a:xfrm>
            <a:off x="2509838" y="3208338"/>
            <a:ext cx="1401762" cy="890587"/>
            <a:chOff x="1465" y="2309"/>
            <a:chExt cx="883" cy="561"/>
          </a:xfrm>
        </p:grpSpPr>
        <p:sp>
          <p:nvSpPr>
            <p:cNvPr id="182292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9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80" name="Group 22"/>
          <p:cNvGrpSpPr>
            <a:grpSpLocks/>
          </p:cNvGrpSpPr>
          <p:nvPr/>
        </p:nvGrpSpPr>
        <p:grpSpPr bwMode="auto">
          <a:xfrm>
            <a:off x="704850" y="2249488"/>
            <a:ext cx="1579563" cy="889000"/>
            <a:chOff x="328" y="1705"/>
            <a:chExt cx="995" cy="560"/>
          </a:xfrm>
        </p:grpSpPr>
        <p:sp>
          <p:nvSpPr>
            <p:cNvPr id="182290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9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81" name="Group 25"/>
          <p:cNvGrpSpPr>
            <a:grpSpLocks/>
          </p:cNvGrpSpPr>
          <p:nvPr/>
        </p:nvGrpSpPr>
        <p:grpSpPr bwMode="auto">
          <a:xfrm>
            <a:off x="360363" y="1582738"/>
            <a:ext cx="3935412" cy="3487737"/>
            <a:chOff x="111" y="1285"/>
            <a:chExt cx="2479" cy="2197"/>
          </a:xfrm>
        </p:grpSpPr>
        <p:sp>
          <p:nvSpPr>
            <p:cNvPr id="18228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9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282" name="Group 28"/>
          <p:cNvGrpSpPr>
            <a:grpSpLocks/>
          </p:cNvGrpSpPr>
          <p:nvPr/>
        </p:nvGrpSpPr>
        <p:grpSpPr bwMode="auto">
          <a:xfrm>
            <a:off x="1882775" y="2982913"/>
            <a:ext cx="2160588" cy="1652587"/>
            <a:chOff x="1070" y="2167"/>
            <a:chExt cx="1361" cy="1041"/>
          </a:xfrm>
        </p:grpSpPr>
        <p:sp>
          <p:nvSpPr>
            <p:cNvPr id="18228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7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283" name="Group 31"/>
          <p:cNvGrpSpPr>
            <a:grpSpLocks/>
          </p:cNvGrpSpPr>
          <p:nvPr/>
        </p:nvGrpSpPr>
        <p:grpSpPr bwMode="auto">
          <a:xfrm>
            <a:off x="615950" y="1720850"/>
            <a:ext cx="2906713" cy="1520825"/>
            <a:chOff x="272" y="1372"/>
            <a:chExt cx="1831" cy="958"/>
          </a:xfrm>
        </p:grpSpPr>
        <p:sp>
          <p:nvSpPr>
            <p:cNvPr id="18228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5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983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Strength of MAX</a:t>
            </a: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184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5"/>
          <a:stretch>
            <a:fillRect/>
          </a:stretch>
        </p:blipFill>
        <p:spPr bwMode="auto">
          <a:xfrm>
            <a:off x="303213" y="1295400"/>
            <a:ext cx="426878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41813" y="1219200"/>
            <a:ext cx="4268787" cy="3505200"/>
            <a:chOff x="2735" y="768"/>
            <a:chExt cx="2689" cy="2208"/>
          </a:xfrm>
        </p:grpSpPr>
        <p:sp>
          <p:nvSpPr>
            <p:cNvPr id="184327" name="Text Box 6"/>
            <p:cNvSpPr txBox="1">
              <a:spLocks noChangeArrowheads="1"/>
            </p:cNvSpPr>
            <p:nvPr/>
          </p:nvSpPr>
          <p:spPr bwMode="auto">
            <a:xfrm>
              <a:off x="3263" y="2745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84328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905"/>
            <a:stretch>
              <a:fillRect/>
            </a:stretch>
          </p:blipFill>
          <p:spPr bwMode="auto">
            <a:xfrm>
              <a:off x="2735" y="768"/>
              <a:ext cx="2689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0744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Less susceptible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31154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MAX</a:t>
            </a:r>
          </a:p>
        </p:txBody>
      </p:sp>
      <p:pic>
        <p:nvPicPr>
          <p:cNvPr id="1863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18013" y="1371600"/>
            <a:ext cx="4268787" cy="3733800"/>
            <a:chOff x="2783" y="864"/>
            <a:chExt cx="2689" cy="2352"/>
          </a:xfrm>
        </p:grpSpPr>
        <p:pic>
          <p:nvPicPr>
            <p:cNvPr id="186375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" y="864"/>
              <a:ext cx="2689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6376" name="Text Box 7"/>
            <p:cNvSpPr txBox="1">
              <a:spLocks noChangeArrowheads="1"/>
            </p:cNvSpPr>
            <p:nvPr/>
          </p:nvSpPr>
          <p:spPr bwMode="auto">
            <a:xfrm>
              <a:off x="3263" y="2985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</p:grpSp>
      <p:sp>
        <p:nvSpPr>
          <p:cNvPr id="502792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Tends to break large clusters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354529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9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Group Average</a:t>
            </a: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3065463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Proximity of two clusters is the average of pairwise proximity between points in the two clusters.</a:t>
            </a:r>
          </a:p>
          <a:p>
            <a:pPr eaLnBrk="1" hangingPunct="1">
              <a:defRPr/>
            </a:pPr>
            <a:endParaRPr lang="en-US" sz="2600" smtClean="0"/>
          </a:p>
          <a:p>
            <a:pPr eaLnBrk="1" hangingPunct="1">
              <a:defRPr/>
            </a:pPr>
            <a:endParaRPr lang="en-US" sz="2600" smtClean="0"/>
          </a:p>
          <a:p>
            <a:pPr lvl="4" eaLnBrk="1" hangingPunct="1">
              <a:defRPr/>
            </a:pPr>
            <a:endParaRPr lang="en-US" sz="1800" smtClean="0"/>
          </a:p>
          <a:p>
            <a:pPr eaLnBrk="1" hangingPunct="1">
              <a:defRPr/>
            </a:pPr>
            <a:r>
              <a:rPr lang="en-US" sz="2600" smtClean="0"/>
              <a:t>Need to use average connectivity for scalability since total proximity favors large clusters</a:t>
            </a:r>
          </a:p>
          <a:p>
            <a:pPr eaLnBrk="1" hangingPunct="1">
              <a:defRPr/>
            </a:pPr>
            <a:endParaRPr lang="en-US" sz="2600" smtClean="0"/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676400" y="20574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4" name="Equation" r:id="rId4" imgW="3873500" imgH="698500" progId="Equation.3">
                  <p:embed/>
                </p:oleObj>
              </mc:Choice>
              <mc:Fallback>
                <p:oleObj name="Equation" r:id="rId4" imgW="3873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574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0" y="4191000"/>
          <a:ext cx="4343400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5" name="Worksheet" r:id="rId6" imgW="2294001" imgH="1013841" progId="Excel.Sheet.8">
                  <p:embed/>
                </p:oleObj>
              </mc:Choice>
              <mc:Fallback>
                <p:oleObj name="Worksheet" r:id="rId6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91000"/>
                        <a:ext cx="4343400" cy="241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34000" y="3886200"/>
            <a:ext cx="2957513" cy="2755900"/>
            <a:chOff x="3504" y="2112"/>
            <a:chExt cx="1863" cy="1736"/>
          </a:xfrm>
        </p:grpSpPr>
        <p:sp>
          <p:nvSpPr>
            <p:cNvPr id="188423" name="Line 7"/>
            <p:cNvSpPr>
              <a:spLocks noChangeShapeType="1"/>
            </p:cNvSpPr>
            <p:nvPr/>
          </p:nvSpPr>
          <p:spPr bwMode="auto">
            <a:xfrm flipV="1">
              <a:off x="3605" y="3184"/>
              <a:ext cx="0" cy="4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4" name="Line 8"/>
            <p:cNvSpPr>
              <a:spLocks noChangeShapeType="1"/>
            </p:cNvSpPr>
            <p:nvPr/>
          </p:nvSpPr>
          <p:spPr bwMode="auto">
            <a:xfrm>
              <a:off x="3605" y="3184"/>
              <a:ext cx="4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5" name="Line 9"/>
            <p:cNvSpPr>
              <a:spLocks noChangeShapeType="1"/>
            </p:cNvSpPr>
            <p:nvPr/>
          </p:nvSpPr>
          <p:spPr bwMode="auto">
            <a:xfrm>
              <a:off x="4098" y="3184"/>
              <a:ext cx="0" cy="4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6" name="Line 10"/>
            <p:cNvSpPr>
              <a:spLocks noChangeShapeType="1"/>
            </p:cNvSpPr>
            <p:nvPr/>
          </p:nvSpPr>
          <p:spPr bwMode="auto">
            <a:xfrm flipV="1">
              <a:off x="3901" y="2916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7" name="Line 11"/>
            <p:cNvSpPr>
              <a:spLocks noChangeShapeType="1"/>
            </p:cNvSpPr>
            <p:nvPr/>
          </p:nvSpPr>
          <p:spPr bwMode="auto">
            <a:xfrm flipV="1">
              <a:off x="3901" y="2827"/>
              <a:ext cx="0" cy="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8" name="Line 12"/>
            <p:cNvSpPr>
              <a:spLocks noChangeShapeType="1"/>
            </p:cNvSpPr>
            <p:nvPr/>
          </p:nvSpPr>
          <p:spPr bwMode="auto">
            <a:xfrm flipV="1">
              <a:off x="4787" y="3006"/>
              <a:ext cx="0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9" name="Line 13"/>
            <p:cNvSpPr>
              <a:spLocks noChangeShapeType="1"/>
            </p:cNvSpPr>
            <p:nvPr/>
          </p:nvSpPr>
          <p:spPr bwMode="auto">
            <a:xfrm>
              <a:off x="4787" y="3006"/>
              <a:ext cx="4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0" name="Line 14"/>
            <p:cNvSpPr>
              <a:spLocks noChangeShapeType="1"/>
            </p:cNvSpPr>
            <p:nvPr/>
          </p:nvSpPr>
          <p:spPr bwMode="auto">
            <a:xfrm>
              <a:off x="5280" y="3006"/>
              <a:ext cx="0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1" name="Line 15"/>
            <p:cNvSpPr>
              <a:spLocks noChangeShapeType="1"/>
            </p:cNvSpPr>
            <p:nvPr/>
          </p:nvSpPr>
          <p:spPr bwMode="auto">
            <a:xfrm flipV="1">
              <a:off x="5083" y="2738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2" name="Line 16"/>
            <p:cNvSpPr>
              <a:spLocks noChangeShapeType="1"/>
            </p:cNvSpPr>
            <p:nvPr/>
          </p:nvSpPr>
          <p:spPr bwMode="auto">
            <a:xfrm flipV="1">
              <a:off x="5083" y="2648"/>
              <a:ext cx="0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3" name="Line 17"/>
            <p:cNvSpPr>
              <a:spLocks noChangeShapeType="1"/>
            </p:cNvSpPr>
            <p:nvPr/>
          </p:nvSpPr>
          <p:spPr bwMode="auto">
            <a:xfrm flipV="1">
              <a:off x="4393" y="2827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4" name="Line 18"/>
            <p:cNvSpPr>
              <a:spLocks noChangeShapeType="1"/>
            </p:cNvSpPr>
            <p:nvPr/>
          </p:nvSpPr>
          <p:spPr bwMode="auto">
            <a:xfrm>
              <a:off x="3901" y="2827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5" name="Line 19"/>
            <p:cNvSpPr>
              <a:spLocks noChangeShapeType="1"/>
            </p:cNvSpPr>
            <p:nvPr/>
          </p:nvSpPr>
          <p:spPr bwMode="auto">
            <a:xfrm flipV="1">
              <a:off x="4098" y="2469"/>
              <a:ext cx="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6" name="Line 20"/>
            <p:cNvSpPr>
              <a:spLocks noChangeShapeType="1"/>
            </p:cNvSpPr>
            <p:nvPr/>
          </p:nvSpPr>
          <p:spPr bwMode="auto">
            <a:xfrm>
              <a:off x="4098" y="2469"/>
              <a:ext cx="9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7" name="Line 21"/>
            <p:cNvSpPr>
              <a:spLocks noChangeShapeType="1"/>
            </p:cNvSpPr>
            <p:nvPr/>
          </p:nvSpPr>
          <p:spPr bwMode="auto">
            <a:xfrm>
              <a:off x="5083" y="2469"/>
              <a:ext cx="0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8" name="Line 22"/>
            <p:cNvSpPr>
              <a:spLocks noChangeShapeType="1"/>
            </p:cNvSpPr>
            <p:nvPr/>
          </p:nvSpPr>
          <p:spPr bwMode="auto">
            <a:xfrm flipV="1">
              <a:off x="4590" y="2112"/>
              <a:ext cx="0" cy="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9" name="Text Box 23"/>
            <p:cNvSpPr txBox="1">
              <a:spLocks noChangeArrowheads="1"/>
            </p:cNvSpPr>
            <p:nvPr/>
          </p:nvSpPr>
          <p:spPr bwMode="auto">
            <a:xfrm>
              <a:off x="3504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8440" name="Text Box 24"/>
            <p:cNvSpPr txBox="1">
              <a:spLocks noChangeArrowheads="1"/>
            </p:cNvSpPr>
            <p:nvPr/>
          </p:nvSpPr>
          <p:spPr bwMode="auto">
            <a:xfrm>
              <a:off x="3997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8441" name="Text Box 25"/>
            <p:cNvSpPr txBox="1">
              <a:spLocks noChangeArrowheads="1"/>
            </p:cNvSpPr>
            <p:nvPr/>
          </p:nvSpPr>
          <p:spPr bwMode="auto">
            <a:xfrm>
              <a:off x="4292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8442" name="Text Box 26"/>
            <p:cNvSpPr txBox="1">
              <a:spLocks noChangeArrowheads="1"/>
            </p:cNvSpPr>
            <p:nvPr/>
          </p:nvSpPr>
          <p:spPr bwMode="auto">
            <a:xfrm>
              <a:off x="4686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8443" name="Text Box 27"/>
            <p:cNvSpPr txBox="1">
              <a:spLocks noChangeArrowheads="1"/>
            </p:cNvSpPr>
            <p:nvPr/>
          </p:nvSpPr>
          <p:spPr bwMode="auto">
            <a:xfrm>
              <a:off x="5179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04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Clustering: Group Average</a:t>
            </a: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739775" y="5616575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5562600" y="5562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pic>
        <p:nvPicPr>
          <p:cNvPr id="190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3622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0470" name="Group 6"/>
          <p:cNvGrpSpPr>
            <a:grpSpLocks/>
          </p:cNvGrpSpPr>
          <p:nvPr/>
        </p:nvGrpSpPr>
        <p:grpSpPr bwMode="auto">
          <a:xfrm>
            <a:off x="633413" y="2041525"/>
            <a:ext cx="2790825" cy="2505075"/>
            <a:chOff x="509" y="1252"/>
            <a:chExt cx="1758" cy="1578"/>
          </a:xfrm>
        </p:grpSpPr>
        <p:sp>
          <p:nvSpPr>
            <p:cNvPr id="190486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7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8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9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0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1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2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3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4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5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6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7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230438" y="3327400"/>
            <a:ext cx="1301750" cy="833438"/>
            <a:chOff x="1515" y="2062"/>
            <a:chExt cx="820" cy="525"/>
          </a:xfrm>
        </p:grpSpPr>
        <p:sp>
          <p:nvSpPr>
            <p:cNvPr id="190484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485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42925" y="2436813"/>
            <a:ext cx="1323975" cy="985837"/>
            <a:chOff x="452" y="1501"/>
            <a:chExt cx="834" cy="621"/>
          </a:xfrm>
        </p:grpSpPr>
        <p:sp>
          <p:nvSpPr>
            <p:cNvPr id="190482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483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28600" y="1676400"/>
            <a:ext cx="3659188" cy="3460750"/>
            <a:chOff x="254" y="1022"/>
            <a:chExt cx="2305" cy="2180"/>
          </a:xfrm>
        </p:grpSpPr>
        <p:sp>
          <p:nvSpPr>
            <p:cNvPr id="190480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81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730375" y="3101975"/>
            <a:ext cx="1800225" cy="1665288"/>
            <a:chOff x="1217" y="1954"/>
            <a:chExt cx="1134" cy="1049"/>
          </a:xfrm>
        </p:grpSpPr>
        <p:sp>
          <p:nvSpPr>
            <p:cNvPr id="190478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79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1719263" y="1976438"/>
            <a:ext cx="1933575" cy="3097212"/>
            <a:chOff x="1193" y="1211"/>
            <a:chExt cx="1218" cy="1951"/>
          </a:xfrm>
        </p:grpSpPr>
        <p:sp>
          <p:nvSpPr>
            <p:cNvPr id="190476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77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52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Clustering: Group Average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defRPr/>
            </a:pPr>
            <a:r>
              <a:rPr lang="en-US" sz="3500" smtClean="0"/>
              <a:t>Compromise between Single and Complete Link</a:t>
            </a:r>
          </a:p>
          <a:p>
            <a:pPr marL="533400" indent="-533400" eaLnBrk="1" hangingPunct="1">
              <a:defRPr/>
            </a:pPr>
            <a:r>
              <a:rPr lang="en-US" sz="3500" smtClean="0"/>
              <a:t>Strengths</a:t>
            </a:r>
          </a:p>
          <a:p>
            <a:pPr marL="914400" lvl="1" indent="-457200" eaLnBrk="1" hangingPunct="1">
              <a:defRPr/>
            </a:pPr>
            <a:r>
              <a:rPr lang="en-US" sz="3200" smtClean="0"/>
              <a:t>Less susceptible to noise and outliers</a:t>
            </a:r>
          </a:p>
          <a:p>
            <a:pPr marL="533400" indent="-533400" eaLnBrk="1" hangingPunct="1">
              <a:defRPr/>
            </a:pPr>
            <a:endParaRPr lang="en-US" sz="3500" smtClean="0"/>
          </a:p>
          <a:p>
            <a:pPr marL="533400" indent="-533400" eaLnBrk="1" hangingPunct="1">
              <a:defRPr/>
            </a:pPr>
            <a:r>
              <a:rPr lang="en-US" sz="3500" smtClean="0"/>
              <a:t>Limitations</a:t>
            </a:r>
          </a:p>
          <a:p>
            <a:pPr marL="914400" lvl="1" indent="-457200" eaLnBrk="1" hangingPunct="1">
              <a:defRPr/>
            </a:pPr>
            <a:r>
              <a:rPr lang="en-US" sz="3200" smtClean="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108012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Distance between two clusters</a:t>
            </a:r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>
                <a:solidFill>
                  <a:srgbClr val="FF0000"/>
                </a:solidFill>
              </a:rPr>
              <a:t>Centroid distance </a:t>
            </a:r>
            <a:r>
              <a:rPr lang="en-US" altLang="en-US" smtClean="0"/>
              <a:t>between clusters </a:t>
            </a:r>
            <a:r>
              <a:rPr lang="en-US" altLang="en-US" b="1" smtClean="0">
                <a:solidFill>
                  <a:schemeClr val="accent1"/>
                </a:solidFill>
              </a:rPr>
              <a:t>C</a:t>
            </a:r>
            <a:r>
              <a:rPr lang="en-US" altLang="en-US" b="1" baseline="-25000" smtClean="0">
                <a:solidFill>
                  <a:schemeClr val="accent1"/>
                </a:solidFill>
              </a:rPr>
              <a:t>i</a:t>
            </a:r>
            <a:r>
              <a:rPr lang="en-US" altLang="en-US" smtClean="0"/>
              <a:t> and </a:t>
            </a:r>
            <a:r>
              <a:rPr lang="en-US" altLang="en-US" b="1" smtClean="0">
                <a:solidFill>
                  <a:schemeClr val="accent1"/>
                </a:solidFill>
              </a:rPr>
              <a:t>C</a:t>
            </a:r>
            <a:r>
              <a:rPr lang="en-US" altLang="en-US" b="1" baseline="-25000" smtClean="0">
                <a:solidFill>
                  <a:schemeClr val="accent1"/>
                </a:solidFill>
              </a:rPr>
              <a:t>j</a:t>
            </a:r>
            <a:r>
              <a:rPr lang="en-US" altLang="en-US" baseline="-25000" smtClean="0"/>
              <a:t> </a:t>
            </a:r>
            <a:r>
              <a:rPr lang="en-US" altLang="en-US" smtClean="0"/>
              <a:t>is the distance between the centroid </a:t>
            </a:r>
            <a:r>
              <a:rPr lang="en-US" altLang="en-US" b="1" smtClean="0">
                <a:solidFill>
                  <a:schemeClr val="accent1"/>
                </a:solidFill>
              </a:rPr>
              <a:t>r</a:t>
            </a:r>
            <a:r>
              <a:rPr lang="en-US" altLang="en-US" b="1" baseline="-25000" smtClean="0">
                <a:solidFill>
                  <a:schemeClr val="accent1"/>
                </a:solidFill>
              </a:rPr>
              <a:t>i</a:t>
            </a:r>
            <a:r>
              <a:rPr lang="en-US" altLang="en-US" smtClean="0"/>
              <a:t> of </a:t>
            </a:r>
            <a:r>
              <a:rPr lang="en-US" altLang="en-US" b="1" smtClean="0">
                <a:solidFill>
                  <a:schemeClr val="accent1"/>
                </a:solidFill>
              </a:rPr>
              <a:t>C</a:t>
            </a:r>
            <a:r>
              <a:rPr lang="en-US" altLang="en-US" b="1" baseline="-25000" smtClean="0">
                <a:solidFill>
                  <a:schemeClr val="accent1"/>
                </a:solidFill>
              </a:rPr>
              <a:t>i</a:t>
            </a:r>
            <a:r>
              <a:rPr lang="en-US" altLang="en-US" smtClean="0"/>
              <a:t> and the centroid </a:t>
            </a:r>
            <a:r>
              <a:rPr lang="en-US" altLang="en-US" b="1" smtClean="0">
                <a:solidFill>
                  <a:schemeClr val="accent1"/>
                </a:solidFill>
              </a:rPr>
              <a:t>r</a:t>
            </a:r>
            <a:r>
              <a:rPr lang="en-US" altLang="en-US" b="1" baseline="-25000" smtClean="0">
                <a:solidFill>
                  <a:schemeClr val="accent1"/>
                </a:solidFill>
              </a:rPr>
              <a:t>j</a:t>
            </a:r>
            <a:r>
              <a:rPr lang="en-US" altLang="en-US" smtClean="0"/>
              <a:t> of </a:t>
            </a:r>
            <a:r>
              <a:rPr lang="en-US" altLang="en-US" b="1" smtClean="0">
                <a:solidFill>
                  <a:schemeClr val="accent1"/>
                </a:solidFill>
              </a:rPr>
              <a:t>C</a:t>
            </a:r>
            <a:r>
              <a:rPr lang="en-US" altLang="en-US" b="1" baseline="-25000" smtClean="0">
                <a:solidFill>
                  <a:schemeClr val="accent1"/>
                </a:solidFill>
              </a:rPr>
              <a:t>j 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2901950" y="3675063"/>
          <a:ext cx="37274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7" name="Equation" r:id="rId3" imgW="1549080" imgH="241200" progId="Equation.3">
                  <p:embed/>
                </p:oleObj>
              </mc:Choice>
              <mc:Fallback>
                <p:oleObj name="Equation" r:id="rId3" imgW="15490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3675063"/>
                        <a:ext cx="3727450" cy="592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5337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Distance between two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77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rgbClr val="FF0000"/>
                </a:solidFill>
              </a:rPr>
              <a:t>Ward’s distance </a:t>
            </a:r>
            <a:r>
              <a:rPr lang="en-US" dirty="0" smtClean="0"/>
              <a:t>between clusters </a:t>
            </a:r>
            <a:r>
              <a:rPr lang="en-US" b="1" dirty="0" err="1" smtClean="0">
                <a:solidFill>
                  <a:schemeClr val="accent1"/>
                </a:solidFill>
              </a:rPr>
              <a:t>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i</a:t>
            </a:r>
            <a:r>
              <a:rPr lang="en-US" dirty="0" smtClean="0"/>
              <a:t> and </a:t>
            </a:r>
            <a:r>
              <a:rPr lang="en-US" b="1" dirty="0" err="1" smtClean="0">
                <a:solidFill>
                  <a:schemeClr val="accent1"/>
                </a:solidFill>
              </a:rPr>
              <a:t>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j</a:t>
            </a:r>
            <a:r>
              <a:rPr lang="en-US" baseline="-25000" dirty="0" smtClean="0"/>
              <a:t> </a:t>
            </a:r>
            <a:r>
              <a:rPr lang="en-US" dirty="0" smtClean="0"/>
              <a:t>is the </a:t>
            </a:r>
            <a:r>
              <a:rPr lang="en-US" b="1" i="1" dirty="0" smtClean="0"/>
              <a:t>difference</a:t>
            </a:r>
            <a:r>
              <a:rPr lang="en-US" dirty="0" smtClean="0"/>
              <a:t> between the </a:t>
            </a:r>
            <a:r>
              <a:rPr lang="en-US" b="1" i="1" dirty="0" smtClean="0"/>
              <a:t>total within cluster sum of squares for the two clusters separately</a:t>
            </a:r>
            <a:r>
              <a:rPr lang="en-US" dirty="0" smtClean="0"/>
              <a:t>, and the </a:t>
            </a:r>
            <a:r>
              <a:rPr lang="en-US" b="1" i="1" dirty="0" smtClean="0"/>
              <a:t>within cluster sum of squares resulting from merging the two clusters </a:t>
            </a:r>
            <a:r>
              <a:rPr lang="en-US" dirty="0" smtClean="0"/>
              <a:t>in cluster </a:t>
            </a:r>
            <a:r>
              <a:rPr lang="en-US" b="1" dirty="0" err="1" smtClean="0">
                <a:solidFill>
                  <a:schemeClr val="accent1"/>
                </a:solidFill>
              </a:rPr>
              <a:t>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ij</a:t>
            </a:r>
            <a:endParaRPr lang="en-US" b="1" baseline="-25000" dirty="0" smtClean="0">
              <a:solidFill>
                <a:schemeClr val="accent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accent1"/>
                </a:solidFill>
              </a:rPr>
              <a:t>r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i</a:t>
            </a:r>
            <a:r>
              <a:rPr lang="en-US" dirty="0" smtClean="0"/>
              <a:t>: </a:t>
            </a:r>
            <a:r>
              <a:rPr lang="en-US" dirty="0" err="1" smtClean="0"/>
              <a:t>centroid</a:t>
            </a:r>
            <a:r>
              <a:rPr lang="en-US" dirty="0" smtClean="0"/>
              <a:t> of </a:t>
            </a:r>
            <a:r>
              <a:rPr lang="en-US" b="1" dirty="0" err="1" smtClean="0">
                <a:solidFill>
                  <a:schemeClr val="accent1"/>
                </a:solidFill>
              </a:rPr>
              <a:t>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i</a:t>
            </a:r>
            <a:endParaRPr lang="en-US" b="1" baseline="-25000" dirty="0" smtClean="0">
              <a:solidFill>
                <a:schemeClr val="accent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accent1"/>
                </a:solidFill>
              </a:rPr>
              <a:t>r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j</a:t>
            </a:r>
            <a:r>
              <a:rPr lang="en-US" dirty="0" smtClean="0"/>
              <a:t>: </a:t>
            </a:r>
            <a:r>
              <a:rPr lang="en-US" dirty="0" err="1" smtClean="0"/>
              <a:t>centroid</a:t>
            </a:r>
            <a:r>
              <a:rPr lang="en-US" dirty="0" smtClean="0"/>
              <a:t> of </a:t>
            </a:r>
            <a:r>
              <a:rPr lang="en-US" b="1" dirty="0" err="1" smtClean="0">
                <a:solidFill>
                  <a:schemeClr val="accent1"/>
                </a:solidFill>
              </a:rPr>
              <a:t>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j</a:t>
            </a:r>
            <a:endParaRPr lang="en-US" b="1" baseline="-25000" dirty="0" smtClean="0">
              <a:solidFill>
                <a:schemeClr val="accent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b="1" dirty="0" err="1" smtClean="0">
                <a:solidFill>
                  <a:schemeClr val="accent1"/>
                </a:solidFill>
              </a:rPr>
              <a:t>r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ij</a:t>
            </a:r>
            <a:r>
              <a:rPr lang="en-US" dirty="0" smtClean="0"/>
              <a:t>: </a:t>
            </a:r>
            <a:r>
              <a:rPr lang="en-US" dirty="0" err="1" smtClean="0"/>
              <a:t>centroid</a:t>
            </a:r>
            <a:r>
              <a:rPr lang="en-US" dirty="0" smtClean="0"/>
              <a:t> of </a:t>
            </a:r>
            <a:r>
              <a:rPr lang="en-US" b="1" dirty="0" err="1" smtClean="0">
                <a:solidFill>
                  <a:schemeClr val="accent1"/>
                </a:solidFill>
              </a:rPr>
              <a:t>C</a:t>
            </a:r>
            <a:r>
              <a:rPr lang="en-US" b="1" baseline="-25000" dirty="0" err="1" smtClean="0">
                <a:solidFill>
                  <a:schemeClr val="accent1"/>
                </a:solidFill>
              </a:rPr>
              <a:t>ij</a:t>
            </a:r>
            <a:endParaRPr lang="en-US" b="1" baseline="-25000" dirty="0" smtClean="0">
              <a:solidFill>
                <a:schemeClr val="accent1"/>
              </a:solidFill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1447800" y="3581400"/>
          <a:ext cx="68262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1" name="Equation" r:id="rId3" imgW="3085920" imgH="393480" progId="Equation.3">
                  <p:embed/>
                </p:oleObj>
              </mc:Choice>
              <mc:Fallback>
                <p:oleObj name="Equation" r:id="rId3" imgW="30859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81400"/>
                        <a:ext cx="682625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168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Ward’s Method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mtClean="0">
                <a:effectLst/>
              </a:rPr>
              <a:t>Similarity of two clusters is based on the increase in squared error when two clusters are merged</a:t>
            </a:r>
          </a:p>
          <a:p>
            <a:pPr lvl="1" eaLnBrk="1" hangingPunct="1"/>
            <a:r>
              <a:rPr lang="en-US" altLang="en-US" smtClean="0">
                <a:effectLst/>
              </a:rPr>
              <a:t>Similar to group average if distance between points is distance squared</a:t>
            </a:r>
          </a:p>
          <a:p>
            <a:pPr eaLnBrk="1" hangingPunct="1"/>
            <a:r>
              <a:rPr lang="en-US" altLang="en-US" smtClean="0">
                <a:effectLst/>
              </a:rPr>
              <a:t>Less susceptible to noise and outliers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Biased towards globular clusters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Hierarchical analogue of K-means</a:t>
            </a:r>
          </a:p>
          <a:p>
            <a:pPr lvl="1" eaLnBrk="1" hangingPunct="1"/>
            <a:r>
              <a:rPr lang="en-US" altLang="en-US" smtClean="0">
                <a:effectLst/>
              </a:rPr>
              <a:t>Can be used to initialize K-means</a:t>
            </a:r>
          </a:p>
        </p:txBody>
      </p:sp>
    </p:spTree>
    <p:extLst>
      <p:ext uri="{BB962C8B-B14F-4D97-AF65-F5344CB8AC3E}">
        <p14:creationId xmlns:p14="http://schemas.microsoft.com/office/powerpoint/2010/main" val="201627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Hierarchical Clustering: Comparison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3048000" y="50292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Group Average</a:t>
            </a: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530725" y="45720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Ward’s Method</a:t>
            </a:r>
          </a:p>
        </p:txBody>
      </p:sp>
      <p:grpSp>
        <p:nvGrpSpPr>
          <p:cNvPr id="196613" name="Group 5"/>
          <p:cNvGrpSpPr>
            <a:grpSpLocks noChangeAspect="1"/>
          </p:cNvGrpSpPr>
          <p:nvPr/>
        </p:nvGrpSpPr>
        <p:grpSpPr bwMode="auto">
          <a:xfrm>
            <a:off x="858838" y="4067175"/>
            <a:ext cx="1858962" cy="1693863"/>
            <a:chOff x="509" y="1253"/>
            <a:chExt cx="1776" cy="1618"/>
          </a:xfrm>
        </p:grpSpPr>
        <p:sp>
          <p:nvSpPr>
            <p:cNvPr id="196715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6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7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8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9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20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21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2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3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4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5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6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8"/>
          <p:cNvGrpSpPr>
            <a:grpSpLocks noChangeAspect="1"/>
          </p:cNvGrpSpPr>
          <p:nvPr/>
        </p:nvGrpSpPr>
        <p:grpSpPr bwMode="auto">
          <a:xfrm>
            <a:off x="1912938" y="4914900"/>
            <a:ext cx="857250" cy="592138"/>
            <a:chOff x="1515" y="2062"/>
            <a:chExt cx="820" cy="566"/>
          </a:xfrm>
        </p:grpSpPr>
        <p:sp>
          <p:nvSpPr>
            <p:cNvPr id="196713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4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800100" y="4327525"/>
            <a:ext cx="873125" cy="649288"/>
            <a:chOff x="452" y="1501"/>
            <a:chExt cx="834" cy="621"/>
          </a:xfrm>
        </p:grpSpPr>
        <p:sp>
          <p:nvSpPr>
            <p:cNvPr id="196711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2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592138" y="3825875"/>
            <a:ext cx="2413000" cy="2281238"/>
            <a:chOff x="254" y="1022"/>
            <a:chExt cx="2305" cy="2180"/>
          </a:xfrm>
        </p:grpSpPr>
        <p:sp>
          <p:nvSpPr>
            <p:cNvPr id="196709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10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1600200" y="4800600"/>
            <a:ext cx="1187450" cy="1141413"/>
            <a:chOff x="1217" y="1954"/>
            <a:chExt cx="1134" cy="1090"/>
          </a:xfrm>
        </p:grpSpPr>
        <p:sp>
          <p:nvSpPr>
            <p:cNvPr id="196707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8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1574800" y="4024313"/>
            <a:ext cx="1274763" cy="2041525"/>
            <a:chOff x="1193" y="1212"/>
            <a:chExt cx="1218" cy="1950"/>
          </a:xfrm>
        </p:grpSpPr>
        <p:sp>
          <p:nvSpPr>
            <p:cNvPr id="196705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6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619" name="Text Box 33"/>
          <p:cNvSpPr txBox="1">
            <a:spLocks noChangeArrowheads="1"/>
          </p:cNvSpPr>
          <p:nvPr/>
        </p:nvSpPr>
        <p:spPr bwMode="auto">
          <a:xfrm>
            <a:off x="3387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MIN</a:t>
            </a:r>
          </a:p>
        </p:txBody>
      </p:sp>
      <p:sp>
        <p:nvSpPr>
          <p:cNvPr id="196620" name="Text Box 34"/>
          <p:cNvSpPr txBox="1">
            <a:spLocks noChangeArrowheads="1"/>
          </p:cNvSpPr>
          <p:nvPr/>
        </p:nvSpPr>
        <p:spPr bwMode="auto">
          <a:xfrm>
            <a:off x="5292725" y="21336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MAX</a:t>
            </a:r>
          </a:p>
        </p:txBody>
      </p:sp>
      <p:grpSp>
        <p:nvGrpSpPr>
          <p:cNvPr id="196621" name="Group 35"/>
          <p:cNvGrpSpPr>
            <a:grpSpLocks noChangeAspect="1"/>
          </p:cNvGrpSpPr>
          <p:nvPr/>
        </p:nvGrpSpPr>
        <p:grpSpPr bwMode="auto">
          <a:xfrm>
            <a:off x="6353175" y="4219575"/>
            <a:ext cx="1978025" cy="1795463"/>
            <a:chOff x="438" y="1309"/>
            <a:chExt cx="1937" cy="1757"/>
          </a:xfrm>
        </p:grpSpPr>
        <p:sp>
          <p:nvSpPr>
            <p:cNvPr id="196693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4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5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6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7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8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9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0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1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2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3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4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7475538" y="5126038"/>
            <a:ext cx="917575" cy="617537"/>
            <a:chOff x="1537" y="2197"/>
            <a:chExt cx="898" cy="604"/>
          </a:xfrm>
        </p:grpSpPr>
        <p:sp>
          <p:nvSpPr>
            <p:cNvPr id="196691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2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6292850" y="4497388"/>
            <a:ext cx="1035050" cy="582612"/>
            <a:chOff x="380" y="1581"/>
            <a:chExt cx="1012" cy="570"/>
          </a:xfrm>
        </p:grpSpPr>
        <p:sp>
          <p:nvSpPr>
            <p:cNvPr id="196689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0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6067425" y="4060825"/>
            <a:ext cx="2578100" cy="2286000"/>
            <a:chOff x="159" y="1154"/>
            <a:chExt cx="2523" cy="2237"/>
          </a:xfrm>
        </p:grpSpPr>
        <p:sp>
          <p:nvSpPr>
            <p:cNvPr id="196687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8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7064375" y="5011738"/>
            <a:ext cx="1357313" cy="1052512"/>
            <a:chOff x="1135" y="2084"/>
            <a:chExt cx="1328" cy="1030"/>
          </a:xfrm>
        </p:grpSpPr>
        <p:sp>
          <p:nvSpPr>
            <p:cNvPr id="196685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6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6096000" y="4343400"/>
            <a:ext cx="2432050" cy="1789113"/>
            <a:chOff x="187" y="1430"/>
            <a:chExt cx="2380" cy="1751"/>
          </a:xfrm>
        </p:grpSpPr>
        <p:sp>
          <p:nvSpPr>
            <p:cNvPr id="196683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4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627" name="Group 63"/>
          <p:cNvGrpSpPr>
            <a:grpSpLocks noChangeAspect="1"/>
          </p:cNvGrpSpPr>
          <p:nvPr/>
        </p:nvGrpSpPr>
        <p:grpSpPr bwMode="auto">
          <a:xfrm>
            <a:off x="6157913" y="1452563"/>
            <a:ext cx="1979612" cy="1797050"/>
            <a:chOff x="383" y="1437"/>
            <a:chExt cx="1902" cy="1727"/>
          </a:xfrm>
        </p:grpSpPr>
        <p:sp>
          <p:nvSpPr>
            <p:cNvPr id="196671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2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3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4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5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6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7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78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79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0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1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2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7285038" y="2360613"/>
            <a:ext cx="919162" cy="617537"/>
            <a:chOff x="1465" y="2309"/>
            <a:chExt cx="883" cy="594"/>
          </a:xfrm>
        </p:grpSpPr>
        <p:sp>
          <p:nvSpPr>
            <p:cNvPr id="196669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0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6100763" y="1730375"/>
            <a:ext cx="1036637" cy="584200"/>
            <a:chOff x="328" y="1704"/>
            <a:chExt cx="995" cy="561"/>
          </a:xfrm>
        </p:grpSpPr>
        <p:sp>
          <p:nvSpPr>
            <p:cNvPr id="196667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8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5875338" y="1293813"/>
            <a:ext cx="2582862" cy="2287587"/>
            <a:chOff x="111" y="1285"/>
            <a:chExt cx="2481" cy="2197"/>
          </a:xfrm>
        </p:grpSpPr>
        <p:sp>
          <p:nvSpPr>
            <p:cNvPr id="196665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6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6873875" y="2211388"/>
            <a:ext cx="1416050" cy="1084262"/>
            <a:chOff x="1070" y="2167"/>
            <a:chExt cx="1361" cy="1041"/>
          </a:xfrm>
        </p:grpSpPr>
        <p:sp>
          <p:nvSpPr>
            <p:cNvPr id="196663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4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6043613" y="1384300"/>
            <a:ext cx="1905000" cy="996950"/>
            <a:chOff x="272" y="1372"/>
            <a:chExt cx="1831" cy="958"/>
          </a:xfrm>
        </p:grpSpPr>
        <p:sp>
          <p:nvSpPr>
            <p:cNvPr id="196661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2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633" name="Group 91"/>
          <p:cNvGrpSpPr>
            <a:grpSpLocks noChangeAspect="1"/>
          </p:cNvGrpSpPr>
          <p:nvPr/>
        </p:nvGrpSpPr>
        <p:grpSpPr bwMode="auto">
          <a:xfrm>
            <a:off x="1009650" y="1362075"/>
            <a:ext cx="1990725" cy="1806575"/>
            <a:chOff x="471" y="1117"/>
            <a:chExt cx="1935" cy="1755"/>
          </a:xfrm>
        </p:grpSpPr>
        <p:sp>
          <p:nvSpPr>
            <p:cNvPr id="196649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0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1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2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3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4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5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6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7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8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9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0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2141538" y="2070100"/>
            <a:ext cx="923925" cy="592138"/>
            <a:chOff x="1572" y="1805"/>
            <a:chExt cx="897" cy="575"/>
          </a:xfrm>
        </p:grpSpPr>
        <p:sp>
          <p:nvSpPr>
            <p:cNvPr id="196647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8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865188" y="1825625"/>
            <a:ext cx="1125537" cy="742950"/>
            <a:chOff x="332" y="1568"/>
            <a:chExt cx="1093" cy="721"/>
          </a:xfrm>
        </p:grpSpPr>
        <p:sp>
          <p:nvSpPr>
            <p:cNvPr id="196645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6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812800" y="1555750"/>
            <a:ext cx="2382838" cy="1358900"/>
            <a:chOff x="280" y="1305"/>
            <a:chExt cx="2315" cy="1321"/>
          </a:xfrm>
        </p:grpSpPr>
        <p:sp>
          <p:nvSpPr>
            <p:cNvPr id="196643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4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771525" y="1477963"/>
            <a:ext cx="2462213" cy="1887537"/>
            <a:chOff x="241" y="1229"/>
            <a:chExt cx="2391" cy="1834"/>
          </a:xfrm>
        </p:grpSpPr>
        <p:sp>
          <p:nvSpPr>
            <p:cNvPr id="196641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2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723900" y="1216025"/>
            <a:ext cx="2595563" cy="2289175"/>
            <a:chOff x="194" y="975"/>
            <a:chExt cx="2522" cy="2224"/>
          </a:xfrm>
        </p:grpSpPr>
        <p:sp>
          <p:nvSpPr>
            <p:cNvPr id="196639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40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05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dirty="0" smtClean="0"/>
              <a:t>Hierarchical Clustering: Problems and Limitations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334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Once a decision is made to combine two clusters, it cannot be undone</a:t>
            </a:r>
          </a:p>
          <a:p>
            <a:pPr lvl="4"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No objective function is directly minimized</a:t>
            </a:r>
          </a:p>
          <a:p>
            <a:pPr lvl="4"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Different schemes have problems with one or more of the following:</a:t>
            </a:r>
          </a:p>
          <a:p>
            <a:pPr lvl="1" eaLnBrk="1" hangingPunct="1">
              <a:defRPr/>
            </a:pPr>
            <a:r>
              <a:rPr lang="en-US" dirty="0" smtClean="0"/>
              <a:t>Sensitivity to noise and outliers</a:t>
            </a:r>
          </a:p>
          <a:p>
            <a:pPr lvl="1" eaLnBrk="1" hangingPunct="1">
              <a:defRPr/>
            </a:pPr>
            <a:r>
              <a:rPr lang="en-US" dirty="0" smtClean="0"/>
              <a:t>Difficulty handling different sized clusters and convex shapes</a:t>
            </a:r>
          </a:p>
          <a:p>
            <a:pPr lvl="1" eaLnBrk="1" hangingPunct="1">
              <a:defRPr/>
            </a:pPr>
            <a:r>
              <a:rPr lang="en-US" dirty="0" smtClean="0"/>
              <a:t>Breaking large clusters</a:t>
            </a:r>
          </a:p>
        </p:txBody>
      </p:sp>
    </p:spTree>
    <p:extLst>
      <p:ext uri="{BB962C8B-B14F-4D97-AF65-F5344CB8AC3E}">
        <p14:creationId xmlns:p14="http://schemas.microsoft.com/office/powerpoint/2010/main" val="319676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4582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/>
            </a:r>
            <a:br>
              <a:rPr lang="en-US"/>
            </a:br>
            <a:endParaRPr lang="en-GB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1752600"/>
            <a:ext cx="8763000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  <a:ea typeface="宋体" panose="02010600030101010101" pitchFamily="2" charset="-122"/>
              </a:rPr>
              <a:t>Messy to construct if number of points is large.</a:t>
            </a:r>
          </a:p>
        </p:txBody>
      </p:sp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28600" y="673100"/>
            <a:ext cx="79089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/>
              <a:t>Problems with Dendrogram</a:t>
            </a:r>
            <a:endParaRPr lang="en-GB" altLang="en-US" sz="4400" b="1"/>
          </a:p>
        </p:txBody>
      </p:sp>
      <p:pic>
        <p:nvPicPr>
          <p:cNvPr id="1402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81534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1219200" y="64008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Number of observations = 6113</a:t>
            </a:r>
            <a:endParaRPr lang="en-GB" alt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48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Deciding where to cut the Dendrogram can be difficult</a:t>
            </a:r>
            <a:endParaRPr lang="en-GB" altLang="en-US" sz="4000" b="1" smtClean="0">
              <a:effectLst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219700" y="2133600"/>
            <a:ext cx="3924300" cy="3417888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effectLst/>
              </a:rPr>
              <a:t>As shown, if there are no sharp elbow </a:t>
            </a:r>
            <a:r>
              <a:rPr lang="en-US" altLang="en-US" sz="2400" dirty="0" err="1" smtClean="0">
                <a:effectLst/>
              </a:rPr>
              <a:t>knicks</a:t>
            </a:r>
            <a:r>
              <a:rPr lang="en-US" altLang="en-US" sz="2400" dirty="0" smtClean="0">
                <a:effectLst/>
              </a:rPr>
              <a:t> in the Inverse Scree Test, then it is difficult to find the number of clusters from the </a:t>
            </a:r>
            <a:r>
              <a:rPr lang="en-US" altLang="en-US" sz="2400" dirty="0" err="1" smtClean="0">
                <a:effectLst/>
              </a:rPr>
              <a:t>dendrogram</a:t>
            </a:r>
            <a:endParaRPr lang="en-GB" altLang="en-US" sz="2400" dirty="0" smtClean="0">
              <a:effectLst/>
            </a:endParaRP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13716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Inverse Scree test</a:t>
            </a:r>
            <a:endParaRPr lang="en-GB" altLang="en-US" sz="1800"/>
          </a:p>
        </p:txBody>
      </p:sp>
      <p:graphicFrame>
        <p:nvGraphicFramePr>
          <p:cNvPr id="141317" name="Object 2"/>
          <p:cNvGraphicFramePr>
            <a:graphicFrameLocks noChangeAspect="1"/>
          </p:cNvGraphicFramePr>
          <p:nvPr/>
        </p:nvGraphicFramePr>
        <p:xfrm>
          <a:off x="228600" y="1895475"/>
          <a:ext cx="4953000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8" name="Bitmap Image" r:id="rId3" imgW="4580952" imgH="3742857" progId="Paint.Picture">
                  <p:embed/>
                </p:oleObj>
              </mc:Choice>
              <mc:Fallback>
                <p:oleObj name="Bitmap Image" r:id="rId3" imgW="4580952" imgH="374285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95475"/>
                        <a:ext cx="4953000" cy="404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30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Comparing two Dendrograms is not straightforward</a:t>
            </a:r>
            <a:endParaRPr lang="en-GB" altLang="en-US" sz="4000" b="1" smtClean="0">
              <a:effectLst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4724400"/>
            <a:ext cx="358140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effectLst/>
              </a:rPr>
              <a:t>  </a:t>
            </a:r>
            <a:r>
              <a:rPr lang="en-US" altLang="en-US" sz="2400" b="1" smtClean="0">
                <a:effectLst/>
              </a:rPr>
              <a:t>H</a:t>
            </a:r>
            <a:r>
              <a:rPr lang="en-US" altLang="en-US" sz="2400" b="1" baseline="-25000" smtClean="0">
                <a:effectLst/>
              </a:rPr>
              <a:t>n</a:t>
            </a:r>
            <a:r>
              <a:rPr lang="en-US" altLang="en-US" sz="2400" smtClean="0">
                <a:effectLst/>
              </a:rPr>
              <a:t> denotes the number of simply equivalent dendrograms for n objects.</a:t>
            </a:r>
            <a:endParaRPr lang="en-GB" altLang="en-US" sz="2400" smtClean="0">
              <a:effectLst/>
            </a:endParaRPr>
          </a:p>
        </p:txBody>
      </p:sp>
      <p:pic>
        <p:nvPicPr>
          <p:cNvPr id="142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1600"/>
            <a:ext cx="41148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4343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5105400" y="1981200"/>
            <a:ext cx="35814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four dendrograms all represent the same data.  They can be obtained from each other by rotating a few branches.</a:t>
            </a:r>
            <a:endParaRPr lang="en-GB" altLang="en-US" sz="1800"/>
          </a:p>
        </p:txBody>
      </p:sp>
    </p:spTree>
    <p:extLst>
      <p:ext uri="{BB962C8B-B14F-4D97-AF65-F5344CB8AC3E}">
        <p14:creationId xmlns:p14="http://schemas.microsoft.com/office/powerpoint/2010/main" val="170505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3200"/>
            <a:ext cx="8229600" cy="1143000"/>
          </a:xfrm>
        </p:spPr>
        <p:txBody>
          <a:bodyPr/>
          <a:lstStyle/>
          <a:p>
            <a:r>
              <a:rPr lang="en-US" dirty="0"/>
              <a:t>Clustering Validation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58674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Material taken from text book (chapter 8) and from DMA book by </a:t>
            </a:r>
            <a:r>
              <a:rPr lang="en-US" dirty="0" err="1" smtClean="0"/>
              <a:t>Zaki</a:t>
            </a:r>
            <a:r>
              <a:rPr lang="en-US" dirty="0" smtClean="0"/>
              <a:t> &amp; </a:t>
            </a:r>
            <a:r>
              <a:rPr lang="en-US" dirty="0" err="1" smtClean="0"/>
              <a:t>Meira</a:t>
            </a:r>
            <a:r>
              <a:rPr lang="en-US" dirty="0" smtClean="0"/>
              <a:t> (chapter 17)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31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Validity 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5486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For supervised classification we have a variety of measures to evaluate how good our model is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Accuracy, precision, recall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For cluster analysis, the analogous question is how to evaluate the “goodness” of the resulting clusters?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But “clusters are in the eye of the beholder”!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8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/>
              <a:t>Then why do we want to evaluate them?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To avoid finding patterns in noise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To compare clustering algorithms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400" dirty="0" smtClean="0"/>
              <a:t>To compare two clusters</a:t>
            </a:r>
          </a:p>
        </p:txBody>
      </p:sp>
    </p:spTree>
    <p:extLst>
      <p:ext uri="{BB962C8B-B14F-4D97-AF65-F5344CB8AC3E}">
        <p14:creationId xmlns:p14="http://schemas.microsoft.com/office/powerpoint/2010/main" val="56461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Clusters found in Random Data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1143000"/>
            <a:ext cx="3648075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79413" y="2057400"/>
            <a:ext cx="990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Random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79413" y="3810000"/>
            <a:ext cx="4113212" cy="2743200"/>
            <a:chOff x="96" y="2304"/>
            <a:chExt cx="2591" cy="1728"/>
          </a:xfrm>
        </p:grpSpPr>
        <p:pic>
          <p:nvPicPr>
            <p:cNvPr id="7180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7"/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K-means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343400" y="1143000"/>
            <a:ext cx="4341813" cy="2743200"/>
            <a:chOff x="2593" y="624"/>
            <a:chExt cx="2735" cy="1728"/>
          </a:xfrm>
        </p:grpSpPr>
        <p:pic>
          <p:nvPicPr>
            <p:cNvPr id="7178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9" name="Text Box 10"/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DBSCAN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343400" y="3810000"/>
            <a:ext cx="4646613" cy="2743200"/>
            <a:chOff x="2593" y="2304"/>
            <a:chExt cx="2927" cy="1728"/>
          </a:xfrm>
        </p:grpSpPr>
        <p:pic>
          <p:nvPicPr>
            <p:cNvPr id="7176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7" name="Text Box 13"/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Complete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678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Clusters do not look compelling for any of the three methods</a:t>
            </a:r>
          </a:p>
          <a:p>
            <a:r>
              <a:rPr lang="en-US" dirty="0" smtClean="0"/>
              <a:t>In higher dimensions, such problems can not be easily detected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67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410200"/>
          </a:xfrm>
        </p:spPr>
        <p:txBody>
          <a:bodyPr>
            <a:normAutofit/>
          </a:bodyPr>
          <a:lstStyle/>
          <a:p>
            <a:pPr marL="533400" indent="-533400" eaLnBrk="1" hangingPunct="1">
              <a:buSzTx/>
              <a:buFont typeface="Monotype Sorts" pitchFamily="2" charset="2"/>
              <a:buAutoNum type="arabicPeriod"/>
              <a:defRPr/>
            </a:pPr>
            <a:r>
              <a:rPr lang="en-US" sz="2400" dirty="0" smtClean="0"/>
              <a:t>Determining the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clustering tendency</a:t>
            </a:r>
            <a:r>
              <a:rPr lang="en-US" sz="2400" dirty="0" smtClean="0"/>
              <a:t> of a set of data, i.e., distinguishing whether non-random structure actually exists in the data. </a:t>
            </a:r>
          </a:p>
          <a:p>
            <a:pPr marL="533400" indent="-533400" eaLnBrk="1" hangingPunct="1">
              <a:buSzTx/>
              <a:buFont typeface="Monotype Sorts" pitchFamily="2" charset="2"/>
              <a:buAutoNum type="arabicPeriod"/>
              <a:defRPr/>
            </a:pPr>
            <a:r>
              <a:rPr lang="en-US" sz="2400" dirty="0" smtClean="0"/>
              <a:t>Comparing the results of a cluster analysis to externally known results, e.g., to externally given class labels.</a:t>
            </a:r>
          </a:p>
          <a:p>
            <a:pPr marL="533400" indent="-533400" eaLnBrk="1" hangingPunct="1">
              <a:buSzTx/>
              <a:buFont typeface="Monotype Sorts" pitchFamily="2" charset="2"/>
              <a:buAutoNum type="arabicPeriod"/>
              <a:defRPr/>
            </a:pPr>
            <a:r>
              <a:rPr lang="en-US" sz="2400" dirty="0" smtClean="0"/>
              <a:t>Evaluating how well the results of a cluster analysis fit the data </a:t>
            </a:r>
            <a:r>
              <a:rPr lang="en-US" sz="2400" i="1" dirty="0" smtClean="0"/>
              <a:t>without</a:t>
            </a:r>
            <a:r>
              <a:rPr lang="en-US" sz="2400" dirty="0" smtClean="0"/>
              <a:t> reference to external information. </a:t>
            </a:r>
          </a:p>
          <a:p>
            <a:pPr marL="990600" lvl="1" indent="-533400" eaLnBrk="1" hangingPunct="1">
              <a:buSzTx/>
              <a:buFont typeface="Arial" charset="0"/>
              <a:buNone/>
              <a:defRPr/>
            </a:pPr>
            <a:r>
              <a:rPr lang="en-US" sz="2000" dirty="0" smtClean="0"/>
              <a:t>	- Use only the data</a:t>
            </a:r>
          </a:p>
          <a:p>
            <a:pPr marL="533400" indent="-533400" eaLnBrk="1" hangingPunct="1">
              <a:buSzTx/>
              <a:buFont typeface="Monotype Sorts" pitchFamily="2" charset="2"/>
              <a:buAutoNum type="arabicPeriod"/>
              <a:defRPr/>
            </a:pPr>
            <a:r>
              <a:rPr lang="en-US" sz="2400" dirty="0" smtClean="0"/>
              <a:t>Comparing the results of two different sets of cluster analyses to determine which is better.</a:t>
            </a:r>
          </a:p>
          <a:p>
            <a:pPr marL="533400" indent="-533400" eaLnBrk="1" hangingPunct="1">
              <a:buSzTx/>
              <a:buFont typeface="Monotype Sorts" pitchFamily="2" charset="2"/>
              <a:buAutoNum type="arabicPeriod"/>
              <a:defRPr/>
            </a:pPr>
            <a:r>
              <a:rPr lang="en-US" sz="2400" dirty="0" smtClean="0"/>
              <a:t>Determining the ‘correct’ number of clusters.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  <a:defRPr/>
            </a:pPr>
            <a:r>
              <a:rPr lang="en-US" sz="2800" dirty="0" smtClean="0"/>
              <a:t>	</a:t>
            </a:r>
            <a:r>
              <a:rPr lang="en-US" sz="2400" dirty="0" smtClean="0"/>
              <a:t>For 2, 3, and 4, we can further distinguish whether we want to evaluate the entire clustering or just individual clusters. 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Different Aspects of Cluster Validation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62138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Objective approaches to assess clustering results</a:t>
            </a:r>
          </a:p>
          <a:p>
            <a:r>
              <a:rPr lang="en-US" dirty="0" smtClean="0"/>
              <a:t>Clustering validation and assessment:</a:t>
            </a:r>
          </a:p>
          <a:p>
            <a:pPr lvl="1"/>
            <a:r>
              <a:rPr lang="en-US" dirty="0" smtClean="0"/>
              <a:t>Clustering evaluation (goodness or quality))</a:t>
            </a:r>
          </a:p>
          <a:p>
            <a:pPr lvl="1"/>
            <a:r>
              <a:rPr lang="en-US" dirty="0" smtClean="0"/>
              <a:t>Clustering stability (sensitivity to parameters)</a:t>
            </a:r>
          </a:p>
          <a:p>
            <a:pPr lvl="1"/>
            <a:r>
              <a:rPr lang="en-US" dirty="0" smtClean="0"/>
              <a:t>Clustering tendency (suitability of applying clustering)</a:t>
            </a:r>
          </a:p>
          <a:p>
            <a:r>
              <a:rPr lang="en-US" dirty="0" smtClean="0"/>
              <a:t>Validity metrics</a:t>
            </a:r>
          </a:p>
          <a:p>
            <a:pPr lvl="1"/>
            <a:r>
              <a:rPr lang="en-US" dirty="0" smtClean="0"/>
              <a:t>External (prior or expert specified. For </a:t>
            </a:r>
            <a:r>
              <a:rPr lang="en-US" dirty="0" err="1" smtClean="0"/>
              <a:t>eg</a:t>
            </a:r>
            <a:r>
              <a:rPr lang="en-US" dirty="0" smtClean="0"/>
              <a:t>. Label for each point)</a:t>
            </a:r>
          </a:p>
          <a:p>
            <a:pPr lvl="1"/>
            <a:r>
              <a:rPr lang="en-US" dirty="0" smtClean="0"/>
              <a:t>Internal (intra &amp; inter cluster distances)</a:t>
            </a:r>
          </a:p>
          <a:p>
            <a:pPr lvl="1"/>
            <a:r>
              <a:rPr lang="en-US" dirty="0" smtClean="0"/>
              <a:t>Relative (direct comparison of different </a:t>
            </a:r>
            <a:r>
              <a:rPr lang="en-US" dirty="0" err="1" smtClean="0"/>
              <a:t>clusterings</a:t>
            </a:r>
            <a:r>
              <a:rPr lang="en-US" dirty="0" smtClean="0"/>
              <a:t> obtained by different parameters of the same </a:t>
            </a:r>
            <a:r>
              <a:rPr lang="en-US" dirty="0" err="1" smtClean="0"/>
              <a:t>algo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773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Numerical measures that are applied to judge various aspects of cluster validity, are classified into the following three types.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External Index:</a:t>
            </a:r>
            <a:r>
              <a:rPr lang="en-US" sz="2400" dirty="0" smtClean="0"/>
              <a:t> Used to measure the extent to which cluster labels match externally supplied class labels.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800" dirty="0" smtClean="0"/>
              <a:t>Entropy 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Internal Index:</a:t>
            </a:r>
            <a:r>
              <a:rPr lang="en-US" sz="2400" dirty="0" smtClean="0"/>
              <a:t>  Used to measure the goodness of a clustering structure </a:t>
            </a:r>
            <a:r>
              <a:rPr lang="en-US" sz="2400" i="1" dirty="0" smtClean="0"/>
              <a:t>without</a:t>
            </a:r>
            <a:r>
              <a:rPr lang="en-US" sz="2400" dirty="0" smtClean="0"/>
              <a:t> respect to external information.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800" dirty="0" smtClean="0"/>
              <a:t>Sum of Squared Error (SSE)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Relative Index:</a:t>
            </a:r>
            <a:r>
              <a:rPr lang="en-US" sz="2400" dirty="0" smtClean="0"/>
              <a:t> Used to compare two different </a:t>
            </a:r>
            <a:r>
              <a:rPr lang="en-US" sz="2400" dirty="0" err="1" smtClean="0"/>
              <a:t>clusterings</a:t>
            </a:r>
            <a:r>
              <a:rPr lang="en-US" sz="2400" dirty="0" smtClean="0"/>
              <a:t> or clusters.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800" dirty="0" smtClean="0"/>
              <a:t>Often an external or internal index is used for this function, e.g., SSE or entropy</a:t>
            </a:r>
          </a:p>
          <a:p>
            <a:pPr eaLnBrk="1" hangingPunct="1">
              <a:defRPr/>
            </a:pPr>
            <a:r>
              <a:rPr lang="en-US" sz="2400" dirty="0" smtClean="0"/>
              <a:t>Sometimes these are referred to as </a:t>
            </a:r>
            <a:r>
              <a:rPr lang="en-US" sz="2400" dirty="0" smtClean="0">
                <a:solidFill>
                  <a:srgbClr val="FF0000"/>
                </a:solidFill>
              </a:rPr>
              <a:t>criteria</a:t>
            </a:r>
            <a:r>
              <a:rPr lang="en-US" sz="2400" dirty="0" smtClean="0"/>
              <a:t> instead of </a:t>
            </a:r>
            <a:r>
              <a:rPr lang="en-US" sz="2400" dirty="0" smtClean="0">
                <a:solidFill>
                  <a:srgbClr val="FF0000"/>
                </a:solidFill>
              </a:rPr>
              <a:t>indices</a:t>
            </a:r>
          </a:p>
          <a:p>
            <a:pPr lvl="1" eaLnBrk="1" hangingPunct="1">
              <a:defRPr/>
            </a:pPr>
            <a:r>
              <a:rPr lang="en-US" sz="2000" dirty="0" smtClean="0"/>
              <a:t>However, sometimes criterion is the general strategy and index is the numerical measure that implements the criterion.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Measures of Cluster Validity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8244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5486400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en-US" dirty="0" smtClean="0">
                <a:solidFill>
                  <a:srgbClr val="FF0000"/>
                </a:solidFill>
              </a:rPr>
              <a:t>Cluster Cohesion</a:t>
            </a:r>
            <a:r>
              <a:rPr lang="en-US" dirty="0" smtClean="0">
                <a:solidFill>
                  <a:srgbClr val="FF9900"/>
                </a:solidFill>
              </a:rPr>
              <a:t>:</a:t>
            </a:r>
            <a:r>
              <a:rPr lang="en-US" dirty="0" smtClean="0"/>
              <a:t> Measures how closely related are objects in a cluster</a:t>
            </a:r>
          </a:p>
          <a:p>
            <a:pPr lvl="1" eaLnBrk="1" hangingPunct="1">
              <a:defRPr/>
            </a:pPr>
            <a:r>
              <a:rPr lang="en-US" sz="2400" dirty="0" smtClean="0"/>
              <a:t>Example: 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dirty="0" smtClean="0">
                <a:solidFill>
                  <a:srgbClr val="FF0000"/>
                </a:solidFill>
              </a:rPr>
              <a:t>Cluster Separation</a:t>
            </a:r>
            <a:r>
              <a:rPr lang="en-US" dirty="0" smtClean="0"/>
              <a:t>: Measure how distinct or well-separated a cluster is from other clusters</a:t>
            </a:r>
          </a:p>
          <a:p>
            <a:pPr eaLnBrk="1" hangingPunct="1">
              <a:defRPr/>
            </a:pPr>
            <a:r>
              <a:rPr lang="en-US" sz="2800" dirty="0" smtClean="0"/>
              <a:t>Example: Squared Error</a:t>
            </a:r>
          </a:p>
          <a:p>
            <a:pPr lvl="1" eaLnBrk="1" hangingPunct="1">
              <a:defRPr/>
            </a:pPr>
            <a:r>
              <a:rPr lang="en-US" sz="2400" dirty="0" smtClean="0"/>
              <a:t>Cohesion is measured by the within cluster sum of squares (SSE)</a:t>
            </a:r>
          </a:p>
          <a:p>
            <a:pPr lvl="1" eaLnBrk="1" hangingPunct="1">
              <a:defRPr/>
            </a:pPr>
            <a:endParaRPr lang="en-US" sz="2400" dirty="0" smtClean="0"/>
          </a:p>
          <a:p>
            <a:pPr lvl="1" eaLnBrk="1" hangingPunct="1">
              <a:defRPr/>
            </a:pPr>
            <a:endParaRPr lang="en-US" sz="2400" dirty="0" smtClean="0"/>
          </a:p>
          <a:p>
            <a:pPr lvl="1" eaLnBrk="1" hangingPunct="1">
              <a:defRPr/>
            </a:pPr>
            <a:r>
              <a:rPr lang="en-US" sz="2400" dirty="0" smtClean="0"/>
              <a:t>Separation is measured by the between cluster sum of squares</a:t>
            </a:r>
          </a:p>
          <a:p>
            <a:pPr lvl="1" eaLnBrk="1" hangingPunct="1">
              <a:defRPr/>
            </a:pPr>
            <a:endParaRPr lang="en-US" sz="2400" dirty="0" smtClean="0"/>
          </a:p>
          <a:p>
            <a:pPr lvl="2" eaLnBrk="1" hangingPunct="1">
              <a:defRPr/>
            </a:pPr>
            <a:r>
              <a:rPr lang="en-US" sz="2000" dirty="0" smtClean="0"/>
              <a:t>Where |C</a:t>
            </a:r>
            <a:r>
              <a:rPr lang="en-US" sz="2000" baseline="-25000" dirty="0" smtClean="0"/>
              <a:t>i</a:t>
            </a:r>
            <a:r>
              <a:rPr lang="en-US" sz="2000" dirty="0" smtClean="0"/>
              <a:t>| is the size of cluster </a:t>
            </a:r>
            <a:r>
              <a:rPr lang="en-US" sz="2000" dirty="0" err="1" smtClean="0"/>
              <a:t>i</a:t>
            </a:r>
            <a:r>
              <a:rPr lang="en-US" sz="2000" dirty="0" smtClean="0"/>
              <a:t> 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Internal Measures: Cohesion and Separation</a:t>
            </a:r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/>
          </p:nvPr>
        </p:nvGraphicFramePr>
        <p:xfrm>
          <a:off x="2133600" y="4114800"/>
          <a:ext cx="329406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Equation" r:id="rId4" imgW="1384300" imgH="381000" progId="Equation.3">
                  <p:embed/>
                </p:oleObj>
              </mc:Choice>
              <mc:Fallback>
                <p:oleObj name="Equation" r:id="rId4" imgW="13843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114800"/>
                        <a:ext cx="3294063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/>
          </p:nvPr>
        </p:nvGraphicFramePr>
        <p:xfrm>
          <a:off x="2339196" y="5105400"/>
          <a:ext cx="33226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Equation" r:id="rId6" imgW="1396394" imgH="342751" progId="Equation.3">
                  <p:embed/>
                </p:oleObj>
              </mc:Choice>
              <mc:Fallback>
                <p:oleObj name="Equation" r:id="rId6" imgW="1396394" imgH="34275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196" y="5105400"/>
                        <a:ext cx="33226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4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6502276" cy="30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83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800" dirty="0" smtClean="0"/>
              <a:t>Internal Measures: Cohesion and Separation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4040188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Example: SSE</a:t>
            </a:r>
          </a:p>
          <a:p>
            <a:pPr lvl="1" eaLnBrk="1" hangingPunct="1">
              <a:defRPr/>
            </a:pPr>
            <a:r>
              <a:rPr lang="en-US" sz="2400" dirty="0" smtClean="0"/>
              <a:t>BSS + WSS = constant</a:t>
            </a:r>
          </a:p>
        </p:txBody>
      </p:sp>
      <p:sp>
        <p:nvSpPr>
          <p:cNvPr id="38916" name="Line 4"/>
          <p:cNvSpPr>
            <a:spLocks noChangeShapeType="1"/>
          </p:cNvSpPr>
          <p:nvPr/>
        </p:nvSpPr>
        <p:spPr bwMode="auto">
          <a:xfrm>
            <a:off x="1295400" y="2819400"/>
            <a:ext cx="609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7" name="Line 5"/>
          <p:cNvSpPr>
            <a:spLocks noChangeShapeType="1"/>
          </p:cNvSpPr>
          <p:nvPr/>
        </p:nvSpPr>
        <p:spPr bwMode="auto">
          <a:xfrm>
            <a:off x="1295400" y="2590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>
            <a:off x="2819400" y="2590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4343400" y="2590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5867400" y="2590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7391400" y="25908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1143000" y="2895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2667000" y="2895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4191000" y="2895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8925" name="Text Box 13"/>
          <p:cNvSpPr txBox="1">
            <a:spLocks noChangeArrowheads="1"/>
          </p:cNvSpPr>
          <p:nvPr/>
        </p:nvSpPr>
        <p:spPr bwMode="auto">
          <a:xfrm>
            <a:off x="5715000" y="2895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7239000" y="2895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38927" name="Oval 15"/>
          <p:cNvSpPr>
            <a:spLocks noChangeArrowheads="1"/>
          </p:cNvSpPr>
          <p:nvPr/>
        </p:nvSpPr>
        <p:spPr bwMode="auto">
          <a:xfrm>
            <a:off x="1219200" y="2743200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28" name="Oval 16"/>
          <p:cNvSpPr>
            <a:spLocks noChangeArrowheads="1"/>
          </p:cNvSpPr>
          <p:nvPr/>
        </p:nvSpPr>
        <p:spPr bwMode="auto">
          <a:xfrm>
            <a:off x="2743200" y="2743200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29" name="Oval 17"/>
          <p:cNvSpPr>
            <a:spLocks noChangeArrowheads="1"/>
          </p:cNvSpPr>
          <p:nvPr/>
        </p:nvSpPr>
        <p:spPr bwMode="auto">
          <a:xfrm>
            <a:off x="5791200" y="2743200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30" name="Oval 18"/>
          <p:cNvSpPr>
            <a:spLocks noChangeArrowheads="1"/>
          </p:cNvSpPr>
          <p:nvPr/>
        </p:nvSpPr>
        <p:spPr bwMode="auto">
          <a:xfrm>
            <a:off x="7315200" y="2743200"/>
            <a:ext cx="152400" cy="152400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31" name="Text Box 19"/>
          <p:cNvSpPr txBox="1">
            <a:spLocks noChangeArrowheads="1"/>
          </p:cNvSpPr>
          <p:nvPr/>
        </p:nvSpPr>
        <p:spPr bwMode="auto">
          <a:xfrm>
            <a:off x="1752600" y="24685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38932" name="Text Box 20"/>
          <p:cNvSpPr txBox="1">
            <a:spLocks noChangeArrowheads="1"/>
          </p:cNvSpPr>
          <p:nvPr/>
        </p:nvSpPr>
        <p:spPr bwMode="auto">
          <a:xfrm>
            <a:off x="6477000" y="24685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4114800" y="2468563"/>
            <a:ext cx="533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1752600" y="28956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m</a:t>
            </a:r>
            <a:r>
              <a:rPr lang="en-US" altLang="en-US" sz="18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6477000" y="28956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m</a:t>
            </a:r>
            <a:r>
              <a:rPr lang="en-US" altLang="en-US" sz="18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>
            <a:off x="4191000" y="2209800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m</a:t>
            </a:r>
            <a:endParaRPr lang="en-US" altLang="en-US" sz="1800" b="1" baseline="-25000">
              <a:latin typeface="Arial" panose="020B0604020202020204" pitchFamily="34" charset="0"/>
            </a:endParaRPr>
          </a:p>
        </p:txBody>
      </p:sp>
      <p:graphicFrame>
        <p:nvGraphicFramePr>
          <p:cNvPr id="38937" name="Object 25"/>
          <p:cNvGraphicFramePr>
            <a:graphicFrameLocks noGrp="1" noChangeAspect="1"/>
          </p:cNvGraphicFramePr>
          <p:nvPr>
            <p:ph sz="half" idx="2"/>
          </p:nvPr>
        </p:nvGraphicFramePr>
        <p:xfrm>
          <a:off x="2689225" y="4999038"/>
          <a:ext cx="5803900" cy="106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8" name="Equation" r:id="rId4" imgW="3289300" imgH="685800" progId="Equation.3">
                  <p:embed/>
                </p:oleObj>
              </mc:Choice>
              <mc:Fallback>
                <p:oleObj name="Equation" r:id="rId4" imgW="32893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4999038"/>
                        <a:ext cx="5803900" cy="1068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8" name="Text Box 26"/>
          <p:cNvSpPr txBox="1">
            <a:spLocks noChangeArrowheads="1"/>
          </p:cNvSpPr>
          <p:nvPr/>
        </p:nvSpPr>
        <p:spPr bwMode="auto">
          <a:xfrm>
            <a:off x="381000" y="50292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K=2 clusters:</a:t>
            </a:r>
          </a:p>
        </p:txBody>
      </p:sp>
      <p:graphicFrame>
        <p:nvGraphicFramePr>
          <p:cNvPr id="38939" name="Object 27"/>
          <p:cNvGraphicFramePr>
            <a:graphicFrameLocks noChangeAspect="1"/>
          </p:cNvGraphicFramePr>
          <p:nvPr/>
        </p:nvGraphicFramePr>
        <p:xfrm>
          <a:off x="2690813" y="3502025"/>
          <a:ext cx="5233987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9" name="Equation" r:id="rId6" imgW="2933700" imgH="685800" progId="Equation.3">
                  <p:embed/>
                </p:oleObj>
              </mc:Choice>
              <mc:Fallback>
                <p:oleObj name="Equation" r:id="rId6" imgW="29337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3" y="3502025"/>
                        <a:ext cx="5233987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381000" y="349885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K=1 cluster:</a:t>
            </a:r>
          </a:p>
        </p:txBody>
      </p:sp>
    </p:spTree>
    <p:extLst>
      <p:ext uri="{BB962C8B-B14F-4D97-AF65-F5344CB8AC3E}">
        <p14:creationId xmlns:p14="http://schemas.microsoft.com/office/powerpoint/2010/main" val="317181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562600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sz="2600" dirty="0" smtClean="0"/>
              <a:t>A proximity graph based approach can also be used for cohesion and separation.</a:t>
            </a:r>
          </a:p>
          <a:p>
            <a:pPr lvl="1" eaLnBrk="1" hangingPunct="1">
              <a:defRPr/>
            </a:pPr>
            <a:r>
              <a:rPr lang="en-US" sz="2000" dirty="0" smtClean="0"/>
              <a:t>Cluster cohesion is the sum of the weight of all links within a cluster.</a:t>
            </a:r>
          </a:p>
          <a:p>
            <a:pPr lvl="1" eaLnBrk="1" hangingPunct="1">
              <a:defRPr/>
            </a:pPr>
            <a:r>
              <a:rPr lang="en-US" sz="2000" dirty="0" smtClean="0"/>
              <a:t>Cluster separation is the sum of the weights between nodes in the cluster and nodes outside the cluster.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dirty="0" smtClean="0"/>
              <a:t>Internal Measures: Cohesion and Separation</a:t>
            </a:r>
          </a:p>
        </p:txBody>
      </p:sp>
      <p:sp>
        <p:nvSpPr>
          <p:cNvPr id="40964" name="Freeform 4" descr="5%"/>
          <p:cNvSpPr>
            <a:spLocks/>
          </p:cNvSpPr>
          <p:nvPr/>
        </p:nvSpPr>
        <p:spPr bwMode="auto">
          <a:xfrm rot="-5400000">
            <a:off x="3663157" y="38806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 rot="-5400000">
            <a:off x="4953000" y="4800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 rot="-5400000">
            <a:off x="4876800" y="4038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 rot="-5400000">
            <a:off x="40386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 rot="-5400000">
            <a:off x="5103813" y="43418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69" name="Freeform 9" descr="5%"/>
          <p:cNvSpPr>
            <a:spLocks/>
          </p:cNvSpPr>
          <p:nvPr/>
        </p:nvSpPr>
        <p:spPr bwMode="auto">
          <a:xfrm rot="5400000" flipV="1">
            <a:off x="6553200" y="37338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 rot="5400000" flipV="1">
            <a:off x="80772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71" name="Oval 11"/>
          <p:cNvSpPr>
            <a:spLocks noChangeArrowheads="1"/>
          </p:cNvSpPr>
          <p:nvPr/>
        </p:nvSpPr>
        <p:spPr bwMode="auto">
          <a:xfrm rot="5400000" flipV="1">
            <a:off x="6716713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72" name="Oval 12"/>
          <p:cNvSpPr>
            <a:spLocks noChangeArrowheads="1"/>
          </p:cNvSpPr>
          <p:nvPr/>
        </p:nvSpPr>
        <p:spPr bwMode="auto">
          <a:xfrm rot="5400000" flipV="1">
            <a:off x="7239000" y="48006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73" name="Oval 13"/>
          <p:cNvSpPr>
            <a:spLocks noChangeArrowheads="1"/>
          </p:cNvSpPr>
          <p:nvPr/>
        </p:nvSpPr>
        <p:spPr bwMode="auto">
          <a:xfrm rot="5400000" flipV="1">
            <a:off x="7239000" y="3810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74" name="Line 14"/>
          <p:cNvSpPr>
            <a:spLocks noChangeShapeType="1"/>
          </p:cNvSpPr>
          <p:nvPr/>
        </p:nvSpPr>
        <p:spPr bwMode="auto">
          <a:xfrm>
            <a:off x="5029200" y="48006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5" name="Line 15"/>
          <p:cNvSpPr>
            <a:spLocks noChangeShapeType="1"/>
          </p:cNvSpPr>
          <p:nvPr/>
        </p:nvSpPr>
        <p:spPr bwMode="auto">
          <a:xfrm flipV="1">
            <a:off x="5029200" y="42672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6" name="Line 16"/>
          <p:cNvSpPr>
            <a:spLocks noChangeShapeType="1"/>
          </p:cNvSpPr>
          <p:nvPr/>
        </p:nvSpPr>
        <p:spPr bwMode="auto">
          <a:xfrm flipV="1">
            <a:off x="5029200" y="38862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7" name="Line 17"/>
          <p:cNvSpPr>
            <a:spLocks noChangeShapeType="1"/>
          </p:cNvSpPr>
          <p:nvPr/>
        </p:nvSpPr>
        <p:spPr bwMode="auto">
          <a:xfrm flipV="1">
            <a:off x="5029200" y="42672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8" name="Line 18"/>
          <p:cNvSpPr>
            <a:spLocks noChangeShapeType="1"/>
          </p:cNvSpPr>
          <p:nvPr/>
        </p:nvSpPr>
        <p:spPr bwMode="auto">
          <a:xfrm>
            <a:off x="5181600" y="44196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 flipV="1">
            <a:off x="5181600" y="42672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 flipV="1">
            <a:off x="5181600" y="38862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 flipV="1">
            <a:off x="5181600" y="42672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>
            <a:off x="4114800" y="44958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 flipV="1">
            <a:off x="4114800" y="42672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 flipV="1">
            <a:off x="4114800" y="38862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5" name="Line 25"/>
          <p:cNvSpPr>
            <a:spLocks noChangeShapeType="1"/>
          </p:cNvSpPr>
          <p:nvPr/>
        </p:nvSpPr>
        <p:spPr bwMode="auto">
          <a:xfrm flipV="1">
            <a:off x="4114800" y="42672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4953000" y="40386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7" name="Line 27"/>
          <p:cNvSpPr>
            <a:spLocks noChangeShapeType="1"/>
          </p:cNvSpPr>
          <p:nvPr/>
        </p:nvSpPr>
        <p:spPr bwMode="auto">
          <a:xfrm>
            <a:off x="4953000" y="40386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 flipV="1">
            <a:off x="4953000" y="38862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>
            <a:off x="4953000" y="40386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0" name="Freeform 30" descr="5%"/>
          <p:cNvSpPr>
            <a:spLocks/>
          </p:cNvSpPr>
          <p:nvPr/>
        </p:nvSpPr>
        <p:spPr bwMode="auto">
          <a:xfrm rot="-5400000">
            <a:off x="691357" y="40330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1" name="Oval 31"/>
          <p:cNvSpPr>
            <a:spLocks noChangeArrowheads="1"/>
          </p:cNvSpPr>
          <p:nvPr/>
        </p:nvSpPr>
        <p:spPr bwMode="auto">
          <a:xfrm rot="-5400000">
            <a:off x="1981200" y="4953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92" name="Oval 32"/>
          <p:cNvSpPr>
            <a:spLocks noChangeArrowheads="1"/>
          </p:cNvSpPr>
          <p:nvPr/>
        </p:nvSpPr>
        <p:spPr bwMode="auto">
          <a:xfrm rot="-5400000">
            <a:off x="19050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93" name="Oval 33"/>
          <p:cNvSpPr>
            <a:spLocks noChangeArrowheads="1"/>
          </p:cNvSpPr>
          <p:nvPr/>
        </p:nvSpPr>
        <p:spPr bwMode="auto">
          <a:xfrm rot="-5400000">
            <a:off x="1066800" y="4648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94" name="Oval 34"/>
          <p:cNvSpPr>
            <a:spLocks noChangeArrowheads="1"/>
          </p:cNvSpPr>
          <p:nvPr/>
        </p:nvSpPr>
        <p:spPr bwMode="auto">
          <a:xfrm rot="-5400000">
            <a:off x="2132013" y="44942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 flipV="1">
            <a:off x="1143000" y="4267200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H="1" flipV="1">
            <a:off x="1905000" y="4267200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>
            <a:off x="1143000" y="4648200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8" name="Line 38"/>
          <p:cNvSpPr>
            <a:spLocks noChangeShapeType="1"/>
          </p:cNvSpPr>
          <p:nvPr/>
        </p:nvSpPr>
        <p:spPr bwMode="auto">
          <a:xfrm flipH="1" flipV="1">
            <a:off x="1905000" y="4267200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 flipH="1">
            <a:off x="1143000" y="4572000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 flipH="1">
            <a:off x="1981200" y="4572000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1" name="Rectangle 41"/>
          <p:cNvSpPr>
            <a:spLocks noChangeArrowheads="1"/>
          </p:cNvSpPr>
          <p:nvPr/>
        </p:nvSpPr>
        <p:spPr bwMode="auto">
          <a:xfrm>
            <a:off x="990600" y="5791200"/>
            <a:ext cx="1201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cohesion</a:t>
            </a:r>
          </a:p>
        </p:txBody>
      </p:sp>
      <p:sp>
        <p:nvSpPr>
          <p:cNvPr id="41002" name="Rectangle 42"/>
          <p:cNvSpPr>
            <a:spLocks noChangeArrowheads="1"/>
          </p:cNvSpPr>
          <p:nvPr/>
        </p:nvSpPr>
        <p:spPr bwMode="auto">
          <a:xfrm>
            <a:off x="5029200" y="5791200"/>
            <a:ext cx="1370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separation</a:t>
            </a:r>
          </a:p>
        </p:txBody>
      </p:sp>
    </p:spTree>
    <p:extLst>
      <p:ext uri="{BB962C8B-B14F-4D97-AF65-F5344CB8AC3E}">
        <p14:creationId xmlns:p14="http://schemas.microsoft.com/office/powerpoint/2010/main" val="383735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334000"/>
          </a:xfrm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sz="2400" dirty="0" smtClean="0"/>
              <a:t>Silhouette Coefficient combine ideas of both cohesion and separation, but for individual points, as well as clusters and </a:t>
            </a:r>
            <a:r>
              <a:rPr lang="en-US" sz="2400" dirty="0" err="1" smtClean="0"/>
              <a:t>clusterings</a:t>
            </a:r>
            <a:endParaRPr lang="en-US" sz="2400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en-US" sz="2400" dirty="0" smtClean="0"/>
              <a:t>For an individual point, </a:t>
            </a:r>
            <a:r>
              <a:rPr lang="en-US" sz="2400" i="1" dirty="0" err="1" smtClean="0"/>
              <a:t>i</a:t>
            </a:r>
            <a:endParaRPr lang="en-US" sz="2400" i="1" dirty="0" smtClean="0"/>
          </a:p>
          <a:p>
            <a:pPr lvl="1" eaLnBrk="1" hangingPunct="1">
              <a:defRPr/>
            </a:pPr>
            <a:r>
              <a:rPr lang="en-US" sz="2000" dirty="0" smtClean="0"/>
              <a:t>Calculate </a:t>
            </a:r>
            <a:r>
              <a:rPr lang="en-US" sz="2000" b="1" i="1" dirty="0" smtClean="0"/>
              <a:t>a</a:t>
            </a:r>
            <a:r>
              <a:rPr lang="en-US" sz="2000" dirty="0" smtClean="0"/>
              <a:t> = average distance of </a:t>
            </a:r>
            <a:r>
              <a:rPr lang="en-US" sz="2000" i="1" dirty="0" err="1" smtClean="0"/>
              <a:t>i</a:t>
            </a:r>
            <a:r>
              <a:rPr lang="en-US" sz="2000" dirty="0" smtClean="0"/>
              <a:t> to the points in its cluster</a:t>
            </a:r>
          </a:p>
          <a:p>
            <a:pPr lvl="1" eaLnBrk="1" hangingPunct="1">
              <a:defRPr/>
            </a:pPr>
            <a:r>
              <a:rPr lang="en-US" sz="2000" dirty="0" smtClean="0"/>
              <a:t>Calculate </a:t>
            </a:r>
            <a:r>
              <a:rPr lang="en-US" sz="2000" b="1" i="1" dirty="0" smtClean="0"/>
              <a:t>b</a:t>
            </a:r>
            <a:r>
              <a:rPr lang="en-US" sz="2000" dirty="0" smtClean="0"/>
              <a:t> = min (average distance of </a:t>
            </a:r>
            <a:r>
              <a:rPr lang="en-US" sz="2000" i="1" dirty="0" err="1" smtClean="0"/>
              <a:t>i</a:t>
            </a:r>
            <a:r>
              <a:rPr lang="en-US" sz="2000" i="1" dirty="0" smtClean="0"/>
              <a:t> </a:t>
            </a:r>
            <a:r>
              <a:rPr lang="en-US" sz="2000" dirty="0" smtClean="0"/>
              <a:t> to points in another cluster)</a:t>
            </a:r>
          </a:p>
          <a:p>
            <a:pPr lvl="1" eaLnBrk="1" hangingPunct="1">
              <a:defRPr/>
            </a:pPr>
            <a:r>
              <a:rPr lang="en-US" sz="2000" dirty="0" smtClean="0"/>
              <a:t>The silhouette coefficient for a point is then given by </a:t>
            </a:r>
            <a:br>
              <a:rPr lang="en-US" sz="2000" dirty="0" smtClean="0"/>
            </a:br>
            <a:r>
              <a:rPr lang="en-US" sz="2000" dirty="0" smtClean="0"/>
              <a:t>s = 1 – a/b   if a &lt; b,   </a:t>
            </a:r>
            <a:r>
              <a:rPr lang="en-US" sz="1600" dirty="0" smtClean="0"/>
              <a:t>(or s = b/a - 1    if a </a:t>
            </a:r>
            <a:r>
              <a:rPr lang="en-US" sz="1600" dirty="0" smtClean="0">
                <a:sym typeface="Symbol" pitchFamily="18" charset="2"/>
              </a:rPr>
              <a:t> </a:t>
            </a:r>
            <a:r>
              <a:rPr lang="en-US" sz="1600" dirty="0" smtClean="0"/>
              <a:t>b, not the usual case)</a:t>
            </a:r>
            <a:r>
              <a:rPr lang="en-US" sz="2000" dirty="0" smtClean="0"/>
              <a:t> </a:t>
            </a:r>
          </a:p>
          <a:p>
            <a:pPr lvl="1" eaLnBrk="1" hangingPunct="1">
              <a:defRPr/>
            </a:pPr>
            <a:endParaRPr lang="en-US" sz="2000" dirty="0" smtClean="0"/>
          </a:p>
          <a:p>
            <a:pPr lvl="1" eaLnBrk="1" hangingPunct="1">
              <a:defRPr/>
            </a:pPr>
            <a:endParaRPr lang="en-US" sz="2000" dirty="0" smtClean="0"/>
          </a:p>
          <a:p>
            <a:pPr lvl="1" eaLnBrk="1" hangingPunct="1">
              <a:defRPr/>
            </a:pPr>
            <a:r>
              <a:rPr lang="en-US" sz="2000" dirty="0" smtClean="0"/>
              <a:t>Typically between 0 and 1. </a:t>
            </a:r>
          </a:p>
          <a:p>
            <a:pPr lvl="1" eaLnBrk="1" hangingPunct="1">
              <a:defRPr/>
            </a:pPr>
            <a:r>
              <a:rPr lang="en-US" sz="2000" dirty="0" smtClean="0"/>
              <a:t>The closer to 1 the better.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en-US" sz="2600" dirty="0" smtClean="0"/>
              <a:t>Can calculate the Average Silhouette width for a cluster or a clustering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Internal Measures: Silhouette Coefficient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5105400" y="4267200"/>
          <a:ext cx="27336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7" name="VISIO" r:id="rId4" imgW="3694176" imgH="1482852" progId="Visio.Drawing.6">
                  <p:embed/>
                </p:oleObj>
              </mc:Choice>
              <mc:Fallback>
                <p:oleObj name="VISIO" r:id="rId4" imgW="3694176" imgH="148285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267200"/>
                        <a:ext cx="27336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617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899" y="2387146"/>
            <a:ext cx="6388201" cy="295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694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89154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smtClean="0"/>
              <a:t>Clusters in more complicated figures aren’t well separated</a:t>
            </a:r>
          </a:p>
          <a:p>
            <a:pPr eaLnBrk="1" hangingPunct="1">
              <a:defRPr/>
            </a:pPr>
            <a:r>
              <a:rPr lang="en-US" sz="2400" smtClean="0"/>
              <a:t>Internal Index:  Used to measure the goodness of a clustering structure without respect to external information</a:t>
            </a:r>
          </a:p>
          <a:p>
            <a:pPr lvl="1" eaLnBrk="1" hangingPunct="1">
              <a:defRPr/>
            </a:pPr>
            <a:r>
              <a:rPr lang="en-US" sz="2400" smtClean="0"/>
              <a:t>SSE</a:t>
            </a:r>
          </a:p>
          <a:p>
            <a:pPr eaLnBrk="1" hangingPunct="1">
              <a:defRPr/>
            </a:pPr>
            <a:r>
              <a:rPr lang="en-US" sz="2400" smtClean="0"/>
              <a:t>SSE is good for comparing two clusterings or two clusters (average SSE).</a:t>
            </a:r>
          </a:p>
          <a:p>
            <a:pPr eaLnBrk="1" hangingPunct="1">
              <a:defRPr/>
            </a:pPr>
            <a:r>
              <a:rPr lang="en-US" sz="2400" smtClean="0"/>
              <a:t>Can also be used to estimate the number of clusters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smtClean="0"/>
          </a:p>
          <a:p>
            <a:pPr eaLnBrk="1" hangingPunct="1">
              <a:defRPr/>
            </a:pPr>
            <a:endParaRPr lang="en-US" sz="2400" smtClean="0"/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Internal Measures: SSE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4724400" y="4165600"/>
            <a:ext cx="365601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609600" y="4191000"/>
            <a:ext cx="36560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320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62" y="1321734"/>
            <a:ext cx="4068675" cy="421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91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Internal Measures: SSE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SSE curve for a more complicated data set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533400" y="2528888"/>
            <a:ext cx="4343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4495800" y="5424488"/>
            <a:ext cx="426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SSE of clusters found using K-means</a:t>
            </a:r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147888"/>
            <a:ext cx="4259263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384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8458200" cy="838200"/>
          </a:xfrm>
        </p:spPr>
        <p:txBody>
          <a:bodyPr lIns="92075" tIns="46038" rIns="92075" bIns="46038" anchor="b" anchorCtr="0"/>
          <a:lstStyle/>
          <a:p>
            <a:pPr eaLnBrk="1" hangingPunct="1">
              <a:defRPr/>
            </a:pPr>
            <a:r>
              <a:rPr lang="en-US" dirty="0" smtClean="0"/>
              <a:t>Inverse Scree Test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457200" y="1905000"/>
            <a:ext cx="2743200" cy="414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/>
              <a:t>It is a plot with number of clusters on x-axis and agglomeration level on y-axis</a:t>
            </a:r>
          </a:p>
          <a:p>
            <a:pPr eaLnBrk="1" hangingPunct="1">
              <a:spcBef>
                <a:spcPct val="50000"/>
              </a:spcBef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/>
              <a:t>Look for sharp increase – elbow knick</a:t>
            </a:r>
          </a:p>
        </p:txBody>
      </p:sp>
      <p:graphicFrame>
        <p:nvGraphicFramePr>
          <p:cNvPr id="34820" name="Object 4"/>
          <p:cNvGraphicFramePr>
            <a:graphicFrameLocks/>
          </p:cNvGraphicFramePr>
          <p:nvPr/>
        </p:nvGraphicFramePr>
        <p:xfrm>
          <a:off x="3200400" y="1895475"/>
          <a:ext cx="5508625" cy="436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1" name="Bitmap Image" r:id="rId4" imgW="5495238" imgH="4352381" progId="Paint.Picture">
                  <p:embed/>
                </p:oleObj>
              </mc:Choice>
              <mc:Fallback>
                <p:oleObj name="Bitmap Image" r:id="rId4" imgW="5495238" imgH="4352381" progId="Paint.Picture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895475"/>
                        <a:ext cx="5508625" cy="436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00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Supervised/External measures of Cluster Validation</a:t>
            </a:r>
          </a:p>
        </p:txBody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050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Classification Oriented</a:t>
            </a:r>
          </a:p>
          <a:p>
            <a:pPr lvl="1" eaLnBrk="1" hangingPunct="1">
              <a:defRPr/>
            </a:pPr>
            <a:r>
              <a:rPr lang="en-US" dirty="0" smtClean="0"/>
              <a:t>Entropy, Purity, Precision, Recall and F-measure</a:t>
            </a:r>
          </a:p>
          <a:p>
            <a:pPr eaLnBrk="1" hangingPunct="1">
              <a:defRPr/>
            </a:pPr>
            <a:r>
              <a:rPr lang="en-US" dirty="0" smtClean="0"/>
              <a:t>Similarity Oriented</a:t>
            </a:r>
          </a:p>
          <a:p>
            <a:pPr lvl="1" eaLnBrk="1" hangingPunct="1">
              <a:defRPr/>
            </a:pPr>
            <a:r>
              <a:rPr lang="en-US" dirty="0" smtClean="0"/>
              <a:t>Involves comparison of two matrices</a:t>
            </a:r>
          </a:p>
          <a:p>
            <a:pPr lvl="2" eaLnBrk="1" hangingPunct="1">
              <a:defRPr/>
            </a:pPr>
            <a:r>
              <a:rPr lang="en-US" dirty="0" smtClean="0"/>
              <a:t>Ideal Cluster Similarity Matrix</a:t>
            </a:r>
          </a:p>
          <a:p>
            <a:pPr lvl="2" eaLnBrk="1" hangingPunct="1">
              <a:defRPr/>
            </a:pPr>
            <a:r>
              <a:rPr lang="en-US" dirty="0" smtClean="0"/>
              <a:t>Ideal Class Similarity Matrix</a:t>
            </a:r>
          </a:p>
        </p:txBody>
      </p:sp>
    </p:spTree>
    <p:extLst>
      <p:ext uri="{BB962C8B-B14F-4D97-AF65-F5344CB8AC3E}">
        <p14:creationId xmlns:p14="http://schemas.microsoft.com/office/powerpoint/2010/main" val="258756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900" smtClean="0"/>
              <a:t>External Measures of Cluster Validity: Entropy and Purity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685800" y="1600200"/>
          <a:ext cx="775335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5" name="Bitmap Image" r:id="rId4" imgW="9304826" imgH="6119390" progId="Paint.Picture">
                  <p:embed/>
                </p:oleObj>
              </mc:Choice>
              <mc:Fallback>
                <p:oleObj name="Bitmap Image" r:id="rId4" imgW="9304826" imgH="611939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864"/>
                      <a:stretch>
                        <a:fillRect/>
                      </a:stretch>
                    </p:blipFill>
                    <p:spPr bwMode="auto">
                      <a:xfrm>
                        <a:off x="685800" y="1600200"/>
                        <a:ext cx="775335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301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Unsupervised measures of Cluster Validation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05000"/>
            <a:ext cx="86868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Measuring Cluster Validity via Correlation</a:t>
            </a:r>
          </a:p>
        </p:txBody>
      </p:sp>
    </p:spTree>
    <p:extLst>
      <p:ext uri="{BB962C8B-B14F-4D97-AF65-F5344CB8AC3E}">
        <p14:creationId xmlns:p14="http://schemas.microsoft.com/office/powerpoint/2010/main" val="215197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915400" cy="5334000"/>
          </a:xfrm>
        </p:spPr>
        <p:txBody>
          <a:bodyPr/>
          <a:lstStyle/>
          <a:p>
            <a:pPr marL="533400" indent="-533400" eaLnBrk="1" hangingPunct="1">
              <a:defRPr/>
            </a:pPr>
            <a:r>
              <a:rPr lang="en-US" sz="2800" dirty="0" smtClean="0"/>
              <a:t>Two matrices </a:t>
            </a:r>
          </a:p>
          <a:p>
            <a:pPr marL="990600" lvl="1" indent="-533400" eaLnBrk="1" hangingPunct="1">
              <a:defRPr/>
            </a:pPr>
            <a:r>
              <a:rPr lang="en-US" sz="2000" dirty="0" smtClean="0"/>
              <a:t>Proximity Matrix</a:t>
            </a:r>
          </a:p>
          <a:p>
            <a:pPr marL="990600" lvl="1" indent="-533400" eaLnBrk="1" hangingPunct="1">
              <a:defRPr/>
            </a:pPr>
            <a:r>
              <a:rPr lang="en-US" sz="2000" dirty="0" smtClean="0"/>
              <a:t>“Incidence” Matrix</a:t>
            </a:r>
          </a:p>
          <a:p>
            <a:pPr marL="1371600" lvl="2" indent="-457200" eaLnBrk="1" hangingPunct="1">
              <a:defRPr/>
            </a:pPr>
            <a:r>
              <a:rPr lang="en-US" sz="1800" dirty="0" smtClean="0"/>
              <a:t>One row and one column for each data point</a:t>
            </a:r>
          </a:p>
          <a:p>
            <a:pPr marL="1371600" lvl="2" indent="-457200" eaLnBrk="1" hangingPunct="1">
              <a:defRPr/>
            </a:pPr>
            <a:r>
              <a:rPr lang="en-US" sz="1800" dirty="0" smtClean="0"/>
              <a:t>An entry is 1 if the associated pair of points belong to the same cluster</a:t>
            </a:r>
          </a:p>
          <a:p>
            <a:pPr marL="1371600" lvl="2" indent="-457200" eaLnBrk="1" hangingPunct="1">
              <a:defRPr/>
            </a:pPr>
            <a:r>
              <a:rPr lang="en-US" sz="1800" dirty="0" smtClean="0"/>
              <a:t>An entry is 0 if the associated pair of points belongs to different clusters</a:t>
            </a:r>
          </a:p>
          <a:p>
            <a:pPr marL="533400" indent="-533400" eaLnBrk="1" hangingPunct="1">
              <a:defRPr/>
            </a:pPr>
            <a:r>
              <a:rPr lang="en-US" sz="2800" dirty="0" smtClean="0"/>
              <a:t>Compute the correlation between the two matrices</a:t>
            </a:r>
          </a:p>
          <a:p>
            <a:pPr marL="990600" lvl="1" indent="-533400" eaLnBrk="1" hangingPunct="1">
              <a:defRPr/>
            </a:pPr>
            <a:r>
              <a:rPr lang="en-US" sz="2000" dirty="0" smtClean="0"/>
              <a:t>Since the matrices are symmetric, only the correlation between </a:t>
            </a:r>
            <a:br>
              <a:rPr lang="en-US" sz="2000" dirty="0" smtClean="0"/>
            </a:br>
            <a:r>
              <a:rPr lang="en-US" sz="2000" dirty="0" smtClean="0"/>
              <a:t>n(n-1) / 2 entries needs to be calculated.</a:t>
            </a:r>
          </a:p>
          <a:p>
            <a:pPr marL="533400" indent="-533400" eaLnBrk="1" hangingPunct="1">
              <a:defRPr/>
            </a:pPr>
            <a:r>
              <a:rPr lang="en-US" sz="2800" dirty="0" smtClean="0"/>
              <a:t>High correlation indicates that points that belong to the same cluster are close to each other. </a:t>
            </a:r>
          </a:p>
          <a:p>
            <a:pPr marL="533400" indent="-533400" eaLnBrk="1" hangingPunct="1">
              <a:defRPr/>
            </a:pPr>
            <a:r>
              <a:rPr lang="en-US" sz="2800" dirty="0" smtClean="0"/>
              <a:t>Not a good measure for some density or contiguity based clusters.</a:t>
            </a:r>
            <a:endParaRPr lang="en-US" sz="2400" dirty="0" smtClean="0"/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Measuring Cluster Validity Via Correlation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9162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Correlation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5307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Correlation measures the linear relationship between objects</a:t>
            </a:r>
          </a:p>
          <a:p>
            <a:pPr eaLnBrk="1" hangingPunct="1"/>
            <a:r>
              <a:rPr lang="en-US" altLang="en-US" smtClean="0">
                <a:effectLst/>
              </a:rPr>
              <a:t>To compute correlation, we standardize data objects, p and q, and then take their dot product</a:t>
            </a:r>
          </a:p>
        </p:txBody>
      </p:sp>
      <p:grpSp>
        <p:nvGrpSpPr>
          <p:cNvPr id="19460" name="Group 8"/>
          <p:cNvGrpSpPr>
            <a:grpSpLocks noChangeAspect="1"/>
          </p:cNvGrpSpPr>
          <p:nvPr/>
        </p:nvGrpSpPr>
        <p:grpSpPr bwMode="auto">
          <a:xfrm>
            <a:off x="1600200" y="3633788"/>
            <a:ext cx="5511800" cy="709612"/>
            <a:chOff x="1008" y="2289"/>
            <a:chExt cx="3472" cy="447"/>
          </a:xfrm>
        </p:grpSpPr>
        <p:sp>
          <p:nvSpPr>
            <p:cNvPr id="19495" name="AutoShape 7"/>
            <p:cNvSpPr>
              <a:spLocks noChangeAspect="1" noChangeArrowheads="1" noTextEdit="1"/>
            </p:cNvSpPr>
            <p:nvPr/>
          </p:nvSpPr>
          <p:spPr bwMode="auto">
            <a:xfrm>
              <a:off x="1008" y="2304"/>
              <a:ext cx="3472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96" name="Rectangle 9"/>
            <p:cNvSpPr>
              <a:spLocks noChangeArrowheads="1"/>
            </p:cNvSpPr>
            <p:nvPr/>
          </p:nvSpPr>
          <p:spPr bwMode="auto">
            <a:xfrm>
              <a:off x="4333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9497" name="Rectangle 10"/>
            <p:cNvSpPr>
              <a:spLocks noChangeArrowheads="1"/>
            </p:cNvSpPr>
            <p:nvPr/>
          </p:nvSpPr>
          <p:spPr bwMode="auto">
            <a:xfrm>
              <a:off x="4038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98" name="Rectangle 11"/>
            <p:cNvSpPr>
              <a:spLocks noChangeArrowheads="1"/>
            </p:cNvSpPr>
            <p:nvPr/>
          </p:nvSpPr>
          <p:spPr bwMode="auto">
            <a:xfrm>
              <a:off x="3542" y="2335"/>
              <a:ext cx="8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9499" name="Rectangle 12"/>
            <p:cNvSpPr>
              <a:spLocks noChangeArrowheads="1"/>
            </p:cNvSpPr>
            <p:nvPr/>
          </p:nvSpPr>
          <p:spPr bwMode="auto">
            <a:xfrm>
              <a:off x="3306" y="2335"/>
              <a:ext cx="19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))</a:t>
              </a:r>
              <a:endParaRPr lang="en-US" altLang="en-US" sz="1800"/>
            </a:p>
          </p:txBody>
        </p:sp>
        <p:sp>
          <p:nvSpPr>
            <p:cNvPr id="19500" name="Rectangle 13"/>
            <p:cNvSpPr>
              <a:spLocks noChangeArrowheads="1"/>
            </p:cNvSpPr>
            <p:nvPr/>
          </p:nvSpPr>
          <p:spPr bwMode="auto">
            <a:xfrm>
              <a:off x="3010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501" name="Rectangle 14"/>
            <p:cNvSpPr>
              <a:spLocks noChangeArrowheads="1"/>
            </p:cNvSpPr>
            <p:nvPr/>
          </p:nvSpPr>
          <p:spPr bwMode="auto">
            <a:xfrm>
              <a:off x="1661" y="2335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502" name="Rectangle 15"/>
            <p:cNvSpPr>
              <a:spLocks noChangeArrowheads="1"/>
            </p:cNvSpPr>
            <p:nvPr/>
          </p:nvSpPr>
          <p:spPr bwMode="auto">
            <a:xfrm>
              <a:off x="4182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3" name="Rectangle 16"/>
            <p:cNvSpPr>
              <a:spLocks noChangeArrowheads="1"/>
            </p:cNvSpPr>
            <p:nvPr/>
          </p:nvSpPr>
          <p:spPr bwMode="auto">
            <a:xfrm>
              <a:off x="3677" y="2335"/>
              <a:ext cx="33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std</a:t>
              </a:r>
              <a:endParaRPr lang="en-US" altLang="en-US" sz="1800"/>
            </a:p>
          </p:txBody>
        </p:sp>
        <p:sp>
          <p:nvSpPr>
            <p:cNvPr id="19504" name="Rectangle 17"/>
            <p:cNvSpPr>
              <a:spLocks noChangeArrowheads="1"/>
            </p:cNvSpPr>
            <p:nvPr/>
          </p:nvSpPr>
          <p:spPr bwMode="auto">
            <a:xfrm>
              <a:off x="3155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5" name="Rectangle 18"/>
            <p:cNvSpPr>
              <a:spLocks noChangeArrowheads="1"/>
            </p:cNvSpPr>
            <p:nvPr/>
          </p:nvSpPr>
          <p:spPr bwMode="auto">
            <a:xfrm>
              <a:off x="2356" y="2335"/>
              <a:ext cx="65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mean</a:t>
              </a:r>
              <a:endParaRPr lang="en-US" altLang="en-US" sz="1800"/>
            </a:p>
          </p:txBody>
        </p:sp>
        <p:sp>
          <p:nvSpPr>
            <p:cNvPr id="19506" name="Rectangle 19"/>
            <p:cNvSpPr>
              <a:spLocks noChangeArrowheads="1"/>
            </p:cNvSpPr>
            <p:nvPr/>
          </p:nvSpPr>
          <p:spPr bwMode="auto">
            <a:xfrm>
              <a:off x="1806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7" name="Rectangle 20"/>
            <p:cNvSpPr>
              <a:spLocks noChangeArrowheads="1"/>
            </p:cNvSpPr>
            <p:nvPr/>
          </p:nvSpPr>
          <p:spPr bwMode="auto">
            <a:xfrm>
              <a:off x="1088" y="2335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508" name="Rectangle 21"/>
            <p:cNvSpPr>
              <a:spLocks noChangeArrowheads="1"/>
            </p:cNvSpPr>
            <p:nvPr/>
          </p:nvSpPr>
          <p:spPr bwMode="auto">
            <a:xfrm>
              <a:off x="1945" y="2471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509" name="Rectangle 22"/>
            <p:cNvSpPr>
              <a:spLocks noChangeArrowheads="1"/>
            </p:cNvSpPr>
            <p:nvPr/>
          </p:nvSpPr>
          <p:spPr bwMode="auto">
            <a:xfrm>
              <a:off x="1227" y="2471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510" name="Rectangle 23"/>
            <p:cNvSpPr>
              <a:spLocks noChangeArrowheads="1"/>
            </p:cNvSpPr>
            <p:nvPr/>
          </p:nvSpPr>
          <p:spPr bwMode="auto">
            <a:xfrm>
              <a:off x="2141" y="2302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9511" name="Rectangle 24"/>
            <p:cNvSpPr>
              <a:spLocks noChangeArrowheads="1"/>
            </p:cNvSpPr>
            <p:nvPr/>
          </p:nvSpPr>
          <p:spPr bwMode="auto">
            <a:xfrm>
              <a:off x="1438" y="2302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9512" name="Rectangle 25"/>
            <p:cNvSpPr>
              <a:spLocks noChangeArrowheads="1"/>
            </p:cNvSpPr>
            <p:nvPr/>
          </p:nvSpPr>
          <p:spPr bwMode="auto">
            <a:xfrm>
              <a:off x="1232" y="2289"/>
              <a:ext cx="7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</p:grpSp>
      <p:grpSp>
        <p:nvGrpSpPr>
          <p:cNvPr id="19461" name="Group 27"/>
          <p:cNvGrpSpPr>
            <a:grpSpLocks noChangeAspect="1"/>
          </p:cNvGrpSpPr>
          <p:nvPr/>
        </p:nvGrpSpPr>
        <p:grpSpPr bwMode="auto">
          <a:xfrm>
            <a:off x="1676400" y="4243388"/>
            <a:ext cx="5256213" cy="711200"/>
            <a:chOff x="1056" y="2673"/>
            <a:chExt cx="3311" cy="448"/>
          </a:xfrm>
        </p:grpSpPr>
        <p:sp>
          <p:nvSpPr>
            <p:cNvPr id="19477" name="AutoShape 26"/>
            <p:cNvSpPr>
              <a:spLocks noChangeAspect="1" noChangeArrowheads="1" noTextEdit="1"/>
            </p:cNvSpPr>
            <p:nvPr/>
          </p:nvSpPr>
          <p:spPr bwMode="auto">
            <a:xfrm>
              <a:off x="1056" y="2688"/>
              <a:ext cx="3311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Rectangle 28"/>
            <p:cNvSpPr>
              <a:spLocks noChangeArrowheads="1"/>
            </p:cNvSpPr>
            <p:nvPr/>
          </p:nvSpPr>
          <p:spPr bwMode="auto">
            <a:xfrm>
              <a:off x="4229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9479" name="Rectangle 29"/>
            <p:cNvSpPr>
              <a:spLocks noChangeArrowheads="1"/>
            </p:cNvSpPr>
            <p:nvPr/>
          </p:nvSpPr>
          <p:spPr bwMode="auto">
            <a:xfrm>
              <a:off x="3973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80" name="Rectangle 30"/>
            <p:cNvSpPr>
              <a:spLocks noChangeArrowheads="1"/>
            </p:cNvSpPr>
            <p:nvPr/>
          </p:nvSpPr>
          <p:spPr bwMode="auto">
            <a:xfrm>
              <a:off x="3476" y="2720"/>
              <a:ext cx="8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/</a:t>
              </a:r>
              <a:endParaRPr lang="en-US" altLang="en-US" sz="1800"/>
            </a:p>
          </p:txBody>
        </p:sp>
        <p:sp>
          <p:nvSpPr>
            <p:cNvPr id="19481" name="Rectangle 31"/>
            <p:cNvSpPr>
              <a:spLocks noChangeArrowheads="1"/>
            </p:cNvSpPr>
            <p:nvPr/>
          </p:nvSpPr>
          <p:spPr bwMode="auto">
            <a:xfrm>
              <a:off x="3239" y="2720"/>
              <a:ext cx="19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))</a:t>
              </a:r>
              <a:endParaRPr lang="en-US" altLang="en-US" sz="1800"/>
            </a:p>
          </p:txBody>
        </p:sp>
        <p:sp>
          <p:nvSpPr>
            <p:cNvPr id="19482" name="Rectangle 32"/>
            <p:cNvSpPr>
              <a:spLocks noChangeArrowheads="1"/>
            </p:cNvSpPr>
            <p:nvPr/>
          </p:nvSpPr>
          <p:spPr bwMode="auto">
            <a:xfrm>
              <a:off x="2983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83" name="Rectangle 33"/>
            <p:cNvSpPr>
              <a:spLocks noChangeArrowheads="1"/>
            </p:cNvSpPr>
            <p:nvPr/>
          </p:nvSpPr>
          <p:spPr bwMode="auto">
            <a:xfrm>
              <a:off x="1671" y="2720"/>
              <a:ext cx="9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  <p:sp>
          <p:nvSpPr>
            <p:cNvPr id="19484" name="Rectangle 34"/>
            <p:cNvSpPr>
              <a:spLocks noChangeArrowheads="1"/>
            </p:cNvSpPr>
            <p:nvPr/>
          </p:nvSpPr>
          <p:spPr bwMode="auto">
            <a:xfrm>
              <a:off x="4078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85" name="Rectangle 35"/>
            <p:cNvSpPr>
              <a:spLocks noChangeArrowheads="1"/>
            </p:cNvSpPr>
            <p:nvPr/>
          </p:nvSpPr>
          <p:spPr bwMode="auto">
            <a:xfrm>
              <a:off x="3611" y="2720"/>
              <a:ext cx="33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std</a:t>
              </a:r>
              <a:endParaRPr lang="en-US" altLang="en-US" sz="1800"/>
            </a:p>
          </p:txBody>
        </p:sp>
        <p:sp>
          <p:nvSpPr>
            <p:cNvPr id="19486" name="Rectangle 36"/>
            <p:cNvSpPr>
              <a:spLocks noChangeArrowheads="1"/>
            </p:cNvSpPr>
            <p:nvPr/>
          </p:nvSpPr>
          <p:spPr bwMode="auto">
            <a:xfrm>
              <a:off x="3088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87" name="Rectangle 37"/>
            <p:cNvSpPr>
              <a:spLocks noChangeArrowheads="1"/>
            </p:cNvSpPr>
            <p:nvPr/>
          </p:nvSpPr>
          <p:spPr bwMode="auto">
            <a:xfrm>
              <a:off x="2327" y="2720"/>
              <a:ext cx="65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mean</a:t>
              </a:r>
              <a:endParaRPr lang="en-US" altLang="en-US" sz="1800"/>
            </a:p>
          </p:txBody>
        </p:sp>
        <p:sp>
          <p:nvSpPr>
            <p:cNvPr id="19488" name="Rectangle 38"/>
            <p:cNvSpPr>
              <a:spLocks noChangeArrowheads="1"/>
            </p:cNvSpPr>
            <p:nvPr/>
          </p:nvSpPr>
          <p:spPr bwMode="auto">
            <a:xfrm>
              <a:off x="1776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89" name="Rectangle 39"/>
            <p:cNvSpPr>
              <a:spLocks noChangeArrowheads="1"/>
            </p:cNvSpPr>
            <p:nvPr/>
          </p:nvSpPr>
          <p:spPr bwMode="auto">
            <a:xfrm>
              <a:off x="1096" y="2720"/>
              <a:ext cx="144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 b="1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90" name="Rectangle 40"/>
            <p:cNvSpPr>
              <a:spLocks noChangeArrowheads="1"/>
            </p:cNvSpPr>
            <p:nvPr/>
          </p:nvSpPr>
          <p:spPr bwMode="auto">
            <a:xfrm>
              <a:off x="1915" y="2856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491" name="Rectangle 41"/>
            <p:cNvSpPr>
              <a:spLocks noChangeArrowheads="1"/>
            </p:cNvSpPr>
            <p:nvPr/>
          </p:nvSpPr>
          <p:spPr bwMode="auto">
            <a:xfrm>
              <a:off x="1236" y="2856"/>
              <a:ext cx="1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700" b="1" i="1">
                  <a:latin typeface="Times New Roman" panose="02020603050405020304" pitchFamily="18" charset="0"/>
                </a:rPr>
                <a:t>k</a:t>
              </a:r>
              <a:endParaRPr lang="en-US" altLang="en-US" sz="1800"/>
            </a:p>
          </p:txBody>
        </p:sp>
        <p:sp>
          <p:nvSpPr>
            <p:cNvPr id="19492" name="Rectangle 42"/>
            <p:cNvSpPr>
              <a:spLocks noChangeArrowheads="1"/>
            </p:cNvSpPr>
            <p:nvPr/>
          </p:nvSpPr>
          <p:spPr bwMode="auto">
            <a:xfrm>
              <a:off x="2112" y="2687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-</a:t>
              </a:r>
              <a:endParaRPr lang="en-US" altLang="en-US" sz="1800"/>
            </a:p>
          </p:txBody>
        </p:sp>
        <p:sp>
          <p:nvSpPr>
            <p:cNvPr id="19493" name="Rectangle 43"/>
            <p:cNvSpPr>
              <a:spLocks noChangeArrowheads="1"/>
            </p:cNvSpPr>
            <p:nvPr/>
          </p:nvSpPr>
          <p:spPr bwMode="auto">
            <a:xfrm>
              <a:off x="1447" y="2687"/>
              <a:ext cx="1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9494" name="Rectangle 44"/>
            <p:cNvSpPr>
              <a:spLocks noChangeArrowheads="1"/>
            </p:cNvSpPr>
            <p:nvPr/>
          </p:nvSpPr>
          <p:spPr bwMode="auto">
            <a:xfrm>
              <a:off x="1241" y="2673"/>
              <a:ext cx="71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6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</p:grpSp>
      <p:grpSp>
        <p:nvGrpSpPr>
          <p:cNvPr id="19462" name="Group 46"/>
          <p:cNvGrpSpPr>
            <a:grpSpLocks noChangeAspect="1"/>
          </p:cNvGrpSpPr>
          <p:nvPr/>
        </p:nvGrpSpPr>
        <p:grpSpPr bwMode="auto">
          <a:xfrm>
            <a:off x="1752600" y="5040313"/>
            <a:ext cx="4643438" cy="660400"/>
            <a:chOff x="1104" y="3175"/>
            <a:chExt cx="2925" cy="416"/>
          </a:xfrm>
        </p:grpSpPr>
        <p:sp>
          <p:nvSpPr>
            <p:cNvPr id="19463" name="AutoShape 45"/>
            <p:cNvSpPr>
              <a:spLocks noChangeAspect="1" noChangeArrowheads="1" noTextEdit="1"/>
            </p:cNvSpPr>
            <p:nvPr/>
          </p:nvSpPr>
          <p:spPr bwMode="auto">
            <a:xfrm>
              <a:off x="1104" y="3216"/>
              <a:ext cx="2925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Rectangle 47"/>
            <p:cNvSpPr>
              <a:spLocks noChangeArrowheads="1"/>
            </p:cNvSpPr>
            <p:nvPr/>
          </p:nvSpPr>
          <p:spPr bwMode="auto">
            <a:xfrm>
              <a:off x="3775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65" name="Rectangle 48"/>
            <p:cNvSpPr>
              <a:spLocks noChangeArrowheads="1"/>
            </p:cNvSpPr>
            <p:nvPr/>
          </p:nvSpPr>
          <p:spPr bwMode="auto">
            <a:xfrm>
              <a:off x="3358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466" name="Rectangle 49"/>
            <p:cNvSpPr>
              <a:spLocks noChangeArrowheads="1"/>
            </p:cNvSpPr>
            <p:nvPr/>
          </p:nvSpPr>
          <p:spPr bwMode="auto">
            <a:xfrm>
              <a:off x="2796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q</a:t>
              </a:r>
              <a:endParaRPr lang="en-US" altLang="en-US" sz="1800"/>
            </a:p>
          </p:txBody>
        </p:sp>
        <p:sp>
          <p:nvSpPr>
            <p:cNvPr id="19467" name="Rectangle 50"/>
            <p:cNvSpPr>
              <a:spLocks noChangeArrowheads="1"/>
            </p:cNvSpPr>
            <p:nvPr/>
          </p:nvSpPr>
          <p:spPr bwMode="auto">
            <a:xfrm>
              <a:off x="2546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p</a:t>
              </a:r>
              <a:endParaRPr lang="en-US" altLang="en-US" sz="1800"/>
            </a:p>
          </p:txBody>
        </p:sp>
        <p:sp>
          <p:nvSpPr>
            <p:cNvPr id="19468" name="Rectangle 51"/>
            <p:cNvSpPr>
              <a:spLocks noChangeArrowheads="1"/>
            </p:cNvSpPr>
            <p:nvPr/>
          </p:nvSpPr>
          <p:spPr bwMode="auto">
            <a:xfrm>
              <a:off x="2265" y="3224"/>
              <a:ext cx="14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n</a:t>
              </a:r>
              <a:endParaRPr lang="en-US" altLang="en-US" sz="1800"/>
            </a:p>
          </p:txBody>
        </p:sp>
        <p:sp>
          <p:nvSpPr>
            <p:cNvPr id="19469" name="Rectangle 52"/>
            <p:cNvSpPr>
              <a:spLocks noChangeArrowheads="1"/>
            </p:cNvSpPr>
            <p:nvPr/>
          </p:nvSpPr>
          <p:spPr bwMode="auto">
            <a:xfrm>
              <a:off x="1142" y="3224"/>
              <a:ext cx="112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 i="1">
                  <a:latin typeface="Times New Roman" panose="02020603050405020304" pitchFamily="18" charset="0"/>
                </a:rPr>
                <a:t>correlatio</a:t>
              </a:r>
              <a:endParaRPr lang="en-US" altLang="en-US" sz="1800"/>
            </a:p>
          </p:txBody>
        </p:sp>
        <p:sp>
          <p:nvSpPr>
            <p:cNvPr id="19470" name="Rectangle 53"/>
            <p:cNvSpPr>
              <a:spLocks noChangeArrowheads="1"/>
            </p:cNvSpPr>
            <p:nvPr/>
          </p:nvSpPr>
          <p:spPr bwMode="auto">
            <a:xfrm>
              <a:off x="3919" y="3175"/>
              <a:ext cx="69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  <p:sp>
          <p:nvSpPr>
            <p:cNvPr id="19471" name="Rectangle 54"/>
            <p:cNvSpPr>
              <a:spLocks noChangeArrowheads="1"/>
            </p:cNvSpPr>
            <p:nvPr/>
          </p:nvSpPr>
          <p:spPr bwMode="auto">
            <a:xfrm>
              <a:off x="3603" y="3191"/>
              <a:ext cx="129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·</a:t>
              </a:r>
              <a:endParaRPr lang="en-US" altLang="en-US" sz="1800"/>
            </a:p>
          </p:txBody>
        </p:sp>
        <p:sp>
          <p:nvSpPr>
            <p:cNvPr id="19472" name="Rectangle 55"/>
            <p:cNvSpPr>
              <a:spLocks noChangeArrowheads="1"/>
            </p:cNvSpPr>
            <p:nvPr/>
          </p:nvSpPr>
          <p:spPr bwMode="auto">
            <a:xfrm>
              <a:off x="3503" y="3175"/>
              <a:ext cx="69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¢</a:t>
              </a:r>
              <a:endParaRPr lang="en-US" altLang="en-US" sz="1800"/>
            </a:p>
          </p:txBody>
        </p:sp>
        <p:sp>
          <p:nvSpPr>
            <p:cNvPr id="19473" name="Rectangle 56"/>
            <p:cNvSpPr>
              <a:spLocks noChangeArrowheads="1"/>
            </p:cNvSpPr>
            <p:nvPr/>
          </p:nvSpPr>
          <p:spPr bwMode="auto">
            <a:xfrm>
              <a:off x="3103" y="3191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Symbol" panose="05050102010706020507" pitchFamily="18" charset="2"/>
                </a:rPr>
                <a:t>=</a:t>
              </a:r>
              <a:endParaRPr lang="en-US" altLang="en-US" sz="1800"/>
            </a:p>
          </p:txBody>
        </p:sp>
        <p:sp>
          <p:nvSpPr>
            <p:cNvPr id="19474" name="Rectangle 57"/>
            <p:cNvSpPr>
              <a:spLocks noChangeArrowheads="1"/>
            </p:cNvSpPr>
            <p:nvPr/>
          </p:nvSpPr>
          <p:spPr bwMode="auto">
            <a:xfrm>
              <a:off x="2945" y="3224"/>
              <a:ext cx="9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Times New Roman" panose="02020603050405020304" pitchFamily="18" charset="0"/>
                </a:rPr>
                <a:t>)</a:t>
              </a:r>
              <a:endParaRPr lang="en-US" altLang="en-US" sz="1800"/>
            </a:p>
          </p:txBody>
        </p:sp>
        <p:sp>
          <p:nvSpPr>
            <p:cNvPr id="19475" name="Rectangle 58"/>
            <p:cNvSpPr>
              <a:spLocks noChangeArrowheads="1"/>
            </p:cNvSpPr>
            <p:nvPr/>
          </p:nvSpPr>
          <p:spPr bwMode="auto">
            <a:xfrm>
              <a:off x="2691" y="3224"/>
              <a:ext cx="7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Times New Roman" panose="02020603050405020304" pitchFamily="18" charset="0"/>
                </a:rPr>
                <a:t>,</a:t>
              </a:r>
              <a:endParaRPr lang="en-US" altLang="en-US" sz="1800"/>
            </a:p>
          </p:txBody>
        </p:sp>
        <p:sp>
          <p:nvSpPr>
            <p:cNvPr id="19476" name="Rectangle 59"/>
            <p:cNvSpPr>
              <a:spLocks noChangeArrowheads="1"/>
            </p:cNvSpPr>
            <p:nvPr/>
          </p:nvSpPr>
          <p:spPr bwMode="auto">
            <a:xfrm>
              <a:off x="2410" y="3224"/>
              <a:ext cx="9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3500">
                  <a:latin typeface="Times New Roman" panose="02020603050405020304" pitchFamily="18" charset="0"/>
                </a:rPr>
                <a:t>(</a:t>
              </a: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8589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Measuring Cluster Validity Via Correlation</a:t>
            </a:r>
          </a:p>
        </p:txBody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Correlation of incidence and proximity matrices for the K-means </a:t>
            </a:r>
            <a:r>
              <a:rPr lang="en-US" dirty="0" err="1" smtClean="0"/>
              <a:t>clusterings</a:t>
            </a:r>
            <a:r>
              <a:rPr lang="en-US" dirty="0" smtClean="0"/>
              <a:t> of the following two data sets. </a:t>
            </a:r>
          </a:p>
          <a:p>
            <a:pPr eaLnBrk="1" hangingPunct="1">
              <a:defRPr/>
            </a:pPr>
            <a:endParaRPr lang="en-US" dirty="0" smtClean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76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276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143000" y="61722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Corr = -0.9235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5029200" y="6172200"/>
            <a:ext cx="2362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Corr = -0.5810</a:t>
            </a:r>
          </a:p>
        </p:txBody>
      </p:sp>
    </p:spTree>
    <p:extLst>
      <p:ext uri="{BB962C8B-B14F-4D97-AF65-F5344CB8AC3E}">
        <p14:creationId xmlns:p14="http://schemas.microsoft.com/office/powerpoint/2010/main" val="66920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53340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smtClean="0"/>
              <a:t>Order the similarity matrix with respect to cluster labels and inspect visually. </a:t>
            </a:r>
          </a:p>
          <a:p>
            <a:pPr eaLnBrk="1" hangingPunct="1">
              <a:defRPr/>
            </a:pPr>
            <a:endParaRPr lang="en-US" sz="3000" smtClean="0"/>
          </a:p>
        </p:txBody>
      </p:sp>
      <p:sp>
        <p:nvSpPr>
          <p:cNvPr id="549891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86868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6413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48000"/>
            <a:ext cx="4268788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902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Clusters in random data are not so crisp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5908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3276600" y="57912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DBSCAN</a:t>
            </a: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5908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236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95563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98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sp>
        <p:nvSpPr>
          <p:cNvPr id="55398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Clusters in random data are not so crisp</a:t>
            </a:r>
          </a:p>
          <a:p>
            <a:pPr eaLnBrk="1" hangingPunct="1">
              <a:defRPr/>
            </a:pPr>
            <a:endParaRPr lang="en-US" smtClean="0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352800" y="57150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K-means</a:t>
            </a: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908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873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</a:p>
        </p:txBody>
      </p:sp>
      <p:sp>
        <p:nvSpPr>
          <p:cNvPr id="556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Clusters in random data are not so crisp</a:t>
            </a:r>
          </a:p>
          <a:p>
            <a:pPr eaLnBrk="1" hangingPunct="1">
              <a:defRPr/>
            </a:pPr>
            <a:endParaRPr lang="en-US" smtClean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895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956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429000" y="59436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Complete Link</a:t>
            </a:r>
          </a:p>
        </p:txBody>
      </p:sp>
    </p:spTree>
    <p:extLst>
      <p:ext uri="{BB962C8B-B14F-4D97-AF65-F5344CB8AC3E}">
        <p14:creationId xmlns:p14="http://schemas.microsoft.com/office/powerpoint/2010/main" val="250561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Using Similarity Matrix for Cluster Validation</a:t>
            </a:r>
            <a:endParaRPr lang="en-US" smtClean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388938" y="2362200"/>
            <a:ext cx="48006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429000" y="5638800"/>
            <a:ext cx="2895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200" b="1">
                <a:latin typeface="Arial" panose="020B0604020202020204" pitchFamily="34" charset="0"/>
              </a:rPr>
              <a:t>DBSCAN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738" y="2057400"/>
            <a:ext cx="4259262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084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334000"/>
          </a:xfrm>
        </p:spPr>
        <p:txBody>
          <a:bodyPr/>
          <a:lstStyle/>
          <a:p>
            <a:pPr eaLnBrk="1" hangingPunct="1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Wingdings" panose="05000000000000000000" pitchFamily="2" charset="2"/>
              <a:buNone/>
              <a:defRPr/>
            </a:pPr>
            <a:r>
              <a:rPr lang="en-US" smtClean="0"/>
              <a:t>   “The validation of clustering structures is the most difficult and frustrating part of cluster analysis. </a:t>
            </a:r>
          </a:p>
          <a:p>
            <a:pPr eaLnBrk="1" hangingPunct="1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Font typeface="Wingdings" panose="05000000000000000000" pitchFamily="2" charset="2"/>
              <a:buNone/>
              <a:defRPr/>
            </a:pPr>
            <a:r>
              <a:rPr lang="en-US" smtClean="0"/>
              <a:t>   Without a strong effort in this direction, cluster analysis will remain a black art accessible only to those true believers who have experience and great courage.”</a:t>
            </a:r>
          </a:p>
          <a:p>
            <a:pPr eaLnBrk="1" hangingPunct="1">
              <a:spcBef>
                <a:spcPct val="0"/>
              </a:spcBef>
              <a:buSzPct val="85000"/>
              <a:defRPr/>
            </a:pPr>
            <a:endParaRPr lang="en-US" smtClean="0"/>
          </a:p>
          <a:p>
            <a:pPr eaLnBrk="1" hangingPunct="1">
              <a:spcBef>
                <a:spcPct val="0"/>
              </a:spcBef>
              <a:buSzPct val="85000"/>
              <a:buFont typeface="Wingdings" panose="05000000000000000000" pitchFamily="2" charset="2"/>
              <a:buNone/>
              <a:defRPr/>
            </a:pPr>
            <a:r>
              <a:rPr lang="en-US" i="1" smtClean="0"/>
              <a:t>Algorithms for Clustering Data</a:t>
            </a:r>
            <a:r>
              <a:rPr lang="en-US" smtClean="0"/>
              <a:t>, Jain and Dubes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Final Comment on Cluster Validity</a:t>
            </a:r>
          </a:p>
        </p:txBody>
      </p:sp>
    </p:spTree>
    <p:extLst>
      <p:ext uri="{BB962C8B-B14F-4D97-AF65-F5344CB8AC3E}">
        <p14:creationId xmlns:p14="http://schemas.microsoft.com/office/powerpoint/2010/main" val="428449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1861</Words>
  <Application>Microsoft Office PowerPoint</Application>
  <PresentationFormat>On-screen Show (4:3)</PresentationFormat>
  <Paragraphs>435</Paragraphs>
  <Slides>52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宋体</vt:lpstr>
      <vt:lpstr>Arial</vt:lpstr>
      <vt:lpstr>Calibri</vt:lpstr>
      <vt:lpstr>Monotype Sorts</vt:lpstr>
      <vt:lpstr>Symbol</vt:lpstr>
      <vt:lpstr>Tahoma</vt:lpstr>
      <vt:lpstr>Times New Roman</vt:lpstr>
      <vt:lpstr>Wingdings</vt:lpstr>
      <vt:lpstr>Office Theme</vt:lpstr>
      <vt:lpstr>VISIO</vt:lpstr>
      <vt:lpstr>Worksheet</vt:lpstr>
      <vt:lpstr>Equation</vt:lpstr>
      <vt:lpstr>Bitmap Image</vt:lpstr>
      <vt:lpstr>Clustering</vt:lpstr>
      <vt:lpstr>PowerPoint Presentation</vt:lpstr>
      <vt:lpstr>Hierarchical Clustering </vt:lpstr>
      <vt:lpstr>Strengths of Hierarchical Clustering</vt:lpstr>
      <vt:lpstr>Cluster Similarity: MIN or Single Link </vt:lpstr>
      <vt:lpstr>Hierarchical Clustering: MIN</vt:lpstr>
      <vt:lpstr>Strength of MIN</vt:lpstr>
      <vt:lpstr>Limitations of MIN</vt:lpstr>
      <vt:lpstr>Cluster Similarity: MAX or Complete Linkage</vt:lpstr>
      <vt:lpstr>Hierarchical Clustering: MAX</vt:lpstr>
      <vt:lpstr>Strength of MAX</vt:lpstr>
      <vt:lpstr>Limitations of MAX</vt:lpstr>
      <vt:lpstr>Cluster Similarity: Group Average</vt:lpstr>
      <vt:lpstr>Hierarchical Clustering: Group Average</vt:lpstr>
      <vt:lpstr>Hierarchical Clustering: Group Average</vt:lpstr>
      <vt:lpstr>Distance between two clusters</vt:lpstr>
      <vt:lpstr>Distance between two clusters</vt:lpstr>
      <vt:lpstr>Cluster Similarity: Ward’s Method</vt:lpstr>
      <vt:lpstr>Hierarchical Clustering: Comparison</vt:lpstr>
      <vt:lpstr>Hierarchical Clustering: Problems and Limitations</vt:lpstr>
      <vt:lpstr> </vt:lpstr>
      <vt:lpstr>Deciding where to cut the Dendrogram can be difficult</vt:lpstr>
      <vt:lpstr>Comparing two Dendrograms is not straightforward</vt:lpstr>
      <vt:lpstr>Clustering Validation &amp; Assessment</vt:lpstr>
      <vt:lpstr>Cluster Validity </vt:lpstr>
      <vt:lpstr>Clusters found in Random Data</vt:lpstr>
      <vt:lpstr>Introduction</vt:lpstr>
      <vt:lpstr>Different Aspects of Cluster Validation</vt:lpstr>
      <vt:lpstr>Introduction</vt:lpstr>
      <vt:lpstr>Measures of Cluster Validity</vt:lpstr>
      <vt:lpstr>Internal Measures: Cohesion and Separation</vt:lpstr>
      <vt:lpstr>PowerPoint Presentation</vt:lpstr>
      <vt:lpstr>Internal Measures: Cohesion and Separation</vt:lpstr>
      <vt:lpstr>Internal Measures: Cohesion and Separation</vt:lpstr>
      <vt:lpstr>Internal Measures: Silhouette Coefficient</vt:lpstr>
      <vt:lpstr>PowerPoint Presentation</vt:lpstr>
      <vt:lpstr>Internal Measures: SSE</vt:lpstr>
      <vt:lpstr>PowerPoint Presentation</vt:lpstr>
      <vt:lpstr>Internal Measures: SSE</vt:lpstr>
      <vt:lpstr>Inverse Scree Test</vt:lpstr>
      <vt:lpstr>Supervised/External measures of Cluster Validation</vt:lpstr>
      <vt:lpstr>External Measures of Cluster Validity: Entropy and Purity</vt:lpstr>
      <vt:lpstr>Unsupervised measures of Cluster Validation</vt:lpstr>
      <vt:lpstr>Measuring Cluster Validity Via Correlation</vt:lpstr>
      <vt:lpstr>Correlation</vt:lpstr>
      <vt:lpstr>Measuring Cluster Validity Via Correlation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Using Similarity Matrix for Cluster Validation</vt:lpstr>
      <vt:lpstr>Final Comment on Cluster Validity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58</cp:revision>
  <dcterms:created xsi:type="dcterms:W3CDTF">2016-03-31T23:17:38Z</dcterms:created>
  <dcterms:modified xsi:type="dcterms:W3CDTF">2018-04-13T10:19:01Z</dcterms:modified>
</cp:coreProperties>
</file>