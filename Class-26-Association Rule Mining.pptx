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notesMasterIdLst>
    <p:notesMasterId r:id="rId48"/>
  </p:notesMasterIdLst>
  <p:sldIdLst>
    <p:sldId id="256" r:id="rId2"/>
    <p:sldId id="377" r:id="rId3"/>
    <p:sldId id="378" r:id="rId4"/>
    <p:sldId id="292" r:id="rId5"/>
    <p:sldId id="321" r:id="rId6"/>
    <p:sldId id="322" r:id="rId7"/>
    <p:sldId id="376" r:id="rId8"/>
    <p:sldId id="348" r:id="rId9"/>
    <p:sldId id="349" r:id="rId10"/>
    <p:sldId id="323" r:id="rId11"/>
    <p:sldId id="324" r:id="rId12"/>
    <p:sldId id="325" r:id="rId13"/>
    <p:sldId id="347" r:id="rId14"/>
    <p:sldId id="326" r:id="rId15"/>
    <p:sldId id="327" r:id="rId16"/>
    <p:sldId id="379" r:id="rId17"/>
    <p:sldId id="355" r:id="rId18"/>
    <p:sldId id="328" r:id="rId19"/>
    <p:sldId id="329" r:id="rId20"/>
    <p:sldId id="330" r:id="rId21"/>
    <p:sldId id="352" r:id="rId22"/>
    <p:sldId id="353" r:id="rId23"/>
    <p:sldId id="331" r:id="rId24"/>
    <p:sldId id="332" r:id="rId25"/>
    <p:sldId id="333" r:id="rId26"/>
    <p:sldId id="334" r:id="rId27"/>
    <p:sldId id="356" r:id="rId28"/>
    <p:sldId id="357" r:id="rId29"/>
    <p:sldId id="358" r:id="rId30"/>
    <p:sldId id="359" r:id="rId31"/>
    <p:sldId id="360" r:id="rId32"/>
    <p:sldId id="361" r:id="rId33"/>
    <p:sldId id="362" r:id="rId34"/>
    <p:sldId id="363" r:id="rId35"/>
    <p:sldId id="364" r:id="rId36"/>
    <p:sldId id="365" r:id="rId37"/>
    <p:sldId id="366" r:id="rId38"/>
    <p:sldId id="367" r:id="rId39"/>
    <p:sldId id="368" r:id="rId40"/>
    <p:sldId id="369" r:id="rId41"/>
    <p:sldId id="370" r:id="rId42"/>
    <p:sldId id="371" r:id="rId43"/>
    <p:sldId id="372" r:id="rId44"/>
    <p:sldId id="373" r:id="rId45"/>
    <p:sldId id="374" r:id="rId46"/>
    <p:sldId id="375" r:id="rId47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FF3300"/>
    <a:srgbClr val="8E2635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4538"/>
            <a:ext cx="5842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2812AC4-7792-43D9-A431-50519EE9AB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80532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B98D880-2A2F-4AA8-B21E-A401519A8286}" type="slidenum">
              <a:rPr lang="en-US" altLang="en-US" sz="1300" smtClean="0">
                <a:latin typeface="Arial" panose="020B0604020202020204" pitchFamily="34" charset="0"/>
              </a:rPr>
              <a:pPr/>
              <a:t>4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994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D645007-AAA5-4865-8EBA-695F977DCDC9}" type="slidenum">
              <a:rPr lang="en-US" altLang="en-US" sz="1300" smtClean="0">
                <a:latin typeface="Arial" panose="020B0604020202020204" pitchFamily="34" charset="0"/>
              </a:rPr>
              <a:pPr/>
              <a:t>5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961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6236C66-CAEB-4647-9B2E-F80FAAA8B57F}" type="slidenum">
              <a:rPr lang="en-US" altLang="en-US" sz="1300" smtClean="0">
                <a:latin typeface="Arial" panose="020B0604020202020204" pitchFamily="34" charset="0"/>
              </a:rPr>
              <a:pPr/>
              <a:t>6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202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latin typeface="Times New Roman" panose="02020603050405020304" pitchFamily="18" charset="0"/>
            </a:endParaRPr>
          </a:p>
        </p:txBody>
      </p:sp>
      <p:sp>
        <p:nvSpPr>
          <p:cNvPr id="7885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E7EC8959-C15F-47F7-AD86-882AEF1649FB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3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8854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E63F3468-0C32-4548-9253-BAD5338D14AC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078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3DE15B8-9E10-48F8-8BDC-18C9F7E0A33C}" type="slidenum">
              <a:rPr lang="en-US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623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8B88958-B3E6-4171-B90B-6C993D658A78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643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207625C-5A93-4B5D-82DD-A2C2AF3894AF}" type="slidenum">
              <a:rPr lang="en-US" altLang="en-US" sz="1300" smtClean="0">
                <a:latin typeface="Arial" panose="020B0604020202020204" pitchFamily="34" charset="0"/>
              </a:rPr>
              <a:pPr/>
              <a:t>10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320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1F56B13-9B92-4080-9397-A0F6738A0DF7}" type="slidenum">
              <a:rPr lang="en-US" altLang="en-US" sz="1300" smtClean="0">
                <a:latin typeface="Arial" panose="020B0604020202020204" pitchFamily="34" charset="0"/>
              </a:rPr>
              <a:pPr/>
              <a:t>11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880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A3A323E-1086-4095-9AD4-843A0F731AA4}" type="slidenum">
              <a:rPr lang="en-US" altLang="en-US" sz="1300" smtClean="0">
                <a:latin typeface="Arial" panose="020B0604020202020204" pitchFamily="34" charset="0"/>
              </a:rPr>
              <a:pPr/>
              <a:t>12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27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5715A99-2402-462B-8553-5F9661E211A1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759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EEA0913-7DF5-4571-ADAA-ED0832FA5A1B}" type="slidenum">
              <a:rPr lang="en-US" altLang="en-US" sz="1300" smtClean="0">
                <a:latin typeface="Arial" panose="020B0604020202020204" pitchFamily="34" charset="0"/>
              </a:rPr>
              <a:pPr/>
              <a:t>14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118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DE41942-99A7-44FA-B985-00D1FCB141F9}" type="slidenum">
              <a:rPr lang="en-US" altLang="en-US" sz="1300" smtClean="0">
                <a:latin typeface="Arial" panose="020B0604020202020204" pitchFamily="34" charset="0"/>
              </a:rPr>
              <a:pPr/>
              <a:t>15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949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84996" name="Date Placehold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8C79C9AB-A209-4C8D-A56D-E58CF777DBCE}" type="datetime1">
              <a:rPr lang="en-US" smtClean="0"/>
              <a:pPr>
                <a:defRPr/>
              </a:pPr>
              <a:t>28-Mar-18</a:t>
            </a:fld>
            <a:endParaRPr lang="en-US" smtClean="0"/>
          </a:p>
        </p:txBody>
      </p:sp>
      <p:sp>
        <p:nvSpPr>
          <p:cNvPr id="84997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Dr. Navneet Goyal, BITS,Pilani</a:t>
            </a:r>
          </a:p>
        </p:txBody>
      </p:sp>
      <p:sp>
        <p:nvSpPr>
          <p:cNvPr id="84998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14D8BB-0678-4288-AAF8-374897DFCAA1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5189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423DA53-BB7B-445E-8EB8-A7CD07D76B1E}" type="slidenum">
              <a:rPr lang="en-US" altLang="en-US" sz="1300" smtClean="0">
                <a:latin typeface="Arial" panose="020B0604020202020204" pitchFamily="34" charset="0"/>
              </a:rPr>
              <a:pPr/>
              <a:t>18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9323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5970C6C-2957-4439-8A14-7B088FB7BA25}" type="slidenum">
              <a:rPr lang="en-US" altLang="en-US" sz="1300" smtClean="0">
                <a:latin typeface="Arial" panose="020B0604020202020204" pitchFamily="34" charset="0"/>
              </a:rPr>
              <a:pPr/>
              <a:t>19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369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3A019D9-776A-44C8-92CA-F4955C2CCEA9}" type="slidenum">
              <a:rPr lang="en-US" altLang="en-US" sz="1300" smtClean="0">
                <a:latin typeface="Arial" panose="020B0604020202020204" pitchFamily="34" charset="0"/>
              </a:rPr>
              <a:pPr/>
              <a:t>20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482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86020" name="Date Placehold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42C6E92F-1A48-4D99-8ED2-18CC0E6FED23}" type="datetime1">
              <a:rPr lang="en-US" smtClean="0"/>
              <a:pPr>
                <a:defRPr/>
              </a:pPr>
              <a:t>28-Mar-18</a:t>
            </a:fld>
            <a:endParaRPr lang="en-US" smtClean="0"/>
          </a:p>
        </p:txBody>
      </p:sp>
      <p:sp>
        <p:nvSpPr>
          <p:cNvPr id="86021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Dr. Navneet Goyal, BITS,Pilani</a:t>
            </a:r>
          </a:p>
        </p:txBody>
      </p:sp>
      <p:sp>
        <p:nvSpPr>
          <p:cNvPr id="86022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CBCCC26-9655-45FD-89EF-39FCF2BE81B0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2154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87044" name="Date Placehold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9B4FAE94-AD9C-4971-BCA9-F303A0762473}" type="datetime1">
              <a:rPr lang="en-US" smtClean="0"/>
              <a:pPr>
                <a:defRPr/>
              </a:pPr>
              <a:t>28-Mar-18</a:t>
            </a:fld>
            <a:endParaRPr lang="en-US" smtClean="0"/>
          </a:p>
        </p:txBody>
      </p:sp>
      <p:sp>
        <p:nvSpPr>
          <p:cNvPr id="8704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Dr. Navneet Goyal, BITS,Pilani</a:t>
            </a:r>
          </a:p>
        </p:txBody>
      </p:sp>
      <p:sp>
        <p:nvSpPr>
          <p:cNvPr id="8704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DFECE18-2549-4D16-910B-53A76B7667AB}" type="slidenum">
              <a:rPr lang="en-US" altLang="en-US"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1257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CE7AB60-AE89-418D-8506-CCFDC30B70C6}" type="slidenum">
              <a:rPr lang="en-US" altLang="en-US" sz="1300" smtClean="0">
                <a:latin typeface="Arial" panose="020B0604020202020204" pitchFamily="34" charset="0"/>
              </a:rPr>
              <a:pPr/>
              <a:t>23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2615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928B51E-9576-4460-BD39-228D59FD8D44}" type="slidenum">
              <a:rPr lang="en-US" altLang="en-US" sz="1300" smtClean="0">
                <a:latin typeface="Arial" panose="020B0604020202020204" pitchFamily="34" charset="0"/>
              </a:rPr>
              <a:pPr/>
              <a:t>24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6116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7F9D5B3-5267-4A63-B8DA-5194503C7445}" type="slidenum">
              <a:rPr lang="en-US" altLang="en-US" sz="1300" smtClean="0">
                <a:latin typeface="Arial" panose="020B0604020202020204" pitchFamily="34" charset="0"/>
              </a:rPr>
              <a:pPr/>
              <a:t>25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0578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C176BD2-E45E-422D-B4FF-A5E42873E5FF}" type="slidenum">
              <a:rPr lang="en-US" altLang="en-US" sz="1300" smtClean="0">
                <a:latin typeface="Arial" panose="020B0604020202020204" pitchFamily="34" charset="0"/>
              </a:rPr>
              <a:pPr/>
              <a:t>26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5800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758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0D89EC9A-2115-4D72-960D-ECD116FFEF4D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89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67590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CA44E699-33FD-4070-8BE5-9C4C19F0849A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2565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861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75748C83-27DA-4A6E-A1B1-E6B8E9D9806F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3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68614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27090D35-E779-48C5-9DF3-5F7EED512F36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32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1049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963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5DBC8D78-AFF3-41F0-9E0D-05C8496E17D0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7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69638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8229D67B-DFF9-487D-95E2-60293EEF8A29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33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213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066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DF6255EB-10D3-408E-A441-B16E9CE1523C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1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0662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C50758DD-5916-4175-80C8-9CF9E41E83F4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34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4121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168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57FADDE6-2D6C-4A5B-8EE8-115DCA64E4CC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5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1686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69EAC680-D8D8-44E3-AE7E-CA9EB42BE0BA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35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115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270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908C496E-5CA7-4EB6-9189-75913B63F0E0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9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2710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1E8E21C3-9354-40D6-ABE8-8E487CBE9D74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36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7220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373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096B3041-AFB5-4C4D-9972-373A99B3FE55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3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3734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756879E2-0C06-4580-9AFB-71970DEE0099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37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0342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475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DD86D7C8-BEBF-4E85-95ED-DD6206359AA1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7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4758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F4836531-B531-4461-AAA1-A70197DD0D7E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38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4359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578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FA53F657-3B9A-47D1-BBCE-5CAB24F58A3D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1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5782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F0B9E18A-91C4-483B-9C1F-6087AD63D70B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39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2936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680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0CF464AB-DB2C-403F-AC73-A815FE42419C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805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6806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911224FF-5016-4936-BAD4-460811729484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40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0865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782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D0E573EF-E00B-4EF1-B300-F5363B09B699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29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7830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3489DAAD-0FE2-4D08-A774-3D1991F2A117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41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235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2B29BE-F837-43A8-AA5F-A259A4FB54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632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93AD5-A21A-457A-8E5F-12E14138119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110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88302-A836-438A-B822-13F3481FE2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08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28CCA5-0B19-4475-9942-75768E38E0B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587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632060-BB83-4410-870D-4199B8913AE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31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85EDC-C673-4B84-9577-569421617F4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50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426F20-C4C1-425A-83CC-0529E42EE87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755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35C14A-A0AB-43CE-B324-E0852FCF513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543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351CDC-E569-4A34-8295-F593521AC46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31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4FF311-8F7C-4CA9-A494-EA63E9EE76F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339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5C201-84B4-45D8-B681-EFD34F9D699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6817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67D2FC-8A65-49B2-9080-B3134267DF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56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6E92D9-03A4-4972-A763-DBD5EFECD7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04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3DB58AE-93A9-4231-B79A-6EDAC074121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356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  <p:sldLayoutId id="2147483901" r:id="rId12"/>
    <p:sldLayoutId id="214748390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8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1371600"/>
            <a:ext cx="5867400" cy="1828800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sz="4400" dirty="0" smtClean="0"/>
              <a:t>Association Rule Mining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600" y="1981200"/>
            <a:ext cx="5334000" cy="459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59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>
            <a:normAutofit/>
          </a:bodyPr>
          <a:lstStyle/>
          <a:p>
            <a:r>
              <a:rPr lang="en-US" sz="2000" dirty="0" smtClean="0"/>
              <a:t>Q. A </a:t>
            </a:r>
            <a:r>
              <a:rPr lang="en-US" sz="2000" dirty="0"/>
              <a:t>database has five transactions. Let </a:t>
            </a:r>
            <a:r>
              <a:rPr lang="en-US" sz="2000" i="1" dirty="0"/>
              <a:t>min sup </a:t>
            </a:r>
            <a:r>
              <a:rPr lang="en-US" sz="2000" dirty="0" smtClean="0"/>
              <a:t>= </a:t>
            </a:r>
            <a:r>
              <a:rPr lang="en-US" sz="2000" dirty="0"/>
              <a:t>60% and </a:t>
            </a:r>
            <a:r>
              <a:rPr lang="en-US" sz="2000" i="1" dirty="0"/>
              <a:t>min </a:t>
            </a:r>
            <a:r>
              <a:rPr lang="en-US" sz="2000" i="1" dirty="0" err="1"/>
              <a:t>conf</a:t>
            </a:r>
            <a:r>
              <a:rPr lang="en-US" sz="2000" i="1" dirty="0"/>
              <a:t> </a:t>
            </a:r>
            <a:r>
              <a:rPr lang="en-US" sz="2000" dirty="0" smtClean="0"/>
              <a:t>= </a:t>
            </a:r>
            <a:r>
              <a:rPr lang="en-US" sz="2000" dirty="0"/>
              <a:t>80%.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05399"/>
            <a:ext cx="7886700" cy="1071563"/>
          </a:xfrm>
        </p:spPr>
        <p:txBody>
          <a:bodyPr/>
          <a:lstStyle/>
          <a:p>
            <a:r>
              <a:rPr lang="en-US" dirty="0"/>
              <a:t>Find all frequent </a:t>
            </a:r>
            <a:r>
              <a:rPr lang="en-US" dirty="0" err="1"/>
              <a:t>itemsets</a:t>
            </a:r>
            <a:r>
              <a:rPr lang="en-US" dirty="0"/>
              <a:t> using </a:t>
            </a:r>
            <a:r>
              <a:rPr lang="en-US" dirty="0" err="1" smtClean="0"/>
              <a:t>Apriori</a:t>
            </a:r>
            <a:endParaRPr lang="en-US" dirty="0" smtClean="0"/>
          </a:p>
          <a:p>
            <a:r>
              <a:rPr lang="en-US" dirty="0"/>
              <a:t>List all of the </a:t>
            </a:r>
            <a:r>
              <a:rPr lang="en-US" i="1" dirty="0"/>
              <a:t>strong </a:t>
            </a:r>
            <a:r>
              <a:rPr lang="en-US" dirty="0"/>
              <a:t>association rules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389" y="1905000"/>
            <a:ext cx="493614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024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838200" y="1828800"/>
            <a:ext cx="8305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Many variations of the Apriori has been proposed that focus on improving the efficiency of the original algorithm</a:t>
            </a:r>
          </a:p>
        </p:txBody>
      </p:sp>
      <p:sp>
        <p:nvSpPr>
          <p:cNvPr id="407555" name="Rectangle 3"/>
          <p:cNvSpPr>
            <a:spLocks noChangeArrowheads="1"/>
          </p:cNvSpPr>
          <p:nvPr/>
        </p:nvSpPr>
        <p:spPr bwMode="auto">
          <a:xfrm>
            <a:off x="914400" y="2743200"/>
            <a:ext cx="746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/>
              <a:t> </a:t>
            </a:r>
            <a:r>
              <a:rPr lang="en-US" altLang="en-US" sz="2400" b="1"/>
              <a:t>Hash-based technique</a:t>
            </a:r>
            <a:r>
              <a:rPr lang="en-US" altLang="en-US" sz="2400"/>
              <a:t>- hashing itemset counts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914400" y="762000"/>
            <a:ext cx="84582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800"/>
              <a:t>Variations of the Apriori</a:t>
            </a:r>
          </a:p>
        </p:txBody>
      </p:sp>
      <p:sp>
        <p:nvSpPr>
          <p:cNvPr id="407557" name="Rectangle 5"/>
          <p:cNvSpPr>
            <a:spLocks noChangeArrowheads="1"/>
          </p:cNvSpPr>
          <p:nvPr/>
        </p:nvSpPr>
        <p:spPr bwMode="auto">
          <a:xfrm>
            <a:off x="914400" y="3200400"/>
            <a:ext cx="853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/>
              <a:t> </a:t>
            </a:r>
            <a:r>
              <a:rPr lang="en-US" altLang="en-US" sz="2400" b="1"/>
              <a:t>Transaction reduction</a:t>
            </a:r>
            <a:r>
              <a:rPr lang="en-US" altLang="en-US" sz="2400"/>
              <a:t>-reducing the number of transactions scanned in future iterations</a:t>
            </a:r>
          </a:p>
        </p:txBody>
      </p:sp>
      <p:sp>
        <p:nvSpPr>
          <p:cNvPr id="407558" name="Rectangle 6"/>
          <p:cNvSpPr>
            <a:spLocks noChangeArrowheads="1"/>
          </p:cNvSpPr>
          <p:nvPr/>
        </p:nvSpPr>
        <p:spPr bwMode="auto">
          <a:xfrm>
            <a:off x="762000" y="4114800"/>
            <a:ext cx="8382000" cy="157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 dirty="0"/>
              <a:t> </a:t>
            </a:r>
            <a:r>
              <a:rPr lang="en-US" altLang="en-US" sz="2400" b="1" dirty="0"/>
              <a:t>Partitioning</a:t>
            </a:r>
            <a:r>
              <a:rPr lang="en-US" altLang="en-US" sz="2400" dirty="0"/>
              <a:t>-partitioning the data to find </a:t>
            </a:r>
            <a:r>
              <a:rPr lang="en-US" altLang="en-US" sz="2400" dirty="0" smtClean="0"/>
              <a:t>candidate </a:t>
            </a:r>
            <a:r>
              <a:rPr lang="en-US" altLang="en-US" sz="2400" dirty="0" err="1" smtClean="0"/>
              <a:t>itemsets</a:t>
            </a:r>
            <a:endParaRPr lang="en-US" altLang="en-US" sz="2400" dirty="0" smtClean="0"/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en-US" altLang="en-US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en-US" altLang="en-US" sz="2400" dirty="0"/>
          </a:p>
        </p:txBody>
      </p:sp>
      <p:sp>
        <p:nvSpPr>
          <p:cNvPr id="407559" name="Rectangle 7"/>
          <p:cNvSpPr>
            <a:spLocks noChangeArrowheads="1"/>
          </p:cNvSpPr>
          <p:nvPr/>
        </p:nvSpPr>
        <p:spPr bwMode="auto">
          <a:xfrm>
            <a:off x="838200" y="48006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/>
              <a:t> </a:t>
            </a:r>
            <a:r>
              <a:rPr lang="en-US" altLang="en-US" sz="2400" b="1"/>
              <a:t>Sampling</a:t>
            </a:r>
            <a:r>
              <a:rPr lang="en-US" altLang="en-US" sz="2400"/>
              <a:t>-mining on a subset of the given data</a:t>
            </a:r>
          </a:p>
        </p:txBody>
      </p:sp>
      <p:sp>
        <p:nvSpPr>
          <p:cNvPr id="407560" name="Rectangle 8"/>
          <p:cNvSpPr>
            <a:spLocks noChangeArrowheads="1"/>
          </p:cNvSpPr>
          <p:nvPr/>
        </p:nvSpPr>
        <p:spPr bwMode="auto">
          <a:xfrm>
            <a:off x="846138" y="5346700"/>
            <a:ext cx="82978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400"/>
              <a:t> </a:t>
            </a:r>
            <a:r>
              <a:rPr lang="en-US" altLang="en-US" sz="2400" b="1"/>
              <a:t>Dynamic itemset counting</a:t>
            </a:r>
            <a:r>
              <a:rPr lang="en-US" altLang="en-US" sz="2400"/>
              <a:t>-adding candidate itemsets 			at different points during a scan</a:t>
            </a:r>
          </a:p>
        </p:txBody>
      </p:sp>
      <p:sp>
        <p:nvSpPr>
          <p:cNvPr id="407561" name="Rectangle 9"/>
          <p:cNvSpPr>
            <a:spLocks noChangeArrowheads="1"/>
          </p:cNvSpPr>
          <p:nvPr/>
        </p:nvSpPr>
        <p:spPr bwMode="auto">
          <a:xfrm>
            <a:off x="228600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/>
          <a:p>
            <a:pPr eaLnBrk="1" hangingPunct="1">
              <a:defRPr/>
            </a:pPr>
            <a:r>
              <a:rPr lang="en-US" sz="4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5" grpId="0" autoUpdateAnimBg="0"/>
      <p:bldP spid="407557" grpId="0" autoUpdateAnimBg="0"/>
      <p:bldP spid="407558" grpId="0" autoUpdateAnimBg="0"/>
      <p:bldP spid="407559" grpId="0" autoUpdateAnimBg="0"/>
      <p:bldP spid="40756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8458200" cy="1143000"/>
          </a:xfrm>
        </p:spPr>
        <p:txBody>
          <a:bodyPr lIns="92075" tIns="46038" rIns="92075" bIns="46038" anchor="b" anchorCtr="0"/>
          <a:lstStyle/>
          <a:p>
            <a:pPr eaLnBrk="1" hangingPunct="1">
              <a:defRPr/>
            </a:pPr>
            <a:r>
              <a:rPr lang="en-US" sz="4600" smtClean="0"/>
              <a:t>Sampling Algorithm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81200"/>
            <a:ext cx="83820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800" smtClean="0"/>
              <a:t>Random transactions of the original database are selected (sampled) and placed in a much smaller sampled database.</a:t>
            </a:r>
          </a:p>
          <a:p>
            <a:pPr eaLnBrk="1" hangingPunct="1">
              <a:lnSpc>
                <a:spcPct val="80000"/>
              </a:lnSpc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800" smtClean="0"/>
              <a:t>The size of sampled database is small enough so that it can reside in main memory.</a:t>
            </a:r>
          </a:p>
          <a:p>
            <a:pPr eaLnBrk="1" hangingPunct="1">
              <a:lnSpc>
                <a:spcPct val="80000"/>
              </a:lnSpc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800" smtClean="0"/>
              <a:t>This reduces the number of (original) database scans to at most two.</a:t>
            </a:r>
          </a:p>
          <a:p>
            <a:pPr eaLnBrk="1" hangingPunct="1">
              <a:lnSpc>
                <a:spcPct val="80000"/>
              </a:lnSpc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800" smtClean="0"/>
              <a:t>Any standard algorithm, such as Apriori, can be used to create a set of large itemsets in sampled database.</a:t>
            </a:r>
          </a:p>
        </p:txBody>
      </p:sp>
    </p:spTree>
    <p:extLst>
      <p:ext uri="{BB962C8B-B14F-4D97-AF65-F5344CB8AC3E}">
        <p14:creationId xmlns:p14="http://schemas.microsoft.com/office/powerpoint/2010/main" val="241673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8458200" cy="1143000"/>
          </a:xfrm>
        </p:spPr>
        <p:txBody>
          <a:bodyPr lIns="92075" tIns="46038" rIns="92075" bIns="46038" anchor="b" anchorCtr="0"/>
          <a:lstStyle/>
          <a:p>
            <a:pPr eaLnBrk="1" hangingPunct="1">
              <a:defRPr/>
            </a:pPr>
            <a:r>
              <a:rPr lang="en-US" smtClean="0"/>
              <a:t>Sampling Algorithm cont…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84582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400" dirty="0" smtClean="0"/>
              <a:t>Since these large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is applied to sampled database, some may not be the actual large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of the original database. These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are called </a:t>
            </a:r>
            <a:r>
              <a:rPr lang="en-US" sz="2400" i="1" dirty="0" smtClean="0">
                <a:solidFill>
                  <a:srgbClr val="0033CC"/>
                </a:solidFill>
              </a:rPr>
              <a:t>potentially large(PL) </a:t>
            </a:r>
            <a:r>
              <a:rPr lang="en-US" sz="2400" i="1" dirty="0" err="1" smtClean="0">
                <a:solidFill>
                  <a:srgbClr val="0033CC"/>
                </a:solidFill>
              </a:rPr>
              <a:t>itemsets</a:t>
            </a:r>
            <a:r>
              <a:rPr lang="en-US" sz="2400" dirty="0" smtClean="0"/>
              <a:t>, </a:t>
            </a:r>
          </a:p>
          <a:p>
            <a:pPr eaLnBrk="1" hangingPunct="1">
              <a:lnSpc>
                <a:spcPct val="80000"/>
              </a:lnSpc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400" dirty="0" smtClean="0"/>
              <a:t>Some actual large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may not be in </a:t>
            </a:r>
            <a:r>
              <a:rPr lang="en-US" sz="2400" i="1" dirty="0" smtClean="0"/>
              <a:t>PL</a:t>
            </a:r>
            <a:r>
              <a:rPr lang="en-US" sz="2400" dirty="0" smtClean="0"/>
              <a:t>. Additional candidates for large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are determined by applying </a:t>
            </a:r>
            <a:r>
              <a:rPr lang="en-US" sz="2400" i="1" dirty="0" smtClean="0">
                <a:solidFill>
                  <a:srgbClr val="0033CC"/>
                </a:solidFill>
              </a:rPr>
              <a:t>negative border function</a:t>
            </a:r>
            <a:r>
              <a:rPr lang="en-US" sz="2400" dirty="0" smtClean="0"/>
              <a:t>, </a:t>
            </a:r>
            <a:r>
              <a:rPr lang="en-US" sz="2400" i="1" dirty="0" smtClean="0"/>
              <a:t>NB</a:t>
            </a:r>
            <a:r>
              <a:rPr lang="en-US" sz="2400" dirty="0" smtClean="0"/>
              <a:t>(), against </a:t>
            </a:r>
            <a:r>
              <a:rPr lang="en-US" sz="2400" i="1" dirty="0" smtClean="0"/>
              <a:t>PL</a:t>
            </a:r>
            <a:r>
              <a:rPr lang="en-US" sz="2400" dirty="0" smtClean="0"/>
              <a:t>.</a:t>
            </a:r>
          </a:p>
          <a:p>
            <a:pPr eaLnBrk="1" hangingPunct="1">
              <a:lnSpc>
                <a:spcPct val="80000"/>
              </a:lnSpc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400" dirty="0" smtClean="0"/>
              <a:t>Negative border returns the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that are not in </a:t>
            </a:r>
            <a:r>
              <a:rPr lang="en-US" sz="2400" i="1" dirty="0" smtClean="0"/>
              <a:t>PL </a:t>
            </a:r>
            <a:r>
              <a:rPr lang="en-US" sz="2400" dirty="0" smtClean="0"/>
              <a:t>but has all of their subsets in </a:t>
            </a:r>
            <a:r>
              <a:rPr lang="en-US" sz="2400" i="1" dirty="0" smtClean="0"/>
              <a:t>PL</a:t>
            </a:r>
            <a:r>
              <a:rPr lang="en-US" sz="2400" dirty="0" smtClean="0"/>
              <a:t>.</a:t>
            </a:r>
          </a:p>
          <a:p>
            <a:pPr eaLnBrk="1" hangingPunct="1">
              <a:lnSpc>
                <a:spcPct val="80000"/>
              </a:lnSpc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400" dirty="0" smtClean="0"/>
              <a:t>Usually, the minimum support threshold is lowered when finding the </a:t>
            </a:r>
            <a:r>
              <a:rPr lang="en-US" sz="2400" i="1" dirty="0" smtClean="0"/>
              <a:t>PL </a:t>
            </a:r>
            <a:r>
              <a:rPr lang="en-US" sz="2400" dirty="0" smtClean="0"/>
              <a:t>from sampled database.</a:t>
            </a:r>
          </a:p>
          <a:p>
            <a:pPr eaLnBrk="1" hangingPunct="1">
              <a:lnSpc>
                <a:spcPct val="80000"/>
              </a:lnSpc>
              <a:buClr>
                <a:srgbClr val="000000"/>
              </a:buClr>
              <a:buSzPct val="120000"/>
              <a:buFontTx/>
              <a:buChar char="•"/>
              <a:defRPr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86719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1371600" y="304800"/>
            <a:ext cx="7467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Sampling Algorithm</a:t>
            </a:r>
          </a:p>
        </p:txBody>
      </p:sp>
      <p:sp>
        <p:nvSpPr>
          <p:cNvPr id="237571" name="Rectangle 3"/>
          <p:cNvSpPr>
            <a:spLocks noChangeArrowheads="1"/>
          </p:cNvSpPr>
          <p:nvPr/>
        </p:nvSpPr>
        <p:spPr bwMode="auto">
          <a:xfrm>
            <a:off x="609600" y="1143000"/>
            <a:ext cx="8077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en-US" sz="2200">
                <a:latin typeface="Arial" panose="020B0604020202020204" pitchFamily="34" charset="0"/>
              </a:rPr>
              <a:t>To facilitate efficient counting of itemsets with large DBs, sampling of the DB may be used</a:t>
            </a:r>
          </a:p>
          <a:p>
            <a:pPr>
              <a:lnSpc>
                <a:spcPct val="130000"/>
              </a:lnSpc>
            </a:pPr>
            <a:r>
              <a:rPr lang="en-US" altLang="en-US" sz="2200">
                <a:latin typeface="Arial" panose="020B0604020202020204" pitchFamily="34" charset="0"/>
              </a:rPr>
              <a:t>Sampling algorithm reduces the no. of DB scans to 1 in the best case and 2 in the worst case</a:t>
            </a:r>
          </a:p>
          <a:p>
            <a:pPr>
              <a:lnSpc>
                <a:spcPct val="130000"/>
              </a:lnSpc>
            </a:pPr>
            <a:r>
              <a:rPr lang="en-US" altLang="en-US" sz="2200">
                <a:latin typeface="Arial" panose="020B0604020202020204" pitchFamily="34" charset="0"/>
              </a:rPr>
              <a:t>DB sample is drawn such that it can be memory resident</a:t>
            </a:r>
          </a:p>
          <a:p>
            <a:pPr>
              <a:lnSpc>
                <a:spcPct val="130000"/>
              </a:lnSpc>
            </a:pPr>
            <a:r>
              <a:rPr lang="en-US" altLang="en-US" sz="2200">
                <a:latin typeface="Arial" panose="020B0604020202020204" pitchFamily="34" charset="0"/>
              </a:rPr>
              <a:t>Use any algorithm, say apriori, to find FIs for the sample</a:t>
            </a:r>
          </a:p>
          <a:p>
            <a:pPr>
              <a:lnSpc>
                <a:spcPct val="130000"/>
              </a:lnSpc>
            </a:pPr>
            <a:r>
              <a:rPr lang="en-US" altLang="en-US" sz="2200">
                <a:latin typeface="Arial" panose="020B0604020202020204" pitchFamily="34" charset="0"/>
              </a:rPr>
              <a:t>These are viewed as Potentially Large (PL) itemsets and used as candidates to be counted using the entire DB</a:t>
            </a:r>
          </a:p>
          <a:p>
            <a:pPr>
              <a:lnSpc>
                <a:spcPct val="130000"/>
              </a:lnSpc>
            </a:pPr>
            <a:r>
              <a:rPr lang="en-US" altLang="en-US" sz="2200">
                <a:latin typeface="Arial" panose="020B0604020202020204" pitchFamily="34" charset="0"/>
              </a:rPr>
              <a:t>Additional candidates are determined by applying the negative border function BD</a:t>
            </a:r>
            <a:r>
              <a:rPr lang="en-US" altLang="en-US" sz="3400" baseline="30000">
                <a:latin typeface="Arial" panose="020B0604020202020204" pitchFamily="34" charset="0"/>
              </a:rPr>
              <a:t>-</a:t>
            </a:r>
            <a:r>
              <a:rPr lang="en-US" altLang="en-US" sz="2200">
                <a:latin typeface="Arial" panose="020B0604020202020204" pitchFamily="34" charset="0"/>
              </a:rPr>
              <a:t>, against PL</a:t>
            </a:r>
          </a:p>
          <a:p>
            <a:pPr>
              <a:lnSpc>
                <a:spcPct val="130000"/>
              </a:lnSpc>
            </a:pPr>
            <a:r>
              <a:rPr lang="en-US" altLang="en-US" sz="2200">
                <a:latin typeface="Arial" panose="020B0604020202020204" pitchFamily="34" charset="0"/>
              </a:rPr>
              <a:t>BD</a:t>
            </a:r>
            <a:r>
              <a:rPr lang="en-US" altLang="en-US" baseline="30000">
                <a:latin typeface="Arial" panose="020B0604020202020204" pitchFamily="34" charset="0"/>
              </a:rPr>
              <a:t>-</a:t>
            </a:r>
            <a:r>
              <a:rPr lang="en-US" altLang="en-US" sz="2200">
                <a:latin typeface="Arial" panose="020B0604020202020204" pitchFamily="34" charset="0"/>
              </a:rPr>
              <a:t> is the minimal set of itemsets that are not in PL, but whose subsets are all in PL</a:t>
            </a:r>
          </a:p>
        </p:txBody>
      </p:sp>
    </p:spTree>
    <p:extLst>
      <p:ext uri="{BB962C8B-B14F-4D97-AF65-F5344CB8AC3E}">
        <p14:creationId xmlns:p14="http://schemas.microsoft.com/office/powerpoint/2010/main" val="299537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mtClean="0"/>
              <a:t>Sampling Algorithm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524000"/>
            <a:ext cx="8153400" cy="4495800"/>
          </a:xfrm>
        </p:spPr>
        <p:txBody>
          <a:bodyPr/>
          <a:lstStyle/>
          <a:p>
            <a:pPr lvl="1" eaLnBrk="1" hangingPunct="1">
              <a:buFont typeface="Wingdings 2" panose="05020102010507070707" pitchFamily="18" charset="2"/>
              <a:buNone/>
            </a:pPr>
            <a:endParaRPr lang="en-US" altLang="en-US" smtClean="0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600200"/>
            <a:ext cx="831850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0040" indent="-320040" fontAlgn="auto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defRPr/>
            </a:pPr>
            <a:r>
              <a:rPr lang="en-US" sz="2900" dirty="0" err="1">
                <a:latin typeface="+mn-lt"/>
              </a:rPr>
              <a:t>Tx</a:t>
            </a:r>
            <a:r>
              <a:rPr lang="en-US" sz="2900" dirty="0">
                <a:latin typeface="+mn-lt"/>
              </a:rPr>
              <a:t>. DB can get very big!</a:t>
            </a:r>
          </a:p>
          <a:p>
            <a:pPr marL="320040" indent="-320040" fontAlgn="auto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defRPr/>
            </a:pPr>
            <a:r>
              <a:rPr lang="en-US" sz="2900" dirty="0">
                <a:latin typeface="+mn-lt"/>
              </a:rPr>
              <a:t>Sample the DB and apply </a:t>
            </a:r>
            <a:r>
              <a:rPr lang="en-US" sz="2900" dirty="0" err="1">
                <a:latin typeface="+mn-lt"/>
              </a:rPr>
              <a:t>apriori</a:t>
            </a:r>
            <a:r>
              <a:rPr lang="en-US" sz="2900" dirty="0">
                <a:latin typeface="+mn-lt"/>
              </a:rPr>
              <a:t> to the sample</a:t>
            </a:r>
          </a:p>
          <a:p>
            <a:pPr marL="320040" indent="-320040" fontAlgn="auto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defRPr/>
            </a:pPr>
            <a:r>
              <a:rPr lang="en-US" sz="2900" dirty="0">
                <a:latin typeface="+mn-lt"/>
              </a:rPr>
              <a:t>Use reduced </a:t>
            </a:r>
            <a:r>
              <a:rPr lang="en-US" sz="2900" dirty="0" err="1">
                <a:latin typeface="+mn-lt"/>
              </a:rPr>
              <a:t>minsup</a:t>
            </a:r>
            <a:r>
              <a:rPr lang="en-US" sz="2900" dirty="0">
                <a:latin typeface="+mn-lt"/>
              </a:rPr>
              <a:t> (smalls)</a:t>
            </a:r>
          </a:p>
          <a:p>
            <a:pPr marL="320040" indent="-320040" fontAlgn="auto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defRPr/>
            </a:pPr>
            <a:r>
              <a:rPr lang="en-US" sz="2900" dirty="0">
                <a:latin typeface="+mn-lt"/>
              </a:rPr>
              <a:t>Find large (frequent) </a:t>
            </a:r>
            <a:r>
              <a:rPr lang="en-US" sz="2900" dirty="0" err="1">
                <a:latin typeface="+mn-lt"/>
              </a:rPr>
              <a:t>itemsets</a:t>
            </a:r>
            <a:r>
              <a:rPr lang="en-US" sz="2900" dirty="0">
                <a:latin typeface="+mn-lt"/>
              </a:rPr>
              <a:t> from the sample using smalls</a:t>
            </a:r>
          </a:p>
          <a:p>
            <a:pPr marL="320040" indent="-320040" fontAlgn="auto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defRPr/>
            </a:pPr>
            <a:r>
              <a:rPr lang="en-US" sz="2900" dirty="0">
                <a:latin typeface="+mn-lt"/>
              </a:rPr>
              <a:t>Call this set of large </a:t>
            </a:r>
            <a:r>
              <a:rPr lang="en-US" sz="2900" dirty="0" err="1">
                <a:latin typeface="+mn-lt"/>
              </a:rPr>
              <a:t>itemsets</a:t>
            </a:r>
            <a:r>
              <a:rPr lang="en-US" sz="2900" dirty="0">
                <a:latin typeface="+mn-lt"/>
              </a:rPr>
              <a:t> as Potentially Large (PL)</a:t>
            </a:r>
          </a:p>
          <a:p>
            <a:pPr marL="320040" indent="-320040" fontAlgn="auto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defRPr/>
            </a:pPr>
            <a:r>
              <a:rPr lang="en-US" sz="2900" dirty="0">
                <a:latin typeface="+mn-lt"/>
              </a:rPr>
              <a:t>Find the negative border (BD</a:t>
            </a:r>
            <a:r>
              <a:rPr lang="en-US" sz="2900" baseline="30000" dirty="0">
                <a:latin typeface="+mn-lt"/>
              </a:rPr>
              <a:t>-</a:t>
            </a:r>
            <a:r>
              <a:rPr lang="en-US" sz="2900" dirty="0">
                <a:latin typeface="+mn-lt"/>
              </a:rPr>
              <a:t>) of PL</a:t>
            </a:r>
          </a:p>
          <a:p>
            <a:pPr marL="320040" lvl="1" indent="-320040" fontAlgn="auto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defRPr/>
            </a:pPr>
            <a:r>
              <a:rPr lang="en-US" sz="2900" dirty="0">
                <a:latin typeface="+mn-lt"/>
              </a:rPr>
              <a:t>Minimal set of </a:t>
            </a:r>
            <a:r>
              <a:rPr lang="en-US" sz="2900" dirty="0" err="1">
                <a:latin typeface="+mn-lt"/>
              </a:rPr>
              <a:t>itemsets</a:t>
            </a:r>
            <a:r>
              <a:rPr lang="en-US" sz="2900" dirty="0">
                <a:latin typeface="+mn-lt"/>
              </a:rPr>
              <a:t> which are not in PL, but whose subsets are all in PL.</a:t>
            </a:r>
          </a:p>
        </p:txBody>
      </p:sp>
    </p:spTree>
    <p:extLst>
      <p:ext uri="{BB962C8B-B14F-4D97-AF65-F5344CB8AC3E}">
        <p14:creationId xmlns:p14="http://schemas.microsoft.com/office/powerpoint/2010/main" val="2309370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mtClean="0"/>
              <a:t>Negative Border Example</a:t>
            </a:r>
          </a:p>
        </p:txBody>
      </p:sp>
      <p:sp>
        <p:nvSpPr>
          <p:cNvPr id="266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/>
          </a:bodyPr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 smtClean="0"/>
              <a:t>Let Items = {A,…,F} and there are </a:t>
            </a:r>
            <a:r>
              <a:rPr lang="en-US" altLang="en-US" sz="2400" dirty="0" err="1" smtClean="0"/>
              <a:t>itemsets</a:t>
            </a:r>
            <a:r>
              <a:rPr lang="en-US" altLang="en-US" sz="2400" dirty="0" smtClean="0"/>
              <a:t>: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 smtClean="0"/>
              <a:t>     {A}, {B}, {C}, {F}, {A,B}, {A,C}, {A,F}, {C,F}, {A,C,F}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2400" dirty="0" smtClean="0"/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 smtClean="0"/>
              <a:t>The whole negative border is: 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 smtClean="0"/>
              <a:t>       {{B,C}, {B,F}, {D}, {E}}</a:t>
            </a:r>
          </a:p>
        </p:txBody>
      </p:sp>
    </p:spTree>
    <p:extLst>
      <p:ext uri="{BB962C8B-B14F-4D97-AF65-F5344CB8AC3E}">
        <p14:creationId xmlns:p14="http://schemas.microsoft.com/office/powerpoint/2010/main" val="208255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458200" cy="1143000"/>
          </a:xfrm>
        </p:spPr>
        <p:txBody>
          <a:bodyPr lIns="92075" tIns="46038" rIns="92075" bIns="46038" anchor="b" anchorCtr="0"/>
          <a:lstStyle/>
          <a:p>
            <a:pPr eaLnBrk="1" hangingPunct="1">
              <a:defRPr/>
            </a:pPr>
            <a:r>
              <a:rPr lang="en-US" smtClean="0"/>
              <a:t>Sampling Algorithm: Algorithm</a:t>
            </a: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534400" cy="4800600"/>
          </a:xfrm>
        </p:spPr>
        <p:txBody>
          <a:bodyPr lIns="92075" tIns="46038" rIns="92075" bIns="46038"/>
          <a:lstStyle/>
          <a:p>
            <a:pPr marL="381000" indent="-381000" eaLnBrk="1" hangingPunct="1">
              <a:lnSpc>
                <a:spcPct val="90000"/>
              </a:lnSpc>
              <a:buClr>
                <a:srgbClr val="000000"/>
              </a:buClr>
              <a:buSzPct val="150000"/>
              <a:buFontTx/>
              <a:buChar char="•"/>
              <a:defRPr/>
            </a:pPr>
            <a:r>
              <a:rPr lang="en-US" sz="2400" smtClean="0"/>
              <a:t>Sample transactions from Database </a:t>
            </a:r>
            <a:r>
              <a:rPr lang="en-US" sz="2400" i="1" smtClean="0"/>
              <a:t>D</a:t>
            </a:r>
            <a:r>
              <a:rPr lang="en-US" sz="2400" smtClean="0"/>
              <a:t>.</a:t>
            </a:r>
          </a:p>
          <a:p>
            <a:pPr marL="381000" indent="-381000" eaLnBrk="1" hangingPunct="1">
              <a:lnSpc>
                <a:spcPct val="90000"/>
              </a:lnSpc>
              <a:buClr>
                <a:srgbClr val="000000"/>
              </a:buClr>
              <a:buSzPct val="150000"/>
              <a:buFontTx/>
              <a:buChar char="•"/>
              <a:defRPr/>
            </a:pPr>
            <a:r>
              <a:rPr lang="en-US" sz="2400" dirty="0" smtClean="0"/>
              <a:t>Using </a:t>
            </a:r>
            <a:r>
              <a:rPr lang="en-US" sz="2400" dirty="0" err="1" smtClean="0"/>
              <a:t>Apriori</a:t>
            </a:r>
            <a:r>
              <a:rPr lang="en-US" sz="2400" dirty="0" smtClean="0"/>
              <a:t> (or something else) algorithm to find </a:t>
            </a:r>
            <a:r>
              <a:rPr lang="en-US" sz="2400" i="1" dirty="0" smtClean="0"/>
              <a:t>PL </a:t>
            </a:r>
            <a:r>
              <a:rPr lang="en-US" sz="2400" dirty="0" smtClean="0"/>
              <a:t>from sampled database.</a:t>
            </a:r>
          </a:p>
          <a:p>
            <a:pPr marL="381000" indent="-381000" eaLnBrk="1" hangingPunct="1">
              <a:lnSpc>
                <a:spcPct val="90000"/>
              </a:lnSpc>
              <a:buClr>
                <a:srgbClr val="000000"/>
              </a:buClr>
              <a:buSzPct val="150000"/>
              <a:buFontTx/>
              <a:buChar char="•"/>
              <a:defRPr/>
            </a:pPr>
            <a:r>
              <a:rPr lang="en-US" sz="2400" dirty="0" smtClean="0"/>
              <a:t>The candidate set </a:t>
            </a:r>
            <a:r>
              <a:rPr lang="en-US" sz="2400" i="1" dirty="0" smtClean="0"/>
              <a:t>C</a:t>
            </a:r>
            <a:r>
              <a:rPr lang="en-US" sz="2400" i="1" baseline="-25000" dirty="0" smtClean="0"/>
              <a:t>1 </a:t>
            </a:r>
            <a:r>
              <a:rPr lang="en-US" sz="2400" dirty="0" smtClean="0"/>
              <a:t>contain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from </a:t>
            </a:r>
            <a:r>
              <a:rPr lang="en-US" sz="2400" i="1" dirty="0" smtClean="0"/>
              <a:t>PL </a:t>
            </a:r>
            <a:r>
              <a:rPr lang="en-US" sz="2400" dirty="0" smtClean="0">
                <a:latin typeface="Symbol" pitchFamily="18" charset="2"/>
              </a:rPr>
              <a:t>È</a:t>
            </a:r>
            <a:r>
              <a:rPr lang="en-US" sz="2400" dirty="0" smtClean="0"/>
              <a:t>NB(</a:t>
            </a:r>
            <a:r>
              <a:rPr lang="en-US" sz="2400" i="1" dirty="0" smtClean="0"/>
              <a:t>PL</a:t>
            </a:r>
            <a:r>
              <a:rPr lang="en-US" sz="2400" dirty="0" smtClean="0"/>
              <a:t>).</a:t>
            </a:r>
          </a:p>
          <a:p>
            <a:pPr marL="381000" indent="-381000" eaLnBrk="1" hangingPunct="1">
              <a:lnSpc>
                <a:spcPct val="90000"/>
              </a:lnSpc>
              <a:buClr>
                <a:srgbClr val="000000"/>
              </a:buClr>
              <a:buSzPct val="150000"/>
              <a:buFontTx/>
              <a:buChar char="•"/>
              <a:defRPr/>
            </a:pPr>
            <a:r>
              <a:rPr lang="en-US" sz="2400" dirty="0" smtClean="0"/>
              <a:t>Scan the original database, check the support of each candidate in </a:t>
            </a:r>
            <a:r>
              <a:rPr lang="en-US" sz="2400" i="1" dirty="0" smtClean="0"/>
              <a:t>C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. Those that meet the minimum support requirement will be added into </a:t>
            </a:r>
            <a:r>
              <a:rPr lang="en-US" sz="2400" i="1" dirty="0" smtClean="0"/>
              <a:t>L</a:t>
            </a:r>
            <a:r>
              <a:rPr lang="en-US" sz="2400" dirty="0" smtClean="0"/>
              <a:t>.</a:t>
            </a:r>
          </a:p>
          <a:p>
            <a:pPr marL="381000" indent="-381000" eaLnBrk="1" hangingPunct="1">
              <a:lnSpc>
                <a:spcPct val="90000"/>
              </a:lnSpc>
              <a:buClr>
                <a:srgbClr val="000000"/>
              </a:buClr>
              <a:buSzPct val="150000"/>
              <a:buFontTx/>
              <a:buChar char="•"/>
              <a:defRPr/>
            </a:pPr>
            <a:r>
              <a:rPr lang="en-US" sz="2400" dirty="0" smtClean="0"/>
              <a:t>If some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from NB(</a:t>
            </a:r>
            <a:r>
              <a:rPr lang="en-US" sz="2400" i="1" dirty="0" smtClean="0"/>
              <a:t>PL</a:t>
            </a:r>
            <a:r>
              <a:rPr lang="en-US" sz="2400" dirty="0" smtClean="0"/>
              <a:t>) were added into </a:t>
            </a:r>
            <a:r>
              <a:rPr lang="en-US" sz="2400" i="1" dirty="0" smtClean="0"/>
              <a:t>L </a:t>
            </a:r>
            <a:r>
              <a:rPr lang="en-US" sz="2400" dirty="0" smtClean="0"/>
              <a:t>in step 4.</a:t>
            </a:r>
          </a:p>
          <a:p>
            <a:pPr marL="381000" indent="-3810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 smtClean="0"/>
              <a:t>		Initially candidate set </a:t>
            </a:r>
            <a:r>
              <a:rPr lang="en-US" sz="2400" i="1" dirty="0" smtClean="0"/>
              <a:t>C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is equal to </a:t>
            </a:r>
            <a:r>
              <a:rPr lang="en-US" sz="2400" i="1" dirty="0" smtClean="0"/>
              <a:t>L</a:t>
            </a:r>
            <a:r>
              <a:rPr lang="en-US" sz="2400" dirty="0" smtClean="0"/>
              <a:t>.</a:t>
            </a:r>
          </a:p>
          <a:p>
            <a:pPr marL="381000" indent="-3810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 smtClean="0"/>
              <a:t>		Repeatedly add NB(</a:t>
            </a:r>
            <a:r>
              <a:rPr lang="en-US" sz="2400" i="1" dirty="0" smtClean="0"/>
              <a:t>C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 into </a:t>
            </a:r>
            <a:r>
              <a:rPr lang="en-US" sz="2400" i="1" dirty="0" smtClean="0"/>
              <a:t>C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until no growth in </a:t>
            </a:r>
            <a:r>
              <a:rPr lang="en-US" sz="2400" i="1" dirty="0" smtClean="0"/>
              <a:t>C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.</a:t>
            </a:r>
          </a:p>
          <a:p>
            <a:pPr marL="381000" indent="-3810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 smtClean="0"/>
              <a:t>		Scan the original database, check the support for each 	candidate in </a:t>
            </a:r>
            <a:r>
              <a:rPr lang="en-US" sz="2400" i="1" dirty="0" smtClean="0"/>
              <a:t>C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. Adding large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into </a:t>
            </a:r>
            <a:r>
              <a:rPr lang="en-US" sz="2400" i="1" dirty="0" smtClean="0"/>
              <a:t>L</a:t>
            </a:r>
            <a:r>
              <a:rPr lang="en-US" sz="2400" dirty="0" smtClean="0"/>
              <a:t>.</a:t>
            </a:r>
          </a:p>
          <a:p>
            <a:pPr marL="381000" indent="-3810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93146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0" y="1295400"/>
            <a:ext cx="9144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SzPct val="120000"/>
              <a:buFontTx/>
              <a:buChar char="•"/>
            </a:pPr>
            <a:r>
              <a:rPr lang="en-US" altLang="en-US" sz="2400"/>
              <a:t> Let </a:t>
            </a:r>
            <a:r>
              <a:rPr lang="en-US" altLang="en-US" sz="2400" i="1"/>
              <a:t>I </a:t>
            </a:r>
            <a:r>
              <a:rPr lang="en-US" altLang="en-US" sz="2400"/>
              <a:t>= {</a:t>
            </a:r>
            <a:r>
              <a:rPr lang="en-US" altLang="en-US" sz="2400" i="1"/>
              <a:t>a</a:t>
            </a:r>
            <a:r>
              <a:rPr lang="en-US" altLang="en-US" sz="2400"/>
              <a:t>, </a:t>
            </a:r>
            <a:r>
              <a:rPr lang="en-US" altLang="en-US" sz="2400" i="1"/>
              <a:t>b</a:t>
            </a:r>
            <a:r>
              <a:rPr lang="en-US" altLang="en-US" sz="2400"/>
              <a:t>, </a:t>
            </a:r>
            <a:r>
              <a:rPr lang="en-US" altLang="en-US" sz="2400" i="1"/>
              <a:t>c</a:t>
            </a:r>
            <a:r>
              <a:rPr lang="en-US" altLang="en-US" sz="2400"/>
              <a:t>, </a:t>
            </a:r>
            <a:r>
              <a:rPr lang="en-US" altLang="en-US" sz="2400" i="1"/>
              <a:t>d</a:t>
            </a:r>
            <a:r>
              <a:rPr lang="en-US" altLang="en-US" sz="2400"/>
              <a:t>},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• After step 2, let </a:t>
            </a:r>
            <a:r>
              <a:rPr lang="en-US" altLang="en-US" sz="2400" i="1"/>
              <a:t>PL </a:t>
            </a:r>
            <a:r>
              <a:rPr lang="en-US" altLang="en-US" sz="2400"/>
              <a:t>= {{</a:t>
            </a:r>
            <a:r>
              <a:rPr lang="en-US" altLang="en-US" sz="2400" i="1"/>
              <a:t>a</a:t>
            </a:r>
            <a:r>
              <a:rPr lang="en-US" altLang="en-US" sz="2400"/>
              <a:t>}, {</a:t>
            </a:r>
            <a:r>
              <a:rPr lang="en-US" altLang="en-US" sz="2400" i="1"/>
              <a:t>c</a:t>
            </a:r>
            <a:r>
              <a:rPr lang="en-US" altLang="en-US" sz="2400"/>
              <a:t>}, {</a:t>
            </a:r>
            <a:r>
              <a:rPr lang="en-US" altLang="en-US" sz="2400" i="1"/>
              <a:t>d</a:t>
            </a:r>
            <a:r>
              <a:rPr lang="en-US" altLang="en-US" sz="2400"/>
              <a:t>}, {</a:t>
            </a:r>
            <a:r>
              <a:rPr lang="en-US" altLang="en-US" sz="2400" i="1"/>
              <a:t>c</a:t>
            </a:r>
            <a:r>
              <a:rPr lang="en-US" altLang="en-US" sz="2400"/>
              <a:t>, </a:t>
            </a:r>
            <a:r>
              <a:rPr lang="en-US" altLang="en-US" sz="2400" i="1"/>
              <a:t>d</a:t>
            </a:r>
            <a:r>
              <a:rPr lang="en-US" altLang="en-US" sz="2400"/>
              <a:t>}}.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• After step 3,</a:t>
            </a:r>
            <a:r>
              <a:rPr lang="en-US" altLang="en-US" sz="2400" b="1">
                <a:latin typeface="Times New Roman" panose="02020603050405020304" pitchFamily="18" charset="0"/>
              </a:rPr>
              <a:t>  </a:t>
            </a:r>
            <a:r>
              <a:rPr lang="en-US" altLang="en-US" sz="2400" i="1"/>
              <a:t>C</a:t>
            </a:r>
            <a:r>
              <a:rPr lang="en-US" altLang="en-US" sz="2400" baseline="-25000"/>
              <a:t>1 </a:t>
            </a:r>
            <a:r>
              <a:rPr lang="en-US" altLang="en-US" sz="2400"/>
              <a:t>= {{</a:t>
            </a:r>
            <a:r>
              <a:rPr lang="en-US" altLang="en-US" sz="2400" i="1"/>
              <a:t>a</a:t>
            </a:r>
            <a:r>
              <a:rPr lang="en-US" altLang="en-US" sz="2400"/>
              <a:t>}, {</a:t>
            </a:r>
            <a:r>
              <a:rPr lang="en-US" altLang="en-US" sz="2400" i="1"/>
              <a:t>b</a:t>
            </a:r>
            <a:r>
              <a:rPr lang="en-US" altLang="en-US" sz="2400"/>
              <a:t>}, {c}, {</a:t>
            </a:r>
            <a:r>
              <a:rPr lang="en-US" altLang="en-US" sz="2400" i="1"/>
              <a:t>d</a:t>
            </a:r>
            <a:r>
              <a:rPr lang="en-US" altLang="en-US" sz="2400"/>
              <a:t>}, {</a:t>
            </a:r>
            <a:r>
              <a:rPr lang="en-US" altLang="en-US" sz="2400" i="1"/>
              <a:t>a</a:t>
            </a:r>
            <a:r>
              <a:rPr lang="en-US" altLang="en-US" sz="2400"/>
              <a:t>, </a:t>
            </a:r>
            <a:r>
              <a:rPr lang="en-US" altLang="en-US" sz="2400" i="1"/>
              <a:t>c</a:t>
            </a:r>
            <a:r>
              <a:rPr lang="en-US" altLang="en-US" sz="2400"/>
              <a:t>}, {</a:t>
            </a:r>
            <a:r>
              <a:rPr lang="en-US" altLang="en-US" sz="2400" i="1"/>
              <a:t>a</a:t>
            </a:r>
            <a:r>
              <a:rPr lang="en-US" altLang="en-US" sz="2400"/>
              <a:t>, </a:t>
            </a:r>
            <a:r>
              <a:rPr lang="en-US" altLang="en-US" sz="2400" i="1"/>
              <a:t>d</a:t>
            </a:r>
            <a:r>
              <a:rPr lang="en-US" altLang="en-US" sz="2400"/>
              <a:t>}, {</a:t>
            </a:r>
            <a:r>
              <a:rPr lang="en-US" altLang="en-US" sz="2400" i="1"/>
              <a:t>c</a:t>
            </a:r>
            <a:r>
              <a:rPr lang="en-US" altLang="en-US" sz="2400"/>
              <a:t>, </a:t>
            </a:r>
            <a:r>
              <a:rPr lang="en-US" altLang="en-US" sz="2400" i="1"/>
              <a:t>d</a:t>
            </a:r>
            <a:r>
              <a:rPr lang="en-US" altLang="en-US" sz="2400"/>
              <a:t>}}</a:t>
            </a: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228600" y="762000"/>
            <a:ext cx="7086600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8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6" name="Rectangle 5"/>
          <p:cNvSpPr>
            <a:spLocks noChangeArrowheads="1"/>
          </p:cNvSpPr>
          <p:nvPr/>
        </p:nvSpPr>
        <p:spPr bwMode="auto">
          <a:xfrm>
            <a:off x="0" y="2286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400"/>
              <a:t>Sampling Algorithm :Example</a:t>
            </a: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1752600" y="2514600"/>
            <a:ext cx="5254625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{}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33CC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en-US" sz="2400" b="1">
                <a:solidFill>
                  <a:srgbClr val="FFCC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    </a:t>
            </a:r>
            <a:r>
              <a:rPr lang="en-US" altLang="en-US" sz="2400" b="1">
                <a:solidFill>
                  <a:srgbClr val="FF33CC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en-US" sz="2400" b="1">
                <a:solidFill>
                  <a:srgbClr val="FF33CC"/>
                </a:solidFill>
                <a:latin typeface="Times New Roman" panose="02020603050405020304" pitchFamily="18" charset="0"/>
              </a:rPr>
              <a:t>d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ab      </a:t>
            </a:r>
            <a:r>
              <a:rPr lang="en-US" altLang="en-US" sz="2400" b="1">
                <a:solidFill>
                  <a:srgbClr val="FFCC00"/>
                </a:solidFill>
                <a:latin typeface="Times New Roman" panose="02020603050405020304" pitchFamily="18" charset="0"/>
              </a:rPr>
              <a:t>ac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en-US" sz="2400" b="1">
                <a:solidFill>
                  <a:srgbClr val="FFCC00"/>
                </a:solidFill>
                <a:latin typeface="Times New Roman" panose="02020603050405020304" pitchFamily="18" charset="0"/>
              </a:rPr>
              <a:t>ad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bc         bd       </a:t>
            </a:r>
            <a:r>
              <a:rPr lang="en-US" altLang="en-US" sz="2400" b="1">
                <a:solidFill>
                  <a:srgbClr val="FF33CC"/>
                </a:solidFill>
                <a:latin typeface="Times New Roman" panose="02020603050405020304" pitchFamily="18" charset="0"/>
              </a:rPr>
              <a:t>cd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abc          abd           acd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bcd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    		abcd                          C</a:t>
            </a:r>
            <a:r>
              <a:rPr lang="en-US" altLang="en-US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9158" name="Line 7"/>
          <p:cNvSpPr>
            <a:spLocks noChangeShapeType="1"/>
          </p:cNvSpPr>
          <p:nvPr/>
        </p:nvSpPr>
        <p:spPr bwMode="auto">
          <a:xfrm flipH="1">
            <a:off x="3122613" y="2887663"/>
            <a:ext cx="1143000" cy="533400"/>
          </a:xfrm>
          <a:prstGeom prst="line">
            <a:avLst/>
          </a:prstGeom>
          <a:noFill/>
          <a:ln w="12700">
            <a:solidFill>
              <a:srgbClr val="FF33CC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9" name="Line 8"/>
          <p:cNvSpPr>
            <a:spLocks noChangeShapeType="1"/>
          </p:cNvSpPr>
          <p:nvPr/>
        </p:nvSpPr>
        <p:spPr bwMode="auto">
          <a:xfrm flipH="1">
            <a:off x="3884613" y="2963863"/>
            <a:ext cx="381000" cy="4572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0" name="Line 9"/>
          <p:cNvSpPr>
            <a:spLocks noChangeShapeType="1"/>
          </p:cNvSpPr>
          <p:nvPr/>
        </p:nvSpPr>
        <p:spPr bwMode="auto">
          <a:xfrm>
            <a:off x="4494213" y="2963863"/>
            <a:ext cx="457200" cy="457200"/>
          </a:xfrm>
          <a:prstGeom prst="line">
            <a:avLst/>
          </a:prstGeom>
          <a:noFill/>
          <a:ln w="12700">
            <a:solidFill>
              <a:srgbClr val="FF33CC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1" name="Line 10"/>
          <p:cNvSpPr>
            <a:spLocks noChangeShapeType="1"/>
          </p:cNvSpPr>
          <p:nvPr/>
        </p:nvSpPr>
        <p:spPr bwMode="auto">
          <a:xfrm>
            <a:off x="4570413" y="2887663"/>
            <a:ext cx="1066800" cy="609600"/>
          </a:xfrm>
          <a:prstGeom prst="line">
            <a:avLst/>
          </a:prstGeom>
          <a:noFill/>
          <a:ln w="12700">
            <a:solidFill>
              <a:srgbClr val="FF33CC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2" name="Line 11"/>
          <p:cNvSpPr>
            <a:spLocks noChangeShapeType="1"/>
          </p:cNvSpPr>
          <p:nvPr/>
        </p:nvSpPr>
        <p:spPr bwMode="auto">
          <a:xfrm flipH="1">
            <a:off x="2208213" y="3725863"/>
            <a:ext cx="7620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3" name="Line 12"/>
          <p:cNvSpPr>
            <a:spLocks noChangeShapeType="1"/>
          </p:cNvSpPr>
          <p:nvPr/>
        </p:nvSpPr>
        <p:spPr bwMode="auto">
          <a:xfrm flipH="1">
            <a:off x="2894013" y="3725863"/>
            <a:ext cx="76200" cy="8382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4" name="Line 13"/>
          <p:cNvSpPr>
            <a:spLocks noChangeShapeType="1"/>
          </p:cNvSpPr>
          <p:nvPr/>
        </p:nvSpPr>
        <p:spPr bwMode="auto">
          <a:xfrm>
            <a:off x="3046413" y="3649663"/>
            <a:ext cx="609600" cy="9144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5" name="Line 14"/>
          <p:cNvSpPr>
            <a:spLocks noChangeShapeType="1"/>
          </p:cNvSpPr>
          <p:nvPr/>
        </p:nvSpPr>
        <p:spPr bwMode="auto">
          <a:xfrm flipH="1">
            <a:off x="2284413" y="3725863"/>
            <a:ext cx="15240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6" name="Line 15"/>
          <p:cNvSpPr>
            <a:spLocks noChangeShapeType="1"/>
          </p:cNvSpPr>
          <p:nvPr/>
        </p:nvSpPr>
        <p:spPr bwMode="auto">
          <a:xfrm>
            <a:off x="3884613" y="3802063"/>
            <a:ext cx="762000" cy="762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7" name="Line 16"/>
          <p:cNvSpPr>
            <a:spLocks noChangeShapeType="1"/>
          </p:cNvSpPr>
          <p:nvPr/>
        </p:nvSpPr>
        <p:spPr bwMode="auto">
          <a:xfrm>
            <a:off x="3884613" y="3725863"/>
            <a:ext cx="1676400" cy="762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8" name="Line 17"/>
          <p:cNvSpPr>
            <a:spLocks noChangeShapeType="1"/>
          </p:cNvSpPr>
          <p:nvPr/>
        </p:nvSpPr>
        <p:spPr bwMode="auto">
          <a:xfrm flipH="1">
            <a:off x="3046413" y="3649663"/>
            <a:ext cx="1752600" cy="9144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9" name="Line 18"/>
          <p:cNvSpPr>
            <a:spLocks noChangeShapeType="1"/>
          </p:cNvSpPr>
          <p:nvPr/>
        </p:nvSpPr>
        <p:spPr bwMode="auto">
          <a:xfrm flipH="1">
            <a:off x="4646613" y="3725863"/>
            <a:ext cx="152400" cy="762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0" name="Line 19"/>
          <p:cNvSpPr>
            <a:spLocks noChangeShapeType="1"/>
          </p:cNvSpPr>
          <p:nvPr/>
        </p:nvSpPr>
        <p:spPr bwMode="auto">
          <a:xfrm>
            <a:off x="4951413" y="3649663"/>
            <a:ext cx="1447800" cy="838200"/>
          </a:xfrm>
          <a:prstGeom prst="line">
            <a:avLst/>
          </a:prstGeom>
          <a:noFill/>
          <a:ln w="12700">
            <a:solidFill>
              <a:srgbClr val="FF33CC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1" name="Line 20"/>
          <p:cNvSpPr>
            <a:spLocks noChangeShapeType="1"/>
          </p:cNvSpPr>
          <p:nvPr/>
        </p:nvSpPr>
        <p:spPr bwMode="auto">
          <a:xfrm>
            <a:off x="5789613" y="3649663"/>
            <a:ext cx="762000" cy="838200"/>
          </a:xfrm>
          <a:prstGeom prst="line">
            <a:avLst/>
          </a:prstGeom>
          <a:noFill/>
          <a:ln w="12700">
            <a:solidFill>
              <a:srgbClr val="FF33CC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2" name="Line 21"/>
          <p:cNvSpPr>
            <a:spLocks noChangeShapeType="1"/>
          </p:cNvSpPr>
          <p:nvPr/>
        </p:nvSpPr>
        <p:spPr bwMode="auto">
          <a:xfrm>
            <a:off x="5713413" y="3725863"/>
            <a:ext cx="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3" name="Line 22"/>
          <p:cNvSpPr>
            <a:spLocks noChangeShapeType="1"/>
          </p:cNvSpPr>
          <p:nvPr/>
        </p:nvSpPr>
        <p:spPr bwMode="auto">
          <a:xfrm flipH="1">
            <a:off x="3808413" y="3649663"/>
            <a:ext cx="1828800" cy="8382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4" name="Line 23"/>
          <p:cNvSpPr>
            <a:spLocks noChangeShapeType="1"/>
          </p:cNvSpPr>
          <p:nvPr/>
        </p:nvSpPr>
        <p:spPr bwMode="auto">
          <a:xfrm>
            <a:off x="2132013" y="4868863"/>
            <a:ext cx="228600" cy="762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5" name="Line 24"/>
          <p:cNvSpPr>
            <a:spLocks noChangeShapeType="1"/>
          </p:cNvSpPr>
          <p:nvPr/>
        </p:nvSpPr>
        <p:spPr bwMode="auto">
          <a:xfrm>
            <a:off x="2208213" y="4868863"/>
            <a:ext cx="1371600" cy="762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6" name="Line 25"/>
          <p:cNvSpPr>
            <a:spLocks noChangeShapeType="1"/>
          </p:cNvSpPr>
          <p:nvPr/>
        </p:nvSpPr>
        <p:spPr bwMode="auto">
          <a:xfrm flipH="1">
            <a:off x="2513013" y="4792663"/>
            <a:ext cx="3048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7" name="Line 26"/>
          <p:cNvSpPr>
            <a:spLocks noChangeShapeType="1"/>
          </p:cNvSpPr>
          <p:nvPr/>
        </p:nvSpPr>
        <p:spPr bwMode="auto">
          <a:xfrm>
            <a:off x="2894013" y="4792663"/>
            <a:ext cx="19050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8" name="Line 27"/>
          <p:cNvSpPr>
            <a:spLocks noChangeShapeType="1"/>
          </p:cNvSpPr>
          <p:nvPr/>
        </p:nvSpPr>
        <p:spPr bwMode="auto">
          <a:xfrm flipH="1">
            <a:off x="3656013" y="4792663"/>
            <a:ext cx="762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79" name="Line 28"/>
          <p:cNvSpPr>
            <a:spLocks noChangeShapeType="1"/>
          </p:cNvSpPr>
          <p:nvPr/>
        </p:nvSpPr>
        <p:spPr bwMode="auto">
          <a:xfrm>
            <a:off x="3884613" y="4792663"/>
            <a:ext cx="10668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0" name="Line 29"/>
          <p:cNvSpPr>
            <a:spLocks noChangeShapeType="1"/>
          </p:cNvSpPr>
          <p:nvPr/>
        </p:nvSpPr>
        <p:spPr bwMode="auto">
          <a:xfrm flipH="1">
            <a:off x="2741613" y="4792663"/>
            <a:ext cx="19812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1" name="Line 30"/>
          <p:cNvSpPr>
            <a:spLocks noChangeShapeType="1"/>
          </p:cNvSpPr>
          <p:nvPr/>
        </p:nvSpPr>
        <p:spPr bwMode="auto">
          <a:xfrm>
            <a:off x="4799013" y="4792663"/>
            <a:ext cx="10668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2" name="Line 31"/>
          <p:cNvSpPr>
            <a:spLocks noChangeShapeType="1"/>
          </p:cNvSpPr>
          <p:nvPr/>
        </p:nvSpPr>
        <p:spPr bwMode="auto">
          <a:xfrm flipH="1">
            <a:off x="3884613" y="4792663"/>
            <a:ext cx="18288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3" name="Line 32"/>
          <p:cNvSpPr>
            <a:spLocks noChangeShapeType="1"/>
          </p:cNvSpPr>
          <p:nvPr/>
        </p:nvSpPr>
        <p:spPr bwMode="auto">
          <a:xfrm>
            <a:off x="5789613" y="4868863"/>
            <a:ext cx="304800" cy="762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4" name="Line 33"/>
          <p:cNvSpPr>
            <a:spLocks noChangeShapeType="1"/>
          </p:cNvSpPr>
          <p:nvPr/>
        </p:nvSpPr>
        <p:spPr bwMode="auto">
          <a:xfrm flipH="1">
            <a:off x="4951413" y="4868863"/>
            <a:ext cx="1600200" cy="762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5" name="Line 34"/>
          <p:cNvSpPr>
            <a:spLocks noChangeShapeType="1"/>
          </p:cNvSpPr>
          <p:nvPr/>
        </p:nvSpPr>
        <p:spPr bwMode="auto">
          <a:xfrm flipH="1">
            <a:off x="6170613" y="4868863"/>
            <a:ext cx="457200" cy="685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6" name="Line 35"/>
          <p:cNvSpPr>
            <a:spLocks noChangeShapeType="1"/>
          </p:cNvSpPr>
          <p:nvPr/>
        </p:nvSpPr>
        <p:spPr bwMode="auto">
          <a:xfrm>
            <a:off x="2589213" y="5935663"/>
            <a:ext cx="1447800" cy="457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7" name="Line 36"/>
          <p:cNvSpPr>
            <a:spLocks noChangeShapeType="1"/>
          </p:cNvSpPr>
          <p:nvPr/>
        </p:nvSpPr>
        <p:spPr bwMode="auto">
          <a:xfrm>
            <a:off x="3884613" y="5859463"/>
            <a:ext cx="381000" cy="457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8" name="Line 37"/>
          <p:cNvSpPr>
            <a:spLocks noChangeShapeType="1"/>
          </p:cNvSpPr>
          <p:nvPr/>
        </p:nvSpPr>
        <p:spPr bwMode="auto">
          <a:xfrm flipH="1">
            <a:off x="4418013" y="5935663"/>
            <a:ext cx="533400" cy="381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9" name="Line 38"/>
          <p:cNvSpPr>
            <a:spLocks noChangeShapeType="1"/>
          </p:cNvSpPr>
          <p:nvPr/>
        </p:nvSpPr>
        <p:spPr bwMode="auto">
          <a:xfrm flipH="1">
            <a:off x="4646613" y="5935663"/>
            <a:ext cx="1447800" cy="381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0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228600" y="762000"/>
            <a:ext cx="7086600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7795" name="Rectangle 3"/>
          <p:cNvSpPr>
            <a:spLocks noChangeArrowheads="1"/>
          </p:cNvSpPr>
          <p:nvPr/>
        </p:nvSpPr>
        <p:spPr bwMode="auto">
          <a:xfrm>
            <a:off x="228600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/>
          <a:p>
            <a:pPr eaLnBrk="1" hangingPunct="1">
              <a:defRPr/>
            </a:pPr>
            <a:r>
              <a:rPr lang="en-US" sz="4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152400" y="1447800"/>
            <a:ext cx="8229600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/>
              <a:t>Assume that L = {{a},{c}, {d}, {a, c}, {a, d}, {c, d}} after the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/>
              <a:t>database scan in step 4. Since {a, c} and {a, d} are in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/>
              <a:t>NB(PL), we need to execute step 5. C</a:t>
            </a:r>
            <a:r>
              <a:rPr lang="en-US" altLang="en-US" sz="2200" baseline="-25000"/>
              <a:t>2</a:t>
            </a:r>
            <a:r>
              <a:rPr lang="en-US" altLang="en-US" sz="2200"/>
              <a:t> will be L U {{acd}}.</a:t>
            </a:r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1676400" y="2438400"/>
            <a:ext cx="5257800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{}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b            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ab      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ac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ad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bc         bd       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cd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abc          abd           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acd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bcd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abcd</a:t>
            </a:r>
          </a:p>
        </p:txBody>
      </p:sp>
      <p:sp>
        <p:nvSpPr>
          <p:cNvPr id="51206" name="Line 6"/>
          <p:cNvSpPr>
            <a:spLocks noChangeShapeType="1"/>
          </p:cNvSpPr>
          <p:nvPr/>
        </p:nvSpPr>
        <p:spPr bwMode="auto">
          <a:xfrm flipH="1">
            <a:off x="3048000" y="2743200"/>
            <a:ext cx="1143000" cy="533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7" name="Line 7"/>
          <p:cNvSpPr>
            <a:spLocks noChangeShapeType="1"/>
          </p:cNvSpPr>
          <p:nvPr/>
        </p:nvSpPr>
        <p:spPr bwMode="auto">
          <a:xfrm flipH="1">
            <a:off x="3810000" y="2819400"/>
            <a:ext cx="381000" cy="457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8" name="Line 8"/>
          <p:cNvSpPr>
            <a:spLocks noChangeShapeType="1"/>
          </p:cNvSpPr>
          <p:nvPr/>
        </p:nvSpPr>
        <p:spPr bwMode="auto">
          <a:xfrm>
            <a:off x="4419600" y="2819400"/>
            <a:ext cx="457200" cy="457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9" name="Line 9"/>
          <p:cNvSpPr>
            <a:spLocks noChangeShapeType="1"/>
          </p:cNvSpPr>
          <p:nvPr/>
        </p:nvSpPr>
        <p:spPr bwMode="auto">
          <a:xfrm>
            <a:off x="4495800" y="2743200"/>
            <a:ext cx="1066800" cy="609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 flipH="1">
            <a:off x="2133600" y="3581400"/>
            <a:ext cx="7620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1" name="Line 11"/>
          <p:cNvSpPr>
            <a:spLocks noChangeShapeType="1"/>
          </p:cNvSpPr>
          <p:nvPr/>
        </p:nvSpPr>
        <p:spPr bwMode="auto">
          <a:xfrm flipH="1">
            <a:off x="2819400" y="3581400"/>
            <a:ext cx="76200" cy="838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2" name="Line 12"/>
          <p:cNvSpPr>
            <a:spLocks noChangeShapeType="1"/>
          </p:cNvSpPr>
          <p:nvPr/>
        </p:nvSpPr>
        <p:spPr bwMode="auto">
          <a:xfrm>
            <a:off x="2971800" y="3505200"/>
            <a:ext cx="609600" cy="9144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 flipH="1">
            <a:off x="2209800" y="3581400"/>
            <a:ext cx="15240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4" name="Line 14"/>
          <p:cNvSpPr>
            <a:spLocks noChangeShapeType="1"/>
          </p:cNvSpPr>
          <p:nvPr/>
        </p:nvSpPr>
        <p:spPr bwMode="auto">
          <a:xfrm>
            <a:off x="3810000" y="3657600"/>
            <a:ext cx="762000" cy="762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5" name="Line 15"/>
          <p:cNvSpPr>
            <a:spLocks noChangeShapeType="1"/>
          </p:cNvSpPr>
          <p:nvPr/>
        </p:nvSpPr>
        <p:spPr bwMode="auto">
          <a:xfrm>
            <a:off x="3810000" y="3581400"/>
            <a:ext cx="1676400" cy="762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6" name="Line 16"/>
          <p:cNvSpPr>
            <a:spLocks noChangeShapeType="1"/>
          </p:cNvSpPr>
          <p:nvPr/>
        </p:nvSpPr>
        <p:spPr bwMode="auto">
          <a:xfrm flipH="1">
            <a:off x="2971800" y="3505200"/>
            <a:ext cx="1752600" cy="914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7" name="Line 17"/>
          <p:cNvSpPr>
            <a:spLocks noChangeShapeType="1"/>
          </p:cNvSpPr>
          <p:nvPr/>
        </p:nvSpPr>
        <p:spPr bwMode="auto">
          <a:xfrm flipH="1">
            <a:off x="4572000" y="3581400"/>
            <a:ext cx="152400" cy="762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8" name="Line 18"/>
          <p:cNvSpPr>
            <a:spLocks noChangeShapeType="1"/>
          </p:cNvSpPr>
          <p:nvPr/>
        </p:nvSpPr>
        <p:spPr bwMode="auto">
          <a:xfrm>
            <a:off x="4876800" y="3505200"/>
            <a:ext cx="1447800" cy="838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9" name="Line 19"/>
          <p:cNvSpPr>
            <a:spLocks noChangeShapeType="1"/>
          </p:cNvSpPr>
          <p:nvPr/>
        </p:nvSpPr>
        <p:spPr bwMode="auto">
          <a:xfrm>
            <a:off x="5715000" y="3505200"/>
            <a:ext cx="762000" cy="838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0" name="Line 20"/>
          <p:cNvSpPr>
            <a:spLocks noChangeShapeType="1"/>
          </p:cNvSpPr>
          <p:nvPr/>
        </p:nvSpPr>
        <p:spPr bwMode="auto">
          <a:xfrm>
            <a:off x="5638800" y="3581400"/>
            <a:ext cx="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1" name="Line 21"/>
          <p:cNvSpPr>
            <a:spLocks noChangeShapeType="1"/>
          </p:cNvSpPr>
          <p:nvPr/>
        </p:nvSpPr>
        <p:spPr bwMode="auto">
          <a:xfrm flipH="1">
            <a:off x="3733800" y="3505200"/>
            <a:ext cx="1828800" cy="838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2" name="Line 22"/>
          <p:cNvSpPr>
            <a:spLocks noChangeShapeType="1"/>
          </p:cNvSpPr>
          <p:nvPr/>
        </p:nvSpPr>
        <p:spPr bwMode="auto">
          <a:xfrm>
            <a:off x="2057400" y="4724400"/>
            <a:ext cx="228600" cy="762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3" name="Line 23"/>
          <p:cNvSpPr>
            <a:spLocks noChangeShapeType="1"/>
          </p:cNvSpPr>
          <p:nvPr/>
        </p:nvSpPr>
        <p:spPr bwMode="auto">
          <a:xfrm>
            <a:off x="2133600" y="4724400"/>
            <a:ext cx="1371600" cy="762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4" name="Line 24"/>
          <p:cNvSpPr>
            <a:spLocks noChangeShapeType="1"/>
          </p:cNvSpPr>
          <p:nvPr/>
        </p:nvSpPr>
        <p:spPr bwMode="auto">
          <a:xfrm flipH="1">
            <a:off x="2438400" y="4648200"/>
            <a:ext cx="3048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5" name="Line 25"/>
          <p:cNvSpPr>
            <a:spLocks noChangeShapeType="1"/>
          </p:cNvSpPr>
          <p:nvPr/>
        </p:nvSpPr>
        <p:spPr bwMode="auto">
          <a:xfrm>
            <a:off x="2819400" y="4648200"/>
            <a:ext cx="1905000" cy="838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6" name="Line 26"/>
          <p:cNvSpPr>
            <a:spLocks noChangeShapeType="1"/>
          </p:cNvSpPr>
          <p:nvPr/>
        </p:nvSpPr>
        <p:spPr bwMode="auto">
          <a:xfrm flipH="1">
            <a:off x="3581400" y="4648200"/>
            <a:ext cx="762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7" name="Line 27"/>
          <p:cNvSpPr>
            <a:spLocks noChangeShapeType="1"/>
          </p:cNvSpPr>
          <p:nvPr/>
        </p:nvSpPr>
        <p:spPr bwMode="auto">
          <a:xfrm>
            <a:off x="3810000" y="4648200"/>
            <a:ext cx="1066800" cy="838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8" name="Line 28"/>
          <p:cNvSpPr>
            <a:spLocks noChangeShapeType="1"/>
          </p:cNvSpPr>
          <p:nvPr/>
        </p:nvSpPr>
        <p:spPr bwMode="auto">
          <a:xfrm flipH="1">
            <a:off x="2667000" y="4648200"/>
            <a:ext cx="19812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9" name="Line 29"/>
          <p:cNvSpPr>
            <a:spLocks noChangeShapeType="1"/>
          </p:cNvSpPr>
          <p:nvPr/>
        </p:nvSpPr>
        <p:spPr bwMode="auto">
          <a:xfrm>
            <a:off x="4724400" y="4648200"/>
            <a:ext cx="10668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0" name="Line 30"/>
          <p:cNvSpPr>
            <a:spLocks noChangeShapeType="1"/>
          </p:cNvSpPr>
          <p:nvPr/>
        </p:nvSpPr>
        <p:spPr bwMode="auto">
          <a:xfrm flipH="1">
            <a:off x="3810000" y="4648200"/>
            <a:ext cx="1828800" cy="838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1" name="Line 31"/>
          <p:cNvSpPr>
            <a:spLocks noChangeShapeType="1"/>
          </p:cNvSpPr>
          <p:nvPr/>
        </p:nvSpPr>
        <p:spPr bwMode="auto">
          <a:xfrm>
            <a:off x="5715000" y="4724400"/>
            <a:ext cx="304800" cy="762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2" name="Line 32"/>
          <p:cNvSpPr>
            <a:spLocks noChangeShapeType="1"/>
          </p:cNvSpPr>
          <p:nvPr/>
        </p:nvSpPr>
        <p:spPr bwMode="auto">
          <a:xfrm flipH="1">
            <a:off x="4876800" y="4724400"/>
            <a:ext cx="1600200" cy="762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3" name="Line 33"/>
          <p:cNvSpPr>
            <a:spLocks noChangeShapeType="1"/>
          </p:cNvSpPr>
          <p:nvPr/>
        </p:nvSpPr>
        <p:spPr bwMode="auto">
          <a:xfrm flipH="1">
            <a:off x="6096000" y="4724400"/>
            <a:ext cx="457200" cy="685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4" name="Line 34"/>
          <p:cNvSpPr>
            <a:spLocks noChangeShapeType="1"/>
          </p:cNvSpPr>
          <p:nvPr/>
        </p:nvSpPr>
        <p:spPr bwMode="auto">
          <a:xfrm>
            <a:off x="2514600" y="5791200"/>
            <a:ext cx="1447800" cy="457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5" name="Line 35"/>
          <p:cNvSpPr>
            <a:spLocks noChangeShapeType="1"/>
          </p:cNvSpPr>
          <p:nvPr/>
        </p:nvSpPr>
        <p:spPr bwMode="auto">
          <a:xfrm>
            <a:off x="3810000" y="5715000"/>
            <a:ext cx="381000" cy="4572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6" name="Line 36"/>
          <p:cNvSpPr>
            <a:spLocks noChangeShapeType="1"/>
          </p:cNvSpPr>
          <p:nvPr/>
        </p:nvSpPr>
        <p:spPr bwMode="auto">
          <a:xfrm flipH="1">
            <a:off x="4343400" y="5791200"/>
            <a:ext cx="533400" cy="381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7" name="Line 37"/>
          <p:cNvSpPr>
            <a:spLocks noChangeShapeType="1"/>
          </p:cNvSpPr>
          <p:nvPr/>
        </p:nvSpPr>
        <p:spPr bwMode="auto">
          <a:xfrm flipH="1">
            <a:off x="4572000" y="5791200"/>
            <a:ext cx="1447800" cy="381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8" name="Rectangle 38"/>
          <p:cNvSpPr>
            <a:spLocks noChangeArrowheads="1"/>
          </p:cNvSpPr>
          <p:nvPr/>
        </p:nvSpPr>
        <p:spPr bwMode="auto">
          <a:xfrm>
            <a:off x="0" y="1524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400"/>
              <a:t>Sampling Algorithm :Example</a:t>
            </a:r>
          </a:p>
        </p:txBody>
      </p:sp>
      <p:sp>
        <p:nvSpPr>
          <p:cNvPr id="51239" name="Rectangle 39"/>
          <p:cNvSpPr>
            <a:spLocks noChangeArrowheads="1"/>
          </p:cNvSpPr>
          <p:nvPr/>
        </p:nvSpPr>
        <p:spPr bwMode="auto">
          <a:xfrm>
            <a:off x="5867400" y="6019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0209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Conclusions</a:t>
            </a:r>
            <a:endParaRPr lang="en-US" altLang="en-US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i="1" dirty="0" smtClean="0">
                <a:solidFill>
                  <a:schemeClr val="tx2"/>
                </a:solidFill>
              </a:rPr>
              <a:t>Advantages:</a:t>
            </a:r>
          </a:p>
          <a:p>
            <a:pPr eaLnBrk="1" hangingPunct="1"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sz="2800" dirty="0" smtClean="0"/>
              <a:t>   Reduced failure probability, while keeping candidate-count low enough for memory</a:t>
            </a:r>
            <a:r>
              <a:rPr lang="en-US" altLang="en-US" sz="2800" b="1" i="1" dirty="0" smtClean="0">
                <a:solidFill>
                  <a:schemeClr val="tx2"/>
                </a:solidFill>
              </a:rPr>
              <a:t> </a:t>
            </a:r>
          </a:p>
          <a:p>
            <a:pPr eaLnBrk="1" hangingPunct="1"/>
            <a:r>
              <a:rPr lang="en-US" altLang="en-US" sz="2800" b="1" i="1" dirty="0" smtClean="0">
                <a:solidFill>
                  <a:schemeClr val="tx2"/>
                </a:solidFill>
              </a:rPr>
              <a:t>Disadvantages:</a:t>
            </a:r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en-US" sz="2800" dirty="0" smtClean="0"/>
              <a:t>Potentially large number of </a:t>
            </a:r>
            <a:r>
              <a:rPr lang="en-US" altLang="en-US" sz="2800" dirty="0" smtClean="0"/>
              <a:t>candidates</a:t>
            </a:r>
            <a:r>
              <a:rPr lang="en-US" altLang="en-US" sz="2800" dirty="0">
                <a:ea typeface="宋体" panose="02010600030101010101" pitchFamily="2" charset="-122"/>
              </a:rPr>
              <a:t> </a:t>
            </a:r>
            <a:r>
              <a:rPr lang="en-US" altLang="en-US" sz="2800" dirty="0" smtClean="0"/>
              <a:t>in</a:t>
            </a:r>
            <a:r>
              <a:rPr lang="en-US" altLang="zh-CN" sz="2800" dirty="0" smtClean="0">
                <a:ea typeface="宋体" panose="02010600030101010101" pitchFamily="2" charset="-122"/>
              </a:rPr>
              <a:t> </a:t>
            </a:r>
            <a:r>
              <a:rPr lang="en-US" altLang="en-US" sz="2800" dirty="0" smtClean="0"/>
              <a:t>second pass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19207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458200" cy="914400"/>
          </a:xfrm>
        </p:spPr>
        <p:txBody>
          <a:bodyPr lIns="92075" tIns="46038" rIns="92075" bIns="46038" anchor="b" anchorCtr="0"/>
          <a:lstStyle/>
          <a:p>
            <a:pPr eaLnBrk="1" hangingPunct="1">
              <a:defRPr/>
            </a:pPr>
            <a:r>
              <a:rPr lang="en-US" sz="4600" smtClean="0"/>
              <a:t>Partitioning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76400"/>
            <a:ext cx="83820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Clr>
                <a:srgbClr val="000000"/>
              </a:buClr>
              <a:buSzPct val="150000"/>
              <a:buFontTx/>
              <a:buChar char="•"/>
              <a:defRPr/>
            </a:pPr>
            <a:r>
              <a:rPr lang="en-US" sz="2800" dirty="0" smtClean="0"/>
              <a:t>Instead of sampling transactions in database, the database D is subdivided into n partitions D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 D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 …, D</a:t>
            </a:r>
            <a:r>
              <a:rPr lang="en-US" sz="2800" baseline="-25000" dirty="0" smtClean="0"/>
              <a:t>n</a:t>
            </a:r>
            <a:r>
              <a:rPr lang="en-US" sz="2800" dirty="0" smtClean="0"/>
              <a:t>.</a:t>
            </a:r>
          </a:p>
          <a:p>
            <a:pPr eaLnBrk="1" hangingPunct="1">
              <a:lnSpc>
                <a:spcPct val="90000"/>
              </a:lnSpc>
              <a:buClr>
                <a:srgbClr val="000000"/>
              </a:buClr>
              <a:buSzPct val="150000"/>
              <a:buFontTx/>
              <a:buChar char="•"/>
              <a:defRPr/>
            </a:pPr>
            <a:r>
              <a:rPr lang="en-US" sz="2800" dirty="0" smtClean="0"/>
              <a:t>Partitioning may improve the performance by:</a:t>
            </a:r>
          </a:p>
          <a:p>
            <a:pPr>
              <a:buNone/>
              <a:defRPr/>
            </a:pPr>
            <a:r>
              <a:rPr lang="en-US" sz="2800" dirty="0" smtClean="0"/>
              <a:t>	– A </a:t>
            </a:r>
            <a:r>
              <a:rPr lang="en-US" sz="2800" dirty="0" smtClean="0"/>
              <a:t>frequent </a:t>
            </a:r>
            <a:r>
              <a:rPr lang="en-US" sz="2800" dirty="0" err="1" smtClean="0"/>
              <a:t>itemset</a:t>
            </a:r>
            <a:r>
              <a:rPr lang="en-US" sz="2800" dirty="0" smtClean="0"/>
              <a:t> must be </a:t>
            </a:r>
            <a:r>
              <a:rPr lang="en-US" sz="2800" dirty="0"/>
              <a:t>frequent </a:t>
            </a:r>
            <a:r>
              <a:rPr lang="en-US" sz="2800" dirty="0" smtClean="0"/>
              <a:t>in at least one of </a:t>
            </a:r>
            <a:r>
              <a:rPr lang="en-US" sz="2800" dirty="0" smtClean="0"/>
              <a:t>the </a:t>
            </a:r>
            <a:r>
              <a:rPr lang="en-US" sz="2800" dirty="0" smtClean="0"/>
              <a:t>partitions.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800" dirty="0" smtClean="0"/>
              <a:t>	– We can adjust the size of each partition so that </a:t>
            </a:r>
            <a:r>
              <a:rPr lang="en-US" sz="2800" dirty="0" smtClean="0"/>
              <a:t>it </a:t>
            </a:r>
            <a:r>
              <a:rPr lang="en-US" sz="2800" dirty="0" smtClean="0"/>
              <a:t>is small enough to fit in main memory.</a:t>
            </a:r>
          </a:p>
        </p:txBody>
      </p:sp>
    </p:spTree>
    <p:extLst>
      <p:ext uri="{BB962C8B-B14F-4D97-AF65-F5344CB8AC3E}">
        <p14:creationId xmlns:p14="http://schemas.microsoft.com/office/powerpoint/2010/main" val="170645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458200" cy="1143000"/>
          </a:xfrm>
        </p:spPr>
        <p:txBody>
          <a:bodyPr lIns="92075" tIns="46038" rIns="92075" bIns="46038" anchor="b" anchorCtr="0"/>
          <a:lstStyle/>
          <a:p>
            <a:pPr eaLnBrk="1" hangingPunct="1">
              <a:defRPr/>
            </a:pPr>
            <a:r>
              <a:rPr lang="en-US" sz="4600" smtClean="0"/>
              <a:t>Partitioning</a:t>
            </a: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381000" y="1905000"/>
            <a:ext cx="8153400" cy="393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Algorithm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800" dirty="0"/>
              <a:t>Split database </a:t>
            </a:r>
            <a:r>
              <a:rPr lang="en-US" altLang="en-US" sz="2800" i="1" dirty="0"/>
              <a:t>D </a:t>
            </a:r>
            <a:r>
              <a:rPr lang="en-US" altLang="en-US" sz="2800" dirty="0"/>
              <a:t>into </a:t>
            </a:r>
            <a:r>
              <a:rPr lang="en-US" altLang="en-US" sz="2800" i="1" dirty="0"/>
              <a:t>n </a:t>
            </a:r>
            <a:r>
              <a:rPr lang="en-US" altLang="en-US" sz="2800" dirty="0"/>
              <a:t>partitions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800" dirty="0"/>
              <a:t>Using </a:t>
            </a:r>
            <a:r>
              <a:rPr lang="en-US" altLang="en-US" sz="2800" dirty="0" err="1"/>
              <a:t>apriori</a:t>
            </a:r>
            <a:r>
              <a:rPr lang="en-US" altLang="en-US" sz="2800" dirty="0"/>
              <a:t> algorithm to find set of </a:t>
            </a:r>
            <a:r>
              <a:rPr lang="en-US" sz="2800" dirty="0"/>
              <a:t>frequent</a:t>
            </a:r>
            <a:r>
              <a:rPr lang="en-US" altLang="en-US" sz="2800" dirty="0" smtClean="0"/>
              <a:t> </a:t>
            </a:r>
            <a:r>
              <a:rPr lang="en-US" altLang="en-US" sz="2800" dirty="0" err="1"/>
              <a:t>itemset</a:t>
            </a:r>
            <a:r>
              <a:rPr lang="en-US" altLang="en-US" sz="2800" dirty="0"/>
              <a:t> of each partition, Let </a:t>
            </a:r>
            <a:r>
              <a:rPr lang="en-US" altLang="en-US" sz="2800" i="1" dirty="0"/>
              <a:t>L</a:t>
            </a:r>
            <a:r>
              <a:rPr lang="en-US" altLang="en-US" sz="2800" i="1" baseline="30000" dirty="0"/>
              <a:t>i </a:t>
            </a:r>
            <a:r>
              <a:rPr lang="en-US" altLang="en-US" sz="2800" dirty="0"/>
              <a:t>denote set of large </a:t>
            </a:r>
            <a:r>
              <a:rPr lang="en-US" altLang="en-US" sz="2800" dirty="0" err="1"/>
              <a:t>itemsets</a:t>
            </a:r>
            <a:r>
              <a:rPr lang="en-US" altLang="en-US" sz="2800" dirty="0"/>
              <a:t> of partition </a:t>
            </a:r>
            <a:r>
              <a:rPr lang="en-US" altLang="en-US" sz="2800" i="1" dirty="0" err="1"/>
              <a:t>i</a:t>
            </a:r>
            <a:r>
              <a:rPr lang="en-US" altLang="en-US" sz="2800" dirty="0"/>
              <a:t>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800" dirty="0"/>
              <a:t>Candidate set </a:t>
            </a:r>
            <a:r>
              <a:rPr lang="en-US" altLang="en-US" sz="2800" i="1" dirty="0"/>
              <a:t>C </a:t>
            </a:r>
            <a:r>
              <a:rPr lang="en-US" altLang="en-US" sz="2800" dirty="0"/>
              <a:t>= U</a:t>
            </a:r>
            <a:r>
              <a:rPr lang="en-US" altLang="en-US" sz="2800" i="1" baseline="-25000" dirty="0"/>
              <a:t>n</a:t>
            </a:r>
            <a:r>
              <a:rPr lang="en-US" altLang="en-US" sz="2800" i="1" dirty="0"/>
              <a:t> L</a:t>
            </a:r>
            <a:r>
              <a:rPr lang="en-US" altLang="en-US" sz="2800" i="1" baseline="30000" dirty="0"/>
              <a:t>i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800" dirty="0"/>
              <a:t> Scan the original database, check the minimum support of each candidate </a:t>
            </a:r>
            <a:r>
              <a:rPr lang="en-US" altLang="en-US" sz="2800" i="1" dirty="0"/>
              <a:t>c </a:t>
            </a:r>
            <a:r>
              <a:rPr lang="en-US" altLang="en-US" sz="2800" dirty="0"/>
              <a:t>in </a:t>
            </a:r>
            <a:r>
              <a:rPr lang="en-US" altLang="en-US" sz="2800" i="1" dirty="0"/>
              <a:t>C</a:t>
            </a:r>
            <a:r>
              <a:rPr lang="en-US" altLang="en-US" sz="2800" dirty="0"/>
              <a:t>. If the criteria is met, add </a:t>
            </a:r>
            <a:r>
              <a:rPr lang="en-US" altLang="en-US" sz="2800" i="1" dirty="0"/>
              <a:t>c </a:t>
            </a:r>
            <a:r>
              <a:rPr lang="en-US" altLang="en-US" sz="2800" dirty="0"/>
              <a:t>into </a:t>
            </a:r>
            <a:r>
              <a:rPr lang="en-US" altLang="en-US" sz="2800" i="1" dirty="0"/>
              <a:t>L</a:t>
            </a:r>
            <a:r>
              <a:rPr lang="en-US" alt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8152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Mining by Partitioning the data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459" y="2514600"/>
            <a:ext cx="7845115" cy="262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22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Partitioning Algorithm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543800" cy="4953000"/>
          </a:xfrm>
          <a:noFill/>
        </p:spPr>
        <p:txBody>
          <a:bodyPr>
            <a:normAutofit/>
          </a:bodyPr>
          <a:lstStyle/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 dirty="0" smtClean="0"/>
              <a:t>Divide D into partitions D</a:t>
            </a:r>
            <a:r>
              <a:rPr lang="en-US" altLang="en-US" sz="2400" baseline="30000" dirty="0" smtClean="0"/>
              <a:t>1</a:t>
            </a:r>
            <a:r>
              <a:rPr lang="en-US" altLang="en-US" sz="2400" dirty="0" smtClean="0"/>
              <a:t>,D</a:t>
            </a:r>
            <a:r>
              <a:rPr lang="en-US" altLang="en-US" sz="2400" baseline="30000" dirty="0" smtClean="0"/>
              <a:t>2</a:t>
            </a:r>
            <a:r>
              <a:rPr lang="en-US" altLang="en-US" sz="2400" dirty="0" smtClean="0"/>
              <a:t>,…,</a:t>
            </a:r>
            <a:r>
              <a:rPr lang="en-US" altLang="en-US" sz="2400" dirty="0" err="1" smtClean="0"/>
              <a:t>D</a:t>
            </a:r>
            <a:r>
              <a:rPr lang="en-US" altLang="en-US" sz="2400" baseline="30000" dirty="0" err="1" smtClean="0"/>
              <a:t>p</a:t>
            </a:r>
            <a:r>
              <a:rPr lang="en-US" altLang="en-US" sz="2400" baseline="30000" dirty="0" smtClean="0"/>
              <a:t>;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 dirty="0" smtClean="0"/>
              <a:t>For I = 1 to p do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 dirty="0" smtClean="0"/>
              <a:t>     L</a:t>
            </a:r>
            <a:r>
              <a:rPr lang="en-US" altLang="en-US" sz="2400" baseline="30000" dirty="0" smtClean="0"/>
              <a:t>i</a:t>
            </a:r>
            <a:r>
              <a:rPr lang="en-US" altLang="en-US" sz="2400" dirty="0" smtClean="0"/>
              <a:t> = </a:t>
            </a:r>
            <a:r>
              <a:rPr lang="en-US" altLang="en-US" sz="2400" dirty="0" err="1" smtClean="0"/>
              <a:t>Apriori</a:t>
            </a:r>
            <a:r>
              <a:rPr lang="en-US" altLang="en-US" sz="2400" dirty="0" smtClean="0"/>
              <a:t>(D</a:t>
            </a:r>
            <a:r>
              <a:rPr lang="en-US" altLang="en-US" sz="2400" baseline="30000" dirty="0" smtClean="0"/>
              <a:t>i</a:t>
            </a:r>
            <a:r>
              <a:rPr lang="en-US" altLang="en-US" sz="2400" dirty="0" smtClean="0"/>
              <a:t>);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 dirty="0" smtClean="0"/>
              <a:t>C = L</a:t>
            </a:r>
            <a:r>
              <a:rPr lang="en-US" altLang="en-US" sz="2400" baseline="30000" dirty="0" smtClean="0"/>
              <a:t>1</a:t>
            </a:r>
            <a:r>
              <a:rPr lang="en-US" altLang="en-US" sz="2400" dirty="0" smtClean="0"/>
              <a:t> </a:t>
            </a:r>
            <a:r>
              <a:rPr lang="en-US" altLang="en-US" sz="2400" dirty="0" smtClean="0">
                <a:latin typeface="cmsy10" pitchFamily="34" charset="0"/>
                <a:sym typeface="Symbol" panose="05050102010706020507" pitchFamily="18" charset="2"/>
              </a:rPr>
              <a:t></a:t>
            </a:r>
            <a:r>
              <a:rPr lang="en-US" altLang="en-US" sz="2400" dirty="0" smtClean="0"/>
              <a:t> … </a:t>
            </a:r>
            <a:r>
              <a:rPr lang="en-US" altLang="en-US" sz="2400" dirty="0" smtClean="0">
                <a:latin typeface="cmsy10" pitchFamily="34" charset="0"/>
                <a:sym typeface="Symbol" panose="05050102010706020507" pitchFamily="18" charset="2"/>
              </a:rPr>
              <a:t>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L</a:t>
            </a:r>
            <a:r>
              <a:rPr lang="en-US" altLang="en-US" sz="2400" baseline="30000" dirty="0" err="1" smtClean="0"/>
              <a:t>p</a:t>
            </a:r>
            <a:r>
              <a:rPr lang="en-US" altLang="en-US" sz="2400" dirty="0" smtClean="0"/>
              <a:t>;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 dirty="0" smtClean="0"/>
              <a:t>Count C on D to generate L;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 dirty="0" smtClean="0"/>
              <a:t>Do we need to count?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en-US" sz="2400" dirty="0" smtClean="0"/>
              <a:t>Is C=L?</a:t>
            </a:r>
          </a:p>
        </p:txBody>
      </p:sp>
    </p:spTree>
    <p:extLst>
      <p:ext uri="{BB962C8B-B14F-4D97-AF65-F5344CB8AC3E}">
        <p14:creationId xmlns:p14="http://schemas.microsoft.com/office/powerpoint/2010/main" val="1281461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772400" cy="685800"/>
          </a:xfrm>
        </p:spPr>
        <p:txBody>
          <a:bodyPr lIns="92075" tIns="46038" rIns="92075" bIns="46038" anchor="b" anchorCtr="0"/>
          <a:lstStyle/>
          <a:p>
            <a:pPr eaLnBrk="1" hangingPunct="1">
              <a:defRPr/>
            </a:pPr>
            <a:r>
              <a:rPr lang="en-US" smtClean="0"/>
              <a:t>Partitioning: Example</a:t>
            </a:r>
          </a:p>
        </p:txBody>
      </p:sp>
      <p:grpSp>
        <p:nvGrpSpPr>
          <p:cNvPr id="57347" name="Group 3"/>
          <p:cNvGrpSpPr>
            <a:grpSpLocks/>
          </p:cNvGrpSpPr>
          <p:nvPr/>
        </p:nvGrpSpPr>
        <p:grpSpPr bwMode="auto">
          <a:xfrm>
            <a:off x="2057400" y="1295400"/>
            <a:ext cx="5715000" cy="5181600"/>
            <a:chOff x="1536" y="876"/>
            <a:chExt cx="3792" cy="3444"/>
          </a:xfrm>
        </p:grpSpPr>
        <p:sp>
          <p:nvSpPr>
            <p:cNvPr id="57349" name="Rectangle 4"/>
            <p:cNvSpPr>
              <a:spLocks noChangeArrowheads="1"/>
            </p:cNvSpPr>
            <p:nvPr/>
          </p:nvSpPr>
          <p:spPr bwMode="auto">
            <a:xfrm>
              <a:off x="4908" y="3899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50" name="Rectangle 5"/>
            <p:cNvSpPr>
              <a:spLocks noChangeArrowheads="1"/>
            </p:cNvSpPr>
            <p:nvPr/>
          </p:nvSpPr>
          <p:spPr bwMode="auto">
            <a:xfrm>
              <a:off x="4486" y="3899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51" name="Rectangle 6"/>
            <p:cNvSpPr>
              <a:spLocks noChangeArrowheads="1"/>
            </p:cNvSpPr>
            <p:nvPr/>
          </p:nvSpPr>
          <p:spPr bwMode="auto">
            <a:xfrm>
              <a:off x="4065" y="3899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52" name="Rectangle 7"/>
            <p:cNvSpPr>
              <a:spLocks noChangeArrowheads="1"/>
            </p:cNvSpPr>
            <p:nvPr/>
          </p:nvSpPr>
          <p:spPr bwMode="auto">
            <a:xfrm>
              <a:off x="3644" y="3899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53" name="Rectangle 8"/>
            <p:cNvSpPr>
              <a:spLocks noChangeArrowheads="1"/>
            </p:cNvSpPr>
            <p:nvPr/>
          </p:nvSpPr>
          <p:spPr bwMode="auto">
            <a:xfrm>
              <a:off x="3222" y="3899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54" name="Rectangle 9"/>
            <p:cNvSpPr>
              <a:spLocks noChangeArrowheads="1"/>
            </p:cNvSpPr>
            <p:nvPr/>
          </p:nvSpPr>
          <p:spPr bwMode="auto">
            <a:xfrm>
              <a:off x="2801" y="3899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55" name="Rectangle 10"/>
            <p:cNvSpPr>
              <a:spLocks noChangeArrowheads="1"/>
            </p:cNvSpPr>
            <p:nvPr/>
          </p:nvSpPr>
          <p:spPr bwMode="auto">
            <a:xfrm>
              <a:off x="2380" y="3899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56" name="Rectangle 11"/>
            <p:cNvSpPr>
              <a:spLocks noChangeArrowheads="1"/>
            </p:cNvSpPr>
            <p:nvPr/>
          </p:nvSpPr>
          <p:spPr bwMode="auto">
            <a:xfrm>
              <a:off x="1958" y="3899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57" name="Rectangle 12"/>
            <p:cNvSpPr>
              <a:spLocks noChangeArrowheads="1"/>
            </p:cNvSpPr>
            <p:nvPr/>
          </p:nvSpPr>
          <p:spPr bwMode="auto">
            <a:xfrm>
              <a:off x="1537" y="3899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58" name="Rectangle 13"/>
            <p:cNvSpPr>
              <a:spLocks noChangeArrowheads="1"/>
            </p:cNvSpPr>
            <p:nvPr/>
          </p:nvSpPr>
          <p:spPr bwMode="auto">
            <a:xfrm>
              <a:off x="4908" y="4110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59" name="Rectangle 14"/>
            <p:cNvSpPr>
              <a:spLocks noChangeArrowheads="1"/>
            </p:cNvSpPr>
            <p:nvPr/>
          </p:nvSpPr>
          <p:spPr bwMode="auto">
            <a:xfrm>
              <a:off x="4486" y="4110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60" name="Rectangle 15"/>
            <p:cNvSpPr>
              <a:spLocks noChangeArrowheads="1"/>
            </p:cNvSpPr>
            <p:nvPr/>
          </p:nvSpPr>
          <p:spPr bwMode="auto">
            <a:xfrm>
              <a:off x="4065" y="4110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61" name="Rectangle 16"/>
            <p:cNvSpPr>
              <a:spLocks noChangeArrowheads="1"/>
            </p:cNvSpPr>
            <p:nvPr/>
          </p:nvSpPr>
          <p:spPr bwMode="auto">
            <a:xfrm>
              <a:off x="3644" y="4110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62" name="Rectangle 17"/>
            <p:cNvSpPr>
              <a:spLocks noChangeArrowheads="1"/>
            </p:cNvSpPr>
            <p:nvPr/>
          </p:nvSpPr>
          <p:spPr bwMode="auto">
            <a:xfrm>
              <a:off x="3222" y="4110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63" name="Rectangle 18"/>
            <p:cNvSpPr>
              <a:spLocks noChangeArrowheads="1"/>
            </p:cNvSpPr>
            <p:nvPr/>
          </p:nvSpPr>
          <p:spPr bwMode="auto">
            <a:xfrm>
              <a:off x="2801" y="4110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64" name="Rectangle 19"/>
            <p:cNvSpPr>
              <a:spLocks noChangeArrowheads="1"/>
            </p:cNvSpPr>
            <p:nvPr/>
          </p:nvSpPr>
          <p:spPr bwMode="auto">
            <a:xfrm>
              <a:off x="2380" y="4110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65" name="Rectangle 20"/>
            <p:cNvSpPr>
              <a:spLocks noChangeArrowheads="1"/>
            </p:cNvSpPr>
            <p:nvPr/>
          </p:nvSpPr>
          <p:spPr bwMode="auto">
            <a:xfrm>
              <a:off x="1958" y="4110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66" name="Rectangle 21"/>
            <p:cNvSpPr>
              <a:spLocks noChangeArrowheads="1"/>
            </p:cNvSpPr>
            <p:nvPr/>
          </p:nvSpPr>
          <p:spPr bwMode="auto">
            <a:xfrm>
              <a:off x="1537" y="4110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67" name="Rectangle 22"/>
            <p:cNvSpPr>
              <a:spLocks noChangeArrowheads="1"/>
            </p:cNvSpPr>
            <p:nvPr/>
          </p:nvSpPr>
          <p:spPr bwMode="auto">
            <a:xfrm>
              <a:off x="4908" y="3688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68" name="Rectangle 23"/>
            <p:cNvSpPr>
              <a:spLocks noChangeArrowheads="1"/>
            </p:cNvSpPr>
            <p:nvPr/>
          </p:nvSpPr>
          <p:spPr bwMode="auto">
            <a:xfrm>
              <a:off x="4486" y="3688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69" name="Rectangle 24"/>
            <p:cNvSpPr>
              <a:spLocks noChangeArrowheads="1"/>
            </p:cNvSpPr>
            <p:nvPr/>
          </p:nvSpPr>
          <p:spPr bwMode="auto">
            <a:xfrm>
              <a:off x="4065" y="3688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70" name="Rectangle 25"/>
            <p:cNvSpPr>
              <a:spLocks noChangeArrowheads="1"/>
            </p:cNvSpPr>
            <p:nvPr/>
          </p:nvSpPr>
          <p:spPr bwMode="auto">
            <a:xfrm>
              <a:off x="3644" y="3688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71" name="Rectangle 26"/>
            <p:cNvSpPr>
              <a:spLocks noChangeArrowheads="1"/>
            </p:cNvSpPr>
            <p:nvPr/>
          </p:nvSpPr>
          <p:spPr bwMode="auto">
            <a:xfrm>
              <a:off x="3222" y="3688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72" name="Rectangle 27"/>
            <p:cNvSpPr>
              <a:spLocks noChangeArrowheads="1"/>
            </p:cNvSpPr>
            <p:nvPr/>
          </p:nvSpPr>
          <p:spPr bwMode="auto">
            <a:xfrm>
              <a:off x="2801" y="3688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73" name="Rectangle 28"/>
            <p:cNvSpPr>
              <a:spLocks noChangeArrowheads="1"/>
            </p:cNvSpPr>
            <p:nvPr/>
          </p:nvSpPr>
          <p:spPr bwMode="auto">
            <a:xfrm>
              <a:off x="2380" y="3688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74" name="Rectangle 29"/>
            <p:cNvSpPr>
              <a:spLocks noChangeArrowheads="1"/>
            </p:cNvSpPr>
            <p:nvPr/>
          </p:nvSpPr>
          <p:spPr bwMode="auto">
            <a:xfrm>
              <a:off x="1958" y="3688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75" name="Rectangle 30"/>
            <p:cNvSpPr>
              <a:spLocks noChangeArrowheads="1"/>
            </p:cNvSpPr>
            <p:nvPr/>
          </p:nvSpPr>
          <p:spPr bwMode="auto">
            <a:xfrm>
              <a:off x="1537" y="3688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76" name="Rectangle 31"/>
            <p:cNvSpPr>
              <a:spLocks noChangeArrowheads="1"/>
            </p:cNvSpPr>
            <p:nvPr/>
          </p:nvSpPr>
          <p:spPr bwMode="auto">
            <a:xfrm>
              <a:off x="4908" y="3477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77" name="Rectangle 32"/>
            <p:cNvSpPr>
              <a:spLocks noChangeArrowheads="1"/>
            </p:cNvSpPr>
            <p:nvPr/>
          </p:nvSpPr>
          <p:spPr bwMode="auto">
            <a:xfrm>
              <a:off x="4486" y="3477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78" name="Rectangle 33"/>
            <p:cNvSpPr>
              <a:spLocks noChangeArrowheads="1"/>
            </p:cNvSpPr>
            <p:nvPr/>
          </p:nvSpPr>
          <p:spPr bwMode="auto">
            <a:xfrm>
              <a:off x="4065" y="3477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79" name="Rectangle 34"/>
            <p:cNvSpPr>
              <a:spLocks noChangeArrowheads="1"/>
            </p:cNvSpPr>
            <p:nvPr/>
          </p:nvSpPr>
          <p:spPr bwMode="auto">
            <a:xfrm>
              <a:off x="3644" y="3477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80" name="Rectangle 35"/>
            <p:cNvSpPr>
              <a:spLocks noChangeArrowheads="1"/>
            </p:cNvSpPr>
            <p:nvPr/>
          </p:nvSpPr>
          <p:spPr bwMode="auto">
            <a:xfrm>
              <a:off x="3222" y="3477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81" name="Rectangle 36"/>
            <p:cNvSpPr>
              <a:spLocks noChangeArrowheads="1"/>
            </p:cNvSpPr>
            <p:nvPr/>
          </p:nvSpPr>
          <p:spPr bwMode="auto">
            <a:xfrm>
              <a:off x="2801" y="3477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82" name="Rectangle 37"/>
            <p:cNvSpPr>
              <a:spLocks noChangeArrowheads="1"/>
            </p:cNvSpPr>
            <p:nvPr/>
          </p:nvSpPr>
          <p:spPr bwMode="auto">
            <a:xfrm>
              <a:off x="2380" y="3477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83" name="Rectangle 38"/>
            <p:cNvSpPr>
              <a:spLocks noChangeArrowheads="1"/>
            </p:cNvSpPr>
            <p:nvPr/>
          </p:nvSpPr>
          <p:spPr bwMode="auto">
            <a:xfrm>
              <a:off x="1958" y="3477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84" name="Rectangle 39"/>
            <p:cNvSpPr>
              <a:spLocks noChangeArrowheads="1"/>
            </p:cNvSpPr>
            <p:nvPr/>
          </p:nvSpPr>
          <p:spPr bwMode="auto">
            <a:xfrm>
              <a:off x="1537" y="3477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85" name="Rectangle 40"/>
            <p:cNvSpPr>
              <a:spLocks noChangeArrowheads="1"/>
            </p:cNvSpPr>
            <p:nvPr/>
          </p:nvSpPr>
          <p:spPr bwMode="auto">
            <a:xfrm>
              <a:off x="4908" y="3266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86" name="Rectangle 41"/>
            <p:cNvSpPr>
              <a:spLocks noChangeArrowheads="1"/>
            </p:cNvSpPr>
            <p:nvPr/>
          </p:nvSpPr>
          <p:spPr bwMode="auto">
            <a:xfrm>
              <a:off x="4486" y="3266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87" name="Rectangle 42"/>
            <p:cNvSpPr>
              <a:spLocks noChangeArrowheads="1"/>
            </p:cNvSpPr>
            <p:nvPr/>
          </p:nvSpPr>
          <p:spPr bwMode="auto">
            <a:xfrm>
              <a:off x="4065" y="3266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88" name="Rectangle 43"/>
            <p:cNvSpPr>
              <a:spLocks noChangeArrowheads="1"/>
            </p:cNvSpPr>
            <p:nvPr/>
          </p:nvSpPr>
          <p:spPr bwMode="auto">
            <a:xfrm>
              <a:off x="3644" y="3266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89" name="Rectangle 44"/>
            <p:cNvSpPr>
              <a:spLocks noChangeArrowheads="1"/>
            </p:cNvSpPr>
            <p:nvPr/>
          </p:nvSpPr>
          <p:spPr bwMode="auto">
            <a:xfrm>
              <a:off x="3222" y="3266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90" name="Rectangle 45"/>
            <p:cNvSpPr>
              <a:spLocks noChangeArrowheads="1"/>
            </p:cNvSpPr>
            <p:nvPr/>
          </p:nvSpPr>
          <p:spPr bwMode="auto">
            <a:xfrm>
              <a:off x="2801" y="3266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91" name="Rectangle 46"/>
            <p:cNvSpPr>
              <a:spLocks noChangeArrowheads="1"/>
            </p:cNvSpPr>
            <p:nvPr/>
          </p:nvSpPr>
          <p:spPr bwMode="auto">
            <a:xfrm>
              <a:off x="2380" y="3266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92" name="Rectangle 47"/>
            <p:cNvSpPr>
              <a:spLocks noChangeArrowheads="1"/>
            </p:cNvSpPr>
            <p:nvPr/>
          </p:nvSpPr>
          <p:spPr bwMode="auto">
            <a:xfrm>
              <a:off x="1958" y="3266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93" name="Rectangle 48"/>
            <p:cNvSpPr>
              <a:spLocks noChangeArrowheads="1"/>
            </p:cNvSpPr>
            <p:nvPr/>
          </p:nvSpPr>
          <p:spPr bwMode="auto">
            <a:xfrm>
              <a:off x="1537" y="3266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94" name="Rectangle 49"/>
            <p:cNvSpPr>
              <a:spLocks noChangeArrowheads="1"/>
            </p:cNvSpPr>
            <p:nvPr/>
          </p:nvSpPr>
          <p:spPr bwMode="auto">
            <a:xfrm>
              <a:off x="4908" y="3055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95" name="Rectangle 50"/>
            <p:cNvSpPr>
              <a:spLocks noChangeArrowheads="1"/>
            </p:cNvSpPr>
            <p:nvPr/>
          </p:nvSpPr>
          <p:spPr bwMode="auto">
            <a:xfrm>
              <a:off x="4486" y="3055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96" name="Rectangle 51"/>
            <p:cNvSpPr>
              <a:spLocks noChangeArrowheads="1"/>
            </p:cNvSpPr>
            <p:nvPr/>
          </p:nvSpPr>
          <p:spPr bwMode="auto">
            <a:xfrm>
              <a:off x="4065" y="3055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97" name="Rectangle 52"/>
            <p:cNvSpPr>
              <a:spLocks noChangeArrowheads="1"/>
            </p:cNvSpPr>
            <p:nvPr/>
          </p:nvSpPr>
          <p:spPr bwMode="auto">
            <a:xfrm>
              <a:off x="3644" y="3055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398" name="Rectangle 53"/>
            <p:cNvSpPr>
              <a:spLocks noChangeArrowheads="1"/>
            </p:cNvSpPr>
            <p:nvPr/>
          </p:nvSpPr>
          <p:spPr bwMode="auto">
            <a:xfrm>
              <a:off x="3222" y="3055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399" name="Rectangle 54"/>
            <p:cNvSpPr>
              <a:spLocks noChangeArrowheads="1"/>
            </p:cNvSpPr>
            <p:nvPr/>
          </p:nvSpPr>
          <p:spPr bwMode="auto">
            <a:xfrm>
              <a:off x="2801" y="3055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00" name="Rectangle 55"/>
            <p:cNvSpPr>
              <a:spLocks noChangeArrowheads="1"/>
            </p:cNvSpPr>
            <p:nvPr/>
          </p:nvSpPr>
          <p:spPr bwMode="auto">
            <a:xfrm>
              <a:off x="2380" y="3055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01" name="Rectangle 56"/>
            <p:cNvSpPr>
              <a:spLocks noChangeArrowheads="1"/>
            </p:cNvSpPr>
            <p:nvPr/>
          </p:nvSpPr>
          <p:spPr bwMode="auto">
            <a:xfrm>
              <a:off x="1958" y="3055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02" name="Rectangle 57"/>
            <p:cNvSpPr>
              <a:spLocks noChangeArrowheads="1"/>
            </p:cNvSpPr>
            <p:nvPr/>
          </p:nvSpPr>
          <p:spPr bwMode="auto">
            <a:xfrm>
              <a:off x="1537" y="3055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03" name="Rectangle 58"/>
            <p:cNvSpPr>
              <a:spLocks noChangeArrowheads="1"/>
            </p:cNvSpPr>
            <p:nvPr/>
          </p:nvSpPr>
          <p:spPr bwMode="auto">
            <a:xfrm>
              <a:off x="4908" y="2844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04" name="Rectangle 59"/>
            <p:cNvSpPr>
              <a:spLocks noChangeArrowheads="1"/>
            </p:cNvSpPr>
            <p:nvPr/>
          </p:nvSpPr>
          <p:spPr bwMode="auto">
            <a:xfrm>
              <a:off x="4486" y="2844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05" name="Rectangle 60"/>
            <p:cNvSpPr>
              <a:spLocks noChangeArrowheads="1"/>
            </p:cNvSpPr>
            <p:nvPr/>
          </p:nvSpPr>
          <p:spPr bwMode="auto">
            <a:xfrm>
              <a:off x="4065" y="2844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06" name="Rectangle 61"/>
            <p:cNvSpPr>
              <a:spLocks noChangeArrowheads="1"/>
            </p:cNvSpPr>
            <p:nvPr/>
          </p:nvSpPr>
          <p:spPr bwMode="auto">
            <a:xfrm>
              <a:off x="3644" y="2844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07" name="Rectangle 62"/>
            <p:cNvSpPr>
              <a:spLocks noChangeArrowheads="1"/>
            </p:cNvSpPr>
            <p:nvPr/>
          </p:nvSpPr>
          <p:spPr bwMode="auto">
            <a:xfrm>
              <a:off x="3222" y="2844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08" name="Rectangle 63"/>
            <p:cNvSpPr>
              <a:spLocks noChangeArrowheads="1"/>
            </p:cNvSpPr>
            <p:nvPr/>
          </p:nvSpPr>
          <p:spPr bwMode="auto">
            <a:xfrm>
              <a:off x="2801" y="2844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09" name="Rectangle 64"/>
            <p:cNvSpPr>
              <a:spLocks noChangeArrowheads="1"/>
            </p:cNvSpPr>
            <p:nvPr/>
          </p:nvSpPr>
          <p:spPr bwMode="auto">
            <a:xfrm>
              <a:off x="2380" y="2844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10" name="Rectangle 65"/>
            <p:cNvSpPr>
              <a:spLocks noChangeArrowheads="1"/>
            </p:cNvSpPr>
            <p:nvPr/>
          </p:nvSpPr>
          <p:spPr bwMode="auto">
            <a:xfrm>
              <a:off x="1958" y="2844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11" name="Rectangle 66"/>
            <p:cNvSpPr>
              <a:spLocks noChangeArrowheads="1"/>
            </p:cNvSpPr>
            <p:nvPr/>
          </p:nvSpPr>
          <p:spPr bwMode="auto">
            <a:xfrm>
              <a:off x="1537" y="2844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12" name="Rectangle 67"/>
            <p:cNvSpPr>
              <a:spLocks noChangeArrowheads="1"/>
            </p:cNvSpPr>
            <p:nvPr/>
          </p:nvSpPr>
          <p:spPr bwMode="auto">
            <a:xfrm>
              <a:off x="4908" y="2633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13" name="Rectangle 68"/>
            <p:cNvSpPr>
              <a:spLocks noChangeArrowheads="1"/>
            </p:cNvSpPr>
            <p:nvPr/>
          </p:nvSpPr>
          <p:spPr bwMode="auto">
            <a:xfrm>
              <a:off x="4486" y="2633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14" name="Rectangle 69"/>
            <p:cNvSpPr>
              <a:spLocks noChangeArrowheads="1"/>
            </p:cNvSpPr>
            <p:nvPr/>
          </p:nvSpPr>
          <p:spPr bwMode="auto">
            <a:xfrm>
              <a:off x="4065" y="2633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15" name="Rectangle 70"/>
            <p:cNvSpPr>
              <a:spLocks noChangeArrowheads="1"/>
            </p:cNvSpPr>
            <p:nvPr/>
          </p:nvSpPr>
          <p:spPr bwMode="auto">
            <a:xfrm>
              <a:off x="3644" y="2633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16" name="Rectangle 71"/>
            <p:cNvSpPr>
              <a:spLocks noChangeArrowheads="1"/>
            </p:cNvSpPr>
            <p:nvPr/>
          </p:nvSpPr>
          <p:spPr bwMode="auto">
            <a:xfrm>
              <a:off x="3222" y="2633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17" name="Rectangle 72"/>
            <p:cNvSpPr>
              <a:spLocks noChangeArrowheads="1"/>
            </p:cNvSpPr>
            <p:nvPr/>
          </p:nvSpPr>
          <p:spPr bwMode="auto">
            <a:xfrm>
              <a:off x="2801" y="2633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18" name="Rectangle 73"/>
            <p:cNvSpPr>
              <a:spLocks noChangeArrowheads="1"/>
            </p:cNvSpPr>
            <p:nvPr/>
          </p:nvSpPr>
          <p:spPr bwMode="auto">
            <a:xfrm>
              <a:off x="2380" y="2633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19" name="Rectangle 74"/>
            <p:cNvSpPr>
              <a:spLocks noChangeArrowheads="1"/>
            </p:cNvSpPr>
            <p:nvPr/>
          </p:nvSpPr>
          <p:spPr bwMode="auto">
            <a:xfrm>
              <a:off x="1958" y="2633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20" name="Rectangle 75"/>
            <p:cNvSpPr>
              <a:spLocks noChangeArrowheads="1"/>
            </p:cNvSpPr>
            <p:nvPr/>
          </p:nvSpPr>
          <p:spPr bwMode="auto">
            <a:xfrm>
              <a:off x="1537" y="2633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21" name="Rectangle 76"/>
            <p:cNvSpPr>
              <a:spLocks noChangeArrowheads="1"/>
            </p:cNvSpPr>
            <p:nvPr/>
          </p:nvSpPr>
          <p:spPr bwMode="auto">
            <a:xfrm>
              <a:off x="4908" y="2422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22" name="Rectangle 77"/>
            <p:cNvSpPr>
              <a:spLocks noChangeArrowheads="1"/>
            </p:cNvSpPr>
            <p:nvPr/>
          </p:nvSpPr>
          <p:spPr bwMode="auto">
            <a:xfrm>
              <a:off x="4486" y="2422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23" name="Rectangle 78"/>
            <p:cNvSpPr>
              <a:spLocks noChangeArrowheads="1"/>
            </p:cNvSpPr>
            <p:nvPr/>
          </p:nvSpPr>
          <p:spPr bwMode="auto">
            <a:xfrm>
              <a:off x="4065" y="2422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24" name="Rectangle 79"/>
            <p:cNvSpPr>
              <a:spLocks noChangeArrowheads="1"/>
            </p:cNvSpPr>
            <p:nvPr/>
          </p:nvSpPr>
          <p:spPr bwMode="auto">
            <a:xfrm>
              <a:off x="3644" y="2422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25" name="Rectangle 80"/>
            <p:cNvSpPr>
              <a:spLocks noChangeArrowheads="1"/>
            </p:cNvSpPr>
            <p:nvPr/>
          </p:nvSpPr>
          <p:spPr bwMode="auto">
            <a:xfrm>
              <a:off x="3222" y="2422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26" name="Rectangle 81"/>
            <p:cNvSpPr>
              <a:spLocks noChangeArrowheads="1"/>
            </p:cNvSpPr>
            <p:nvPr/>
          </p:nvSpPr>
          <p:spPr bwMode="auto">
            <a:xfrm>
              <a:off x="2801" y="2422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27" name="Rectangle 82"/>
            <p:cNvSpPr>
              <a:spLocks noChangeArrowheads="1"/>
            </p:cNvSpPr>
            <p:nvPr/>
          </p:nvSpPr>
          <p:spPr bwMode="auto">
            <a:xfrm>
              <a:off x="2380" y="2422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28" name="Rectangle 83"/>
            <p:cNvSpPr>
              <a:spLocks noChangeArrowheads="1"/>
            </p:cNvSpPr>
            <p:nvPr/>
          </p:nvSpPr>
          <p:spPr bwMode="auto">
            <a:xfrm>
              <a:off x="1958" y="2422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29" name="Rectangle 84"/>
            <p:cNvSpPr>
              <a:spLocks noChangeArrowheads="1"/>
            </p:cNvSpPr>
            <p:nvPr/>
          </p:nvSpPr>
          <p:spPr bwMode="auto">
            <a:xfrm>
              <a:off x="1537" y="2422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30" name="Rectangle 85"/>
            <p:cNvSpPr>
              <a:spLocks noChangeArrowheads="1"/>
            </p:cNvSpPr>
            <p:nvPr/>
          </p:nvSpPr>
          <p:spPr bwMode="auto">
            <a:xfrm>
              <a:off x="4908" y="2211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31" name="Rectangle 86"/>
            <p:cNvSpPr>
              <a:spLocks noChangeArrowheads="1"/>
            </p:cNvSpPr>
            <p:nvPr/>
          </p:nvSpPr>
          <p:spPr bwMode="auto">
            <a:xfrm>
              <a:off x="4486" y="2211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32" name="Rectangle 87"/>
            <p:cNvSpPr>
              <a:spLocks noChangeArrowheads="1"/>
            </p:cNvSpPr>
            <p:nvPr/>
          </p:nvSpPr>
          <p:spPr bwMode="auto">
            <a:xfrm>
              <a:off x="4065" y="2211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33" name="Rectangle 88"/>
            <p:cNvSpPr>
              <a:spLocks noChangeArrowheads="1"/>
            </p:cNvSpPr>
            <p:nvPr/>
          </p:nvSpPr>
          <p:spPr bwMode="auto">
            <a:xfrm>
              <a:off x="3644" y="2211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34" name="Rectangle 89"/>
            <p:cNvSpPr>
              <a:spLocks noChangeArrowheads="1"/>
            </p:cNvSpPr>
            <p:nvPr/>
          </p:nvSpPr>
          <p:spPr bwMode="auto">
            <a:xfrm>
              <a:off x="3222" y="2211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35" name="Rectangle 90"/>
            <p:cNvSpPr>
              <a:spLocks noChangeArrowheads="1"/>
            </p:cNvSpPr>
            <p:nvPr/>
          </p:nvSpPr>
          <p:spPr bwMode="auto">
            <a:xfrm>
              <a:off x="2801" y="2211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36" name="Rectangle 91"/>
            <p:cNvSpPr>
              <a:spLocks noChangeArrowheads="1"/>
            </p:cNvSpPr>
            <p:nvPr/>
          </p:nvSpPr>
          <p:spPr bwMode="auto">
            <a:xfrm>
              <a:off x="2380" y="2211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37" name="Rectangle 92"/>
            <p:cNvSpPr>
              <a:spLocks noChangeArrowheads="1"/>
            </p:cNvSpPr>
            <p:nvPr/>
          </p:nvSpPr>
          <p:spPr bwMode="auto">
            <a:xfrm>
              <a:off x="1958" y="2211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38" name="Rectangle 93"/>
            <p:cNvSpPr>
              <a:spLocks noChangeArrowheads="1"/>
            </p:cNvSpPr>
            <p:nvPr/>
          </p:nvSpPr>
          <p:spPr bwMode="auto">
            <a:xfrm>
              <a:off x="1537" y="2211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39" name="Rectangle 94"/>
            <p:cNvSpPr>
              <a:spLocks noChangeArrowheads="1"/>
            </p:cNvSpPr>
            <p:nvPr/>
          </p:nvSpPr>
          <p:spPr bwMode="auto">
            <a:xfrm>
              <a:off x="4908" y="2000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40" name="Rectangle 95"/>
            <p:cNvSpPr>
              <a:spLocks noChangeArrowheads="1"/>
            </p:cNvSpPr>
            <p:nvPr/>
          </p:nvSpPr>
          <p:spPr bwMode="auto">
            <a:xfrm>
              <a:off x="4486" y="2000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41" name="Rectangle 96"/>
            <p:cNvSpPr>
              <a:spLocks noChangeArrowheads="1"/>
            </p:cNvSpPr>
            <p:nvPr/>
          </p:nvSpPr>
          <p:spPr bwMode="auto">
            <a:xfrm>
              <a:off x="4065" y="2000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42" name="Rectangle 97"/>
            <p:cNvSpPr>
              <a:spLocks noChangeArrowheads="1"/>
            </p:cNvSpPr>
            <p:nvPr/>
          </p:nvSpPr>
          <p:spPr bwMode="auto">
            <a:xfrm>
              <a:off x="3644" y="2000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43" name="Rectangle 98"/>
            <p:cNvSpPr>
              <a:spLocks noChangeArrowheads="1"/>
            </p:cNvSpPr>
            <p:nvPr/>
          </p:nvSpPr>
          <p:spPr bwMode="auto">
            <a:xfrm>
              <a:off x="3222" y="2000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44" name="Rectangle 99"/>
            <p:cNvSpPr>
              <a:spLocks noChangeArrowheads="1"/>
            </p:cNvSpPr>
            <p:nvPr/>
          </p:nvSpPr>
          <p:spPr bwMode="auto">
            <a:xfrm>
              <a:off x="2801" y="2000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45" name="Rectangle 100"/>
            <p:cNvSpPr>
              <a:spLocks noChangeArrowheads="1"/>
            </p:cNvSpPr>
            <p:nvPr/>
          </p:nvSpPr>
          <p:spPr bwMode="auto">
            <a:xfrm>
              <a:off x="2380" y="2000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46" name="Rectangle 101"/>
            <p:cNvSpPr>
              <a:spLocks noChangeArrowheads="1"/>
            </p:cNvSpPr>
            <p:nvPr/>
          </p:nvSpPr>
          <p:spPr bwMode="auto">
            <a:xfrm>
              <a:off x="1958" y="2000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47" name="Rectangle 102"/>
            <p:cNvSpPr>
              <a:spLocks noChangeArrowheads="1"/>
            </p:cNvSpPr>
            <p:nvPr/>
          </p:nvSpPr>
          <p:spPr bwMode="auto">
            <a:xfrm>
              <a:off x="1537" y="2000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48" name="Rectangle 103"/>
            <p:cNvSpPr>
              <a:spLocks noChangeArrowheads="1"/>
            </p:cNvSpPr>
            <p:nvPr/>
          </p:nvSpPr>
          <p:spPr bwMode="auto">
            <a:xfrm>
              <a:off x="4908" y="1789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49" name="Rectangle 104"/>
            <p:cNvSpPr>
              <a:spLocks noChangeArrowheads="1"/>
            </p:cNvSpPr>
            <p:nvPr/>
          </p:nvSpPr>
          <p:spPr bwMode="auto">
            <a:xfrm>
              <a:off x="4486" y="1789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50" name="Rectangle 105"/>
            <p:cNvSpPr>
              <a:spLocks noChangeArrowheads="1"/>
            </p:cNvSpPr>
            <p:nvPr/>
          </p:nvSpPr>
          <p:spPr bwMode="auto">
            <a:xfrm>
              <a:off x="4065" y="1789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51" name="Rectangle 106"/>
            <p:cNvSpPr>
              <a:spLocks noChangeArrowheads="1"/>
            </p:cNvSpPr>
            <p:nvPr/>
          </p:nvSpPr>
          <p:spPr bwMode="auto">
            <a:xfrm>
              <a:off x="3644" y="1789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52" name="Rectangle 107"/>
            <p:cNvSpPr>
              <a:spLocks noChangeArrowheads="1"/>
            </p:cNvSpPr>
            <p:nvPr/>
          </p:nvSpPr>
          <p:spPr bwMode="auto">
            <a:xfrm>
              <a:off x="3222" y="1789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53" name="Rectangle 108"/>
            <p:cNvSpPr>
              <a:spLocks noChangeArrowheads="1"/>
            </p:cNvSpPr>
            <p:nvPr/>
          </p:nvSpPr>
          <p:spPr bwMode="auto">
            <a:xfrm>
              <a:off x="2801" y="1789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54" name="Rectangle 109"/>
            <p:cNvSpPr>
              <a:spLocks noChangeArrowheads="1"/>
            </p:cNvSpPr>
            <p:nvPr/>
          </p:nvSpPr>
          <p:spPr bwMode="auto">
            <a:xfrm>
              <a:off x="2380" y="1789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55" name="Rectangle 110"/>
            <p:cNvSpPr>
              <a:spLocks noChangeArrowheads="1"/>
            </p:cNvSpPr>
            <p:nvPr/>
          </p:nvSpPr>
          <p:spPr bwMode="auto">
            <a:xfrm>
              <a:off x="1958" y="1789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56" name="Rectangle 111"/>
            <p:cNvSpPr>
              <a:spLocks noChangeArrowheads="1"/>
            </p:cNvSpPr>
            <p:nvPr/>
          </p:nvSpPr>
          <p:spPr bwMode="auto">
            <a:xfrm>
              <a:off x="1537" y="1789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57" name="Rectangle 112"/>
            <p:cNvSpPr>
              <a:spLocks noChangeArrowheads="1"/>
            </p:cNvSpPr>
            <p:nvPr/>
          </p:nvSpPr>
          <p:spPr bwMode="auto">
            <a:xfrm>
              <a:off x="4908" y="1513"/>
              <a:ext cx="419" cy="27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58" name="Rectangle 113"/>
            <p:cNvSpPr>
              <a:spLocks noChangeArrowheads="1"/>
            </p:cNvSpPr>
            <p:nvPr/>
          </p:nvSpPr>
          <p:spPr bwMode="auto">
            <a:xfrm>
              <a:off x="4486" y="1513"/>
              <a:ext cx="420" cy="27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59" name="Rectangle 114"/>
            <p:cNvSpPr>
              <a:spLocks noChangeArrowheads="1"/>
            </p:cNvSpPr>
            <p:nvPr/>
          </p:nvSpPr>
          <p:spPr bwMode="auto">
            <a:xfrm>
              <a:off x="4065" y="1513"/>
              <a:ext cx="419" cy="27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60" name="Rectangle 115"/>
            <p:cNvSpPr>
              <a:spLocks noChangeArrowheads="1"/>
            </p:cNvSpPr>
            <p:nvPr/>
          </p:nvSpPr>
          <p:spPr bwMode="auto">
            <a:xfrm>
              <a:off x="3644" y="1513"/>
              <a:ext cx="419" cy="27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61" name="Rectangle 116"/>
            <p:cNvSpPr>
              <a:spLocks noChangeArrowheads="1"/>
            </p:cNvSpPr>
            <p:nvPr/>
          </p:nvSpPr>
          <p:spPr bwMode="auto">
            <a:xfrm>
              <a:off x="3222" y="1513"/>
              <a:ext cx="420" cy="27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62" name="Rectangle 117"/>
            <p:cNvSpPr>
              <a:spLocks noChangeArrowheads="1"/>
            </p:cNvSpPr>
            <p:nvPr/>
          </p:nvSpPr>
          <p:spPr bwMode="auto">
            <a:xfrm>
              <a:off x="2801" y="1513"/>
              <a:ext cx="419" cy="27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63" name="Rectangle 118"/>
            <p:cNvSpPr>
              <a:spLocks noChangeArrowheads="1"/>
            </p:cNvSpPr>
            <p:nvPr/>
          </p:nvSpPr>
          <p:spPr bwMode="auto">
            <a:xfrm>
              <a:off x="2380" y="1513"/>
              <a:ext cx="419" cy="27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64" name="Rectangle 119"/>
            <p:cNvSpPr>
              <a:spLocks noChangeArrowheads="1"/>
            </p:cNvSpPr>
            <p:nvPr/>
          </p:nvSpPr>
          <p:spPr bwMode="auto">
            <a:xfrm>
              <a:off x="1958" y="1513"/>
              <a:ext cx="420" cy="27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65" name="Rectangle 120"/>
            <p:cNvSpPr>
              <a:spLocks noChangeArrowheads="1"/>
            </p:cNvSpPr>
            <p:nvPr/>
          </p:nvSpPr>
          <p:spPr bwMode="auto">
            <a:xfrm>
              <a:off x="1537" y="1513"/>
              <a:ext cx="419" cy="27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66" name="Rectangle 121"/>
            <p:cNvSpPr>
              <a:spLocks noChangeArrowheads="1"/>
            </p:cNvSpPr>
            <p:nvPr/>
          </p:nvSpPr>
          <p:spPr bwMode="auto">
            <a:xfrm>
              <a:off x="4908" y="1302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67" name="Rectangle 122"/>
            <p:cNvSpPr>
              <a:spLocks noChangeArrowheads="1"/>
            </p:cNvSpPr>
            <p:nvPr/>
          </p:nvSpPr>
          <p:spPr bwMode="auto">
            <a:xfrm>
              <a:off x="4486" y="1302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68" name="Rectangle 123"/>
            <p:cNvSpPr>
              <a:spLocks noChangeArrowheads="1"/>
            </p:cNvSpPr>
            <p:nvPr/>
          </p:nvSpPr>
          <p:spPr bwMode="auto">
            <a:xfrm>
              <a:off x="4065" y="1302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69" name="Rectangle 124"/>
            <p:cNvSpPr>
              <a:spLocks noChangeArrowheads="1"/>
            </p:cNvSpPr>
            <p:nvPr/>
          </p:nvSpPr>
          <p:spPr bwMode="auto">
            <a:xfrm>
              <a:off x="3644" y="1302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70" name="Rectangle 125"/>
            <p:cNvSpPr>
              <a:spLocks noChangeArrowheads="1"/>
            </p:cNvSpPr>
            <p:nvPr/>
          </p:nvSpPr>
          <p:spPr bwMode="auto">
            <a:xfrm>
              <a:off x="3222" y="1302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71" name="Rectangle 126"/>
            <p:cNvSpPr>
              <a:spLocks noChangeArrowheads="1"/>
            </p:cNvSpPr>
            <p:nvPr/>
          </p:nvSpPr>
          <p:spPr bwMode="auto">
            <a:xfrm>
              <a:off x="2801" y="1302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72" name="Rectangle 127"/>
            <p:cNvSpPr>
              <a:spLocks noChangeArrowheads="1"/>
            </p:cNvSpPr>
            <p:nvPr/>
          </p:nvSpPr>
          <p:spPr bwMode="auto">
            <a:xfrm>
              <a:off x="2380" y="1302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73" name="Rectangle 128"/>
            <p:cNvSpPr>
              <a:spLocks noChangeArrowheads="1"/>
            </p:cNvSpPr>
            <p:nvPr/>
          </p:nvSpPr>
          <p:spPr bwMode="auto">
            <a:xfrm>
              <a:off x="1958" y="1302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74" name="Rectangle 129"/>
            <p:cNvSpPr>
              <a:spLocks noChangeArrowheads="1"/>
            </p:cNvSpPr>
            <p:nvPr/>
          </p:nvSpPr>
          <p:spPr bwMode="auto">
            <a:xfrm>
              <a:off x="1537" y="1302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75" name="Rectangle 130"/>
            <p:cNvSpPr>
              <a:spLocks noChangeArrowheads="1"/>
            </p:cNvSpPr>
            <p:nvPr/>
          </p:nvSpPr>
          <p:spPr bwMode="auto">
            <a:xfrm>
              <a:off x="4908" y="1091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76" name="Rectangle 131"/>
            <p:cNvSpPr>
              <a:spLocks noChangeArrowheads="1"/>
            </p:cNvSpPr>
            <p:nvPr/>
          </p:nvSpPr>
          <p:spPr bwMode="auto">
            <a:xfrm>
              <a:off x="4486" y="1091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77" name="Rectangle 132"/>
            <p:cNvSpPr>
              <a:spLocks noChangeArrowheads="1"/>
            </p:cNvSpPr>
            <p:nvPr/>
          </p:nvSpPr>
          <p:spPr bwMode="auto">
            <a:xfrm>
              <a:off x="4065" y="1091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78" name="Rectangle 133"/>
            <p:cNvSpPr>
              <a:spLocks noChangeArrowheads="1"/>
            </p:cNvSpPr>
            <p:nvPr/>
          </p:nvSpPr>
          <p:spPr bwMode="auto">
            <a:xfrm>
              <a:off x="3644" y="1091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79" name="Rectangle 134"/>
            <p:cNvSpPr>
              <a:spLocks noChangeArrowheads="1"/>
            </p:cNvSpPr>
            <p:nvPr/>
          </p:nvSpPr>
          <p:spPr bwMode="auto">
            <a:xfrm>
              <a:off x="3222" y="1091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80" name="Rectangle 135"/>
            <p:cNvSpPr>
              <a:spLocks noChangeArrowheads="1"/>
            </p:cNvSpPr>
            <p:nvPr/>
          </p:nvSpPr>
          <p:spPr bwMode="auto">
            <a:xfrm>
              <a:off x="2801" y="1091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81" name="Rectangle 136"/>
            <p:cNvSpPr>
              <a:spLocks noChangeArrowheads="1"/>
            </p:cNvSpPr>
            <p:nvPr/>
          </p:nvSpPr>
          <p:spPr bwMode="auto">
            <a:xfrm>
              <a:off x="2380" y="1091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82" name="Rectangle 137"/>
            <p:cNvSpPr>
              <a:spLocks noChangeArrowheads="1"/>
            </p:cNvSpPr>
            <p:nvPr/>
          </p:nvSpPr>
          <p:spPr bwMode="auto">
            <a:xfrm>
              <a:off x="1958" y="1091"/>
              <a:ext cx="420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</a:p>
          </p:txBody>
        </p:sp>
        <p:sp>
          <p:nvSpPr>
            <p:cNvPr id="57483" name="Rectangle 138"/>
            <p:cNvSpPr>
              <a:spLocks noChangeArrowheads="1"/>
            </p:cNvSpPr>
            <p:nvPr/>
          </p:nvSpPr>
          <p:spPr bwMode="auto">
            <a:xfrm>
              <a:off x="1537" y="1091"/>
              <a:ext cx="419" cy="20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1</a:t>
              </a:r>
            </a:p>
          </p:txBody>
        </p:sp>
        <p:sp>
          <p:nvSpPr>
            <p:cNvPr id="57484" name="Rectangle 139"/>
            <p:cNvSpPr>
              <a:spLocks noChangeArrowheads="1"/>
            </p:cNvSpPr>
            <p:nvPr/>
          </p:nvSpPr>
          <p:spPr bwMode="auto">
            <a:xfrm>
              <a:off x="4908" y="877"/>
              <a:ext cx="419" cy="21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A9</a:t>
              </a:r>
            </a:p>
          </p:txBody>
        </p:sp>
        <p:sp>
          <p:nvSpPr>
            <p:cNvPr id="57485" name="Rectangle 140"/>
            <p:cNvSpPr>
              <a:spLocks noChangeArrowheads="1"/>
            </p:cNvSpPr>
            <p:nvPr/>
          </p:nvSpPr>
          <p:spPr bwMode="auto">
            <a:xfrm>
              <a:off x="4486" y="877"/>
              <a:ext cx="420" cy="21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A8</a:t>
              </a:r>
            </a:p>
          </p:txBody>
        </p:sp>
        <p:sp>
          <p:nvSpPr>
            <p:cNvPr id="57486" name="Rectangle 141"/>
            <p:cNvSpPr>
              <a:spLocks noChangeArrowheads="1"/>
            </p:cNvSpPr>
            <p:nvPr/>
          </p:nvSpPr>
          <p:spPr bwMode="auto">
            <a:xfrm>
              <a:off x="4065" y="877"/>
              <a:ext cx="419" cy="21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A7</a:t>
              </a:r>
            </a:p>
          </p:txBody>
        </p:sp>
        <p:sp>
          <p:nvSpPr>
            <p:cNvPr id="57487" name="Rectangle 142"/>
            <p:cNvSpPr>
              <a:spLocks noChangeArrowheads="1"/>
            </p:cNvSpPr>
            <p:nvPr/>
          </p:nvSpPr>
          <p:spPr bwMode="auto">
            <a:xfrm>
              <a:off x="3644" y="877"/>
              <a:ext cx="419" cy="21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A6</a:t>
              </a:r>
            </a:p>
          </p:txBody>
        </p:sp>
        <p:sp>
          <p:nvSpPr>
            <p:cNvPr id="57488" name="Rectangle 143"/>
            <p:cNvSpPr>
              <a:spLocks noChangeArrowheads="1"/>
            </p:cNvSpPr>
            <p:nvPr/>
          </p:nvSpPr>
          <p:spPr bwMode="auto">
            <a:xfrm>
              <a:off x="3222" y="877"/>
              <a:ext cx="420" cy="21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A5</a:t>
              </a:r>
            </a:p>
          </p:txBody>
        </p:sp>
        <p:sp>
          <p:nvSpPr>
            <p:cNvPr id="57489" name="Rectangle 144"/>
            <p:cNvSpPr>
              <a:spLocks noChangeArrowheads="1"/>
            </p:cNvSpPr>
            <p:nvPr/>
          </p:nvSpPr>
          <p:spPr bwMode="auto">
            <a:xfrm>
              <a:off x="2801" y="877"/>
              <a:ext cx="419" cy="21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A4</a:t>
              </a:r>
            </a:p>
          </p:txBody>
        </p:sp>
        <p:sp>
          <p:nvSpPr>
            <p:cNvPr id="57490" name="Rectangle 145"/>
            <p:cNvSpPr>
              <a:spLocks noChangeArrowheads="1"/>
            </p:cNvSpPr>
            <p:nvPr/>
          </p:nvSpPr>
          <p:spPr bwMode="auto">
            <a:xfrm>
              <a:off x="2380" y="877"/>
              <a:ext cx="419" cy="21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A3</a:t>
              </a:r>
            </a:p>
          </p:txBody>
        </p:sp>
        <p:sp>
          <p:nvSpPr>
            <p:cNvPr id="57491" name="Rectangle 146"/>
            <p:cNvSpPr>
              <a:spLocks noChangeArrowheads="1"/>
            </p:cNvSpPr>
            <p:nvPr/>
          </p:nvSpPr>
          <p:spPr bwMode="auto">
            <a:xfrm>
              <a:off x="1958" y="877"/>
              <a:ext cx="420" cy="21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A2</a:t>
              </a:r>
            </a:p>
          </p:txBody>
        </p:sp>
        <p:sp>
          <p:nvSpPr>
            <p:cNvPr id="57492" name="Rectangle 147"/>
            <p:cNvSpPr>
              <a:spLocks noChangeArrowheads="1"/>
            </p:cNvSpPr>
            <p:nvPr/>
          </p:nvSpPr>
          <p:spPr bwMode="auto">
            <a:xfrm>
              <a:off x="1537" y="877"/>
              <a:ext cx="419" cy="21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/>
                <a:t>A1</a:t>
              </a:r>
            </a:p>
          </p:txBody>
        </p:sp>
        <p:sp>
          <p:nvSpPr>
            <p:cNvPr id="57493" name="Line 148"/>
            <p:cNvSpPr>
              <a:spLocks noChangeShapeType="1"/>
            </p:cNvSpPr>
            <p:nvPr/>
          </p:nvSpPr>
          <p:spPr bwMode="auto">
            <a:xfrm>
              <a:off x="1536" y="876"/>
              <a:ext cx="379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94" name="Line 149"/>
            <p:cNvSpPr>
              <a:spLocks noChangeShapeType="1"/>
            </p:cNvSpPr>
            <p:nvPr/>
          </p:nvSpPr>
          <p:spPr bwMode="auto">
            <a:xfrm>
              <a:off x="1536" y="1090"/>
              <a:ext cx="37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95" name="Line 150"/>
            <p:cNvSpPr>
              <a:spLocks noChangeShapeType="1"/>
            </p:cNvSpPr>
            <p:nvPr/>
          </p:nvSpPr>
          <p:spPr bwMode="auto">
            <a:xfrm>
              <a:off x="1536" y="1301"/>
              <a:ext cx="37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96" name="Line 151"/>
            <p:cNvSpPr>
              <a:spLocks noChangeShapeType="1"/>
            </p:cNvSpPr>
            <p:nvPr/>
          </p:nvSpPr>
          <p:spPr bwMode="auto">
            <a:xfrm>
              <a:off x="1536" y="1512"/>
              <a:ext cx="37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97" name="Line 152"/>
            <p:cNvSpPr>
              <a:spLocks noChangeShapeType="1"/>
            </p:cNvSpPr>
            <p:nvPr/>
          </p:nvSpPr>
          <p:spPr bwMode="auto">
            <a:xfrm>
              <a:off x="1536" y="1788"/>
              <a:ext cx="37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98" name="Line 153"/>
            <p:cNvSpPr>
              <a:spLocks noChangeShapeType="1"/>
            </p:cNvSpPr>
            <p:nvPr/>
          </p:nvSpPr>
          <p:spPr bwMode="auto">
            <a:xfrm>
              <a:off x="1536" y="1999"/>
              <a:ext cx="37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99" name="Line 154"/>
            <p:cNvSpPr>
              <a:spLocks noChangeShapeType="1"/>
            </p:cNvSpPr>
            <p:nvPr/>
          </p:nvSpPr>
          <p:spPr bwMode="auto">
            <a:xfrm>
              <a:off x="1536" y="2210"/>
              <a:ext cx="37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00" name="Line 155"/>
            <p:cNvSpPr>
              <a:spLocks noChangeShapeType="1"/>
            </p:cNvSpPr>
            <p:nvPr/>
          </p:nvSpPr>
          <p:spPr bwMode="auto">
            <a:xfrm>
              <a:off x="1536" y="2421"/>
              <a:ext cx="37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01" name="Line 156"/>
            <p:cNvSpPr>
              <a:spLocks noChangeShapeType="1"/>
            </p:cNvSpPr>
            <p:nvPr/>
          </p:nvSpPr>
          <p:spPr bwMode="auto">
            <a:xfrm>
              <a:off x="1536" y="2632"/>
              <a:ext cx="37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02" name="Line 157"/>
            <p:cNvSpPr>
              <a:spLocks noChangeShapeType="1"/>
            </p:cNvSpPr>
            <p:nvPr/>
          </p:nvSpPr>
          <p:spPr bwMode="auto">
            <a:xfrm>
              <a:off x="1536" y="2843"/>
              <a:ext cx="37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03" name="Line 158"/>
            <p:cNvSpPr>
              <a:spLocks noChangeShapeType="1"/>
            </p:cNvSpPr>
            <p:nvPr/>
          </p:nvSpPr>
          <p:spPr bwMode="auto">
            <a:xfrm>
              <a:off x="1536" y="3054"/>
              <a:ext cx="37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04" name="Line 159"/>
            <p:cNvSpPr>
              <a:spLocks noChangeShapeType="1"/>
            </p:cNvSpPr>
            <p:nvPr/>
          </p:nvSpPr>
          <p:spPr bwMode="auto">
            <a:xfrm>
              <a:off x="1536" y="3265"/>
              <a:ext cx="37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05" name="Line 160"/>
            <p:cNvSpPr>
              <a:spLocks noChangeShapeType="1"/>
            </p:cNvSpPr>
            <p:nvPr/>
          </p:nvSpPr>
          <p:spPr bwMode="auto">
            <a:xfrm>
              <a:off x="1536" y="3476"/>
              <a:ext cx="37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06" name="Line 161"/>
            <p:cNvSpPr>
              <a:spLocks noChangeShapeType="1"/>
            </p:cNvSpPr>
            <p:nvPr/>
          </p:nvSpPr>
          <p:spPr bwMode="auto">
            <a:xfrm>
              <a:off x="1536" y="3687"/>
              <a:ext cx="37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07" name="Line 162"/>
            <p:cNvSpPr>
              <a:spLocks noChangeShapeType="1"/>
            </p:cNvSpPr>
            <p:nvPr/>
          </p:nvSpPr>
          <p:spPr bwMode="auto">
            <a:xfrm>
              <a:off x="1536" y="3898"/>
              <a:ext cx="37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08" name="Line 163"/>
            <p:cNvSpPr>
              <a:spLocks noChangeShapeType="1"/>
            </p:cNvSpPr>
            <p:nvPr/>
          </p:nvSpPr>
          <p:spPr bwMode="auto">
            <a:xfrm>
              <a:off x="1536" y="4320"/>
              <a:ext cx="379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09" name="Line 164"/>
            <p:cNvSpPr>
              <a:spLocks noChangeShapeType="1"/>
            </p:cNvSpPr>
            <p:nvPr/>
          </p:nvSpPr>
          <p:spPr bwMode="auto">
            <a:xfrm>
              <a:off x="1536" y="876"/>
              <a:ext cx="0" cy="34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10" name="Line 165"/>
            <p:cNvSpPr>
              <a:spLocks noChangeShapeType="1"/>
            </p:cNvSpPr>
            <p:nvPr/>
          </p:nvSpPr>
          <p:spPr bwMode="auto">
            <a:xfrm>
              <a:off x="1957" y="876"/>
              <a:ext cx="0" cy="34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11" name="Line 166"/>
            <p:cNvSpPr>
              <a:spLocks noChangeShapeType="1"/>
            </p:cNvSpPr>
            <p:nvPr/>
          </p:nvSpPr>
          <p:spPr bwMode="auto">
            <a:xfrm>
              <a:off x="2379" y="876"/>
              <a:ext cx="0" cy="34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12" name="Line 167"/>
            <p:cNvSpPr>
              <a:spLocks noChangeShapeType="1"/>
            </p:cNvSpPr>
            <p:nvPr/>
          </p:nvSpPr>
          <p:spPr bwMode="auto">
            <a:xfrm>
              <a:off x="2800" y="876"/>
              <a:ext cx="0" cy="34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13" name="Line 168"/>
            <p:cNvSpPr>
              <a:spLocks noChangeShapeType="1"/>
            </p:cNvSpPr>
            <p:nvPr/>
          </p:nvSpPr>
          <p:spPr bwMode="auto">
            <a:xfrm>
              <a:off x="3221" y="876"/>
              <a:ext cx="0" cy="34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14" name="Line 169"/>
            <p:cNvSpPr>
              <a:spLocks noChangeShapeType="1"/>
            </p:cNvSpPr>
            <p:nvPr/>
          </p:nvSpPr>
          <p:spPr bwMode="auto">
            <a:xfrm>
              <a:off x="3643" y="876"/>
              <a:ext cx="0" cy="34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15" name="Line 170"/>
            <p:cNvSpPr>
              <a:spLocks noChangeShapeType="1"/>
            </p:cNvSpPr>
            <p:nvPr/>
          </p:nvSpPr>
          <p:spPr bwMode="auto">
            <a:xfrm>
              <a:off x="4064" y="876"/>
              <a:ext cx="0" cy="34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16" name="Line 171"/>
            <p:cNvSpPr>
              <a:spLocks noChangeShapeType="1"/>
            </p:cNvSpPr>
            <p:nvPr/>
          </p:nvSpPr>
          <p:spPr bwMode="auto">
            <a:xfrm>
              <a:off x="4485" y="876"/>
              <a:ext cx="0" cy="34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17" name="Line 172"/>
            <p:cNvSpPr>
              <a:spLocks noChangeShapeType="1"/>
            </p:cNvSpPr>
            <p:nvPr/>
          </p:nvSpPr>
          <p:spPr bwMode="auto">
            <a:xfrm>
              <a:off x="4907" y="876"/>
              <a:ext cx="0" cy="34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18" name="Line 173"/>
            <p:cNvSpPr>
              <a:spLocks noChangeShapeType="1"/>
            </p:cNvSpPr>
            <p:nvPr/>
          </p:nvSpPr>
          <p:spPr bwMode="auto">
            <a:xfrm>
              <a:off x="5328" y="876"/>
              <a:ext cx="0" cy="34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19" name="Line 174"/>
            <p:cNvSpPr>
              <a:spLocks noChangeShapeType="1"/>
            </p:cNvSpPr>
            <p:nvPr/>
          </p:nvSpPr>
          <p:spPr bwMode="auto">
            <a:xfrm>
              <a:off x="1536" y="4109"/>
              <a:ext cx="37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348" name="Rectangle 175"/>
          <p:cNvSpPr>
            <a:spLocks noChangeArrowheads="1"/>
          </p:cNvSpPr>
          <p:nvPr/>
        </p:nvSpPr>
        <p:spPr bwMode="auto">
          <a:xfrm>
            <a:off x="0" y="2743200"/>
            <a:ext cx="1303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Symbol" panose="05050102010706020507" pitchFamily="18" charset="2"/>
              </a:rPr>
              <a:t>s</a:t>
            </a:r>
            <a:r>
              <a:rPr lang="en-US" altLang="en-US" sz="2400" b="1">
                <a:latin typeface="Times New Roman" panose="02020603050405020304" pitchFamily="18" charset="0"/>
              </a:rPr>
              <a:t> = 20%</a:t>
            </a:r>
          </a:p>
        </p:txBody>
      </p:sp>
    </p:spTree>
    <p:extLst>
      <p:ext uri="{BB962C8B-B14F-4D97-AF65-F5344CB8AC3E}">
        <p14:creationId xmlns:p14="http://schemas.microsoft.com/office/powerpoint/2010/main" val="59895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228600" y="304800"/>
            <a:ext cx="8458200" cy="762000"/>
          </a:xfrm>
        </p:spPr>
        <p:txBody>
          <a:bodyPr lIns="92075" tIns="46038" rIns="92075" bIns="46038" anchor="b" anchorCtr="0"/>
          <a:lstStyle/>
          <a:p>
            <a:pPr eaLnBrk="1" hangingPunct="1">
              <a:defRPr/>
            </a:pPr>
            <a:r>
              <a:rPr lang="en-US" smtClean="0"/>
              <a:t>Partitioning: Example</a:t>
            </a: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914400" y="1447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Apriori: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1295400" y="5410200"/>
            <a:ext cx="434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The Frequent set L=L</a:t>
            </a:r>
            <a:r>
              <a:rPr lang="en-US" altLang="en-US" sz="2400" baseline="-25000">
                <a:solidFill>
                  <a:srgbClr val="000000"/>
                </a:solidFill>
              </a:rPr>
              <a:t>1</a:t>
            </a:r>
            <a:r>
              <a:rPr lang="en-US" altLang="en-US" sz="2400">
                <a:solidFill>
                  <a:srgbClr val="000000"/>
                </a:solidFill>
                <a:latin typeface="Symbol" panose="05050102010706020507" pitchFamily="18" charset="2"/>
              </a:rPr>
              <a:t>È</a:t>
            </a:r>
            <a:r>
              <a:rPr lang="en-US" altLang="en-US" sz="2400">
                <a:solidFill>
                  <a:srgbClr val="000000"/>
                </a:solidFill>
              </a:rPr>
              <a:t>L</a:t>
            </a:r>
            <a:r>
              <a:rPr lang="en-US" altLang="en-US" sz="2400" baseline="-25000">
                <a:solidFill>
                  <a:srgbClr val="000000"/>
                </a:solidFill>
              </a:rPr>
              <a:t>2 </a:t>
            </a:r>
            <a:r>
              <a:rPr lang="en-US" altLang="en-US" sz="2400">
                <a:solidFill>
                  <a:srgbClr val="000000"/>
                </a:solidFill>
                <a:latin typeface="Symbol" panose="05050102010706020507" pitchFamily="18" charset="2"/>
              </a:rPr>
              <a:t>È</a:t>
            </a:r>
            <a:r>
              <a:rPr lang="en-US" altLang="en-US" sz="2400">
                <a:latin typeface="Times New Roman" panose="02020603050405020304" pitchFamily="18" charset="0"/>
              </a:rPr>
              <a:t> </a:t>
            </a:r>
            <a:r>
              <a:rPr lang="en-US" altLang="en-US" sz="2400">
                <a:solidFill>
                  <a:srgbClr val="000000"/>
                </a:solidFill>
              </a:rPr>
              <a:t>L</a:t>
            </a:r>
            <a:r>
              <a:rPr lang="en-US" altLang="en-US" sz="2400" baseline="-250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914400" y="2209800"/>
            <a:ext cx="738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</a:rPr>
              <a:t>L</a:t>
            </a:r>
            <a:r>
              <a:rPr lang="en-US" altLang="en-US" sz="2400" b="1" baseline="-25000">
                <a:solidFill>
                  <a:srgbClr val="000000"/>
                </a:solidFill>
              </a:rPr>
              <a:t>1</a:t>
            </a:r>
            <a:r>
              <a:rPr lang="en-US" altLang="en-US" sz="2400" b="1">
                <a:solidFill>
                  <a:srgbClr val="000000"/>
                </a:solidFill>
              </a:rPr>
              <a:t>=</a:t>
            </a:r>
          </a:p>
        </p:txBody>
      </p:sp>
      <p:grpSp>
        <p:nvGrpSpPr>
          <p:cNvPr id="59398" name="Group 6"/>
          <p:cNvGrpSpPr>
            <a:grpSpLocks/>
          </p:cNvGrpSpPr>
          <p:nvPr/>
        </p:nvGrpSpPr>
        <p:grpSpPr bwMode="auto">
          <a:xfrm>
            <a:off x="1752600" y="2133600"/>
            <a:ext cx="5867400" cy="3082925"/>
            <a:chOff x="1104" y="1680"/>
            <a:chExt cx="3696" cy="1942"/>
          </a:xfrm>
        </p:grpSpPr>
        <p:sp>
          <p:nvSpPr>
            <p:cNvPr id="59401" name="Rectangle 7"/>
            <p:cNvSpPr>
              <a:spLocks noChangeArrowheads="1"/>
            </p:cNvSpPr>
            <p:nvPr/>
          </p:nvSpPr>
          <p:spPr bwMode="auto">
            <a:xfrm>
              <a:off x="1537" y="3345"/>
              <a:ext cx="286" cy="27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59402" name="Rectangle 8"/>
            <p:cNvSpPr>
              <a:spLocks noChangeArrowheads="1"/>
            </p:cNvSpPr>
            <p:nvPr/>
          </p:nvSpPr>
          <p:spPr bwMode="auto">
            <a:xfrm>
              <a:off x="1105" y="3345"/>
              <a:ext cx="430" cy="27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{8}</a:t>
              </a:r>
            </a:p>
          </p:txBody>
        </p:sp>
        <p:sp>
          <p:nvSpPr>
            <p:cNvPr id="59403" name="Rectangle 9"/>
            <p:cNvSpPr>
              <a:spLocks noChangeArrowheads="1"/>
            </p:cNvSpPr>
            <p:nvPr/>
          </p:nvSpPr>
          <p:spPr bwMode="auto">
            <a:xfrm>
              <a:off x="1537" y="3068"/>
              <a:ext cx="286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59404" name="Rectangle 10"/>
            <p:cNvSpPr>
              <a:spLocks noChangeArrowheads="1"/>
            </p:cNvSpPr>
            <p:nvPr/>
          </p:nvSpPr>
          <p:spPr bwMode="auto">
            <a:xfrm>
              <a:off x="1105" y="3068"/>
              <a:ext cx="430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{7}</a:t>
              </a:r>
            </a:p>
          </p:txBody>
        </p:sp>
        <p:sp>
          <p:nvSpPr>
            <p:cNvPr id="59405" name="Rectangle 11"/>
            <p:cNvSpPr>
              <a:spLocks noChangeArrowheads="1"/>
            </p:cNvSpPr>
            <p:nvPr/>
          </p:nvSpPr>
          <p:spPr bwMode="auto">
            <a:xfrm>
              <a:off x="1537" y="2791"/>
              <a:ext cx="286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59406" name="Rectangle 12"/>
            <p:cNvSpPr>
              <a:spLocks noChangeArrowheads="1"/>
            </p:cNvSpPr>
            <p:nvPr/>
          </p:nvSpPr>
          <p:spPr bwMode="auto">
            <a:xfrm>
              <a:off x="1105" y="2791"/>
              <a:ext cx="430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{6}</a:t>
              </a:r>
            </a:p>
          </p:txBody>
        </p:sp>
        <p:sp>
          <p:nvSpPr>
            <p:cNvPr id="59407" name="Rectangle 13"/>
            <p:cNvSpPr>
              <a:spLocks noChangeArrowheads="1"/>
            </p:cNvSpPr>
            <p:nvPr/>
          </p:nvSpPr>
          <p:spPr bwMode="auto">
            <a:xfrm>
              <a:off x="1537" y="2513"/>
              <a:ext cx="286" cy="27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59408" name="Rectangle 14"/>
            <p:cNvSpPr>
              <a:spLocks noChangeArrowheads="1"/>
            </p:cNvSpPr>
            <p:nvPr/>
          </p:nvSpPr>
          <p:spPr bwMode="auto">
            <a:xfrm>
              <a:off x="1105" y="2513"/>
              <a:ext cx="430" cy="27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{5}</a:t>
              </a:r>
            </a:p>
          </p:txBody>
        </p:sp>
        <p:sp>
          <p:nvSpPr>
            <p:cNvPr id="59409" name="Rectangle 15"/>
            <p:cNvSpPr>
              <a:spLocks noChangeArrowheads="1"/>
            </p:cNvSpPr>
            <p:nvPr/>
          </p:nvSpPr>
          <p:spPr bwMode="auto">
            <a:xfrm>
              <a:off x="1537" y="2236"/>
              <a:ext cx="286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59410" name="Rectangle 16"/>
            <p:cNvSpPr>
              <a:spLocks noChangeArrowheads="1"/>
            </p:cNvSpPr>
            <p:nvPr/>
          </p:nvSpPr>
          <p:spPr bwMode="auto">
            <a:xfrm>
              <a:off x="1105" y="2236"/>
              <a:ext cx="430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{4}</a:t>
              </a:r>
            </a:p>
          </p:txBody>
        </p:sp>
        <p:sp>
          <p:nvSpPr>
            <p:cNvPr id="59411" name="Rectangle 17"/>
            <p:cNvSpPr>
              <a:spLocks noChangeArrowheads="1"/>
            </p:cNvSpPr>
            <p:nvPr/>
          </p:nvSpPr>
          <p:spPr bwMode="auto">
            <a:xfrm>
              <a:off x="1537" y="1959"/>
              <a:ext cx="286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9412" name="Rectangle 18"/>
            <p:cNvSpPr>
              <a:spLocks noChangeArrowheads="1"/>
            </p:cNvSpPr>
            <p:nvPr/>
          </p:nvSpPr>
          <p:spPr bwMode="auto">
            <a:xfrm>
              <a:off x="1105" y="1959"/>
              <a:ext cx="430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{3}</a:t>
              </a:r>
            </a:p>
          </p:txBody>
        </p:sp>
        <p:sp>
          <p:nvSpPr>
            <p:cNvPr id="59413" name="Rectangle 19"/>
            <p:cNvSpPr>
              <a:spLocks noChangeArrowheads="1"/>
            </p:cNvSpPr>
            <p:nvPr/>
          </p:nvSpPr>
          <p:spPr bwMode="auto">
            <a:xfrm>
              <a:off x="1537" y="1681"/>
              <a:ext cx="286" cy="27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9414" name="Rectangle 20"/>
            <p:cNvSpPr>
              <a:spLocks noChangeArrowheads="1"/>
            </p:cNvSpPr>
            <p:nvPr/>
          </p:nvSpPr>
          <p:spPr bwMode="auto">
            <a:xfrm>
              <a:off x="1105" y="1681"/>
              <a:ext cx="430" cy="27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{2}</a:t>
              </a:r>
            </a:p>
          </p:txBody>
        </p:sp>
        <p:sp>
          <p:nvSpPr>
            <p:cNvPr id="59415" name="Line 21"/>
            <p:cNvSpPr>
              <a:spLocks noChangeShapeType="1"/>
            </p:cNvSpPr>
            <p:nvPr/>
          </p:nvSpPr>
          <p:spPr bwMode="auto">
            <a:xfrm>
              <a:off x="1104" y="1680"/>
              <a:ext cx="72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6" name="Line 22"/>
            <p:cNvSpPr>
              <a:spLocks noChangeShapeType="1"/>
            </p:cNvSpPr>
            <p:nvPr/>
          </p:nvSpPr>
          <p:spPr bwMode="auto">
            <a:xfrm>
              <a:off x="1104" y="1958"/>
              <a:ext cx="7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7" name="Line 23"/>
            <p:cNvSpPr>
              <a:spLocks noChangeShapeType="1"/>
            </p:cNvSpPr>
            <p:nvPr/>
          </p:nvSpPr>
          <p:spPr bwMode="auto">
            <a:xfrm>
              <a:off x="1104" y="2235"/>
              <a:ext cx="7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8" name="Line 24"/>
            <p:cNvSpPr>
              <a:spLocks noChangeShapeType="1"/>
            </p:cNvSpPr>
            <p:nvPr/>
          </p:nvSpPr>
          <p:spPr bwMode="auto">
            <a:xfrm>
              <a:off x="1104" y="2512"/>
              <a:ext cx="7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9" name="Line 25"/>
            <p:cNvSpPr>
              <a:spLocks noChangeShapeType="1"/>
            </p:cNvSpPr>
            <p:nvPr/>
          </p:nvSpPr>
          <p:spPr bwMode="auto">
            <a:xfrm>
              <a:off x="1104" y="2790"/>
              <a:ext cx="7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0" name="Line 26"/>
            <p:cNvSpPr>
              <a:spLocks noChangeShapeType="1"/>
            </p:cNvSpPr>
            <p:nvPr/>
          </p:nvSpPr>
          <p:spPr bwMode="auto">
            <a:xfrm>
              <a:off x="1104" y="3067"/>
              <a:ext cx="7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1" name="Line 27"/>
            <p:cNvSpPr>
              <a:spLocks noChangeShapeType="1"/>
            </p:cNvSpPr>
            <p:nvPr/>
          </p:nvSpPr>
          <p:spPr bwMode="auto">
            <a:xfrm>
              <a:off x="1104" y="3344"/>
              <a:ext cx="7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2" name="Line 28"/>
            <p:cNvSpPr>
              <a:spLocks noChangeShapeType="1"/>
            </p:cNvSpPr>
            <p:nvPr/>
          </p:nvSpPr>
          <p:spPr bwMode="auto">
            <a:xfrm>
              <a:off x="1104" y="3622"/>
              <a:ext cx="72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3" name="Line 29"/>
            <p:cNvSpPr>
              <a:spLocks noChangeShapeType="1"/>
            </p:cNvSpPr>
            <p:nvPr/>
          </p:nvSpPr>
          <p:spPr bwMode="auto">
            <a:xfrm>
              <a:off x="1104" y="1680"/>
              <a:ext cx="0" cy="194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4" name="Line 30"/>
            <p:cNvSpPr>
              <a:spLocks noChangeShapeType="1"/>
            </p:cNvSpPr>
            <p:nvPr/>
          </p:nvSpPr>
          <p:spPr bwMode="auto">
            <a:xfrm>
              <a:off x="1536" y="1680"/>
              <a:ext cx="0" cy="194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5" name="Line 31"/>
            <p:cNvSpPr>
              <a:spLocks noChangeShapeType="1"/>
            </p:cNvSpPr>
            <p:nvPr/>
          </p:nvSpPr>
          <p:spPr bwMode="auto">
            <a:xfrm>
              <a:off x="1824" y="1680"/>
              <a:ext cx="0" cy="194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6" name="Rectangle 32"/>
            <p:cNvSpPr>
              <a:spLocks noChangeArrowheads="1"/>
            </p:cNvSpPr>
            <p:nvPr/>
          </p:nvSpPr>
          <p:spPr bwMode="auto">
            <a:xfrm>
              <a:off x="2847" y="3345"/>
              <a:ext cx="368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59427" name="Rectangle 33"/>
            <p:cNvSpPr>
              <a:spLocks noChangeArrowheads="1"/>
            </p:cNvSpPr>
            <p:nvPr/>
          </p:nvSpPr>
          <p:spPr bwMode="auto">
            <a:xfrm>
              <a:off x="2353" y="3345"/>
              <a:ext cx="492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{6,7}</a:t>
              </a:r>
            </a:p>
          </p:txBody>
        </p:sp>
        <p:sp>
          <p:nvSpPr>
            <p:cNvPr id="59428" name="Rectangle 34"/>
            <p:cNvSpPr>
              <a:spLocks noChangeArrowheads="1"/>
            </p:cNvSpPr>
            <p:nvPr/>
          </p:nvSpPr>
          <p:spPr bwMode="auto">
            <a:xfrm>
              <a:off x="2847" y="3068"/>
              <a:ext cx="368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59429" name="Rectangle 35"/>
            <p:cNvSpPr>
              <a:spLocks noChangeArrowheads="1"/>
            </p:cNvSpPr>
            <p:nvPr/>
          </p:nvSpPr>
          <p:spPr bwMode="auto">
            <a:xfrm>
              <a:off x="2353" y="3068"/>
              <a:ext cx="492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{5,7}</a:t>
              </a:r>
            </a:p>
          </p:txBody>
        </p:sp>
        <p:sp>
          <p:nvSpPr>
            <p:cNvPr id="59430" name="Rectangle 36"/>
            <p:cNvSpPr>
              <a:spLocks noChangeArrowheads="1"/>
            </p:cNvSpPr>
            <p:nvPr/>
          </p:nvSpPr>
          <p:spPr bwMode="auto">
            <a:xfrm>
              <a:off x="2847" y="2790"/>
              <a:ext cx="368" cy="27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59431" name="Rectangle 37"/>
            <p:cNvSpPr>
              <a:spLocks noChangeArrowheads="1"/>
            </p:cNvSpPr>
            <p:nvPr/>
          </p:nvSpPr>
          <p:spPr bwMode="auto">
            <a:xfrm>
              <a:off x="2353" y="2790"/>
              <a:ext cx="492" cy="27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{5,6}</a:t>
              </a:r>
            </a:p>
          </p:txBody>
        </p:sp>
        <p:sp>
          <p:nvSpPr>
            <p:cNvPr id="59432" name="Rectangle 38"/>
            <p:cNvSpPr>
              <a:spLocks noChangeArrowheads="1"/>
            </p:cNvSpPr>
            <p:nvPr/>
          </p:nvSpPr>
          <p:spPr bwMode="auto">
            <a:xfrm>
              <a:off x="2847" y="2513"/>
              <a:ext cx="368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59433" name="Rectangle 39"/>
            <p:cNvSpPr>
              <a:spLocks noChangeArrowheads="1"/>
            </p:cNvSpPr>
            <p:nvPr/>
          </p:nvSpPr>
          <p:spPr bwMode="auto">
            <a:xfrm>
              <a:off x="2353" y="2513"/>
              <a:ext cx="492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{3,7}</a:t>
              </a:r>
            </a:p>
          </p:txBody>
        </p:sp>
        <p:sp>
          <p:nvSpPr>
            <p:cNvPr id="59434" name="Rectangle 40"/>
            <p:cNvSpPr>
              <a:spLocks noChangeArrowheads="1"/>
            </p:cNvSpPr>
            <p:nvPr/>
          </p:nvSpPr>
          <p:spPr bwMode="auto">
            <a:xfrm>
              <a:off x="2847" y="2236"/>
              <a:ext cx="368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59435" name="Rectangle 41"/>
            <p:cNvSpPr>
              <a:spLocks noChangeArrowheads="1"/>
            </p:cNvSpPr>
            <p:nvPr/>
          </p:nvSpPr>
          <p:spPr bwMode="auto">
            <a:xfrm>
              <a:off x="2353" y="2236"/>
              <a:ext cx="492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{3,5}</a:t>
              </a:r>
            </a:p>
          </p:txBody>
        </p:sp>
        <p:sp>
          <p:nvSpPr>
            <p:cNvPr id="59436" name="Rectangle 42"/>
            <p:cNvSpPr>
              <a:spLocks noChangeArrowheads="1"/>
            </p:cNvSpPr>
            <p:nvPr/>
          </p:nvSpPr>
          <p:spPr bwMode="auto">
            <a:xfrm>
              <a:off x="2847" y="1958"/>
              <a:ext cx="368" cy="27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59437" name="Rectangle 43"/>
            <p:cNvSpPr>
              <a:spLocks noChangeArrowheads="1"/>
            </p:cNvSpPr>
            <p:nvPr/>
          </p:nvSpPr>
          <p:spPr bwMode="auto">
            <a:xfrm>
              <a:off x="2353" y="1958"/>
              <a:ext cx="492" cy="27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{2,4}</a:t>
              </a:r>
            </a:p>
          </p:txBody>
        </p:sp>
        <p:sp>
          <p:nvSpPr>
            <p:cNvPr id="59438" name="Rectangle 44"/>
            <p:cNvSpPr>
              <a:spLocks noChangeArrowheads="1"/>
            </p:cNvSpPr>
            <p:nvPr/>
          </p:nvSpPr>
          <p:spPr bwMode="auto">
            <a:xfrm>
              <a:off x="2847" y="1681"/>
              <a:ext cx="368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59439" name="Rectangle 45"/>
            <p:cNvSpPr>
              <a:spLocks noChangeArrowheads="1"/>
            </p:cNvSpPr>
            <p:nvPr/>
          </p:nvSpPr>
          <p:spPr bwMode="auto">
            <a:xfrm>
              <a:off x="2353" y="1681"/>
              <a:ext cx="492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{2,3}</a:t>
              </a:r>
            </a:p>
          </p:txBody>
        </p:sp>
        <p:sp>
          <p:nvSpPr>
            <p:cNvPr id="59440" name="Line 46"/>
            <p:cNvSpPr>
              <a:spLocks noChangeShapeType="1"/>
            </p:cNvSpPr>
            <p:nvPr/>
          </p:nvSpPr>
          <p:spPr bwMode="auto">
            <a:xfrm>
              <a:off x="2352" y="1680"/>
              <a:ext cx="8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41" name="Line 47"/>
            <p:cNvSpPr>
              <a:spLocks noChangeShapeType="1"/>
            </p:cNvSpPr>
            <p:nvPr/>
          </p:nvSpPr>
          <p:spPr bwMode="auto">
            <a:xfrm>
              <a:off x="2352" y="1957"/>
              <a:ext cx="86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42" name="Line 48"/>
            <p:cNvSpPr>
              <a:spLocks noChangeShapeType="1"/>
            </p:cNvSpPr>
            <p:nvPr/>
          </p:nvSpPr>
          <p:spPr bwMode="auto">
            <a:xfrm>
              <a:off x="2352" y="2235"/>
              <a:ext cx="86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43" name="Line 49"/>
            <p:cNvSpPr>
              <a:spLocks noChangeShapeType="1"/>
            </p:cNvSpPr>
            <p:nvPr/>
          </p:nvSpPr>
          <p:spPr bwMode="auto">
            <a:xfrm>
              <a:off x="2352" y="2512"/>
              <a:ext cx="86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44" name="Line 50"/>
            <p:cNvSpPr>
              <a:spLocks noChangeShapeType="1"/>
            </p:cNvSpPr>
            <p:nvPr/>
          </p:nvSpPr>
          <p:spPr bwMode="auto">
            <a:xfrm>
              <a:off x="2352" y="2789"/>
              <a:ext cx="86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45" name="Line 51"/>
            <p:cNvSpPr>
              <a:spLocks noChangeShapeType="1"/>
            </p:cNvSpPr>
            <p:nvPr/>
          </p:nvSpPr>
          <p:spPr bwMode="auto">
            <a:xfrm>
              <a:off x="2352" y="3067"/>
              <a:ext cx="86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46" name="Line 52"/>
            <p:cNvSpPr>
              <a:spLocks noChangeShapeType="1"/>
            </p:cNvSpPr>
            <p:nvPr/>
          </p:nvSpPr>
          <p:spPr bwMode="auto">
            <a:xfrm>
              <a:off x="2352" y="3344"/>
              <a:ext cx="86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47" name="Line 53"/>
            <p:cNvSpPr>
              <a:spLocks noChangeShapeType="1"/>
            </p:cNvSpPr>
            <p:nvPr/>
          </p:nvSpPr>
          <p:spPr bwMode="auto">
            <a:xfrm>
              <a:off x="2352" y="3621"/>
              <a:ext cx="8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48" name="Line 54"/>
            <p:cNvSpPr>
              <a:spLocks noChangeShapeType="1"/>
            </p:cNvSpPr>
            <p:nvPr/>
          </p:nvSpPr>
          <p:spPr bwMode="auto">
            <a:xfrm>
              <a:off x="2352" y="1680"/>
              <a:ext cx="0" cy="194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49" name="Line 55"/>
            <p:cNvSpPr>
              <a:spLocks noChangeShapeType="1"/>
            </p:cNvSpPr>
            <p:nvPr/>
          </p:nvSpPr>
          <p:spPr bwMode="auto">
            <a:xfrm>
              <a:off x="2846" y="1680"/>
              <a:ext cx="0" cy="19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50" name="Line 56"/>
            <p:cNvSpPr>
              <a:spLocks noChangeShapeType="1"/>
            </p:cNvSpPr>
            <p:nvPr/>
          </p:nvSpPr>
          <p:spPr bwMode="auto">
            <a:xfrm>
              <a:off x="3216" y="1680"/>
              <a:ext cx="0" cy="194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51" name="Rectangle 57"/>
            <p:cNvSpPr>
              <a:spLocks noChangeArrowheads="1"/>
            </p:cNvSpPr>
            <p:nvPr/>
          </p:nvSpPr>
          <p:spPr bwMode="auto">
            <a:xfrm>
              <a:off x="4405" y="1729"/>
              <a:ext cx="394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59452" name="Rectangle 58"/>
            <p:cNvSpPr>
              <a:spLocks noChangeArrowheads="1"/>
            </p:cNvSpPr>
            <p:nvPr/>
          </p:nvSpPr>
          <p:spPr bwMode="auto">
            <a:xfrm>
              <a:off x="3745" y="1729"/>
              <a:ext cx="658" cy="2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</a:rPr>
                <a:t>{3,5,7}</a:t>
              </a:r>
            </a:p>
          </p:txBody>
        </p:sp>
        <p:sp>
          <p:nvSpPr>
            <p:cNvPr id="59453" name="Line 59"/>
            <p:cNvSpPr>
              <a:spLocks noChangeShapeType="1"/>
            </p:cNvSpPr>
            <p:nvPr/>
          </p:nvSpPr>
          <p:spPr bwMode="auto">
            <a:xfrm>
              <a:off x="3744" y="1728"/>
              <a:ext cx="10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54" name="Line 60"/>
            <p:cNvSpPr>
              <a:spLocks noChangeShapeType="1"/>
            </p:cNvSpPr>
            <p:nvPr/>
          </p:nvSpPr>
          <p:spPr bwMode="auto">
            <a:xfrm>
              <a:off x="3744" y="2005"/>
              <a:ext cx="10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55" name="Line 61"/>
            <p:cNvSpPr>
              <a:spLocks noChangeShapeType="1"/>
            </p:cNvSpPr>
            <p:nvPr/>
          </p:nvSpPr>
          <p:spPr bwMode="auto">
            <a:xfrm>
              <a:off x="3744" y="1728"/>
              <a:ext cx="0" cy="27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56" name="Line 62"/>
            <p:cNvSpPr>
              <a:spLocks noChangeShapeType="1"/>
            </p:cNvSpPr>
            <p:nvPr/>
          </p:nvSpPr>
          <p:spPr bwMode="auto">
            <a:xfrm>
              <a:off x="4404" y="1728"/>
              <a:ext cx="0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57" name="Line 63"/>
            <p:cNvSpPr>
              <a:spLocks noChangeShapeType="1"/>
            </p:cNvSpPr>
            <p:nvPr/>
          </p:nvSpPr>
          <p:spPr bwMode="auto">
            <a:xfrm>
              <a:off x="4800" y="1728"/>
              <a:ext cx="0" cy="27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9399" name="Rectangle 64"/>
          <p:cNvSpPr>
            <a:spLocks noChangeArrowheads="1"/>
          </p:cNvSpPr>
          <p:nvPr/>
        </p:nvSpPr>
        <p:spPr bwMode="auto">
          <a:xfrm>
            <a:off x="2965450" y="2211388"/>
            <a:ext cx="750888" cy="469900"/>
          </a:xfrm>
          <a:prstGeom prst="rect">
            <a:avLst/>
          </a:prstGeom>
          <a:noFill/>
          <a:ln w="12700">
            <a:solidFill>
              <a:srgbClr val="CCE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</a:rPr>
              <a:t>L</a:t>
            </a:r>
            <a:r>
              <a:rPr lang="en-US" altLang="en-US" sz="2400" b="1" baseline="-25000">
                <a:solidFill>
                  <a:srgbClr val="000000"/>
                </a:solidFill>
              </a:rPr>
              <a:t>2</a:t>
            </a:r>
            <a:r>
              <a:rPr lang="en-US" altLang="en-US" sz="2400" b="1">
                <a:solidFill>
                  <a:srgbClr val="000000"/>
                </a:solidFill>
              </a:rPr>
              <a:t>=</a:t>
            </a:r>
          </a:p>
        </p:txBody>
      </p:sp>
      <p:sp>
        <p:nvSpPr>
          <p:cNvPr id="59400" name="Rectangle 65"/>
          <p:cNvSpPr>
            <a:spLocks noChangeArrowheads="1"/>
          </p:cNvSpPr>
          <p:nvPr/>
        </p:nvSpPr>
        <p:spPr bwMode="auto">
          <a:xfrm>
            <a:off x="5180013" y="2211388"/>
            <a:ext cx="750887" cy="469900"/>
          </a:xfrm>
          <a:prstGeom prst="rect">
            <a:avLst/>
          </a:prstGeom>
          <a:noFill/>
          <a:ln w="12700">
            <a:solidFill>
              <a:srgbClr val="CCE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</a:rPr>
              <a:t>L</a:t>
            </a:r>
            <a:r>
              <a:rPr lang="en-US" altLang="en-US" sz="2400" b="1" baseline="-25000">
                <a:solidFill>
                  <a:srgbClr val="000000"/>
                </a:solidFill>
              </a:rPr>
              <a:t>3</a:t>
            </a:r>
            <a:r>
              <a:rPr lang="en-US" altLang="en-US" sz="2400" b="1">
                <a:solidFill>
                  <a:srgbClr val="000000"/>
                </a:solidFill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072967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458200" cy="762000"/>
          </a:xfrm>
        </p:spPr>
        <p:txBody>
          <a:bodyPr lIns="92075" tIns="46038" rIns="92075" bIns="46038" anchor="b" anchorCtr="0"/>
          <a:lstStyle/>
          <a:p>
            <a:pPr eaLnBrk="1" hangingPunct="1">
              <a:defRPr/>
            </a:pPr>
            <a:r>
              <a:rPr lang="en-US" smtClean="0"/>
              <a:t>Partitioning: Example</a:t>
            </a:r>
          </a:p>
        </p:txBody>
      </p:sp>
      <p:sp>
        <p:nvSpPr>
          <p:cNvPr id="428035" name="Rectangle 3"/>
          <p:cNvSpPr>
            <a:spLocks noChangeArrowheads="1"/>
          </p:cNvSpPr>
          <p:nvPr/>
        </p:nvSpPr>
        <p:spPr bwMode="auto">
          <a:xfrm>
            <a:off x="1371600" y="4876800"/>
            <a:ext cx="5018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/>
              <a:t>The candidate set </a:t>
            </a:r>
            <a:r>
              <a:rPr lang="en-US" altLang="en-US" sz="2400" b="1" i="1"/>
              <a:t>C</a:t>
            </a:r>
            <a:r>
              <a:rPr lang="en-US" altLang="en-US" sz="2400" b="1"/>
              <a:t>=</a:t>
            </a:r>
            <a:r>
              <a:rPr lang="en-US" altLang="en-US" sz="2400" b="1" i="1"/>
              <a:t>L</a:t>
            </a:r>
            <a:r>
              <a:rPr lang="en-US" altLang="en-US" sz="2400" b="1" baseline="30000"/>
              <a:t>1</a:t>
            </a:r>
            <a:r>
              <a:rPr lang="en-US" altLang="en-US" sz="2400" b="1">
                <a:latin typeface="Symbol" panose="05050102010706020507" pitchFamily="18" charset="2"/>
              </a:rPr>
              <a:t>È</a:t>
            </a:r>
            <a:r>
              <a:rPr lang="en-US" altLang="en-US" sz="2400" b="1" i="1"/>
              <a:t>L</a:t>
            </a:r>
            <a:r>
              <a:rPr lang="en-US" altLang="en-US" sz="2400" b="1" baseline="30000"/>
              <a:t>2</a:t>
            </a:r>
            <a:r>
              <a:rPr lang="en-US" altLang="en-US" sz="2400" b="1" baseline="-25000"/>
              <a:t> </a:t>
            </a:r>
            <a:r>
              <a:rPr lang="en-US" altLang="en-US" sz="2400" b="1">
                <a:latin typeface="Symbol" panose="05050102010706020507" pitchFamily="18" charset="2"/>
              </a:rPr>
              <a:t>È</a:t>
            </a:r>
            <a:r>
              <a:rPr lang="en-US" altLang="en-US" sz="2400" b="1">
                <a:latin typeface="Times New Roman" panose="02020603050405020304" pitchFamily="18" charset="0"/>
              </a:rPr>
              <a:t> </a:t>
            </a:r>
            <a:r>
              <a:rPr lang="en-US" altLang="en-US" sz="2400" b="1" i="1"/>
              <a:t>L</a:t>
            </a:r>
            <a:r>
              <a:rPr lang="en-US" altLang="en-US" sz="2400" b="1" baseline="30000"/>
              <a:t>3 </a:t>
            </a:r>
          </a:p>
        </p:txBody>
      </p:sp>
      <p:sp>
        <p:nvSpPr>
          <p:cNvPr id="428036" name="Rectangle 4"/>
          <p:cNvSpPr>
            <a:spLocks noChangeArrowheads="1"/>
          </p:cNvSpPr>
          <p:nvPr/>
        </p:nvSpPr>
        <p:spPr bwMode="auto">
          <a:xfrm>
            <a:off x="0" y="2743200"/>
            <a:ext cx="738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/>
              <a:t>L</a:t>
            </a:r>
            <a:r>
              <a:rPr lang="en-US" altLang="en-US" sz="2400" b="1" baseline="30000"/>
              <a:t>1</a:t>
            </a:r>
            <a:r>
              <a:rPr lang="en-US" altLang="en-US" sz="2400" b="1"/>
              <a:t>=</a:t>
            </a:r>
          </a:p>
        </p:txBody>
      </p:sp>
      <p:sp>
        <p:nvSpPr>
          <p:cNvPr id="428037" name="Rectangle 5"/>
          <p:cNvSpPr>
            <a:spLocks noChangeArrowheads="1"/>
          </p:cNvSpPr>
          <p:nvPr/>
        </p:nvSpPr>
        <p:spPr bwMode="auto">
          <a:xfrm>
            <a:off x="1752600" y="4267200"/>
            <a:ext cx="1563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/>
              <a:t>L</a:t>
            </a:r>
            <a:r>
              <a:rPr lang="en-US" altLang="en-US" sz="2400" b="1" baseline="30000"/>
              <a:t>2</a:t>
            </a:r>
            <a:r>
              <a:rPr lang="en-US" altLang="en-US" sz="2400" b="1"/>
              <a:t>=</a:t>
            </a:r>
            <a:r>
              <a:rPr lang="en-US" altLang="en-US" sz="2000" b="1"/>
              <a:t>{……}</a:t>
            </a:r>
          </a:p>
        </p:txBody>
      </p:sp>
      <p:sp>
        <p:nvSpPr>
          <p:cNvPr id="428038" name="Rectangle 6"/>
          <p:cNvSpPr>
            <a:spLocks noChangeArrowheads="1"/>
          </p:cNvSpPr>
          <p:nvPr/>
        </p:nvSpPr>
        <p:spPr bwMode="auto">
          <a:xfrm>
            <a:off x="3810000" y="42672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/>
              <a:t>L</a:t>
            </a:r>
            <a:r>
              <a:rPr lang="en-US" altLang="en-US" sz="2400" b="1" baseline="30000"/>
              <a:t>3</a:t>
            </a:r>
            <a:r>
              <a:rPr lang="en-US" altLang="en-US" sz="2400" b="1"/>
              <a:t>=</a:t>
            </a:r>
            <a:r>
              <a:rPr lang="en-US" altLang="en-US" sz="2000" b="1"/>
              <a:t>{…….}</a:t>
            </a:r>
          </a:p>
        </p:txBody>
      </p:sp>
      <p:sp>
        <p:nvSpPr>
          <p:cNvPr id="61447" name="Rectangle 7"/>
          <p:cNvSpPr>
            <a:spLocks noChangeArrowheads="1"/>
          </p:cNvSpPr>
          <p:nvPr/>
        </p:nvSpPr>
        <p:spPr bwMode="auto">
          <a:xfrm>
            <a:off x="228600" y="1295400"/>
            <a:ext cx="7239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Dividing database in 3 equal partitions. Local support=20%=</a:t>
            </a:r>
            <a:r>
              <a:rPr lang="en-US" altLang="en-US" sz="2400">
                <a:latin typeface="Symbol" panose="05050102010706020507" pitchFamily="18" charset="2"/>
              </a:rPr>
              <a:t>s</a:t>
            </a:r>
            <a:r>
              <a:rPr lang="en-US" altLang="en-US" sz="2400" baseline="-25000"/>
              <a:t>1</a:t>
            </a:r>
            <a:r>
              <a:rPr lang="en-US" altLang="en-US" sz="2400"/>
              <a:t>=</a:t>
            </a:r>
            <a:r>
              <a:rPr lang="en-US" altLang="en-US" sz="2400">
                <a:latin typeface="Symbol" panose="05050102010706020507" pitchFamily="18" charset="2"/>
              </a:rPr>
              <a:t>s</a:t>
            </a:r>
            <a:r>
              <a:rPr lang="en-US" altLang="en-US" sz="2400" baseline="-25000"/>
              <a:t>2</a:t>
            </a:r>
            <a:r>
              <a:rPr lang="en-US" altLang="en-US" sz="2400"/>
              <a:t>=</a:t>
            </a:r>
            <a:r>
              <a:rPr lang="en-US" altLang="en-US" sz="2400">
                <a:latin typeface="Symbol" panose="05050102010706020507" pitchFamily="18" charset="2"/>
              </a:rPr>
              <a:t>s</a:t>
            </a:r>
            <a:r>
              <a:rPr lang="en-US" altLang="en-US" sz="2400" baseline="-25000"/>
              <a:t>3</a:t>
            </a:r>
            <a:r>
              <a:rPr lang="en-US" altLang="en-US" sz="2400"/>
              <a:t>=</a:t>
            </a:r>
            <a:r>
              <a:rPr lang="en-US" altLang="en-US" sz="2400">
                <a:latin typeface="Symbol" panose="05050102010706020507" pitchFamily="18" charset="2"/>
              </a:rPr>
              <a:t>s</a:t>
            </a:r>
          </a:p>
        </p:txBody>
      </p:sp>
      <p:sp>
        <p:nvSpPr>
          <p:cNvPr id="428040" name="Rectangle 8"/>
          <p:cNvSpPr>
            <a:spLocks noChangeArrowheads="1"/>
          </p:cNvSpPr>
          <p:nvPr/>
        </p:nvSpPr>
        <p:spPr bwMode="auto">
          <a:xfrm>
            <a:off x="762000" y="2362200"/>
            <a:ext cx="80772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/>
              <a:t>{{1}, {2}, {3}, {4}, {5}, {6}, {7}, {8}, {1,5}, {1,6}, {1,8}, {2,3}, {2,4}, {2,8}, {4,5}, {4,7}, {4,8}, {5,6}, {5,8}, {5,7}, {6,7}, {6,8}, {1,6,8}, {1,5,6}, {1,5,8}, {2,4,8}, {4,5,7}, {5,6,8}, {5,6,7}, {1,5,6,8}</a:t>
            </a:r>
          </a:p>
        </p:txBody>
      </p:sp>
      <p:sp>
        <p:nvSpPr>
          <p:cNvPr id="428041" name="Rectangle 9"/>
          <p:cNvSpPr>
            <a:spLocks noChangeArrowheads="1"/>
          </p:cNvSpPr>
          <p:nvPr/>
        </p:nvSpPr>
        <p:spPr bwMode="auto">
          <a:xfrm>
            <a:off x="762000" y="5562600"/>
            <a:ext cx="8382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Read database once to compute the global support of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the sets in </a:t>
            </a:r>
            <a:r>
              <a:rPr lang="en-US" altLang="en-US" sz="2400" i="1"/>
              <a:t>C</a:t>
            </a:r>
            <a:r>
              <a:rPr lang="en-US" altLang="en-US" sz="2400"/>
              <a:t> and get the final set of frequent itemsets </a:t>
            </a:r>
            <a:r>
              <a:rPr lang="en-US" altLang="en-US" sz="2400" i="1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41663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8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8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8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8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8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8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8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8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8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8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8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8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5" grpId="0" build="p" autoUpdateAnimBg="0"/>
      <p:bldP spid="428036" grpId="0" build="p" autoUpdateAnimBg="0"/>
      <p:bldP spid="428037" grpId="0" build="p" autoUpdateAnimBg="0"/>
      <p:bldP spid="428038" grpId="0" build="p" autoUpdateAnimBg="0"/>
      <p:bldP spid="428040" grpId="0" build="p" autoUpdateAnimBg="0"/>
      <p:bldP spid="42804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Partitioning Example</a:t>
            </a:r>
          </a:p>
        </p:txBody>
      </p:sp>
      <p:pic>
        <p:nvPicPr>
          <p:cNvPr id="38915" name="Picture 3" descr="d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76400"/>
            <a:ext cx="3429000" cy="3657600"/>
          </a:xfrm>
          <a:prstGeom prst="rect">
            <a:avLst/>
          </a:prstGeom>
          <a:noFill/>
          <a:ln w="317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16" name="Line 4"/>
          <p:cNvSpPr>
            <a:spLocks noChangeShapeType="1"/>
          </p:cNvSpPr>
          <p:nvPr/>
        </p:nvSpPr>
        <p:spPr bwMode="auto">
          <a:xfrm>
            <a:off x="304800" y="3505200"/>
            <a:ext cx="8305800" cy="0"/>
          </a:xfrm>
          <a:prstGeom prst="line">
            <a:avLst/>
          </a:prstGeom>
          <a:noFill/>
          <a:ln w="57150" cap="sq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457200" y="2743200"/>
            <a:ext cx="51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2"/>
                </a:solidFill>
              </a:rPr>
              <a:t>D</a:t>
            </a:r>
            <a:r>
              <a:rPr lang="en-US" altLang="en-US" sz="2400" baseline="3000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457200" y="4114800"/>
            <a:ext cx="51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2"/>
                </a:solidFill>
              </a:rPr>
              <a:t>D</a:t>
            </a:r>
            <a:r>
              <a:rPr lang="en-US" altLang="en-US" sz="2400" baseline="300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8919" name="Text Box 7"/>
          <p:cNvSpPr txBox="1">
            <a:spLocks noChangeArrowheads="1"/>
          </p:cNvSpPr>
          <p:nvPr/>
        </p:nvSpPr>
        <p:spPr bwMode="auto">
          <a:xfrm>
            <a:off x="1905000" y="5486400"/>
            <a:ext cx="1176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chemeClr val="tx2"/>
                </a:solidFill>
              </a:rPr>
              <a:t>S=10%</a:t>
            </a:r>
          </a:p>
        </p:txBody>
      </p:sp>
      <p:sp>
        <p:nvSpPr>
          <p:cNvPr id="235528" name="Text Box 8"/>
          <p:cNvSpPr txBox="1">
            <a:spLocks noChangeArrowheads="1"/>
          </p:cNvSpPr>
          <p:nvPr/>
        </p:nvSpPr>
        <p:spPr bwMode="auto">
          <a:xfrm>
            <a:off x="4572000" y="1600200"/>
            <a:ext cx="3886200" cy="169227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solidFill>
                  <a:schemeClr val="tx2"/>
                </a:solidFill>
                <a:latin typeface="Arial" charset="0"/>
              </a:rPr>
              <a:t>L</a:t>
            </a:r>
            <a:r>
              <a:rPr lang="en-US" sz="2400" baseline="30000" dirty="0">
                <a:solidFill>
                  <a:schemeClr val="tx2"/>
                </a:solidFill>
                <a:latin typeface="Arial" charset="0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Arial" charset="0"/>
              </a:rPr>
              <a:t>={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{Bread}, {Jelly}, {</a:t>
            </a:r>
            <a:r>
              <a:rPr lang="en-US" sz="2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PeanutButter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}, {</a:t>
            </a:r>
            <a:r>
              <a:rPr lang="en-US" sz="2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Bread,Jelly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}, {</a:t>
            </a:r>
            <a:r>
              <a:rPr lang="en-US" sz="2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Bread,PeanutButter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}, {Jelly, </a:t>
            </a:r>
            <a:r>
              <a:rPr lang="en-US" sz="2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PeanutButter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}, {</a:t>
            </a:r>
            <a:r>
              <a:rPr lang="en-US" sz="2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Bread,Jelly,PeanutButter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}}</a:t>
            </a:r>
            <a:endParaRPr lang="en-US" sz="2000" dirty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235529" name="Text Box 9"/>
          <p:cNvSpPr txBox="1">
            <a:spLocks noChangeArrowheads="1"/>
          </p:cNvSpPr>
          <p:nvPr/>
        </p:nvSpPr>
        <p:spPr bwMode="auto">
          <a:xfrm>
            <a:off x="4572000" y="3844925"/>
            <a:ext cx="4572000" cy="206216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solidFill>
                  <a:schemeClr val="tx2"/>
                </a:solidFill>
                <a:latin typeface="Arial" charset="0"/>
              </a:rPr>
              <a:t>L</a:t>
            </a:r>
            <a:r>
              <a:rPr lang="en-US" sz="2400" baseline="30000" dirty="0">
                <a:solidFill>
                  <a:schemeClr val="tx2"/>
                </a:solidFill>
                <a:latin typeface="Arial" charset="0"/>
              </a:rPr>
              <a:t>2</a:t>
            </a:r>
            <a:r>
              <a:rPr lang="en-US" sz="2400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Arial" charset="0"/>
              </a:rPr>
              <a:t>={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{Bread}, {Milk}, {</a:t>
            </a:r>
            <a:r>
              <a:rPr lang="en-US" sz="2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PeanutButter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}, {</a:t>
            </a:r>
            <a:r>
              <a:rPr lang="en-US" sz="2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Bread,Milk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}, {</a:t>
            </a:r>
            <a:r>
              <a:rPr lang="en-US" sz="2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Bread,PeanutButter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}, {Milk, </a:t>
            </a:r>
            <a:r>
              <a:rPr lang="en-US" sz="2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PeanutButter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}, {</a:t>
            </a:r>
            <a:r>
              <a:rPr lang="en-US" sz="2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Bread,Milk,PeanutButter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}, {Beer}, {</a:t>
            </a:r>
            <a:r>
              <a:rPr lang="en-US" sz="2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Beer,Bread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}, {</a:t>
            </a:r>
            <a:r>
              <a:rPr lang="en-US" sz="2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Beer,Milk</a:t>
            </a:r>
            <a:r>
              <a:rPr lang="en-US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}}</a:t>
            </a:r>
            <a:endParaRPr lang="en-US" sz="2400" dirty="0">
              <a:solidFill>
                <a:schemeClr val="tx2"/>
              </a:solidFill>
              <a:latin typeface="Arial" charset="0"/>
            </a:endParaRPr>
          </a:p>
          <a:p>
            <a:pPr algn="ctr">
              <a:defRPr/>
            </a:pPr>
            <a:endParaRPr lang="en-US" sz="2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59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smtClean="0"/>
              <a:t>Partitioning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7543800" cy="4953000"/>
          </a:xfrm>
          <a:noFill/>
        </p:spPr>
        <p:txBody>
          <a:bodyPr>
            <a:normAutofit/>
          </a:bodyPr>
          <a:lstStyle/>
          <a:p>
            <a:r>
              <a:rPr lang="en-US" altLang="en-US" sz="2800" i="1" dirty="0" smtClean="0">
                <a:solidFill>
                  <a:schemeClr val="tx2"/>
                </a:solidFill>
              </a:rPr>
              <a:t>Advantages:</a:t>
            </a:r>
          </a:p>
          <a:p>
            <a:pPr lvl="1"/>
            <a:r>
              <a:rPr lang="en-US" altLang="en-US" sz="2400" dirty="0" smtClean="0"/>
              <a:t>Adapts to available main memory</a:t>
            </a:r>
          </a:p>
          <a:p>
            <a:pPr lvl="1"/>
            <a:r>
              <a:rPr lang="en-US" altLang="en-US" sz="2400" dirty="0" smtClean="0"/>
              <a:t>Easily parallelized</a:t>
            </a:r>
          </a:p>
          <a:p>
            <a:pPr lvl="1"/>
            <a:r>
              <a:rPr lang="en-US" altLang="en-US" sz="2400" dirty="0" smtClean="0"/>
              <a:t>Maximum number of database scans is two.</a:t>
            </a:r>
          </a:p>
          <a:p>
            <a:r>
              <a:rPr lang="en-US" altLang="en-US" sz="2800" i="1" dirty="0" smtClean="0">
                <a:solidFill>
                  <a:schemeClr val="tx2"/>
                </a:solidFill>
              </a:rPr>
              <a:t>Disadvantages:</a:t>
            </a:r>
          </a:p>
          <a:p>
            <a:pPr lvl="1"/>
            <a:r>
              <a:rPr lang="en-US" altLang="en-US" sz="2400" dirty="0" smtClean="0"/>
              <a:t>May have many candidates during second scan.</a:t>
            </a:r>
          </a:p>
          <a:p>
            <a:endParaRPr lang="en-US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564809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458200" cy="1143000"/>
          </a:xfrm>
        </p:spPr>
        <p:txBody>
          <a:bodyPr lIns="92075" tIns="46038" rIns="92075" bIns="46038" anchor="b" anchorCtr="0"/>
          <a:lstStyle/>
          <a:p>
            <a:pPr eaLnBrk="1" hangingPunct="1">
              <a:defRPr/>
            </a:pPr>
            <a:r>
              <a:rPr lang="en-US" smtClean="0"/>
              <a:t>Hash-Based Algorithm</a:t>
            </a:r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5425" cy="3886200"/>
          </a:xfrm>
        </p:spPr>
        <p:txBody>
          <a:bodyPr lIns="92075" tIns="46038" rIns="92075" bIns="46038"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400" dirty="0" smtClean="0"/>
              <a:t>The larger the 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k</a:t>
            </a:r>
            <a:r>
              <a:rPr lang="en-US" sz="2400" baseline="-25000" dirty="0" smtClean="0"/>
              <a:t>  </a:t>
            </a:r>
            <a:r>
              <a:rPr lang="en-US" sz="2400" dirty="0" smtClean="0"/>
              <a:t>the more processing cost required to discover FIs</a:t>
            </a:r>
          </a:p>
          <a:p>
            <a:pPr eaLnBrk="1" hangingPunct="1">
              <a:lnSpc>
                <a:spcPct val="90000"/>
              </a:lnSpc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400" dirty="0" smtClean="0"/>
              <a:t>Reduces the size of 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k</a:t>
            </a:r>
            <a:r>
              <a:rPr lang="en-US" sz="2400" dirty="0" smtClean="0"/>
              <a:t> for k&gt;1</a:t>
            </a:r>
          </a:p>
          <a:p>
            <a:pPr eaLnBrk="1" hangingPunct="1">
              <a:lnSpc>
                <a:spcPct val="90000"/>
              </a:lnSpc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400" dirty="0" smtClean="0"/>
              <a:t>DHP or PCY has 2 major features</a:t>
            </a:r>
          </a:p>
          <a:p>
            <a:pPr lvl="1" eaLnBrk="1" hangingPunct="1">
              <a:lnSpc>
                <a:spcPct val="90000"/>
              </a:lnSpc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000" dirty="0" smtClean="0"/>
              <a:t>Efficient generation for FIs (2-itemsets)</a:t>
            </a:r>
          </a:p>
          <a:p>
            <a:pPr lvl="1" eaLnBrk="1" hangingPunct="1">
              <a:lnSpc>
                <a:spcPct val="90000"/>
              </a:lnSpc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000" dirty="0" smtClean="0"/>
              <a:t>Reduction of Tr. DB size (right after the generation of large 2-itemsets)</a:t>
            </a:r>
          </a:p>
        </p:txBody>
      </p:sp>
    </p:spTree>
    <p:extLst>
      <p:ext uri="{BB962C8B-B14F-4D97-AF65-F5344CB8AC3E}">
        <p14:creationId xmlns:p14="http://schemas.microsoft.com/office/powerpoint/2010/main" val="147833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458200" cy="1143000"/>
          </a:xfrm>
        </p:spPr>
        <p:txBody>
          <a:bodyPr lIns="92075" tIns="46038" rIns="92075" bIns="46038" anchor="b" anchorCtr="0"/>
          <a:lstStyle/>
          <a:p>
            <a:pPr eaLnBrk="1" hangingPunct="1">
              <a:defRPr/>
            </a:pPr>
            <a:r>
              <a:rPr lang="en-US" smtClean="0"/>
              <a:t>Hash-Based Algorithm</a:t>
            </a:r>
          </a:p>
        </p:txBody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7693025" cy="3724275"/>
          </a:xfrm>
        </p:spPr>
        <p:txBody>
          <a:bodyPr lIns="92075" tIns="46038" rIns="92075" bIns="46038"/>
          <a:lstStyle/>
          <a:p>
            <a:pPr eaLnBrk="1" hangingPunct="1"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800" smtClean="0"/>
              <a:t>Efficient counting</a:t>
            </a:r>
          </a:p>
          <a:p>
            <a:pPr eaLnBrk="1" hangingPunct="1"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800" smtClean="0"/>
              <a:t>For each Tr. After 1-itemsets are counted, 2-itemsets of the Tr. are generated and hashed into a hash table H</a:t>
            </a:r>
            <a:r>
              <a:rPr lang="en-US" sz="2800" baseline="-25000" smtClean="0"/>
              <a:t>2</a:t>
            </a:r>
          </a:p>
          <a:p>
            <a:pPr eaLnBrk="1" hangingPunct="1"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800" i="1" smtClean="0">
                <a:solidFill>
                  <a:srgbClr val="0033CC"/>
                </a:solidFill>
              </a:rPr>
              <a:t>Subset function</a:t>
            </a:r>
            <a:r>
              <a:rPr lang="en-US" sz="2800" smtClean="0"/>
              <a:t>: finds all the candidates contained in a transaction</a:t>
            </a:r>
            <a:endParaRPr lang="en-US" sz="2800" baseline="-25000" smtClean="0"/>
          </a:p>
          <a:p>
            <a:pPr eaLnBrk="1" hangingPunct="1">
              <a:buClr>
                <a:srgbClr val="000000"/>
              </a:buClr>
              <a:buSzPct val="120000"/>
              <a:buFontTx/>
              <a:buChar char="•"/>
              <a:defRPr/>
            </a:pPr>
            <a:r>
              <a:rPr lang="en-US" sz="2800" smtClean="0"/>
              <a:t>When a 2-itemset is hashed to a bucket, the count of the bucket is incremented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smtClean="0"/>
          </a:p>
        </p:txBody>
      </p:sp>
    </p:spTree>
    <p:extLst>
      <p:ext uri="{BB962C8B-B14F-4D97-AF65-F5344CB8AC3E}">
        <p14:creationId xmlns:p14="http://schemas.microsoft.com/office/powerpoint/2010/main" val="105654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534400" cy="1143000"/>
          </a:xfrm>
        </p:spPr>
        <p:txBody>
          <a:bodyPr lIns="92075" tIns="46038" rIns="92075" bIns="46038" anchor="b" anchorCtr="0"/>
          <a:lstStyle/>
          <a:p>
            <a:pPr eaLnBrk="1" hangingPunct="1">
              <a:defRPr/>
            </a:pPr>
            <a:r>
              <a:rPr lang="en-US" smtClean="0"/>
              <a:t>Hash-Based Algorithm: Example</a:t>
            </a:r>
          </a:p>
        </p:txBody>
      </p:sp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5334000" y="19050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2667000" y="1981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1371600" y="4267200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L1*L1=({1,2},{1,3},{1,5},{2,3} {2,5},{3,5})</a:t>
            </a:r>
          </a:p>
        </p:txBody>
      </p:sp>
      <p:graphicFrame>
        <p:nvGraphicFramePr>
          <p:cNvPr id="67590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914400" y="2057400"/>
          <a:ext cx="1666875" cy="1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1" name="Worksheet" r:id="rId4" imgW="1667372" imgH="1743437" progId="Excel.Sheet.8">
                  <p:embed/>
                </p:oleObj>
              </mc:Choice>
              <mc:Fallback>
                <p:oleObj name="Worksheet" r:id="rId4" imgW="1667372" imgH="174343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057400"/>
                        <a:ext cx="1666875" cy="174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1" name="Object 7"/>
          <p:cNvGraphicFramePr>
            <a:graphicFrameLocks noChangeAspect="1"/>
          </p:cNvGraphicFramePr>
          <p:nvPr/>
        </p:nvGraphicFramePr>
        <p:xfrm>
          <a:off x="3429000" y="1905000"/>
          <a:ext cx="1824038" cy="194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2" name="Worksheet" r:id="rId6" imgW="1619701" imgH="2086337" progId="Excel.Sheet.8">
                  <p:embed/>
                </p:oleObj>
              </mc:Choice>
              <mc:Fallback>
                <p:oleObj name="Worksheet" r:id="rId6" imgW="1619701" imgH="208633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905000"/>
                        <a:ext cx="1824038" cy="194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2" name="Object 8"/>
          <p:cNvGraphicFramePr>
            <a:graphicFrameLocks noChangeAspect="1"/>
          </p:cNvGraphicFramePr>
          <p:nvPr/>
        </p:nvGraphicFramePr>
        <p:xfrm>
          <a:off x="5951538" y="1997075"/>
          <a:ext cx="2046287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3" name="Worksheet" r:id="rId8" imgW="1619701" imgH="1743437" progId="Excel.Sheet.8">
                  <p:embed/>
                </p:oleObj>
              </mc:Choice>
              <mc:Fallback>
                <p:oleObj name="Worksheet" r:id="rId8" imgW="1619701" imgH="174343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1997075"/>
                        <a:ext cx="2046287" cy="166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0150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381000" y="228600"/>
            <a:ext cx="8534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 anchor="b" anchorCtr="0"/>
          <a:lstStyle/>
          <a:p>
            <a:pPr eaLnBrk="1" hangingPunct="1"/>
            <a:r>
              <a:rPr lang="en-US" altLang="en-US" smtClean="0">
                <a:effectLst/>
              </a:rPr>
              <a:t>Hash-Based Algorithm: Example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371600" y="4419600"/>
            <a:ext cx="4038600" cy="760413"/>
            <a:chOff x="864" y="3120"/>
            <a:chExt cx="2544" cy="479"/>
          </a:xfrm>
        </p:grpSpPr>
        <p:sp>
          <p:nvSpPr>
            <p:cNvPr id="69681" name="Rectangle 4"/>
            <p:cNvSpPr>
              <a:spLocks noChangeArrowheads="1"/>
            </p:cNvSpPr>
            <p:nvPr/>
          </p:nvSpPr>
          <p:spPr bwMode="auto">
            <a:xfrm>
              <a:off x="3112" y="3121"/>
              <a:ext cx="295" cy="477"/>
            </a:xfrm>
            <a:prstGeom prst="rect">
              <a:avLst/>
            </a:prstGeom>
            <a:solidFill>
              <a:srgbClr val="21BFCB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3</a:t>
              </a:r>
            </a:p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69682" name="Rectangle 5"/>
            <p:cNvSpPr>
              <a:spLocks noChangeArrowheads="1"/>
            </p:cNvSpPr>
            <p:nvPr/>
          </p:nvSpPr>
          <p:spPr bwMode="auto">
            <a:xfrm>
              <a:off x="2738" y="3121"/>
              <a:ext cx="372" cy="477"/>
            </a:xfrm>
            <a:prstGeom prst="rect">
              <a:avLst/>
            </a:prstGeom>
            <a:solidFill>
              <a:srgbClr val="21BFCB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1</a:t>
              </a:r>
            </a:p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69683" name="Rectangle 6"/>
            <p:cNvSpPr>
              <a:spLocks noChangeArrowheads="1"/>
            </p:cNvSpPr>
            <p:nvPr/>
          </p:nvSpPr>
          <p:spPr bwMode="auto">
            <a:xfrm>
              <a:off x="2363" y="3121"/>
              <a:ext cx="373" cy="477"/>
            </a:xfrm>
            <a:prstGeom prst="rect">
              <a:avLst/>
            </a:prstGeom>
            <a:solidFill>
              <a:srgbClr val="21BFCB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3</a:t>
              </a:r>
            </a:p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69684" name="Rectangle 7"/>
            <p:cNvSpPr>
              <a:spLocks noChangeArrowheads="1"/>
            </p:cNvSpPr>
            <p:nvPr/>
          </p:nvSpPr>
          <p:spPr bwMode="auto">
            <a:xfrm>
              <a:off x="1989" y="3121"/>
              <a:ext cx="372" cy="477"/>
            </a:xfrm>
            <a:prstGeom prst="rect">
              <a:avLst/>
            </a:prstGeom>
            <a:solidFill>
              <a:srgbClr val="21BFCB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0</a:t>
              </a:r>
            </a:p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69685" name="Rectangle 8"/>
            <p:cNvSpPr>
              <a:spLocks noChangeArrowheads="1"/>
            </p:cNvSpPr>
            <p:nvPr/>
          </p:nvSpPr>
          <p:spPr bwMode="auto">
            <a:xfrm>
              <a:off x="1614" y="3121"/>
              <a:ext cx="373" cy="477"/>
            </a:xfrm>
            <a:prstGeom prst="rect">
              <a:avLst/>
            </a:prstGeom>
            <a:solidFill>
              <a:srgbClr val="21BFCB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2</a:t>
              </a:r>
            </a:p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69686" name="Rectangle 9"/>
            <p:cNvSpPr>
              <a:spLocks noChangeArrowheads="1"/>
            </p:cNvSpPr>
            <p:nvPr/>
          </p:nvSpPr>
          <p:spPr bwMode="auto">
            <a:xfrm>
              <a:off x="1240" y="3121"/>
              <a:ext cx="372" cy="477"/>
            </a:xfrm>
            <a:prstGeom prst="rect">
              <a:avLst/>
            </a:prstGeom>
            <a:solidFill>
              <a:srgbClr val="21BFCB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1</a:t>
              </a:r>
            </a:p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9687" name="Rectangle 10"/>
            <p:cNvSpPr>
              <a:spLocks noChangeArrowheads="1"/>
            </p:cNvSpPr>
            <p:nvPr/>
          </p:nvSpPr>
          <p:spPr bwMode="auto">
            <a:xfrm>
              <a:off x="865" y="3121"/>
              <a:ext cx="373" cy="477"/>
            </a:xfrm>
            <a:prstGeom prst="rect">
              <a:avLst/>
            </a:prstGeom>
            <a:solidFill>
              <a:srgbClr val="21BFCB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3</a:t>
              </a:r>
            </a:p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69688" name="Line 11"/>
            <p:cNvSpPr>
              <a:spLocks noChangeShapeType="1"/>
            </p:cNvSpPr>
            <p:nvPr/>
          </p:nvSpPr>
          <p:spPr bwMode="auto">
            <a:xfrm>
              <a:off x="864" y="3120"/>
              <a:ext cx="254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89" name="Line 12"/>
            <p:cNvSpPr>
              <a:spLocks noChangeShapeType="1"/>
            </p:cNvSpPr>
            <p:nvPr/>
          </p:nvSpPr>
          <p:spPr bwMode="auto">
            <a:xfrm>
              <a:off x="864" y="3599"/>
              <a:ext cx="254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90" name="Line 13"/>
            <p:cNvSpPr>
              <a:spLocks noChangeShapeType="1"/>
            </p:cNvSpPr>
            <p:nvPr/>
          </p:nvSpPr>
          <p:spPr bwMode="auto">
            <a:xfrm>
              <a:off x="864" y="3120"/>
              <a:ext cx="0" cy="47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91" name="Line 14"/>
            <p:cNvSpPr>
              <a:spLocks noChangeShapeType="1"/>
            </p:cNvSpPr>
            <p:nvPr/>
          </p:nvSpPr>
          <p:spPr bwMode="auto">
            <a:xfrm>
              <a:off x="1239" y="3120"/>
              <a:ext cx="0" cy="4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92" name="Line 15"/>
            <p:cNvSpPr>
              <a:spLocks noChangeShapeType="1"/>
            </p:cNvSpPr>
            <p:nvPr/>
          </p:nvSpPr>
          <p:spPr bwMode="auto">
            <a:xfrm>
              <a:off x="1613" y="3120"/>
              <a:ext cx="0" cy="4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93" name="Line 16"/>
            <p:cNvSpPr>
              <a:spLocks noChangeShapeType="1"/>
            </p:cNvSpPr>
            <p:nvPr/>
          </p:nvSpPr>
          <p:spPr bwMode="auto">
            <a:xfrm>
              <a:off x="1988" y="3120"/>
              <a:ext cx="0" cy="4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94" name="Line 17"/>
            <p:cNvSpPr>
              <a:spLocks noChangeShapeType="1"/>
            </p:cNvSpPr>
            <p:nvPr/>
          </p:nvSpPr>
          <p:spPr bwMode="auto">
            <a:xfrm>
              <a:off x="2362" y="3120"/>
              <a:ext cx="0" cy="4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95" name="Line 18"/>
            <p:cNvSpPr>
              <a:spLocks noChangeShapeType="1"/>
            </p:cNvSpPr>
            <p:nvPr/>
          </p:nvSpPr>
          <p:spPr bwMode="auto">
            <a:xfrm>
              <a:off x="2737" y="3120"/>
              <a:ext cx="0" cy="4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96" name="Line 19"/>
            <p:cNvSpPr>
              <a:spLocks noChangeShapeType="1"/>
            </p:cNvSpPr>
            <p:nvPr/>
          </p:nvSpPr>
          <p:spPr bwMode="auto">
            <a:xfrm>
              <a:off x="3111" y="3120"/>
              <a:ext cx="0" cy="4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97" name="Line 20"/>
            <p:cNvSpPr>
              <a:spLocks noChangeShapeType="1"/>
            </p:cNvSpPr>
            <p:nvPr/>
          </p:nvSpPr>
          <p:spPr bwMode="auto">
            <a:xfrm>
              <a:off x="3408" y="3120"/>
              <a:ext cx="0" cy="47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636" name="Group 21"/>
          <p:cNvGrpSpPr>
            <a:grpSpLocks/>
          </p:cNvGrpSpPr>
          <p:nvPr/>
        </p:nvGrpSpPr>
        <p:grpSpPr bwMode="auto">
          <a:xfrm>
            <a:off x="1219200" y="1447800"/>
            <a:ext cx="4343400" cy="1749425"/>
            <a:chOff x="768" y="1248"/>
            <a:chExt cx="2736" cy="1102"/>
          </a:xfrm>
        </p:grpSpPr>
        <p:sp>
          <p:nvSpPr>
            <p:cNvPr id="69663" name="Rectangle 22"/>
            <p:cNvSpPr>
              <a:spLocks noChangeArrowheads="1"/>
            </p:cNvSpPr>
            <p:nvPr/>
          </p:nvSpPr>
          <p:spPr bwMode="auto">
            <a:xfrm>
              <a:off x="1421" y="2112"/>
              <a:ext cx="2082" cy="237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(2,5)</a:t>
              </a:r>
            </a:p>
          </p:txBody>
        </p:sp>
        <p:sp>
          <p:nvSpPr>
            <p:cNvPr id="69664" name="Rectangle 23"/>
            <p:cNvSpPr>
              <a:spLocks noChangeArrowheads="1"/>
            </p:cNvSpPr>
            <p:nvPr/>
          </p:nvSpPr>
          <p:spPr bwMode="auto">
            <a:xfrm>
              <a:off x="769" y="2112"/>
              <a:ext cx="650" cy="237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400</a:t>
              </a:r>
            </a:p>
          </p:txBody>
        </p:sp>
        <p:sp>
          <p:nvSpPr>
            <p:cNvPr id="69665" name="Rectangle 24"/>
            <p:cNvSpPr>
              <a:spLocks noChangeArrowheads="1"/>
            </p:cNvSpPr>
            <p:nvPr/>
          </p:nvSpPr>
          <p:spPr bwMode="auto">
            <a:xfrm>
              <a:off x="1421" y="1709"/>
              <a:ext cx="2082" cy="401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(1,2) (1,3), (1,5), (2,3), (2,5), (3,5)</a:t>
              </a:r>
            </a:p>
          </p:txBody>
        </p:sp>
        <p:sp>
          <p:nvSpPr>
            <p:cNvPr id="69666" name="Rectangle 25"/>
            <p:cNvSpPr>
              <a:spLocks noChangeArrowheads="1"/>
            </p:cNvSpPr>
            <p:nvPr/>
          </p:nvSpPr>
          <p:spPr bwMode="auto">
            <a:xfrm>
              <a:off x="769" y="1709"/>
              <a:ext cx="650" cy="401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300</a:t>
              </a:r>
            </a:p>
          </p:txBody>
        </p:sp>
        <p:sp>
          <p:nvSpPr>
            <p:cNvPr id="69667" name="Rectangle 26"/>
            <p:cNvSpPr>
              <a:spLocks noChangeArrowheads="1"/>
            </p:cNvSpPr>
            <p:nvPr/>
          </p:nvSpPr>
          <p:spPr bwMode="auto">
            <a:xfrm>
              <a:off x="1421" y="1479"/>
              <a:ext cx="2082" cy="228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(2,3) (2,5), (3,5)</a:t>
              </a:r>
            </a:p>
          </p:txBody>
        </p:sp>
        <p:sp>
          <p:nvSpPr>
            <p:cNvPr id="69668" name="Rectangle 27"/>
            <p:cNvSpPr>
              <a:spLocks noChangeArrowheads="1"/>
            </p:cNvSpPr>
            <p:nvPr/>
          </p:nvSpPr>
          <p:spPr bwMode="auto">
            <a:xfrm>
              <a:off x="769" y="1479"/>
              <a:ext cx="650" cy="228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200</a:t>
              </a:r>
            </a:p>
          </p:txBody>
        </p:sp>
        <p:sp>
          <p:nvSpPr>
            <p:cNvPr id="69669" name="Rectangle 28"/>
            <p:cNvSpPr>
              <a:spLocks noChangeArrowheads="1"/>
            </p:cNvSpPr>
            <p:nvPr/>
          </p:nvSpPr>
          <p:spPr bwMode="auto">
            <a:xfrm>
              <a:off x="1421" y="1249"/>
              <a:ext cx="2082" cy="228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(1,3) (1,4), (3,4)</a:t>
              </a:r>
            </a:p>
          </p:txBody>
        </p:sp>
        <p:sp>
          <p:nvSpPr>
            <p:cNvPr id="69670" name="Rectangle 29"/>
            <p:cNvSpPr>
              <a:spLocks noChangeArrowheads="1"/>
            </p:cNvSpPr>
            <p:nvPr/>
          </p:nvSpPr>
          <p:spPr bwMode="auto">
            <a:xfrm>
              <a:off x="769" y="1249"/>
              <a:ext cx="650" cy="228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100</a:t>
              </a:r>
            </a:p>
          </p:txBody>
        </p:sp>
        <p:sp>
          <p:nvSpPr>
            <p:cNvPr id="69671" name="Line 30"/>
            <p:cNvSpPr>
              <a:spLocks noChangeShapeType="1"/>
            </p:cNvSpPr>
            <p:nvPr/>
          </p:nvSpPr>
          <p:spPr bwMode="auto">
            <a:xfrm>
              <a:off x="768" y="1478"/>
              <a:ext cx="2736" cy="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72" name="Line 31"/>
            <p:cNvSpPr>
              <a:spLocks noChangeShapeType="1"/>
            </p:cNvSpPr>
            <p:nvPr/>
          </p:nvSpPr>
          <p:spPr bwMode="auto">
            <a:xfrm>
              <a:off x="768" y="1708"/>
              <a:ext cx="2736" cy="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73" name="Line 32"/>
            <p:cNvSpPr>
              <a:spLocks noChangeShapeType="1"/>
            </p:cNvSpPr>
            <p:nvPr/>
          </p:nvSpPr>
          <p:spPr bwMode="auto">
            <a:xfrm>
              <a:off x="768" y="2111"/>
              <a:ext cx="2736" cy="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74" name="Line 33"/>
            <p:cNvSpPr>
              <a:spLocks noChangeShapeType="1"/>
            </p:cNvSpPr>
            <p:nvPr/>
          </p:nvSpPr>
          <p:spPr bwMode="auto">
            <a:xfrm>
              <a:off x="768" y="2350"/>
              <a:ext cx="2736" cy="0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75" name="Line 34"/>
            <p:cNvSpPr>
              <a:spLocks noChangeShapeType="1"/>
            </p:cNvSpPr>
            <p:nvPr/>
          </p:nvSpPr>
          <p:spPr bwMode="auto">
            <a:xfrm>
              <a:off x="768" y="1248"/>
              <a:ext cx="0" cy="110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76" name="Line 35"/>
            <p:cNvSpPr>
              <a:spLocks noChangeShapeType="1"/>
            </p:cNvSpPr>
            <p:nvPr/>
          </p:nvSpPr>
          <p:spPr bwMode="auto">
            <a:xfrm>
              <a:off x="1420" y="1248"/>
              <a:ext cx="0" cy="1102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77" name="Line 36"/>
            <p:cNvSpPr>
              <a:spLocks noChangeShapeType="1"/>
            </p:cNvSpPr>
            <p:nvPr/>
          </p:nvSpPr>
          <p:spPr bwMode="auto">
            <a:xfrm>
              <a:off x="3504" y="1248"/>
              <a:ext cx="0" cy="230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78" name="Line 37"/>
            <p:cNvSpPr>
              <a:spLocks noChangeShapeType="1"/>
            </p:cNvSpPr>
            <p:nvPr/>
          </p:nvSpPr>
          <p:spPr bwMode="auto">
            <a:xfrm>
              <a:off x="1420" y="1248"/>
              <a:ext cx="2084" cy="0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79" name="Line 38"/>
            <p:cNvSpPr>
              <a:spLocks noChangeShapeType="1"/>
            </p:cNvSpPr>
            <p:nvPr/>
          </p:nvSpPr>
          <p:spPr bwMode="auto">
            <a:xfrm>
              <a:off x="768" y="1248"/>
              <a:ext cx="652" cy="0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80" name="Line 39"/>
            <p:cNvSpPr>
              <a:spLocks noChangeShapeType="1"/>
            </p:cNvSpPr>
            <p:nvPr/>
          </p:nvSpPr>
          <p:spPr bwMode="auto">
            <a:xfrm>
              <a:off x="3504" y="1478"/>
              <a:ext cx="0" cy="87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6264" name="Rectangle 40"/>
          <p:cNvSpPr>
            <a:spLocks noChangeArrowheads="1"/>
          </p:cNvSpPr>
          <p:nvPr/>
        </p:nvSpPr>
        <p:spPr bwMode="auto">
          <a:xfrm>
            <a:off x="5791200" y="1728788"/>
            <a:ext cx="3343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H(x,y)= {(order of x)*10+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	(order of y)} mod 7</a:t>
            </a:r>
          </a:p>
        </p:txBody>
      </p: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1371600" y="3352800"/>
            <a:ext cx="4038600" cy="1025525"/>
            <a:chOff x="864" y="2448"/>
            <a:chExt cx="2544" cy="646"/>
          </a:xfrm>
        </p:grpSpPr>
        <p:sp>
          <p:nvSpPr>
            <p:cNvPr id="69646" name="Rectangle 42"/>
            <p:cNvSpPr>
              <a:spLocks noChangeArrowheads="1"/>
            </p:cNvSpPr>
            <p:nvPr/>
          </p:nvSpPr>
          <p:spPr bwMode="auto">
            <a:xfrm>
              <a:off x="3039" y="2449"/>
              <a:ext cx="368" cy="64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1,3</a:t>
              </a:r>
            </a:p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3,4</a:t>
              </a:r>
            </a:p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1,3</a:t>
              </a:r>
            </a:p>
          </p:txBody>
        </p:sp>
        <p:sp>
          <p:nvSpPr>
            <p:cNvPr id="69647" name="Rectangle 43"/>
            <p:cNvSpPr>
              <a:spLocks noChangeArrowheads="1"/>
            </p:cNvSpPr>
            <p:nvPr/>
          </p:nvSpPr>
          <p:spPr bwMode="auto">
            <a:xfrm>
              <a:off x="2683" y="2449"/>
              <a:ext cx="354" cy="64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endParaRPr lang="en-US" altLang="en-US" sz="1800" b="1">
                <a:solidFill>
                  <a:srgbClr val="000000"/>
                </a:solidFill>
              </a:endParaRPr>
            </a:p>
            <a:p>
              <a:pPr eaLnBrk="1" hangingPunct="1">
                <a:buClrTx/>
                <a:buSzTx/>
                <a:buFontTx/>
                <a:buNone/>
              </a:pPr>
              <a:endParaRPr lang="en-US" altLang="en-US" sz="1800" b="1">
                <a:solidFill>
                  <a:srgbClr val="000000"/>
                </a:solidFill>
              </a:endParaRPr>
            </a:p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1,2</a:t>
              </a:r>
            </a:p>
          </p:txBody>
        </p:sp>
        <p:sp>
          <p:nvSpPr>
            <p:cNvPr id="69648" name="Rectangle 44"/>
            <p:cNvSpPr>
              <a:spLocks noChangeArrowheads="1"/>
            </p:cNvSpPr>
            <p:nvPr/>
          </p:nvSpPr>
          <p:spPr bwMode="auto">
            <a:xfrm>
              <a:off x="2319" y="2449"/>
              <a:ext cx="362" cy="64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2,5</a:t>
              </a:r>
            </a:p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2,5</a:t>
              </a:r>
            </a:p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2,5</a:t>
              </a:r>
            </a:p>
          </p:txBody>
        </p:sp>
        <p:sp>
          <p:nvSpPr>
            <p:cNvPr id="69649" name="Rectangle 45"/>
            <p:cNvSpPr>
              <a:spLocks noChangeArrowheads="1"/>
            </p:cNvSpPr>
            <p:nvPr/>
          </p:nvSpPr>
          <p:spPr bwMode="auto">
            <a:xfrm>
              <a:off x="1955" y="2449"/>
              <a:ext cx="362" cy="64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9650" name="Rectangle 46"/>
            <p:cNvSpPr>
              <a:spLocks noChangeArrowheads="1"/>
            </p:cNvSpPr>
            <p:nvPr/>
          </p:nvSpPr>
          <p:spPr bwMode="auto">
            <a:xfrm>
              <a:off x="1591" y="2449"/>
              <a:ext cx="362" cy="64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endParaRPr lang="en-US" altLang="en-US" sz="1800" b="1">
                <a:solidFill>
                  <a:srgbClr val="000000"/>
                </a:solidFill>
              </a:endParaRPr>
            </a:p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2,3</a:t>
              </a:r>
            </a:p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2,3</a:t>
              </a:r>
            </a:p>
          </p:txBody>
        </p:sp>
        <p:sp>
          <p:nvSpPr>
            <p:cNvPr id="69651" name="Rectangle 47"/>
            <p:cNvSpPr>
              <a:spLocks noChangeArrowheads="1"/>
            </p:cNvSpPr>
            <p:nvPr/>
          </p:nvSpPr>
          <p:spPr bwMode="auto">
            <a:xfrm>
              <a:off x="1229" y="2449"/>
              <a:ext cx="360" cy="64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endParaRPr lang="en-US" altLang="en-US" sz="1800" b="1">
                <a:solidFill>
                  <a:srgbClr val="000000"/>
                </a:solidFill>
              </a:endParaRPr>
            </a:p>
            <a:p>
              <a:pPr eaLnBrk="1" hangingPunct="1">
                <a:buClrTx/>
                <a:buSzTx/>
                <a:buFontTx/>
                <a:buNone/>
              </a:pPr>
              <a:endParaRPr lang="en-US" altLang="en-US" sz="1800" b="1">
                <a:solidFill>
                  <a:srgbClr val="000000"/>
                </a:solidFill>
              </a:endParaRPr>
            </a:p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1,5</a:t>
              </a:r>
            </a:p>
          </p:txBody>
        </p:sp>
        <p:sp>
          <p:nvSpPr>
            <p:cNvPr id="69652" name="Rectangle 48"/>
            <p:cNvSpPr>
              <a:spLocks noChangeArrowheads="1"/>
            </p:cNvSpPr>
            <p:nvPr/>
          </p:nvSpPr>
          <p:spPr bwMode="auto">
            <a:xfrm>
              <a:off x="865" y="2449"/>
              <a:ext cx="362" cy="64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3,5</a:t>
              </a:r>
            </a:p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3,5</a:t>
              </a:r>
            </a:p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</a:rPr>
                <a:t>1,4</a:t>
              </a:r>
            </a:p>
          </p:txBody>
        </p:sp>
        <p:sp>
          <p:nvSpPr>
            <p:cNvPr id="69653" name="Line 49"/>
            <p:cNvSpPr>
              <a:spLocks noChangeShapeType="1"/>
            </p:cNvSpPr>
            <p:nvPr/>
          </p:nvSpPr>
          <p:spPr bwMode="auto">
            <a:xfrm>
              <a:off x="864" y="2448"/>
              <a:ext cx="254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4" name="Line 50"/>
            <p:cNvSpPr>
              <a:spLocks noChangeShapeType="1"/>
            </p:cNvSpPr>
            <p:nvPr/>
          </p:nvSpPr>
          <p:spPr bwMode="auto">
            <a:xfrm>
              <a:off x="864" y="3094"/>
              <a:ext cx="254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5" name="Line 51"/>
            <p:cNvSpPr>
              <a:spLocks noChangeShapeType="1"/>
            </p:cNvSpPr>
            <p:nvPr/>
          </p:nvSpPr>
          <p:spPr bwMode="auto">
            <a:xfrm>
              <a:off x="864" y="2448"/>
              <a:ext cx="0" cy="64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6" name="Line 52"/>
            <p:cNvSpPr>
              <a:spLocks noChangeShapeType="1"/>
            </p:cNvSpPr>
            <p:nvPr/>
          </p:nvSpPr>
          <p:spPr bwMode="auto">
            <a:xfrm>
              <a:off x="1228" y="2448"/>
              <a:ext cx="0" cy="6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7" name="Line 53"/>
            <p:cNvSpPr>
              <a:spLocks noChangeShapeType="1"/>
            </p:cNvSpPr>
            <p:nvPr/>
          </p:nvSpPr>
          <p:spPr bwMode="auto">
            <a:xfrm>
              <a:off x="1590" y="2448"/>
              <a:ext cx="0" cy="6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8" name="Line 54"/>
            <p:cNvSpPr>
              <a:spLocks noChangeShapeType="1"/>
            </p:cNvSpPr>
            <p:nvPr/>
          </p:nvSpPr>
          <p:spPr bwMode="auto">
            <a:xfrm>
              <a:off x="1954" y="2448"/>
              <a:ext cx="0" cy="6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9" name="Line 55"/>
            <p:cNvSpPr>
              <a:spLocks noChangeShapeType="1"/>
            </p:cNvSpPr>
            <p:nvPr/>
          </p:nvSpPr>
          <p:spPr bwMode="auto">
            <a:xfrm>
              <a:off x="2318" y="2448"/>
              <a:ext cx="0" cy="6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60" name="Line 56"/>
            <p:cNvSpPr>
              <a:spLocks noChangeShapeType="1"/>
            </p:cNvSpPr>
            <p:nvPr/>
          </p:nvSpPr>
          <p:spPr bwMode="auto">
            <a:xfrm>
              <a:off x="2682" y="2448"/>
              <a:ext cx="0" cy="6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61" name="Line 57"/>
            <p:cNvSpPr>
              <a:spLocks noChangeShapeType="1"/>
            </p:cNvSpPr>
            <p:nvPr/>
          </p:nvSpPr>
          <p:spPr bwMode="auto">
            <a:xfrm>
              <a:off x="3038" y="2448"/>
              <a:ext cx="0" cy="6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62" name="Line 58"/>
            <p:cNvSpPr>
              <a:spLocks noChangeShapeType="1"/>
            </p:cNvSpPr>
            <p:nvPr/>
          </p:nvSpPr>
          <p:spPr bwMode="auto">
            <a:xfrm>
              <a:off x="3408" y="2448"/>
              <a:ext cx="0" cy="64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6283" name="Rectangle 59"/>
          <p:cNvSpPr>
            <a:spLocks noChangeArrowheads="1"/>
          </p:cNvSpPr>
          <p:nvPr/>
        </p:nvSpPr>
        <p:spPr bwMode="auto">
          <a:xfrm>
            <a:off x="5715000" y="3608388"/>
            <a:ext cx="2097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Hash Table H</a:t>
            </a:r>
            <a:r>
              <a:rPr lang="en-US" altLang="en-US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36284" name="Rectangle 60"/>
          <p:cNvSpPr>
            <a:spLocks noChangeArrowheads="1"/>
          </p:cNvSpPr>
          <p:nvPr/>
        </p:nvSpPr>
        <p:spPr bwMode="auto">
          <a:xfrm>
            <a:off x="1219200" y="6096000"/>
            <a:ext cx="76962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1        3        1        2      3       3     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No. in the bucket with </a:t>
            </a:r>
            <a:r>
              <a:rPr lang="en-US" altLang="en-US" sz="20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itemset</a:t>
            </a:r>
            <a:endParaRPr lang="en-US" altLang="en-US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6286" name="Rectangle 62"/>
          <p:cNvSpPr>
            <a:spLocks noChangeArrowheads="1"/>
          </p:cNvSpPr>
          <p:nvPr/>
        </p:nvSpPr>
        <p:spPr bwMode="auto">
          <a:xfrm>
            <a:off x="0" y="5562600"/>
            <a:ext cx="586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L1*L1=({1,2},{1,3},{1,5},{2,3} {2,5},{3,5})</a:t>
            </a:r>
          </a:p>
        </p:txBody>
      </p:sp>
      <p:sp>
        <p:nvSpPr>
          <p:cNvPr id="436287" name="Rectangle 63"/>
          <p:cNvSpPr>
            <a:spLocks noChangeArrowheads="1"/>
          </p:cNvSpPr>
          <p:nvPr/>
        </p:nvSpPr>
        <p:spPr bwMode="auto">
          <a:xfrm>
            <a:off x="152400" y="1447800"/>
            <a:ext cx="10668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{1,3}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{2,3}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{2,5}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{3,5}</a:t>
            </a:r>
          </a:p>
        </p:txBody>
      </p:sp>
      <p:sp>
        <p:nvSpPr>
          <p:cNvPr id="436288" name="Rectangle 64"/>
          <p:cNvSpPr>
            <a:spLocks noChangeArrowheads="1"/>
          </p:cNvSpPr>
          <p:nvPr/>
        </p:nvSpPr>
        <p:spPr bwMode="auto">
          <a:xfrm>
            <a:off x="5562600" y="4343400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count</a:t>
            </a:r>
          </a:p>
        </p:txBody>
      </p:sp>
      <p:sp>
        <p:nvSpPr>
          <p:cNvPr id="436289" name="Rectangle 65"/>
          <p:cNvSpPr>
            <a:spLocks noChangeArrowheads="1"/>
          </p:cNvSpPr>
          <p:nvPr/>
        </p:nvSpPr>
        <p:spPr bwMode="auto">
          <a:xfrm>
            <a:off x="5486400" y="4724400"/>
            <a:ext cx="1497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Bucket no</a:t>
            </a:r>
          </a:p>
        </p:txBody>
      </p:sp>
    </p:spTree>
    <p:extLst>
      <p:ext uri="{BB962C8B-B14F-4D97-AF65-F5344CB8AC3E}">
        <p14:creationId xmlns:p14="http://schemas.microsoft.com/office/powerpoint/2010/main" val="364663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6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6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6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62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6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6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6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6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6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6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6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6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36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6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36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36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36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36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36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36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362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362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62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62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64" grpId="0" build="p" autoUpdateAnimBg="0"/>
      <p:bldP spid="436283" grpId="0" build="p" autoUpdateAnimBg="0" advAuto="0"/>
      <p:bldP spid="436284" grpId="0" build="p" autoUpdateAnimBg="0"/>
      <p:bldP spid="436286" grpId="0" build="p" autoUpdateAnimBg="0"/>
      <p:bldP spid="436287" grpId="0" build="p" autoUpdateAnimBg="0"/>
      <p:bldP spid="436288" grpId="0" build="p" autoUpdateAnimBg="0" advAuto="0"/>
      <p:bldP spid="436289" grpId="0" build="p" autoUpdateAnimBg="0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FP-growth Algorithm</a:t>
            </a:r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dirty="0" smtClean="0"/>
              <a:t>Use a compressed representation of the database using an </a:t>
            </a:r>
            <a:r>
              <a:rPr lang="en-US" sz="2800" dirty="0" smtClean="0">
                <a:solidFill>
                  <a:srgbClr val="FF0000"/>
                </a:solidFill>
              </a:rPr>
              <a:t>FP-tree</a:t>
            </a:r>
          </a:p>
          <a:p>
            <a:pPr eaLnBrk="1" hangingPunct="1">
              <a:defRPr/>
            </a:pPr>
            <a:endParaRPr lang="en-US" sz="2800" dirty="0" smtClean="0"/>
          </a:p>
          <a:p>
            <a:pPr eaLnBrk="1" hangingPunct="1">
              <a:defRPr/>
            </a:pPr>
            <a:r>
              <a:rPr lang="en-US" sz="2800" dirty="0" smtClean="0"/>
              <a:t>Once an FP-tree has been constructed, it uses a recursive divide-and-conquer approach to mine the frequent </a:t>
            </a:r>
            <a:r>
              <a:rPr lang="en-US" sz="2800" dirty="0" err="1" smtClean="0"/>
              <a:t>itemsets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53745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1350963" y="685800"/>
            <a:ext cx="779303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dirty="0">
                <a:solidFill>
                  <a:srgbClr val="FF0000"/>
                </a:solidFill>
                <a:latin typeface="Arial" panose="020B0604020202020204" pitchFamily="34" charset="0"/>
              </a:rPr>
              <a:t>FP Growth Algorithm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609600" y="1143000"/>
            <a:ext cx="7848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NO candidate Generation</a:t>
            </a:r>
          </a:p>
          <a:p>
            <a:pPr>
              <a:lnSpc>
                <a:spcPct val="140000"/>
              </a:lnSpc>
            </a:pPr>
            <a:r>
              <a:rPr kumimoji="0" lang="en-US" altLang="en-US" sz="2000" dirty="0"/>
              <a:t>A divide-and-conquer methodology: decompose mining tasks into smaller ones</a:t>
            </a:r>
            <a:endParaRPr lang="en-US" altLang="en-US" sz="200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Requires 2 scans of the Transaction DB</a:t>
            </a:r>
          </a:p>
          <a:p>
            <a:pPr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2 Phase algorithm</a:t>
            </a:r>
          </a:p>
          <a:p>
            <a:pPr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Phase I</a:t>
            </a:r>
          </a:p>
          <a:p>
            <a:pPr lvl="2"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Construct FP tree (Requires 2 TDB scans)</a:t>
            </a:r>
          </a:p>
          <a:p>
            <a:pPr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 Phase II</a:t>
            </a:r>
          </a:p>
          <a:p>
            <a:pPr lvl="2"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Uses FP tree (TDB is not used)</a:t>
            </a:r>
          </a:p>
          <a:p>
            <a:pPr lvl="2"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FP tree contains all information about FIs</a:t>
            </a:r>
          </a:p>
          <a:p>
            <a:pPr>
              <a:lnSpc>
                <a:spcPct val="140000"/>
              </a:lnSpc>
            </a:pPr>
            <a:endParaRPr lang="en-US" altLang="en-US" sz="200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40000"/>
              </a:lnSpc>
            </a:pPr>
            <a:endParaRPr lang="en-US" altLang="en-US" sz="2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7586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FP-tree construction</a:t>
            </a:r>
          </a:p>
        </p:txBody>
      </p:sp>
      <p:sp>
        <p:nvSpPr>
          <p:cNvPr id="75779" name="Oval 3"/>
          <p:cNvSpPr>
            <a:spLocks noChangeArrowheads="1"/>
          </p:cNvSpPr>
          <p:nvPr/>
        </p:nvSpPr>
        <p:spPr bwMode="auto">
          <a:xfrm>
            <a:off x="7010400" y="1143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533400" y="1905000"/>
          <a:ext cx="23749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6" name="Worksheet" r:id="rId3" imgW="1952887" imgH="3257967" progId="Excel.Sheet.8">
                  <p:embed/>
                </p:oleObj>
              </mc:Choice>
              <mc:Fallback>
                <p:oleObj name="Worksheet" r:id="rId3" imgW="1952887" imgH="325796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905000"/>
                        <a:ext cx="2374900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1" name="Oval 5"/>
          <p:cNvSpPr>
            <a:spLocks noChangeArrowheads="1"/>
          </p:cNvSpPr>
          <p:nvPr/>
        </p:nvSpPr>
        <p:spPr bwMode="auto">
          <a:xfrm>
            <a:off x="6629400" y="1828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82" name="Oval 6"/>
          <p:cNvSpPr>
            <a:spLocks noChangeArrowheads="1"/>
          </p:cNvSpPr>
          <p:nvPr/>
        </p:nvSpPr>
        <p:spPr bwMode="auto">
          <a:xfrm>
            <a:off x="6172200" y="2667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83" name="Oval 7"/>
          <p:cNvSpPr>
            <a:spLocks noChangeArrowheads="1"/>
          </p:cNvSpPr>
          <p:nvPr/>
        </p:nvSpPr>
        <p:spPr bwMode="auto">
          <a:xfrm>
            <a:off x="6858000" y="42672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84" name="Line 8"/>
          <p:cNvSpPr>
            <a:spLocks noChangeShapeType="1"/>
          </p:cNvSpPr>
          <p:nvPr/>
        </p:nvSpPr>
        <p:spPr bwMode="auto">
          <a:xfrm flipH="1">
            <a:off x="6858000" y="144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5" name="Line 9"/>
          <p:cNvSpPr>
            <a:spLocks noChangeShapeType="1"/>
          </p:cNvSpPr>
          <p:nvPr/>
        </p:nvSpPr>
        <p:spPr bwMode="auto">
          <a:xfrm flipH="1">
            <a:off x="6324600" y="21336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6" name="Oval 10"/>
          <p:cNvSpPr>
            <a:spLocks noChangeArrowheads="1"/>
          </p:cNvSpPr>
          <p:nvPr/>
        </p:nvSpPr>
        <p:spPr bwMode="auto">
          <a:xfrm>
            <a:off x="6248400" y="3657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87" name="Oval 11"/>
          <p:cNvSpPr>
            <a:spLocks noChangeArrowheads="1"/>
          </p:cNvSpPr>
          <p:nvPr/>
        </p:nvSpPr>
        <p:spPr bwMode="auto">
          <a:xfrm>
            <a:off x="5867400" y="4343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88" name="Oval 12"/>
          <p:cNvSpPr>
            <a:spLocks noChangeArrowheads="1"/>
          </p:cNvSpPr>
          <p:nvPr/>
        </p:nvSpPr>
        <p:spPr bwMode="auto">
          <a:xfrm>
            <a:off x="5410200" y="5181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89" name="Line 13"/>
          <p:cNvSpPr>
            <a:spLocks noChangeShapeType="1"/>
          </p:cNvSpPr>
          <p:nvPr/>
        </p:nvSpPr>
        <p:spPr bwMode="auto">
          <a:xfrm flipH="1">
            <a:off x="6096000" y="3962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0" name="Line 14"/>
          <p:cNvSpPr>
            <a:spLocks noChangeShapeType="1"/>
          </p:cNvSpPr>
          <p:nvPr/>
        </p:nvSpPr>
        <p:spPr bwMode="auto">
          <a:xfrm flipH="1">
            <a:off x="5562600" y="46482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1" name="Oval 15"/>
          <p:cNvSpPr>
            <a:spLocks noChangeArrowheads="1"/>
          </p:cNvSpPr>
          <p:nvPr/>
        </p:nvSpPr>
        <p:spPr bwMode="auto">
          <a:xfrm>
            <a:off x="7467600" y="5181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92" name="Oval 16"/>
          <p:cNvSpPr>
            <a:spLocks noChangeArrowheads="1"/>
          </p:cNvSpPr>
          <p:nvPr/>
        </p:nvSpPr>
        <p:spPr bwMode="auto">
          <a:xfrm>
            <a:off x="7924800" y="5943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93" name="Line 17"/>
          <p:cNvSpPr>
            <a:spLocks noChangeShapeType="1"/>
          </p:cNvSpPr>
          <p:nvPr/>
        </p:nvSpPr>
        <p:spPr bwMode="auto">
          <a:xfrm>
            <a:off x="6400800" y="3962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4" name="Line 18"/>
          <p:cNvSpPr>
            <a:spLocks noChangeShapeType="1"/>
          </p:cNvSpPr>
          <p:nvPr/>
        </p:nvSpPr>
        <p:spPr bwMode="auto">
          <a:xfrm flipH="1" flipV="1">
            <a:off x="7086600" y="45720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5" name="Line 19"/>
          <p:cNvSpPr>
            <a:spLocks noChangeShapeType="1"/>
          </p:cNvSpPr>
          <p:nvPr/>
        </p:nvSpPr>
        <p:spPr bwMode="auto">
          <a:xfrm>
            <a:off x="7696200" y="54864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6" name="Text Box 20"/>
          <p:cNvSpPr txBox="1">
            <a:spLocks noChangeArrowheads="1"/>
          </p:cNvSpPr>
          <p:nvPr/>
        </p:nvSpPr>
        <p:spPr bwMode="auto">
          <a:xfrm>
            <a:off x="6477000" y="990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null</a:t>
            </a:r>
          </a:p>
        </p:txBody>
      </p:sp>
      <p:sp>
        <p:nvSpPr>
          <p:cNvPr id="75797" name="Text Box 21"/>
          <p:cNvSpPr txBox="1">
            <a:spLocks noChangeArrowheads="1"/>
          </p:cNvSpPr>
          <p:nvPr/>
        </p:nvSpPr>
        <p:spPr bwMode="auto">
          <a:xfrm>
            <a:off x="6172200" y="1752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A:1</a:t>
            </a:r>
          </a:p>
        </p:txBody>
      </p:sp>
      <p:sp>
        <p:nvSpPr>
          <p:cNvPr id="75798" name="Text Box 22"/>
          <p:cNvSpPr txBox="1">
            <a:spLocks noChangeArrowheads="1"/>
          </p:cNvSpPr>
          <p:nvPr/>
        </p:nvSpPr>
        <p:spPr bwMode="auto">
          <a:xfrm>
            <a:off x="5715000" y="2590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B:1</a:t>
            </a:r>
          </a:p>
        </p:txBody>
      </p:sp>
      <p:sp>
        <p:nvSpPr>
          <p:cNvPr id="75799" name="Text Box 23"/>
          <p:cNvSpPr txBox="1">
            <a:spLocks noChangeArrowheads="1"/>
          </p:cNvSpPr>
          <p:nvPr/>
        </p:nvSpPr>
        <p:spPr bwMode="auto">
          <a:xfrm>
            <a:off x="5715000" y="3581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null</a:t>
            </a:r>
          </a:p>
        </p:txBody>
      </p:sp>
      <p:sp>
        <p:nvSpPr>
          <p:cNvPr id="75800" name="Text Box 24"/>
          <p:cNvSpPr txBox="1">
            <a:spLocks noChangeArrowheads="1"/>
          </p:cNvSpPr>
          <p:nvPr/>
        </p:nvSpPr>
        <p:spPr bwMode="auto">
          <a:xfrm>
            <a:off x="5334000" y="4267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A:1</a:t>
            </a:r>
          </a:p>
        </p:txBody>
      </p:sp>
      <p:sp>
        <p:nvSpPr>
          <p:cNvPr id="75801" name="Text Box 25"/>
          <p:cNvSpPr txBox="1">
            <a:spLocks noChangeArrowheads="1"/>
          </p:cNvSpPr>
          <p:nvPr/>
        </p:nvSpPr>
        <p:spPr bwMode="auto">
          <a:xfrm>
            <a:off x="4876800" y="510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B:1</a:t>
            </a:r>
          </a:p>
        </p:txBody>
      </p:sp>
      <p:sp>
        <p:nvSpPr>
          <p:cNvPr id="75802" name="Text Box 26"/>
          <p:cNvSpPr txBox="1">
            <a:spLocks noChangeArrowheads="1"/>
          </p:cNvSpPr>
          <p:nvPr/>
        </p:nvSpPr>
        <p:spPr bwMode="auto">
          <a:xfrm>
            <a:off x="7086600" y="4191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B:1</a:t>
            </a:r>
          </a:p>
        </p:txBody>
      </p:sp>
      <p:sp>
        <p:nvSpPr>
          <p:cNvPr id="75803" name="Text Box 27"/>
          <p:cNvSpPr txBox="1">
            <a:spLocks noChangeArrowheads="1"/>
          </p:cNvSpPr>
          <p:nvPr/>
        </p:nvSpPr>
        <p:spPr bwMode="auto">
          <a:xfrm>
            <a:off x="7848600" y="510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C:1</a:t>
            </a:r>
          </a:p>
        </p:txBody>
      </p:sp>
      <p:sp>
        <p:nvSpPr>
          <p:cNvPr id="75804" name="Text Box 28"/>
          <p:cNvSpPr txBox="1">
            <a:spLocks noChangeArrowheads="1"/>
          </p:cNvSpPr>
          <p:nvPr/>
        </p:nvSpPr>
        <p:spPr bwMode="auto">
          <a:xfrm>
            <a:off x="8229600" y="5867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5805" name="Text Box 29"/>
          <p:cNvSpPr txBox="1">
            <a:spLocks noChangeArrowheads="1"/>
          </p:cNvSpPr>
          <p:nvPr/>
        </p:nvSpPr>
        <p:spPr bwMode="auto">
          <a:xfrm>
            <a:off x="3276600" y="1219200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After reading TID=1:</a:t>
            </a:r>
          </a:p>
        </p:txBody>
      </p:sp>
      <p:sp>
        <p:nvSpPr>
          <p:cNvPr id="75806" name="Text Box 30"/>
          <p:cNvSpPr txBox="1">
            <a:spLocks noChangeArrowheads="1"/>
          </p:cNvSpPr>
          <p:nvPr/>
        </p:nvSpPr>
        <p:spPr bwMode="auto">
          <a:xfrm>
            <a:off x="3200400" y="3413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After reading TID=2:</a:t>
            </a:r>
          </a:p>
        </p:txBody>
      </p:sp>
      <p:sp>
        <p:nvSpPr>
          <p:cNvPr id="75807" name="Line 31"/>
          <p:cNvSpPr>
            <a:spLocks noChangeShapeType="1"/>
          </p:cNvSpPr>
          <p:nvPr/>
        </p:nvSpPr>
        <p:spPr bwMode="auto">
          <a:xfrm flipV="1">
            <a:off x="5715000" y="4495800"/>
            <a:ext cx="1143000" cy="8382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4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FP-Tree Construction</a:t>
            </a:r>
          </a:p>
        </p:txBody>
      </p:sp>
      <p:sp>
        <p:nvSpPr>
          <p:cNvPr id="76803" name="Oval 3"/>
          <p:cNvSpPr>
            <a:spLocks noChangeArrowheads="1"/>
          </p:cNvSpPr>
          <p:nvPr/>
        </p:nvSpPr>
        <p:spPr bwMode="auto">
          <a:xfrm>
            <a:off x="6705600" y="2514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04" name="Oval 4"/>
          <p:cNvSpPr>
            <a:spLocks noChangeArrowheads="1"/>
          </p:cNvSpPr>
          <p:nvPr/>
        </p:nvSpPr>
        <p:spPr bwMode="auto">
          <a:xfrm>
            <a:off x="5715000" y="1752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05" name="Oval 5"/>
          <p:cNvSpPr>
            <a:spLocks noChangeArrowheads="1"/>
          </p:cNvSpPr>
          <p:nvPr/>
        </p:nvSpPr>
        <p:spPr bwMode="auto">
          <a:xfrm>
            <a:off x="4648200" y="2590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06" name="Oval 6"/>
          <p:cNvSpPr>
            <a:spLocks noChangeArrowheads="1"/>
          </p:cNvSpPr>
          <p:nvPr/>
        </p:nvSpPr>
        <p:spPr bwMode="auto">
          <a:xfrm>
            <a:off x="3733800" y="3429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07" name="Line 7"/>
          <p:cNvSpPr>
            <a:spLocks noChangeShapeType="1"/>
          </p:cNvSpPr>
          <p:nvPr/>
        </p:nvSpPr>
        <p:spPr bwMode="auto">
          <a:xfrm flipH="1">
            <a:off x="4800600" y="2057400"/>
            <a:ext cx="1066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08" name="Line 8"/>
          <p:cNvSpPr>
            <a:spLocks noChangeShapeType="1"/>
          </p:cNvSpPr>
          <p:nvPr/>
        </p:nvSpPr>
        <p:spPr bwMode="auto">
          <a:xfrm flipH="1">
            <a:off x="3962400" y="28956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09" name="Oval 9"/>
          <p:cNvSpPr>
            <a:spLocks noChangeArrowheads="1"/>
          </p:cNvSpPr>
          <p:nvPr/>
        </p:nvSpPr>
        <p:spPr bwMode="auto">
          <a:xfrm>
            <a:off x="7315200" y="3429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10" name="Oval 10"/>
          <p:cNvSpPr>
            <a:spLocks noChangeArrowheads="1"/>
          </p:cNvSpPr>
          <p:nvPr/>
        </p:nvSpPr>
        <p:spPr bwMode="auto">
          <a:xfrm>
            <a:off x="7086600" y="4191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11" name="Line 11"/>
          <p:cNvSpPr>
            <a:spLocks noChangeShapeType="1"/>
          </p:cNvSpPr>
          <p:nvPr/>
        </p:nvSpPr>
        <p:spPr bwMode="auto">
          <a:xfrm>
            <a:off x="5867400" y="2057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2" name="Line 12"/>
          <p:cNvSpPr>
            <a:spLocks noChangeShapeType="1"/>
          </p:cNvSpPr>
          <p:nvPr/>
        </p:nvSpPr>
        <p:spPr bwMode="auto">
          <a:xfrm flipH="1" flipV="1">
            <a:off x="6934200" y="28194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3" name="Line 13"/>
          <p:cNvSpPr>
            <a:spLocks noChangeShapeType="1"/>
          </p:cNvSpPr>
          <p:nvPr/>
        </p:nvSpPr>
        <p:spPr bwMode="auto">
          <a:xfrm flipH="1">
            <a:off x="7315200" y="37338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4" name="Text Box 14"/>
          <p:cNvSpPr txBox="1">
            <a:spLocks noChangeArrowheads="1"/>
          </p:cNvSpPr>
          <p:nvPr/>
        </p:nvSpPr>
        <p:spPr bwMode="auto">
          <a:xfrm>
            <a:off x="5105400" y="1676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null</a:t>
            </a:r>
          </a:p>
        </p:txBody>
      </p:sp>
      <p:sp>
        <p:nvSpPr>
          <p:cNvPr id="76815" name="Text Box 15"/>
          <p:cNvSpPr txBox="1">
            <a:spLocks noChangeArrowheads="1"/>
          </p:cNvSpPr>
          <p:nvPr/>
        </p:nvSpPr>
        <p:spPr bwMode="auto">
          <a:xfrm>
            <a:off x="4114800" y="2514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 smtClean="0">
                <a:latin typeface="Times New Roman" panose="02020603050405020304" pitchFamily="18" charset="0"/>
              </a:rPr>
              <a:t>A:8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6816" name="Text Box 16"/>
          <p:cNvSpPr txBox="1">
            <a:spLocks noChangeArrowheads="1"/>
          </p:cNvSpPr>
          <p:nvPr/>
        </p:nvSpPr>
        <p:spPr bwMode="auto">
          <a:xfrm>
            <a:off x="3200400" y="3352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B:5</a:t>
            </a:r>
          </a:p>
        </p:txBody>
      </p:sp>
      <p:sp>
        <p:nvSpPr>
          <p:cNvPr id="76817" name="Text Box 17"/>
          <p:cNvSpPr txBox="1">
            <a:spLocks noChangeArrowheads="1"/>
          </p:cNvSpPr>
          <p:nvPr/>
        </p:nvSpPr>
        <p:spPr bwMode="auto">
          <a:xfrm>
            <a:off x="6934200" y="2438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 smtClean="0">
                <a:latin typeface="Times New Roman" panose="02020603050405020304" pitchFamily="18" charset="0"/>
              </a:rPr>
              <a:t>B:3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6818" name="Text Box 18"/>
          <p:cNvSpPr txBox="1">
            <a:spLocks noChangeArrowheads="1"/>
          </p:cNvSpPr>
          <p:nvPr/>
        </p:nvSpPr>
        <p:spPr bwMode="auto">
          <a:xfrm>
            <a:off x="7696200" y="3352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 smtClean="0">
                <a:latin typeface="Times New Roman" panose="02020603050405020304" pitchFamily="18" charset="0"/>
              </a:rPr>
              <a:t>C:3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6819" name="Text Box 19"/>
          <p:cNvSpPr txBox="1">
            <a:spLocks noChangeArrowheads="1"/>
          </p:cNvSpPr>
          <p:nvPr/>
        </p:nvSpPr>
        <p:spPr bwMode="auto">
          <a:xfrm>
            <a:off x="7391400" y="4114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6820" name="Oval 20"/>
          <p:cNvSpPr>
            <a:spLocks noChangeArrowheads="1"/>
          </p:cNvSpPr>
          <p:nvPr/>
        </p:nvSpPr>
        <p:spPr bwMode="auto">
          <a:xfrm>
            <a:off x="4572000" y="35655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21" name="Oval 21"/>
          <p:cNvSpPr>
            <a:spLocks noChangeArrowheads="1"/>
          </p:cNvSpPr>
          <p:nvPr/>
        </p:nvSpPr>
        <p:spPr bwMode="auto">
          <a:xfrm>
            <a:off x="4724400" y="4495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22" name="Line 22"/>
          <p:cNvSpPr>
            <a:spLocks noChangeShapeType="1"/>
          </p:cNvSpPr>
          <p:nvPr/>
        </p:nvSpPr>
        <p:spPr bwMode="auto">
          <a:xfrm flipV="1">
            <a:off x="4724400" y="28956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23" name="Line 23"/>
          <p:cNvSpPr>
            <a:spLocks noChangeShapeType="1"/>
          </p:cNvSpPr>
          <p:nvPr/>
        </p:nvSpPr>
        <p:spPr bwMode="auto">
          <a:xfrm>
            <a:off x="4724400" y="3886200"/>
            <a:ext cx="76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24" name="Text Box 24"/>
          <p:cNvSpPr txBox="1">
            <a:spLocks noChangeArrowheads="1"/>
          </p:cNvSpPr>
          <p:nvPr/>
        </p:nvSpPr>
        <p:spPr bwMode="auto">
          <a:xfrm>
            <a:off x="4876800" y="3505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C:1</a:t>
            </a:r>
          </a:p>
        </p:txBody>
      </p:sp>
      <p:sp>
        <p:nvSpPr>
          <p:cNvPr id="76825" name="Text Box 25"/>
          <p:cNvSpPr txBox="1">
            <a:spLocks noChangeArrowheads="1"/>
          </p:cNvSpPr>
          <p:nvPr/>
        </p:nvSpPr>
        <p:spPr bwMode="auto">
          <a:xfrm>
            <a:off x="5029200" y="4419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6826" name="Oval 26"/>
          <p:cNvSpPr>
            <a:spLocks noChangeArrowheads="1"/>
          </p:cNvSpPr>
          <p:nvPr/>
        </p:nvSpPr>
        <p:spPr bwMode="auto">
          <a:xfrm>
            <a:off x="3429000" y="4343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27" name="Text Box 27"/>
          <p:cNvSpPr txBox="1">
            <a:spLocks noChangeArrowheads="1"/>
          </p:cNvSpPr>
          <p:nvPr/>
        </p:nvSpPr>
        <p:spPr bwMode="auto">
          <a:xfrm>
            <a:off x="2895600" y="4267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C:3</a:t>
            </a:r>
          </a:p>
        </p:txBody>
      </p:sp>
      <p:sp>
        <p:nvSpPr>
          <p:cNvPr id="76828" name="Oval 28"/>
          <p:cNvSpPr>
            <a:spLocks noChangeArrowheads="1"/>
          </p:cNvSpPr>
          <p:nvPr/>
        </p:nvSpPr>
        <p:spPr bwMode="auto">
          <a:xfrm>
            <a:off x="3200400" y="5334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29" name="Text Box 29"/>
          <p:cNvSpPr txBox="1">
            <a:spLocks noChangeArrowheads="1"/>
          </p:cNvSpPr>
          <p:nvPr/>
        </p:nvSpPr>
        <p:spPr bwMode="auto">
          <a:xfrm>
            <a:off x="2743200" y="5181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6830" name="Line 30"/>
          <p:cNvSpPr>
            <a:spLocks noChangeShapeType="1"/>
          </p:cNvSpPr>
          <p:nvPr/>
        </p:nvSpPr>
        <p:spPr bwMode="auto">
          <a:xfrm flipV="1">
            <a:off x="3581400" y="37338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31" name="Line 31"/>
          <p:cNvSpPr>
            <a:spLocks noChangeShapeType="1"/>
          </p:cNvSpPr>
          <p:nvPr/>
        </p:nvSpPr>
        <p:spPr bwMode="auto">
          <a:xfrm flipH="1">
            <a:off x="3352800" y="46482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32" name="Oval 32"/>
          <p:cNvSpPr>
            <a:spLocks noChangeArrowheads="1"/>
          </p:cNvSpPr>
          <p:nvPr/>
        </p:nvSpPr>
        <p:spPr bwMode="auto">
          <a:xfrm>
            <a:off x="5562600" y="352107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33" name="Text Box 33"/>
          <p:cNvSpPr txBox="1">
            <a:spLocks noChangeArrowheads="1"/>
          </p:cNvSpPr>
          <p:nvPr/>
        </p:nvSpPr>
        <p:spPr bwMode="auto">
          <a:xfrm>
            <a:off x="5867400" y="3505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6834" name="Oval 34"/>
          <p:cNvSpPr>
            <a:spLocks noChangeArrowheads="1"/>
          </p:cNvSpPr>
          <p:nvPr/>
        </p:nvSpPr>
        <p:spPr bwMode="auto">
          <a:xfrm>
            <a:off x="5791200" y="4419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35" name="Text Box 35"/>
          <p:cNvSpPr txBox="1">
            <a:spLocks noChangeArrowheads="1"/>
          </p:cNvSpPr>
          <p:nvPr/>
        </p:nvSpPr>
        <p:spPr bwMode="auto">
          <a:xfrm>
            <a:off x="6019800" y="4419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E:1</a:t>
            </a:r>
          </a:p>
        </p:txBody>
      </p:sp>
      <p:sp>
        <p:nvSpPr>
          <p:cNvPr id="76836" name="Oval 36"/>
          <p:cNvSpPr>
            <a:spLocks noChangeArrowheads="1"/>
          </p:cNvSpPr>
          <p:nvPr/>
        </p:nvSpPr>
        <p:spPr bwMode="auto">
          <a:xfrm>
            <a:off x="8077200" y="4419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37" name="Text Box 37"/>
          <p:cNvSpPr txBox="1">
            <a:spLocks noChangeArrowheads="1"/>
          </p:cNvSpPr>
          <p:nvPr/>
        </p:nvSpPr>
        <p:spPr bwMode="auto">
          <a:xfrm>
            <a:off x="8305800" y="42672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E:1</a:t>
            </a:r>
          </a:p>
        </p:txBody>
      </p:sp>
      <p:sp>
        <p:nvSpPr>
          <p:cNvPr id="76838" name="Line 38"/>
          <p:cNvSpPr>
            <a:spLocks noChangeShapeType="1"/>
          </p:cNvSpPr>
          <p:nvPr/>
        </p:nvSpPr>
        <p:spPr bwMode="auto">
          <a:xfrm flipH="1" flipV="1">
            <a:off x="7467600" y="37338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39" name="Line 39"/>
          <p:cNvSpPr>
            <a:spLocks noChangeShapeType="1"/>
          </p:cNvSpPr>
          <p:nvPr/>
        </p:nvSpPr>
        <p:spPr bwMode="auto">
          <a:xfrm flipH="1" flipV="1">
            <a:off x="4800600" y="28956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0" name="Line 40"/>
          <p:cNvSpPr>
            <a:spLocks noChangeShapeType="1"/>
          </p:cNvSpPr>
          <p:nvPr/>
        </p:nvSpPr>
        <p:spPr bwMode="auto">
          <a:xfrm flipH="1" flipV="1">
            <a:off x="5715000" y="3810000"/>
            <a:ext cx="152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6841" name="Object 41"/>
          <p:cNvGraphicFramePr>
            <a:graphicFrameLocks noChangeAspect="1"/>
          </p:cNvGraphicFramePr>
          <p:nvPr/>
        </p:nvGraphicFramePr>
        <p:xfrm>
          <a:off x="381000" y="1143000"/>
          <a:ext cx="1690688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8" name="Worksheet" r:id="rId3" imgW="1952887" imgH="3257967" progId="Excel.Sheet.8">
                  <p:embed/>
                </p:oleObj>
              </mc:Choice>
              <mc:Fallback>
                <p:oleObj name="Worksheet" r:id="rId3" imgW="1952887" imgH="325796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1690688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42" name="Line 42"/>
          <p:cNvSpPr>
            <a:spLocks noChangeShapeType="1"/>
          </p:cNvSpPr>
          <p:nvPr/>
        </p:nvSpPr>
        <p:spPr bwMode="auto">
          <a:xfrm flipV="1">
            <a:off x="3505200" y="4572000"/>
            <a:ext cx="609600" cy="8382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3" name="Line 43"/>
          <p:cNvSpPr>
            <a:spLocks noChangeShapeType="1"/>
          </p:cNvSpPr>
          <p:nvPr/>
        </p:nvSpPr>
        <p:spPr bwMode="auto">
          <a:xfrm flipV="1">
            <a:off x="4953000" y="3825875"/>
            <a:ext cx="685800" cy="669925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4" name="Line 44"/>
          <p:cNvSpPr>
            <a:spLocks noChangeShapeType="1"/>
          </p:cNvSpPr>
          <p:nvPr/>
        </p:nvSpPr>
        <p:spPr bwMode="auto">
          <a:xfrm>
            <a:off x="5867400" y="3825875"/>
            <a:ext cx="1219200" cy="441325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5" name="Line 45"/>
          <p:cNvSpPr>
            <a:spLocks noChangeShapeType="1"/>
          </p:cNvSpPr>
          <p:nvPr/>
        </p:nvSpPr>
        <p:spPr bwMode="auto">
          <a:xfrm flipV="1">
            <a:off x="6477000" y="4572000"/>
            <a:ext cx="1600200" cy="15875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6" name="Line 46"/>
          <p:cNvSpPr>
            <a:spLocks noChangeShapeType="1"/>
          </p:cNvSpPr>
          <p:nvPr/>
        </p:nvSpPr>
        <p:spPr bwMode="auto">
          <a:xfrm flipV="1">
            <a:off x="3657600" y="3825875"/>
            <a:ext cx="914400" cy="593725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7" name="Line 47"/>
          <p:cNvSpPr>
            <a:spLocks noChangeShapeType="1"/>
          </p:cNvSpPr>
          <p:nvPr/>
        </p:nvSpPr>
        <p:spPr bwMode="auto">
          <a:xfrm flipV="1">
            <a:off x="5029200" y="3521075"/>
            <a:ext cx="2286000" cy="762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8" name="Line 48"/>
          <p:cNvSpPr>
            <a:spLocks noChangeShapeType="1"/>
          </p:cNvSpPr>
          <p:nvPr/>
        </p:nvSpPr>
        <p:spPr bwMode="auto">
          <a:xfrm flipV="1">
            <a:off x="4038600" y="2743200"/>
            <a:ext cx="2667000" cy="854075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9" name="Text Box 49"/>
          <p:cNvSpPr txBox="1">
            <a:spLocks noChangeArrowheads="1"/>
          </p:cNvSpPr>
          <p:nvPr/>
        </p:nvSpPr>
        <p:spPr bwMode="auto">
          <a:xfrm>
            <a:off x="5029200" y="5486400"/>
            <a:ext cx="3810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Pointers are used to assist frequent itemset generation</a:t>
            </a:r>
          </a:p>
        </p:txBody>
      </p:sp>
      <p:sp>
        <p:nvSpPr>
          <p:cNvPr id="76850" name="Oval 50"/>
          <p:cNvSpPr>
            <a:spLocks noChangeArrowheads="1"/>
          </p:cNvSpPr>
          <p:nvPr/>
        </p:nvSpPr>
        <p:spPr bwMode="auto">
          <a:xfrm>
            <a:off x="4114800" y="4343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51" name="Text Box 51"/>
          <p:cNvSpPr txBox="1">
            <a:spLocks noChangeArrowheads="1"/>
          </p:cNvSpPr>
          <p:nvPr/>
        </p:nvSpPr>
        <p:spPr bwMode="auto">
          <a:xfrm>
            <a:off x="3962400" y="4648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6852" name="Line 52"/>
          <p:cNvSpPr>
            <a:spLocks noChangeShapeType="1"/>
          </p:cNvSpPr>
          <p:nvPr/>
        </p:nvSpPr>
        <p:spPr bwMode="auto">
          <a:xfrm>
            <a:off x="4419600" y="4572000"/>
            <a:ext cx="304800" cy="762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53" name="Line 53"/>
          <p:cNvSpPr>
            <a:spLocks noChangeShapeType="1"/>
          </p:cNvSpPr>
          <p:nvPr/>
        </p:nvSpPr>
        <p:spPr bwMode="auto">
          <a:xfrm>
            <a:off x="3962400" y="37338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54" name="Oval 54"/>
          <p:cNvSpPr>
            <a:spLocks noChangeArrowheads="1"/>
          </p:cNvSpPr>
          <p:nvPr/>
        </p:nvSpPr>
        <p:spPr bwMode="auto">
          <a:xfrm>
            <a:off x="4724400" y="5105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55" name="Text Box 55"/>
          <p:cNvSpPr txBox="1">
            <a:spLocks noChangeArrowheads="1"/>
          </p:cNvSpPr>
          <p:nvPr/>
        </p:nvSpPr>
        <p:spPr bwMode="auto">
          <a:xfrm>
            <a:off x="5029200" y="5029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E:1</a:t>
            </a:r>
          </a:p>
        </p:txBody>
      </p:sp>
      <p:sp>
        <p:nvSpPr>
          <p:cNvPr id="76856" name="Line 56"/>
          <p:cNvSpPr>
            <a:spLocks noChangeShapeType="1"/>
          </p:cNvSpPr>
          <p:nvPr/>
        </p:nvSpPr>
        <p:spPr bwMode="auto">
          <a:xfrm>
            <a:off x="4876800" y="4800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57" name="Line 57"/>
          <p:cNvSpPr>
            <a:spLocks noChangeShapeType="1"/>
          </p:cNvSpPr>
          <p:nvPr/>
        </p:nvSpPr>
        <p:spPr bwMode="auto">
          <a:xfrm flipV="1">
            <a:off x="4953000" y="4648200"/>
            <a:ext cx="83820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58" name="Text Box 58"/>
          <p:cNvSpPr txBox="1">
            <a:spLocks noChangeArrowheads="1"/>
          </p:cNvSpPr>
          <p:nvPr/>
        </p:nvSpPr>
        <p:spPr bwMode="auto">
          <a:xfrm>
            <a:off x="2209800" y="1219200"/>
            <a:ext cx="152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Transaction Database</a:t>
            </a:r>
          </a:p>
        </p:txBody>
      </p:sp>
      <p:graphicFrame>
        <p:nvGraphicFramePr>
          <p:cNvPr id="76859" name="Object 59"/>
          <p:cNvGraphicFramePr>
            <a:graphicFrameLocks noChangeAspect="1"/>
          </p:cNvGraphicFramePr>
          <p:nvPr/>
        </p:nvGraphicFramePr>
        <p:xfrm>
          <a:off x="457200" y="4495800"/>
          <a:ext cx="1828800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9" name="Worksheet" r:id="rId5" imgW="1953006" imgH="1781658" progId="Excel.Sheet.8">
                  <p:embed/>
                </p:oleObj>
              </mc:Choice>
              <mc:Fallback>
                <p:oleObj name="Worksheet" r:id="rId5" imgW="1953006" imgH="1781658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495800"/>
                        <a:ext cx="1828800" cy="166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60" name="Line 60"/>
          <p:cNvSpPr>
            <a:spLocks noChangeShapeType="1"/>
          </p:cNvSpPr>
          <p:nvPr/>
        </p:nvSpPr>
        <p:spPr bwMode="auto">
          <a:xfrm flipV="1">
            <a:off x="2438400" y="2819400"/>
            <a:ext cx="220980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1" name="Line 61"/>
          <p:cNvSpPr>
            <a:spLocks noChangeShapeType="1"/>
          </p:cNvSpPr>
          <p:nvPr/>
        </p:nvSpPr>
        <p:spPr bwMode="auto">
          <a:xfrm flipH="1">
            <a:off x="1600200" y="4876800"/>
            <a:ext cx="8382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2" name="Line 62"/>
          <p:cNvSpPr>
            <a:spLocks noChangeShapeType="1"/>
          </p:cNvSpPr>
          <p:nvPr/>
        </p:nvSpPr>
        <p:spPr bwMode="auto">
          <a:xfrm flipH="1" flipV="1">
            <a:off x="2438400" y="3352800"/>
            <a:ext cx="0" cy="15240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3" name="Line 63"/>
          <p:cNvSpPr>
            <a:spLocks noChangeShapeType="1"/>
          </p:cNvSpPr>
          <p:nvPr/>
        </p:nvSpPr>
        <p:spPr bwMode="auto">
          <a:xfrm flipH="1">
            <a:off x="1600200" y="5181600"/>
            <a:ext cx="9906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4" name="Line 64"/>
          <p:cNvSpPr>
            <a:spLocks noChangeShapeType="1"/>
          </p:cNvSpPr>
          <p:nvPr/>
        </p:nvSpPr>
        <p:spPr bwMode="auto">
          <a:xfrm flipH="1" flipV="1">
            <a:off x="2590800" y="4038600"/>
            <a:ext cx="0" cy="11430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5" name="Line 65"/>
          <p:cNvSpPr>
            <a:spLocks noChangeShapeType="1"/>
          </p:cNvSpPr>
          <p:nvPr/>
        </p:nvSpPr>
        <p:spPr bwMode="auto">
          <a:xfrm flipV="1">
            <a:off x="2590800" y="3657600"/>
            <a:ext cx="1219200" cy="3810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6" name="Line 66"/>
          <p:cNvSpPr>
            <a:spLocks noChangeShapeType="1"/>
          </p:cNvSpPr>
          <p:nvPr/>
        </p:nvSpPr>
        <p:spPr bwMode="auto">
          <a:xfrm flipV="1">
            <a:off x="2514600" y="4572000"/>
            <a:ext cx="990600" cy="914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7" name="Line 67"/>
          <p:cNvSpPr>
            <a:spLocks noChangeShapeType="1"/>
          </p:cNvSpPr>
          <p:nvPr/>
        </p:nvSpPr>
        <p:spPr bwMode="auto">
          <a:xfrm flipH="1">
            <a:off x="1600200" y="5486400"/>
            <a:ext cx="9144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8" name="Line 68"/>
          <p:cNvSpPr>
            <a:spLocks noChangeShapeType="1"/>
          </p:cNvSpPr>
          <p:nvPr/>
        </p:nvSpPr>
        <p:spPr bwMode="auto">
          <a:xfrm flipH="1">
            <a:off x="1600200" y="5791200"/>
            <a:ext cx="9144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9" name="Line 69"/>
          <p:cNvSpPr>
            <a:spLocks noChangeShapeType="1"/>
          </p:cNvSpPr>
          <p:nvPr/>
        </p:nvSpPr>
        <p:spPr bwMode="auto">
          <a:xfrm flipV="1">
            <a:off x="2514600" y="5562600"/>
            <a:ext cx="685800" cy="2286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70" name="Line 70"/>
          <p:cNvSpPr>
            <a:spLocks noChangeShapeType="1"/>
          </p:cNvSpPr>
          <p:nvPr/>
        </p:nvSpPr>
        <p:spPr bwMode="auto">
          <a:xfrm flipH="1">
            <a:off x="1600200" y="6019800"/>
            <a:ext cx="14478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71" name="Line 71"/>
          <p:cNvSpPr>
            <a:spLocks noChangeShapeType="1"/>
          </p:cNvSpPr>
          <p:nvPr/>
        </p:nvSpPr>
        <p:spPr bwMode="auto">
          <a:xfrm flipV="1">
            <a:off x="3048000" y="5334000"/>
            <a:ext cx="1676400" cy="6858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72" name="Text Box 72"/>
          <p:cNvSpPr txBox="1">
            <a:spLocks noChangeArrowheads="1"/>
          </p:cNvSpPr>
          <p:nvPr/>
        </p:nvSpPr>
        <p:spPr bwMode="auto">
          <a:xfrm>
            <a:off x="381000" y="4114800"/>
            <a:ext cx="175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Header table</a:t>
            </a:r>
          </a:p>
        </p:txBody>
      </p:sp>
    </p:spTree>
    <p:extLst>
      <p:ext uri="{BB962C8B-B14F-4D97-AF65-F5344CB8AC3E}">
        <p14:creationId xmlns:p14="http://schemas.microsoft.com/office/powerpoint/2010/main" val="165527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FP-growth</a:t>
            </a:r>
          </a:p>
        </p:txBody>
      </p:sp>
      <p:sp>
        <p:nvSpPr>
          <p:cNvPr id="77827" name="Oval 3"/>
          <p:cNvSpPr>
            <a:spLocks noChangeArrowheads="1"/>
          </p:cNvSpPr>
          <p:nvPr/>
        </p:nvSpPr>
        <p:spPr bwMode="auto">
          <a:xfrm>
            <a:off x="3581400" y="26511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28" name="Oval 4"/>
          <p:cNvSpPr>
            <a:spLocks noChangeArrowheads="1"/>
          </p:cNvSpPr>
          <p:nvPr/>
        </p:nvSpPr>
        <p:spPr bwMode="auto">
          <a:xfrm>
            <a:off x="2743200" y="18129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29" name="Oval 5"/>
          <p:cNvSpPr>
            <a:spLocks noChangeArrowheads="1"/>
          </p:cNvSpPr>
          <p:nvPr/>
        </p:nvSpPr>
        <p:spPr bwMode="auto">
          <a:xfrm>
            <a:off x="1905000" y="26511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30" name="Oval 6"/>
          <p:cNvSpPr>
            <a:spLocks noChangeArrowheads="1"/>
          </p:cNvSpPr>
          <p:nvPr/>
        </p:nvSpPr>
        <p:spPr bwMode="auto">
          <a:xfrm>
            <a:off x="1143000" y="34893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31" name="Line 7"/>
          <p:cNvSpPr>
            <a:spLocks noChangeShapeType="1"/>
          </p:cNvSpPr>
          <p:nvPr/>
        </p:nvSpPr>
        <p:spPr bwMode="auto">
          <a:xfrm flipH="1">
            <a:off x="2133600" y="2133600"/>
            <a:ext cx="762000" cy="51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2" name="Line 8"/>
          <p:cNvSpPr>
            <a:spLocks noChangeShapeType="1"/>
          </p:cNvSpPr>
          <p:nvPr/>
        </p:nvSpPr>
        <p:spPr bwMode="auto">
          <a:xfrm flipH="1">
            <a:off x="1371600" y="2955925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3" name="Oval 9"/>
          <p:cNvSpPr>
            <a:spLocks noChangeArrowheads="1"/>
          </p:cNvSpPr>
          <p:nvPr/>
        </p:nvSpPr>
        <p:spPr bwMode="auto">
          <a:xfrm>
            <a:off x="4191000" y="35655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34" name="Oval 10"/>
          <p:cNvSpPr>
            <a:spLocks noChangeArrowheads="1"/>
          </p:cNvSpPr>
          <p:nvPr/>
        </p:nvSpPr>
        <p:spPr bwMode="auto">
          <a:xfrm>
            <a:off x="4191000" y="43275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35" name="Line 11"/>
          <p:cNvSpPr>
            <a:spLocks noChangeShapeType="1"/>
          </p:cNvSpPr>
          <p:nvPr/>
        </p:nvSpPr>
        <p:spPr bwMode="auto">
          <a:xfrm>
            <a:off x="2895600" y="21336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6" name="Line 12"/>
          <p:cNvSpPr>
            <a:spLocks noChangeShapeType="1"/>
          </p:cNvSpPr>
          <p:nvPr/>
        </p:nvSpPr>
        <p:spPr bwMode="auto">
          <a:xfrm flipH="1" flipV="1">
            <a:off x="3810000" y="2955925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7" name="Line 13"/>
          <p:cNvSpPr>
            <a:spLocks noChangeShapeType="1"/>
          </p:cNvSpPr>
          <p:nvPr/>
        </p:nvSpPr>
        <p:spPr bwMode="auto">
          <a:xfrm>
            <a:off x="4343400" y="38703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8" name="Text Box 14"/>
          <p:cNvSpPr txBox="1">
            <a:spLocks noChangeArrowheads="1"/>
          </p:cNvSpPr>
          <p:nvPr/>
        </p:nvSpPr>
        <p:spPr bwMode="auto">
          <a:xfrm>
            <a:off x="2133600" y="17367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null</a:t>
            </a:r>
          </a:p>
        </p:txBody>
      </p:sp>
      <p:sp>
        <p:nvSpPr>
          <p:cNvPr id="77839" name="Text Box 15"/>
          <p:cNvSpPr txBox="1">
            <a:spLocks noChangeArrowheads="1"/>
          </p:cNvSpPr>
          <p:nvPr/>
        </p:nvSpPr>
        <p:spPr bwMode="auto">
          <a:xfrm>
            <a:off x="1371600" y="25749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 smtClean="0">
                <a:latin typeface="Times New Roman" panose="02020603050405020304" pitchFamily="18" charset="0"/>
              </a:rPr>
              <a:t>A:8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7840" name="Text Box 16"/>
          <p:cNvSpPr txBox="1">
            <a:spLocks noChangeArrowheads="1"/>
          </p:cNvSpPr>
          <p:nvPr/>
        </p:nvSpPr>
        <p:spPr bwMode="auto">
          <a:xfrm>
            <a:off x="609600" y="34131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B:5</a:t>
            </a:r>
          </a:p>
        </p:txBody>
      </p:sp>
      <p:sp>
        <p:nvSpPr>
          <p:cNvPr id="77841" name="Text Box 17"/>
          <p:cNvSpPr txBox="1">
            <a:spLocks noChangeArrowheads="1"/>
          </p:cNvSpPr>
          <p:nvPr/>
        </p:nvSpPr>
        <p:spPr bwMode="auto">
          <a:xfrm>
            <a:off x="3810000" y="25749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B:1</a:t>
            </a:r>
          </a:p>
        </p:txBody>
      </p:sp>
      <p:sp>
        <p:nvSpPr>
          <p:cNvPr id="77842" name="Text Box 18"/>
          <p:cNvSpPr txBox="1">
            <a:spLocks noChangeArrowheads="1"/>
          </p:cNvSpPr>
          <p:nvPr/>
        </p:nvSpPr>
        <p:spPr bwMode="auto">
          <a:xfrm>
            <a:off x="4572000" y="34893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C:1</a:t>
            </a:r>
          </a:p>
        </p:txBody>
      </p:sp>
      <p:sp>
        <p:nvSpPr>
          <p:cNvPr id="77843" name="Text Box 19"/>
          <p:cNvSpPr txBox="1">
            <a:spLocks noChangeArrowheads="1"/>
          </p:cNvSpPr>
          <p:nvPr/>
        </p:nvSpPr>
        <p:spPr bwMode="auto">
          <a:xfrm>
            <a:off x="4495800" y="42513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7844" name="Oval 20"/>
          <p:cNvSpPr>
            <a:spLocks noChangeArrowheads="1"/>
          </p:cNvSpPr>
          <p:nvPr/>
        </p:nvSpPr>
        <p:spPr bwMode="auto">
          <a:xfrm>
            <a:off x="1828800" y="3625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45" name="Oval 21"/>
          <p:cNvSpPr>
            <a:spLocks noChangeArrowheads="1"/>
          </p:cNvSpPr>
          <p:nvPr/>
        </p:nvSpPr>
        <p:spPr bwMode="auto">
          <a:xfrm>
            <a:off x="2209800" y="44799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46" name="Line 22"/>
          <p:cNvSpPr>
            <a:spLocks noChangeShapeType="1"/>
          </p:cNvSpPr>
          <p:nvPr/>
        </p:nvSpPr>
        <p:spPr bwMode="auto">
          <a:xfrm flipH="1" flipV="1">
            <a:off x="1981200" y="29559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47" name="Line 23"/>
          <p:cNvSpPr>
            <a:spLocks noChangeShapeType="1"/>
          </p:cNvSpPr>
          <p:nvPr/>
        </p:nvSpPr>
        <p:spPr bwMode="auto">
          <a:xfrm>
            <a:off x="1981200" y="3946525"/>
            <a:ext cx="304800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48" name="Text Box 24"/>
          <p:cNvSpPr txBox="1">
            <a:spLocks noChangeArrowheads="1"/>
          </p:cNvSpPr>
          <p:nvPr/>
        </p:nvSpPr>
        <p:spPr bwMode="auto">
          <a:xfrm>
            <a:off x="2057400" y="35655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C:1</a:t>
            </a:r>
          </a:p>
        </p:txBody>
      </p:sp>
      <p:sp>
        <p:nvSpPr>
          <p:cNvPr id="77849" name="Text Box 25"/>
          <p:cNvSpPr txBox="1">
            <a:spLocks noChangeArrowheads="1"/>
          </p:cNvSpPr>
          <p:nvPr/>
        </p:nvSpPr>
        <p:spPr bwMode="auto">
          <a:xfrm>
            <a:off x="2438400" y="44640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7850" name="Oval 26"/>
          <p:cNvSpPr>
            <a:spLocks noChangeArrowheads="1"/>
          </p:cNvSpPr>
          <p:nvPr/>
        </p:nvSpPr>
        <p:spPr bwMode="auto">
          <a:xfrm>
            <a:off x="838200" y="44037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51" name="Text Box 27"/>
          <p:cNvSpPr txBox="1">
            <a:spLocks noChangeArrowheads="1"/>
          </p:cNvSpPr>
          <p:nvPr/>
        </p:nvSpPr>
        <p:spPr bwMode="auto">
          <a:xfrm>
            <a:off x="304800" y="43275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C:3</a:t>
            </a:r>
          </a:p>
        </p:txBody>
      </p:sp>
      <p:sp>
        <p:nvSpPr>
          <p:cNvPr id="77852" name="Oval 28"/>
          <p:cNvSpPr>
            <a:spLocks noChangeArrowheads="1"/>
          </p:cNvSpPr>
          <p:nvPr/>
        </p:nvSpPr>
        <p:spPr bwMode="auto">
          <a:xfrm>
            <a:off x="609600" y="53943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53" name="Text Box 29"/>
          <p:cNvSpPr txBox="1">
            <a:spLocks noChangeArrowheads="1"/>
          </p:cNvSpPr>
          <p:nvPr/>
        </p:nvSpPr>
        <p:spPr bwMode="auto">
          <a:xfrm>
            <a:off x="76200" y="53181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7854" name="Line 30"/>
          <p:cNvSpPr>
            <a:spLocks noChangeShapeType="1"/>
          </p:cNvSpPr>
          <p:nvPr/>
        </p:nvSpPr>
        <p:spPr bwMode="auto">
          <a:xfrm flipV="1">
            <a:off x="990600" y="3794125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5" name="Line 31"/>
          <p:cNvSpPr>
            <a:spLocks noChangeShapeType="1"/>
          </p:cNvSpPr>
          <p:nvPr/>
        </p:nvSpPr>
        <p:spPr bwMode="auto">
          <a:xfrm flipH="1">
            <a:off x="762000" y="4708525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6" name="Oval 32"/>
          <p:cNvSpPr>
            <a:spLocks noChangeArrowheads="1"/>
          </p:cNvSpPr>
          <p:nvPr/>
        </p:nvSpPr>
        <p:spPr bwMode="auto">
          <a:xfrm>
            <a:off x="2743200" y="3581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57" name="Text Box 33"/>
          <p:cNvSpPr txBox="1">
            <a:spLocks noChangeArrowheads="1"/>
          </p:cNvSpPr>
          <p:nvPr/>
        </p:nvSpPr>
        <p:spPr bwMode="auto">
          <a:xfrm>
            <a:off x="3048000" y="35655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7858" name="Line 34"/>
          <p:cNvSpPr>
            <a:spLocks noChangeShapeType="1"/>
          </p:cNvSpPr>
          <p:nvPr/>
        </p:nvSpPr>
        <p:spPr bwMode="auto">
          <a:xfrm flipH="1" flipV="1">
            <a:off x="1981200" y="2955925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9" name="Text Box 35"/>
          <p:cNvSpPr txBox="1">
            <a:spLocks noChangeArrowheads="1"/>
          </p:cNvSpPr>
          <p:nvPr/>
        </p:nvSpPr>
        <p:spPr bwMode="auto">
          <a:xfrm>
            <a:off x="5257799" y="1010235"/>
            <a:ext cx="3581401" cy="5238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Conditional Pattern base for D: 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     P = {(A:1,B:1,C:1),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	(A:1,B:1), 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             (A:1,C:1),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             (A:1), 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             (B:1,C:1)}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Recursively apply FP-growth on P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Frequent </a:t>
            </a:r>
            <a:r>
              <a:rPr lang="en-US" altLang="en-US" sz="2400" dirty="0" err="1">
                <a:latin typeface="Arial" panose="020B0604020202020204" pitchFamily="34" charset="0"/>
              </a:rPr>
              <a:t>Itemsets</a:t>
            </a:r>
            <a:r>
              <a:rPr lang="en-US" altLang="en-US" sz="2400" dirty="0">
                <a:latin typeface="Arial" panose="020B0604020202020204" pitchFamily="34" charset="0"/>
              </a:rPr>
              <a:t> found (with sup &gt; 1):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   AD, BD, CD, ACD, BCD</a:t>
            </a:r>
          </a:p>
        </p:txBody>
      </p:sp>
      <p:sp>
        <p:nvSpPr>
          <p:cNvPr id="77860" name="Oval 36"/>
          <p:cNvSpPr>
            <a:spLocks noChangeArrowheads="1"/>
          </p:cNvSpPr>
          <p:nvPr/>
        </p:nvSpPr>
        <p:spPr bwMode="auto">
          <a:xfrm>
            <a:off x="1447800" y="4419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61" name="Text Box 37"/>
          <p:cNvSpPr txBox="1">
            <a:spLocks noChangeArrowheads="1"/>
          </p:cNvSpPr>
          <p:nvPr/>
        </p:nvSpPr>
        <p:spPr bwMode="auto">
          <a:xfrm>
            <a:off x="1295400" y="4724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7862" name="Line 38"/>
          <p:cNvSpPr>
            <a:spLocks noChangeShapeType="1"/>
          </p:cNvSpPr>
          <p:nvPr/>
        </p:nvSpPr>
        <p:spPr bwMode="auto">
          <a:xfrm>
            <a:off x="1295400" y="38100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27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1371600" y="457200"/>
            <a:ext cx="7467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Steps in FP-Growth Algorithm</a:t>
            </a:r>
          </a:p>
        </p:txBody>
      </p:sp>
      <p:sp>
        <p:nvSpPr>
          <p:cNvPr id="225283" name="Rectangle 3"/>
          <p:cNvSpPr>
            <a:spLocks noChangeArrowheads="1"/>
          </p:cNvSpPr>
          <p:nvPr/>
        </p:nvSpPr>
        <p:spPr bwMode="auto">
          <a:xfrm>
            <a:off x="762000" y="1371600"/>
            <a:ext cx="8077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Given: Transaction DB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Step 1: Support_count for each item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Step 2: Header Table (ignore non-frequent items)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Step 3: Reduced DB (ordered FIs for each tx.)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Step 4: Build FP-tree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Step 5: Construct conditional pattern base for each node in FP tree (enumerate all paths leading to that node). Each item will have a conditional pattern base</a:t>
            </a:r>
            <a:r>
              <a:rPr lang="en-US" altLang="en-US" sz="2400" b="0">
                <a:latin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</a:rPr>
              <a:t>which may contain many paths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Step 6: Construct conditional FP-tree</a:t>
            </a:r>
          </a:p>
        </p:txBody>
      </p:sp>
    </p:spTree>
    <p:extLst>
      <p:ext uri="{BB962C8B-B14F-4D97-AF65-F5344CB8AC3E}">
        <p14:creationId xmlns:p14="http://schemas.microsoft.com/office/powerpoint/2010/main" val="60512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1371600" y="228600"/>
            <a:ext cx="7543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Construct FP-tree from a Transaction DB: Steps 1-4</a:t>
            </a:r>
          </a:p>
        </p:txBody>
      </p:sp>
      <p:grpSp>
        <p:nvGrpSpPr>
          <p:cNvPr id="26627" name="Group 3"/>
          <p:cNvGrpSpPr>
            <a:grpSpLocks/>
          </p:cNvGrpSpPr>
          <p:nvPr/>
        </p:nvGrpSpPr>
        <p:grpSpPr bwMode="auto">
          <a:xfrm>
            <a:off x="3962400" y="3332163"/>
            <a:ext cx="4651375" cy="3525837"/>
            <a:chOff x="2496" y="1772"/>
            <a:chExt cx="2930" cy="2226"/>
          </a:xfrm>
        </p:grpSpPr>
        <p:sp>
          <p:nvSpPr>
            <p:cNvPr id="26631" name="Text Box 4"/>
            <p:cNvSpPr txBox="1">
              <a:spLocks noChangeArrowheads="1"/>
            </p:cNvSpPr>
            <p:nvPr/>
          </p:nvSpPr>
          <p:spPr bwMode="auto">
            <a:xfrm>
              <a:off x="4796" y="1772"/>
              <a:ext cx="250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{}</a:t>
              </a:r>
            </a:p>
          </p:txBody>
        </p:sp>
        <p:sp>
          <p:nvSpPr>
            <p:cNvPr id="26632" name="Text Box 5"/>
            <p:cNvSpPr txBox="1">
              <a:spLocks noChangeArrowheads="1"/>
            </p:cNvSpPr>
            <p:nvPr/>
          </p:nvSpPr>
          <p:spPr bwMode="auto">
            <a:xfrm>
              <a:off x="4508" y="2205"/>
              <a:ext cx="310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f:4</a:t>
              </a:r>
            </a:p>
          </p:txBody>
        </p:sp>
        <p:sp>
          <p:nvSpPr>
            <p:cNvPr id="26633" name="Text Box 6"/>
            <p:cNvSpPr txBox="1">
              <a:spLocks noChangeArrowheads="1"/>
            </p:cNvSpPr>
            <p:nvPr/>
          </p:nvSpPr>
          <p:spPr bwMode="auto">
            <a:xfrm>
              <a:off x="5084" y="2205"/>
              <a:ext cx="328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c:1</a:t>
              </a:r>
            </a:p>
          </p:txBody>
        </p:sp>
        <p:sp>
          <p:nvSpPr>
            <p:cNvPr id="26634" name="Text Box 7"/>
            <p:cNvSpPr txBox="1">
              <a:spLocks noChangeArrowheads="1"/>
            </p:cNvSpPr>
            <p:nvPr/>
          </p:nvSpPr>
          <p:spPr bwMode="auto">
            <a:xfrm>
              <a:off x="5080" y="2588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26635" name="Text Box 8"/>
            <p:cNvSpPr txBox="1">
              <a:spLocks noChangeArrowheads="1"/>
            </p:cNvSpPr>
            <p:nvPr/>
          </p:nvSpPr>
          <p:spPr bwMode="auto">
            <a:xfrm>
              <a:off x="5080" y="2971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p:1</a:t>
              </a:r>
            </a:p>
          </p:txBody>
        </p:sp>
        <p:cxnSp>
          <p:nvCxnSpPr>
            <p:cNvPr id="26636" name="AutoShape 9"/>
            <p:cNvCxnSpPr>
              <a:cxnSpLocks noChangeShapeType="1"/>
              <a:stCxn id="26633" idx="2"/>
              <a:endCxn id="26634" idx="0"/>
            </p:cNvCxnSpPr>
            <p:nvPr/>
          </p:nvCxnSpPr>
          <p:spPr bwMode="auto">
            <a:xfrm>
              <a:off x="5248" y="2458"/>
              <a:ext cx="1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37" name="AutoShape 10"/>
            <p:cNvCxnSpPr>
              <a:cxnSpLocks noChangeShapeType="1"/>
              <a:stCxn id="26634" idx="2"/>
              <a:endCxn id="26635" idx="0"/>
            </p:cNvCxnSpPr>
            <p:nvPr/>
          </p:nvCxnSpPr>
          <p:spPr bwMode="auto">
            <a:xfrm>
              <a:off x="5249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38" name="AutoShape 11"/>
            <p:cNvCxnSpPr>
              <a:cxnSpLocks noChangeShapeType="1"/>
              <a:stCxn id="26631" idx="2"/>
              <a:endCxn id="26633" idx="0"/>
            </p:cNvCxnSpPr>
            <p:nvPr/>
          </p:nvCxnSpPr>
          <p:spPr bwMode="auto">
            <a:xfrm>
              <a:off x="4935" y="2026"/>
              <a:ext cx="313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39" name="AutoShape 12"/>
            <p:cNvCxnSpPr>
              <a:cxnSpLocks noChangeShapeType="1"/>
              <a:stCxn id="26631" idx="2"/>
              <a:endCxn id="26632" idx="0"/>
            </p:cNvCxnSpPr>
            <p:nvPr/>
          </p:nvCxnSpPr>
          <p:spPr bwMode="auto">
            <a:xfrm flipH="1">
              <a:off x="4659" y="2026"/>
              <a:ext cx="276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640" name="Text Box 13"/>
            <p:cNvSpPr txBox="1">
              <a:spLocks noChangeArrowheads="1"/>
            </p:cNvSpPr>
            <p:nvPr/>
          </p:nvSpPr>
          <p:spPr bwMode="auto">
            <a:xfrm>
              <a:off x="4700" y="2588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26641" name="Text Box 14"/>
            <p:cNvSpPr txBox="1">
              <a:spLocks noChangeArrowheads="1"/>
            </p:cNvSpPr>
            <p:nvPr/>
          </p:nvSpPr>
          <p:spPr bwMode="auto">
            <a:xfrm>
              <a:off x="4321" y="2588"/>
              <a:ext cx="328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c:3</a:t>
              </a:r>
            </a:p>
          </p:txBody>
        </p:sp>
        <p:cxnSp>
          <p:nvCxnSpPr>
            <p:cNvPr id="26642" name="AutoShape 15"/>
            <p:cNvCxnSpPr>
              <a:cxnSpLocks noChangeShapeType="1"/>
              <a:stCxn id="26632" idx="2"/>
              <a:endCxn id="26641" idx="0"/>
            </p:cNvCxnSpPr>
            <p:nvPr/>
          </p:nvCxnSpPr>
          <p:spPr bwMode="auto">
            <a:xfrm flipH="1">
              <a:off x="4485" y="2458"/>
              <a:ext cx="174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43" name="AutoShape 16"/>
            <p:cNvCxnSpPr>
              <a:cxnSpLocks noChangeShapeType="1"/>
              <a:stCxn id="26632" idx="2"/>
              <a:endCxn id="26640" idx="0"/>
            </p:cNvCxnSpPr>
            <p:nvPr/>
          </p:nvCxnSpPr>
          <p:spPr bwMode="auto">
            <a:xfrm>
              <a:off x="4659" y="2458"/>
              <a:ext cx="21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644" name="Text Box 17"/>
            <p:cNvSpPr txBox="1">
              <a:spLocks noChangeArrowheads="1"/>
            </p:cNvSpPr>
            <p:nvPr/>
          </p:nvSpPr>
          <p:spPr bwMode="auto">
            <a:xfrm>
              <a:off x="4316" y="2971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a:3</a:t>
              </a:r>
            </a:p>
          </p:txBody>
        </p:sp>
        <p:sp>
          <p:nvSpPr>
            <p:cNvPr id="26645" name="Text Box 18"/>
            <p:cNvSpPr txBox="1">
              <a:spLocks noChangeArrowheads="1"/>
            </p:cNvSpPr>
            <p:nvPr/>
          </p:nvSpPr>
          <p:spPr bwMode="auto">
            <a:xfrm>
              <a:off x="4556" y="3356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26646" name="Text Box 19"/>
            <p:cNvSpPr txBox="1">
              <a:spLocks noChangeArrowheads="1"/>
            </p:cNvSpPr>
            <p:nvPr/>
          </p:nvSpPr>
          <p:spPr bwMode="auto">
            <a:xfrm>
              <a:off x="4130" y="3356"/>
              <a:ext cx="390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m:2</a:t>
              </a:r>
            </a:p>
          </p:txBody>
        </p:sp>
        <p:sp>
          <p:nvSpPr>
            <p:cNvPr id="26647" name="Text Box 20"/>
            <p:cNvSpPr txBox="1">
              <a:spLocks noChangeArrowheads="1"/>
            </p:cNvSpPr>
            <p:nvPr/>
          </p:nvSpPr>
          <p:spPr bwMode="auto">
            <a:xfrm>
              <a:off x="4148" y="3739"/>
              <a:ext cx="346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p:2</a:t>
              </a:r>
            </a:p>
          </p:txBody>
        </p:sp>
        <p:cxnSp>
          <p:nvCxnSpPr>
            <p:cNvPr id="26648" name="AutoShape 21"/>
            <p:cNvCxnSpPr>
              <a:cxnSpLocks noChangeShapeType="1"/>
              <a:stCxn id="26641" idx="2"/>
              <a:endCxn id="26644" idx="0"/>
            </p:cNvCxnSpPr>
            <p:nvPr/>
          </p:nvCxnSpPr>
          <p:spPr bwMode="auto">
            <a:xfrm>
              <a:off x="4485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49" name="AutoShape 22"/>
            <p:cNvCxnSpPr>
              <a:cxnSpLocks noChangeShapeType="1"/>
              <a:stCxn id="26644" idx="2"/>
              <a:endCxn id="26646" idx="0"/>
            </p:cNvCxnSpPr>
            <p:nvPr/>
          </p:nvCxnSpPr>
          <p:spPr bwMode="auto">
            <a:xfrm flipH="1">
              <a:off x="4317" y="3226"/>
              <a:ext cx="168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50" name="AutoShape 23"/>
            <p:cNvCxnSpPr>
              <a:cxnSpLocks noChangeShapeType="1"/>
              <a:stCxn id="26644" idx="2"/>
              <a:endCxn id="26645" idx="0"/>
            </p:cNvCxnSpPr>
            <p:nvPr/>
          </p:nvCxnSpPr>
          <p:spPr bwMode="auto">
            <a:xfrm>
              <a:off x="4485" y="3226"/>
              <a:ext cx="24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51" name="AutoShape 24"/>
            <p:cNvCxnSpPr>
              <a:cxnSpLocks noChangeShapeType="1"/>
              <a:stCxn id="26646" idx="2"/>
              <a:endCxn id="26647" idx="0"/>
            </p:cNvCxnSpPr>
            <p:nvPr/>
          </p:nvCxnSpPr>
          <p:spPr bwMode="auto">
            <a:xfrm>
              <a:off x="4317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652" name="Text Box 25"/>
            <p:cNvSpPr txBox="1">
              <a:spLocks noChangeArrowheads="1"/>
            </p:cNvSpPr>
            <p:nvPr/>
          </p:nvSpPr>
          <p:spPr bwMode="auto">
            <a:xfrm>
              <a:off x="4538" y="3739"/>
              <a:ext cx="390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m:1</a:t>
              </a:r>
            </a:p>
          </p:txBody>
        </p:sp>
        <p:cxnSp>
          <p:nvCxnSpPr>
            <p:cNvPr id="26653" name="AutoShape 26"/>
            <p:cNvCxnSpPr>
              <a:cxnSpLocks noChangeShapeType="1"/>
              <a:stCxn id="26645" idx="2"/>
              <a:endCxn id="26652" idx="0"/>
            </p:cNvCxnSpPr>
            <p:nvPr/>
          </p:nvCxnSpPr>
          <p:spPr bwMode="auto">
            <a:xfrm>
              <a:off x="4725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654" name="Text Box 27"/>
            <p:cNvSpPr txBox="1">
              <a:spLocks noChangeArrowheads="1"/>
            </p:cNvSpPr>
            <p:nvPr/>
          </p:nvSpPr>
          <p:spPr bwMode="auto">
            <a:xfrm>
              <a:off x="2496" y="1935"/>
              <a:ext cx="2037" cy="1627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Header Table L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00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u="sng">
                  <a:latin typeface="Times New Roman" panose="02020603050405020304" pitchFamily="18" charset="0"/>
                </a:rPr>
                <a:t>Item  frequency  node-links 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 f	4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c	4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a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b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m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p	3</a:t>
              </a:r>
            </a:p>
          </p:txBody>
        </p:sp>
        <p:sp>
          <p:nvSpPr>
            <p:cNvPr id="26655" name="Freeform 28"/>
            <p:cNvSpPr>
              <a:spLocks/>
            </p:cNvSpPr>
            <p:nvPr/>
          </p:nvSpPr>
          <p:spPr bwMode="auto">
            <a:xfrm>
              <a:off x="3879" y="2341"/>
              <a:ext cx="672" cy="240"/>
            </a:xfrm>
            <a:custGeom>
              <a:avLst/>
              <a:gdLst>
                <a:gd name="T0" fmla="*/ 0 w 672"/>
                <a:gd name="T1" fmla="*/ 240 h 240"/>
                <a:gd name="T2" fmla="*/ 288 w 672"/>
                <a:gd name="T3" fmla="*/ 192 h 240"/>
                <a:gd name="T4" fmla="*/ 432 w 672"/>
                <a:gd name="T5" fmla="*/ 48 h 240"/>
                <a:gd name="T6" fmla="*/ 672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6" name="Freeform 29"/>
            <p:cNvSpPr>
              <a:spLocks/>
            </p:cNvSpPr>
            <p:nvPr/>
          </p:nvSpPr>
          <p:spPr bwMode="auto">
            <a:xfrm>
              <a:off x="3879" y="2725"/>
              <a:ext cx="432" cy="1"/>
            </a:xfrm>
            <a:custGeom>
              <a:avLst/>
              <a:gdLst>
                <a:gd name="T0" fmla="*/ 0 w 432"/>
                <a:gd name="T1" fmla="*/ 0 h 1"/>
                <a:gd name="T2" fmla="*/ 432 w 432"/>
                <a:gd name="T3" fmla="*/ 0 h 1"/>
                <a:gd name="T4" fmla="*/ 0 60000 65536"/>
                <a:gd name="T5" fmla="*/ 0 60000 65536"/>
                <a:gd name="T6" fmla="*/ 0 w 432"/>
                <a:gd name="T7" fmla="*/ 0 h 1"/>
                <a:gd name="T8" fmla="*/ 432 w 43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2" h="1">
                  <a:moveTo>
                    <a:pt x="0" y="0"/>
                  </a:moveTo>
                  <a:cubicBezTo>
                    <a:pt x="0" y="0"/>
                    <a:pt x="216" y="0"/>
                    <a:pt x="43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7" name="Freeform 30"/>
            <p:cNvSpPr>
              <a:spLocks/>
            </p:cNvSpPr>
            <p:nvPr/>
          </p:nvSpPr>
          <p:spPr bwMode="auto">
            <a:xfrm>
              <a:off x="4599" y="2341"/>
              <a:ext cx="480" cy="384"/>
            </a:xfrm>
            <a:custGeom>
              <a:avLst/>
              <a:gdLst>
                <a:gd name="T0" fmla="*/ 0 w 480"/>
                <a:gd name="T1" fmla="*/ 384 h 384"/>
                <a:gd name="T2" fmla="*/ 48 w 480"/>
                <a:gd name="T3" fmla="*/ 336 h 384"/>
                <a:gd name="T4" fmla="*/ 240 w 480"/>
                <a:gd name="T5" fmla="*/ 96 h 384"/>
                <a:gd name="T6" fmla="*/ 480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8" name="Freeform 31"/>
            <p:cNvSpPr>
              <a:spLocks/>
            </p:cNvSpPr>
            <p:nvPr/>
          </p:nvSpPr>
          <p:spPr bwMode="auto">
            <a:xfrm>
              <a:off x="3879" y="2928"/>
              <a:ext cx="432" cy="192"/>
            </a:xfrm>
            <a:custGeom>
              <a:avLst/>
              <a:gdLst>
                <a:gd name="T0" fmla="*/ 0 w 432"/>
                <a:gd name="T1" fmla="*/ 0 h 192"/>
                <a:gd name="T2" fmla="*/ 144 w 432"/>
                <a:gd name="T3" fmla="*/ 48 h 192"/>
                <a:gd name="T4" fmla="*/ 288 w 432"/>
                <a:gd name="T5" fmla="*/ 144 h 192"/>
                <a:gd name="T6" fmla="*/ 432 w 432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9" name="Freeform 32"/>
            <p:cNvSpPr>
              <a:spLocks/>
            </p:cNvSpPr>
            <p:nvPr/>
          </p:nvSpPr>
          <p:spPr bwMode="auto">
            <a:xfrm>
              <a:off x="3888" y="3072"/>
              <a:ext cx="720" cy="384"/>
            </a:xfrm>
            <a:custGeom>
              <a:avLst/>
              <a:gdLst>
                <a:gd name="T0" fmla="*/ 0 w 720"/>
                <a:gd name="T1" fmla="*/ 0 h 384"/>
                <a:gd name="T2" fmla="*/ 240 w 720"/>
                <a:gd name="T3" fmla="*/ 48 h 384"/>
                <a:gd name="T4" fmla="*/ 528 w 720"/>
                <a:gd name="T5" fmla="*/ 288 h 384"/>
                <a:gd name="T6" fmla="*/ 720 w 720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0" name="Freeform 33"/>
            <p:cNvSpPr>
              <a:spLocks/>
            </p:cNvSpPr>
            <p:nvPr/>
          </p:nvSpPr>
          <p:spPr bwMode="auto">
            <a:xfrm>
              <a:off x="4848" y="2832"/>
              <a:ext cx="56" cy="672"/>
            </a:xfrm>
            <a:custGeom>
              <a:avLst/>
              <a:gdLst>
                <a:gd name="T0" fmla="*/ 0 w 56"/>
                <a:gd name="T1" fmla="*/ 672 h 672"/>
                <a:gd name="T2" fmla="*/ 48 w 56"/>
                <a:gd name="T3" fmla="*/ 432 h 672"/>
                <a:gd name="T4" fmla="*/ 48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1" name="Line 34"/>
            <p:cNvSpPr>
              <a:spLocks noChangeShapeType="1"/>
            </p:cNvSpPr>
            <p:nvPr/>
          </p:nvSpPr>
          <p:spPr bwMode="auto">
            <a:xfrm>
              <a:off x="4983" y="2725"/>
              <a:ext cx="9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2" name="Freeform 35"/>
            <p:cNvSpPr>
              <a:spLocks/>
            </p:cNvSpPr>
            <p:nvPr/>
          </p:nvSpPr>
          <p:spPr bwMode="auto">
            <a:xfrm>
              <a:off x="3888" y="3264"/>
              <a:ext cx="288" cy="240"/>
            </a:xfrm>
            <a:custGeom>
              <a:avLst/>
              <a:gdLst>
                <a:gd name="T0" fmla="*/ 0 w 288"/>
                <a:gd name="T1" fmla="*/ 0 h 240"/>
                <a:gd name="T2" fmla="*/ 144 w 288"/>
                <a:gd name="T3" fmla="*/ 48 h 240"/>
                <a:gd name="T4" fmla="*/ 192 w 288"/>
                <a:gd name="T5" fmla="*/ 192 h 240"/>
                <a:gd name="T6" fmla="*/ 288 w 288"/>
                <a:gd name="T7" fmla="*/ 24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3" name="Freeform 36"/>
            <p:cNvSpPr>
              <a:spLocks/>
            </p:cNvSpPr>
            <p:nvPr/>
          </p:nvSpPr>
          <p:spPr bwMode="auto">
            <a:xfrm>
              <a:off x="4464" y="3504"/>
              <a:ext cx="96" cy="384"/>
            </a:xfrm>
            <a:custGeom>
              <a:avLst/>
              <a:gdLst>
                <a:gd name="T0" fmla="*/ 0 w 96"/>
                <a:gd name="T1" fmla="*/ 0 h 384"/>
                <a:gd name="T2" fmla="*/ 48 w 96"/>
                <a:gd name="T3" fmla="*/ 96 h 384"/>
                <a:gd name="T4" fmla="*/ 48 w 96"/>
                <a:gd name="T5" fmla="*/ 288 h 384"/>
                <a:gd name="T6" fmla="*/ 96 w 96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4" name="Freeform 37"/>
            <p:cNvSpPr>
              <a:spLocks/>
            </p:cNvSpPr>
            <p:nvPr/>
          </p:nvSpPr>
          <p:spPr bwMode="auto">
            <a:xfrm>
              <a:off x="3888" y="3456"/>
              <a:ext cx="288" cy="432"/>
            </a:xfrm>
            <a:custGeom>
              <a:avLst/>
              <a:gdLst>
                <a:gd name="T0" fmla="*/ 0 w 288"/>
                <a:gd name="T1" fmla="*/ 0 h 432"/>
                <a:gd name="T2" fmla="*/ 96 w 288"/>
                <a:gd name="T3" fmla="*/ 144 h 432"/>
                <a:gd name="T4" fmla="*/ 144 w 288"/>
                <a:gd name="T5" fmla="*/ 336 h 432"/>
                <a:gd name="T6" fmla="*/ 288 w 28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5" name="Freeform 38"/>
            <p:cNvSpPr>
              <a:spLocks/>
            </p:cNvSpPr>
            <p:nvPr/>
          </p:nvSpPr>
          <p:spPr bwMode="auto">
            <a:xfrm>
              <a:off x="4464" y="3216"/>
              <a:ext cx="768" cy="672"/>
            </a:xfrm>
            <a:custGeom>
              <a:avLst/>
              <a:gdLst>
                <a:gd name="T0" fmla="*/ 0 w 768"/>
                <a:gd name="T1" fmla="*/ 672 h 672"/>
                <a:gd name="T2" fmla="*/ 96 w 768"/>
                <a:gd name="T3" fmla="*/ 528 h 672"/>
                <a:gd name="T4" fmla="*/ 528 w 768"/>
                <a:gd name="T5" fmla="*/ 384 h 672"/>
                <a:gd name="T6" fmla="*/ 768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28" name="Text Box 39"/>
          <p:cNvSpPr txBox="1">
            <a:spLocks noChangeArrowheads="1"/>
          </p:cNvSpPr>
          <p:nvPr/>
        </p:nvSpPr>
        <p:spPr bwMode="auto">
          <a:xfrm>
            <a:off x="6705600" y="2362200"/>
            <a:ext cx="2438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min_support = 0.5</a:t>
            </a:r>
            <a:endParaRPr kumimoji="0" lang="en-US" altLang="en-US" sz="2400" u="sng">
              <a:latin typeface="Times New Roman" panose="02020603050405020304" pitchFamily="18" charset="0"/>
            </a:endParaRPr>
          </a:p>
        </p:txBody>
      </p:sp>
      <p:sp>
        <p:nvSpPr>
          <p:cNvPr id="26629" name="Rectangle 40"/>
          <p:cNvSpPr>
            <a:spLocks noChangeArrowheads="1"/>
          </p:cNvSpPr>
          <p:nvPr/>
        </p:nvSpPr>
        <p:spPr bwMode="auto">
          <a:xfrm>
            <a:off x="685800" y="1524000"/>
            <a:ext cx="57277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u="sng">
                <a:latin typeface="Times New Roman" panose="02020603050405020304" pitchFamily="18" charset="0"/>
              </a:rPr>
              <a:t>TID		Items bought	  (ordered) frequent items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100		{f, a, c, d, g, i, m, p}	{f, c, a, m, p}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200		{a, b, c, f, l, m, o}              {f, c, a, b, m}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300	 	{b, f, h, j, o}		{f, b}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400	 	{b, c, k, s, p}		{c, b, p}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500	 	{a, f, c, e, l, p, m, n}	{f, c, a, m, p}</a:t>
            </a:r>
          </a:p>
        </p:txBody>
      </p:sp>
      <p:sp>
        <p:nvSpPr>
          <p:cNvPr id="26630" name="Text Box 41"/>
          <p:cNvSpPr txBox="1">
            <a:spLocks noChangeArrowheads="1"/>
          </p:cNvSpPr>
          <p:nvPr/>
        </p:nvSpPr>
        <p:spPr bwMode="auto">
          <a:xfrm>
            <a:off x="304800" y="3581400"/>
            <a:ext cx="38100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/>
              <a:t>Steps:</a:t>
            </a:r>
          </a:p>
          <a:p>
            <a:pPr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kumimoji="0" lang="en-US" altLang="en-US" sz="2000"/>
              <a:t>Scan DB once, find frequent 1-itemset (single item pattern)</a:t>
            </a:r>
          </a:p>
          <a:p>
            <a:pPr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kumimoji="0" lang="en-US" altLang="en-US" sz="2000"/>
              <a:t>Order frequent items in frequency descending order</a:t>
            </a:r>
          </a:p>
          <a:p>
            <a:pPr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kumimoji="0" lang="en-US" altLang="en-US" sz="2000"/>
              <a:t>Scan DB again, construct FP-tree</a:t>
            </a:r>
          </a:p>
        </p:txBody>
      </p:sp>
    </p:spTree>
    <p:extLst>
      <p:ext uri="{BB962C8B-B14F-4D97-AF65-F5344CB8AC3E}">
        <p14:creationId xmlns:p14="http://schemas.microsoft.com/office/powerpoint/2010/main" val="77740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1143000" y="0"/>
            <a:ext cx="7620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Points to Note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381000" y="1371600"/>
            <a:ext cx="80772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200">
                <a:cs typeface="Tahoma" panose="020B0604030504040204" pitchFamily="34" charset="0"/>
              </a:rPr>
              <a:t>4 branches in the tree</a:t>
            </a:r>
          </a:p>
          <a:p>
            <a:pPr>
              <a:lnSpc>
                <a:spcPct val="120000"/>
              </a:lnSpc>
            </a:pPr>
            <a:r>
              <a:rPr lang="en-US" altLang="en-US" sz="2200">
                <a:cs typeface="Tahoma" panose="020B0604030504040204" pitchFamily="34" charset="0"/>
              </a:rPr>
              <a:t>Each branch corresponds to a Tx. in the reduce Tx. DB</a:t>
            </a:r>
          </a:p>
          <a:p>
            <a:pPr>
              <a:lnSpc>
                <a:spcPct val="120000"/>
              </a:lnSpc>
            </a:pPr>
            <a:r>
              <a:rPr lang="en-US" altLang="en-US" sz="2200">
                <a:cs typeface="Tahoma" panose="020B0604030504040204" pitchFamily="34" charset="0"/>
              </a:rPr>
              <a:t>f:4 indicates that f appears in 4 txs. Note that 4 is also the support count of f</a:t>
            </a:r>
          </a:p>
          <a:p>
            <a:pPr>
              <a:lnSpc>
                <a:spcPct val="120000"/>
              </a:lnSpc>
            </a:pPr>
            <a:r>
              <a:rPr lang="en-US" altLang="en-US" sz="2200">
                <a:cs typeface="Tahoma" panose="020B0604030504040204" pitchFamily="34" charset="0"/>
              </a:rPr>
              <a:t>Total occurrences of an item in the tree = support count</a:t>
            </a:r>
          </a:p>
          <a:p>
            <a:pPr>
              <a:lnSpc>
                <a:spcPct val="120000"/>
              </a:lnSpc>
            </a:pPr>
            <a:r>
              <a:rPr lang="en-US" altLang="en-US" sz="2200">
                <a:cs typeface="Tahoma" panose="020B0604030504040204" pitchFamily="34" charset="0"/>
              </a:rPr>
              <a:t>To facilitate tree traversal, an item-header table is built so that each item points to its occurrences in the tree via a chain of node-links</a:t>
            </a:r>
          </a:p>
          <a:p>
            <a:pPr>
              <a:lnSpc>
                <a:spcPct val="120000"/>
              </a:lnSpc>
            </a:pPr>
            <a:r>
              <a:rPr lang="en-US" altLang="en-US" sz="2200"/>
              <a:t>Problem of mining of FPs in TDB is transformed to that of mining the FP-tree</a:t>
            </a:r>
          </a:p>
        </p:txBody>
      </p:sp>
    </p:spTree>
    <p:extLst>
      <p:ext uri="{BB962C8B-B14F-4D97-AF65-F5344CB8AC3E}">
        <p14:creationId xmlns:p14="http://schemas.microsoft.com/office/powerpoint/2010/main" val="187462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1143000" y="0"/>
            <a:ext cx="7620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rgbClr val="FF0000"/>
                </a:solidFill>
                <a:latin typeface="Arial" panose="020B0604020202020204" pitchFamily="34" charset="0"/>
              </a:rPr>
              <a:t>Mining FP-tree</a:t>
            </a: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838200" y="1295400"/>
            <a:ext cx="80772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latin typeface="Arial" panose="020B0604020202020204" pitchFamily="34" charset="0"/>
              </a:rPr>
              <a:t>Start with the last item in L (p in this example)</a:t>
            </a:r>
          </a:p>
          <a:p>
            <a:pPr>
              <a:lnSpc>
                <a:spcPct val="120000"/>
              </a:lnSpc>
            </a:pPr>
            <a:r>
              <a:rPr lang="en-US" altLang="en-US" sz="2000">
                <a:latin typeface="Arial" panose="020B0604020202020204" pitchFamily="34" charset="0"/>
              </a:rPr>
              <a:t>Why?</a:t>
            </a:r>
          </a:p>
          <a:p>
            <a:pPr>
              <a:lnSpc>
                <a:spcPct val="120000"/>
              </a:lnSpc>
            </a:pPr>
            <a:r>
              <a:rPr lang="en-US" altLang="en-US" sz="2000">
                <a:latin typeface="Arial" panose="020B0604020202020204" pitchFamily="34" charset="0"/>
              </a:rPr>
              <a:t>p occurs in 2 branches of the tree (found by following its chain node links from the header table)</a:t>
            </a:r>
          </a:p>
          <a:p>
            <a:pPr>
              <a:lnSpc>
                <a:spcPct val="120000"/>
              </a:lnSpc>
            </a:pPr>
            <a:r>
              <a:rPr lang="en-US" altLang="en-US" sz="2000">
                <a:latin typeface="Arial" panose="020B0604020202020204" pitchFamily="34" charset="0"/>
              </a:rPr>
              <a:t>Paths formed by these branches are: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f		c	a	m 	p:2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c		b	p:1</a:t>
            </a:r>
          </a:p>
          <a:p>
            <a:pPr>
              <a:lnSpc>
                <a:spcPct val="120000"/>
              </a:lnSpc>
            </a:pPr>
            <a:r>
              <a:rPr lang="en-US" altLang="en-US" sz="2000">
                <a:latin typeface="Arial" panose="020B0604020202020204" pitchFamily="34" charset="0"/>
              </a:rPr>
              <a:t>Considering p as suffix, the prefix paths of p are: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/>
              <a:t>		</a:t>
            </a:r>
            <a:r>
              <a:rPr lang="en-US" altLang="en-US" sz="2000">
                <a:latin typeface="Arial" panose="020B0604020202020204" pitchFamily="34" charset="0"/>
              </a:rPr>
              <a:t>f	c	a	m: 2	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		c	b: 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	Sub database that contains p</a:t>
            </a:r>
          </a:p>
          <a:p>
            <a:r>
              <a:rPr lang="en-US" altLang="en-US" sz="2000">
                <a:latin typeface="Arial" panose="020B0604020202020204" pitchFamily="34" charset="0"/>
              </a:rPr>
              <a:t>Conditional FP tree for p {(c:3)}|p</a:t>
            </a:r>
          </a:p>
          <a:p>
            <a:r>
              <a:rPr lang="en-US" altLang="en-US" sz="2000">
                <a:latin typeface="Arial" panose="020B0604020202020204" pitchFamily="34" charset="0"/>
              </a:rPr>
              <a:t>Frequent Patterns involving p: {cp:3}</a:t>
            </a:r>
          </a:p>
        </p:txBody>
      </p:sp>
    </p:spTree>
    <p:extLst>
      <p:ext uri="{BB962C8B-B14F-4D97-AF65-F5344CB8AC3E}">
        <p14:creationId xmlns:p14="http://schemas.microsoft.com/office/powerpoint/2010/main" val="50590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1524000" y="228600"/>
            <a:ext cx="7315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Step 5: From FP-tree to Conditional Pattern Base</a:t>
            </a:r>
          </a:p>
        </p:txBody>
      </p:sp>
      <p:grpSp>
        <p:nvGrpSpPr>
          <p:cNvPr id="29699" name="Group 41"/>
          <p:cNvGrpSpPr>
            <a:grpSpLocks/>
          </p:cNvGrpSpPr>
          <p:nvPr/>
        </p:nvGrpSpPr>
        <p:grpSpPr bwMode="auto">
          <a:xfrm>
            <a:off x="457200" y="1371600"/>
            <a:ext cx="8331200" cy="5486400"/>
            <a:chOff x="288" y="864"/>
            <a:chExt cx="5248" cy="3456"/>
          </a:xfrm>
        </p:grpSpPr>
        <p:sp>
          <p:nvSpPr>
            <p:cNvPr id="29700" name="Rectangle 3"/>
            <p:cNvSpPr>
              <a:spLocks noChangeArrowheads="1"/>
            </p:cNvSpPr>
            <p:nvPr/>
          </p:nvSpPr>
          <p:spPr bwMode="auto">
            <a:xfrm>
              <a:off x="576" y="864"/>
              <a:ext cx="4944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400">
                  <a:latin typeface="Arial" panose="020B0604020202020204" pitchFamily="34" charset="0"/>
                </a:rPr>
                <a:t>Starting at the frequent header table in the FP-tree</a:t>
              </a:r>
            </a:p>
            <a:p>
              <a:r>
                <a:rPr lang="en-US" altLang="en-US" sz="2400">
                  <a:latin typeface="Arial" panose="020B0604020202020204" pitchFamily="34" charset="0"/>
                </a:rPr>
                <a:t>Traverse the FP-tree by following the link of each frequent item</a:t>
              </a:r>
            </a:p>
            <a:p>
              <a:r>
                <a:rPr lang="en-US" altLang="en-US" sz="2400">
                  <a:latin typeface="Arial" panose="020B0604020202020204" pitchFamily="34" charset="0"/>
                </a:rPr>
                <a:t>Accumulate all of transformed prefix paths of that item to form a conditional pattern base</a:t>
              </a:r>
            </a:p>
          </p:txBody>
        </p:sp>
        <p:sp>
          <p:nvSpPr>
            <p:cNvPr id="29701" name="Rectangle 4"/>
            <p:cNvSpPr>
              <a:spLocks noChangeArrowheads="1"/>
            </p:cNvSpPr>
            <p:nvPr/>
          </p:nvSpPr>
          <p:spPr bwMode="auto">
            <a:xfrm>
              <a:off x="3440" y="2310"/>
              <a:ext cx="2096" cy="1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Conditional pattern bases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 u="sng">
                  <a:latin typeface="Times New Roman" panose="02020603050405020304" pitchFamily="18" charset="0"/>
                </a:rPr>
                <a:t>item	cond. pattern base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c	f:3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a	fc:3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b	fca:1, f:1, c:1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m	fca:2, fcab:1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p	fcam:2, cb:1</a:t>
              </a:r>
            </a:p>
          </p:txBody>
        </p:sp>
        <p:grpSp>
          <p:nvGrpSpPr>
            <p:cNvPr id="29702" name="Group 5"/>
            <p:cNvGrpSpPr>
              <a:grpSpLocks/>
            </p:cNvGrpSpPr>
            <p:nvPr/>
          </p:nvGrpSpPr>
          <p:grpSpPr bwMode="auto">
            <a:xfrm>
              <a:off x="288" y="2280"/>
              <a:ext cx="2902" cy="2040"/>
              <a:chOff x="240" y="2064"/>
              <a:chExt cx="2902" cy="2040"/>
            </a:xfrm>
          </p:grpSpPr>
          <p:sp>
            <p:nvSpPr>
              <p:cNvPr id="29703" name="Text Box 6"/>
              <p:cNvSpPr txBox="1">
                <a:spLocks noChangeArrowheads="1"/>
              </p:cNvSpPr>
              <p:nvPr/>
            </p:nvSpPr>
            <p:spPr bwMode="auto">
              <a:xfrm>
                <a:off x="2515" y="2064"/>
                <a:ext cx="250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{}</a:t>
                </a:r>
              </a:p>
            </p:txBody>
          </p:sp>
          <p:sp>
            <p:nvSpPr>
              <p:cNvPr id="29704" name="Text Box 7"/>
              <p:cNvSpPr txBox="1">
                <a:spLocks noChangeArrowheads="1"/>
              </p:cNvSpPr>
              <p:nvPr/>
            </p:nvSpPr>
            <p:spPr bwMode="auto">
              <a:xfrm>
                <a:off x="2230" y="2456"/>
                <a:ext cx="310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f:4</a:t>
                </a:r>
              </a:p>
            </p:txBody>
          </p:sp>
          <p:sp>
            <p:nvSpPr>
              <p:cNvPr id="29705" name="Text Box 8"/>
              <p:cNvSpPr txBox="1">
                <a:spLocks noChangeArrowheads="1"/>
              </p:cNvSpPr>
              <p:nvPr/>
            </p:nvSpPr>
            <p:spPr bwMode="auto">
              <a:xfrm>
                <a:off x="2800" y="2456"/>
                <a:ext cx="328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c:1</a:t>
                </a:r>
              </a:p>
            </p:txBody>
          </p:sp>
          <p:sp>
            <p:nvSpPr>
              <p:cNvPr id="29706" name="Text Box 9"/>
              <p:cNvSpPr txBox="1">
                <a:spLocks noChangeArrowheads="1"/>
              </p:cNvSpPr>
              <p:nvPr/>
            </p:nvSpPr>
            <p:spPr bwMode="auto">
              <a:xfrm>
                <a:off x="2796" y="2803"/>
                <a:ext cx="346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b:1</a:t>
                </a:r>
              </a:p>
            </p:txBody>
          </p:sp>
          <p:sp>
            <p:nvSpPr>
              <p:cNvPr id="29707" name="Text Box 10"/>
              <p:cNvSpPr txBox="1">
                <a:spLocks noChangeArrowheads="1"/>
              </p:cNvSpPr>
              <p:nvPr/>
            </p:nvSpPr>
            <p:spPr bwMode="auto">
              <a:xfrm>
                <a:off x="2796" y="3150"/>
                <a:ext cx="346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p:1</a:t>
                </a:r>
              </a:p>
            </p:txBody>
          </p:sp>
          <p:cxnSp>
            <p:nvCxnSpPr>
              <p:cNvPr id="29708" name="AutoShape 11"/>
              <p:cNvCxnSpPr>
                <a:cxnSpLocks noChangeShapeType="1"/>
                <a:stCxn id="29705" idx="2"/>
                <a:endCxn id="29706" idx="0"/>
              </p:cNvCxnSpPr>
              <p:nvPr/>
            </p:nvCxnSpPr>
            <p:spPr bwMode="auto">
              <a:xfrm>
                <a:off x="2964" y="2714"/>
                <a:ext cx="1" cy="89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09" name="AutoShape 12"/>
              <p:cNvCxnSpPr>
                <a:cxnSpLocks noChangeShapeType="1"/>
                <a:stCxn id="29706" idx="2"/>
                <a:endCxn id="29707" idx="0"/>
              </p:cNvCxnSpPr>
              <p:nvPr/>
            </p:nvCxnSpPr>
            <p:spPr bwMode="auto">
              <a:xfrm>
                <a:off x="2965" y="3061"/>
                <a:ext cx="0" cy="89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10" name="AutoShape 13"/>
              <p:cNvCxnSpPr>
                <a:cxnSpLocks noChangeShapeType="1"/>
                <a:stCxn id="29703" idx="2"/>
                <a:endCxn id="29705" idx="0"/>
              </p:cNvCxnSpPr>
              <p:nvPr/>
            </p:nvCxnSpPr>
            <p:spPr bwMode="auto">
              <a:xfrm>
                <a:off x="2654" y="2322"/>
                <a:ext cx="310" cy="134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11" name="AutoShape 14"/>
              <p:cNvCxnSpPr>
                <a:cxnSpLocks noChangeShapeType="1"/>
                <a:stCxn id="29703" idx="2"/>
                <a:endCxn id="29704" idx="0"/>
              </p:cNvCxnSpPr>
              <p:nvPr/>
            </p:nvCxnSpPr>
            <p:spPr bwMode="auto">
              <a:xfrm flipH="1">
                <a:off x="2381" y="2322"/>
                <a:ext cx="273" cy="134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9712" name="Text Box 15"/>
              <p:cNvSpPr txBox="1">
                <a:spLocks noChangeArrowheads="1"/>
              </p:cNvSpPr>
              <p:nvPr/>
            </p:nvSpPr>
            <p:spPr bwMode="auto">
              <a:xfrm>
                <a:off x="2420" y="2803"/>
                <a:ext cx="346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b:1</a:t>
                </a:r>
              </a:p>
            </p:txBody>
          </p:sp>
          <p:sp>
            <p:nvSpPr>
              <p:cNvPr id="29713" name="Text Box 16"/>
              <p:cNvSpPr txBox="1">
                <a:spLocks noChangeArrowheads="1"/>
              </p:cNvSpPr>
              <p:nvPr/>
            </p:nvSpPr>
            <p:spPr bwMode="auto">
              <a:xfrm>
                <a:off x="2045" y="2803"/>
                <a:ext cx="328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c:3</a:t>
                </a:r>
              </a:p>
            </p:txBody>
          </p:sp>
          <p:cxnSp>
            <p:nvCxnSpPr>
              <p:cNvPr id="29714" name="AutoShape 17"/>
              <p:cNvCxnSpPr>
                <a:cxnSpLocks noChangeShapeType="1"/>
                <a:stCxn id="29704" idx="2"/>
                <a:endCxn id="29713" idx="0"/>
              </p:cNvCxnSpPr>
              <p:nvPr/>
            </p:nvCxnSpPr>
            <p:spPr bwMode="auto">
              <a:xfrm flipH="1">
                <a:off x="2209" y="2714"/>
                <a:ext cx="172" cy="89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15" name="AutoShape 18"/>
              <p:cNvCxnSpPr>
                <a:cxnSpLocks noChangeShapeType="1"/>
                <a:stCxn id="29704" idx="2"/>
                <a:endCxn id="29712" idx="0"/>
              </p:cNvCxnSpPr>
              <p:nvPr/>
            </p:nvCxnSpPr>
            <p:spPr bwMode="auto">
              <a:xfrm>
                <a:off x="2381" y="2714"/>
                <a:ext cx="208" cy="89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9716" name="Text Box 19"/>
              <p:cNvSpPr txBox="1">
                <a:spLocks noChangeArrowheads="1"/>
              </p:cNvSpPr>
              <p:nvPr/>
            </p:nvSpPr>
            <p:spPr bwMode="auto">
              <a:xfrm>
                <a:off x="2040" y="3150"/>
                <a:ext cx="337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a:3</a:t>
                </a:r>
              </a:p>
            </p:txBody>
          </p:sp>
          <p:sp>
            <p:nvSpPr>
              <p:cNvPr id="29717" name="Text Box 20"/>
              <p:cNvSpPr txBox="1">
                <a:spLocks noChangeArrowheads="1"/>
              </p:cNvSpPr>
              <p:nvPr/>
            </p:nvSpPr>
            <p:spPr bwMode="auto">
              <a:xfrm>
                <a:off x="2277" y="3499"/>
                <a:ext cx="346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b:1</a:t>
                </a:r>
              </a:p>
            </p:txBody>
          </p:sp>
          <p:sp>
            <p:nvSpPr>
              <p:cNvPr id="29718" name="Text Box 21"/>
              <p:cNvSpPr txBox="1">
                <a:spLocks noChangeArrowheads="1"/>
              </p:cNvSpPr>
              <p:nvPr/>
            </p:nvSpPr>
            <p:spPr bwMode="auto">
              <a:xfrm>
                <a:off x="1856" y="3499"/>
                <a:ext cx="390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m:2</a:t>
                </a:r>
              </a:p>
            </p:txBody>
          </p:sp>
          <p:sp>
            <p:nvSpPr>
              <p:cNvPr id="29719" name="Text Box 22"/>
              <p:cNvSpPr txBox="1">
                <a:spLocks noChangeArrowheads="1"/>
              </p:cNvSpPr>
              <p:nvPr/>
            </p:nvSpPr>
            <p:spPr bwMode="auto">
              <a:xfrm>
                <a:off x="1874" y="3846"/>
                <a:ext cx="346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p:2</a:t>
                </a:r>
              </a:p>
            </p:txBody>
          </p:sp>
          <p:cxnSp>
            <p:nvCxnSpPr>
              <p:cNvPr id="29720" name="AutoShape 23"/>
              <p:cNvCxnSpPr>
                <a:cxnSpLocks noChangeShapeType="1"/>
                <a:stCxn id="29713" idx="2"/>
                <a:endCxn id="29716" idx="0"/>
              </p:cNvCxnSpPr>
              <p:nvPr/>
            </p:nvCxnSpPr>
            <p:spPr bwMode="auto">
              <a:xfrm>
                <a:off x="2209" y="3061"/>
                <a:ext cx="0" cy="89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21" name="AutoShape 24"/>
              <p:cNvCxnSpPr>
                <a:cxnSpLocks noChangeShapeType="1"/>
                <a:stCxn id="29716" idx="2"/>
                <a:endCxn id="29718" idx="0"/>
              </p:cNvCxnSpPr>
              <p:nvPr/>
            </p:nvCxnSpPr>
            <p:spPr bwMode="auto">
              <a:xfrm flipH="1">
                <a:off x="2043" y="3408"/>
                <a:ext cx="166" cy="91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22" name="AutoShape 25"/>
              <p:cNvCxnSpPr>
                <a:cxnSpLocks noChangeShapeType="1"/>
                <a:stCxn id="29716" idx="2"/>
                <a:endCxn id="29717" idx="0"/>
              </p:cNvCxnSpPr>
              <p:nvPr/>
            </p:nvCxnSpPr>
            <p:spPr bwMode="auto">
              <a:xfrm>
                <a:off x="2209" y="3408"/>
                <a:ext cx="237" cy="91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23" name="AutoShape 26"/>
              <p:cNvCxnSpPr>
                <a:cxnSpLocks noChangeShapeType="1"/>
                <a:stCxn id="29718" idx="2"/>
                <a:endCxn id="29719" idx="0"/>
              </p:cNvCxnSpPr>
              <p:nvPr/>
            </p:nvCxnSpPr>
            <p:spPr bwMode="auto">
              <a:xfrm>
                <a:off x="2043" y="3757"/>
                <a:ext cx="0" cy="89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9724" name="Text Box 27"/>
              <p:cNvSpPr txBox="1">
                <a:spLocks noChangeArrowheads="1"/>
              </p:cNvSpPr>
              <p:nvPr/>
            </p:nvSpPr>
            <p:spPr bwMode="auto">
              <a:xfrm>
                <a:off x="2260" y="3846"/>
                <a:ext cx="390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m:1</a:t>
                </a:r>
              </a:p>
            </p:txBody>
          </p:sp>
          <p:cxnSp>
            <p:nvCxnSpPr>
              <p:cNvPr id="29725" name="AutoShape 28"/>
              <p:cNvCxnSpPr>
                <a:cxnSpLocks noChangeShapeType="1"/>
                <a:stCxn id="29717" idx="2"/>
                <a:endCxn id="29724" idx="0"/>
              </p:cNvCxnSpPr>
              <p:nvPr/>
            </p:nvCxnSpPr>
            <p:spPr bwMode="auto">
              <a:xfrm>
                <a:off x="2446" y="3757"/>
                <a:ext cx="1" cy="89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9726" name="Text Box 29"/>
              <p:cNvSpPr txBox="1">
                <a:spLocks noChangeArrowheads="1"/>
              </p:cNvSpPr>
              <p:nvPr/>
            </p:nvSpPr>
            <p:spPr bwMode="auto">
              <a:xfrm>
                <a:off x="240" y="2064"/>
                <a:ext cx="1602" cy="1796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Header Table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 u="sng">
                    <a:latin typeface="Times New Roman" panose="02020603050405020304" pitchFamily="18" charset="0"/>
                  </a:rPr>
                  <a:t>Item  frequency  head 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 f	4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c	4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a	3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b	3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m	3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p	3</a:t>
                </a:r>
              </a:p>
            </p:txBody>
          </p:sp>
          <p:sp>
            <p:nvSpPr>
              <p:cNvPr id="29727" name="Freeform 30"/>
              <p:cNvSpPr>
                <a:spLocks/>
              </p:cNvSpPr>
              <p:nvPr/>
            </p:nvSpPr>
            <p:spPr bwMode="auto">
              <a:xfrm>
                <a:off x="1584" y="2496"/>
                <a:ext cx="665" cy="212"/>
              </a:xfrm>
              <a:custGeom>
                <a:avLst/>
                <a:gdLst>
                  <a:gd name="T0" fmla="*/ 0 w 672"/>
                  <a:gd name="T1" fmla="*/ 146 h 240"/>
                  <a:gd name="T2" fmla="*/ 276 w 672"/>
                  <a:gd name="T3" fmla="*/ 117 h 240"/>
                  <a:gd name="T4" fmla="*/ 415 w 672"/>
                  <a:gd name="T5" fmla="*/ 29 h 240"/>
                  <a:gd name="T6" fmla="*/ 644 w 672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2"/>
                  <a:gd name="T13" fmla="*/ 0 h 240"/>
                  <a:gd name="T14" fmla="*/ 672 w 672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2" h="240">
                    <a:moveTo>
                      <a:pt x="0" y="240"/>
                    </a:moveTo>
                    <a:cubicBezTo>
                      <a:pt x="108" y="232"/>
                      <a:pt x="216" y="224"/>
                      <a:pt x="288" y="192"/>
                    </a:cubicBezTo>
                    <a:cubicBezTo>
                      <a:pt x="360" y="160"/>
                      <a:pt x="368" y="80"/>
                      <a:pt x="432" y="48"/>
                    </a:cubicBezTo>
                    <a:cubicBezTo>
                      <a:pt x="496" y="16"/>
                      <a:pt x="584" y="8"/>
                      <a:pt x="672" y="0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8" name="Freeform 31"/>
              <p:cNvSpPr>
                <a:spLocks/>
              </p:cNvSpPr>
              <p:nvPr/>
            </p:nvSpPr>
            <p:spPr bwMode="auto">
              <a:xfrm>
                <a:off x="1584" y="2880"/>
                <a:ext cx="427" cy="47"/>
              </a:xfrm>
              <a:custGeom>
                <a:avLst/>
                <a:gdLst>
                  <a:gd name="T0" fmla="*/ 0 w 432"/>
                  <a:gd name="T1" fmla="*/ 0 h 1"/>
                  <a:gd name="T2" fmla="*/ 412 w 432"/>
                  <a:gd name="T3" fmla="*/ 0 h 1"/>
                  <a:gd name="T4" fmla="*/ 0 60000 65536"/>
                  <a:gd name="T5" fmla="*/ 0 60000 65536"/>
                  <a:gd name="T6" fmla="*/ 0 w 432"/>
                  <a:gd name="T7" fmla="*/ 0 h 1"/>
                  <a:gd name="T8" fmla="*/ 432 w 432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32" h="1">
                    <a:moveTo>
                      <a:pt x="0" y="0"/>
                    </a:moveTo>
                    <a:cubicBezTo>
                      <a:pt x="0" y="0"/>
                      <a:pt x="216" y="0"/>
                      <a:pt x="432" y="0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9" name="Freeform 32"/>
              <p:cNvSpPr>
                <a:spLocks/>
              </p:cNvSpPr>
              <p:nvPr/>
            </p:nvSpPr>
            <p:spPr bwMode="auto">
              <a:xfrm>
                <a:off x="2320" y="2579"/>
                <a:ext cx="475" cy="339"/>
              </a:xfrm>
              <a:custGeom>
                <a:avLst/>
                <a:gdLst>
                  <a:gd name="T0" fmla="*/ 0 w 480"/>
                  <a:gd name="T1" fmla="*/ 233 h 384"/>
                  <a:gd name="T2" fmla="*/ 48 w 480"/>
                  <a:gd name="T3" fmla="*/ 204 h 384"/>
                  <a:gd name="T4" fmla="*/ 232 w 480"/>
                  <a:gd name="T5" fmla="*/ 58 h 384"/>
                  <a:gd name="T6" fmla="*/ 460 w 480"/>
                  <a:gd name="T7" fmla="*/ 0 h 3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0"/>
                  <a:gd name="T13" fmla="*/ 0 h 384"/>
                  <a:gd name="T14" fmla="*/ 480 w 480"/>
                  <a:gd name="T15" fmla="*/ 384 h 3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0" h="384">
                    <a:moveTo>
                      <a:pt x="0" y="384"/>
                    </a:moveTo>
                    <a:cubicBezTo>
                      <a:pt x="4" y="384"/>
                      <a:pt x="8" y="384"/>
                      <a:pt x="48" y="336"/>
                    </a:cubicBezTo>
                    <a:cubicBezTo>
                      <a:pt x="88" y="288"/>
                      <a:pt x="168" y="152"/>
                      <a:pt x="240" y="96"/>
                    </a:cubicBezTo>
                    <a:cubicBezTo>
                      <a:pt x="312" y="40"/>
                      <a:pt x="396" y="20"/>
                      <a:pt x="480" y="0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0" name="Freeform 33"/>
              <p:cNvSpPr>
                <a:spLocks/>
              </p:cNvSpPr>
              <p:nvPr/>
            </p:nvSpPr>
            <p:spPr bwMode="auto">
              <a:xfrm>
                <a:off x="1584" y="3024"/>
                <a:ext cx="427" cy="169"/>
              </a:xfrm>
              <a:custGeom>
                <a:avLst/>
                <a:gdLst>
                  <a:gd name="T0" fmla="*/ 0 w 432"/>
                  <a:gd name="T1" fmla="*/ 0 h 192"/>
                  <a:gd name="T2" fmla="*/ 136 w 432"/>
                  <a:gd name="T3" fmla="*/ 29 h 192"/>
                  <a:gd name="T4" fmla="*/ 276 w 432"/>
                  <a:gd name="T5" fmla="*/ 87 h 192"/>
                  <a:gd name="T6" fmla="*/ 412 w 432"/>
                  <a:gd name="T7" fmla="*/ 115 h 1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2"/>
                  <a:gd name="T13" fmla="*/ 0 h 192"/>
                  <a:gd name="T14" fmla="*/ 432 w 432"/>
                  <a:gd name="T15" fmla="*/ 192 h 1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2" h="192">
                    <a:moveTo>
                      <a:pt x="0" y="0"/>
                    </a:moveTo>
                    <a:cubicBezTo>
                      <a:pt x="48" y="12"/>
                      <a:pt x="96" y="24"/>
                      <a:pt x="144" y="48"/>
                    </a:cubicBezTo>
                    <a:cubicBezTo>
                      <a:pt x="192" y="72"/>
                      <a:pt x="240" y="120"/>
                      <a:pt x="288" y="144"/>
                    </a:cubicBezTo>
                    <a:cubicBezTo>
                      <a:pt x="336" y="168"/>
                      <a:pt x="384" y="180"/>
                      <a:pt x="432" y="192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1" name="Freeform 34"/>
              <p:cNvSpPr>
                <a:spLocks/>
              </p:cNvSpPr>
              <p:nvPr/>
            </p:nvSpPr>
            <p:spPr bwMode="auto">
              <a:xfrm>
                <a:off x="1584" y="3216"/>
                <a:ext cx="712" cy="338"/>
              </a:xfrm>
              <a:custGeom>
                <a:avLst/>
                <a:gdLst>
                  <a:gd name="T0" fmla="*/ 0 w 720"/>
                  <a:gd name="T1" fmla="*/ 0 h 384"/>
                  <a:gd name="T2" fmla="*/ 228 w 720"/>
                  <a:gd name="T3" fmla="*/ 29 h 384"/>
                  <a:gd name="T4" fmla="*/ 504 w 720"/>
                  <a:gd name="T5" fmla="*/ 173 h 384"/>
                  <a:gd name="T6" fmla="*/ 688 w 720"/>
                  <a:gd name="T7" fmla="*/ 231 h 3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20"/>
                  <a:gd name="T13" fmla="*/ 0 h 384"/>
                  <a:gd name="T14" fmla="*/ 720 w 720"/>
                  <a:gd name="T15" fmla="*/ 384 h 3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20" h="384">
                    <a:moveTo>
                      <a:pt x="0" y="0"/>
                    </a:moveTo>
                    <a:cubicBezTo>
                      <a:pt x="76" y="0"/>
                      <a:pt x="152" y="0"/>
                      <a:pt x="240" y="48"/>
                    </a:cubicBezTo>
                    <a:cubicBezTo>
                      <a:pt x="328" y="96"/>
                      <a:pt x="448" y="232"/>
                      <a:pt x="528" y="288"/>
                    </a:cubicBezTo>
                    <a:cubicBezTo>
                      <a:pt x="608" y="344"/>
                      <a:pt x="664" y="364"/>
                      <a:pt x="720" y="384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2" name="Freeform 35"/>
              <p:cNvSpPr>
                <a:spLocks/>
              </p:cNvSpPr>
              <p:nvPr/>
            </p:nvSpPr>
            <p:spPr bwMode="auto">
              <a:xfrm>
                <a:off x="2566" y="3024"/>
                <a:ext cx="56" cy="593"/>
              </a:xfrm>
              <a:custGeom>
                <a:avLst/>
                <a:gdLst>
                  <a:gd name="T0" fmla="*/ 0 w 56"/>
                  <a:gd name="T1" fmla="*/ 408 h 672"/>
                  <a:gd name="T2" fmla="*/ 48 w 56"/>
                  <a:gd name="T3" fmla="*/ 262 h 672"/>
                  <a:gd name="T4" fmla="*/ 48 w 56"/>
                  <a:gd name="T5" fmla="*/ 0 h 672"/>
                  <a:gd name="T6" fmla="*/ 0 60000 65536"/>
                  <a:gd name="T7" fmla="*/ 0 60000 65536"/>
                  <a:gd name="T8" fmla="*/ 0 60000 65536"/>
                  <a:gd name="T9" fmla="*/ 0 w 56"/>
                  <a:gd name="T10" fmla="*/ 0 h 672"/>
                  <a:gd name="T11" fmla="*/ 56 w 56"/>
                  <a:gd name="T12" fmla="*/ 672 h 6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" h="672">
                    <a:moveTo>
                      <a:pt x="0" y="672"/>
                    </a:moveTo>
                    <a:cubicBezTo>
                      <a:pt x="20" y="608"/>
                      <a:pt x="40" y="544"/>
                      <a:pt x="48" y="432"/>
                    </a:cubicBezTo>
                    <a:cubicBezTo>
                      <a:pt x="56" y="320"/>
                      <a:pt x="52" y="160"/>
                      <a:pt x="48" y="0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3" name="Line 36"/>
              <p:cNvSpPr>
                <a:spLocks noChangeShapeType="1"/>
              </p:cNvSpPr>
              <p:nvPr/>
            </p:nvSpPr>
            <p:spPr bwMode="auto">
              <a:xfrm>
                <a:off x="2700" y="2927"/>
                <a:ext cx="95" cy="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4" name="Freeform 37"/>
              <p:cNvSpPr>
                <a:spLocks/>
              </p:cNvSpPr>
              <p:nvPr/>
            </p:nvSpPr>
            <p:spPr bwMode="auto">
              <a:xfrm>
                <a:off x="1584" y="3360"/>
                <a:ext cx="285" cy="211"/>
              </a:xfrm>
              <a:custGeom>
                <a:avLst/>
                <a:gdLst>
                  <a:gd name="T0" fmla="*/ 0 w 288"/>
                  <a:gd name="T1" fmla="*/ 0 h 240"/>
                  <a:gd name="T2" fmla="*/ 140 w 288"/>
                  <a:gd name="T3" fmla="*/ 29 h 240"/>
                  <a:gd name="T4" fmla="*/ 184 w 288"/>
                  <a:gd name="T5" fmla="*/ 115 h 240"/>
                  <a:gd name="T6" fmla="*/ 276 w 288"/>
                  <a:gd name="T7" fmla="*/ 144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8"/>
                  <a:gd name="T13" fmla="*/ 0 h 240"/>
                  <a:gd name="T14" fmla="*/ 288 w 288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8" h="240">
                    <a:moveTo>
                      <a:pt x="0" y="0"/>
                    </a:moveTo>
                    <a:cubicBezTo>
                      <a:pt x="56" y="8"/>
                      <a:pt x="112" y="16"/>
                      <a:pt x="144" y="48"/>
                    </a:cubicBezTo>
                    <a:cubicBezTo>
                      <a:pt x="176" y="80"/>
                      <a:pt x="168" y="160"/>
                      <a:pt x="192" y="192"/>
                    </a:cubicBezTo>
                    <a:cubicBezTo>
                      <a:pt x="216" y="224"/>
                      <a:pt x="252" y="232"/>
                      <a:pt x="288" y="240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5" name="Freeform 38"/>
              <p:cNvSpPr>
                <a:spLocks/>
              </p:cNvSpPr>
              <p:nvPr/>
            </p:nvSpPr>
            <p:spPr bwMode="auto">
              <a:xfrm>
                <a:off x="2186" y="3633"/>
                <a:ext cx="95" cy="339"/>
              </a:xfrm>
              <a:custGeom>
                <a:avLst/>
                <a:gdLst>
                  <a:gd name="T0" fmla="*/ 0 w 96"/>
                  <a:gd name="T1" fmla="*/ 0 h 384"/>
                  <a:gd name="T2" fmla="*/ 48 w 96"/>
                  <a:gd name="T3" fmla="*/ 58 h 384"/>
                  <a:gd name="T4" fmla="*/ 48 w 96"/>
                  <a:gd name="T5" fmla="*/ 175 h 384"/>
                  <a:gd name="T6" fmla="*/ 92 w 96"/>
                  <a:gd name="T7" fmla="*/ 233 h 3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384"/>
                  <a:gd name="T14" fmla="*/ 96 w 96"/>
                  <a:gd name="T15" fmla="*/ 384 h 3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384">
                    <a:moveTo>
                      <a:pt x="0" y="0"/>
                    </a:moveTo>
                    <a:cubicBezTo>
                      <a:pt x="20" y="24"/>
                      <a:pt x="40" y="48"/>
                      <a:pt x="48" y="96"/>
                    </a:cubicBezTo>
                    <a:cubicBezTo>
                      <a:pt x="56" y="144"/>
                      <a:pt x="40" y="240"/>
                      <a:pt x="48" y="288"/>
                    </a:cubicBezTo>
                    <a:cubicBezTo>
                      <a:pt x="56" y="336"/>
                      <a:pt x="76" y="360"/>
                      <a:pt x="96" y="384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6" name="Freeform 39"/>
              <p:cNvSpPr>
                <a:spLocks/>
              </p:cNvSpPr>
              <p:nvPr/>
            </p:nvSpPr>
            <p:spPr bwMode="auto">
              <a:xfrm>
                <a:off x="1584" y="3552"/>
                <a:ext cx="285" cy="382"/>
              </a:xfrm>
              <a:custGeom>
                <a:avLst/>
                <a:gdLst>
                  <a:gd name="T0" fmla="*/ 0 w 288"/>
                  <a:gd name="T1" fmla="*/ 0 h 432"/>
                  <a:gd name="T2" fmla="*/ 92 w 288"/>
                  <a:gd name="T3" fmla="*/ 88 h 432"/>
                  <a:gd name="T4" fmla="*/ 140 w 288"/>
                  <a:gd name="T5" fmla="*/ 206 h 432"/>
                  <a:gd name="T6" fmla="*/ 276 w 288"/>
                  <a:gd name="T7" fmla="*/ 264 h 4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8"/>
                  <a:gd name="T13" fmla="*/ 0 h 432"/>
                  <a:gd name="T14" fmla="*/ 288 w 288"/>
                  <a:gd name="T15" fmla="*/ 432 h 4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8" h="432">
                    <a:moveTo>
                      <a:pt x="0" y="0"/>
                    </a:moveTo>
                    <a:cubicBezTo>
                      <a:pt x="36" y="44"/>
                      <a:pt x="72" y="88"/>
                      <a:pt x="96" y="144"/>
                    </a:cubicBezTo>
                    <a:cubicBezTo>
                      <a:pt x="120" y="200"/>
                      <a:pt x="112" y="288"/>
                      <a:pt x="144" y="336"/>
                    </a:cubicBezTo>
                    <a:cubicBezTo>
                      <a:pt x="176" y="384"/>
                      <a:pt x="232" y="408"/>
                      <a:pt x="288" y="432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7" name="Freeform 40"/>
              <p:cNvSpPr>
                <a:spLocks/>
              </p:cNvSpPr>
              <p:nvPr/>
            </p:nvSpPr>
            <p:spPr bwMode="auto">
              <a:xfrm>
                <a:off x="2186" y="3372"/>
                <a:ext cx="760" cy="593"/>
              </a:xfrm>
              <a:custGeom>
                <a:avLst/>
                <a:gdLst>
                  <a:gd name="T0" fmla="*/ 0 w 768"/>
                  <a:gd name="T1" fmla="*/ 408 h 672"/>
                  <a:gd name="T2" fmla="*/ 92 w 768"/>
                  <a:gd name="T3" fmla="*/ 320 h 672"/>
                  <a:gd name="T4" fmla="*/ 508 w 768"/>
                  <a:gd name="T5" fmla="*/ 233 h 672"/>
                  <a:gd name="T6" fmla="*/ 736 w 768"/>
                  <a:gd name="T7" fmla="*/ 0 h 6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68"/>
                  <a:gd name="T13" fmla="*/ 0 h 672"/>
                  <a:gd name="T14" fmla="*/ 768 w 768"/>
                  <a:gd name="T15" fmla="*/ 672 h 6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68" h="672">
                    <a:moveTo>
                      <a:pt x="0" y="672"/>
                    </a:moveTo>
                    <a:cubicBezTo>
                      <a:pt x="4" y="624"/>
                      <a:pt x="8" y="576"/>
                      <a:pt x="96" y="528"/>
                    </a:cubicBezTo>
                    <a:cubicBezTo>
                      <a:pt x="184" y="480"/>
                      <a:pt x="416" y="472"/>
                      <a:pt x="528" y="384"/>
                    </a:cubicBezTo>
                    <a:cubicBezTo>
                      <a:pt x="640" y="296"/>
                      <a:pt x="704" y="148"/>
                      <a:pt x="768" y="0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551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533400" y="685800"/>
            <a:ext cx="8382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Step 6: Construct Conditional FP-tree </a:t>
            </a:r>
          </a:p>
        </p:txBody>
      </p:sp>
      <p:sp>
        <p:nvSpPr>
          <p:cNvPr id="30723" name="Rectangle 15"/>
          <p:cNvSpPr>
            <a:spLocks noChangeArrowheads="1"/>
          </p:cNvSpPr>
          <p:nvPr/>
        </p:nvSpPr>
        <p:spPr bwMode="auto">
          <a:xfrm>
            <a:off x="7010400" y="4267200"/>
            <a:ext cx="2133600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600" i="1">
                <a:latin typeface="Times New Roman" panose="02020603050405020304" pitchFamily="18" charset="0"/>
              </a:rPr>
              <a:t>All frequent patterns concerning m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600" i="1">
                <a:latin typeface="Times New Roman" panose="02020603050405020304" pitchFamily="18" charset="0"/>
              </a:rPr>
              <a:t>m,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600" i="1">
                <a:latin typeface="Times New Roman" panose="02020603050405020304" pitchFamily="18" charset="0"/>
              </a:rPr>
              <a:t>fm, cm, am,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600" i="1">
                <a:latin typeface="Times New Roman" panose="02020603050405020304" pitchFamily="18" charset="0"/>
              </a:rPr>
              <a:t>fcm, fam, cam,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600" i="1">
                <a:latin typeface="Times New Roman" panose="02020603050405020304" pitchFamily="18" charset="0"/>
              </a:rPr>
              <a:t>fcam</a:t>
            </a:r>
          </a:p>
        </p:txBody>
      </p:sp>
      <p:grpSp>
        <p:nvGrpSpPr>
          <p:cNvPr id="30724" name="Group 53"/>
          <p:cNvGrpSpPr>
            <a:grpSpLocks/>
          </p:cNvGrpSpPr>
          <p:nvPr/>
        </p:nvGrpSpPr>
        <p:grpSpPr bwMode="auto">
          <a:xfrm>
            <a:off x="304800" y="1676400"/>
            <a:ext cx="8321675" cy="4984750"/>
            <a:chOff x="144" y="1056"/>
            <a:chExt cx="5242" cy="3140"/>
          </a:xfrm>
        </p:grpSpPr>
        <p:sp>
          <p:nvSpPr>
            <p:cNvPr id="30725" name="Rectangle 3"/>
            <p:cNvSpPr>
              <a:spLocks noChangeArrowheads="1"/>
            </p:cNvSpPr>
            <p:nvPr/>
          </p:nvSpPr>
          <p:spPr bwMode="auto">
            <a:xfrm>
              <a:off x="384" y="1056"/>
              <a:ext cx="5002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>
                  <a:latin typeface="Arial" panose="020B0604020202020204" pitchFamily="34" charset="0"/>
                </a:rPr>
                <a:t>For each pattern-base</a:t>
              </a:r>
            </a:p>
            <a:p>
              <a:pPr lvl="1">
                <a:lnSpc>
                  <a:spcPct val="90000"/>
                </a:lnSpc>
              </a:pPr>
              <a:r>
                <a:rPr lang="en-US" altLang="en-US" sz="2400">
                  <a:latin typeface="Arial" panose="020B0604020202020204" pitchFamily="34" charset="0"/>
                </a:rPr>
                <a:t>Accumulate the count for each item in the base</a:t>
              </a:r>
            </a:p>
            <a:p>
              <a:pPr lvl="1">
                <a:lnSpc>
                  <a:spcPct val="90000"/>
                </a:lnSpc>
              </a:pPr>
              <a:r>
                <a:rPr lang="en-US" altLang="en-US" sz="2400">
                  <a:latin typeface="Arial" panose="020B0604020202020204" pitchFamily="34" charset="0"/>
                </a:rPr>
                <a:t>Construct the FP-tree for the frequent items of the pattern base</a:t>
              </a:r>
            </a:p>
          </p:txBody>
        </p:sp>
        <p:sp>
          <p:nvSpPr>
            <p:cNvPr id="30726" name="Rectangle 4"/>
            <p:cNvSpPr>
              <a:spLocks noChangeArrowheads="1"/>
            </p:cNvSpPr>
            <p:nvPr/>
          </p:nvSpPr>
          <p:spPr bwMode="auto">
            <a:xfrm>
              <a:off x="3216" y="2160"/>
              <a:ext cx="1299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 i="1">
                  <a:latin typeface="Times New Roman" panose="02020603050405020304" pitchFamily="18" charset="0"/>
                </a:rPr>
                <a:t>m-conditional pattern base:</a:t>
              </a:r>
            </a:p>
            <a:p>
              <a:pPr lvl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 i="1">
                  <a:latin typeface="Times New Roman" panose="02020603050405020304" pitchFamily="18" charset="0"/>
                </a:rPr>
                <a:t>fca:2, fcab:1</a:t>
              </a:r>
            </a:p>
          </p:txBody>
        </p:sp>
        <p:grpSp>
          <p:nvGrpSpPr>
            <p:cNvPr id="30727" name="Group 5"/>
            <p:cNvGrpSpPr>
              <a:grpSpLocks/>
            </p:cNvGrpSpPr>
            <p:nvPr/>
          </p:nvGrpSpPr>
          <p:grpSpPr bwMode="auto">
            <a:xfrm>
              <a:off x="3312" y="2736"/>
              <a:ext cx="1296" cy="1460"/>
              <a:chOff x="3312" y="2736"/>
              <a:chExt cx="1296" cy="1460"/>
            </a:xfrm>
          </p:grpSpPr>
          <p:grpSp>
            <p:nvGrpSpPr>
              <p:cNvPr id="30765" name="Group 6"/>
              <p:cNvGrpSpPr>
                <a:grpSpLocks/>
              </p:cNvGrpSpPr>
              <p:nvPr/>
            </p:nvGrpSpPr>
            <p:grpSpPr bwMode="auto">
              <a:xfrm>
                <a:off x="3792" y="2736"/>
                <a:ext cx="329" cy="1297"/>
                <a:chOff x="2282" y="2456"/>
                <a:chExt cx="329" cy="1297"/>
              </a:xfrm>
            </p:grpSpPr>
            <p:sp>
              <p:nvSpPr>
                <p:cNvPr id="30767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312" y="2456"/>
                  <a:ext cx="24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en-US" sz="2000">
                      <a:latin typeface="Times New Roman" panose="02020603050405020304" pitchFamily="18" charset="0"/>
                    </a:rPr>
                    <a:t>{}</a:t>
                  </a:r>
                </a:p>
              </p:txBody>
            </p:sp>
            <p:sp>
              <p:nvSpPr>
                <p:cNvPr id="30768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300" y="2840"/>
                  <a:ext cx="3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en-US" sz="2000">
                      <a:latin typeface="Times New Roman" panose="02020603050405020304" pitchFamily="18" charset="0"/>
                    </a:rPr>
                    <a:t>f:3</a:t>
                  </a:r>
                </a:p>
              </p:txBody>
            </p:sp>
            <p:sp>
              <p:nvSpPr>
                <p:cNvPr id="30769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287" y="3167"/>
                  <a:ext cx="3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en-US" sz="2000">
                      <a:latin typeface="Times New Roman" panose="02020603050405020304" pitchFamily="18" charset="0"/>
                    </a:rPr>
                    <a:t>c:3</a:t>
                  </a:r>
                </a:p>
              </p:txBody>
            </p:sp>
            <p:sp>
              <p:nvSpPr>
                <p:cNvPr id="30770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282" y="3503"/>
                  <a:ext cx="329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en-US" sz="2000">
                      <a:latin typeface="Times New Roman" panose="02020603050405020304" pitchFamily="18" charset="0"/>
                    </a:rPr>
                    <a:t>a:3</a:t>
                  </a:r>
                </a:p>
              </p:txBody>
            </p:sp>
            <p:cxnSp>
              <p:nvCxnSpPr>
                <p:cNvPr id="30771" name="AutoShape 11"/>
                <p:cNvCxnSpPr>
                  <a:cxnSpLocks noChangeShapeType="1"/>
                  <a:stCxn id="30767" idx="2"/>
                  <a:endCxn id="30768" idx="0"/>
                </p:cNvCxnSpPr>
                <p:nvPr/>
              </p:nvCxnSpPr>
              <p:spPr bwMode="auto">
                <a:xfrm>
                  <a:off x="2447" y="2706"/>
                  <a:ext cx="0" cy="13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72" name="AutoShape 12"/>
                <p:cNvCxnSpPr>
                  <a:cxnSpLocks noChangeShapeType="1"/>
                  <a:stCxn id="30768" idx="2"/>
                  <a:endCxn id="30769" idx="0"/>
                </p:cNvCxnSpPr>
                <p:nvPr/>
              </p:nvCxnSpPr>
              <p:spPr bwMode="auto">
                <a:xfrm>
                  <a:off x="2447" y="3090"/>
                  <a:ext cx="0" cy="7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73" name="AutoShape 13"/>
                <p:cNvCxnSpPr>
                  <a:cxnSpLocks noChangeShapeType="1"/>
                  <a:stCxn id="30769" idx="2"/>
                  <a:endCxn id="30770" idx="0"/>
                </p:cNvCxnSpPr>
                <p:nvPr/>
              </p:nvCxnSpPr>
              <p:spPr bwMode="auto">
                <a:xfrm>
                  <a:off x="2447" y="3417"/>
                  <a:ext cx="0" cy="86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30766" name="Text Box 14"/>
              <p:cNvSpPr txBox="1">
                <a:spLocks noChangeArrowheads="1"/>
              </p:cNvSpPr>
              <p:nvPr/>
            </p:nvSpPr>
            <p:spPr bwMode="auto">
              <a:xfrm>
                <a:off x="3312" y="3984"/>
                <a:ext cx="129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1600" i="1">
                    <a:latin typeface="Times New Roman" panose="02020603050405020304" pitchFamily="18" charset="0"/>
                  </a:rPr>
                  <a:t>m-conditional FP-tree</a:t>
                </a:r>
              </a:p>
            </p:txBody>
          </p:sp>
        </p:grpSp>
        <p:sp>
          <p:nvSpPr>
            <p:cNvPr id="30728" name="Text Box 16"/>
            <p:cNvSpPr txBox="1">
              <a:spLocks noChangeArrowheads="1"/>
            </p:cNvSpPr>
            <p:nvPr/>
          </p:nvSpPr>
          <p:spPr bwMode="auto">
            <a:xfrm>
              <a:off x="3216" y="2976"/>
              <a:ext cx="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400">
                  <a:latin typeface="Times New Roman" panose="02020603050405020304" pitchFamily="18" charset="0"/>
                  <a:sym typeface="Wingdings 3" panose="05040102010807070707" pitchFamily="18" charset="2"/>
                </a:rPr>
                <a:t></a:t>
              </a:r>
              <a:endParaRPr kumimoji="0"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0729" name="Rectangle 17"/>
            <p:cNvSpPr>
              <a:spLocks noChangeArrowheads="1"/>
            </p:cNvSpPr>
            <p:nvPr/>
          </p:nvSpPr>
          <p:spPr bwMode="auto">
            <a:xfrm>
              <a:off x="4032" y="3072"/>
              <a:ext cx="3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400">
                  <a:latin typeface="Times New Roman" panose="02020603050405020304" pitchFamily="18" charset="0"/>
                  <a:sym typeface="Wingdings 3" panose="05040102010807070707" pitchFamily="18" charset="2"/>
                </a:rPr>
                <a:t></a:t>
              </a:r>
            </a:p>
          </p:txBody>
        </p:sp>
        <p:sp>
          <p:nvSpPr>
            <p:cNvPr id="30730" name="Text Box 18"/>
            <p:cNvSpPr txBox="1">
              <a:spLocks noChangeArrowheads="1"/>
            </p:cNvSpPr>
            <p:nvPr/>
          </p:nvSpPr>
          <p:spPr bwMode="auto">
            <a:xfrm>
              <a:off x="2461" y="2160"/>
              <a:ext cx="250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{}</a:t>
              </a:r>
            </a:p>
          </p:txBody>
        </p:sp>
        <p:sp>
          <p:nvSpPr>
            <p:cNvPr id="30731" name="Text Box 19"/>
            <p:cNvSpPr txBox="1">
              <a:spLocks noChangeArrowheads="1"/>
            </p:cNvSpPr>
            <p:nvPr/>
          </p:nvSpPr>
          <p:spPr bwMode="auto">
            <a:xfrm>
              <a:off x="2170" y="2503"/>
              <a:ext cx="310" cy="25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f:4</a:t>
              </a:r>
            </a:p>
          </p:txBody>
        </p:sp>
        <p:sp>
          <p:nvSpPr>
            <p:cNvPr id="30732" name="Text Box 20"/>
            <p:cNvSpPr txBox="1">
              <a:spLocks noChangeArrowheads="1"/>
            </p:cNvSpPr>
            <p:nvPr/>
          </p:nvSpPr>
          <p:spPr bwMode="auto">
            <a:xfrm>
              <a:off x="2750" y="2503"/>
              <a:ext cx="328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c:1</a:t>
              </a:r>
            </a:p>
          </p:txBody>
        </p:sp>
        <p:sp>
          <p:nvSpPr>
            <p:cNvPr id="30733" name="Text Box 21"/>
            <p:cNvSpPr txBox="1">
              <a:spLocks noChangeArrowheads="1"/>
            </p:cNvSpPr>
            <p:nvPr/>
          </p:nvSpPr>
          <p:spPr bwMode="auto">
            <a:xfrm>
              <a:off x="2745" y="2807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30734" name="Text Box 22"/>
            <p:cNvSpPr txBox="1">
              <a:spLocks noChangeArrowheads="1"/>
            </p:cNvSpPr>
            <p:nvPr/>
          </p:nvSpPr>
          <p:spPr bwMode="auto">
            <a:xfrm>
              <a:off x="2745" y="3111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p:1</a:t>
              </a:r>
            </a:p>
          </p:txBody>
        </p:sp>
        <p:cxnSp>
          <p:nvCxnSpPr>
            <p:cNvPr id="30735" name="AutoShape 23"/>
            <p:cNvCxnSpPr>
              <a:cxnSpLocks noChangeShapeType="1"/>
              <a:stCxn id="30732" idx="2"/>
              <a:endCxn id="30733" idx="0"/>
            </p:cNvCxnSpPr>
            <p:nvPr/>
          </p:nvCxnSpPr>
          <p:spPr bwMode="auto">
            <a:xfrm>
              <a:off x="2915" y="2704"/>
              <a:ext cx="1" cy="106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6" name="AutoShape 24"/>
            <p:cNvCxnSpPr>
              <a:cxnSpLocks noChangeShapeType="1"/>
              <a:stCxn id="30733" idx="2"/>
              <a:endCxn id="30734" idx="0"/>
            </p:cNvCxnSpPr>
            <p:nvPr/>
          </p:nvCxnSpPr>
          <p:spPr bwMode="auto">
            <a:xfrm>
              <a:off x="2916" y="3008"/>
              <a:ext cx="0" cy="107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7" name="AutoShape 25"/>
            <p:cNvCxnSpPr>
              <a:cxnSpLocks noChangeShapeType="1"/>
              <a:stCxn id="30730" idx="2"/>
              <a:endCxn id="30732" idx="0"/>
            </p:cNvCxnSpPr>
            <p:nvPr/>
          </p:nvCxnSpPr>
          <p:spPr bwMode="auto">
            <a:xfrm>
              <a:off x="2600" y="2361"/>
              <a:ext cx="315" cy="14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8" name="AutoShape 26"/>
            <p:cNvCxnSpPr>
              <a:cxnSpLocks noChangeShapeType="1"/>
              <a:stCxn id="30730" idx="2"/>
              <a:endCxn id="30731" idx="0"/>
            </p:cNvCxnSpPr>
            <p:nvPr/>
          </p:nvCxnSpPr>
          <p:spPr bwMode="auto">
            <a:xfrm flipH="1">
              <a:off x="2322" y="2361"/>
              <a:ext cx="278" cy="14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39" name="Text Box 27"/>
            <p:cNvSpPr txBox="1">
              <a:spLocks noChangeArrowheads="1"/>
            </p:cNvSpPr>
            <p:nvPr/>
          </p:nvSpPr>
          <p:spPr bwMode="auto">
            <a:xfrm>
              <a:off x="2363" y="2807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30740" name="Text Box 28"/>
            <p:cNvSpPr txBox="1">
              <a:spLocks noChangeArrowheads="1"/>
            </p:cNvSpPr>
            <p:nvPr/>
          </p:nvSpPr>
          <p:spPr bwMode="auto">
            <a:xfrm>
              <a:off x="1983" y="2807"/>
              <a:ext cx="327" cy="25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c:3</a:t>
              </a:r>
            </a:p>
          </p:txBody>
        </p:sp>
        <p:cxnSp>
          <p:nvCxnSpPr>
            <p:cNvPr id="30741" name="AutoShape 29"/>
            <p:cNvCxnSpPr>
              <a:cxnSpLocks noChangeShapeType="1"/>
              <a:stCxn id="30731" idx="2"/>
              <a:endCxn id="30740" idx="0"/>
            </p:cNvCxnSpPr>
            <p:nvPr/>
          </p:nvCxnSpPr>
          <p:spPr bwMode="auto">
            <a:xfrm flipH="1">
              <a:off x="2147" y="2704"/>
              <a:ext cx="175" cy="106"/>
            </a:xfrm>
            <a:prstGeom prst="straightConnector1">
              <a:avLst/>
            </a:prstGeom>
            <a:noFill/>
            <a:ln w="12700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2" name="AutoShape 30"/>
            <p:cNvCxnSpPr>
              <a:cxnSpLocks noChangeShapeType="1"/>
              <a:stCxn id="30731" idx="2"/>
              <a:endCxn id="30739" idx="0"/>
            </p:cNvCxnSpPr>
            <p:nvPr/>
          </p:nvCxnSpPr>
          <p:spPr bwMode="auto">
            <a:xfrm>
              <a:off x="2322" y="2704"/>
              <a:ext cx="211" cy="106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43" name="Text Box 31"/>
            <p:cNvSpPr txBox="1">
              <a:spLocks noChangeArrowheads="1"/>
            </p:cNvSpPr>
            <p:nvPr/>
          </p:nvSpPr>
          <p:spPr bwMode="auto">
            <a:xfrm>
              <a:off x="1977" y="3111"/>
              <a:ext cx="337" cy="25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a:3</a:t>
              </a:r>
            </a:p>
          </p:txBody>
        </p:sp>
        <p:sp>
          <p:nvSpPr>
            <p:cNvPr id="30744" name="Text Box 32"/>
            <p:cNvSpPr txBox="1">
              <a:spLocks noChangeArrowheads="1"/>
            </p:cNvSpPr>
            <p:nvPr/>
          </p:nvSpPr>
          <p:spPr bwMode="auto">
            <a:xfrm>
              <a:off x="2218" y="3415"/>
              <a:ext cx="346" cy="25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30745" name="Text Box 33"/>
            <p:cNvSpPr txBox="1">
              <a:spLocks noChangeArrowheads="1"/>
            </p:cNvSpPr>
            <p:nvPr/>
          </p:nvSpPr>
          <p:spPr bwMode="auto">
            <a:xfrm>
              <a:off x="1787" y="3415"/>
              <a:ext cx="390" cy="25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m:2</a:t>
              </a:r>
            </a:p>
          </p:txBody>
        </p:sp>
        <p:sp>
          <p:nvSpPr>
            <p:cNvPr id="30746" name="Text Box 34"/>
            <p:cNvSpPr txBox="1">
              <a:spLocks noChangeArrowheads="1"/>
            </p:cNvSpPr>
            <p:nvPr/>
          </p:nvSpPr>
          <p:spPr bwMode="auto">
            <a:xfrm>
              <a:off x="1808" y="3720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p:2</a:t>
              </a:r>
            </a:p>
          </p:txBody>
        </p:sp>
        <p:cxnSp>
          <p:nvCxnSpPr>
            <p:cNvPr id="30747" name="AutoShape 35"/>
            <p:cNvCxnSpPr>
              <a:cxnSpLocks noChangeShapeType="1"/>
              <a:stCxn id="30740" idx="2"/>
              <a:endCxn id="30743" idx="0"/>
            </p:cNvCxnSpPr>
            <p:nvPr/>
          </p:nvCxnSpPr>
          <p:spPr bwMode="auto">
            <a:xfrm>
              <a:off x="2147" y="3008"/>
              <a:ext cx="0" cy="107"/>
            </a:xfrm>
            <a:prstGeom prst="straightConnector1">
              <a:avLst/>
            </a:prstGeom>
            <a:noFill/>
            <a:ln w="12700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8" name="AutoShape 36"/>
            <p:cNvCxnSpPr>
              <a:cxnSpLocks noChangeShapeType="1"/>
              <a:stCxn id="30743" idx="2"/>
              <a:endCxn id="30745" idx="0"/>
            </p:cNvCxnSpPr>
            <p:nvPr/>
          </p:nvCxnSpPr>
          <p:spPr bwMode="auto">
            <a:xfrm flipH="1">
              <a:off x="1977" y="3313"/>
              <a:ext cx="170" cy="106"/>
            </a:xfrm>
            <a:prstGeom prst="straightConnector1">
              <a:avLst/>
            </a:prstGeom>
            <a:noFill/>
            <a:ln w="12700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9" name="AutoShape 37"/>
            <p:cNvCxnSpPr>
              <a:cxnSpLocks noChangeShapeType="1"/>
              <a:stCxn id="30743" idx="2"/>
              <a:endCxn id="30744" idx="0"/>
            </p:cNvCxnSpPr>
            <p:nvPr/>
          </p:nvCxnSpPr>
          <p:spPr bwMode="auto">
            <a:xfrm>
              <a:off x="2147" y="3313"/>
              <a:ext cx="241" cy="106"/>
            </a:xfrm>
            <a:prstGeom prst="straightConnector1">
              <a:avLst/>
            </a:prstGeom>
            <a:noFill/>
            <a:ln w="12700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0" name="AutoShape 38"/>
            <p:cNvCxnSpPr>
              <a:cxnSpLocks noChangeShapeType="1"/>
              <a:stCxn id="30745" idx="2"/>
              <a:endCxn id="30746" idx="0"/>
            </p:cNvCxnSpPr>
            <p:nvPr/>
          </p:nvCxnSpPr>
          <p:spPr bwMode="auto">
            <a:xfrm>
              <a:off x="1977" y="3617"/>
              <a:ext cx="0" cy="106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51" name="Text Box 39"/>
            <p:cNvSpPr txBox="1">
              <a:spLocks noChangeArrowheads="1"/>
            </p:cNvSpPr>
            <p:nvPr/>
          </p:nvSpPr>
          <p:spPr bwMode="auto">
            <a:xfrm>
              <a:off x="2200" y="3720"/>
              <a:ext cx="390" cy="25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m:1</a:t>
              </a:r>
            </a:p>
          </p:txBody>
        </p:sp>
        <p:cxnSp>
          <p:nvCxnSpPr>
            <p:cNvPr id="30752" name="AutoShape 40"/>
            <p:cNvCxnSpPr>
              <a:cxnSpLocks noChangeShapeType="1"/>
              <a:stCxn id="30744" idx="2"/>
              <a:endCxn id="30751" idx="0"/>
            </p:cNvCxnSpPr>
            <p:nvPr/>
          </p:nvCxnSpPr>
          <p:spPr bwMode="auto">
            <a:xfrm>
              <a:off x="2388" y="3617"/>
              <a:ext cx="0" cy="106"/>
            </a:xfrm>
            <a:prstGeom prst="straightConnector1">
              <a:avLst/>
            </a:prstGeom>
            <a:noFill/>
            <a:ln w="12700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53" name="Text Box 41"/>
            <p:cNvSpPr txBox="1">
              <a:spLocks noChangeArrowheads="1"/>
            </p:cNvSpPr>
            <p:nvPr/>
          </p:nvSpPr>
          <p:spPr bwMode="auto">
            <a:xfrm>
              <a:off x="144" y="2288"/>
              <a:ext cx="1656" cy="145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Header Table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u="sng">
                  <a:latin typeface="Times New Roman" panose="02020603050405020304" pitchFamily="18" charset="0"/>
                </a:rPr>
                <a:t>Item  frequency  head 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 f	4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c	4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a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b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m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p	3</a:t>
              </a:r>
            </a:p>
          </p:txBody>
        </p:sp>
        <p:sp>
          <p:nvSpPr>
            <p:cNvPr id="30754" name="Freeform 42"/>
            <p:cNvSpPr>
              <a:spLocks/>
            </p:cNvSpPr>
            <p:nvPr/>
          </p:nvSpPr>
          <p:spPr bwMode="auto">
            <a:xfrm>
              <a:off x="1536" y="2611"/>
              <a:ext cx="677" cy="190"/>
            </a:xfrm>
            <a:custGeom>
              <a:avLst/>
              <a:gdLst>
                <a:gd name="T0" fmla="*/ 0 w 672"/>
                <a:gd name="T1" fmla="*/ 94 h 240"/>
                <a:gd name="T2" fmla="*/ 296 w 672"/>
                <a:gd name="T3" fmla="*/ 75 h 240"/>
                <a:gd name="T4" fmla="*/ 444 w 672"/>
                <a:gd name="T5" fmla="*/ 19 h 240"/>
                <a:gd name="T6" fmla="*/ 692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5" name="Freeform 43"/>
            <p:cNvSpPr>
              <a:spLocks/>
            </p:cNvSpPr>
            <p:nvPr/>
          </p:nvSpPr>
          <p:spPr bwMode="auto">
            <a:xfrm>
              <a:off x="1536" y="2916"/>
              <a:ext cx="435" cy="0"/>
            </a:xfrm>
            <a:custGeom>
              <a:avLst/>
              <a:gdLst>
                <a:gd name="T0" fmla="*/ 0 w 432"/>
                <a:gd name="T1" fmla="*/ 0 h 1"/>
                <a:gd name="T2" fmla="*/ 444 w 432"/>
                <a:gd name="T3" fmla="*/ 0 h 1"/>
                <a:gd name="T4" fmla="*/ 0 60000 65536"/>
                <a:gd name="T5" fmla="*/ 0 60000 65536"/>
                <a:gd name="T6" fmla="*/ 0 w 432"/>
                <a:gd name="T7" fmla="*/ 0 h 1"/>
                <a:gd name="T8" fmla="*/ 432 w 432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2" h="1">
                  <a:moveTo>
                    <a:pt x="0" y="0"/>
                  </a:moveTo>
                  <a:cubicBezTo>
                    <a:pt x="0" y="0"/>
                    <a:pt x="216" y="0"/>
                    <a:pt x="43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6" name="Freeform 44"/>
            <p:cNvSpPr>
              <a:spLocks/>
            </p:cNvSpPr>
            <p:nvPr/>
          </p:nvSpPr>
          <p:spPr bwMode="auto">
            <a:xfrm>
              <a:off x="2261" y="2611"/>
              <a:ext cx="484" cy="305"/>
            </a:xfrm>
            <a:custGeom>
              <a:avLst/>
              <a:gdLst>
                <a:gd name="T0" fmla="*/ 0 w 480"/>
                <a:gd name="T1" fmla="*/ 153 h 384"/>
                <a:gd name="T2" fmla="*/ 48 w 480"/>
                <a:gd name="T3" fmla="*/ 133 h 384"/>
                <a:gd name="T4" fmla="*/ 248 w 480"/>
                <a:gd name="T5" fmla="*/ 38 h 384"/>
                <a:gd name="T6" fmla="*/ 496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7" name="Freeform 45"/>
            <p:cNvSpPr>
              <a:spLocks/>
            </p:cNvSpPr>
            <p:nvPr/>
          </p:nvSpPr>
          <p:spPr bwMode="auto">
            <a:xfrm>
              <a:off x="1536" y="3077"/>
              <a:ext cx="435" cy="152"/>
            </a:xfrm>
            <a:custGeom>
              <a:avLst/>
              <a:gdLst>
                <a:gd name="T0" fmla="*/ 0 w 432"/>
                <a:gd name="T1" fmla="*/ 0 h 192"/>
                <a:gd name="T2" fmla="*/ 148 w 432"/>
                <a:gd name="T3" fmla="*/ 19 h 192"/>
                <a:gd name="T4" fmla="*/ 296 w 432"/>
                <a:gd name="T5" fmla="*/ 56 h 192"/>
                <a:gd name="T6" fmla="*/ 444 w 432"/>
                <a:gd name="T7" fmla="*/ 75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8" name="Freeform 46"/>
            <p:cNvSpPr>
              <a:spLocks/>
            </p:cNvSpPr>
            <p:nvPr/>
          </p:nvSpPr>
          <p:spPr bwMode="auto">
            <a:xfrm>
              <a:off x="1546" y="3191"/>
              <a:ext cx="724" cy="304"/>
            </a:xfrm>
            <a:custGeom>
              <a:avLst/>
              <a:gdLst>
                <a:gd name="T0" fmla="*/ 0 w 720"/>
                <a:gd name="T1" fmla="*/ 0 h 384"/>
                <a:gd name="T2" fmla="*/ 244 w 720"/>
                <a:gd name="T3" fmla="*/ 19 h 384"/>
                <a:gd name="T4" fmla="*/ 540 w 720"/>
                <a:gd name="T5" fmla="*/ 113 h 384"/>
                <a:gd name="T6" fmla="*/ 736 w 720"/>
                <a:gd name="T7" fmla="*/ 151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9" name="Freeform 47"/>
            <p:cNvSpPr>
              <a:spLocks/>
            </p:cNvSpPr>
            <p:nvPr/>
          </p:nvSpPr>
          <p:spPr bwMode="auto">
            <a:xfrm>
              <a:off x="2512" y="3000"/>
              <a:ext cx="57" cy="533"/>
            </a:xfrm>
            <a:custGeom>
              <a:avLst/>
              <a:gdLst>
                <a:gd name="T0" fmla="*/ 0 w 56"/>
                <a:gd name="T1" fmla="*/ 267 h 672"/>
                <a:gd name="T2" fmla="*/ 52 w 56"/>
                <a:gd name="T3" fmla="*/ 171 h 672"/>
                <a:gd name="T4" fmla="*/ 52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0" name="Line 48"/>
            <p:cNvSpPr>
              <a:spLocks noChangeShapeType="1"/>
            </p:cNvSpPr>
            <p:nvPr/>
          </p:nvSpPr>
          <p:spPr bwMode="auto">
            <a:xfrm>
              <a:off x="2648" y="2916"/>
              <a:ext cx="97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1" name="Freeform 49"/>
            <p:cNvSpPr>
              <a:spLocks/>
            </p:cNvSpPr>
            <p:nvPr/>
          </p:nvSpPr>
          <p:spPr bwMode="auto">
            <a:xfrm>
              <a:off x="1546" y="3343"/>
              <a:ext cx="290" cy="190"/>
            </a:xfrm>
            <a:custGeom>
              <a:avLst/>
              <a:gdLst>
                <a:gd name="T0" fmla="*/ 0 w 288"/>
                <a:gd name="T1" fmla="*/ 0 h 240"/>
                <a:gd name="T2" fmla="*/ 148 w 288"/>
                <a:gd name="T3" fmla="*/ 19 h 240"/>
                <a:gd name="T4" fmla="*/ 196 w 288"/>
                <a:gd name="T5" fmla="*/ 75 h 240"/>
                <a:gd name="T6" fmla="*/ 296 w 288"/>
                <a:gd name="T7" fmla="*/ 94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2" name="Freeform 50"/>
            <p:cNvSpPr>
              <a:spLocks/>
            </p:cNvSpPr>
            <p:nvPr/>
          </p:nvSpPr>
          <p:spPr bwMode="auto">
            <a:xfrm>
              <a:off x="2125" y="3533"/>
              <a:ext cx="97" cy="305"/>
            </a:xfrm>
            <a:custGeom>
              <a:avLst/>
              <a:gdLst>
                <a:gd name="T0" fmla="*/ 0 w 96"/>
                <a:gd name="T1" fmla="*/ 0 h 384"/>
                <a:gd name="T2" fmla="*/ 52 w 96"/>
                <a:gd name="T3" fmla="*/ 38 h 384"/>
                <a:gd name="T4" fmla="*/ 52 w 96"/>
                <a:gd name="T5" fmla="*/ 115 h 384"/>
                <a:gd name="T6" fmla="*/ 100 w 96"/>
                <a:gd name="T7" fmla="*/ 153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3" name="Freeform 51"/>
            <p:cNvSpPr>
              <a:spLocks/>
            </p:cNvSpPr>
            <p:nvPr/>
          </p:nvSpPr>
          <p:spPr bwMode="auto">
            <a:xfrm>
              <a:off x="1546" y="3495"/>
              <a:ext cx="290" cy="343"/>
            </a:xfrm>
            <a:custGeom>
              <a:avLst/>
              <a:gdLst>
                <a:gd name="T0" fmla="*/ 0 w 288"/>
                <a:gd name="T1" fmla="*/ 0 h 432"/>
                <a:gd name="T2" fmla="*/ 100 w 288"/>
                <a:gd name="T3" fmla="*/ 57 h 432"/>
                <a:gd name="T4" fmla="*/ 148 w 288"/>
                <a:gd name="T5" fmla="*/ 133 h 432"/>
                <a:gd name="T6" fmla="*/ 296 w 288"/>
                <a:gd name="T7" fmla="*/ 17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4" name="Freeform 52"/>
            <p:cNvSpPr>
              <a:spLocks/>
            </p:cNvSpPr>
            <p:nvPr/>
          </p:nvSpPr>
          <p:spPr bwMode="auto">
            <a:xfrm>
              <a:off x="2125" y="3305"/>
              <a:ext cx="774" cy="533"/>
            </a:xfrm>
            <a:custGeom>
              <a:avLst/>
              <a:gdLst>
                <a:gd name="T0" fmla="*/ 0 w 768"/>
                <a:gd name="T1" fmla="*/ 267 h 672"/>
                <a:gd name="T2" fmla="*/ 100 w 768"/>
                <a:gd name="T3" fmla="*/ 209 h 672"/>
                <a:gd name="T4" fmla="*/ 544 w 768"/>
                <a:gd name="T5" fmla="*/ 152 h 672"/>
                <a:gd name="T6" fmla="*/ 792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127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1066800" y="228600"/>
            <a:ext cx="8077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Mining Frequent Patterns by Creating Conditional Pattern-Bases</a:t>
            </a:r>
          </a:p>
        </p:txBody>
      </p:sp>
      <p:sp>
        <p:nvSpPr>
          <p:cNvPr id="31747" name="Rectangle 4"/>
          <p:cNvSpPr>
            <a:spLocks noChangeArrowheads="1"/>
          </p:cNvSpPr>
          <p:nvPr/>
        </p:nvSpPr>
        <p:spPr bwMode="auto">
          <a:xfrm>
            <a:off x="5676900" y="5705475"/>
            <a:ext cx="34671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Empty</a:t>
            </a:r>
          </a:p>
        </p:txBody>
      </p:sp>
      <p:sp>
        <p:nvSpPr>
          <p:cNvPr id="31748" name="Rectangle 5"/>
          <p:cNvSpPr>
            <a:spLocks noChangeArrowheads="1"/>
          </p:cNvSpPr>
          <p:nvPr/>
        </p:nvSpPr>
        <p:spPr bwMode="auto">
          <a:xfrm>
            <a:off x="1301750" y="5705475"/>
            <a:ext cx="4375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Empty</a:t>
            </a:r>
          </a:p>
        </p:txBody>
      </p:sp>
      <p:sp>
        <p:nvSpPr>
          <p:cNvPr id="31749" name="Rectangle 6"/>
          <p:cNvSpPr>
            <a:spLocks noChangeArrowheads="1"/>
          </p:cNvSpPr>
          <p:nvPr/>
        </p:nvSpPr>
        <p:spPr bwMode="auto">
          <a:xfrm>
            <a:off x="228600" y="5705475"/>
            <a:ext cx="1073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31750" name="Rectangle 7"/>
          <p:cNvSpPr>
            <a:spLocks noChangeArrowheads="1"/>
          </p:cNvSpPr>
          <p:nvPr/>
        </p:nvSpPr>
        <p:spPr bwMode="auto">
          <a:xfrm>
            <a:off x="5676900" y="5126038"/>
            <a:ext cx="34671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{(f:3)}|c</a:t>
            </a:r>
          </a:p>
        </p:txBody>
      </p:sp>
      <p:sp>
        <p:nvSpPr>
          <p:cNvPr id="31751" name="Rectangle 8"/>
          <p:cNvSpPr>
            <a:spLocks noChangeArrowheads="1"/>
          </p:cNvSpPr>
          <p:nvPr/>
        </p:nvSpPr>
        <p:spPr bwMode="auto">
          <a:xfrm>
            <a:off x="1301750" y="5126038"/>
            <a:ext cx="4375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{(f:3)}</a:t>
            </a:r>
          </a:p>
        </p:txBody>
      </p:sp>
      <p:sp>
        <p:nvSpPr>
          <p:cNvPr id="31752" name="Rectangle 9"/>
          <p:cNvSpPr>
            <a:spLocks noChangeArrowheads="1"/>
          </p:cNvSpPr>
          <p:nvPr/>
        </p:nvSpPr>
        <p:spPr bwMode="auto">
          <a:xfrm>
            <a:off x="228600" y="5126038"/>
            <a:ext cx="1073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31753" name="Rectangle 10"/>
          <p:cNvSpPr>
            <a:spLocks noChangeArrowheads="1"/>
          </p:cNvSpPr>
          <p:nvPr/>
        </p:nvSpPr>
        <p:spPr bwMode="auto">
          <a:xfrm>
            <a:off x="5676900" y="4545013"/>
            <a:ext cx="34671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{(f:3, c:3)}|a</a:t>
            </a:r>
          </a:p>
        </p:txBody>
      </p:sp>
      <p:sp>
        <p:nvSpPr>
          <p:cNvPr id="31754" name="Rectangle 11"/>
          <p:cNvSpPr>
            <a:spLocks noChangeArrowheads="1"/>
          </p:cNvSpPr>
          <p:nvPr/>
        </p:nvSpPr>
        <p:spPr bwMode="auto">
          <a:xfrm>
            <a:off x="1301750" y="4545013"/>
            <a:ext cx="4375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{(fc:3)}</a:t>
            </a:r>
          </a:p>
        </p:txBody>
      </p:sp>
      <p:sp>
        <p:nvSpPr>
          <p:cNvPr id="31755" name="Rectangle 12"/>
          <p:cNvSpPr>
            <a:spLocks noChangeArrowheads="1"/>
          </p:cNvSpPr>
          <p:nvPr/>
        </p:nvSpPr>
        <p:spPr bwMode="auto">
          <a:xfrm>
            <a:off x="228600" y="4545013"/>
            <a:ext cx="1073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31756" name="Rectangle 13"/>
          <p:cNvSpPr>
            <a:spLocks noChangeArrowheads="1"/>
          </p:cNvSpPr>
          <p:nvPr/>
        </p:nvSpPr>
        <p:spPr bwMode="auto">
          <a:xfrm>
            <a:off x="5676900" y="3963988"/>
            <a:ext cx="34671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Empty</a:t>
            </a:r>
          </a:p>
        </p:txBody>
      </p:sp>
      <p:sp>
        <p:nvSpPr>
          <p:cNvPr id="31757" name="Rectangle 14"/>
          <p:cNvSpPr>
            <a:spLocks noChangeArrowheads="1"/>
          </p:cNvSpPr>
          <p:nvPr/>
        </p:nvSpPr>
        <p:spPr bwMode="auto">
          <a:xfrm>
            <a:off x="1301750" y="3963988"/>
            <a:ext cx="4375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{(fca:1), (f:1), (c:1)}</a:t>
            </a:r>
          </a:p>
        </p:txBody>
      </p:sp>
      <p:sp>
        <p:nvSpPr>
          <p:cNvPr id="31758" name="Rectangle 15"/>
          <p:cNvSpPr>
            <a:spLocks noChangeArrowheads="1"/>
          </p:cNvSpPr>
          <p:nvPr/>
        </p:nvSpPr>
        <p:spPr bwMode="auto">
          <a:xfrm>
            <a:off x="228600" y="3963988"/>
            <a:ext cx="1073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31759" name="Rectangle 16"/>
          <p:cNvSpPr>
            <a:spLocks noChangeArrowheads="1"/>
          </p:cNvSpPr>
          <p:nvPr/>
        </p:nvSpPr>
        <p:spPr bwMode="auto">
          <a:xfrm>
            <a:off x="5676900" y="3382963"/>
            <a:ext cx="34671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{(f:3, c:3, a:3)}|m</a:t>
            </a:r>
          </a:p>
        </p:txBody>
      </p:sp>
      <p:sp>
        <p:nvSpPr>
          <p:cNvPr id="31760" name="Rectangle 17"/>
          <p:cNvSpPr>
            <a:spLocks noChangeArrowheads="1"/>
          </p:cNvSpPr>
          <p:nvPr/>
        </p:nvSpPr>
        <p:spPr bwMode="auto">
          <a:xfrm>
            <a:off x="1301750" y="3382963"/>
            <a:ext cx="4375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{(fca:2), (fcab:1)}</a:t>
            </a:r>
          </a:p>
        </p:txBody>
      </p:sp>
      <p:sp>
        <p:nvSpPr>
          <p:cNvPr id="31761" name="Rectangle 18"/>
          <p:cNvSpPr>
            <a:spLocks noChangeArrowheads="1"/>
          </p:cNvSpPr>
          <p:nvPr/>
        </p:nvSpPr>
        <p:spPr bwMode="auto">
          <a:xfrm>
            <a:off x="228600" y="3382963"/>
            <a:ext cx="1073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31762" name="Rectangle 19"/>
          <p:cNvSpPr>
            <a:spLocks noChangeArrowheads="1"/>
          </p:cNvSpPr>
          <p:nvPr/>
        </p:nvSpPr>
        <p:spPr bwMode="auto">
          <a:xfrm>
            <a:off x="5676900" y="2803525"/>
            <a:ext cx="3467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{(c:3)}|p</a:t>
            </a:r>
          </a:p>
        </p:txBody>
      </p:sp>
      <p:sp>
        <p:nvSpPr>
          <p:cNvPr id="31763" name="Rectangle 20"/>
          <p:cNvSpPr>
            <a:spLocks noChangeArrowheads="1"/>
          </p:cNvSpPr>
          <p:nvPr/>
        </p:nvSpPr>
        <p:spPr bwMode="auto">
          <a:xfrm>
            <a:off x="1301750" y="2803525"/>
            <a:ext cx="4375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{(fcam:2), (cb:1)}</a:t>
            </a:r>
          </a:p>
        </p:txBody>
      </p:sp>
      <p:sp>
        <p:nvSpPr>
          <p:cNvPr id="31764" name="Rectangle 21"/>
          <p:cNvSpPr>
            <a:spLocks noChangeArrowheads="1"/>
          </p:cNvSpPr>
          <p:nvPr/>
        </p:nvSpPr>
        <p:spPr bwMode="auto">
          <a:xfrm>
            <a:off x="228600" y="2803525"/>
            <a:ext cx="1073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31765" name="Rectangle 22"/>
          <p:cNvSpPr>
            <a:spLocks noChangeArrowheads="1"/>
          </p:cNvSpPr>
          <p:nvPr/>
        </p:nvSpPr>
        <p:spPr bwMode="auto">
          <a:xfrm>
            <a:off x="5676900" y="2286000"/>
            <a:ext cx="34671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Conditional FP-tree</a:t>
            </a:r>
          </a:p>
        </p:txBody>
      </p:sp>
      <p:sp>
        <p:nvSpPr>
          <p:cNvPr id="31766" name="Rectangle 23"/>
          <p:cNvSpPr>
            <a:spLocks noChangeArrowheads="1"/>
          </p:cNvSpPr>
          <p:nvPr/>
        </p:nvSpPr>
        <p:spPr bwMode="auto">
          <a:xfrm>
            <a:off x="1301750" y="2286000"/>
            <a:ext cx="43751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Conditional pattern-base</a:t>
            </a:r>
          </a:p>
        </p:txBody>
      </p:sp>
      <p:sp>
        <p:nvSpPr>
          <p:cNvPr id="31767" name="Rectangle 24"/>
          <p:cNvSpPr>
            <a:spLocks noChangeArrowheads="1"/>
          </p:cNvSpPr>
          <p:nvPr/>
        </p:nvSpPr>
        <p:spPr bwMode="auto">
          <a:xfrm>
            <a:off x="228600" y="2286000"/>
            <a:ext cx="10731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Item</a:t>
            </a:r>
          </a:p>
        </p:txBody>
      </p:sp>
      <p:sp>
        <p:nvSpPr>
          <p:cNvPr id="31768" name="Line 25"/>
          <p:cNvSpPr>
            <a:spLocks noChangeShapeType="1"/>
          </p:cNvSpPr>
          <p:nvPr/>
        </p:nvSpPr>
        <p:spPr bwMode="auto">
          <a:xfrm>
            <a:off x="228600" y="2286000"/>
            <a:ext cx="89154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69" name="Line 26"/>
          <p:cNvSpPr>
            <a:spLocks noChangeShapeType="1"/>
          </p:cNvSpPr>
          <p:nvPr/>
        </p:nvSpPr>
        <p:spPr bwMode="auto">
          <a:xfrm>
            <a:off x="228600" y="2803525"/>
            <a:ext cx="8915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0" name="Line 27"/>
          <p:cNvSpPr>
            <a:spLocks noChangeShapeType="1"/>
          </p:cNvSpPr>
          <p:nvPr/>
        </p:nvSpPr>
        <p:spPr bwMode="auto">
          <a:xfrm>
            <a:off x="228600" y="3382963"/>
            <a:ext cx="8915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1" name="Line 28"/>
          <p:cNvSpPr>
            <a:spLocks noChangeShapeType="1"/>
          </p:cNvSpPr>
          <p:nvPr/>
        </p:nvSpPr>
        <p:spPr bwMode="auto">
          <a:xfrm>
            <a:off x="228600" y="3963988"/>
            <a:ext cx="8915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2" name="Line 29"/>
          <p:cNvSpPr>
            <a:spLocks noChangeShapeType="1"/>
          </p:cNvSpPr>
          <p:nvPr/>
        </p:nvSpPr>
        <p:spPr bwMode="auto">
          <a:xfrm>
            <a:off x="228600" y="4545013"/>
            <a:ext cx="8915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3" name="Line 30"/>
          <p:cNvSpPr>
            <a:spLocks noChangeShapeType="1"/>
          </p:cNvSpPr>
          <p:nvPr/>
        </p:nvSpPr>
        <p:spPr bwMode="auto">
          <a:xfrm>
            <a:off x="228600" y="5126038"/>
            <a:ext cx="8915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4" name="Line 31"/>
          <p:cNvSpPr>
            <a:spLocks noChangeShapeType="1"/>
          </p:cNvSpPr>
          <p:nvPr/>
        </p:nvSpPr>
        <p:spPr bwMode="auto">
          <a:xfrm>
            <a:off x="228600" y="5705475"/>
            <a:ext cx="8915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5" name="Line 32"/>
          <p:cNvSpPr>
            <a:spLocks noChangeShapeType="1"/>
          </p:cNvSpPr>
          <p:nvPr/>
        </p:nvSpPr>
        <p:spPr bwMode="auto">
          <a:xfrm>
            <a:off x="228600" y="6286500"/>
            <a:ext cx="89154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6" name="Line 33"/>
          <p:cNvSpPr>
            <a:spLocks noChangeShapeType="1"/>
          </p:cNvSpPr>
          <p:nvPr/>
        </p:nvSpPr>
        <p:spPr bwMode="auto">
          <a:xfrm>
            <a:off x="228600" y="2286000"/>
            <a:ext cx="0" cy="400050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7" name="Line 34"/>
          <p:cNvSpPr>
            <a:spLocks noChangeShapeType="1"/>
          </p:cNvSpPr>
          <p:nvPr/>
        </p:nvSpPr>
        <p:spPr bwMode="auto">
          <a:xfrm>
            <a:off x="1301750" y="2286000"/>
            <a:ext cx="0" cy="40005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8" name="Line 35"/>
          <p:cNvSpPr>
            <a:spLocks noChangeShapeType="1"/>
          </p:cNvSpPr>
          <p:nvPr/>
        </p:nvSpPr>
        <p:spPr bwMode="auto">
          <a:xfrm>
            <a:off x="5676900" y="2286000"/>
            <a:ext cx="0" cy="40005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9" name="Line 36"/>
          <p:cNvSpPr>
            <a:spLocks noChangeShapeType="1"/>
          </p:cNvSpPr>
          <p:nvPr/>
        </p:nvSpPr>
        <p:spPr bwMode="auto">
          <a:xfrm>
            <a:off x="9144000" y="2286000"/>
            <a:ext cx="0" cy="400050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7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457200"/>
            <a:ext cx="7315200" cy="68580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en-US" b="1" smtClean="0"/>
              <a:t>Single FP-tree Path Generation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382000" cy="17526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en-US" sz="2800" smtClean="0"/>
              <a:t>Suppose an FP-tree T has a single path P</a:t>
            </a:r>
          </a:p>
          <a:p>
            <a:pPr>
              <a:lnSpc>
                <a:spcPct val="120000"/>
              </a:lnSpc>
            </a:pPr>
            <a:r>
              <a:rPr lang="en-US" altLang="en-US" sz="2800" smtClean="0"/>
              <a:t>The complete set of frequent pattern of T can be generated by enumeration of all the combinations of the sub-paths of P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3670300" y="3898900"/>
            <a:ext cx="428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{}</a:t>
            </a: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3651250" y="450850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0" i="1">
                <a:solidFill>
                  <a:schemeClr val="tx1"/>
                </a:solidFill>
                <a:latin typeface="Times New Roman" panose="02020603050405020304" pitchFamily="18" charset="0"/>
              </a:rPr>
              <a:t>f:3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3630613" y="5027613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0" i="1">
                <a:solidFill>
                  <a:schemeClr val="tx1"/>
                </a:solidFill>
                <a:latin typeface="Times New Roman" panose="02020603050405020304" pitchFamily="18" charset="0"/>
              </a:rPr>
              <a:t>c:3</a:t>
            </a: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3622675" y="5561013"/>
            <a:ext cx="522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0" i="1">
                <a:solidFill>
                  <a:schemeClr val="tx1"/>
                </a:solidFill>
                <a:latin typeface="Times New Roman" panose="02020603050405020304" pitchFamily="18" charset="0"/>
              </a:rPr>
              <a:t>a:3</a:t>
            </a:r>
          </a:p>
        </p:txBody>
      </p:sp>
      <p:cxnSp>
        <p:nvCxnSpPr>
          <p:cNvPr id="32776" name="AutoShape 8"/>
          <p:cNvCxnSpPr>
            <a:cxnSpLocks noChangeShapeType="1"/>
            <a:stCxn id="32772" idx="2"/>
            <a:endCxn id="32773" idx="0"/>
          </p:cNvCxnSpPr>
          <p:nvPr/>
        </p:nvCxnSpPr>
        <p:spPr bwMode="auto">
          <a:xfrm>
            <a:off x="3884613" y="4295775"/>
            <a:ext cx="0" cy="2127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7" name="AutoShape 9"/>
          <p:cNvCxnSpPr>
            <a:cxnSpLocks noChangeShapeType="1"/>
            <a:stCxn id="32773" idx="2"/>
            <a:endCxn id="32774" idx="0"/>
          </p:cNvCxnSpPr>
          <p:nvPr/>
        </p:nvCxnSpPr>
        <p:spPr bwMode="auto">
          <a:xfrm>
            <a:off x="3884613" y="4905375"/>
            <a:ext cx="0" cy="1222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8" name="AutoShape 10"/>
          <p:cNvCxnSpPr>
            <a:cxnSpLocks noChangeShapeType="1"/>
            <a:stCxn id="32774" idx="2"/>
            <a:endCxn id="32775" idx="0"/>
          </p:cNvCxnSpPr>
          <p:nvPr/>
        </p:nvCxnSpPr>
        <p:spPr bwMode="auto">
          <a:xfrm>
            <a:off x="3884613" y="5424488"/>
            <a:ext cx="0" cy="1365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2755900" y="6261100"/>
            <a:ext cx="2528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m-conditional </a:t>
            </a:r>
            <a:r>
              <a:rPr kumimoji="0"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FP-tree</a:t>
            </a:r>
            <a:endParaRPr kumimoji="0" lang="en-US" altLang="en-US" sz="20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0" name="Rectangle 12"/>
          <p:cNvSpPr>
            <a:spLocks noChangeArrowheads="1"/>
          </p:cNvSpPr>
          <p:nvPr/>
        </p:nvSpPr>
        <p:spPr bwMode="auto">
          <a:xfrm>
            <a:off x="5956300" y="4140200"/>
            <a:ext cx="2540000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All frequent patterns concerning</a:t>
            </a:r>
            <a:r>
              <a:rPr kumimoji="0"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 m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m,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fm, cm, am,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fcm, fam, cam,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fcam</a:t>
            </a:r>
          </a:p>
        </p:txBody>
      </p:sp>
      <p:sp>
        <p:nvSpPr>
          <p:cNvPr id="32781" name="Rectangle 13"/>
          <p:cNvSpPr>
            <a:spLocks noChangeArrowheads="1"/>
          </p:cNvSpPr>
          <p:nvPr/>
        </p:nvSpPr>
        <p:spPr bwMode="auto">
          <a:xfrm>
            <a:off x="4997450" y="4864100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400">
                <a:solidFill>
                  <a:schemeClr val="tx1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</a:t>
            </a:r>
          </a:p>
        </p:txBody>
      </p:sp>
    </p:spTree>
    <p:extLst>
      <p:ext uri="{BB962C8B-B14F-4D97-AF65-F5344CB8AC3E}">
        <p14:creationId xmlns:p14="http://schemas.microsoft.com/office/powerpoint/2010/main" val="3321223738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7"/>
          <p:cNvSpPr>
            <a:spLocks noChangeArrowheads="1"/>
          </p:cNvSpPr>
          <p:nvPr/>
        </p:nvSpPr>
        <p:spPr bwMode="auto">
          <a:xfrm>
            <a:off x="1371600" y="228600"/>
            <a:ext cx="7239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Principles of Frequent Pattern Growth</a:t>
            </a:r>
          </a:p>
        </p:txBody>
      </p:sp>
      <p:sp>
        <p:nvSpPr>
          <p:cNvPr id="33795" name="Rectangle 38"/>
          <p:cNvSpPr>
            <a:spLocks noChangeArrowheads="1"/>
          </p:cNvSpPr>
          <p:nvPr/>
        </p:nvSpPr>
        <p:spPr bwMode="auto">
          <a:xfrm>
            <a:off x="457200" y="1676400"/>
            <a:ext cx="80772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Pattern growth property</a:t>
            </a:r>
          </a:p>
          <a:p>
            <a:pPr lvl="1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</a:rPr>
              <a:t>Let </a:t>
            </a:r>
            <a:r>
              <a:rPr lang="en-US" altLang="en-US" sz="2400">
                <a:latin typeface="Arial" panose="020B0604020202020204" pitchFamily="34" charset="0"/>
                <a:sym typeface="Symbol" panose="05050102010706020507" pitchFamily="18" charset="2"/>
              </a:rPr>
              <a:t> be a frequent itemset in DB, B be 's conditional pattern base, and  be an itemset in B.  Then     is a frequent itemset in DB iff  is frequent in B.  </a:t>
            </a:r>
          </a:p>
          <a:p>
            <a:pPr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“abcdef ” is a frequent pattern, if and only if</a:t>
            </a:r>
          </a:p>
          <a:p>
            <a:pPr lvl="1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</a:rPr>
              <a:t>“abcde ” is a frequent pattern, and</a:t>
            </a:r>
          </a:p>
          <a:p>
            <a:pPr lvl="1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</a:rPr>
              <a:t>“f ” is frequent in the set of transactions containing “abcde ”</a:t>
            </a:r>
          </a:p>
        </p:txBody>
      </p:sp>
    </p:spTree>
    <p:extLst>
      <p:ext uri="{BB962C8B-B14F-4D97-AF65-F5344CB8AC3E}">
        <p14:creationId xmlns:p14="http://schemas.microsoft.com/office/powerpoint/2010/main" val="206263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ChangeArrowheads="1"/>
          </p:cNvSpPr>
          <p:nvPr/>
        </p:nvSpPr>
        <p:spPr bwMode="auto">
          <a:xfrm>
            <a:off x="1371600" y="304800"/>
            <a:ext cx="7467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Why Is </a:t>
            </a:r>
            <a:r>
              <a:rPr lang="en-US" altLang="en-US" sz="4000" u="sng" dirty="0">
                <a:solidFill>
                  <a:srgbClr val="FF0000"/>
                </a:solidFill>
                <a:latin typeface="Arial" panose="020B0604020202020204" pitchFamily="34" charset="0"/>
              </a:rPr>
              <a:t>FP-Growth</a:t>
            </a: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 Fast?</a:t>
            </a:r>
          </a:p>
        </p:txBody>
      </p:sp>
      <p:sp>
        <p:nvSpPr>
          <p:cNvPr id="34819" name="Rectangle 5"/>
          <p:cNvSpPr>
            <a:spLocks noChangeArrowheads="1"/>
          </p:cNvSpPr>
          <p:nvPr/>
        </p:nvSpPr>
        <p:spPr bwMode="auto">
          <a:xfrm>
            <a:off x="762000" y="1600200"/>
            <a:ext cx="8077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en-US">
                <a:latin typeface="Arial" panose="020B0604020202020204" pitchFamily="34" charset="0"/>
              </a:rPr>
              <a:t>Performance study shows</a:t>
            </a:r>
          </a:p>
          <a:p>
            <a:pPr lvl="1">
              <a:lnSpc>
                <a:spcPct val="130000"/>
              </a:lnSpc>
            </a:pPr>
            <a:r>
              <a:rPr lang="en-US" altLang="en-US" sz="2400">
                <a:latin typeface="Arial" panose="020B0604020202020204" pitchFamily="34" charset="0"/>
              </a:rPr>
              <a:t>FP-growth is an order of magnitude faster than Apriori</a:t>
            </a:r>
          </a:p>
          <a:p>
            <a:pPr>
              <a:lnSpc>
                <a:spcPct val="130000"/>
              </a:lnSpc>
            </a:pPr>
            <a:r>
              <a:rPr lang="en-US" altLang="en-US">
                <a:latin typeface="Arial" panose="020B0604020202020204" pitchFamily="34" charset="0"/>
              </a:rPr>
              <a:t>Reasoning</a:t>
            </a:r>
          </a:p>
          <a:p>
            <a:pPr lvl="1">
              <a:lnSpc>
                <a:spcPct val="130000"/>
              </a:lnSpc>
            </a:pPr>
            <a:r>
              <a:rPr lang="en-US" altLang="en-US" sz="2400">
                <a:latin typeface="Arial" panose="020B0604020202020204" pitchFamily="34" charset="0"/>
              </a:rPr>
              <a:t>No candidate generation, no candidate test</a:t>
            </a:r>
          </a:p>
          <a:p>
            <a:pPr lvl="1">
              <a:lnSpc>
                <a:spcPct val="130000"/>
              </a:lnSpc>
            </a:pPr>
            <a:r>
              <a:rPr lang="en-US" altLang="en-US" sz="2400">
                <a:latin typeface="Arial" panose="020B0604020202020204" pitchFamily="34" charset="0"/>
              </a:rPr>
              <a:t>Uses compact data structure</a:t>
            </a:r>
          </a:p>
          <a:p>
            <a:pPr lvl="1">
              <a:lnSpc>
                <a:spcPct val="130000"/>
              </a:lnSpc>
            </a:pPr>
            <a:r>
              <a:rPr lang="en-US" altLang="en-US" sz="2400">
                <a:latin typeface="Arial" panose="020B0604020202020204" pitchFamily="34" charset="0"/>
              </a:rPr>
              <a:t>Eliminate repeated database scan</a:t>
            </a:r>
          </a:p>
          <a:p>
            <a:pPr lvl="1">
              <a:lnSpc>
                <a:spcPct val="130000"/>
              </a:lnSpc>
            </a:pPr>
            <a:r>
              <a:rPr lang="en-US" altLang="en-US" sz="2400">
                <a:latin typeface="Arial" panose="020B0604020202020204" pitchFamily="34" charset="0"/>
              </a:rPr>
              <a:t>Basic operation is counting and FP-tree building</a:t>
            </a:r>
          </a:p>
        </p:txBody>
      </p:sp>
    </p:spTree>
    <p:extLst>
      <p:ext uri="{BB962C8B-B14F-4D97-AF65-F5344CB8AC3E}">
        <p14:creationId xmlns:p14="http://schemas.microsoft.com/office/powerpoint/2010/main" val="423533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Tree Projection</a:t>
            </a:r>
          </a:p>
        </p:txBody>
      </p:sp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228600" y="10668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CC3300"/>
                </a:solidFill>
                <a:latin typeface="Arial" panose="020B0604020202020204" pitchFamily="34" charset="0"/>
              </a:rPr>
              <a:t>Set enumeration tree:</a:t>
            </a:r>
          </a:p>
        </p:txBody>
      </p:sp>
      <p:graphicFrame>
        <p:nvGraphicFramePr>
          <p:cNvPr id="78852" name="Object 4"/>
          <p:cNvGraphicFramePr>
            <a:graphicFrameLocks noChangeAspect="1"/>
          </p:cNvGraphicFramePr>
          <p:nvPr/>
        </p:nvGraphicFramePr>
        <p:xfrm>
          <a:off x="2057400" y="1033463"/>
          <a:ext cx="7034213" cy="531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4" name="VISIO" r:id="rId3" imgW="9811512" imgH="7395972" progId="Visio.Drawing.6">
                  <p:embed/>
                </p:oleObj>
              </mc:Choice>
              <mc:Fallback>
                <p:oleObj name="VISIO" r:id="rId3" imgW="9811512" imgH="739597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033463"/>
                        <a:ext cx="7034213" cy="531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152400" y="1828800"/>
            <a:ext cx="2438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Possible Extension: E(A) = {B,C,D,E}</a:t>
            </a:r>
          </a:p>
        </p:txBody>
      </p:sp>
      <p:sp>
        <p:nvSpPr>
          <p:cNvPr id="78854" name="Line 6"/>
          <p:cNvSpPr>
            <a:spLocks noChangeShapeType="1"/>
          </p:cNvSpPr>
          <p:nvPr/>
        </p:nvSpPr>
        <p:spPr bwMode="auto">
          <a:xfrm flipV="1">
            <a:off x="2514600" y="1981200"/>
            <a:ext cx="762000" cy="152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5" name="Text Box 7"/>
          <p:cNvSpPr txBox="1">
            <a:spLocks noChangeArrowheads="1"/>
          </p:cNvSpPr>
          <p:nvPr/>
        </p:nvSpPr>
        <p:spPr bwMode="auto">
          <a:xfrm>
            <a:off x="0" y="4616450"/>
            <a:ext cx="2438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Possible Extension: E(ABC) = {D,E}</a:t>
            </a:r>
          </a:p>
        </p:txBody>
      </p:sp>
      <p:sp>
        <p:nvSpPr>
          <p:cNvPr id="78856" name="Line 8"/>
          <p:cNvSpPr>
            <a:spLocks noChangeShapeType="1"/>
          </p:cNvSpPr>
          <p:nvPr/>
        </p:nvSpPr>
        <p:spPr bwMode="auto">
          <a:xfrm flipV="1">
            <a:off x="1295400" y="4267200"/>
            <a:ext cx="685800" cy="381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1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Tree Projection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153400" cy="45307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 smtClean="0">
                <a:effectLst/>
              </a:rPr>
              <a:t>Items are listed in lexicographic order</a:t>
            </a:r>
          </a:p>
          <a:p>
            <a:pPr eaLnBrk="1" hangingPunct="1"/>
            <a:r>
              <a:rPr lang="en-US" altLang="en-US" sz="3200" dirty="0" smtClean="0">
                <a:effectLst/>
              </a:rPr>
              <a:t>Each node P stores the following information:</a:t>
            </a:r>
          </a:p>
          <a:p>
            <a:pPr lvl="1" eaLnBrk="1" hangingPunct="1"/>
            <a:r>
              <a:rPr lang="en-US" altLang="en-US" sz="2800" dirty="0" err="1" smtClean="0">
                <a:effectLst/>
              </a:rPr>
              <a:t>Itemset</a:t>
            </a:r>
            <a:r>
              <a:rPr lang="en-US" altLang="en-US" sz="2800" dirty="0" smtClean="0">
                <a:effectLst/>
              </a:rPr>
              <a:t> for node P</a:t>
            </a:r>
          </a:p>
          <a:p>
            <a:pPr lvl="1" eaLnBrk="1" hangingPunct="1"/>
            <a:r>
              <a:rPr lang="en-US" altLang="en-US" sz="2800" dirty="0" smtClean="0">
                <a:effectLst/>
              </a:rPr>
              <a:t>List of possible lexicographic extensions of P: E(P)</a:t>
            </a:r>
          </a:p>
          <a:p>
            <a:pPr lvl="1" eaLnBrk="1" hangingPunct="1"/>
            <a:r>
              <a:rPr lang="en-US" altLang="en-US" sz="2800" dirty="0" smtClean="0">
                <a:effectLst/>
              </a:rPr>
              <a:t>Pointer to projected database of its ancestor node</a:t>
            </a:r>
          </a:p>
          <a:p>
            <a:pPr lvl="1" eaLnBrk="1" hangingPunct="1"/>
            <a:r>
              <a:rPr lang="en-US" altLang="en-US" sz="2800" dirty="0" err="1" smtClean="0">
                <a:effectLst/>
              </a:rPr>
              <a:t>Bitvector</a:t>
            </a:r>
            <a:r>
              <a:rPr lang="en-US" altLang="en-US" sz="2800" dirty="0" smtClean="0">
                <a:effectLst/>
              </a:rPr>
              <a:t> containing information about which transactions in the projected database contain the </a:t>
            </a:r>
            <a:r>
              <a:rPr lang="en-US" altLang="en-US" sz="2800" dirty="0" err="1" smtClean="0">
                <a:effectLst/>
              </a:rPr>
              <a:t>itemset</a:t>
            </a:r>
            <a:endParaRPr lang="en-US" altLang="en-US" sz="2800" dirty="0" smtClean="0">
              <a:effectLst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3200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411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Projected Database</a:t>
            </a:r>
          </a:p>
        </p:txBody>
      </p:sp>
      <p:graphicFrame>
        <p:nvGraphicFramePr>
          <p:cNvPr id="80899" name="Object 3"/>
          <p:cNvGraphicFramePr>
            <a:graphicFrameLocks noChangeAspect="1"/>
          </p:cNvGraphicFramePr>
          <p:nvPr/>
        </p:nvGraphicFramePr>
        <p:xfrm>
          <a:off x="1447800" y="1828800"/>
          <a:ext cx="23749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4" name="Worksheet" r:id="rId3" imgW="1952887" imgH="3257967" progId="Excel.Sheet.8">
                  <p:embed/>
                </p:oleObj>
              </mc:Choice>
              <mc:Fallback>
                <p:oleObj name="Worksheet" r:id="rId3" imgW="1952887" imgH="325796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828800"/>
                        <a:ext cx="2374900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0" name="Object 4"/>
          <p:cNvGraphicFramePr>
            <a:graphicFrameLocks noChangeAspect="1"/>
          </p:cNvGraphicFramePr>
          <p:nvPr/>
        </p:nvGraphicFramePr>
        <p:xfrm>
          <a:off x="5105400" y="1828800"/>
          <a:ext cx="23749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5" name="Worksheet" r:id="rId5" imgW="1953006" imgH="3258109" progId="Excel.Sheet.8">
                  <p:embed/>
                </p:oleObj>
              </mc:Choice>
              <mc:Fallback>
                <p:oleObj name="Worksheet" r:id="rId5" imgW="1953006" imgH="3258109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828800"/>
                        <a:ext cx="2374900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1295400" y="13557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Original Database:</a:t>
            </a:r>
          </a:p>
        </p:txBody>
      </p:sp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5029200" y="1066800"/>
            <a:ext cx="2667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Projected Database for node A: </a:t>
            </a:r>
          </a:p>
        </p:txBody>
      </p:sp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0" y="6096000"/>
            <a:ext cx="8991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/>
              <a:t>For each transaction T, projected transaction at node A is T </a:t>
            </a:r>
            <a:r>
              <a:rPr lang="en-US" altLang="en-US" sz="2000">
                <a:sym typeface="Symbol" panose="05050102010706020507" pitchFamily="18" charset="2"/>
              </a:rPr>
              <a:t> E(A)</a:t>
            </a: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402704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ECLAT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4530725"/>
          </a:xfrm>
        </p:spPr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For each item, store a list of transaction ids (tids)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>
              <a:effectLst/>
            </a:endParaRPr>
          </a:p>
          <a:p>
            <a:pPr eaLnBrk="1" hangingPunct="1"/>
            <a:endParaRPr lang="en-US" altLang="en-US" smtClean="0">
              <a:effectLst/>
            </a:endParaRPr>
          </a:p>
          <a:p>
            <a:pPr eaLnBrk="1" hangingPunct="1"/>
            <a:endParaRPr lang="en-US" altLang="en-US" smtClean="0">
              <a:effectLst/>
            </a:endParaRPr>
          </a:p>
        </p:txBody>
      </p:sp>
      <p:graphicFrame>
        <p:nvGraphicFramePr>
          <p:cNvPr id="81924" name="Object 4"/>
          <p:cNvGraphicFramePr>
            <a:graphicFrameLocks noChangeAspect="1"/>
          </p:cNvGraphicFramePr>
          <p:nvPr/>
        </p:nvGraphicFramePr>
        <p:xfrm>
          <a:off x="1600200" y="2362200"/>
          <a:ext cx="1990725" cy="428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8" name="VISIO" r:id="rId3" imgW="1993667" imgH="4285010" progId="Visio.Drawing.6">
                  <p:embed/>
                </p:oleObj>
              </mc:Choice>
              <mc:Fallback>
                <p:oleObj name="VISIO" r:id="rId3" imgW="1993667" imgH="428501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362200"/>
                        <a:ext cx="1990725" cy="428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5" name="Object 5"/>
          <p:cNvGraphicFramePr>
            <a:graphicFrameLocks noChangeAspect="1"/>
          </p:cNvGraphicFramePr>
          <p:nvPr/>
        </p:nvGraphicFramePr>
        <p:xfrm>
          <a:off x="4724400" y="2133600"/>
          <a:ext cx="3267075" cy="318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9" name="VISIO" r:id="rId5" imgW="3268980" imgH="3185160" progId="Visio.Drawing.6">
                  <p:embed/>
                </p:oleObj>
              </mc:Choice>
              <mc:Fallback>
                <p:oleObj name="VISIO" r:id="rId5" imgW="3268980" imgH="31851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133600"/>
                        <a:ext cx="3267075" cy="318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6" name="Line 6"/>
          <p:cNvSpPr>
            <a:spLocks noChangeShapeType="1"/>
          </p:cNvSpPr>
          <p:nvPr/>
        </p:nvSpPr>
        <p:spPr bwMode="auto">
          <a:xfrm>
            <a:off x="5181600" y="54102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27" name="Text Box 7"/>
          <p:cNvSpPr txBox="1">
            <a:spLocks noChangeArrowheads="1"/>
          </p:cNvSpPr>
          <p:nvPr/>
        </p:nvSpPr>
        <p:spPr bwMode="auto">
          <a:xfrm>
            <a:off x="4800600" y="57912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TID-list</a:t>
            </a:r>
          </a:p>
        </p:txBody>
      </p:sp>
    </p:spTree>
    <p:extLst>
      <p:ext uri="{BB962C8B-B14F-4D97-AF65-F5344CB8AC3E}">
        <p14:creationId xmlns:p14="http://schemas.microsoft.com/office/powerpoint/2010/main" val="398754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ECLAT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5867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effectLst/>
              </a:rPr>
              <a:t>Determine support of any k-itemset by intersecting tid-lists of two of its (k-1) subsets.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smtClean="0">
              <a:effectLst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 smtClean="0">
              <a:effectLst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 smtClean="0">
              <a:effectLst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 smtClean="0">
              <a:effectLst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 smtClean="0">
              <a:effectLst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smtClean="0">
              <a:effectLst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effectLst/>
              </a:rPr>
              <a:t>3 traversal approaches: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>
                <a:effectLst/>
              </a:rPr>
              <a:t>top-down, bottom-up and hybrid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effectLst/>
              </a:rPr>
              <a:t>Advantage: very fast support counting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effectLst/>
              </a:rPr>
              <a:t>Disadvantage: intermediate tid-lists may become too large for memory</a:t>
            </a:r>
          </a:p>
        </p:txBody>
      </p:sp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2057400" y="1905000"/>
          <a:ext cx="581025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8" name="Worksheet" r:id="rId3" imgW="619506" imgH="2600554" progId="Excel.Sheet.8">
                  <p:embed/>
                </p:oleObj>
              </mc:Choice>
              <mc:Fallback>
                <p:oleObj name="Worksheet" r:id="rId3" imgW="619506" imgH="2600554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05000"/>
                        <a:ext cx="581025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9" name="Object 5"/>
          <p:cNvGraphicFramePr>
            <a:graphicFrameLocks noChangeAspect="1"/>
          </p:cNvGraphicFramePr>
          <p:nvPr/>
        </p:nvGraphicFramePr>
        <p:xfrm>
          <a:off x="3886200" y="1905000"/>
          <a:ext cx="560388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9" name="Worksheet" r:id="rId5" imgW="619506" imgH="2277059" progId="Excel.Sheet.8">
                  <p:embed/>
                </p:oleObj>
              </mc:Choice>
              <mc:Fallback>
                <p:oleObj name="Worksheet" r:id="rId5" imgW="619506" imgH="2277059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905000"/>
                        <a:ext cx="560388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0" name="Text Box 6"/>
          <p:cNvSpPr txBox="1">
            <a:spLocks noChangeArrowheads="1"/>
          </p:cNvSpPr>
          <p:nvPr/>
        </p:nvSpPr>
        <p:spPr bwMode="auto">
          <a:xfrm>
            <a:off x="2971800" y="2667000"/>
            <a:ext cx="6096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800" b="1">
                <a:latin typeface="Arial" panose="020B0604020202020204" pitchFamily="34" charset="0"/>
                <a:sym typeface="Symbol" panose="05050102010706020507" pitchFamily="18" charset="2"/>
              </a:rPr>
              <a:t></a:t>
            </a:r>
            <a:endParaRPr lang="en-US" altLang="en-US" sz="4800" b="1">
              <a:latin typeface="Arial" panose="020B0604020202020204" pitchFamily="34" charset="0"/>
            </a:endParaRPr>
          </a:p>
        </p:txBody>
      </p:sp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5105400" y="2590800"/>
            <a:ext cx="8382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800" b="1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endParaRPr lang="en-US" altLang="en-US" sz="4800" b="1">
              <a:latin typeface="Arial" panose="020B0604020202020204" pitchFamily="34" charset="0"/>
            </a:endParaRPr>
          </a:p>
        </p:txBody>
      </p:sp>
      <p:graphicFrame>
        <p:nvGraphicFramePr>
          <p:cNvPr id="82952" name="Object 8"/>
          <p:cNvGraphicFramePr>
            <a:graphicFrameLocks noChangeAspect="1"/>
          </p:cNvGraphicFramePr>
          <p:nvPr/>
        </p:nvGraphicFramePr>
        <p:xfrm>
          <a:off x="6172200" y="2057400"/>
          <a:ext cx="619125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0" name="Worksheet" r:id="rId7" imgW="619506" imgH="1629258" progId="Excel.Sheet.8">
                  <p:embed/>
                </p:oleObj>
              </mc:Choice>
              <mc:Fallback>
                <p:oleObj name="Worksheet" r:id="rId7" imgW="619506" imgH="1629258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057400"/>
                        <a:ext cx="619125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365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3812</TotalTime>
  <Words>2811</Words>
  <Application>Microsoft Office PowerPoint</Application>
  <PresentationFormat>On-screen Show (4:3)</PresentationFormat>
  <Paragraphs>721</Paragraphs>
  <Slides>46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61" baseType="lpstr">
      <vt:lpstr>宋体</vt:lpstr>
      <vt:lpstr>Arial</vt:lpstr>
      <vt:lpstr>Calibri</vt:lpstr>
      <vt:lpstr>Calibri Light</vt:lpstr>
      <vt:lpstr>cmsy10</vt:lpstr>
      <vt:lpstr>Monotype Sorts</vt:lpstr>
      <vt:lpstr>Symbol</vt:lpstr>
      <vt:lpstr>Tahoma</vt:lpstr>
      <vt:lpstr>Times New Roman</vt:lpstr>
      <vt:lpstr>Wingdings</vt:lpstr>
      <vt:lpstr>Wingdings 2</vt:lpstr>
      <vt:lpstr>Wingdings 3</vt:lpstr>
      <vt:lpstr>Office Theme</vt:lpstr>
      <vt:lpstr>Worksheet</vt:lpstr>
      <vt:lpstr>VISIO</vt:lpstr>
      <vt:lpstr>Association Rule Mining</vt:lpstr>
      <vt:lpstr>Exercise</vt:lpstr>
      <vt:lpstr>Q. A database has five transactions. Let min sup = 60% and min conf = 80%.</vt:lpstr>
      <vt:lpstr>PowerPoint Presentation</vt:lpstr>
      <vt:lpstr>Sampling Algorithm</vt:lpstr>
      <vt:lpstr>Sampling Algorithm cont…</vt:lpstr>
      <vt:lpstr>PowerPoint Presentation</vt:lpstr>
      <vt:lpstr>Sampling Algorithm</vt:lpstr>
      <vt:lpstr>Negative Border Example</vt:lpstr>
      <vt:lpstr>Sampling Algorithm: Algorithm</vt:lpstr>
      <vt:lpstr>PowerPoint Presentation</vt:lpstr>
      <vt:lpstr>PowerPoint Presentation</vt:lpstr>
      <vt:lpstr>Conclusions</vt:lpstr>
      <vt:lpstr>Partitioning</vt:lpstr>
      <vt:lpstr>Partitioning</vt:lpstr>
      <vt:lpstr>Mining by Partitioning the data</vt:lpstr>
      <vt:lpstr>Partitioning Algorithm</vt:lpstr>
      <vt:lpstr>Partitioning: Example</vt:lpstr>
      <vt:lpstr>Partitioning: Example</vt:lpstr>
      <vt:lpstr>Partitioning: Example</vt:lpstr>
      <vt:lpstr>Partitioning Example</vt:lpstr>
      <vt:lpstr>Partitioning</vt:lpstr>
      <vt:lpstr>Hash-Based Algorithm</vt:lpstr>
      <vt:lpstr>Hash-Based Algorithm</vt:lpstr>
      <vt:lpstr>Hash-Based Algorithm: Example</vt:lpstr>
      <vt:lpstr>Hash-Based Algorithm: Example</vt:lpstr>
      <vt:lpstr>FP-growth Algorithm</vt:lpstr>
      <vt:lpstr>PowerPoint Presentation</vt:lpstr>
      <vt:lpstr>FP-tree construction</vt:lpstr>
      <vt:lpstr>FP-Tree Construction</vt:lpstr>
      <vt:lpstr>FP-growth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Single FP-tree Path Generation</vt:lpstr>
      <vt:lpstr>PowerPoint Presentation</vt:lpstr>
      <vt:lpstr>PowerPoint Presentation</vt:lpstr>
      <vt:lpstr>Tree Projection</vt:lpstr>
      <vt:lpstr>Tree Projection</vt:lpstr>
      <vt:lpstr>Projected Database</vt:lpstr>
      <vt:lpstr>ECLAT</vt:lpstr>
      <vt:lpstr>ECLAT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Sharma</dc:creator>
  <cp:lastModifiedBy>User</cp:lastModifiedBy>
  <cp:revision>245</cp:revision>
  <cp:lastPrinted>1601-01-01T00:00:00Z</cp:lastPrinted>
  <dcterms:created xsi:type="dcterms:W3CDTF">1601-01-01T00:00:00Z</dcterms:created>
  <dcterms:modified xsi:type="dcterms:W3CDTF">2018-03-28T10:06:28Z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