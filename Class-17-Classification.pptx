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9" r:id="rId1"/>
  </p:sldMasterIdLst>
  <p:notesMasterIdLst>
    <p:notesMasterId r:id="rId47"/>
  </p:notesMasterIdLst>
  <p:sldIdLst>
    <p:sldId id="256" r:id="rId2"/>
    <p:sldId id="467" r:id="rId3"/>
    <p:sldId id="468" r:id="rId4"/>
    <p:sldId id="469" r:id="rId5"/>
    <p:sldId id="470" r:id="rId6"/>
    <p:sldId id="511" r:id="rId7"/>
    <p:sldId id="471" r:id="rId8"/>
    <p:sldId id="472" r:id="rId9"/>
    <p:sldId id="473" r:id="rId10"/>
    <p:sldId id="474" r:id="rId11"/>
    <p:sldId id="475" r:id="rId12"/>
    <p:sldId id="476" r:id="rId13"/>
    <p:sldId id="477" r:id="rId14"/>
    <p:sldId id="478" r:id="rId15"/>
    <p:sldId id="479" r:id="rId16"/>
    <p:sldId id="491" r:id="rId17"/>
    <p:sldId id="512" r:id="rId18"/>
    <p:sldId id="492" r:id="rId19"/>
    <p:sldId id="481" r:id="rId20"/>
    <p:sldId id="482" r:id="rId21"/>
    <p:sldId id="483" r:id="rId22"/>
    <p:sldId id="484" r:id="rId23"/>
    <p:sldId id="493" r:id="rId24"/>
    <p:sldId id="494" r:id="rId25"/>
    <p:sldId id="486" r:id="rId26"/>
    <p:sldId id="487" r:id="rId27"/>
    <p:sldId id="495" r:id="rId28"/>
    <p:sldId id="496" r:id="rId29"/>
    <p:sldId id="497" r:id="rId30"/>
    <p:sldId id="498" r:id="rId31"/>
    <p:sldId id="488" r:id="rId32"/>
    <p:sldId id="489" r:id="rId33"/>
    <p:sldId id="490" r:id="rId34"/>
    <p:sldId id="499" r:id="rId35"/>
    <p:sldId id="500" r:id="rId36"/>
    <p:sldId id="501" r:id="rId37"/>
    <p:sldId id="502" r:id="rId38"/>
    <p:sldId id="503" r:id="rId39"/>
    <p:sldId id="504" r:id="rId40"/>
    <p:sldId id="505" r:id="rId41"/>
    <p:sldId id="506" r:id="rId42"/>
    <p:sldId id="507" r:id="rId43"/>
    <p:sldId id="508" r:id="rId44"/>
    <p:sldId id="509" r:id="rId45"/>
    <p:sldId id="510" r:id="rId46"/>
  </p:sldIdLst>
  <p:sldSz cx="9144000" cy="6858000" type="screen4x3"/>
  <p:notesSz cx="7302500" cy="9588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8E2635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171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37025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4125" y="719138"/>
            <a:ext cx="4794250" cy="3595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250" y="4554538"/>
            <a:ext cx="5842000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7488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7025" y="9107488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15" tIns="48257" rIns="96515" bIns="48257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B7CBCB5-AD2F-4B40-865E-77C0A819D5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73771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DAB77E0-A4D2-469B-ACA9-D1E10C506788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6477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FCE098-CD6D-48B8-A44C-E891898DB641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49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391AD5C-63A2-4CA0-BB00-F3DDAC05A304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907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446096C-829E-43B5-945B-66516C421630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212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041400"/>
            <a:ext cx="6858000" cy="2387600"/>
          </a:xfrm>
        </p:spPr>
        <p:txBody>
          <a:bodyPr anchor="b"/>
          <a:lstStyle>
            <a:lvl1pPr algn="ctr">
              <a:defRPr sz="405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144F4E-2C72-4152-887A-3D43B5DE434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8933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622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4406901"/>
            <a:ext cx="7886700" cy="1362075"/>
          </a:xfrm>
        </p:spPr>
        <p:txBody>
          <a:bodyPr anchor="t"/>
          <a:lstStyle>
            <a:lvl1pPr>
              <a:defRPr sz="3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906713"/>
            <a:ext cx="78867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79CA3F4-4238-430B-87CE-577B9175E4F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8710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0863"/>
            <a:ext cx="3886200" cy="435133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0863"/>
            <a:ext cx="3886200" cy="435133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DC1B73-D32C-4321-9BBF-954A8D3FF08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206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74638"/>
            <a:ext cx="78867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1535113"/>
            <a:ext cx="3867150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888" y="2174876"/>
            <a:ext cx="3867150" cy="399732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2248" y="1535113"/>
            <a:ext cx="3868340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248" y="2174876"/>
            <a:ext cx="3868340" cy="399732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993D44-90D9-4320-8616-48C84A8F550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9462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529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26231F-AE74-4592-B491-F5FC77EC005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0138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685801"/>
            <a:ext cx="3009900" cy="1160463"/>
          </a:xfrm>
        </p:spPr>
        <p:txBody>
          <a:bodyPr anchor="b"/>
          <a:lstStyle>
            <a:lvl1pPr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4998" y="685800"/>
            <a:ext cx="4725590" cy="54864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3888" y="1846264"/>
            <a:ext cx="3009900" cy="432593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22E0B5-74EE-4158-8226-5C46F623953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311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8806" y="4800600"/>
            <a:ext cx="5382816" cy="566738"/>
          </a:xfrm>
        </p:spPr>
        <p:txBody>
          <a:bodyPr anchor="b"/>
          <a:lstStyle>
            <a:lvl1pPr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78806" y="685801"/>
            <a:ext cx="5382816" cy="404177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78806" y="5367338"/>
            <a:ext cx="5382816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6B6A00-779D-4AD5-BC72-98EADCD1953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336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420840-1552-4FE9-A273-06437259782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7865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800725" cy="58975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93BE88-9395-4C19-B7FB-C3D637D97B4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4202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2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2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3CC8C7-7C88-446F-9F52-28592DBDF7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Rectangle 2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289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2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26DFB-E8E7-48FB-8F75-F7E5366A12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28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4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0863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6150" y="6356351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57900" y="6356351"/>
            <a:ext cx="24574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D601AF9-070E-4758-9256-B5E4926B0AF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6170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0" r:id="rId1"/>
    <p:sldLayoutId id="2147484061" r:id="rId2"/>
    <p:sldLayoutId id="2147484062" r:id="rId3"/>
    <p:sldLayoutId id="2147484063" r:id="rId4"/>
    <p:sldLayoutId id="2147484064" r:id="rId5"/>
    <p:sldLayoutId id="2147484065" r:id="rId6"/>
    <p:sldLayoutId id="2147484066" r:id="rId7"/>
    <p:sldLayoutId id="2147484067" r:id="rId8"/>
    <p:sldLayoutId id="2147484068" r:id="rId9"/>
    <p:sldLayoutId id="2147484069" r:id="rId10"/>
    <p:sldLayoutId id="2147484070" r:id="rId11"/>
    <p:sldLayoutId id="2147484071" r:id="rId12"/>
    <p:sldLayoutId id="2147484072" r:id="rId13"/>
  </p:sldLayoutIdLst>
  <p:txStyles>
    <p:titleStyle>
      <a:lvl1pPr algn="l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2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6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8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9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1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0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2.w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838200"/>
            <a:ext cx="4419600" cy="1828800"/>
          </a:xfrm>
        </p:spPr>
        <p:txBody>
          <a:bodyPr/>
          <a:lstStyle/>
          <a:p>
            <a:pPr eaLnBrk="1" hangingPunct="1">
              <a:defRPr/>
            </a:pPr>
            <a:r>
              <a:rPr lang="en-US" sz="5400" smtClean="0"/>
              <a:t>Classification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143000" y="3124200"/>
            <a:ext cx="6858000" cy="2743200"/>
          </a:xfrm>
        </p:spPr>
        <p:txBody>
          <a:bodyPr>
            <a:normAutofit fontScale="92500" lnSpcReduction="1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 smtClean="0"/>
              <a:t>Rule </a:t>
            </a:r>
            <a:r>
              <a:rPr lang="en-US" dirty="0" smtClean="0"/>
              <a:t>Based </a:t>
            </a:r>
            <a:r>
              <a:rPr lang="en-US" dirty="0" smtClean="0"/>
              <a:t>Classifier</a:t>
            </a:r>
          </a:p>
          <a:p>
            <a:pPr marL="800100" lvl="1" indent="-457200" algn="l">
              <a:buFont typeface="Arial" panose="020B0604020202020204" pitchFamily="34" charset="0"/>
              <a:buChar char="•"/>
            </a:pPr>
            <a:r>
              <a:rPr lang="en-US" dirty="0" smtClean="0"/>
              <a:t>Rule Ordering Schemes</a:t>
            </a:r>
          </a:p>
          <a:p>
            <a:pPr marL="800100" lvl="1" indent="-457200" algn="l">
              <a:buFont typeface="Arial" panose="020B0604020202020204" pitchFamily="34" charset="0"/>
              <a:buChar char="•"/>
            </a:pPr>
            <a:r>
              <a:rPr lang="en-US" dirty="0"/>
              <a:t>Building Classification </a:t>
            </a:r>
            <a:r>
              <a:rPr lang="en-US" dirty="0" smtClean="0"/>
              <a:t>Rules</a:t>
            </a:r>
          </a:p>
          <a:p>
            <a:pPr marL="800100" lvl="1" indent="-457200" algn="l">
              <a:buFont typeface="Arial" panose="020B0604020202020204" pitchFamily="34" charset="0"/>
              <a:buChar char="•"/>
            </a:pPr>
            <a:r>
              <a:rPr lang="en-US" altLang="en-US" dirty="0"/>
              <a:t>Direct Method </a:t>
            </a:r>
            <a:r>
              <a:rPr lang="en-US" altLang="en-US" dirty="0" smtClean="0"/>
              <a:t>: </a:t>
            </a:r>
            <a:r>
              <a:rPr lang="en-US" dirty="0" smtClean="0"/>
              <a:t>Sequential </a:t>
            </a:r>
            <a:r>
              <a:rPr lang="en-US" dirty="0"/>
              <a:t>Covering algorithm</a:t>
            </a:r>
          </a:p>
          <a:p>
            <a:pPr marL="800100" lvl="1" indent="-457200" algn="l">
              <a:buFont typeface="Arial" panose="020B0604020202020204" pitchFamily="34" charset="0"/>
              <a:buChar char="•"/>
            </a:pPr>
            <a:r>
              <a:rPr lang="en-US" altLang="en-US" dirty="0"/>
              <a:t>Direct Method </a:t>
            </a:r>
            <a:r>
              <a:rPr lang="en-US" altLang="en-US" dirty="0" smtClean="0"/>
              <a:t>: </a:t>
            </a:r>
            <a:r>
              <a:rPr lang="en-US" dirty="0" smtClean="0"/>
              <a:t>RIPPER Algorithm</a:t>
            </a:r>
          </a:p>
          <a:p>
            <a:pPr marL="800100" lvl="1" indent="-457200" algn="l">
              <a:buFont typeface="Arial" panose="020B0604020202020204" pitchFamily="34" charset="0"/>
              <a:buChar char="•"/>
            </a:pPr>
            <a:r>
              <a:rPr lang="en-US" dirty="0" smtClean="0"/>
              <a:t>Rule Evaluation</a:t>
            </a:r>
          </a:p>
          <a:p>
            <a:pPr marL="800100" lvl="1" indent="-457200" algn="l">
              <a:buFont typeface="Arial" panose="020B0604020202020204" pitchFamily="34" charset="0"/>
              <a:buChar char="•"/>
            </a:pPr>
            <a:r>
              <a:rPr lang="en-US" dirty="0" smtClean="0"/>
              <a:t>Indirect Method : Decision Tree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 smtClean="0"/>
              <a:t>Naïve Bayes Classifier</a:t>
            </a:r>
            <a:endParaRPr lang="en-US" dirty="0"/>
          </a:p>
          <a:p>
            <a:pPr marL="800100" lvl="1" indent="-457200" algn="l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800100" lvl="1" indent="-4572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Ordered Rule Set</a:t>
            </a:r>
          </a:p>
        </p:txBody>
      </p:sp>
      <p:sp>
        <p:nvSpPr>
          <p:cNvPr id="353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91440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Rules are rank ordered according to their priority</a:t>
            </a:r>
          </a:p>
          <a:p>
            <a:pPr lvl="1" eaLnBrk="1" hangingPunct="1">
              <a:defRPr/>
            </a:pPr>
            <a:r>
              <a:rPr lang="en-US" sz="2000" smtClean="0"/>
              <a:t>An ordered rule set is known as a decision list</a:t>
            </a:r>
          </a:p>
          <a:p>
            <a:pPr eaLnBrk="1" hangingPunct="1">
              <a:defRPr/>
            </a:pPr>
            <a:r>
              <a:rPr lang="en-US" smtClean="0"/>
              <a:t>When a test record is presented to the classifier </a:t>
            </a:r>
          </a:p>
          <a:p>
            <a:pPr lvl="1" eaLnBrk="1" hangingPunct="1">
              <a:defRPr/>
            </a:pPr>
            <a:r>
              <a:rPr lang="en-US" sz="2000" smtClean="0"/>
              <a:t>It is assigned to the class label of the highest ranked rule it has triggered</a:t>
            </a:r>
          </a:p>
          <a:p>
            <a:pPr lvl="1" eaLnBrk="1" hangingPunct="1">
              <a:defRPr/>
            </a:pPr>
            <a:r>
              <a:rPr lang="en-US" sz="2000" smtClean="0"/>
              <a:t>If none of the rules fired, it is assigned to the default class</a:t>
            </a:r>
          </a:p>
        </p:txBody>
      </p:sp>
      <p:sp>
        <p:nvSpPr>
          <p:cNvPr id="353284" name="Rectangle 4"/>
          <p:cNvSpPr>
            <a:spLocks noChangeArrowheads="1"/>
          </p:cNvSpPr>
          <p:nvPr/>
        </p:nvSpPr>
        <p:spPr bwMode="auto">
          <a:xfrm>
            <a:off x="1371600" y="4038600"/>
            <a:ext cx="7162800" cy="182880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R1: (Give Birth = no) </a:t>
            </a: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 (Can Fly = yes)  Birds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R2: (Give Birth = no) </a:t>
            </a: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 (Live in Water = yes)  Fishes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R3: (Give Birth = yes) </a:t>
            </a: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 (Blood Type = warm)  Mammals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R4: (Give Birth = no) </a:t>
            </a: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 (Can Fly = no)  Reptiles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None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R5: (Live in Water</a:t>
            </a: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18" charset="2"/>
              </a:rPr>
              <a:t> = sometimes)  Amphibians </a:t>
            </a:r>
          </a:p>
        </p:txBody>
      </p:sp>
      <p:pic>
        <p:nvPicPr>
          <p:cNvPr id="59397" name="Picture 5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6096000"/>
            <a:ext cx="7915275" cy="403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398" name="Line 6"/>
          <p:cNvSpPr>
            <a:spLocks noChangeShapeType="1"/>
          </p:cNvSpPr>
          <p:nvPr/>
        </p:nvSpPr>
        <p:spPr bwMode="auto">
          <a:xfrm flipH="1">
            <a:off x="838200" y="5334000"/>
            <a:ext cx="533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399" name="Line 7"/>
          <p:cNvSpPr>
            <a:spLocks noChangeShapeType="1"/>
          </p:cNvSpPr>
          <p:nvPr/>
        </p:nvSpPr>
        <p:spPr bwMode="auto">
          <a:xfrm>
            <a:off x="838200" y="5334000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0" name="Line 8"/>
          <p:cNvSpPr>
            <a:spLocks noChangeShapeType="1"/>
          </p:cNvSpPr>
          <p:nvPr/>
        </p:nvSpPr>
        <p:spPr bwMode="auto">
          <a:xfrm flipH="1">
            <a:off x="1066800" y="57150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01" name="Line 9"/>
          <p:cNvSpPr>
            <a:spLocks noChangeShapeType="1"/>
          </p:cNvSpPr>
          <p:nvPr/>
        </p:nvSpPr>
        <p:spPr bwMode="auto">
          <a:xfrm>
            <a:off x="1066800" y="5715000"/>
            <a:ext cx="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6240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274638"/>
            <a:ext cx="7886700" cy="4873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Rule Ordering Schemes</a:t>
            </a:r>
          </a:p>
        </p:txBody>
      </p:sp>
      <p:sp>
        <p:nvSpPr>
          <p:cNvPr id="354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8210550" cy="5181601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Rule-based ordering</a:t>
            </a:r>
          </a:p>
          <a:p>
            <a:pPr lvl="1" eaLnBrk="1" hangingPunct="1">
              <a:defRPr/>
            </a:pPr>
            <a:r>
              <a:rPr lang="en-US" sz="2000" dirty="0" smtClean="0"/>
              <a:t>Individual rules are ranked based on their quality</a:t>
            </a:r>
          </a:p>
          <a:p>
            <a:pPr eaLnBrk="1" hangingPunct="1">
              <a:defRPr/>
            </a:pPr>
            <a:r>
              <a:rPr lang="en-US" dirty="0" smtClean="0"/>
              <a:t>Class-based ordering</a:t>
            </a:r>
          </a:p>
          <a:p>
            <a:pPr lvl="1" eaLnBrk="1" hangingPunct="1">
              <a:defRPr/>
            </a:pPr>
            <a:r>
              <a:rPr lang="en-US" sz="2000" dirty="0" smtClean="0"/>
              <a:t>Rules that belong to the same class appear together</a:t>
            </a:r>
            <a:endParaRPr lang="en-US" dirty="0" smtClean="0"/>
          </a:p>
        </p:txBody>
      </p:sp>
      <p:graphicFrame>
        <p:nvGraphicFramePr>
          <p:cNvPr id="60420" name="Object 4"/>
          <p:cNvGraphicFramePr>
            <a:graphicFrameLocks noGrp="1" noChangeAspect="1"/>
          </p:cNvGraphicFramePr>
          <p:nvPr>
            <p:ph sz="half" idx="4294967295"/>
            <p:extLst/>
          </p:nvPr>
        </p:nvGraphicFramePr>
        <p:xfrm>
          <a:off x="393477" y="2743200"/>
          <a:ext cx="8112369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0" name="Visio" r:id="rId3" imgW="9753041" imgH="3576795" progId="Visio.Drawing.6">
                  <p:embed/>
                </p:oleObj>
              </mc:Choice>
              <mc:Fallback>
                <p:oleObj name="Visio" r:id="rId3" imgW="9753041" imgH="3576795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477" y="2743200"/>
                        <a:ext cx="8112369" cy="335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9025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Building Classification Rules</a:t>
            </a:r>
          </a:p>
        </p:txBody>
      </p:sp>
      <p:sp>
        <p:nvSpPr>
          <p:cNvPr id="355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1"/>
            <a:ext cx="7981950" cy="4572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200" dirty="0" smtClean="0"/>
              <a:t>Direct Method: </a:t>
            </a:r>
          </a:p>
          <a:p>
            <a:pPr lvl="2" eaLnBrk="1" hangingPunct="1">
              <a:defRPr/>
            </a:pPr>
            <a:r>
              <a:rPr lang="en-US" sz="2400" dirty="0" smtClean="0"/>
              <a:t> Extract rules directly from data</a:t>
            </a:r>
          </a:p>
          <a:p>
            <a:pPr lvl="2" eaLnBrk="1" hangingPunct="1">
              <a:defRPr/>
            </a:pPr>
            <a:r>
              <a:rPr lang="en-US" sz="2400" dirty="0" smtClean="0"/>
              <a:t> e.g.: RIPPER, CN2, </a:t>
            </a:r>
            <a:r>
              <a:rPr lang="en-US" sz="2400" dirty="0" err="1" smtClean="0"/>
              <a:t>Holte’s</a:t>
            </a:r>
            <a:r>
              <a:rPr lang="en-US" sz="2400" dirty="0" smtClean="0"/>
              <a:t> 1R</a:t>
            </a:r>
          </a:p>
          <a:p>
            <a:pPr lvl="1" eaLnBrk="1" hangingPunct="1">
              <a:defRPr/>
            </a:pPr>
            <a:endParaRPr lang="en-US" sz="2800" dirty="0" smtClean="0"/>
          </a:p>
          <a:p>
            <a:pPr eaLnBrk="1" hangingPunct="1">
              <a:defRPr/>
            </a:pPr>
            <a:r>
              <a:rPr lang="en-US" sz="3200" dirty="0" smtClean="0"/>
              <a:t>Indirect Method:</a:t>
            </a:r>
          </a:p>
          <a:p>
            <a:pPr lvl="2" eaLnBrk="1" hangingPunct="1">
              <a:defRPr/>
            </a:pPr>
            <a:r>
              <a:rPr lang="en-US" sz="2400" dirty="0" smtClean="0"/>
              <a:t> Extract rules from other classification models (e.g. </a:t>
            </a:r>
            <a:br>
              <a:rPr lang="en-US" sz="2400" dirty="0" smtClean="0"/>
            </a:br>
            <a:r>
              <a:rPr lang="en-US" sz="2400" dirty="0" smtClean="0"/>
              <a:t>   decision trees, neural networks, </a:t>
            </a:r>
            <a:r>
              <a:rPr lang="en-US" sz="2400" dirty="0" err="1" smtClean="0"/>
              <a:t>etc</a:t>
            </a:r>
            <a:r>
              <a:rPr lang="en-US" sz="2400" dirty="0" smtClean="0"/>
              <a:t>).</a:t>
            </a:r>
          </a:p>
          <a:p>
            <a:pPr lvl="2" eaLnBrk="1" hangingPunct="1">
              <a:defRPr/>
            </a:pPr>
            <a:r>
              <a:rPr lang="en-US" sz="2400" dirty="0" smtClean="0"/>
              <a:t> </a:t>
            </a:r>
            <a:r>
              <a:rPr lang="en-US" sz="2400" dirty="0" err="1" smtClean="0"/>
              <a:t>e.g</a:t>
            </a:r>
            <a:r>
              <a:rPr lang="en-US" sz="2400" dirty="0" smtClean="0"/>
              <a:t>: C4.5rules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9152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Direct Method: Sequential Covering</a:t>
            </a:r>
          </a:p>
        </p:txBody>
      </p:sp>
      <p:sp>
        <p:nvSpPr>
          <p:cNvPr id="356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>
              <a:buFont typeface="Monotype Sorts" pitchFamily="2" charset="2"/>
              <a:buAutoNum type="arabicPeriod"/>
              <a:defRPr/>
            </a:pPr>
            <a:r>
              <a:rPr lang="en-US" smtClean="0"/>
              <a:t>Start from an empty rule</a:t>
            </a:r>
          </a:p>
          <a:p>
            <a:pPr marL="533400" indent="-533400" eaLnBrk="1" hangingPunct="1">
              <a:buFont typeface="Monotype Sorts" pitchFamily="2" charset="2"/>
              <a:buAutoNum type="arabicPeriod"/>
              <a:defRPr/>
            </a:pPr>
            <a:r>
              <a:rPr lang="en-US" smtClean="0"/>
              <a:t>Grow a rule using the Learn-One-Rule function</a:t>
            </a:r>
          </a:p>
          <a:p>
            <a:pPr marL="533400" indent="-533400" eaLnBrk="1" hangingPunct="1">
              <a:buFont typeface="Monotype Sorts" pitchFamily="2" charset="2"/>
              <a:buAutoNum type="arabicPeriod"/>
              <a:defRPr/>
            </a:pPr>
            <a:r>
              <a:rPr lang="en-US" smtClean="0"/>
              <a:t>Remove training records covered by the rule</a:t>
            </a:r>
          </a:p>
          <a:p>
            <a:pPr marL="533400" indent="-533400" eaLnBrk="1" hangingPunct="1">
              <a:buFont typeface="Monotype Sorts" pitchFamily="2" charset="2"/>
              <a:buAutoNum type="arabicPeriod"/>
              <a:defRPr/>
            </a:pPr>
            <a:r>
              <a:rPr lang="en-US" smtClean="0"/>
              <a:t>Repeat Step (2) and (3) until stopping criterion is met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421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828800"/>
            <a:ext cx="7886700" cy="3861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885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Example of Sequential Covering</a:t>
            </a:r>
          </a:p>
        </p:txBody>
      </p:sp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609600" y="1684338"/>
          <a:ext cx="3235325" cy="3649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02" name="Visio" r:id="rId3" imgW="3195422" imgH="3527050" progId="Visio.Drawing.6">
                  <p:embed/>
                </p:oleObj>
              </mc:Choice>
              <mc:Fallback>
                <p:oleObj name="Visio" r:id="rId3" imgW="3195422" imgH="352705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684338"/>
                        <a:ext cx="3235325" cy="3649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7380" name="Object 4"/>
          <p:cNvGraphicFramePr>
            <a:graphicFrameLocks noChangeAspect="1"/>
          </p:cNvGraphicFramePr>
          <p:nvPr/>
        </p:nvGraphicFramePr>
        <p:xfrm>
          <a:off x="5070475" y="1676400"/>
          <a:ext cx="3235325" cy="364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03" name="VISIO" r:id="rId5" imgW="3236976" imgH="3643884" progId="Visio.Drawing.6">
                  <p:embed/>
                </p:oleObj>
              </mc:Choice>
              <mc:Fallback>
                <p:oleObj name="VISIO" r:id="rId5" imgW="3236976" imgH="3643884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0475" y="1676400"/>
                        <a:ext cx="3235325" cy="3649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2633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Example of Sequential Covering…</a:t>
            </a:r>
          </a:p>
        </p:txBody>
      </p:sp>
      <p:graphicFrame>
        <p:nvGraphicFramePr>
          <p:cNvPr id="64515" name="Object 3"/>
          <p:cNvGraphicFramePr>
            <a:graphicFrameLocks noChangeAspect="1"/>
          </p:cNvGraphicFramePr>
          <p:nvPr/>
        </p:nvGraphicFramePr>
        <p:xfrm>
          <a:off x="609600" y="1676400"/>
          <a:ext cx="3259138" cy="358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26" name="VISIO" r:id="rId3" imgW="3261360" imgH="3578352" progId="Visio.Drawing.6">
                  <p:embed/>
                </p:oleObj>
              </mc:Choice>
              <mc:Fallback>
                <p:oleObj name="VISIO" r:id="rId3" imgW="3261360" imgH="357835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676400"/>
                        <a:ext cx="3259138" cy="358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04" name="Object 4"/>
          <p:cNvGraphicFramePr>
            <a:graphicFrameLocks noChangeAspect="1"/>
          </p:cNvGraphicFramePr>
          <p:nvPr/>
        </p:nvGraphicFramePr>
        <p:xfrm>
          <a:off x="5029200" y="1676400"/>
          <a:ext cx="3284538" cy="358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27" name="VISIO" r:id="rId5" imgW="3285744" imgH="3578352" progId="Visio.Drawing.6">
                  <p:embed/>
                </p:oleObj>
              </mc:Choice>
              <mc:Fallback>
                <p:oleObj name="VISIO" r:id="rId5" imgW="3285744" imgH="357835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676400"/>
                        <a:ext cx="3284538" cy="358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5626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66" y="533400"/>
            <a:ext cx="8509607" cy="57150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382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12" y="609600"/>
            <a:ext cx="8526574" cy="55626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0549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382" y="457200"/>
            <a:ext cx="8363235" cy="5943599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242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58" y="533400"/>
            <a:ext cx="8194030" cy="57150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386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When to Stop Building a Rule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28650" y="1447800"/>
            <a:ext cx="744855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NewRomanPSMT"/>
              </a:rPr>
              <a:t>When the rule is perfect, i.e. accuracy = 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TimesNewRomanPSMT"/>
              </a:rPr>
              <a:t>When </a:t>
            </a:r>
            <a:r>
              <a:rPr lang="en-US" sz="2800" dirty="0">
                <a:solidFill>
                  <a:srgbClr val="000000"/>
                </a:solidFill>
                <a:latin typeface="TimesNewRomanPSMT"/>
              </a:rPr>
              <a:t>increase in accuracy gets below a </a:t>
            </a:r>
            <a:r>
              <a:rPr lang="en-US" sz="2800" dirty="0" smtClean="0">
                <a:solidFill>
                  <a:srgbClr val="000000"/>
                </a:solidFill>
                <a:latin typeface="TimesNewRomanPSMT"/>
              </a:rPr>
              <a:t>given threshold</a:t>
            </a:r>
            <a:endParaRPr lang="en-US" sz="2800" dirty="0">
              <a:solidFill>
                <a:srgbClr val="000000"/>
              </a:solidFill>
              <a:latin typeface="TimesNewRomanPSM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00000"/>
                </a:solidFill>
                <a:latin typeface="TimesNewRomanPSMT"/>
              </a:rPr>
              <a:t>When </a:t>
            </a:r>
            <a:r>
              <a:rPr lang="en-US" sz="2800" dirty="0">
                <a:solidFill>
                  <a:srgbClr val="000000"/>
                </a:solidFill>
                <a:latin typeface="TimesNewRomanPSMT"/>
              </a:rPr>
              <a:t>the training set cannot be split any further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4764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/>
          <p:cNvSpPr>
            <a:spLocks noGrp="1" noChangeArrowheads="1"/>
          </p:cNvSpPr>
          <p:nvPr>
            <p:ph type="title"/>
          </p:nvPr>
        </p:nvSpPr>
        <p:spPr>
          <a:xfrm>
            <a:off x="465138" y="304800"/>
            <a:ext cx="8229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Aspects of Sequential Covering</a:t>
            </a:r>
          </a:p>
        </p:txBody>
      </p:sp>
      <p:sp>
        <p:nvSpPr>
          <p:cNvPr id="359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5138" y="1295400"/>
            <a:ext cx="8229600" cy="5257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Rule Growing</a:t>
            </a:r>
          </a:p>
          <a:p>
            <a:pPr lvl="1"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Instance Elimination</a:t>
            </a:r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Rule Evaluation</a:t>
            </a:r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Stopping Criterion</a:t>
            </a:r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Rule Pruning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938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Rule Growing</a:t>
            </a:r>
          </a:p>
        </p:txBody>
      </p:sp>
      <p:sp>
        <p:nvSpPr>
          <p:cNvPr id="360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9530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smtClean="0"/>
              <a:t>Two common strategies </a:t>
            </a:r>
          </a:p>
        </p:txBody>
      </p:sp>
      <p:graphicFrame>
        <p:nvGraphicFramePr>
          <p:cNvPr id="66564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0" y="2743200"/>
          <a:ext cx="480060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40" name="Visio" r:id="rId3" imgW="7115912" imgH="4291667" progId="Visio.Drawing.6">
                  <p:embed/>
                </p:oleObj>
              </mc:Choice>
              <mc:Fallback>
                <p:oleObj name="Visio" r:id="rId3" imgW="7115912" imgH="4291667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743200"/>
                        <a:ext cx="4800600" cy="289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5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105400" y="2895600"/>
          <a:ext cx="3833813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41" name="Visio" r:id="rId5" imgW="5450637" imgH="3574360" progId="Visio.Drawing.6">
                  <p:embed/>
                </p:oleObj>
              </mc:Choice>
              <mc:Fallback>
                <p:oleObj name="Visio" r:id="rId5" imgW="5450637" imgH="3574360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895600"/>
                        <a:ext cx="3833813" cy="2514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93CC8C7-7C88-446F-9F52-28592DBDF72C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2387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22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11138"/>
            <a:ext cx="7773987" cy="643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2131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 Evaluation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9673" y="1820863"/>
            <a:ext cx="7284653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343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Instance Elimination</a:t>
            </a:r>
          </a:p>
        </p:txBody>
      </p:sp>
      <p:sp>
        <p:nvSpPr>
          <p:cNvPr id="3624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40188" cy="453072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smtClean="0"/>
              <a:t>Why do we need to eliminate instances?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smtClean="0"/>
              <a:t>Otherwise, the next rule is identical to previous rule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smtClean="0"/>
              <a:t>Why do we remove positive instances?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smtClean="0"/>
              <a:t>Ensure that the next rule is different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smtClean="0"/>
              <a:t>Why do we remove negative instances?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smtClean="0"/>
              <a:t>Prevent underestimating accuracy of rule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smtClean="0"/>
              <a:t>Compare rules R2 and R3 in the diagram</a:t>
            </a:r>
          </a:p>
        </p:txBody>
      </p:sp>
      <p:graphicFrame>
        <p:nvGraphicFramePr>
          <p:cNvPr id="70660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4646613" y="2133600"/>
          <a:ext cx="4040187" cy="284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61" name="Visio" r:id="rId3" imgW="7043369" imgH="5606614" progId="Visio.Drawing.6">
                  <p:embed/>
                </p:oleObj>
              </mc:Choice>
              <mc:Fallback>
                <p:oleObj name="Visio" r:id="rId3" imgW="7043369" imgH="5606614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6613" y="2133600"/>
                        <a:ext cx="4040187" cy="284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D326DFB-E8E7-48FB-8F75-F7E5366A124B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6271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9" grpId="0" build="p" bldLvl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Stopping Criterion and Rule Pruning</a:t>
            </a:r>
          </a:p>
        </p:txBody>
      </p:sp>
      <p:sp>
        <p:nvSpPr>
          <p:cNvPr id="364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mtClean="0"/>
              <a:t>Stopping criterion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mtClean="0"/>
              <a:t>Compute the gain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mtClean="0"/>
              <a:t>If gain is not significant, discard the new rule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US" smtClean="0"/>
              <a:t>Rule Pruning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mtClean="0"/>
              <a:t>Similar to post-pruning of decision trees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mtClean="0"/>
              <a:t>Reduced Error Pruning: 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mtClean="0"/>
              <a:t> Remove one of the conjuncts in the rule 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mtClean="0"/>
              <a:t> Compare error rate on validation set before and after pruning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mtClean="0"/>
              <a:t> If error improves, prune the conjunct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0395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6" name="Rectangle 4"/>
          <p:cNvSpPr>
            <a:spLocks noChangeArrowheads="1"/>
          </p:cNvSpPr>
          <p:nvPr/>
        </p:nvSpPr>
        <p:spPr bwMode="auto">
          <a:xfrm>
            <a:off x="381000" y="304800"/>
            <a:ext cx="8280400" cy="533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b"/>
          <a:lstStyle/>
          <a:p>
            <a:pPr algn="ctr" eaLnBrk="1" hangingPunct="1">
              <a:defRPr/>
            </a:pPr>
            <a:r>
              <a:rPr lang="en-US" sz="4200" dirty="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Direct Method: RIPPER</a:t>
            </a:r>
          </a:p>
        </p:txBody>
      </p:sp>
      <p:sp>
        <p:nvSpPr>
          <p:cNvPr id="371717" name="Rectangle 5"/>
          <p:cNvSpPr>
            <a:spLocks noChangeArrowheads="1"/>
          </p:cNvSpPr>
          <p:nvPr/>
        </p:nvSpPr>
        <p:spPr bwMode="auto">
          <a:xfrm>
            <a:off x="457200" y="1066800"/>
            <a:ext cx="8318500" cy="5181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For 2-class problem, choose one of the classes as positive class, and the other as negative class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Majority </a:t>
            </a:r>
            <a:r>
              <a:rPr 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class </a:t>
            </a: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will be default </a:t>
            </a:r>
            <a:r>
              <a:rPr 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class (Positive)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Learn </a:t>
            </a: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rules for </a:t>
            </a:r>
            <a:r>
              <a:rPr 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minority class (Negative)</a:t>
            </a:r>
            <a:endParaRPr lang="en-US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For </a:t>
            </a: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multi-class problem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Order the classes according to increasing class prevalence (fraction of instances that belong to a particular class)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Learn the rule set for smallest class first, treat the rest as negative class</a:t>
            </a:r>
          </a:p>
          <a:p>
            <a:pPr marL="742950" lvl="1" indent="-285750" eaLnBrk="1" hangingPunct="1"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Repeat with next smallest class as positive class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01202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40" name="Rectangle 4"/>
          <p:cNvSpPr>
            <a:spLocks noChangeArrowheads="1"/>
          </p:cNvSpPr>
          <p:nvPr/>
        </p:nvSpPr>
        <p:spPr bwMode="auto">
          <a:xfrm>
            <a:off x="304800" y="304800"/>
            <a:ext cx="8280400" cy="533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b"/>
          <a:lstStyle/>
          <a:p>
            <a:pPr algn="ctr" eaLnBrk="1" hangingPunct="1">
              <a:defRPr/>
            </a:pPr>
            <a:r>
              <a:rPr lang="en-US" sz="42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Direct Method: RIPPER</a:t>
            </a:r>
          </a:p>
        </p:txBody>
      </p:sp>
      <p:sp>
        <p:nvSpPr>
          <p:cNvPr id="372741" name="Rectangle 5"/>
          <p:cNvSpPr>
            <a:spLocks noChangeArrowheads="1"/>
          </p:cNvSpPr>
          <p:nvPr/>
        </p:nvSpPr>
        <p:spPr bwMode="auto">
          <a:xfrm>
            <a:off x="381000" y="1371600"/>
            <a:ext cx="8318500" cy="5181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Growing a rule:</a:t>
            </a: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Start from empty rule</a:t>
            </a: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Add conjuncts as long as they improve FOIL’s information gain</a:t>
            </a: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Stop when rule no longer covers negative examples</a:t>
            </a: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Prune the rule immediately using incremental reduced error pruning</a:t>
            </a: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Measure for pruning:   v = (p-n)/(p+n)</a:t>
            </a:r>
          </a:p>
          <a:p>
            <a:pPr marL="1143000" lvl="2" indent="-2286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 p: number of positive examples covered by the rule in</a:t>
            </a:r>
            <a:b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        the validation set</a:t>
            </a:r>
          </a:p>
          <a:p>
            <a:pPr marL="1143000" lvl="2" indent="-2286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 n: number of negative examples covered by the rule in</a:t>
            </a:r>
            <a:b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        the validation set</a:t>
            </a:r>
          </a:p>
          <a:p>
            <a:pPr marL="742950" lvl="1" indent="-28575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Pruning method: delete any final sequence of conditions that maximizes v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9832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274638"/>
            <a:ext cx="7886700" cy="4873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Rule Growing (Examples)</a:t>
            </a:r>
          </a:p>
        </p:txBody>
      </p:sp>
      <p:sp>
        <p:nvSpPr>
          <p:cNvPr id="361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8210550" cy="5410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/>
              <a:t>CN2 Algorithm: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dirty="0" smtClean="0"/>
              <a:t>Start from an empty conjunct:  {}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dirty="0" smtClean="0"/>
              <a:t>Add conjuncts that minimizes the entropy measure:     {A}, {A,B}, …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dirty="0" smtClean="0"/>
              <a:t>Determine the rule consequent by taking majority class of instances covered by the rule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dirty="0" smtClean="0"/>
              <a:t>RIPPER Algorithm: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200" dirty="0" smtClean="0"/>
              <a:t>Start from an empty rule: {} =&gt; class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200" dirty="0" smtClean="0"/>
              <a:t>Add conjuncts that maximizes FOIL’s information gain measure: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000" dirty="0" smtClean="0"/>
              <a:t> R0:  {} =&gt; class   (initial rule)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000" dirty="0" smtClean="0"/>
              <a:t> R1:  {A} =&gt; class (rule after adding conjunct)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000" dirty="0" smtClean="0"/>
              <a:t> Gain(R0, R1) = t [  log (p1/(p1+n1)) – log (p0/(p0 + n0)) ]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2000" dirty="0" smtClean="0"/>
              <a:t> where   t: number of positive instances covered by both R0 and R1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000" dirty="0" smtClean="0"/>
              <a:t>	p0: number of positive instances covered by R0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000" dirty="0" smtClean="0"/>
              <a:t>	n0: number of negative instances covered by R0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000" dirty="0" smtClean="0"/>
              <a:t>	p1: number of positive instances covered by R1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2000" dirty="0" smtClean="0"/>
              <a:t>	n1: number of negative instances covered by R1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605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Direct Method: RIPPER</a:t>
            </a:r>
          </a:p>
        </p:txBody>
      </p:sp>
      <p:sp>
        <p:nvSpPr>
          <p:cNvPr id="996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1"/>
            <a:ext cx="8058150" cy="4648200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Building a Rule Set:</a:t>
            </a:r>
          </a:p>
          <a:p>
            <a:pPr lvl="1"/>
            <a:r>
              <a:rPr lang="en-US" altLang="en-US" sz="2400" dirty="0"/>
              <a:t>Use sequential covering algorithm</a:t>
            </a:r>
          </a:p>
          <a:p>
            <a:pPr lvl="2"/>
            <a:r>
              <a:rPr lang="en-US" altLang="en-US" sz="2000" dirty="0"/>
              <a:t> Finds the best rule that covers the current set of positive examples</a:t>
            </a:r>
          </a:p>
          <a:p>
            <a:pPr lvl="2"/>
            <a:r>
              <a:rPr lang="en-US" altLang="en-US" sz="2000" dirty="0"/>
              <a:t> Eliminate both positive and negative examples covered by the rule</a:t>
            </a:r>
          </a:p>
          <a:p>
            <a:pPr lvl="1"/>
            <a:r>
              <a:rPr lang="en-US" altLang="en-US" sz="2400" dirty="0"/>
              <a:t>Each time a rule is added to the rule set, compute the new description length</a:t>
            </a:r>
          </a:p>
          <a:p>
            <a:pPr lvl="2"/>
            <a:r>
              <a:rPr lang="en-US" altLang="en-US" sz="2000" dirty="0"/>
              <a:t> stop adding new rules when the new description length is d bits longer than the smallest description length obtained so far</a:t>
            </a:r>
          </a:p>
        </p:txBody>
      </p:sp>
    </p:spTree>
    <p:extLst>
      <p:ext uri="{BB962C8B-B14F-4D97-AF65-F5344CB8AC3E}">
        <p14:creationId xmlns:p14="http://schemas.microsoft.com/office/powerpoint/2010/main" val="1831855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Direct Method: RIPPER</a:t>
            </a:r>
          </a:p>
        </p:txBody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1"/>
            <a:ext cx="8058150" cy="4724400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Optimize the rule set:</a:t>
            </a:r>
          </a:p>
          <a:p>
            <a:pPr lvl="1"/>
            <a:r>
              <a:rPr lang="en-US" altLang="en-US" sz="2400" dirty="0"/>
              <a:t>For each rule </a:t>
            </a:r>
            <a:r>
              <a:rPr lang="en-US" altLang="en-US" sz="2400" i="1" dirty="0"/>
              <a:t>r</a:t>
            </a:r>
            <a:r>
              <a:rPr lang="en-US" altLang="en-US" sz="2400" dirty="0"/>
              <a:t> in the rule set </a:t>
            </a:r>
            <a:r>
              <a:rPr lang="en-US" altLang="en-US" sz="2400" b="1" i="1" dirty="0"/>
              <a:t>R</a:t>
            </a:r>
          </a:p>
          <a:p>
            <a:pPr lvl="2"/>
            <a:r>
              <a:rPr lang="en-US" altLang="en-US" sz="2000" b="1" i="1" dirty="0"/>
              <a:t> </a:t>
            </a:r>
            <a:r>
              <a:rPr lang="en-US" altLang="en-US" sz="2000" dirty="0"/>
              <a:t>Consider 2 alternative rules:</a:t>
            </a:r>
          </a:p>
          <a:p>
            <a:pPr lvl="3"/>
            <a:r>
              <a:rPr lang="en-US" altLang="en-US" sz="1600" dirty="0"/>
              <a:t>Replacement rule (r*): grow new rule from scratch</a:t>
            </a:r>
          </a:p>
          <a:p>
            <a:pPr lvl="3"/>
            <a:r>
              <a:rPr lang="en-US" altLang="en-US" sz="1600" dirty="0"/>
              <a:t>Revised rule(r’): add conjuncts to extend the rule </a:t>
            </a:r>
            <a:r>
              <a:rPr lang="en-US" altLang="en-US" sz="1600" i="1" dirty="0"/>
              <a:t>r </a:t>
            </a:r>
          </a:p>
          <a:p>
            <a:pPr lvl="2"/>
            <a:r>
              <a:rPr lang="en-US" altLang="en-US" sz="2000" i="1" dirty="0"/>
              <a:t> </a:t>
            </a:r>
            <a:r>
              <a:rPr lang="en-US" altLang="en-US" sz="2000" dirty="0"/>
              <a:t>Compare the rule set for </a:t>
            </a:r>
            <a:r>
              <a:rPr lang="en-US" altLang="en-US" sz="2000" i="1" dirty="0"/>
              <a:t>r </a:t>
            </a:r>
            <a:r>
              <a:rPr lang="en-US" altLang="en-US" sz="2000" dirty="0"/>
              <a:t>against the rule set for r* </a:t>
            </a:r>
            <a:br>
              <a:rPr lang="en-US" altLang="en-US" sz="2000" dirty="0"/>
            </a:br>
            <a:r>
              <a:rPr lang="en-US" altLang="en-US" sz="2000" dirty="0"/>
              <a:t>    and r’ </a:t>
            </a:r>
          </a:p>
          <a:p>
            <a:pPr lvl="2"/>
            <a:r>
              <a:rPr lang="en-US" altLang="en-US" sz="2000" dirty="0"/>
              <a:t> Choose rule set that minimizes MDL principle</a:t>
            </a:r>
          </a:p>
          <a:p>
            <a:pPr lvl="1"/>
            <a:r>
              <a:rPr lang="en-US" altLang="en-US" sz="2400" dirty="0"/>
              <a:t>Repeat rule generation and rule optimization for the remaining positive examples</a:t>
            </a:r>
          </a:p>
        </p:txBody>
      </p:sp>
    </p:spTree>
    <p:extLst>
      <p:ext uri="{BB962C8B-B14F-4D97-AF65-F5344CB8AC3E}">
        <p14:creationId xmlns:p14="http://schemas.microsoft.com/office/powerpoint/2010/main" val="766358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88987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Summary of Direct Method</a:t>
            </a:r>
          </a:p>
        </p:txBody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257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Grow a single rule</a:t>
            </a:r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Remove Instances from rule</a:t>
            </a:r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Prune the rule (if necessary)</a:t>
            </a:r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Add rule to Current Rule Set</a:t>
            </a:r>
          </a:p>
          <a:p>
            <a:pPr eaLnBrk="1" hangingPunct="1">
              <a:defRPr/>
            </a:pPr>
            <a:endParaRPr lang="en-US" dirty="0" smtClean="0"/>
          </a:p>
          <a:p>
            <a:pPr eaLnBrk="1" hangingPunct="1">
              <a:defRPr/>
            </a:pPr>
            <a:r>
              <a:rPr lang="en-US" dirty="0" smtClean="0"/>
              <a:t>Repeat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0951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Indirect Method: C4.5rules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1"/>
            <a:ext cx="7981950" cy="4572000"/>
          </a:xfrm>
        </p:spPr>
        <p:txBody>
          <a:bodyPr/>
          <a:lstStyle/>
          <a:p>
            <a:r>
              <a:rPr lang="en-US" dirty="0" smtClean="0"/>
              <a:t>Extract </a:t>
            </a:r>
            <a:r>
              <a:rPr lang="en-US" dirty="0"/>
              <a:t>rules from an unpruned decision tree</a:t>
            </a:r>
          </a:p>
          <a:p>
            <a:r>
              <a:rPr lang="en-US" dirty="0" smtClean="0"/>
              <a:t>For </a:t>
            </a:r>
            <a:r>
              <a:rPr lang="en-US" dirty="0"/>
              <a:t>each rule, r: RHS → c, consider pruning the rule</a:t>
            </a:r>
          </a:p>
          <a:p>
            <a:r>
              <a:rPr lang="en-US" dirty="0" smtClean="0"/>
              <a:t>Use </a:t>
            </a:r>
            <a:r>
              <a:rPr lang="en-US" dirty="0"/>
              <a:t>class ordering</a:t>
            </a:r>
          </a:p>
          <a:p>
            <a:pPr marL="642937" lvl="2" indent="0">
              <a:buNone/>
            </a:pPr>
            <a:r>
              <a:rPr lang="en-US" sz="2000" dirty="0"/>
              <a:t>– Each subset is a collection of rules with the same rule </a:t>
            </a:r>
            <a:r>
              <a:rPr lang="en-US" sz="2000" dirty="0" smtClean="0"/>
              <a:t>consequent (class</a:t>
            </a:r>
            <a:r>
              <a:rPr lang="en-US" sz="2000" dirty="0"/>
              <a:t>)</a:t>
            </a:r>
          </a:p>
          <a:p>
            <a:pPr marL="300038" lvl="1" indent="0">
              <a:buNone/>
            </a:pPr>
            <a:r>
              <a:rPr lang="en-US" sz="2000" dirty="0"/>
              <a:t>	</a:t>
            </a:r>
            <a:r>
              <a:rPr lang="en-US" sz="2000" dirty="0" smtClean="0"/>
              <a:t>– </a:t>
            </a:r>
            <a:r>
              <a:rPr lang="en-US" sz="2000" dirty="0"/>
              <a:t>Classes described by simpler sets of rules tend to appear first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45015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42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913" y="1571625"/>
            <a:ext cx="6732587" cy="3713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69528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Indirect Method: C4.5rules</a:t>
            </a:r>
          </a:p>
        </p:txBody>
      </p:sp>
      <p:sp>
        <p:nvSpPr>
          <p:cNvPr id="973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Extract rules from an unpruned decision tree</a:t>
            </a:r>
          </a:p>
          <a:p>
            <a:pPr>
              <a:lnSpc>
                <a:spcPct val="90000"/>
              </a:lnSpc>
            </a:pPr>
            <a:r>
              <a:rPr lang="en-US" altLang="en-US"/>
              <a:t>For each rule, r: A </a:t>
            </a:r>
            <a:r>
              <a:rPr lang="en-US" altLang="en-US" b="1">
                <a:sym typeface="Symbol" panose="05050102010706020507" pitchFamily="18" charset="2"/>
              </a:rPr>
              <a:t> </a:t>
            </a:r>
            <a:r>
              <a:rPr lang="en-US" altLang="en-US">
                <a:sym typeface="Symbol" panose="05050102010706020507" pitchFamily="18" charset="2"/>
              </a:rPr>
              <a:t>y, 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consider an alternative rule r’: </a:t>
            </a:r>
            <a:r>
              <a:rPr lang="en-US" altLang="en-US"/>
              <a:t>A’ </a:t>
            </a:r>
            <a:r>
              <a:rPr lang="en-US" altLang="en-US" b="1">
                <a:sym typeface="Symbol" panose="05050102010706020507" pitchFamily="18" charset="2"/>
              </a:rPr>
              <a:t> </a:t>
            </a:r>
            <a:r>
              <a:rPr lang="en-US" altLang="en-US">
                <a:sym typeface="Symbol" panose="05050102010706020507" pitchFamily="18" charset="2"/>
              </a:rPr>
              <a:t>y where A’ is obtained by removing one of the conjuncts in A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Compare the pessimistic error rate for r against all r’s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Prune if one of the r’s has lower pessimistic error rate</a:t>
            </a:r>
          </a:p>
          <a:p>
            <a:pPr lvl="1">
              <a:lnSpc>
                <a:spcPct val="90000"/>
              </a:lnSpc>
            </a:pPr>
            <a:r>
              <a:rPr lang="en-US" altLang="en-US">
                <a:sym typeface="Symbol" panose="05050102010706020507" pitchFamily="18" charset="2"/>
              </a:rPr>
              <a:t>Repeat until we can no longer improve generalization error</a:t>
            </a:r>
          </a:p>
        </p:txBody>
      </p:sp>
    </p:spTree>
    <p:extLst>
      <p:ext uri="{BB962C8B-B14F-4D97-AF65-F5344CB8AC3E}">
        <p14:creationId xmlns:p14="http://schemas.microsoft.com/office/powerpoint/2010/main" val="314086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Indirect Method: C4.5rules</a:t>
            </a:r>
          </a:p>
        </p:txBody>
      </p:sp>
      <p:sp>
        <p:nvSpPr>
          <p:cNvPr id="988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Instead of ordering the rules, order subsets of rules</a:t>
            </a:r>
            <a:r>
              <a:rPr lang="en-US" altLang="en-US">
                <a:solidFill>
                  <a:srgbClr val="FF0000"/>
                </a:solidFill>
              </a:rPr>
              <a:t> (class ordering)</a:t>
            </a:r>
          </a:p>
          <a:p>
            <a:pPr lvl="1"/>
            <a:r>
              <a:rPr lang="en-US" altLang="en-US"/>
              <a:t>Each subset is a collection of rules with the same rule consequent (class)</a:t>
            </a:r>
          </a:p>
          <a:p>
            <a:pPr lvl="1"/>
            <a:r>
              <a:rPr lang="en-US" altLang="en-US"/>
              <a:t>Compute description length of each subset</a:t>
            </a:r>
          </a:p>
          <a:p>
            <a:pPr lvl="2"/>
            <a:r>
              <a:rPr lang="en-US" altLang="en-US"/>
              <a:t> Description length = L(error) + g L(model)</a:t>
            </a:r>
          </a:p>
          <a:p>
            <a:pPr lvl="2"/>
            <a:r>
              <a:rPr lang="en-US" altLang="en-US"/>
              <a:t> g is a parameter that takes into account the presence of redundant attributes in a rule set </a:t>
            </a:r>
            <a:br>
              <a:rPr lang="en-US" altLang="en-US"/>
            </a:br>
            <a:r>
              <a:rPr lang="en-US" altLang="en-US"/>
              <a:t>(default value = 0.5)</a:t>
            </a:r>
          </a:p>
        </p:txBody>
      </p:sp>
    </p:spTree>
    <p:extLst>
      <p:ext uri="{BB962C8B-B14F-4D97-AF65-F5344CB8AC3E}">
        <p14:creationId xmlns:p14="http://schemas.microsoft.com/office/powerpoint/2010/main" val="8707958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</a:t>
            </a:r>
          </a:p>
        </p:txBody>
      </p:sp>
      <p:graphicFrame>
        <p:nvGraphicFramePr>
          <p:cNvPr id="998403" name="Object 3"/>
          <p:cNvGraphicFramePr>
            <a:graphicFrameLocks noChangeAspect="1"/>
          </p:cNvGraphicFramePr>
          <p:nvPr/>
        </p:nvGraphicFramePr>
        <p:xfrm>
          <a:off x="685800" y="1104900"/>
          <a:ext cx="7620000" cy="510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09" name="Worksheet" r:id="rId3" imgW="7144131" imgH="4782109" progId="Excel.Sheet.8">
                  <p:embed/>
                </p:oleObj>
              </mc:Choice>
              <mc:Fallback>
                <p:oleObj name="Worksheet" r:id="rId3" imgW="7144131" imgH="4782109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104900"/>
                        <a:ext cx="7620000" cy="510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67182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C4.5 versus C4.5 rules versus RIPPER</a:t>
            </a:r>
          </a:p>
        </p:txBody>
      </p:sp>
      <p:sp>
        <p:nvSpPr>
          <p:cNvPr id="75779" name="Text Box 3"/>
          <p:cNvSpPr txBox="1">
            <a:spLocks noChangeArrowheads="1"/>
          </p:cNvSpPr>
          <p:nvPr/>
        </p:nvSpPr>
        <p:spPr bwMode="auto">
          <a:xfrm>
            <a:off x="3810000" y="1066800"/>
            <a:ext cx="5181600" cy="225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C4.5rules: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(Give Birth=No, Can Fly=Yes) </a:t>
            </a:r>
            <a:r>
              <a:rPr lang="en-US" altLang="en-US" sz="1400">
                <a:latin typeface="Arial" panose="020B0604020202020204" pitchFamily="34" charset="0"/>
                <a:sym typeface="Symbol" panose="05050102010706020507" pitchFamily="18" charset="2"/>
              </a:rPr>
              <a:t> Birds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  <a:sym typeface="Symbol" panose="05050102010706020507" pitchFamily="18" charset="2"/>
              </a:rPr>
              <a:t>(Give Birth=No, Live in Water=Yes)  Fishes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  <a:sym typeface="Symbol" panose="05050102010706020507" pitchFamily="18" charset="2"/>
              </a:rPr>
              <a:t>(Give Birth=Yes)  Mammals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  <a:sym typeface="Symbol" panose="05050102010706020507" pitchFamily="18" charset="2"/>
              </a:rPr>
              <a:t>(Give Birth=No, Can Fly=No, Live in Water=No)  Reptiles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  <a:sym typeface="Symbol" panose="05050102010706020507" pitchFamily="18" charset="2"/>
              </a:rPr>
              <a:t>( )  Amphibians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400">
              <a:latin typeface="Arial" panose="020B0604020202020204" pitchFamily="34" charset="0"/>
            </a:endParaRPr>
          </a:p>
        </p:txBody>
      </p:sp>
      <p:graphicFrame>
        <p:nvGraphicFramePr>
          <p:cNvPr id="75780" name="Object 4"/>
          <p:cNvGraphicFramePr>
            <a:graphicFrameLocks noChangeAspect="1"/>
          </p:cNvGraphicFramePr>
          <p:nvPr/>
        </p:nvGraphicFramePr>
        <p:xfrm>
          <a:off x="161925" y="1066800"/>
          <a:ext cx="4943475" cy="533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3" name="VISIO" r:id="rId3" imgW="7467600" imgH="6882384" progId="Visio.Drawing.6">
                  <p:embed/>
                </p:oleObj>
              </mc:Choice>
              <mc:Fallback>
                <p:oleObj name="VISIO" r:id="rId3" imgW="7467600" imgH="6882384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" y="1066800"/>
                        <a:ext cx="4943475" cy="533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1" name="Text Box 5"/>
          <p:cNvSpPr txBox="1">
            <a:spLocks noChangeArrowheads="1"/>
          </p:cNvSpPr>
          <p:nvPr/>
        </p:nvSpPr>
        <p:spPr bwMode="auto">
          <a:xfrm>
            <a:off x="5181600" y="3200400"/>
            <a:ext cx="3962400" cy="214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RIPPER: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(Live in Water=Yes) </a:t>
            </a:r>
            <a:r>
              <a:rPr lang="en-US" altLang="en-US" sz="1400">
                <a:latin typeface="Arial" panose="020B0604020202020204" pitchFamily="34" charset="0"/>
                <a:sym typeface="Symbol" panose="05050102010706020507" pitchFamily="18" charset="2"/>
              </a:rPr>
              <a:t> Fishes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  <a:sym typeface="Symbol" panose="05050102010706020507" pitchFamily="18" charset="2"/>
              </a:rPr>
              <a:t>(Have Legs=No)  Reptiles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  <a:sym typeface="Symbol" panose="05050102010706020507" pitchFamily="18" charset="2"/>
              </a:rPr>
              <a:t>(Give Birth=No, Can Fly=No, Live In Water=No) </a:t>
            </a:r>
            <a:br>
              <a:rPr lang="en-US" altLang="en-US" sz="1400">
                <a:latin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en-US" sz="1400">
                <a:latin typeface="Arial" panose="020B0604020202020204" pitchFamily="34" charset="0"/>
                <a:sym typeface="Symbol" panose="05050102010706020507" pitchFamily="18" charset="2"/>
              </a:rPr>
              <a:t>	 Reptiles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  <a:sym typeface="Symbol" panose="05050102010706020507" pitchFamily="18" charset="2"/>
              </a:rPr>
              <a:t>(Can Fly=Yes,Give Birth=No)  Birds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>
                <a:latin typeface="Arial" panose="020B0604020202020204" pitchFamily="34" charset="0"/>
                <a:sym typeface="Symbol" panose="05050102010706020507" pitchFamily="18" charset="2"/>
              </a:rPr>
              <a:t>()  Mammals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2162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C4.5 versus C4.5rules versus RIPPER</a:t>
            </a:r>
          </a:p>
        </p:txBody>
      </p:sp>
      <p:graphicFrame>
        <p:nvGraphicFramePr>
          <p:cNvPr id="76803" name="Object 3"/>
          <p:cNvGraphicFramePr>
            <a:graphicFrameLocks noChangeAspect="1"/>
          </p:cNvGraphicFramePr>
          <p:nvPr/>
        </p:nvGraphicFramePr>
        <p:xfrm>
          <a:off x="1143000" y="4000500"/>
          <a:ext cx="7334250" cy="182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60" name="Worksheet" r:id="rId3" imgW="6467856" imgH="1610157" progId="Excel.Sheet.8">
                  <p:embed/>
                </p:oleObj>
              </mc:Choice>
              <mc:Fallback>
                <p:oleObj name="Worksheet" r:id="rId3" imgW="6467856" imgH="161015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000500"/>
                        <a:ext cx="7334250" cy="182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4" name="Object 4"/>
          <p:cNvGraphicFramePr>
            <a:graphicFrameLocks noChangeAspect="1"/>
          </p:cNvGraphicFramePr>
          <p:nvPr/>
        </p:nvGraphicFramePr>
        <p:xfrm>
          <a:off x="1109663" y="1687513"/>
          <a:ext cx="7334250" cy="182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61" name="Worksheet" r:id="rId5" imgW="6467856" imgH="1610157" progId="Excel.Sheet.8">
                  <p:embed/>
                </p:oleObj>
              </mc:Choice>
              <mc:Fallback>
                <p:oleObj name="Worksheet" r:id="rId5" imgW="6467856" imgH="161015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663" y="1687513"/>
                        <a:ext cx="7334250" cy="1820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5" name="Text Box 5"/>
          <p:cNvSpPr txBox="1">
            <a:spLocks noChangeArrowheads="1"/>
          </p:cNvSpPr>
          <p:nvPr/>
        </p:nvSpPr>
        <p:spPr bwMode="auto">
          <a:xfrm>
            <a:off x="533400" y="1219200"/>
            <a:ext cx="3200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C4.5 and C4.5rules:</a:t>
            </a:r>
          </a:p>
        </p:txBody>
      </p:sp>
      <p:sp>
        <p:nvSpPr>
          <p:cNvPr id="76806" name="Text Box 6"/>
          <p:cNvSpPr txBox="1">
            <a:spLocks noChangeArrowheads="1"/>
          </p:cNvSpPr>
          <p:nvPr/>
        </p:nvSpPr>
        <p:spPr bwMode="auto">
          <a:xfrm>
            <a:off x="533400" y="3581400"/>
            <a:ext cx="3200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RIPPER: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871072-3085-4697-854F-610669DD1396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3239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Advantages of Rule-Based Classifiers</a:t>
            </a:r>
          </a:p>
        </p:txBody>
      </p:sp>
      <p:sp>
        <p:nvSpPr>
          <p:cNvPr id="370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As highly expressive as decision trees</a:t>
            </a:r>
          </a:p>
          <a:p>
            <a:pPr eaLnBrk="1" hangingPunct="1">
              <a:defRPr/>
            </a:pPr>
            <a:r>
              <a:rPr lang="en-US" smtClean="0"/>
              <a:t>Easy to interpret</a:t>
            </a:r>
          </a:p>
          <a:p>
            <a:pPr eaLnBrk="1" hangingPunct="1">
              <a:defRPr/>
            </a:pPr>
            <a:r>
              <a:rPr lang="en-US" smtClean="0"/>
              <a:t>Easy to generate</a:t>
            </a:r>
          </a:p>
          <a:p>
            <a:pPr eaLnBrk="1" hangingPunct="1">
              <a:defRPr/>
            </a:pPr>
            <a:r>
              <a:rPr lang="en-US" smtClean="0"/>
              <a:t>Can classify new instances rapidly</a:t>
            </a:r>
          </a:p>
          <a:p>
            <a:pPr eaLnBrk="1" hangingPunct="1">
              <a:defRPr/>
            </a:pPr>
            <a:r>
              <a:rPr lang="en-US" smtClean="0"/>
              <a:t>Performance comparable to decision trees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1DEC12-5F10-4113-B84E-03EF1309E230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2909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28750" y="1485900"/>
            <a:ext cx="3314700" cy="1371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Classification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1885950" y="3257550"/>
            <a:ext cx="5257800" cy="154305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Bayesian Classifier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Naive Bayes Classifier</a:t>
            </a:r>
          </a:p>
        </p:txBody>
      </p:sp>
    </p:spTree>
    <p:extLst>
      <p:ext uri="{BB962C8B-B14F-4D97-AF65-F5344CB8AC3E}">
        <p14:creationId xmlns:p14="http://schemas.microsoft.com/office/powerpoint/2010/main" val="2097205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71500" y="1257300"/>
            <a:ext cx="5600700" cy="521494"/>
          </a:xfrm>
          <a:prstGeom prst="rect">
            <a:avLst/>
          </a:prstGeom>
        </p:spPr>
        <p:txBody>
          <a:bodyPr vert="horz" lIns="69056" tIns="34529" rIns="69056" bIns="34529" rtlCol="0" anchor="b" anchorCtr="0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300"/>
              <a:t>Bayesian Classification</a:t>
            </a:r>
            <a:endParaRPr lang="en-US" sz="3300" dirty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571500" y="2000250"/>
            <a:ext cx="61722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/>
          <a:lstStyle>
            <a:lvl1pPr marL="609600" indent="-609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400" b="1" dirty="0">
                <a:solidFill>
                  <a:srgbClr val="000066"/>
                </a:solidFill>
              </a:rPr>
              <a:t>What are Bayesian Classifiers?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Statistical Classifiers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Predict class membership probabilities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Based on Bayes Theorem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Naïve Bayesian Classifier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Computationally Simple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Comparable performance with DT and NN classifiers</a:t>
            </a:r>
          </a:p>
        </p:txBody>
      </p:sp>
    </p:spTree>
    <p:extLst>
      <p:ext uri="{BB962C8B-B14F-4D97-AF65-F5344CB8AC3E}">
        <p14:creationId xmlns:p14="http://schemas.microsoft.com/office/powerpoint/2010/main" val="15899648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914400" y="2447925"/>
            <a:ext cx="67437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/>
          <a:lstStyle>
            <a:lvl1pPr marL="609600" indent="-609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b="1" dirty="0">
                <a:solidFill>
                  <a:srgbClr val="000066"/>
                </a:solidFill>
              </a:rPr>
              <a:t>Probabilistic learning:</a:t>
            </a:r>
            <a:r>
              <a:rPr lang="en-US" altLang="en-US" sz="2100" dirty="0">
                <a:solidFill>
                  <a:srgbClr val="000000"/>
                </a:solidFill>
              </a:rPr>
              <a:t>  Calculate explicit probabilities for hypothesis, among the most practical approaches to certain types of learning problems</a:t>
            </a:r>
          </a:p>
          <a:p>
            <a:pPr eaLnBrk="1" hangingPunct="1"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b="1" dirty="0">
                <a:solidFill>
                  <a:srgbClr val="000066"/>
                </a:solidFill>
              </a:rPr>
              <a:t>Incremental:</a:t>
            </a:r>
            <a:r>
              <a:rPr lang="en-US" altLang="en-US" sz="2100" dirty="0">
                <a:solidFill>
                  <a:srgbClr val="000000"/>
                </a:solidFill>
              </a:rPr>
              <a:t> Each training example can incrementally increase/decrease the probability that a hypothesis is correct.  Prior knowledge can be combined with observed data.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>
          <a:xfrm>
            <a:off x="342900" y="1350169"/>
            <a:ext cx="6172200" cy="570310"/>
          </a:xfrm>
        </p:spPr>
        <p:txBody>
          <a:bodyPr vert="horz" lIns="69056" tIns="34529" rIns="69056" bIns="34529" rtlCol="0" anchor="b" anchorCtr="0"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Bayesian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9933444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1407319"/>
            <a:ext cx="5990035" cy="463154"/>
          </a:xfrm>
        </p:spPr>
        <p:txBody>
          <a:bodyPr vert="horz" lIns="69056" tIns="34529" rIns="69056" bIns="34529" rtlCol="0" anchor="b" anchorCtr="0"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Bayes Theorem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71450" y="2057400"/>
            <a:ext cx="75342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/>
          <a:lstStyle>
            <a:lvl1pPr marL="609600" indent="-609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Let X be a data sample whose class label is unknown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Let H be some hypothesis that X belongs to a class C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For classification determine </a:t>
            </a:r>
            <a:r>
              <a:rPr lang="en-US" altLang="en-US" sz="2100" dirty="0">
                <a:solidFill>
                  <a:srgbClr val="000000"/>
                </a:solidFill>
              </a:rPr>
              <a:t>P(H|X</a:t>
            </a:r>
            <a:r>
              <a:rPr lang="en-US" altLang="en-US" sz="2100" dirty="0">
                <a:solidFill>
                  <a:srgbClr val="000000"/>
                </a:solidFill>
              </a:rPr>
              <a:t>)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P(H|X) is the probability that H holds given the observed data sample X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P(H|X) is posterior probability of H conditioned on X</a:t>
            </a:r>
          </a:p>
        </p:txBody>
      </p:sp>
    </p:spTree>
    <p:extLst>
      <p:ext uri="{BB962C8B-B14F-4D97-AF65-F5344CB8AC3E}">
        <p14:creationId xmlns:p14="http://schemas.microsoft.com/office/powerpoint/2010/main" val="14504735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85750" y="2000250"/>
            <a:ext cx="657225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/>
          <a:lstStyle>
            <a:lvl1pPr marL="609600" indent="-609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100" b="1" dirty="0">
                <a:solidFill>
                  <a:srgbClr val="000066"/>
                </a:solidFill>
              </a:rPr>
              <a:t>Example:</a:t>
            </a:r>
            <a:r>
              <a:rPr lang="en-US" altLang="en-US" sz="2100" b="1" dirty="0">
                <a:solidFill>
                  <a:srgbClr val="000000"/>
                </a:solidFill>
              </a:rPr>
              <a:t> </a:t>
            </a:r>
            <a:r>
              <a:rPr lang="en-US" altLang="en-US" sz="2100" dirty="0">
                <a:solidFill>
                  <a:srgbClr val="FF3300"/>
                </a:solidFill>
              </a:rPr>
              <a:t>Sample space: All Fruits described by their color and shape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100" dirty="0">
                <a:solidFill>
                  <a:srgbClr val="000000"/>
                </a:solidFill>
              </a:rPr>
              <a:t>X is “round” and “red”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100" dirty="0">
                <a:solidFill>
                  <a:srgbClr val="000000"/>
                </a:solidFill>
              </a:rPr>
              <a:t>H= hypothesis that X is an Apple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100" dirty="0">
                <a:solidFill>
                  <a:srgbClr val="000000"/>
                </a:solidFill>
              </a:rPr>
              <a:t>	P(H|X) is our confidence that X is an apple given that X is “round” and “red”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P(H) is Prior Probability of H, </a:t>
            </a:r>
            <a:r>
              <a:rPr lang="en-US" altLang="en-US" sz="2100" dirty="0">
                <a:solidFill>
                  <a:srgbClr val="000000"/>
                </a:solidFill>
              </a:rPr>
              <a:t>i.e. </a:t>
            </a:r>
            <a:r>
              <a:rPr lang="en-US" altLang="en-US" sz="2100" dirty="0">
                <a:solidFill>
                  <a:srgbClr val="000000"/>
                </a:solidFill>
              </a:rPr>
              <a:t>the probability that any given data sample is an apple regardless of how it looks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P(H|X) is based on more information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Note that P(H) is independent of X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85750" y="1200150"/>
            <a:ext cx="5657850" cy="464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 anchor="b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300">
                <a:solidFill>
                  <a:schemeClr val="tx2"/>
                </a:solidFill>
              </a:rPr>
              <a:t>Bayes Theorem</a:t>
            </a:r>
          </a:p>
        </p:txBody>
      </p:sp>
    </p:spTree>
    <p:extLst>
      <p:ext uri="{BB962C8B-B14F-4D97-AF65-F5344CB8AC3E}">
        <p14:creationId xmlns:p14="http://schemas.microsoft.com/office/powerpoint/2010/main" val="35754494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28600" y="2286000"/>
            <a:ext cx="6057900" cy="371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/>
          <a:lstStyle>
            <a:lvl1pPr marL="609600" indent="-609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100" dirty="0">
                <a:solidFill>
                  <a:srgbClr val="000066"/>
                </a:solidFill>
              </a:rPr>
              <a:t>Example:</a:t>
            </a:r>
            <a:r>
              <a:rPr lang="en-US" altLang="en-US" sz="2100" dirty="0">
                <a:solidFill>
                  <a:srgbClr val="000000"/>
                </a:solidFill>
              </a:rPr>
              <a:t> </a:t>
            </a:r>
            <a:r>
              <a:rPr lang="en-US" altLang="en-US" sz="2100" dirty="0">
                <a:solidFill>
                  <a:srgbClr val="FF3300"/>
                </a:solidFill>
              </a:rPr>
              <a:t>Sample space: All Fruits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P(X|H) ?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It is the probability that X is round and red given that we know that it is true that X is an apple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Here P(X) is prior probability = 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en-US" sz="2100" dirty="0">
                <a:solidFill>
                  <a:srgbClr val="000000"/>
                </a:solidFill>
              </a:rPr>
              <a:t>	P(data sample from our set of fruits is red and round)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endParaRPr lang="en-US" altLang="en-US" sz="2100" dirty="0">
              <a:solidFill>
                <a:srgbClr val="000000"/>
              </a:solidFill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71450" y="1543050"/>
            <a:ext cx="5657850" cy="464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 anchor="b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300">
                <a:solidFill>
                  <a:schemeClr val="tx2"/>
                </a:solidFill>
              </a:rPr>
              <a:t>Bayes Theorem</a:t>
            </a:r>
          </a:p>
        </p:txBody>
      </p:sp>
    </p:spTree>
    <p:extLst>
      <p:ext uri="{BB962C8B-B14F-4D97-AF65-F5344CB8AC3E}">
        <p14:creationId xmlns:p14="http://schemas.microsoft.com/office/powerpoint/2010/main" val="19440626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1464469"/>
            <a:ext cx="5990035" cy="348854"/>
          </a:xfrm>
        </p:spPr>
        <p:txBody>
          <a:bodyPr vert="horz" lIns="69056" tIns="34529" rIns="69056" bIns="34529" rtlCol="0" anchor="b" anchorCtr="0"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Estimating Probabilities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61925" y="2254448"/>
            <a:ext cx="7010400" cy="3279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9056" tIns="34529" rIns="69056" bIns="34529"/>
          <a:lstStyle>
            <a:lvl1pPr marL="609600" indent="-609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P(X), P(H), and P(X|H) may be estimated from given data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Bayes Theorem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endParaRPr lang="en-US" altLang="en-US" sz="21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endParaRPr lang="en-US" altLang="en-US" sz="21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endParaRPr lang="en-US" altLang="en-US" sz="210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100" dirty="0">
                <a:solidFill>
                  <a:srgbClr val="000000"/>
                </a:solidFill>
              </a:rPr>
              <a:t>Use of Bayes Theorem in Naïve Bayesian Classifier!!	</a:t>
            </a:r>
          </a:p>
        </p:txBody>
      </p:sp>
      <p:graphicFrame>
        <p:nvGraphicFramePr>
          <p:cNvPr id="4" name="Object 4"/>
          <p:cNvGraphicFramePr>
            <a:graphicFrameLocks/>
          </p:cNvGraphicFramePr>
          <p:nvPr/>
        </p:nvGraphicFramePr>
        <p:xfrm>
          <a:off x="628650" y="3429001"/>
          <a:ext cx="3552825" cy="794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81" name="Equation" r:id="rId3" imgW="4737100" imgH="1058863" progId="Equation.3">
                  <p:embed/>
                </p:oleObj>
              </mc:Choice>
              <mc:Fallback>
                <p:oleObj name="Equation" r:id="rId3" imgW="4737100" imgH="1058863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3429001"/>
                        <a:ext cx="3552825" cy="7941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55319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857251"/>
            <a:ext cx="6172200" cy="854869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Bayesian Classifiers</a:t>
            </a:r>
          </a:p>
        </p:txBody>
      </p:sp>
      <p:sp>
        <p:nvSpPr>
          <p:cNvPr id="333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5300" y="1590675"/>
            <a:ext cx="8105775" cy="38957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Consider each attribute and class label as random variables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Given a record with attributes (A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,…,A</a:t>
            </a:r>
            <a:r>
              <a:rPr lang="en-US" baseline="-25000" dirty="0"/>
              <a:t>n</a:t>
            </a:r>
            <a:r>
              <a:rPr lang="en-US" dirty="0"/>
              <a:t>) </a:t>
            </a:r>
          </a:p>
          <a:p>
            <a:pPr lvl="1" eaLnBrk="1" hangingPunct="1">
              <a:defRPr/>
            </a:pPr>
            <a:r>
              <a:rPr lang="en-US" dirty="0"/>
              <a:t>Goal is to predict class C</a:t>
            </a:r>
          </a:p>
          <a:p>
            <a:pPr lvl="1" eaLnBrk="1" hangingPunct="1">
              <a:defRPr/>
            </a:pPr>
            <a:r>
              <a:rPr lang="en-US" dirty="0"/>
              <a:t>Specifically, we want to find the value of C that maximizes </a:t>
            </a:r>
            <a:r>
              <a:rPr lang="en-US" dirty="0"/>
              <a:t>            P(C</a:t>
            </a:r>
            <a:r>
              <a:rPr lang="en-US" dirty="0"/>
              <a:t>| 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,…,A</a:t>
            </a:r>
            <a:r>
              <a:rPr lang="en-US" baseline="-25000" dirty="0"/>
              <a:t>n </a:t>
            </a:r>
            <a:r>
              <a:rPr lang="en-US" dirty="0"/>
              <a:t>)</a:t>
            </a:r>
          </a:p>
          <a:p>
            <a:pPr lvl="1"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Can we estimate P(C| 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,…,A</a:t>
            </a:r>
            <a:r>
              <a:rPr lang="en-US" baseline="-25000" dirty="0"/>
              <a:t>n </a:t>
            </a:r>
            <a:r>
              <a:rPr lang="en-US" dirty="0"/>
              <a:t>) directly from data?</a:t>
            </a:r>
          </a:p>
        </p:txBody>
      </p:sp>
    </p:spTree>
    <p:extLst>
      <p:ext uri="{BB962C8B-B14F-4D97-AF65-F5344CB8AC3E}">
        <p14:creationId xmlns:p14="http://schemas.microsoft.com/office/powerpoint/2010/main" val="3904603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Application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dirty="0" smtClean="0"/>
              <a:t>Digit Recognition</a:t>
            </a:r>
          </a:p>
          <a:p>
            <a:pPr eaLnBrk="1" hangingPunct="1"/>
            <a:endParaRPr lang="en-US" altLang="en-US" b="1" dirty="0" smtClean="0"/>
          </a:p>
          <a:p>
            <a:pPr eaLnBrk="1" hangingPunct="1"/>
            <a:endParaRPr lang="en-US" altLang="en-US" b="1" dirty="0" smtClean="0"/>
          </a:p>
          <a:p>
            <a:pPr eaLnBrk="1" hangingPunct="1"/>
            <a:endParaRPr lang="en-US" altLang="en-US" b="1" dirty="0" smtClean="0"/>
          </a:p>
          <a:p>
            <a:pPr eaLnBrk="1" hangingPunct="1"/>
            <a:endParaRPr lang="en-US" altLang="en-US" b="1" dirty="0" smtClean="0"/>
          </a:p>
          <a:p>
            <a:pPr eaLnBrk="1" hangingPunct="1"/>
            <a:endParaRPr lang="en-US" altLang="en-US" sz="1500" b="1" dirty="0"/>
          </a:p>
          <a:p>
            <a:pPr eaLnBrk="1" hangingPunct="1"/>
            <a:endParaRPr lang="en-US" altLang="en-US" sz="1500" b="1" dirty="0"/>
          </a:p>
          <a:p>
            <a:pPr eaLnBrk="1" hangingPunct="1"/>
            <a:r>
              <a:rPr lang="en-US" altLang="en-US" sz="1500" b="1" dirty="0"/>
              <a:t>X</a:t>
            </a:r>
            <a:r>
              <a:rPr lang="en-US" altLang="en-US" sz="1500" b="1" baseline="-25000" dirty="0"/>
              <a:t>1</a:t>
            </a:r>
            <a:r>
              <a:rPr lang="en-US" altLang="en-US" sz="1500" b="1" dirty="0"/>
              <a:t>,…,</a:t>
            </a:r>
            <a:r>
              <a:rPr lang="en-US" altLang="en-US" sz="1500" b="1" dirty="0" err="1"/>
              <a:t>X</a:t>
            </a:r>
            <a:r>
              <a:rPr lang="en-US" altLang="en-US" sz="1500" b="1" baseline="-25000" dirty="0" err="1"/>
              <a:t>n</a:t>
            </a:r>
            <a:r>
              <a:rPr lang="en-US" altLang="en-US" sz="1500" b="1" dirty="0"/>
              <a:t> </a:t>
            </a:r>
            <a:r>
              <a:rPr lang="en-US" altLang="en-US" sz="1500" b="1" dirty="0"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500" b="1" dirty="0"/>
              <a:t> {0,1} (Black vs. White pixels)</a:t>
            </a:r>
          </a:p>
          <a:p>
            <a:pPr eaLnBrk="1" hangingPunct="1"/>
            <a:r>
              <a:rPr lang="en-US" altLang="en-US" sz="1500" b="1" dirty="0"/>
              <a:t>Y </a:t>
            </a:r>
            <a:r>
              <a:rPr lang="en-US" altLang="en-US" sz="1500" b="1" dirty="0">
                <a:latin typeface="Symbol" panose="05050102010706020507" pitchFamily="18" charset="2"/>
                <a:sym typeface="Symbol" panose="05050102010706020507" pitchFamily="18" charset="2"/>
              </a:rPr>
              <a:t></a:t>
            </a:r>
            <a:r>
              <a:rPr lang="en-US" altLang="en-US" sz="1500" b="1" dirty="0"/>
              <a:t> {5,6} (predict whether a digit is a 5 or a 6)</a:t>
            </a:r>
          </a:p>
          <a:p>
            <a:pPr eaLnBrk="1" hangingPunct="1"/>
            <a:endParaRPr lang="en-US" altLang="en-US" b="1" dirty="0" smtClean="0"/>
          </a:p>
        </p:txBody>
      </p:sp>
      <p:sp>
        <p:nvSpPr>
          <p:cNvPr id="7172" name="Rectangle 8"/>
          <p:cNvSpPr>
            <a:spLocks noChangeArrowheads="1"/>
          </p:cNvSpPr>
          <p:nvPr/>
        </p:nvSpPr>
        <p:spPr bwMode="auto">
          <a:xfrm>
            <a:off x="4629150" y="3314700"/>
            <a:ext cx="17145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/>
              <a:t>Classifier</a:t>
            </a:r>
          </a:p>
        </p:txBody>
      </p:sp>
      <p:sp>
        <p:nvSpPr>
          <p:cNvPr id="7173" name="Text Box 9"/>
          <p:cNvSpPr txBox="1">
            <a:spLocks noChangeArrowheads="1"/>
          </p:cNvSpPr>
          <p:nvPr/>
        </p:nvSpPr>
        <p:spPr bwMode="auto">
          <a:xfrm>
            <a:off x="7143750" y="3486150"/>
            <a:ext cx="514350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3300"/>
              <a:t>5</a:t>
            </a:r>
          </a:p>
        </p:txBody>
      </p:sp>
      <p:sp>
        <p:nvSpPr>
          <p:cNvPr id="7174" name="AutoShape 10"/>
          <p:cNvSpPr>
            <a:spLocks noChangeArrowheads="1"/>
          </p:cNvSpPr>
          <p:nvPr/>
        </p:nvSpPr>
        <p:spPr bwMode="auto">
          <a:xfrm>
            <a:off x="4000500" y="3657600"/>
            <a:ext cx="571500" cy="228600"/>
          </a:xfrm>
          <a:prstGeom prst="rightArrow">
            <a:avLst>
              <a:gd name="adj1" fmla="val 50000"/>
              <a:gd name="adj2" fmla="val 625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175" name="AutoShape 11"/>
          <p:cNvSpPr>
            <a:spLocks noChangeArrowheads="1"/>
          </p:cNvSpPr>
          <p:nvPr/>
        </p:nvSpPr>
        <p:spPr bwMode="auto">
          <a:xfrm>
            <a:off x="6400800" y="3657600"/>
            <a:ext cx="571500" cy="228600"/>
          </a:xfrm>
          <a:prstGeom prst="rightArrow">
            <a:avLst>
              <a:gd name="adj1" fmla="val 50000"/>
              <a:gd name="adj2" fmla="val 625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pic>
        <p:nvPicPr>
          <p:cNvPr id="7176" name="Picture 12" descr="five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0" y="2800350"/>
            <a:ext cx="2571750" cy="192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6921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1028700"/>
            <a:ext cx="6172200" cy="857250"/>
          </a:xfrm>
        </p:spPr>
        <p:txBody>
          <a:bodyPr/>
          <a:lstStyle/>
          <a:p>
            <a:pPr eaLnBrk="1" hangingPunct="1"/>
            <a:r>
              <a:rPr lang="en-US" altLang="en-US" smtClean="0"/>
              <a:t>The Bayes Classifier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1800"/>
              <a:t>In class, we saw that a good strategy is to predict: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(for example: what is the probability that the image represents a 5 given its pixels?)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 sz="1800"/>
              <a:t>So … How do we compute that?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700" y="2743200"/>
            <a:ext cx="2857500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8218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Bayes Classifier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1800"/>
              <a:t>Use Bayes Rule!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  <a:p>
            <a:pPr eaLnBrk="1" hangingPunct="1">
              <a:lnSpc>
                <a:spcPct val="90000"/>
              </a:lnSpc>
            </a:pPr>
            <a:r>
              <a:rPr lang="en-US" altLang="en-US" sz="1800"/>
              <a:t>Why did this help?  Well, we think that we might be able to specify how features are “generated” by the class label</a:t>
            </a:r>
          </a:p>
          <a:p>
            <a:pPr eaLnBrk="1" hangingPunct="1">
              <a:lnSpc>
                <a:spcPct val="90000"/>
              </a:lnSpc>
            </a:pPr>
            <a:endParaRPr lang="en-US" altLang="en-US" sz="1800"/>
          </a:p>
        </p:txBody>
      </p:sp>
      <p:pic>
        <p:nvPicPr>
          <p:cNvPr id="922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0" y="2890837"/>
            <a:ext cx="508635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1" name="Text Box 6"/>
          <p:cNvSpPr txBox="1">
            <a:spLocks noChangeArrowheads="1"/>
          </p:cNvSpPr>
          <p:nvPr/>
        </p:nvSpPr>
        <p:spPr bwMode="auto">
          <a:xfrm>
            <a:off x="4914900" y="3976688"/>
            <a:ext cx="1828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200">
                <a:solidFill>
                  <a:schemeClr val="hlink"/>
                </a:solidFill>
              </a:rPr>
              <a:t>Normalization Constant</a:t>
            </a:r>
          </a:p>
        </p:txBody>
      </p:sp>
      <p:sp>
        <p:nvSpPr>
          <p:cNvPr id="9222" name="Text Box 7"/>
          <p:cNvSpPr txBox="1">
            <a:spLocks noChangeArrowheads="1"/>
          </p:cNvSpPr>
          <p:nvPr/>
        </p:nvSpPr>
        <p:spPr bwMode="auto">
          <a:xfrm>
            <a:off x="4514850" y="2662238"/>
            <a:ext cx="1828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200">
                <a:solidFill>
                  <a:srgbClr val="0000FF"/>
                </a:solidFill>
              </a:rPr>
              <a:t>Likelihood</a:t>
            </a:r>
          </a:p>
        </p:txBody>
      </p:sp>
      <p:sp>
        <p:nvSpPr>
          <p:cNvPr id="9223" name="Text Box 8"/>
          <p:cNvSpPr txBox="1">
            <a:spLocks noChangeArrowheads="1"/>
          </p:cNvSpPr>
          <p:nvPr/>
        </p:nvSpPr>
        <p:spPr bwMode="auto">
          <a:xfrm>
            <a:off x="6915150" y="2662238"/>
            <a:ext cx="10858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200">
                <a:solidFill>
                  <a:srgbClr val="800080"/>
                </a:solidFill>
              </a:rPr>
              <a:t>Prior</a:t>
            </a:r>
          </a:p>
        </p:txBody>
      </p:sp>
      <p:sp>
        <p:nvSpPr>
          <p:cNvPr id="9224" name="Line 9"/>
          <p:cNvSpPr>
            <a:spLocks noChangeShapeType="1"/>
          </p:cNvSpPr>
          <p:nvPr/>
        </p:nvSpPr>
        <p:spPr bwMode="auto">
          <a:xfrm flipH="1">
            <a:off x="7086600" y="2890838"/>
            <a:ext cx="5715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5" name="Line 10"/>
          <p:cNvSpPr>
            <a:spLocks noChangeShapeType="1"/>
          </p:cNvSpPr>
          <p:nvPr/>
        </p:nvSpPr>
        <p:spPr bwMode="auto">
          <a:xfrm>
            <a:off x="4914900" y="2890838"/>
            <a:ext cx="1143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6" name="Line 12"/>
          <p:cNvSpPr>
            <a:spLocks noChangeShapeType="1"/>
          </p:cNvSpPr>
          <p:nvPr/>
        </p:nvSpPr>
        <p:spPr bwMode="auto">
          <a:xfrm flipV="1">
            <a:off x="5772150" y="3862388"/>
            <a:ext cx="171450" cy="171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65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Bayes Classifier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1500"/>
              <a:t>Let’s expand this for our digit recognition task:</a:t>
            </a:r>
          </a:p>
          <a:p>
            <a:pPr eaLnBrk="1" hangingPunct="1"/>
            <a:endParaRPr lang="en-US" altLang="en-US" sz="1500"/>
          </a:p>
          <a:p>
            <a:pPr eaLnBrk="1" hangingPunct="1"/>
            <a:endParaRPr lang="en-US" altLang="en-US" sz="1500"/>
          </a:p>
          <a:p>
            <a:pPr eaLnBrk="1" hangingPunct="1"/>
            <a:endParaRPr lang="en-US" altLang="en-US" sz="1500"/>
          </a:p>
          <a:p>
            <a:pPr eaLnBrk="1" hangingPunct="1"/>
            <a:endParaRPr lang="en-US" altLang="en-US" sz="1500"/>
          </a:p>
          <a:p>
            <a:pPr eaLnBrk="1" hangingPunct="1"/>
            <a:endParaRPr lang="en-US" altLang="en-US" sz="1500"/>
          </a:p>
          <a:p>
            <a:pPr eaLnBrk="1" hangingPunct="1"/>
            <a:endParaRPr lang="en-US" altLang="en-US" sz="1500"/>
          </a:p>
          <a:p>
            <a:pPr eaLnBrk="1" hangingPunct="1"/>
            <a:endParaRPr lang="en-US" altLang="en-US" sz="1500"/>
          </a:p>
          <a:p>
            <a:pPr eaLnBrk="1" hangingPunct="1"/>
            <a:r>
              <a:rPr lang="en-US" altLang="en-US" sz="1500"/>
              <a:t>To classify, we’ll simply compute these two probabilities and predict based on which one is greater</a:t>
            </a:r>
          </a:p>
          <a:p>
            <a:pPr eaLnBrk="1" hangingPunct="1"/>
            <a:endParaRPr lang="en-US" altLang="en-US" sz="1500"/>
          </a:p>
        </p:txBody>
      </p:sp>
      <p:pic>
        <p:nvPicPr>
          <p:cNvPr id="1024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2914651"/>
            <a:ext cx="6743700" cy="1083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5195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6E747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85296"/>
      </a:hlink>
      <a:folHlink>
        <a:srgbClr val="99336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6640</TotalTime>
  <Words>1648</Words>
  <Application>Microsoft Office PowerPoint</Application>
  <PresentationFormat>On-screen Show (4:3)</PresentationFormat>
  <Paragraphs>298</Paragraphs>
  <Slides>45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45</vt:i4>
      </vt:variant>
    </vt:vector>
  </HeadingPairs>
  <TitlesOfParts>
    <vt:vector size="57" baseType="lpstr">
      <vt:lpstr>Arial</vt:lpstr>
      <vt:lpstr>Calibri</vt:lpstr>
      <vt:lpstr>Monotype Sorts</vt:lpstr>
      <vt:lpstr>Symbol</vt:lpstr>
      <vt:lpstr>Tahoma</vt:lpstr>
      <vt:lpstr>TimesNewRomanPSMT</vt:lpstr>
      <vt:lpstr>Wingdings</vt:lpstr>
      <vt:lpstr>Blank</vt:lpstr>
      <vt:lpstr>Visio</vt:lpstr>
      <vt:lpstr>VISIO</vt:lpstr>
      <vt:lpstr>Worksheet</vt:lpstr>
      <vt:lpstr>Equation</vt:lpstr>
      <vt:lpstr>Classification</vt:lpstr>
      <vt:lpstr>Ordered Rule Set</vt:lpstr>
      <vt:lpstr>Rule Ordering Schemes</vt:lpstr>
      <vt:lpstr>Building Classification Rules</vt:lpstr>
      <vt:lpstr>Direct Method: Sequential Covering</vt:lpstr>
      <vt:lpstr>PowerPoint Presentation</vt:lpstr>
      <vt:lpstr>Example of Sequential Covering</vt:lpstr>
      <vt:lpstr>Example of Sequential Covering…</vt:lpstr>
      <vt:lpstr>PowerPoint Presentation</vt:lpstr>
      <vt:lpstr>PowerPoint Presentation</vt:lpstr>
      <vt:lpstr>PowerPoint Presentation</vt:lpstr>
      <vt:lpstr>PowerPoint Presentation</vt:lpstr>
      <vt:lpstr>When to Stop Building a Rule</vt:lpstr>
      <vt:lpstr>Aspects of Sequential Covering</vt:lpstr>
      <vt:lpstr>Rule Growing</vt:lpstr>
      <vt:lpstr>PowerPoint Presentation</vt:lpstr>
      <vt:lpstr>Rule Evaluation</vt:lpstr>
      <vt:lpstr>Instance Elimination</vt:lpstr>
      <vt:lpstr>Stopping Criterion and Rule Pruning</vt:lpstr>
      <vt:lpstr>PowerPoint Presentation</vt:lpstr>
      <vt:lpstr>PowerPoint Presentation</vt:lpstr>
      <vt:lpstr>Rule Growing (Examples)</vt:lpstr>
      <vt:lpstr>Direct Method: RIPPER</vt:lpstr>
      <vt:lpstr>Direct Method: RIPPER</vt:lpstr>
      <vt:lpstr>Summary of Direct Method</vt:lpstr>
      <vt:lpstr>Indirect Method: C4.5rules</vt:lpstr>
      <vt:lpstr>PowerPoint Presentation</vt:lpstr>
      <vt:lpstr>Indirect Method: C4.5rules</vt:lpstr>
      <vt:lpstr>Indirect Method: C4.5rules</vt:lpstr>
      <vt:lpstr>Example</vt:lpstr>
      <vt:lpstr>C4.5 versus C4.5 rules versus RIPPER</vt:lpstr>
      <vt:lpstr>C4.5 versus C4.5rules versus RIPPER</vt:lpstr>
      <vt:lpstr>Advantages of Rule-Based Classifiers</vt:lpstr>
      <vt:lpstr>Classification</vt:lpstr>
      <vt:lpstr>PowerPoint Presentation</vt:lpstr>
      <vt:lpstr>Bayesian Classification</vt:lpstr>
      <vt:lpstr>Bayes Theorem</vt:lpstr>
      <vt:lpstr>PowerPoint Presentation</vt:lpstr>
      <vt:lpstr>PowerPoint Presentation</vt:lpstr>
      <vt:lpstr>Estimating Probabilities</vt:lpstr>
      <vt:lpstr>Bayesian Classifiers</vt:lpstr>
      <vt:lpstr>Application</vt:lpstr>
      <vt:lpstr>The Bayes Classifier</vt:lpstr>
      <vt:lpstr>The Bayes Classifier</vt:lpstr>
      <vt:lpstr>The Bayes Classifier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yash Sharma</dc:creator>
  <cp:lastModifiedBy>yash Sharma</cp:lastModifiedBy>
  <cp:revision>261</cp:revision>
  <cp:lastPrinted>1601-01-01T00:00:00Z</cp:lastPrinted>
  <dcterms:created xsi:type="dcterms:W3CDTF">1601-01-01T00:00:00Z</dcterms:created>
  <dcterms:modified xsi:type="dcterms:W3CDTF">2018-02-19T10:24:34Z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