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508" r:id="rId2"/>
    <p:sldId id="545" r:id="rId3"/>
    <p:sldId id="546" r:id="rId4"/>
    <p:sldId id="547" r:id="rId5"/>
    <p:sldId id="548" r:id="rId6"/>
    <p:sldId id="549" r:id="rId7"/>
    <p:sldId id="550" r:id="rId8"/>
    <p:sldId id="551" r:id="rId9"/>
    <p:sldId id="552" r:id="rId10"/>
    <p:sldId id="553" r:id="rId11"/>
    <p:sldId id="567" r:id="rId12"/>
    <p:sldId id="554" r:id="rId13"/>
    <p:sldId id="555" r:id="rId14"/>
    <p:sldId id="556" r:id="rId15"/>
    <p:sldId id="473" r:id="rId16"/>
    <p:sldId id="474" r:id="rId17"/>
    <p:sldId id="513" r:id="rId18"/>
    <p:sldId id="514" r:id="rId19"/>
    <p:sldId id="515" r:id="rId20"/>
    <p:sldId id="516" r:id="rId21"/>
    <p:sldId id="517" r:id="rId22"/>
    <p:sldId id="518" r:id="rId23"/>
    <p:sldId id="519" r:id="rId24"/>
    <p:sldId id="520" r:id="rId25"/>
    <p:sldId id="521" r:id="rId26"/>
    <p:sldId id="522" r:id="rId27"/>
    <p:sldId id="523" r:id="rId28"/>
    <p:sldId id="524" r:id="rId29"/>
    <p:sldId id="526" r:id="rId30"/>
    <p:sldId id="527" r:id="rId31"/>
    <p:sldId id="566" r:id="rId32"/>
    <p:sldId id="505" r:id="rId33"/>
    <p:sldId id="506" r:id="rId34"/>
    <p:sldId id="507" r:id="rId35"/>
    <p:sldId id="544" r:id="rId36"/>
    <p:sldId id="557" r:id="rId37"/>
    <p:sldId id="558" r:id="rId38"/>
    <p:sldId id="559" r:id="rId39"/>
    <p:sldId id="492" r:id="rId40"/>
    <p:sldId id="493" r:id="rId41"/>
    <p:sldId id="560" r:id="rId42"/>
    <p:sldId id="561" r:id="rId43"/>
    <p:sldId id="562" r:id="rId44"/>
    <p:sldId id="563" r:id="rId45"/>
    <p:sldId id="564" r:id="rId46"/>
    <p:sldId id="565" r:id="rId47"/>
    <p:sldId id="495" r:id="rId48"/>
    <p:sldId id="496" r:id="rId49"/>
    <p:sldId id="497" r:id="rId50"/>
    <p:sldId id="498" r:id="rId51"/>
    <p:sldId id="499" r:id="rId52"/>
    <p:sldId id="500" r:id="rId53"/>
    <p:sldId id="501" r:id="rId54"/>
    <p:sldId id="502" r:id="rId55"/>
    <p:sldId id="503" r:id="rId56"/>
    <p:sldId id="504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8A541D8-7A5C-4CB5-8E71-003AC9DDCEFD}" type="slidenum">
              <a:rPr lang="en-US" altLang="en-US" smtClean="0">
                <a:latin typeface="Arial" panose="020B0604020202020204" pitchFamily="34" charset="0"/>
              </a:rPr>
              <a:pPr/>
              <a:t>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269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D49601-C3F6-4846-8480-A2B8901FBD7B}" type="slidenum">
              <a:rPr lang="en-US" altLang="en-US" smtClean="0">
                <a:latin typeface="Arial" panose="020B0604020202020204" pitchFamily="34" charset="0"/>
              </a:rPr>
              <a:pPr/>
              <a:t>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283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EC7278D-15D0-4289-A2F3-49BCCFDB93E1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261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C464AE5-0CBA-45AE-887F-0D776C389F84}" type="slidenum">
              <a:rPr lang="en-US" altLang="en-US" smtClean="0">
                <a:latin typeface="Arial" panose="020B0604020202020204" pitchFamily="34" charset="0"/>
              </a:rPr>
              <a:pPr/>
              <a:t>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920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6A2B279-457A-4179-9ED6-48CDBA4DAFAF}" type="slidenum">
              <a:rPr lang="en-US" altLang="en-US" smtClean="0">
                <a:latin typeface="Arial" panose="020B0604020202020204" pitchFamily="34" charset="0"/>
              </a:rPr>
              <a:pPr/>
              <a:t>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464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3400D4A-9BCA-4814-8266-8566558E2D19}" type="slidenum">
              <a:rPr lang="en-US" altLang="en-US" smtClean="0">
                <a:latin typeface="Arial" panose="020B0604020202020204" pitchFamily="34" charset="0"/>
              </a:rPr>
              <a:pPr/>
              <a:t>10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480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59CE3A9-93B0-4230-AF7B-C0BC6813D3CE}" type="slidenum">
              <a:rPr lang="en-US" altLang="en-US" smtClean="0">
                <a:latin typeface="Arial" panose="020B0604020202020204" pitchFamily="34" charset="0"/>
              </a:rPr>
              <a:pPr/>
              <a:t>12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404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85E24EB-9C42-4F36-8B4B-56429F68E284}" type="slidenum">
              <a:rPr lang="en-US" altLang="en-US" smtClean="0">
                <a:latin typeface="Arial" panose="020B0604020202020204" pitchFamily="34" charset="0"/>
              </a:rPr>
              <a:pPr/>
              <a:t>14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51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7F2D575-9D0A-403B-95AA-244D3D2DBF8B}" type="slidenum">
              <a:rPr lang="en-US" altLang="en-US" smtClean="0">
                <a:latin typeface="Arial" panose="020B0604020202020204" pitchFamily="34" charset="0"/>
              </a:rPr>
              <a:pPr/>
              <a:t>16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981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7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293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8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380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7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3741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4960360-4E71-465A-838B-41B6A5260E1E}" type="slidenum">
              <a:rPr lang="en-US" altLang="en-US" smtClean="0">
                <a:latin typeface="Arial" panose="020B0604020202020204" pitchFamily="34" charset="0"/>
              </a:rPr>
              <a:pPr/>
              <a:t>35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695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AF1EE6-E9B6-4BE9-A427-EB615700F905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4213"/>
            <a:ext cx="4573587" cy="34305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1420" tIns="45710" rIns="91420" bIns="45710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25093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2BFD97-FBF0-4FA7-B4BA-5CC64D77F29C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4213"/>
            <a:ext cx="4573587" cy="34305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1420" tIns="45710" rIns="91420" bIns="45710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66378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5177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24D72-B2D7-4304-9FFF-2618F8F6EC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9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16-Apr-18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2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16-Apr-18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0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3200"/>
            <a:ext cx="8229600" cy="1143000"/>
          </a:xfrm>
        </p:spPr>
        <p:txBody>
          <a:bodyPr/>
          <a:lstStyle/>
          <a:p>
            <a:r>
              <a:rPr lang="en-US" dirty="0"/>
              <a:t>Clustering Validation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58674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Material taken from text book (chapter 8) and from DMA book by </a:t>
            </a:r>
            <a:r>
              <a:rPr lang="en-US" dirty="0" err="1" smtClean="0"/>
              <a:t>Zaki</a:t>
            </a:r>
            <a:r>
              <a:rPr lang="en-US" dirty="0" smtClean="0"/>
              <a:t> &amp; </a:t>
            </a:r>
            <a:r>
              <a:rPr lang="en-US" dirty="0" err="1" smtClean="0"/>
              <a:t>Meira</a:t>
            </a:r>
            <a:r>
              <a:rPr lang="en-US" dirty="0" smtClean="0"/>
              <a:t> (chapter 17)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1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Unsupervised measures of Cluster Validation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05000"/>
            <a:ext cx="86868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Measuring Cluster Validity via Correlation</a:t>
            </a:r>
          </a:p>
        </p:txBody>
      </p:sp>
    </p:spTree>
    <p:extLst>
      <p:ext uri="{BB962C8B-B14F-4D97-AF65-F5344CB8AC3E}">
        <p14:creationId xmlns:p14="http://schemas.microsoft.com/office/powerpoint/2010/main" val="340111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915400" cy="5334000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en-US" sz="2800" dirty="0" smtClean="0"/>
              <a:t>Two matrices </a:t>
            </a:r>
          </a:p>
          <a:p>
            <a:pPr marL="990600" lvl="1" indent="-533400" eaLnBrk="1" hangingPunct="1">
              <a:defRPr/>
            </a:pPr>
            <a:r>
              <a:rPr lang="en-US" sz="2000" dirty="0" smtClean="0"/>
              <a:t>Proximity Matrix</a:t>
            </a:r>
          </a:p>
          <a:p>
            <a:pPr marL="990600" lvl="1" indent="-533400" eaLnBrk="1" hangingPunct="1">
              <a:defRPr/>
            </a:pPr>
            <a:r>
              <a:rPr lang="en-US" sz="2000" dirty="0" smtClean="0"/>
              <a:t>“Incidence” Matrix</a:t>
            </a:r>
          </a:p>
          <a:p>
            <a:pPr marL="1371600" lvl="2" indent="-457200" eaLnBrk="1" hangingPunct="1">
              <a:defRPr/>
            </a:pPr>
            <a:r>
              <a:rPr lang="en-US" sz="1800" dirty="0" smtClean="0"/>
              <a:t>One row and one column for each data point</a:t>
            </a:r>
          </a:p>
          <a:p>
            <a:pPr marL="1371600" lvl="2" indent="-457200" eaLnBrk="1" hangingPunct="1">
              <a:defRPr/>
            </a:pPr>
            <a:r>
              <a:rPr lang="en-US" sz="1800" dirty="0" smtClean="0"/>
              <a:t>An entry is 1 if the associated pair of points belong to the same cluster</a:t>
            </a:r>
          </a:p>
          <a:p>
            <a:pPr marL="1371600" lvl="2" indent="-457200" eaLnBrk="1" hangingPunct="1">
              <a:defRPr/>
            </a:pPr>
            <a:r>
              <a:rPr lang="en-US" sz="1800" dirty="0" smtClean="0"/>
              <a:t>An entry is 0 if the associated pair of points belongs to different clusters</a:t>
            </a:r>
          </a:p>
          <a:p>
            <a:pPr marL="533400" indent="-533400" eaLnBrk="1" hangingPunct="1">
              <a:defRPr/>
            </a:pPr>
            <a:r>
              <a:rPr lang="en-US" sz="2800" dirty="0" smtClean="0"/>
              <a:t>Compute the correlation between the two matrices</a:t>
            </a:r>
          </a:p>
          <a:p>
            <a:pPr marL="990600" lvl="1" indent="-533400" eaLnBrk="1" hangingPunct="1">
              <a:defRPr/>
            </a:pPr>
            <a:r>
              <a:rPr lang="en-US" sz="2000" dirty="0" smtClean="0"/>
              <a:t>Since the matrices are symmetric, only the correlation between </a:t>
            </a:r>
            <a:br>
              <a:rPr lang="en-US" sz="2000" dirty="0" smtClean="0"/>
            </a:br>
            <a:r>
              <a:rPr lang="en-US" sz="2000" dirty="0" smtClean="0"/>
              <a:t>n(n-1) / 2 entries needs to be calculated.</a:t>
            </a:r>
          </a:p>
          <a:p>
            <a:pPr marL="533400" indent="-533400" eaLnBrk="1" hangingPunct="1">
              <a:defRPr/>
            </a:pPr>
            <a:r>
              <a:rPr lang="en-US" sz="2800" dirty="0" smtClean="0"/>
              <a:t>High correlation indicates that points that belong to the same cluster are close to each other. </a:t>
            </a:r>
          </a:p>
          <a:p>
            <a:pPr marL="533400" indent="-533400" eaLnBrk="1" hangingPunct="1">
              <a:defRPr/>
            </a:pPr>
            <a:r>
              <a:rPr lang="en-US" sz="2800" dirty="0" smtClean="0"/>
              <a:t>Not a good measure for some density or contiguity based clusters.</a:t>
            </a:r>
            <a:endParaRPr lang="en-US" sz="2400" dirty="0" smtClean="0"/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Measuring Cluster Validity Via Correlation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7299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Correlation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Correlation measures the linear relationship between objects</a:t>
            </a:r>
          </a:p>
          <a:p>
            <a:pPr eaLnBrk="1" hangingPunct="1"/>
            <a:r>
              <a:rPr lang="en-US" altLang="en-US" smtClean="0">
                <a:effectLst/>
              </a:rPr>
              <a:t>To compute correlation, we standardize data objects, p and q, and then take their dot product</a:t>
            </a:r>
          </a:p>
        </p:txBody>
      </p:sp>
      <p:grpSp>
        <p:nvGrpSpPr>
          <p:cNvPr id="19460" name="Group 8"/>
          <p:cNvGrpSpPr>
            <a:grpSpLocks noChangeAspect="1"/>
          </p:cNvGrpSpPr>
          <p:nvPr/>
        </p:nvGrpSpPr>
        <p:grpSpPr bwMode="auto">
          <a:xfrm>
            <a:off x="1600200" y="3633788"/>
            <a:ext cx="5511800" cy="709612"/>
            <a:chOff x="1008" y="2289"/>
            <a:chExt cx="3472" cy="447"/>
          </a:xfrm>
        </p:grpSpPr>
        <p:sp>
          <p:nvSpPr>
            <p:cNvPr id="19495" name="AutoShape 7"/>
            <p:cNvSpPr>
              <a:spLocks noChangeAspect="1" noChangeArrowheads="1" noTextEdit="1"/>
            </p:cNvSpPr>
            <p:nvPr/>
          </p:nvSpPr>
          <p:spPr bwMode="auto">
            <a:xfrm>
              <a:off x="1008" y="2304"/>
              <a:ext cx="3472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Rectangle 9"/>
            <p:cNvSpPr>
              <a:spLocks noChangeArrowheads="1"/>
            </p:cNvSpPr>
            <p:nvPr/>
          </p:nvSpPr>
          <p:spPr bwMode="auto">
            <a:xfrm>
              <a:off x="4333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9497" name="Rectangle 10"/>
            <p:cNvSpPr>
              <a:spLocks noChangeArrowheads="1"/>
            </p:cNvSpPr>
            <p:nvPr/>
          </p:nvSpPr>
          <p:spPr bwMode="auto">
            <a:xfrm>
              <a:off x="4038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98" name="Rectangle 11"/>
            <p:cNvSpPr>
              <a:spLocks noChangeArrowheads="1"/>
            </p:cNvSpPr>
            <p:nvPr/>
          </p:nvSpPr>
          <p:spPr bwMode="auto">
            <a:xfrm>
              <a:off x="3542" y="2335"/>
              <a:ext cx="8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/</a:t>
              </a:r>
              <a:endParaRPr lang="en-US" altLang="en-US" sz="1800"/>
            </a:p>
          </p:txBody>
        </p:sp>
        <p:sp>
          <p:nvSpPr>
            <p:cNvPr id="19499" name="Rectangle 12"/>
            <p:cNvSpPr>
              <a:spLocks noChangeArrowheads="1"/>
            </p:cNvSpPr>
            <p:nvPr/>
          </p:nvSpPr>
          <p:spPr bwMode="auto">
            <a:xfrm>
              <a:off x="3306" y="2335"/>
              <a:ext cx="19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))</a:t>
              </a:r>
              <a:endParaRPr lang="en-US" altLang="en-US" sz="1800"/>
            </a:p>
          </p:txBody>
        </p:sp>
        <p:sp>
          <p:nvSpPr>
            <p:cNvPr id="19500" name="Rectangle 13"/>
            <p:cNvSpPr>
              <a:spLocks noChangeArrowheads="1"/>
            </p:cNvSpPr>
            <p:nvPr/>
          </p:nvSpPr>
          <p:spPr bwMode="auto">
            <a:xfrm>
              <a:off x="3010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501" name="Rectangle 14"/>
            <p:cNvSpPr>
              <a:spLocks noChangeArrowheads="1"/>
            </p:cNvSpPr>
            <p:nvPr/>
          </p:nvSpPr>
          <p:spPr bwMode="auto">
            <a:xfrm>
              <a:off x="1661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502" name="Rectangle 15"/>
            <p:cNvSpPr>
              <a:spLocks noChangeArrowheads="1"/>
            </p:cNvSpPr>
            <p:nvPr/>
          </p:nvSpPr>
          <p:spPr bwMode="auto">
            <a:xfrm>
              <a:off x="4182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3" name="Rectangle 16"/>
            <p:cNvSpPr>
              <a:spLocks noChangeArrowheads="1"/>
            </p:cNvSpPr>
            <p:nvPr/>
          </p:nvSpPr>
          <p:spPr bwMode="auto">
            <a:xfrm>
              <a:off x="3677" y="2335"/>
              <a:ext cx="33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std</a:t>
              </a:r>
              <a:endParaRPr lang="en-US" altLang="en-US" sz="1800"/>
            </a:p>
          </p:txBody>
        </p:sp>
        <p:sp>
          <p:nvSpPr>
            <p:cNvPr id="19504" name="Rectangle 17"/>
            <p:cNvSpPr>
              <a:spLocks noChangeArrowheads="1"/>
            </p:cNvSpPr>
            <p:nvPr/>
          </p:nvSpPr>
          <p:spPr bwMode="auto">
            <a:xfrm>
              <a:off x="3155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5" name="Rectangle 18"/>
            <p:cNvSpPr>
              <a:spLocks noChangeArrowheads="1"/>
            </p:cNvSpPr>
            <p:nvPr/>
          </p:nvSpPr>
          <p:spPr bwMode="auto">
            <a:xfrm>
              <a:off x="2356" y="2335"/>
              <a:ext cx="65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mean</a:t>
              </a:r>
              <a:endParaRPr lang="en-US" altLang="en-US" sz="1800"/>
            </a:p>
          </p:txBody>
        </p:sp>
        <p:sp>
          <p:nvSpPr>
            <p:cNvPr id="19506" name="Rectangle 19"/>
            <p:cNvSpPr>
              <a:spLocks noChangeArrowheads="1"/>
            </p:cNvSpPr>
            <p:nvPr/>
          </p:nvSpPr>
          <p:spPr bwMode="auto">
            <a:xfrm>
              <a:off x="1806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7" name="Rectangle 20"/>
            <p:cNvSpPr>
              <a:spLocks noChangeArrowheads="1"/>
            </p:cNvSpPr>
            <p:nvPr/>
          </p:nvSpPr>
          <p:spPr bwMode="auto">
            <a:xfrm>
              <a:off x="1088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8" name="Rectangle 21"/>
            <p:cNvSpPr>
              <a:spLocks noChangeArrowheads="1"/>
            </p:cNvSpPr>
            <p:nvPr/>
          </p:nvSpPr>
          <p:spPr bwMode="auto">
            <a:xfrm>
              <a:off x="1945" y="2471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509" name="Rectangle 22"/>
            <p:cNvSpPr>
              <a:spLocks noChangeArrowheads="1"/>
            </p:cNvSpPr>
            <p:nvPr/>
          </p:nvSpPr>
          <p:spPr bwMode="auto">
            <a:xfrm>
              <a:off x="1227" y="2471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510" name="Rectangle 23"/>
            <p:cNvSpPr>
              <a:spLocks noChangeArrowheads="1"/>
            </p:cNvSpPr>
            <p:nvPr/>
          </p:nvSpPr>
          <p:spPr bwMode="auto">
            <a:xfrm>
              <a:off x="2141" y="2302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9511" name="Rectangle 24"/>
            <p:cNvSpPr>
              <a:spLocks noChangeArrowheads="1"/>
            </p:cNvSpPr>
            <p:nvPr/>
          </p:nvSpPr>
          <p:spPr bwMode="auto">
            <a:xfrm>
              <a:off x="1438" y="2302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9512" name="Rectangle 25"/>
            <p:cNvSpPr>
              <a:spLocks noChangeArrowheads="1"/>
            </p:cNvSpPr>
            <p:nvPr/>
          </p:nvSpPr>
          <p:spPr bwMode="auto">
            <a:xfrm>
              <a:off x="1232" y="2289"/>
              <a:ext cx="7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</p:grpSp>
      <p:grpSp>
        <p:nvGrpSpPr>
          <p:cNvPr id="19461" name="Group 27"/>
          <p:cNvGrpSpPr>
            <a:grpSpLocks noChangeAspect="1"/>
          </p:cNvGrpSpPr>
          <p:nvPr/>
        </p:nvGrpSpPr>
        <p:grpSpPr bwMode="auto">
          <a:xfrm>
            <a:off x="1676400" y="4243388"/>
            <a:ext cx="5256213" cy="711200"/>
            <a:chOff x="1056" y="2673"/>
            <a:chExt cx="3311" cy="448"/>
          </a:xfrm>
        </p:grpSpPr>
        <p:sp>
          <p:nvSpPr>
            <p:cNvPr id="19477" name="AutoShape 26"/>
            <p:cNvSpPr>
              <a:spLocks noChangeAspect="1" noChangeArrowheads="1" noTextEdit="1"/>
            </p:cNvSpPr>
            <p:nvPr/>
          </p:nvSpPr>
          <p:spPr bwMode="auto">
            <a:xfrm>
              <a:off x="1056" y="2688"/>
              <a:ext cx="3311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Rectangle 28"/>
            <p:cNvSpPr>
              <a:spLocks noChangeArrowheads="1"/>
            </p:cNvSpPr>
            <p:nvPr/>
          </p:nvSpPr>
          <p:spPr bwMode="auto">
            <a:xfrm>
              <a:off x="4229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9479" name="Rectangle 29"/>
            <p:cNvSpPr>
              <a:spLocks noChangeArrowheads="1"/>
            </p:cNvSpPr>
            <p:nvPr/>
          </p:nvSpPr>
          <p:spPr bwMode="auto">
            <a:xfrm>
              <a:off x="3973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80" name="Rectangle 30"/>
            <p:cNvSpPr>
              <a:spLocks noChangeArrowheads="1"/>
            </p:cNvSpPr>
            <p:nvPr/>
          </p:nvSpPr>
          <p:spPr bwMode="auto">
            <a:xfrm>
              <a:off x="3476" y="2720"/>
              <a:ext cx="8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/</a:t>
              </a:r>
              <a:endParaRPr lang="en-US" altLang="en-US" sz="1800"/>
            </a:p>
          </p:txBody>
        </p:sp>
        <p:sp>
          <p:nvSpPr>
            <p:cNvPr id="19481" name="Rectangle 31"/>
            <p:cNvSpPr>
              <a:spLocks noChangeArrowheads="1"/>
            </p:cNvSpPr>
            <p:nvPr/>
          </p:nvSpPr>
          <p:spPr bwMode="auto">
            <a:xfrm>
              <a:off x="3239" y="2720"/>
              <a:ext cx="19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))</a:t>
              </a:r>
              <a:endParaRPr lang="en-US" altLang="en-US" sz="1800"/>
            </a:p>
          </p:txBody>
        </p:sp>
        <p:sp>
          <p:nvSpPr>
            <p:cNvPr id="19482" name="Rectangle 32"/>
            <p:cNvSpPr>
              <a:spLocks noChangeArrowheads="1"/>
            </p:cNvSpPr>
            <p:nvPr/>
          </p:nvSpPr>
          <p:spPr bwMode="auto">
            <a:xfrm>
              <a:off x="2983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83" name="Rectangle 33"/>
            <p:cNvSpPr>
              <a:spLocks noChangeArrowheads="1"/>
            </p:cNvSpPr>
            <p:nvPr/>
          </p:nvSpPr>
          <p:spPr bwMode="auto">
            <a:xfrm>
              <a:off x="1671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84" name="Rectangle 34"/>
            <p:cNvSpPr>
              <a:spLocks noChangeArrowheads="1"/>
            </p:cNvSpPr>
            <p:nvPr/>
          </p:nvSpPr>
          <p:spPr bwMode="auto">
            <a:xfrm>
              <a:off x="4078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85" name="Rectangle 35"/>
            <p:cNvSpPr>
              <a:spLocks noChangeArrowheads="1"/>
            </p:cNvSpPr>
            <p:nvPr/>
          </p:nvSpPr>
          <p:spPr bwMode="auto">
            <a:xfrm>
              <a:off x="3611" y="2720"/>
              <a:ext cx="33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std</a:t>
              </a:r>
              <a:endParaRPr lang="en-US" altLang="en-US" sz="1800"/>
            </a:p>
          </p:txBody>
        </p:sp>
        <p:sp>
          <p:nvSpPr>
            <p:cNvPr id="19486" name="Rectangle 36"/>
            <p:cNvSpPr>
              <a:spLocks noChangeArrowheads="1"/>
            </p:cNvSpPr>
            <p:nvPr/>
          </p:nvSpPr>
          <p:spPr bwMode="auto">
            <a:xfrm>
              <a:off x="3088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87" name="Rectangle 37"/>
            <p:cNvSpPr>
              <a:spLocks noChangeArrowheads="1"/>
            </p:cNvSpPr>
            <p:nvPr/>
          </p:nvSpPr>
          <p:spPr bwMode="auto">
            <a:xfrm>
              <a:off x="2327" y="2720"/>
              <a:ext cx="65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mean</a:t>
              </a:r>
              <a:endParaRPr lang="en-US" altLang="en-US" sz="1800"/>
            </a:p>
          </p:txBody>
        </p:sp>
        <p:sp>
          <p:nvSpPr>
            <p:cNvPr id="19488" name="Rectangle 38"/>
            <p:cNvSpPr>
              <a:spLocks noChangeArrowheads="1"/>
            </p:cNvSpPr>
            <p:nvPr/>
          </p:nvSpPr>
          <p:spPr bwMode="auto">
            <a:xfrm>
              <a:off x="1776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89" name="Rectangle 39"/>
            <p:cNvSpPr>
              <a:spLocks noChangeArrowheads="1"/>
            </p:cNvSpPr>
            <p:nvPr/>
          </p:nvSpPr>
          <p:spPr bwMode="auto">
            <a:xfrm>
              <a:off x="1096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90" name="Rectangle 40"/>
            <p:cNvSpPr>
              <a:spLocks noChangeArrowheads="1"/>
            </p:cNvSpPr>
            <p:nvPr/>
          </p:nvSpPr>
          <p:spPr bwMode="auto">
            <a:xfrm>
              <a:off x="1915" y="2856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491" name="Rectangle 41"/>
            <p:cNvSpPr>
              <a:spLocks noChangeArrowheads="1"/>
            </p:cNvSpPr>
            <p:nvPr/>
          </p:nvSpPr>
          <p:spPr bwMode="auto">
            <a:xfrm>
              <a:off x="1236" y="2856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492" name="Rectangle 42"/>
            <p:cNvSpPr>
              <a:spLocks noChangeArrowheads="1"/>
            </p:cNvSpPr>
            <p:nvPr/>
          </p:nvSpPr>
          <p:spPr bwMode="auto">
            <a:xfrm>
              <a:off x="2112" y="2687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9493" name="Rectangle 43"/>
            <p:cNvSpPr>
              <a:spLocks noChangeArrowheads="1"/>
            </p:cNvSpPr>
            <p:nvPr/>
          </p:nvSpPr>
          <p:spPr bwMode="auto">
            <a:xfrm>
              <a:off x="1447" y="2687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9494" name="Rectangle 44"/>
            <p:cNvSpPr>
              <a:spLocks noChangeArrowheads="1"/>
            </p:cNvSpPr>
            <p:nvPr/>
          </p:nvSpPr>
          <p:spPr bwMode="auto">
            <a:xfrm>
              <a:off x="1241" y="2673"/>
              <a:ext cx="7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</p:grpSp>
      <p:grpSp>
        <p:nvGrpSpPr>
          <p:cNvPr id="19462" name="Group 46"/>
          <p:cNvGrpSpPr>
            <a:grpSpLocks noChangeAspect="1"/>
          </p:cNvGrpSpPr>
          <p:nvPr/>
        </p:nvGrpSpPr>
        <p:grpSpPr bwMode="auto">
          <a:xfrm>
            <a:off x="1752600" y="5040313"/>
            <a:ext cx="4643438" cy="660400"/>
            <a:chOff x="1104" y="3175"/>
            <a:chExt cx="2925" cy="416"/>
          </a:xfrm>
        </p:grpSpPr>
        <p:sp>
          <p:nvSpPr>
            <p:cNvPr id="19463" name="AutoShape 45"/>
            <p:cNvSpPr>
              <a:spLocks noChangeAspect="1" noChangeArrowheads="1" noTextEdit="1"/>
            </p:cNvSpPr>
            <p:nvPr/>
          </p:nvSpPr>
          <p:spPr bwMode="auto">
            <a:xfrm>
              <a:off x="1104" y="3216"/>
              <a:ext cx="2925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Rectangle 47"/>
            <p:cNvSpPr>
              <a:spLocks noChangeArrowheads="1"/>
            </p:cNvSpPr>
            <p:nvPr/>
          </p:nvSpPr>
          <p:spPr bwMode="auto">
            <a:xfrm>
              <a:off x="3775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65" name="Rectangle 48"/>
            <p:cNvSpPr>
              <a:spLocks noChangeArrowheads="1"/>
            </p:cNvSpPr>
            <p:nvPr/>
          </p:nvSpPr>
          <p:spPr bwMode="auto">
            <a:xfrm>
              <a:off x="3358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466" name="Rectangle 49"/>
            <p:cNvSpPr>
              <a:spLocks noChangeArrowheads="1"/>
            </p:cNvSpPr>
            <p:nvPr/>
          </p:nvSpPr>
          <p:spPr bwMode="auto">
            <a:xfrm>
              <a:off x="2796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67" name="Rectangle 50"/>
            <p:cNvSpPr>
              <a:spLocks noChangeArrowheads="1"/>
            </p:cNvSpPr>
            <p:nvPr/>
          </p:nvSpPr>
          <p:spPr bwMode="auto">
            <a:xfrm>
              <a:off x="2546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468" name="Rectangle 51"/>
            <p:cNvSpPr>
              <a:spLocks noChangeArrowheads="1"/>
            </p:cNvSpPr>
            <p:nvPr/>
          </p:nvSpPr>
          <p:spPr bwMode="auto">
            <a:xfrm>
              <a:off x="2265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n</a:t>
              </a:r>
              <a:endParaRPr lang="en-US" altLang="en-US" sz="1800"/>
            </a:p>
          </p:txBody>
        </p:sp>
        <p:sp>
          <p:nvSpPr>
            <p:cNvPr id="19469" name="Rectangle 52"/>
            <p:cNvSpPr>
              <a:spLocks noChangeArrowheads="1"/>
            </p:cNvSpPr>
            <p:nvPr/>
          </p:nvSpPr>
          <p:spPr bwMode="auto">
            <a:xfrm>
              <a:off x="1142" y="3224"/>
              <a:ext cx="112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correlatio</a:t>
              </a:r>
              <a:endParaRPr lang="en-US" altLang="en-US" sz="1800"/>
            </a:p>
          </p:txBody>
        </p:sp>
        <p:sp>
          <p:nvSpPr>
            <p:cNvPr id="19470" name="Rectangle 53"/>
            <p:cNvSpPr>
              <a:spLocks noChangeArrowheads="1"/>
            </p:cNvSpPr>
            <p:nvPr/>
          </p:nvSpPr>
          <p:spPr bwMode="auto">
            <a:xfrm>
              <a:off x="3919" y="3175"/>
              <a:ext cx="69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  <p:sp>
          <p:nvSpPr>
            <p:cNvPr id="19471" name="Rectangle 54"/>
            <p:cNvSpPr>
              <a:spLocks noChangeArrowheads="1"/>
            </p:cNvSpPr>
            <p:nvPr/>
          </p:nvSpPr>
          <p:spPr bwMode="auto">
            <a:xfrm>
              <a:off x="3603" y="3191"/>
              <a:ext cx="129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·</a:t>
              </a:r>
              <a:endParaRPr lang="en-US" altLang="en-US" sz="1800"/>
            </a:p>
          </p:txBody>
        </p:sp>
        <p:sp>
          <p:nvSpPr>
            <p:cNvPr id="19472" name="Rectangle 55"/>
            <p:cNvSpPr>
              <a:spLocks noChangeArrowheads="1"/>
            </p:cNvSpPr>
            <p:nvPr/>
          </p:nvSpPr>
          <p:spPr bwMode="auto">
            <a:xfrm>
              <a:off x="3503" y="3175"/>
              <a:ext cx="69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  <p:sp>
          <p:nvSpPr>
            <p:cNvPr id="19473" name="Rectangle 56"/>
            <p:cNvSpPr>
              <a:spLocks noChangeArrowheads="1"/>
            </p:cNvSpPr>
            <p:nvPr/>
          </p:nvSpPr>
          <p:spPr bwMode="auto">
            <a:xfrm>
              <a:off x="3103" y="3191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9474" name="Rectangle 57"/>
            <p:cNvSpPr>
              <a:spLocks noChangeArrowheads="1"/>
            </p:cNvSpPr>
            <p:nvPr/>
          </p:nvSpPr>
          <p:spPr bwMode="auto">
            <a:xfrm>
              <a:off x="2945" y="3224"/>
              <a:ext cx="9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9475" name="Rectangle 58"/>
            <p:cNvSpPr>
              <a:spLocks noChangeArrowheads="1"/>
            </p:cNvSpPr>
            <p:nvPr/>
          </p:nvSpPr>
          <p:spPr bwMode="auto">
            <a:xfrm>
              <a:off x="2691" y="3224"/>
              <a:ext cx="7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Times New Roman" panose="02020603050405020304" pitchFamily="18" charset="0"/>
                </a:rPr>
                <a:t>,</a:t>
              </a:r>
              <a:endParaRPr lang="en-US" altLang="en-US" sz="1800"/>
            </a:p>
          </p:txBody>
        </p:sp>
        <p:sp>
          <p:nvSpPr>
            <p:cNvPr id="19476" name="Rectangle 59"/>
            <p:cNvSpPr>
              <a:spLocks noChangeArrowheads="1"/>
            </p:cNvSpPr>
            <p:nvPr/>
          </p:nvSpPr>
          <p:spPr bwMode="auto">
            <a:xfrm>
              <a:off x="2410" y="3224"/>
              <a:ext cx="9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0210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Measuring Cluster Validity Via Correlation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Correlation of incidence and proximity matrices for the K-means </a:t>
            </a:r>
            <a:r>
              <a:rPr lang="en-US" dirty="0" err="1" smtClean="0"/>
              <a:t>clusterings</a:t>
            </a:r>
            <a:r>
              <a:rPr lang="en-US" dirty="0" smtClean="0"/>
              <a:t> of the following two data sets. </a:t>
            </a:r>
          </a:p>
          <a:p>
            <a:pPr eaLnBrk="1" hangingPunct="1">
              <a:defRPr/>
            </a:pPr>
            <a:endParaRPr lang="en-US" dirty="0" smtClean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76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276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143000" y="61722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Corr = -0.9235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5029200" y="61722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Corr = -0.5810</a:t>
            </a:r>
          </a:p>
        </p:txBody>
      </p:sp>
    </p:spTree>
    <p:extLst>
      <p:ext uri="{BB962C8B-B14F-4D97-AF65-F5344CB8AC3E}">
        <p14:creationId xmlns:p14="http://schemas.microsoft.com/office/powerpoint/2010/main" val="23161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smtClean="0"/>
              <a:t>Order the similarity matrix with respect to cluster labels and inspect visually. </a:t>
            </a:r>
          </a:p>
          <a:p>
            <a:pPr eaLnBrk="1" hangingPunct="1">
              <a:defRPr/>
            </a:pPr>
            <a:endParaRPr lang="en-US" sz="3000" smtClean="0"/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86868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6413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48000"/>
            <a:ext cx="4268788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623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Clusters in random data are not so crisp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908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3276600" y="57912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DBSCAN</a:t>
            </a:r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5908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94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95563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98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sp>
        <p:nvSpPr>
          <p:cNvPr id="55398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Clusters in random data are not so crisp</a:t>
            </a:r>
          </a:p>
          <a:p>
            <a:pPr eaLnBrk="1" hangingPunct="1">
              <a:defRPr/>
            </a:pPr>
            <a:endParaRPr lang="en-US" smtClean="0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352800" y="57150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K-means</a:t>
            </a:r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908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702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Clusters in random data are not so crisp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95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95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3429000" y="59436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Complete Link</a:t>
            </a:r>
          </a:p>
        </p:txBody>
      </p:sp>
    </p:spTree>
    <p:extLst>
      <p:ext uri="{BB962C8B-B14F-4D97-AF65-F5344CB8AC3E}">
        <p14:creationId xmlns:p14="http://schemas.microsoft.com/office/powerpoint/2010/main" val="401555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  <a:endParaRPr lang="en-US" smtClean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388938" y="2362200"/>
            <a:ext cx="48006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429000" y="56388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DBSCAN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738" y="2057400"/>
            <a:ext cx="4259262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470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012" y="2142808"/>
            <a:ext cx="6045976" cy="257238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52600" y="1600200"/>
            <a:ext cx="3861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Arial" panose="020B0604020202020204" pitchFamily="34" charset="0"/>
              </a:rPr>
              <a:t>Cophenetic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Distance </a:t>
            </a:r>
            <a:r>
              <a:rPr lang="en-US" dirty="0" smtClean="0">
                <a:latin typeface="Arial" panose="020B0604020202020204" pitchFamily="34" charset="0"/>
              </a:rPr>
              <a:t>Matrix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81000"/>
            <a:ext cx="7195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</a:rPr>
              <a:t>CoPhenetic</a:t>
            </a:r>
            <a:r>
              <a:rPr lang="en-US" dirty="0">
                <a:latin typeface="Arial" panose="020B0604020202020204" pitchFamily="34" charset="0"/>
              </a:rPr>
              <a:t> Correlation Coefficient </a:t>
            </a:r>
            <a:r>
              <a:rPr lang="en-US" dirty="0" smtClean="0">
                <a:latin typeface="Arial" panose="020B0604020202020204" pitchFamily="34" charset="0"/>
              </a:rPr>
              <a:t>: Hierarchical Clustering Measure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3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89154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smtClean="0"/>
              <a:t>Clusters in more complicated figures aren’t well separated</a:t>
            </a:r>
          </a:p>
          <a:p>
            <a:pPr eaLnBrk="1" hangingPunct="1">
              <a:defRPr/>
            </a:pPr>
            <a:r>
              <a:rPr lang="en-US" sz="2400" smtClean="0"/>
              <a:t>Internal Index:  Used to measure the goodness of a clustering structure without respect to external information</a:t>
            </a:r>
          </a:p>
          <a:p>
            <a:pPr lvl="1" eaLnBrk="1" hangingPunct="1">
              <a:defRPr/>
            </a:pPr>
            <a:r>
              <a:rPr lang="en-US" sz="2400" smtClean="0"/>
              <a:t>SSE</a:t>
            </a:r>
          </a:p>
          <a:p>
            <a:pPr eaLnBrk="1" hangingPunct="1">
              <a:defRPr/>
            </a:pPr>
            <a:r>
              <a:rPr lang="en-US" sz="2400" smtClean="0"/>
              <a:t>SSE is good for comparing two clusterings or two clusters (average SSE).</a:t>
            </a:r>
          </a:p>
          <a:p>
            <a:pPr eaLnBrk="1" hangingPunct="1">
              <a:defRPr/>
            </a:pPr>
            <a:r>
              <a:rPr lang="en-US" sz="2400" smtClean="0"/>
              <a:t>Can also be used to estimate the number of clusters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smtClean="0"/>
          </a:p>
          <a:p>
            <a:pPr eaLnBrk="1" hangingPunct="1">
              <a:defRPr/>
            </a:pPr>
            <a:endParaRPr lang="en-US" sz="2400" smtClean="0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Internal Measures: SSE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4724400" y="4165600"/>
            <a:ext cx="365601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609600" y="4191000"/>
            <a:ext cx="36560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55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Internal Measures: SSE</a:t>
            </a: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SSE curve for a more complicated data set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533400" y="2528888"/>
            <a:ext cx="4343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4495800" y="5424488"/>
            <a:ext cx="426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SSE of clusters found using K-means</a:t>
            </a:r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147888"/>
            <a:ext cx="4259263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651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8458200" cy="8382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Inverse Scree Test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457200" y="1905000"/>
            <a:ext cx="2743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/>
              <a:t>It is a plot with number of clusters on x-axis and agglomeration level on y-axis</a:t>
            </a:r>
          </a:p>
          <a:p>
            <a:pPr eaLnBrk="1" hangingPunct="1"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/>
              <a:t>Look for sharp increase – elbow knick</a:t>
            </a:r>
          </a:p>
        </p:txBody>
      </p:sp>
      <p:graphicFrame>
        <p:nvGraphicFramePr>
          <p:cNvPr id="34820" name="Object 4"/>
          <p:cNvGraphicFramePr>
            <a:graphicFrameLocks/>
          </p:cNvGraphicFramePr>
          <p:nvPr/>
        </p:nvGraphicFramePr>
        <p:xfrm>
          <a:off x="3200400" y="1895475"/>
          <a:ext cx="5508625" cy="436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5" name="Bitmap Image" r:id="rId4" imgW="5495238" imgH="4352381" progId="Paint.Picture">
                  <p:embed/>
                </p:oleObj>
              </mc:Choice>
              <mc:Fallback>
                <p:oleObj name="Bitmap Image" r:id="rId4" imgW="5495238" imgH="4352381" progId="Paint.Picture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895475"/>
                        <a:ext cx="5508625" cy="436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581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Supervised/External measures of Cluster Validation</a:t>
            </a:r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05000"/>
            <a:ext cx="86868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Classification Oriented</a:t>
            </a:r>
          </a:p>
          <a:p>
            <a:pPr lvl="1" eaLnBrk="1" hangingPunct="1">
              <a:defRPr/>
            </a:pPr>
            <a:r>
              <a:rPr lang="en-US" dirty="0" smtClean="0"/>
              <a:t>Entropy, Purity, Precision, Recall and F-measure</a:t>
            </a:r>
          </a:p>
          <a:p>
            <a:pPr eaLnBrk="1" hangingPunct="1">
              <a:defRPr/>
            </a:pPr>
            <a:r>
              <a:rPr lang="en-US" dirty="0" smtClean="0"/>
              <a:t>Similarity Oriented</a:t>
            </a:r>
          </a:p>
          <a:p>
            <a:pPr lvl="1" eaLnBrk="1" hangingPunct="1">
              <a:defRPr/>
            </a:pPr>
            <a:r>
              <a:rPr lang="en-US" dirty="0" smtClean="0"/>
              <a:t>Involves comparison of two matrices</a:t>
            </a:r>
          </a:p>
          <a:p>
            <a:pPr lvl="2" eaLnBrk="1" hangingPunct="1">
              <a:defRPr/>
            </a:pPr>
            <a:r>
              <a:rPr lang="en-US" dirty="0" smtClean="0"/>
              <a:t>Ideal Cluster Similarity Matrix</a:t>
            </a:r>
          </a:p>
          <a:p>
            <a:pPr lvl="2" eaLnBrk="1" hangingPunct="1">
              <a:defRPr/>
            </a:pPr>
            <a:r>
              <a:rPr lang="en-US" dirty="0" smtClean="0"/>
              <a:t>Ideal Class Similarity Matrix</a:t>
            </a:r>
          </a:p>
        </p:txBody>
      </p:sp>
    </p:spTree>
    <p:extLst>
      <p:ext uri="{BB962C8B-B14F-4D97-AF65-F5344CB8AC3E}">
        <p14:creationId xmlns:p14="http://schemas.microsoft.com/office/powerpoint/2010/main" val="12327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900" smtClean="0"/>
              <a:t>External Measures of Cluster Validity: Entropy and Purity</a:t>
            </a: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685800" y="1600200"/>
          <a:ext cx="775335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9" name="Bitmap Image" r:id="rId4" imgW="9304826" imgH="6119390" progId="Paint.Picture">
                  <p:embed/>
                </p:oleObj>
              </mc:Choice>
              <mc:Fallback>
                <p:oleObj name="Bitmap Image" r:id="rId4" imgW="9304826" imgH="611939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864"/>
                      <a:stretch>
                        <a:fillRect/>
                      </a:stretch>
                    </p:blipFill>
                    <p:spPr bwMode="auto">
                      <a:xfrm>
                        <a:off x="685800" y="1600200"/>
                        <a:ext cx="775335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76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0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81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04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2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0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897" y="5721531"/>
            <a:ext cx="795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Larger the purity of C, the better the agreement with the ground truth</a:t>
            </a:r>
          </a:p>
          <a:p>
            <a:r>
              <a:rPr lang="en-US" dirty="0" smtClean="0"/>
              <a:t>Max. value of purity is 1. </a:t>
            </a:r>
          </a:p>
        </p:txBody>
      </p:sp>
    </p:spTree>
    <p:extLst>
      <p:ext uri="{BB962C8B-B14F-4D97-AF65-F5344CB8AC3E}">
        <p14:creationId xmlns:p14="http://schemas.microsoft.com/office/powerpoint/2010/main" val="203933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06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8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0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0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08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" y="-22860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09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1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17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1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67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14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30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1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35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16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03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18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45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7_Page_19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1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304800"/>
            <a:ext cx="701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</a:rPr>
              <a:t>Correlation </a:t>
            </a:r>
            <a:r>
              <a:rPr lang="en-US" sz="2400" dirty="0">
                <a:latin typeface="Arial" panose="020B0604020202020204" pitchFamily="34" charset="0"/>
              </a:rPr>
              <a:t>between Cluster and Class </a:t>
            </a:r>
            <a:r>
              <a:rPr lang="en-US" sz="2400" dirty="0" smtClean="0">
                <a:latin typeface="Arial" panose="020B0604020202020204" pitchFamily="34" charset="0"/>
              </a:rPr>
              <a:t>Matrices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49" y="1600200"/>
            <a:ext cx="7452901" cy="291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24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533400" indent="-533400"/>
            <a:r>
              <a:rPr lang="en-US" altLang="en-US" sz="2400"/>
              <a:t>Need a framework to interpret any measure. </a:t>
            </a:r>
          </a:p>
          <a:p>
            <a:pPr marL="990600" lvl="1" indent="-533400"/>
            <a:r>
              <a:rPr lang="en-US" altLang="en-US" sz="1800"/>
              <a:t>For example, if our measure of evaluation has the value, 10, is that good, fair, or poor?</a:t>
            </a:r>
          </a:p>
          <a:p>
            <a:pPr marL="533400" indent="-533400"/>
            <a:r>
              <a:rPr lang="en-US" altLang="en-US" sz="2400"/>
              <a:t>Statistics provide a framework for cluster validity</a:t>
            </a:r>
          </a:p>
          <a:p>
            <a:pPr marL="990600" lvl="1" indent="-533400"/>
            <a:r>
              <a:rPr lang="en-US" altLang="en-US" sz="1800"/>
              <a:t>The more “atypical” a clustering result is, the more likely it represents valid structure in the data</a:t>
            </a:r>
          </a:p>
          <a:p>
            <a:pPr marL="990600" lvl="1" indent="-533400"/>
            <a:r>
              <a:rPr lang="en-US" altLang="en-US" sz="1800"/>
              <a:t>Can compare the values of an index that result from random data or clusterings to those of a clustering result.</a:t>
            </a:r>
          </a:p>
          <a:p>
            <a:pPr marL="1371600" lvl="2" indent="-457200"/>
            <a:r>
              <a:rPr lang="en-US" altLang="en-US" sz="1600"/>
              <a:t>If the value of the index is unlikely, then the cluster results are valid</a:t>
            </a:r>
          </a:p>
          <a:p>
            <a:pPr marL="990600" lvl="1" indent="-533400"/>
            <a:r>
              <a:rPr lang="en-US" altLang="en-US" sz="1800"/>
              <a:t>These approaches are more complicated and harder to understand.</a:t>
            </a:r>
          </a:p>
          <a:p>
            <a:pPr marL="533400" indent="-533400"/>
            <a:r>
              <a:rPr lang="en-US" altLang="en-US" sz="2400"/>
              <a:t>For comparing the results of two different sets of cluster analyses, a framework is less necessary.</a:t>
            </a:r>
          </a:p>
          <a:p>
            <a:pPr marL="990600" lvl="1" indent="-533400"/>
            <a:r>
              <a:rPr lang="en-US" altLang="en-US" sz="1800"/>
              <a:t>However, there is the question of whether the difference between two index values is significant</a:t>
            </a:r>
          </a:p>
          <a:p>
            <a:pPr marL="533400" indent="-533400"/>
            <a:endParaRPr lang="en-US" altLang="en-US" sz="2000"/>
          </a:p>
        </p:txBody>
      </p:sp>
      <p:sp>
        <p:nvSpPr>
          <p:cNvPr id="167014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 sz="2800" dirty="0"/>
              <a:t>Framework for Cluster Validity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682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/>
            <a:r>
              <a:rPr lang="en-US" altLang="en-US" sz="3200"/>
              <a:t>Example</a:t>
            </a:r>
          </a:p>
          <a:p>
            <a:pPr marL="742950" lvl="1" indent="-285750"/>
            <a:r>
              <a:rPr lang="en-US" altLang="en-US" sz="2000"/>
              <a:t>Compare SSE of 0.005 against three clusters in random data</a:t>
            </a:r>
          </a:p>
          <a:p>
            <a:pPr marL="742950" lvl="1" indent="-285750"/>
            <a:r>
              <a:rPr lang="en-US" altLang="en-US" sz="2000"/>
              <a:t>Histogram shows SSE of three clusters in 500 sets of random data points of size 100 distributed over the range 0.2 – 0.8 for x and y values</a:t>
            </a:r>
          </a:p>
          <a:p>
            <a:pPr marL="742950" lvl="1" indent="-285750"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16711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Statistical Framework for SSE</a:t>
            </a:r>
            <a:endParaRPr lang="en-US" altLang="en-US"/>
          </a:p>
        </p:txBody>
      </p:sp>
      <p:grpSp>
        <p:nvGrpSpPr>
          <p:cNvPr id="1671172" name="Group 4"/>
          <p:cNvGrpSpPr>
            <a:grpSpLocks/>
          </p:cNvGrpSpPr>
          <p:nvPr/>
        </p:nvGrpSpPr>
        <p:grpSpPr bwMode="auto">
          <a:xfrm>
            <a:off x="457200" y="3200400"/>
            <a:ext cx="7848600" cy="3124200"/>
            <a:chOff x="288" y="1488"/>
            <a:chExt cx="4944" cy="1968"/>
          </a:xfrm>
        </p:grpSpPr>
        <p:pic>
          <p:nvPicPr>
            <p:cNvPr id="167117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10"/>
            <a:stretch>
              <a:fillRect/>
            </a:stretch>
          </p:blipFill>
          <p:spPr bwMode="auto">
            <a:xfrm>
              <a:off x="2543" y="1536"/>
              <a:ext cx="2689" cy="1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71174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10" t="4759"/>
            <a:stretch>
              <a:fillRect/>
            </a:stretch>
          </p:blipFill>
          <p:spPr bwMode="auto">
            <a:xfrm>
              <a:off x="288" y="1488"/>
              <a:ext cx="2401" cy="1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71175" name="Rectangle 7"/>
            <p:cNvSpPr>
              <a:spLocks noChangeArrowheads="1"/>
            </p:cNvSpPr>
            <p:nvPr/>
          </p:nvSpPr>
          <p:spPr bwMode="auto">
            <a:xfrm>
              <a:off x="912" y="1872"/>
              <a:ext cx="960" cy="9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703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/>
            <a:r>
              <a:rPr lang="en-US" altLang="en-US" sz="2600"/>
              <a:t>Correlation of incidence and proximity matrices for the K-means clusterings of the following two data sets. </a:t>
            </a:r>
          </a:p>
          <a:p>
            <a:pPr marL="342900" indent="-342900"/>
            <a:endParaRPr lang="en-US" altLang="en-US" sz="2600"/>
          </a:p>
        </p:txBody>
      </p:sp>
      <p:sp>
        <p:nvSpPr>
          <p:cNvPr id="167219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686800" cy="533400"/>
          </a:xfrm>
        </p:spPr>
        <p:txBody>
          <a:bodyPr/>
          <a:lstStyle/>
          <a:p>
            <a:r>
              <a:rPr lang="en-US" altLang="en-US" sz="2800"/>
              <a:t>Statistical Framework for Correlation</a:t>
            </a:r>
          </a:p>
        </p:txBody>
      </p:sp>
      <p:pic>
        <p:nvPicPr>
          <p:cNvPr id="1672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90800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72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92388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72198" name="Text Box 6"/>
          <p:cNvSpPr txBox="1">
            <a:spLocks noChangeArrowheads="1"/>
          </p:cNvSpPr>
          <p:nvPr/>
        </p:nvSpPr>
        <p:spPr bwMode="auto">
          <a:xfrm>
            <a:off x="685800" y="5257800"/>
            <a:ext cx="2362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Corr = -0.9235</a:t>
            </a:r>
          </a:p>
        </p:txBody>
      </p:sp>
      <p:sp>
        <p:nvSpPr>
          <p:cNvPr id="1672199" name="Text Box 7"/>
          <p:cNvSpPr txBox="1">
            <a:spLocks noChangeArrowheads="1"/>
          </p:cNvSpPr>
          <p:nvPr/>
        </p:nvSpPr>
        <p:spPr bwMode="auto">
          <a:xfrm>
            <a:off x="3429000" y="5257800"/>
            <a:ext cx="2362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Corr = -0.5810</a:t>
            </a:r>
          </a:p>
        </p:txBody>
      </p:sp>
      <p:pic>
        <p:nvPicPr>
          <p:cNvPr id="167220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3600"/>
            <a:ext cx="3656013" cy="27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4297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334000"/>
          </a:xfrm>
        </p:spPr>
        <p:txBody>
          <a:bodyPr/>
          <a:lstStyle/>
          <a:p>
            <a:pPr eaLnBrk="1" hangingPunct="1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Wingdings" panose="05000000000000000000" pitchFamily="2" charset="2"/>
              <a:buNone/>
              <a:defRPr/>
            </a:pPr>
            <a:r>
              <a:rPr lang="en-US" smtClean="0"/>
              <a:t>   “The validation of clustering structures is the most difficult and frustrating part of cluster analysis. </a:t>
            </a:r>
          </a:p>
          <a:p>
            <a:pPr eaLnBrk="1" hangingPunct="1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Wingdings" panose="05000000000000000000" pitchFamily="2" charset="2"/>
              <a:buNone/>
              <a:defRPr/>
            </a:pPr>
            <a:r>
              <a:rPr lang="en-US" smtClean="0"/>
              <a:t>   Without a strong effort in this direction, cluster analysis will remain a black art accessible only to those true believers who have experience and great courage.”</a:t>
            </a:r>
          </a:p>
          <a:p>
            <a:pPr eaLnBrk="1" hangingPunct="1">
              <a:spcBef>
                <a:spcPct val="0"/>
              </a:spcBef>
              <a:buSzPct val="85000"/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buSzPct val="85000"/>
              <a:buFont typeface="Wingdings" panose="05000000000000000000" pitchFamily="2" charset="2"/>
              <a:buNone/>
              <a:defRPr/>
            </a:pPr>
            <a:r>
              <a:rPr lang="en-US" i="1" smtClean="0"/>
              <a:t>Algorithms for Clustering Data</a:t>
            </a:r>
            <a:r>
              <a:rPr lang="en-US" smtClean="0"/>
              <a:t>, Jain and Dubes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Final Comment on Cluster Validity</a:t>
            </a:r>
          </a:p>
        </p:txBody>
      </p:sp>
    </p:spTree>
    <p:extLst>
      <p:ext uri="{BB962C8B-B14F-4D97-AF65-F5344CB8AC3E}">
        <p14:creationId xmlns:p14="http://schemas.microsoft.com/office/powerpoint/2010/main" val="59945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Outliers</a:t>
            </a:r>
          </a:p>
          <a:p>
            <a:r>
              <a:rPr lang="en-US" dirty="0" smtClean="0"/>
              <a:t>Deviation detection</a:t>
            </a:r>
          </a:p>
          <a:p>
            <a:r>
              <a:rPr lang="en-US" dirty="0" smtClean="0"/>
              <a:t>Exception mining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Read the book “Outliers” by Malcolm </a:t>
            </a:r>
            <a:r>
              <a:rPr lang="en-US" dirty="0" err="1" smtClean="0"/>
              <a:t>Gladwell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Anomaly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5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74280C5C-140D-4079-84D8-1B0D5DD322F4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226300" cy="498475"/>
          </a:xfrm>
        </p:spPr>
        <p:txBody>
          <a:bodyPr>
            <a:normAutofit fontScale="90000"/>
          </a:bodyPr>
          <a:lstStyle/>
          <a:p>
            <a:r>
              <a:rPr lang="en-US" sz="4000" smtClean="0"/>
              <a:t>Anomaly/Outlier Analysis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4582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sz="2400" dirty="0" smtClean="0"/>
              <a:t>What are outliers?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sz="2700" dirty="0" smtClean="0"/>
              <a:t>Outlier (noun) : something that is situated away from or classed differently from a main or related body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sz="2700" dirty="0" smtClean="0"/>
              <a:t>A statistical observation that is markedly different in value from the others of the sample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None/>
            </a:pPr>
            <a:endParaRPr lang="en-US" sz="2700" dirty="0" smtClean="0"/>
          </a:p>
          <a:p>
            <a:pPr>
              <a:lnSpc>
                <a:spcPct val="90000"/>
              </a:lnSpc>
            </a:pPr>
            <a:r>
              <a:rPr lang="en-US" sz="2700" dirty="0" smtClean="0"/>
              <a:t>The set of objects are considerably dissimilar from the remainder of the data</a:t>
            </a:r>
          </a:p>
          <a:p>
            <a:pPr>
              <a:lnSpc>
                <a:spcPct val="90000"/>
              </a:lnSpc>
              <a:buNone/>
            </a:pPr>
            <a:endParaRPr lang="en-US" sz="2700" dirty="0" smtClean="0"/>
          </a:p>
          <a:p>
            <a:pPr>
              <a:lnSpc>
                <a:spcPct val="90000"/>
              </a:lnSpc>
            </a:pPr>
            <a:r>
              <a:rPr lang="en-US" sz="2700" dirty="0" smtClean="0"/>
              <a:t>Example:  Sports: Michael Jordon, </a:t>
            </a:r>
            <a:r>
              <a:rPr lang="en-US" sz="2700" dirty="0" err="1" smtClean="0"/>
              <a:t>Sachin</a:t>
            </a:r>
            <a:r>
              <a:rPr lang="en-US" sz="2700" dirty="0" smtClean="0"/>
              <a:t> </a:t>
            </a:r>
            <a:r>
              <a:rPr lang="en-US" sz="2700" dirty="0" err="1" smtClean="0"/>
              <a:t>Tendulkar</a:t>
            </a:r>
            <a:r>
              <a:rPr lang="en-US" sz="2700" dirty="0" smtClean="0"/>
              <a:t>, Tiger Woods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22467231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3D8F5E98-73EF-46D9-A7C5-64F35E0C5249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226300" cy="498475"/>
          </a:xfrm>
        </p:spPr>
        <p:txBody>
          <a:bodyPr>
            <a:normAutofit fontScale="90000"/>
          </a:bodyPr>
          <a:lstStyle/>
          <a:p>
            <a:r>
              <a:rPr lang="en-US" sz="4000" smtClean="0"/>
              <a:t>Anomaly/Outlier Analysis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458200" cy="48006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 smtClean="0"/>
              <a:t>Telecom fraud detection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 smtClean="0"/>
              <a:t>Terrorism Prevention</a:t>
            </a:r>
          </a:p>
          <a:p>
            <a:r>
              <a:rPr lang="en-US" dirty="0" smtClean="0"/>
              <a:t>An error/defect in a 6</a:t>
            </a:r>
            <a:r>
              <a:rPr lang="el-GR" dirty="0" smtClean="0"/>
              <a:t>σ</a:t>
            </a:r>
            <a:r>
              <a:rPr lang="en-US" dirty="0" smtClean="0"/>
              <a:t> company </a:t>
            </a:r>
          </a:p>
          <a:p>
            <a:pPr>
              <a:buNone/>
            </a:pPr>
            <a:r>
              <a:rPr lang="en-US" dirty="0" smtClean="0"/>
              <a:t>	(Mumbai’s </a:t>
            </a:r>
            <a:r>
              <a:rPr lang="en-US" dirty="0" err="1" smtClean="0"/>
              <a:t>Dabbawallas</a:t>
            </a:r>
            <a:r>
              <a:rPr lang="en-US" dirty="0" smtClean="0"/>
              <a:t>)</a:t>
            </a:r>
          </a:p>
          <a:p>
            <a:r>
              <a:rPr lang="en-US" dirty="0" smtClean="0"/>
              <a:t>Fraud</a:t>
            </a:r>
          </a:p>
          <a:p>
            <a:r>
              <a:rPr lang="en-US" dirty="0" smtClean="0"/>
              <a:t>Intrusion</a:t>
            </a:r>
          </a:p>
          <a:p>
            <a:r>
              <a:rPr lang="en-US" dirty="0" smtClean="0"/>
              <a:t>Earthquake or Tsunami</a:t>
            </a:r>
          </a:p>
          <a:p>
            <a:r>
              <a:rPr lang="en-US" dirty="0" smtClean="0"/>
              <a:t>Outbreak of a disease</a:t>
            </a:r>
          </a:p>
          <a:p>
            <a:r>
              <a:rPr lang="en-US" dirty="0" smtClean="0"/>
              <a:t>Rare disease</a:t>
            </a:r>
          </a:p>
          <a:p>
            <a:r>
              <a:rPr lang="en-US" dirty="0" smtClean="0"/>
              <a:t>Exceptionally talented athletes</a:t>
            </a:r>
          </a:p>
          <a:p>
            <a:r>
              <a:rPr lang="en-US" dirty="0" err="1" smtClean="0"/>
              <a:t>Whizkid</a:t>
            </a:r>
            <a:r>
              <a:rPr lang="en-US" sz="2400" dirty="0" err="1" smtClean="0"/>
              <a:t>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126362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Anomaly/Outlier Detection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75" y="1143000"/>
            <a:ext cx="9067800" cy="54102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What are anomalies/outliers?</a:t>
            </a:r>
          </a:p>
          <a:p>
            <a:pPr lvl="1" eaLnBrk="1" hangingPunct="1">
              <a:defRPr/>
            </a:pPr>
            <a:r>
              <a:rPr lang="en-US" sz="2000" dirty="0" smtClean="0"/>
              <a:t>The set of data points that are considerably different than the remainder of the data</a:t>
            </a:r>
          </a:p>
          <a:p>
            <a:pPr eaLnBrk="1" hangingPunct="1">
              <a:defRPr/>
            </a:pPr>
            <a:r>
              <a:rPr lang="en-US" sz="2400" dirty="0" smtClean="0"/>
              <a:t>Variants of Anomaly/Outlier Detection Problems</a:t>
            </a:r>
          </a:p>
          <a:p>
            <a:pPr lvl="1" eaLnBrk="1" hangingPunct="1">
              <a:defRPr/>
            </a:pPr>
            <a:r>
              <a:rPr lang="en-US" sz="2000" dirty="0" smtClean="0"/>
              <a:t>Given a database D, find all the data points </a:t>
            </a:r>
            <a:r>
              <a:rPr lang="en-US" sz="2000" b="1" dirty="0" smtClean="0"/>
              <a:t>x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 pitchFamily="18" charset="2"/>
              </a:rPr>
              <a:t> D </a:t>
            </a:r>
            <a:r>
              <a:rPr lang="en-US" sz="2000" dirty="0" smtClean="0"/>
              <a:t>with anomaly scores greater than some threshold t</a:t>
            </a:r>
          </a:p>
          <a:p>
            <a:pPr lvl="1" eaLnBrk="1" hangingPunct="1">
              <a:defRPr/>
            </a:pPr>
            <a:r>
              <a:rPr lang="en-US" sz="2000" dirty="0" smtClean="0"/>
              <a:t>Given a database D, find all the data points </a:t>
            </a:r>
            <a:r>
              <a:rPr lang="en-US" sz="2000" b="1" dirty="0" smtClean="0"/>
              <a:t>x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 pitchFamily="18" charset="2"/>
              </a:rPr>
              <a:t> D </a:t>
            </a:r>
            <a:r>
              <a:rPr lang="en-US" sz="2000" dirty="0" smtClean="0"/>
              <a:t>having the top-n largest anomaly scores f(</a:t>
            </a:r>
            <a:r>
              <a:rPr lang="en-US" sz="2000" b="1" dirty="0" smtClean="0"/>
              <a:t>x</a:t>
            </a:r>
            <a:r>
              <a:rPr lang="en-US" sz="2000" dirty="0" smtClean="0"/>
              <a:t>)</a:t>
            </a:r>
          </a:p>
          <a:p>
            <a:pPr lvl="1" eaLnBrk="1" hangingPunct="1">
              <a:defRPr/>
            </a:pPr>
            <a:r>
              <a:rPr lang="en-US" sz="2000" dirty="0" smtClean="0"/>
              <a:t>Given a database D, containing mostly normal (but unlabeled) data points, and a test point </a:t>
            </a:r>
            <a:r>
              <a:rPr lang="en-US" sz="2000" b="1" dirty="0" smtClean="0"/>
              <a:t>x</a:t>
            </a:r>
            <a:r>
              <a:rPr lang="en-US" sz="2000" dirty="0" smtClean="0"/>
              <a:t>, compute the anomaly score of </a:t>
            </a:r>
            <a:r>
              <a:rPr lang="en-US" sz="2000" b="1" dirty="0" smtClean="0"/>
              <a:t>x</a:t>
            </a:r>
            <a:r>
              <a:rPr lang="en-US" sz="2000" dirty="0" smtClean="0"/>
              <a:t> with respect to D</a:t>
            </a:r>
          </a:p>
          <a:p>
            <a:pPr eaLnBrk="1" hangingPunct="1">
              <a:defRPr/>
            </a:pPr>
            <a:r>
              <a:rPr lang="en-US" sz="2400" dirty="0" smtClean="0"/>
              <a:t>Applications: </a:t>
            </a:r>
          </a:p>
          <a:p>
            <a:pPr lvl="1" eaLnBrk="1" hangingPunct="1">
              <a:defRPr/>
            </a:pPr>
            <a:r>
              <a:rPr lang="en-US" sz="2000" dirty="0" smtClean="0"/>
              <a:t>Credit card fraud detection, telecommunication fraud detection, network intrusion detection, fault detection</a:t>
            </a:r>
          </a:p>
        </p:txBody>
      </p:sp>
    </p:spTree>
    <p:extLst>
      <p:ext uri="{BB962C8B-B14F-4D97-AF65-F5344CB8AC3E}">
        <p14:creationId xmlns:p14="http://schemas.microsoft.com/office/powerpoint/2010/main" val="192505655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Importance of Anomaly Detection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143000"/>
            <a:ext cx="4648200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>
                <a:solidFill>
                  <a:srgbClr val="FF3300"/>
                </a:solidFill>
                <a:latin typeface="Calibri" pitchFamily="34" charset="0"/>
                <a:cs typeface="Calibri" pitchFamily="34" charset="0"/>
              </a:rPr>
              <a:t>Ozone Depletion History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In 1985 three researchers (Farman,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Gardinar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Shanklin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 were puzzled by data gathered by the British Antarctic Survey showing that ozone levels for Antarctica had dropped 10% below normal levels</a:t>
            </a:r>
          </a:p>
          <a:p>
            <a:pPr lvl="4" eaLnBrk="1" hangingPunct="1">
              <a:lnSpc>
                <a:spcPct val="90000"/>
              </a:lnSpc>
              <a:defRPr/>
            </a:pPr>
            <a:endParaRPr lang="en-US" sz="1400" dirty="0" smtClean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Why did the Nimbus 7 satellite, which had instruments aboard for recording ozone levels, not record similarly low ozone concentrations? </a:t>
            </a:r>
          </a:p>
          <a:p>
            <a:pPr lvl="4" eaLnBrk="1" hangingPunct="1">
              <a:lnSpc>
                <a:spcPct val="90000"/>
              </a:lnSpc>
              <a:defRPr/>
            </a:pPr>
            <a:endParaRPr lang="en-US" sz="1400" dirty="0" smtClean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The ozone concentrations recorded by the satellite were so low they were being treated as outliers by a computer program and discarded!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724400" y="5257800"/>
            <a:ext cx="43434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/>
              <a:t>Sources: </a:t>
            </a:r>
            <a:br>
              <a:rPr lang="en-US" altLang="en-US" sz="1400"/>
            </a:br>
            <a:r>
              <a:rPr lang="en-US" altLang="en-US" sz="1400"/>
              <a:t>    http://exploringdata.cqu.edu.au/ozone.html  </a:t>
            </a:r>
            <a:br>
              <a:rPr lang="en-US" altLang="en-US" sz="1400"/>
            </a:br>
            <a:r>
              <a:rPr lang="en-US" altLang="en-US" sz="1400"/>
              <a:t>    http://www.epa.gov/ozone/science/hole/size.html</a:t>
            </a:r>
          </a:p>
        </p:txBody>
      </p:sp>
      <p:pic>
        <p:nvPicPr>
          <p:cNvPr id="48133" name="Picture 5" descr="holesiz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1447800"/>
            <a:ext cx="3084513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78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Anomaly Detection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4873625" cy="4495800"/>
          </a:xfrm>
        </p:spPr>
        <p:txBody>
          <a:bodyPr>
            <a:normAutofit fontScale="92500" lnSpcReduction="10000"/>
          </a:bodyPr>
          <a:lstStyle/>
          <a:p>
            <a:r>
              <a:rPr lang="en-US" sz="2800" smtClean="0"/>
              <a:t>Challenges</a:t>
            </a:r>
          </a:p>
          <a:p>
            <a:pPr lvl="1"/>
            <a:r>
              <a:rPr lang="en-US" sz="2400" smtClean="0"/>
              <a:t>How many outliers are there in the data?</a:t>
            </a:r>
          </a:p>
          <a:p>
            <a:pPr lvl="1"/>
            <a:r>
              <a:rPr lang="en-US" sz="2400" smtClean="0"/>
              <a:t>Method is unsupervised</a:t>
            </a:r>
          </a:p>
          <a:p>
            <a:pPr lvl="2"/>
            <a:r>
              <a:rPr lang="en-US" sz="2000" smtClean="0"/>
              <a:t> Validation can be quite challenging (just like for clustering)</a:t>
            </a:r>
          </a:p>
          <a:p>
            <a:pPr lvl="1"/>
            <a:r>
              <a:rPr lang="en-US" sz="2400" smtClean="0"/>
              <a:t>Finding needle in a haystack</a:t>
            </a:r>
          </a:p>
          <a:p>
            <a:r>
              <a:rPr lang="en-US" sz="2800" smtClean="0"/>
              <a:t>Working assumption:</a:t>
            </a:r>
          </a:p>
          <a:p>
            <a:pPr lvl="1"/>
            <a:r>
              <a:rPr lang="en-US" sz="2400" smtClean="0"/>
              <a:t>There are considerably more “normal” observations than “abnormal” observations (outliers/anomalies) in the data</a:t>
            </a: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133600"/>
            <a:ext cx="35496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62000" y="6324600"/>
            <a:ext cx="7772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Picture Source: Presentation slides of Prof. </a:t>
            </a:r>
            <a:r>
              <a:rPr lang="en-US" dirty="0" err="1" smtClean="0"/>
              <a:t>Jaideep</a:t>
            </a:r>
            <a:r>
              <a:rPr lang="en-US" dirty="0" smtClean="0"/>
              <a:t> </a:t>
            </a:r>
            <a:r>
              <a:rPr lang="en-US" dirty="0" err="1" smtClean="0"/>
              <a:t>Srivastava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0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Causes of Anomalies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from</a:t>
            </a:r>
            <a:r>
              <a:rPr lang="en-US" dirty="0"/>
              <a:t> </a:t>
            </a:r>
            <a:r>
              <a:rPr lang="en-US" dirty="0" smtClean="0"/>
              <a:t>different</a:t>
            </a:r>
            <a:r>
              <a:rPr lang="en-US" dirty="0"/>
              <a:t> </a:t>
            </a:r>
            <a:r>
              <a:rPr lang="en-US" dirty="0" smtClean="0"/>
              <a:t>classes</a:t>
            </a:r>
            <a:endParaRPr lang="en-US" dirty="0"/>
          </a:p>
          <a:p>
            <a:pPr lvl="1"/>
            <a:r>
              <a:rPr lang="en-US" dirty="0" smtClean="0"/>
              <a:t>Measuring the weights of oranges, but a few grapefruit are mixed in</a:t>
            </a:r>
            <a:endParaRPr lang="en-US" dirty="0"/>
          </a:p>
          <a:p>
            <a:r>
              <a:rPr lang="en-US" dirty="0" smtClean="0"/>
              <a:t>Natural variation</a:t>
            </a:r>
            <a:endParaRPr lang="en-US" dirty="0"/>
          </a:p>
          <a:p>
            <a:pPr lvl="1"/>
            <a:r>
              <a:rPr lang="en-US" dirty="0" smtClean="0"/>
              <a:t>Unusually tall people</a:t>
            </a:r>
            <a:endParaRPr lang="en-US" dirty="0"/>
          </a:p>
          <a:p>
            <a:r>
              <a:rPr lang="en-US" dirty="0" smtClean="0"/>
              <a:t>Data errors</a:t>
            </a:r>
            <a:endParaRPr lang="en-US" dirty="0"/>
          </a:p>
          <a:p>
            <a:pPr lvl="1"/>
            <a:r>
              <a:rPr lang="en-US" dirty="0" smtClean="0"/>
              <a:t>200 pound 2 year old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131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527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Distinction Between Noise and Anomalies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9069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Noise is erroneous, perhaps random, values or contaminating objects</a:t>
            </a:r>
          </a:p>
          <a:p>
            <a:pPr lvl="1"/>
            <a:r>
              <a:rPr lang="en-US" dirty="0" smtClean="0"/>
              <a:t>Weight recorded incorrectly </a:t>
            </a:r>
          </a:p>
          <a:p>
            <a:pPr lvl="1"/>
            <a:r>
              <a:rPr lang="en-US" dirty="0" smtClean="0"/>
              <a:t>Grapefruit mixed in with the oranges</a:t>
            </a:r>
          </a:p>
          <a:p>
            <a:pPr lvl="1"/>
            <a:endParaRPr lang="en-US" dirty="0"/>
          </a:p>
          <a:p>
            <a:r>
              <a:rPr lang="en-US" dirty="0" smtClean="0"/>
              <a:t>Noise doesn’t necessarily produce unusual values or objects</a:t>
            </a:r>
          </a:p>
          <a:p>
            <a:endParaRPr lang="en-US" dirty="0"/>
          </a:p>
          <a:p>
            <a:r>
              <a:rPr lang="en-US" dirty="0" smtClean="0"/>
              <a:t>Noise is not interesting 	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Anomalies may be interesting if they are not a result of  noise</a:t>
            </a:r>
            <a:endParaRPr lang="en-US" dirty="0"/>
          </a:p>
          <a:p>
            <a:r>
              <a:rPr lang="en-US" dirty="0" smtClean="0"/>
              <a:t>Noise and anomalies are related but distinct concepts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58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General Issues: Number of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Many anomalies are defined in terms of a single attribute</a:t>
            </a:r>
          </a:p>
          <a:p>
            <a:pPr lvl="1"/>
            <a:r>
              <a:rPr lang="en-US" dirty="0" smtClean="0"/>
              <a:t>Height</a:t>
            </a:r>
            <a:endParaRPr lang="en-US" dirty="0"/>
          </a:p>
          <a:p>
            <a:pPr lvl="1"/>
            <a:r>
              <a:rPr lang="en-US" dirty="0" smtClean="0"/>
              <a:t>Shape</a:t>
            </a:r>
            <a:endParaRPr lang="en-US" dirty="0"/>
          </a:p>
          <a:p>
            <a:pPr lvl="1"/>
            <a:r>
              <a:rPr lang="en-US" dirty="0" smtClean="0"/>
              <a:t>Color</a:t>
            </a:r>
            <a:endParaRPr lang="en-US" dirty="0"/>
          </a:p>
          <a:p>
            <a:r>
              <a:rPr lang="en-US" dirty="0" smtClean="0"/>
              <a:t>Can </a:t>
            </a:r>
            <a:r>
              <a:rPr lang="en-US" dirty="0"/>
              <a:t>be hard to find an anomaly using all attributes</a:t>
            </a:r>
          </a:p>
          <a:p>
            <a:pPr lvl="1"/>
            <a:r>
              <a:rPr lang="en-US" dirty="0" smtClean="0"/>
              <a:t>Noisy </a:t>
            </a:r>
            <a:r>
              <a:rPr lang="en-US" dirty="0"/>
              <a:t>or irrelevant attributes</a:t>
            </a:r>
          </a:p>
          <a:p>
            <a:pPr lvl="1"/>
            <a:r>
              <a:rPr lang="en-US" dirty="0" smtClean="0"/>
              <a:t>Object </a:t>
            </a:r>
            <a:r>
              <a:rPr lang="en-US" dirty="0"/>
              <a:t>is only anomalous with respect to some </a:t>
            </a:r>
            <a:r>
              <a:rPr lang="en-US" dirty="0" smtClean="0"/>
              <a:t>attributes</a:t>
            </a:r>
          </a:p>
          <a:p>
            <a:r>
              <a:rPr lang="en-US" dirty="0" smtClean="0"/>
              <a:t>However, an object may be anomalous  even if none of its attribute values are individually anomalous.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236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Issues: Anomaly Scoring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Many anomaly detection techniques provide only </a:t>
            </a:r>
            <a:r>
              <a:rPr lang="en-US" dirty="0" smtClean="0"/>
              <a:t>a binary </a:t>
            </a:r>
            <a:r>
              <a:rPr lang="en-US" dirty="0"/>
              <a:t>categorization</a:t>
            </a:r>
          </a:p>
          <a:p>
            <a:pPr lvl="1"/>
            <a:r>
              <a:rPr lang="en-US" dirty="0" smtClean="0"/>
              <a:t>An </a:t>
            </a:r>
            <a:r>
              <a:rPr lang="en-US" dirty="0"/>
              <a:t>object is an anomaly or it isn’t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 especially true of classification‐based approaches</a:t>
            </a:r>
          </a:p>
          <a:p>
            <a:r>
              <a:rPr lang="en-US" dirty="0" smtClean="0"/>
              <a:t>Other </a:t>
            </a:r>
            <a:r>
              <a:rPr lang="en-US" dirty="0"/>
              <a:t>approaches assign a score to all points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score measures the degree to which an object is an anomaly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allows objects to be ranked</a:t>
            </a:r>
          </a:p>
          <a:p>
            <a:r>
              <a:rPr lang="en-US" dirty="0" smtClean="0"/>
              <a:t>In </a:t>
            </a:r>
            <a:r>
              <a:rPr lang="en-US" dirty="0"/>
              <a:t>the end, you often need a binary decision</a:t>
            </a:r>
          </a:p>
          <a:p>
            <a:pPr lvl="1"/>
            <a:r>
              <a:rPr lang="en-US" dirty="0" smtClean="0"/>
              <a:t>Should </a:t>
            </a:r>
            <a:r>
              <a:rPr lang="en-US" dirty="0"/>
              <a:t>this credit card transaction be flagged?</a:t>
            </a:r>
          </a:p>
          <a:p>
            <a:pPr lvl="1"/>
            <a:r>
              <a:rPr lang="en-US" dirty="0" smtClean="0"/>
              <a:t>Still </a:t>
            </a:r>
            <a:r>
              <a:rPr lang="en-US" dirty="0"/>
              <a:t>useful to have a score</a:t>
            </a:r>
          </a:p>
          <a:p>
            <a:r>
              <a:rPr lang="en-US" dirty="0" smtClean="0"/>
              <a:t>How </a:t>
            </a:r>
            <a:r>
              <a:rPr lang="en-US" dirty="0"/>
              <a:t>many anomalies are there?</a:t>
            </a:r>
          </a:p>
        </p:txBody>
      </p:sp>
    </p:spTree>
    <p:extLst>
      <p:ext uri="{BB962C8B-B14F-4D97-AF65-F5344CB8AC3E}">
        <p14:creationId xmlns:p14="http://schemas.microsoft.com/office/powerpoint/2010/main" val="1497985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Other Issues for Anomaly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Find all anomalies at once or one at a time</a:t>
            </a:r>
          </a:p>
          <a:p>
            <a:pPr lvl="1"/>
            <a:r>
              <a:rPr lang="en-US" dirty="0" smtClean="0"/>
              <a:t>Swamping</a:t>
            </a:r>
            <a:endParaRPr lang="en-US" dirty="0"/>
          </a:p>
          <a:p>
            <a:pPr lvl="1"/>
            <a:r>
              <a:rPr lang="en-US" dirty="0" smtClean="0"/>
              <a:t>Masking</a:t>
            </a:r>
            <a:endParaRPr lang="en-US" dirty="0"/>
          </a:p>
          <a:p>
            <a:r>
              <a:rPr lang="en-US" dirty="0" smtClean="0"/>
              <a:t>Evaluation</a:t>
            </a:r>
            <a:endParaRPr lang="en-US" dirty="0"/>
          </a:p>
          <a:p>
            <a:pPr lvl="1"/>
            <a:r>
              <a:rPr lang="en-US" dirty="0" smtClean="0"/>
              <a:t>How </a:t>
            </a:r>
            <a:r>
              <a:rPr lang="en-US" dirty="0"/>
              <a:t>do you measure performance?</a:t>
            </a:r>
          </a:p>
          <a:p>
            <a:pPr lvl="1"/>
            <a:r>
              <a:rPr lang="en-US" dirty="0" smtClean="0"/>
              <a:t>Supervised </a:t>
            </a:r>
            <a:r>
              <a:rPr lang="en-US" dirty="0"/>
              <a:t>vs. unsupervised situations</a:t>
            </a:r>
          </a:p>
          <a:p>
            <a:r>
              <a:rPr lang="en-US" dirty="0" smtClean="0"/>
              <a:t>Efficiency</a:t>
            </a:r>
            <a:endParaRPr lang="en-US" dirty="0"/>
          </a:p>
          <a:p>
            <a:r>
              <a:rPr lang="en-US" dirty="0" smtClean="0"/>
              <a:t>Context</a:t>
            </a:r>
            <a:endParaRPr lang="en-US" dirty="0"/>
          </a:p>
          <a:p>
            <a:pPr lvl="1"/>
            <a:r>
              <a:rPr lang="en-US" dirty="0" smtClean="0"/>
              <a:t>Professional </a:t>
            </a:r>
            <a:r>
              <a:rPr lang="en-US" dirty="0"/>
              <a:t>basketball team</a:t>
            </a:r>
          </a:p>
        </p:txBody>
      </p:sp>
    </p:spTree>
    <p:extLst>
      <p:ext uri="{BB962C8B-B14F-4D97-AF65-F5344CB8AC3E}">
        <p14:creationId xmlns:p14="http://schemas.microsoft.com/office/powerpoint/2010/main" val="34513545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3048000"/>
            <a:ext cx="437197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1875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Anomaly Detection Schemes </a:t>
            </a:r>
          </a:p>
        </p:txBody>
      </p:sp>
      <p:sp>
        <p:nvSpPr>
          <p:cNvPr id="5918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-228600" y="1066800"/>
            <a:ext cx="93726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smtClean="0"/>
              <a:t>General Steps</a:t>
            </a:r>
          </a:p>
          <a:p>
            <a:pPr lvl="1" eaLnBrk="1" hangingPunct="1">
              <a:defRPr/>
            </a:pPr>
            <a:r>
              <a:rPr lang="en-US" sz="2400" smtClean="0"/>
              <a:t>Build a profile of the “normal” behavior</a:t>
            </a:r>
          </a:p>
          <a:p>
            <a:pPr lvl="2" eaLnBrk="1" hangingPunct="1">
              <a:defRPr/>
            </a:pPr>
            <a:r>
              <a:rPr lang="en-US" sz="2000" smtClean="0"/>
              <a:t>Profile can be patterns or summary statistics for the overall population</a:t>
            </a:r>
          </a:p>
          <a:p>
            <a:pPr lvl="1" eaLnBrk="1" hangingPunct="1">
              <a:defRPr/>
            </a:pPr>
            <a:r>
              <a:rPr lang="en-US" sz="2400" smtClean="0"/>
              <a:t>Use the “normal” profile to detect anomalies</a:t>
            </a:r>
          </a:p>
          <a:p>
            <a:pPr lvl="2" eaLnBrk="1" hangingPunct="1">
              <a:defRPr/>
            </a:pPr>
            <a:r>
              <a:rPr lang="en-US" sz="2000" smtClean="0"/>
              <a:t>Anomalies are observations whose characteristics</a:t>
            </a:r>
            <a:br>
              <a:rPr lang="en-US" sz="2000" smtClean="0"/>
            </a:br>
            <a:r>
              <a:rPr lang="en-US" sz="2000" smtClean="0"/>
              <a:t>differ significantly from the normal profile</a:t>
            </a:r>
          </a:p>
          <a:p>
            <a:pPr lvl="1" eaLnBrk="1" hangingPunct="1">
              <a:defRPr/>
            </a:pPr>
            <a:endParaRPr lang="en-US" sz="2400" smtClean="0"/>
          </a:p>
          <a:p>
            <a:pPr eaLnBrk="1" hangingPunct="1">
              <a:defRPr/>
            </a:pPr>
            <a:r>
              <a:rPr lang="en-US" sz="2800" smtClean="0"/>
              <a:t>Types of anomaly detection </a:t>
            </a:r>
            <a:br>
              <a:rPr lang="en-US" sz="2800" smtClean="0"/>
            </a:br>
            <a:r>
              <a:rPr lang="en-US" sz="2800" smtClean="0"/>
              <a:t>schemes</a:t>
            </a:r>
          </a:p>
          <a:p>
            <a:pPr lvl="1" eaLnBrk="1" hangingPunct="1">
              <a:defRPr/>
            </a:pPr>
            <a:r>
              <a:rPr lang="en-US" sz="2400" smtClean="0"/>
              <a:t>Graphical &amp; Statistical-based</a:t>
            </a:r>
          </a:p>
          <a:p>
            <a:pPr lvl="1" eaLnBrk="1" hangingPunct="1">
              <a:defRPr/>
            </a:pPr>
            <a:r>
              <a:rPr lang="en-US" sz="2400" smtClean="0"/>
              <a:t>Distance-based</a:t>
            </a:r>
          </a:p>
          <a:p>
            <a:pPr lvl="1" eaLnBrk="1" hangingPunct="1">
              <a:defRPr/>
            </a:pPr>
            <a:r>
              <a:rPr lang="en-US" sz="2400" smtClean="0"/>
              <a:t>Model-based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5321300" y="4537075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7467600" y="4252913"/>
            <a:ext cx="381000" cy="3810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8851900" y="5764213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6157913" y="5916613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5002213" y="4011613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61991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Graphical Approaches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Boxplot (1-D), Scatter plot (2-D), Spin plot (3-D)</a:t>
            </a:r>
          </a:p>
          <a:p>
            <a:pPr eaLnBrk="1" hangingPunct="1">
              <a:defRPr/>
            </a:pPr>
            <a:r>
              <a:rPr lang="en-US" smtClean="0"/>
              <a:t>Limitations</a:t>
            </a:r>
          </a:p>
          <a:p>
            <a:pPr lvl="1" eaLnBrk="1" hangingPunct="1">
              <a:defRPr/>
            </a:pPr>
            <a:r>
              <a:rPr lang="en-US" smtClean="0"/>
              <a:t>Time consuming</a:t>
            </a:r>
          </a:p>
        </p:txBody>
      </p:sp>
      <p:pic>
        <p:nvPicPr>
          <p:cNvPr id="51204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0738" y="2595563"/>
            <a:ext cx="3473450" cy="2986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99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Convex Hull Method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638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Extreme points are assumed to be outliers</a:t>
            </a:r>
          </a:p>
          <a:p>
            <a:pPr eaLnBrk="1" hangingPunct="1">
              <a:defRPr/>
            </a:pPr>
            <a:r>
              <a:rPr lang="en-US" dirty="0" smtClean="0"/>
              <a:t>Use convex hull method to detect extreme values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What if the outlier occurs in the middle of the data?</a:t>
            </a:r>
          </a:p>
        </p:txBody>
      </p:sp>
      <p:pic>
        <p:nvPicPr>
          <p:cNvPr id="52228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2587625"/>
            <a:ext cx="6554788" cy="2593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44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Statistical Approaches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9154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effectLst/>
              </a:rPr>
              <a:t>Assume a parametric model describing the distribution of the data (e.g., normal distribution)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effectLst/>
              </a:rPr>
              <a:t>Apply a statistical test that depends 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effectLst/>
              </a:rPr>
              <a:t>Data distribution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effectLst/>
              </a:rPr>
              <a:t>Parameter of distribution (e.g., mean, variance)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effectLst/>
              </a:rPr>
              <a:t>Number of expected outliers (confidence limit)</a:t>
            </a:r>
          </a:p>
        </p:txBody>
      </p:sp>
      <p:pic>
        <p:nvPicPr>
          <p:cNvPr id="53252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95800"/>
            <a:ext cx="3733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150202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Grubbs’ Test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915400" cy="5638800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Detect outliers in univariate data</a:t>
            </a:r>
          </a:p>
          <a:p>
            <a:pPr eaLnBrk="1" hangingPunct="1"/>
            <a:r>
              <a:rPr lang="en-US" altLang="en-US" smtClean="0">
                <a:effectLst/>
              </a:rPr>
              <a:t>Assume data comes from normal distribution</a:t>
            </a:r>
          </a:p>
          <a:p>
            <a:pPr eaLnBrk="1" hangingPunct="1"/>
            <a:r>
              <a:rPr lang="en-US" altLang="en-US" smtClean="0">
                <a:effectLst/>
              </a:rPr>
              <a:t>Detects one outlier at a time, remove the outlier, and repeat</a:t>
            </a:r>
          </a:p>
          <a:p>
            <a:pPr lvl="1" eaLnBrk="1" hangingPunct="1"/>
            <a:r>
              <a:rPr lang="en-US" altLang="en-US" smtClean="0">
                <a:effectLst/>
              </a:rPr>
              <a:t>H</a:t>
            </a:r>
            <a:r>
              <a:rPr lang="en-US" altLang="en-US" baseline="-25000" smtClean="0">
                <a:effectLst/>
              </a:rPr>
              <a:t>0</a:t>
            </a:r>
            <a:r>
              <a:rPr lang="en-US" altLang="en-US" smtClean="0">
                <a:effectLst/>
              </a:rPr>
              <a:t>: There is no outlier in data</a:t>
            </a:r>
          </a:p>
          <a:p>
            <a:pPr lvl="1" eaLnBrk="1" hangingPunct="1"/>
            <a:r>
              <a:rPr lang="en-US" altLang="en-US" smtClean="0">
                <a:effectLst/>
              </a:rPr>
              <a:t>H</a:t>
            </a:r>
            <a:r>
              <a:rPr lang="en-US" altLang="en-US" baseline="-25000" smtClean="0">
                <a:effectLst/>
              </a:rPr>
              <a:t>A</a:t>
            </a:r>
            <a:r>
              <a:rPr lang="en-US" altLang="en-US" smtClean="0">
                <a:effectLst/>
              </a:rPr>
              <a:t>: There is at least one outlier</a:t>
            </a:r>
          </a:p>
          <a:p>
            <a:pPr eaLnBrk="1" hangingPunct="1"/>
            <a:r>
              <a:rPr lang="en-US" altLang="en-US" smtClean="0">
                <a:effectLst/>
              </a:rPr>
              <a:t>Grubbs’ test statistic: </a:t>
            </a:r>
          </a:p>
          <a:p>
            <a:pPr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Reject H</a:t>
            </a:r>
            <a:r>
              <a:rPr lang="en-US" altLang="en-US" baseline="-25000" smtClean="0">
                <a:effectLst/>
              </a:rPr>
              <a:t>0</a:t>
            </a:r>
            <a:r>
              <a:rPr lang="en-US" altLang="en-US" smtClean="0">
                <a:effectLst/>
              </a:rPr>
              <a:t> if:</a:t>
            </a:r>
          </a:p>
        </p:txBody>
      </p:sp>
      <p:graphicFrame>
        <p:nvGraphicFramePr>
          <p:cNvPr id="54276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34000" y="4343400"/>
          <a:ext cx="22860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4" name="Equation" r:id="rId3" imgW="1054100" imgH="469900" progId="Equation.3">
                  <p:embed/>
                </p:oleObj>
              </mc:Choice>
              <mc:Fallback>
                <p:oleObj name="Equation" r:id="rId3" imgW="1054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343400"/>
                        <a:ext cx="22860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048000" y="5410200"/>
          <a:ext cx="38862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5" name="Equation" r:id="rId5" imgW="1828800" imgH="571500" progId="Equation.3">
                  <p:embed/>
                </p:oleObj>
              </mc:Choice>
              <mc:Fallback>
                <p:oleObj name="Equation" r:id="rId5" imgW="18288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0"/>
                        <a:ext cx="388620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010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Statistical-based–Likelihood Approach</a:t>
            </a:r>
          </a:p>
        </p:txBody>
      </p:sp>
      <p:sp>
        <p:nvSpPr>
          <p:cNvPr id="182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Assume the data set D contains samples from a mixture of two probability distributions: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sz="2400" dirty="0" smtClean="0"/>
              <a:t>M (majority distribution) </a:t>
            </a:r>
          </a:p>
          <a:p>
            <a:pPr lvl="1" eaLnBrk="1" hangingPunct="1">
              <a:defRPr/>
            </a:pPr>
            <a:r>
              <a:rPr lang="en-US" sz="2400" dirty="0" smtClean="0"/>
              <a:t>A (anomalous distribution)</a:t>
            </a:r>
          </a:p>
          <a:p>
            <a:pPr eaLnBrk="1" hangingPunct="1">
              <a:defRPr/>
            </a:pPr>
            <a:r>
              <a:rPr lang="en-US" sz="2800" dirty="0" smtClean="0"/>
              <a:t>General Approach:</a:t>
            </a:r>
          </a:p>
          <a:p>
            <a:pPr lvl="1" eaLnBrk="1" hangingPunct="1">
              <a:defRPr/>
            </a:pPr>
            <a:r>
              <a:rPr lang="en-US" sz="2400" dirty="0" smtClean="0"/>
              <a:t>Initially, assume all the data points belong to M</a:t>
            </a:r>
          </a:p>
          <a:p>
            <a:pPr lvl="1" eaLnBrk="1" hangingPunct="1">
              <a:defRPr/>
            </a:pPr>
            <a:r>
              <a:rPr lang="en-US" sz="2400" dirty="0" smtClean="0"/>
              <a:t>Let L</a:t>
            </a:r>
            <a:r>
              <a:rPr lang="en-US" sz="2400" baseline="-25000" dirty="0" smtClean="0"/>
              <a:t>t</a:t>
            </a:r>
            <a:r>
              <a:rPr lang="en-US" sz="2400" dirty="0" smtClean="0"/>
              <a:t>(D) be the log likelihood of D at time t</a:t>
            </a:r>
          </a:p>
          <a:p>
            <a:pPr lvl="1" eaLnBrk="1" hangingPunct="1">
              <a:defRPr/>
            </a:pPr>
            <a:r>
              <a:rPr lang="en-US" sz="2400" dirty="0" smtClean="0"/>
              <a:t>For each point 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t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 pitchFamily="18" charset="2"/>
              </a:rPr>
              <a:t>that belongs to M, move it to A</a:t>
            </a:r>
            <a:endParaRPr lang="en-US" sz="2400" dirty="0" smtClean="0"/>
          </a:p>
          <a:p>
            <a:pPr lvl="2" eaLnBrk="1" hangingPunct="1">
              <a:defRPr/>
            </a:pPr>
            <a:r>
              <a:rPr lang="en-US" dirty="0" smtClean="0"/>
              <a:t> </a:t>
            </a:r>
            <a:r>
              <a:rPr lang="en-US" sz="2000" dirty="0" smtClean="0"/>
              <a:t>Let L</a:t>
            </a:r>
            <a:r>
              <a:rPr lang="en-US" sz="2000" baseline="-25000" dirty="0" smtClean="0"/>
              <a:t>t+1</a:t>
            </a:r>
            <a:r>
              <a:rPr lang="en-US" sz="2000" dirty="0" smtClean="0"/>
              <a:t> (D) be the new log likelihood.</a:t>
            </a:r>
          </a:p>
          <a:p>
            <a:pPr lvl="2" eaLnBrk="1" hangingPunct="1">
              <a:defRPr/>
            </a:pPr>
            <a:r>
              <a:rPr lang="en-US" sz="2000" dirty="0" smtClean="0"/>
              <a:t> Compute the difference, </a:t>
            </a:r>
            <a:r>
              <a:rPr lang="en-US" sz="2000" dirty="0" smtClean="0">
                <a:sym typeface="Symbol" pitchFamily="18" charset="2"/>
              </a:rPr>
              <a:t> = </a:t>
            </a:r>
            <a:r>
              <a:rPr lang="en-US" sz="2000" dirty="0" smtClean="0"/>
              <a:t>L</a:t>
            </a:r>
            <a:r>
              <a:rPr lang="en-US" sz="2000" baseline="-25000" dirty="0" smtClean="0"/>
              <a:t>t</a:t>
            </a:r>
            <a:r>
              <a:rPr lang="en-US" sz="2000" dirty="0" smtClean="0"/>
              <a:t>(D) – L</a:t>
            </a:r>
            <a:r>
              <a:rPr lang="en-US" sz="2000" baseline="-25000" dirty="0" smtClean="0"/>
              <a:t>t+1</a:t>
            </a:r>
            <a:r>
              <a:rPr lang="en-US" sz="2000" dirty="0" smtClean="0"/>
              <a:t> (D)</a:t>
            </a:r>
          </a:p>
          <a:p>
            <a:pPr lvl="2" eaLnBrk="1" hangingPunct="1">
              <a:defRPr/>
            </a:pPr>
            <a:r>
              <a:rPr lang="en-US" sz="2000" dirty="0" smtClean="0"/>
              <a:t> If </a:t>
            </a:r>
            <a:r>
              <a:rPr lang="en-US" sz="2000" dirty="0" smtClean="0">
                <a:sym typeface="Symbol" pitchFamily="18" charset="2"/>
              </a:rPr>
              <a:t></a:t>
            </a:r>
            <a:r>
              <a:rPr lang="en-US" sz="2000" dirty="0" smtClean="0"/>
              <a:t> &gt; c  (some threshold), then </a:t>
            </a:r>
            <a:r>
              <a:rPr lang="en-US" sz="2000" dirty="0" err="1" smtClean="0"/>
              <a:t>x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 is declared as an anomaly and moved permanently from M to A</a:t>
            </a:r>
          </a:p>
        </p:txBody>
      </p:sp>
    </p:spTree>
    <p:extLst>
      <p:ext uri="{BB962C8B-B14F-4D97-AF65-F5344CB8AC3E}">
        <p14:creationId xmlns:p14="http://schemas.microsoft.com/office/powerpoint/2010/main" val="121534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Limitations of Statistical Approaches 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Most of the tests are for a single attribute</a:t>
            </a:r>
          </a:p>
          <a:p>
            <a:pPr lvl="3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In many cases, data distribution may not be known</a:t>
            </a:r>
          </a:p>
          <a:p>
            <a:pPr lvl="3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For high dimensional data, it may be difficult to estimate the true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699049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Distance-based Approaches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Data is represented as a vector of features</a:t>
            </a:r>
          </a:p>
          <a:p>
            <a:pPr lvl="4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Three major approaches</a:t>
            </a:r>
          </a:p>
          <a:p>
            <a:pPr lvl="1" eaLnBrk="1" hangingPunct="1">
              <a:defRPr/>
            </a:pPr>
            <a:r>
              <a:rPr lang="en-US" smtClean="0"/>
              <a:t>Nearest-neighbor based</a:t>
            </a:r>
          </a:p>
          <a:p>
            <a:pPr lvl="1" eaLnBrk="1" hangingPunct="1">
              <a:defRPr/>
            </a:pPr>
            <a:r>
              <a:rPr lang="en-US" smtClean="0"/>
              <a:t>Density based</a:t>
            </a:r>
          </a:p>
          <a:p>
            <a:pPr lvl="1" eaLnBrk="1" hangingPunct="1">
              <a:defRPr/>
            </a:pPr>
            <a:r>
              <a:rPr lang="en-US" smtClean="0"/>
              <a:t>Clustering based</a:t>
            </a:r>
          </a:p>
          <a:p>
            <a:pPr lvl="4" eaLnBrk="1" hangingPunct="1">
              <a:buFont typeface="Wingdings" panose="05000000000000000000" pitchFamily="2" charset="2"/>
              <a:buNone/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8211323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Nearest-Neighbor Based Approach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smtClean="0"/>
              <a:t>Approach:</a:t>
            </a:r>
          </a:p>
          <a:p>
            <a:pPr lvl="1" eaLnBrk="1" hangingPunct="1">
              <a:defRPr/>
            </a:pPr>
            <a:r>
              <a:rPr lang="en-US" sz="2400" smtClean="0"/>
              <a:t>Compute the distance between every pair of data points</a:t>
            </a:r>
          </a:p>
          <a:p>
            <a:pPr lvl="4" eaLnBrk="1" hangingPunct="1">
              <a:defRPr/>
            </a:pPr>
            <a:endParaRPr lang="en-US" sz="1800" smtClean="0"/>
          </a:p>
          <a:p>
            <a:pPr lvl="1" eaLnBrk="1" hangingPunct="1">
              <a:defRPr/>
            </a:pPr>
            <a:r>
              <a:rPr lang="en-US" sz="2400" smtClean="0"/>
              <a:t>There are various ways to define outliers:</a:t>
            </a:r>
          </a:p>
          <a:p>
            <a:pPr lvl="2" eaLnBrk="1" hangingPunct="1">
              <a:defRPr/>
            </a:pPr>
            <a:r>
              <a:rPr lang="en-US" sz="2000" smtClean="0"/>
              <a:t>Data points for which there are fewer than </a:t>
            </a:r>
            <a:r>
              <a:rPr lang="en-US" sz="2000" i="1" smtClean="0"/>
              <a:t>p</a:t>
            </a:r>
            <a:r>
              <a:rPr lang="en-US" sz="2000" smtClean="0"/>
              <a:t> neighboring points within a distance </a:t>
            </a:r>
            <a:r>
              <a:rPr lang="en-US" sz="2000" i="1" smtClean="0"/>
              <a:t>D</a:t>
            </a:r>
          </a:p>
          <a:p>
            <a:pPr lvl="4" eaLnBrk="1" hangingPunct="1">
              <a:defRPr/>
            </a:pPr>
            <a:endParaRPr lang="en-US" sz="1800" smtClean="0"/>
          </a:p>
          <a:p>
            <a:pPr lvl="2" eaLnBrk="1" hangingPunct="1">
              <a:defRPr/>
            </a:pPr>
            <a:r>
              <a:rPr lang="en-US" sz="2000" smtClean="0"/>
              <a:t>The top n data points whose distance to the kth nearest neighbor is greatest</a:t>
            </a:r>
          </a:p>
          <a:p>
            <a:pPr lvl="4" eaLnBrk="1" hangingPunct="1">
              <a:defRPr/>
            </a:pPr>
            <a:endParaRPr lang="en-US" sz="1800" smtClean="0"/>
          </a:p>
          <a:p>
            <a:pPr lvl="2" eaLnBrk="1" hangingPunct="1">
              <a:defRPr/>
            </a:pPr>
            <a:r>
              <a:rPr lang="en-US" sz="2000" smtClean="0"/>
              <a:t>The top n data points whose average distance to the k nearest neighbors is greatest 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endParaRPr lang="en-US" sz="2000" smtClean="0"/>
          </a:p>
        </p:txBody>
      </p:sp>
    </p:spTree>
    <p:extLst>
      <p:ext uri="{BB962C8B-B14F-4D97-AF65-F5344CB8AC3E}">
        <p14:creationId xmlns:p14="http://schemas.microsoft.com/office/powerpoint/2010/main" val="3406400935"/>
      </p:ext>
    </p:extLst>
  </p:cSld>
  <p:clrMapOvr>
    <a:masterClrMapping/>
  </p:clrMapOvr>
  <p:transition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Clustering-Based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5257800" cy="45307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Basic idea:</a:t>
            </a: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Cluster the data into groups of different density</a:t>
            </a: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Choose points in small cluster as </a:t>
            </a:r>
            <a:r>
              <a:rPr lang="en-US" altLang="zh-CN" smtClean="0">
                <a:ea typeface="SimSun" pitchFamily="2" charset="-122"/>
                <a:sym typeface="Wingdings" pitchFamily="2" charset="2"/>
              </a:rPr>
              <a:t>candidate outliers</a:t>
            </a:r>
            <a:endParaRPr lang="en-US" altLang="zh-CN" smtClean="0">
              <a:ea typeface="SimSun" pitchFamily="2" charset="-122"/>
            </a:endParaRP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Compute the distance between candidate points and non-candidate clusters. </a:t>
            </a:r>
          </a:p>
          <a:p>
            <a:pPr lvl="2" eaLnBrk="1" hangingPunct="1">
              <a:defRPr/>
            </a:pPr>
            <a:r>
              <a:rPr lang="en-US" altLang="zh-CN" smtClean="0">
                <a:ea typeface="SimSun" pitchFamily="2" charset="-122"/>
              </a:rPr>
              <a:t>If candidate points are far from all other non-candidate points, they are outliers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5410200" y="1905000"/>
            <a:ext cx="3733800" cy="3074988"/>
            <a:chOff x="3264" y="1231"/>
            <a:chExt cx="2352" cy="1937"/>
          </a:xfrm>
        </p:grpSpPr>
        <p:pic>
          <p:nvPicPr>
            <p:cNvPr id="5939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231"/>
              <a:ext cx="2352" cy="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398" name="Oval 6"/>
            <p:cNvSpPr>
              <a:spLocks noChangeArrowheads="1"/>
            </p:cNvSpPr>
            <p:nvPr/>
          </p:nvSpPr>
          <p:spPr bwMode="auto">
            <a:xfrm>
              <a:off x="3552" y="2011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399" name="Oval 7"/>
            <p:cNvSpPr>
              <a:spLocks noChangeArrowheads="1"/>
            </p:cNvSpPr>
            <p:nvPr/>
          </p:nvSpPr>
          <p:spPr bwMode="auto">
            <a:xfrm>
              <a:off x="4752" y="1957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0" name="Oval 8"/>
            <p:cNvSpPr>
              <a:spLocks noChangeArrowheads="1"/>
            </p:cNvSpPr>
            <p:nvPr/>
          </p:nvSpPr>
          <p:spPr bwMode="auto">
            <a:xfrm>
              <a:off x="5424" y="2683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1" name="Oval 9"/>
            <p:cNvSpPr>
              <a:spLocks noChangeArrowheads="1"/>
            </p:cNvSpPr>
            <p:nvPr/>
          </p:nvSpPr>
          <p:spPr bwMode="auto">
            <a:xfrm>
              <a:off x="4016" y="2779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2" name="Oval 10"/>
            <p:cNvSpPr>
              <a:spLocks noChangeArrowheads="1"/>
            </p:cNvSpPr>
            <p:nvPr/>
          </p:nvSpPr>
          <p:spPr bwMode="auto">
            <a:xfrm>
              <a:off x="3392" y="1771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 flipH="1">
              <a:off x="4224" y="2011"/>
              <a:ext cx="576" cy="96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>
              <a:off x="4800" y="2011"/>
              <a:ext cx="48" cy="768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 flipV="1">
              <a:off x="4800" y="1627"/>
              <a:ext cx="384" cy="384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6" name="Line 14"/>
            <p:cNvSpPr>
              <a:spLocks noChangeShapeType="1"/>
            </p:cNvSpPr>
            <p:nvPr/>
          </p:nvSpPr>
          <p:spPr bwMode="auto">
            <a:xfrm>
              <a:off x="4800" y="2011"/>
              <a:ext cx="672" cy="720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7" name="Line 15"/>
            <p:cNvSpPr>
              <a:spLocks noChangeShapeType="1"/>
            </p:cNvSpPr>
            <p:nvPr/>
          </p:nvSpPr>
          <p:spPr bwMode="auto">
            <a:xfrm flipH="1">
              <a:off x="3744" y="2011"/>
              <a:ext cx="1056" cy="336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442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2241</TotalTime>
  <Words>1819</Words>
  <Application>Microsoft Office PowerPoint</Application>
  <PresentationFormat>On-screen Show (4:3)</PresentationFormat>
  <Paragraphs>324</Paragraphs>
  <Slides>56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SimSun</vt:lpstr>
      <vt:lpstr>Arial</vt:lpstr>
      <vt:lpstr>Calibri</vt:lpstr>
      <vt:lpstr>Symbol</vt:lpstr>
      <vt:lpstr>Tahoma</vt:lpstr>
      <vt:lpstr>Times New Roman</vt:lpstr>
      <vt:lpstr>Wingdings</vt:lpstr>
      <vt:lpstr>Office Theme</vt:lpstr>
      <vt:lpstr>Bitmap Image</vt:lpstr>
      <vt:lpstr>Equation</vt:lpstr>
      <vt:lpstr>Clustering Validation &amp; Assessment</vt:lpstr>
      <vt:lpstr>Unsupervised measures of Cluster Validation</vt:lpstr>
      <vt:lpstr>Measuring Cluster Validity Via Correlation</vt:lpstr>
      <vt:lpstr>Correlation</vt:lpstr>
      <vt:lpstr>Measuring Cluster Validity Via Correlation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PowerPoint Presentation</vt:lpstr>
      <vt:lpstr>Internal Measures: SSE</vt:lpstr>
      <vt:lpstr>Internal Measures: SSE</vt:lpstr>
      <vt:lpstr>Inverse Scree Test</vt:lpstr>
      <vt:lpstr>Supervised/External measures of Cluster Validation</vt:lpstr>
      <vt:lpstr>External Measures of Cluster Validity: Entropy and Purity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Framework for Cluster Validity</vt:lpstr>
      <vt:lpstr>Statistical Framework for SSE</vt:lpstr>
      <vt:lpstr>Statistical Framework for Correlation</vt:lpstr>
      <vt:lpstr>Final Comment on Cluster Validity</vt:lpstr>
      <vt:lpstr>Anomaly</vt:lpstr>
      <vt:lpstr>Anomaly/Outlier Analysis</vt:lpstr>
      <vt:lpstr>Anomaly/Outlier Analysis</vt:lpstr>
      <vt:lpstr>Anomaly/Outlier Detection</vt:lpstr>
      <vt:lpstr>Importance of Anomaly Detection</vt:lpstr>
      <vt:lpstr>Anomaly Detection</vt:lpstr>
      <vt:lpstr>Causes of Anomalies </vt:lpstr>
      <vt:lpstr>Distinction Between Noise and Anomalies </vt:lpstr>
      <vt:lpstr>General Issues: Number of Attributes</vt:lpstr>
      <vt:lpstr>General Issues: Anomaly Scoring</vt:lpstr>
      <vt:lpstr>Other Issues for Anomaly Detection</vt:lpstr>
      <vt:lpstr>Anomaly Detection Schemes </vt:lpstr>
      <vt:lpstr>Graphical Approaches</vt:lpstr>
      <vt:lpstr>Convex Hull Method</vt:lpstr>
      <vt:lpstr>Statistical Approaches</vt:lpstr>
      <vt:lpstr>Grubbs’ Test</vt:lpstr>
      <vt:lpstr>Statistical-based–Likelihood Approach</vt:lpstr>
      <vt:lpstr>Limitations of Statistical Approaches </vt:lpstr>
      <vt:lpstr>Distance-based Approaches</vt:lpstr>
      <vt:lpstr>Nearest-Neighbor Based Approach</vt:lpstr>
      <vt:lpstr>Clustering-Based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60</cp:revision>
  <dcterms:created xsi:type="dcterms:W3CDTF">2016-03-31T23:17:38Z</dcterms:created>
  <dcterms:modified xsi:type="dcterms:W3CDTF">2018-04-16T10:19:21Z</dcterms:modified>
</cp:coreProperties>
</file>