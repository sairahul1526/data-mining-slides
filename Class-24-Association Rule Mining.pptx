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42"/>
  </p:notesMasterIdLst>
  <p:sldIdLst>
    <p:sldId id="256" r:id="rId2"/>
    <p:sldId id="337" r:id="rId3"/>
    <p:sldId id="338" r:id="rId4"/>
    <p:sldId id="332" r:id="rId5"/>
    <p:sldId id="333" r:id="rId6"/>
    <p:sldId id="334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77138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0D7F308-6E47-4D76-9E52-41B4AC0F7E93}" type="slidenum">
              <a:rPr lang="en-GB"/>
              <a:pPr/>
              <a:t>9</a:t>
            </a:fld>
            <a:endParaRPr lang="en-GB"/>
          </a:p>
        </p:txBody>
      </p:sp>
      <p:sp>
        <p:nvSpPr>
          <p:cNvPr id="95233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62E1B3F4-88B3-47C8-918B-F95D17E9A80E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9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5235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0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8660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62652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165115B-5636-420C-81C7-CE7DFD6BF3D6}" type="slidenum">
              <a:rPr lang="en-GB"/>
              <a:pPr/>
              <a:t>14</a:t>
            </a:fld>
            <a:endParaRPr lang="en-GB"/>
          </a:p>
        </p:txBody>
      </p:sp>
      <p:sp>
        <p:nvSpPr>
          <p:cNvPr id="96257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ED69D6B5-D2EE-4F89-BE3D-F6BCB52B33B5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14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6259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72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8DF41F8-C733-4E28-96EC-B11BB87154B1}" type="slidenum">
              <a:rPr lang="en-GB"/>
              <a:pPr/>
              <a:t>15</a:t>
            </a:fld>
            <a:endParaRPr lang="en-GB"/>
          </a:p>
        </p:txBody>
      </p:sp>
      <p:sp>
        <p:nvSpPr>
          <p:cNvPr id="97281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9CF00A34-251A-440E-BA55-323B632749FE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15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7283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65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FC040F-1C7E-4CFF-9DF6-BF767E31B63F}" type="slidenum">
              <a:rPr lang="en-GB"/>
              <a:pPr/>
              <a:t>16</a:t>
            </a:fld>
            <a:endParaRPr lang="en-GB"/>
          </a:p>
        </p:txBody>
      </p:sp>
      <p:sp>
        <p:nvSpPr>
          <p:cNvPr id="98305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3E3B166B-9B12-4F13-BCA0-B2F1F5AA9E5A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16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8307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42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4046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5824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68554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83354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19-Mar-18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20E9E8-6A2C-4426-BDED-10FE704E6DEA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15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19-Mar-18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EC1609-A737-4B3E-BFE2-7CCC5D81AC88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72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40678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2677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58877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83331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547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3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09800" y="4038600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Apriori</a:t>
            </a:r>
            <a:r>
              <a:rPr lang="en-US" sz="2000" dirty="0" smtClean="0"/>
              <a:t> Algorithm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Frequent Itemset Generation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410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Brute-force approach: 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Each </a:t>
            </a:r>
            <a:r>
              <a:rPr lang="en-US" altLang="en-US" sz="2800" dirty="0" err="1" smtClean="0">
                <a:effectLst/>
              </a:rPr>
              <a:t>itemset</a:t>
            </a:r>
            <a:r>
              <a:rPr lang="en-US" altLang="en-US" sz="2800" dirty="0" smtClean="0">
                <a:effectLst/>
              </a:rPr>
              <a:t> in the lattice is a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candidate</a:t>
            </a:r>
            <a:r>
              <a:rPr lang="en-US" altLang="en-US" sz="2800" dirty="0" smtClean="0">
                <a:effectLst/>
              </a:rPr>
              <a:t> frequent </a:t>
            </a:r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lvl="1" eaLnBrk="1" hangingPunct="1"/>
            <a:r>
              <a:rPr lang="en-US" altLang="en-US" sz="2800" dirty="0" smtClean="0">
                <a:effectLst/>
              </a:rPr>
              <a:t>Count the support of each candidate by scanning the database</a:t>
            </a: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800" dirty="0"/>
          </a:p>
          <a:p>
            <a:pPr lvl="1" eaLnBrk="1" hangingPunct="1"/>
            <a:r>
              <a:rPr lang="en-US" altLang="en-US" sz="2800" dirty="0" smtClean="0">
                <a:effectLst/>
              </a:rPr>
              <a:t>Match each transaction against every candidate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Complexity ~ O(</a:t>
            </a:r>
            <a:r>
              <a:rPr lang="en-US" altLang="en-US" sz="2800" dirty="0" err="1" smtClean="0">
                <a:effectLst/>
              </a:rPr>
              <a:t>NMw</a:t>
            </a:r>
            <a:r>
              <a:rPr lang="en-US" altLang="en-US" sz="2800" dirty="0" smtClean="0">
                <a:effectLst/>
              </a:rPr>
              <a:t>) =&gt;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Expensive since M = 2</a:t>
            </a:r>
            <a:r>
              <a:rPr lang="en-US" altLang="en-US" sz="2800" baseline="30000" dirty="0" smtClean="0">
                <a:solidFill>
                  <a:srgbClr val="FF0000"/>
                </a:solidFill>
                <a:effectLst/>
              </a:rPr>
              <a:t>d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 </a:t>
            </a:r>
            <a:r>
              <a:rPr lang="en-US" altLang="en-US" sz="2800" dirty="0" smtClean="0">
                <a:effectLst/>
              </a:rPr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143000" y="2971800"/>
          <a:ext cx="7281863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1" name="Visio" r:id="rId3" imgW="7643978" imgH="2744343" progId="Visio.Drawing.6">
                  <p:embed/>
                </p:oleObj>
              </mc:Choice>
              <mc:Fallback>
                <p:oleObj name="Visio" r:id="rId3" imgW="7643978" imgH="274434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7281863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454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/>
              <a:t>Frequent </a:t>
            </a:r>
            <a:r>
              <a:rPr lang="en-US" sz="4000" dirty="0" err="1" smtClean="0"/>
              <a:t>Itemset</a:t>
            </a:r>
            <a:r>
              <a:rPr lang="en-US" sz="4000" dirty="0" smtClean="0"/>
              <a:t> Generation Strategies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candidates</a:t>
            </a:r>
            <a:r>
              <a:rPr lang="en-US" altLang="en-US" sz="2800" dirty="0" smtClean="0">
                <a:effectLst/>
              </a:rPr>
              <a:t> 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Complete search: M=2</a:t>
            </a:r>
            <a:r>
              <a:rPr lang="en-US" altLang="en-US" sz="2400" baseline="30000" dirty="0" smtClean="0">
                <a:effectLst/>
              </a:rPr>
              <a:t>d   </a:t>
            </a:r>
            <a:r>
              <a:rPr lang="en-US" altLang="en-US" sz="2400" dirty="0" smtClean="0">
                <a:effectLst/>
              </a:rPr>
              <a:t>- 1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pruning techniques to reduce M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6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transactions </a:t>
            </a:r>
            <a:r>
              <a:rPr lang="en-US" altLang="en-US" sz="2800" dirty="0" smtClean="0">
                <a:effectLst/>
              </a:rPr>
              <a:t>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Reduce size of N as the size of </a:t>
            </a:r>
            <a:r>
              <a:rPr lang="en-US" altLang="en-US" sz="2400" dirty="0" err="1" smtClean="0">
                <a:effectLst/>
              </a:rPr>
              <a:t>itemset</a:t>
            </a:r>
            <a:r>
              <a:rPr lang="en-US" altLang="en-US" sz="2400" dirty="0" smtClean="0">
                <a:effectLst/>
              </a:rPr>
              <a:t> increases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Used by DHP and vertical-based mining algorithms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1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comparisons</a:t>
            </a:r>
            <a:r>
              <a:rPr lang="en-US" altLang="en-US" sz="2800" dirty="0" smtClean="0">
                <a:effectLst/>
              </a:rPr>
              <a:t> (NM)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efficient data structures to store the candidates or transactions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No need to match every candidate against every transaction</a:t>
            </a:r>
          </a:p>
        </p:txBody>
      </p:sp>
    </p:spTree>
    <p:extLst>
      <p:ext uri="{BB962C8B-B14F-4D97-AF65-F5344CB8AC3E}">
        <p14:creationId xmlns:p14="http://schemas.microsoft.com/office/powerpoint/2010/main" val="177447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965200"/>
            <a:ext cx="6483350" cy="492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348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85801"/>
            <a:ext cx="8439150" cy="510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357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3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3820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69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Support Counting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4724400"/>
          </a:xfrm>
        </p:spPr>
        <p:txBody>
          <a:bodyPr/>
          <a:lstStyle/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Compare each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against every candidate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&amp; update the support count of candidates contained in the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Computationally expensive when no. of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&amp; no. of candidates is large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How to make it efficient?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Enumerate all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contained in a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&amp; use them to update support counts of their respective CIs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T1 has {1,2,3,5,6}.  </a:t>
            </a:r>
            <a:r>
              <a:rPr lang="en-US" altLang="en-US" sz="2400" baseline="30000" dirty="0" smtClean="0">
                <a:solidFill>
                  <a:schemeClr val="tx2"/>
                </a:solidFill>
                <a:sym typeface="Symbol" panose="05050102010706020507" pitchFamily="18" charset="2"/>
              </a:rPr>
              <a:t>5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baseline="-25000" dirty="0" smtClean="0">
                <a:solidFill>
                  <a:schemeClr val="tx2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= 10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of size 3. some of these 10 will correspond to C</a:t>
            </a:r>
            <a:r>
              <a:rPr lang="en-US" altLang="en-US" sz="2400" baseline="-25000" dirty="0" smtClean="0">
                <a:solidFill>
                  <a:schemeClr val="tx2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Others are ignored.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How to make matching operation efficient?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Use HASH TREE!!!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098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</a:t>
            </a:r>
          </a:p>
        </p:txBody>
      </p:sp>
      <p:graphicFrame>
        <p:nvGraphicFramePr>
          <p:cNvPr id="25603" name="Object 3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2220621" y="1654174"/>
          <a:ext cx="670877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Visio" r:id="rId3" imgW="9765132" imgH="7372400" progId="Visio.Drawing.6">
                  <p:embed/>
                </p:oleObj>
              </mc:Choice>
              <mc:Fallback>
                <p:oleObj name="Visio" r:id="rId3" imgW="9765132" imgH="7372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621" y="1654174"/>
                        <a:ext cx="670877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52400" y="1054010"/>
            <a:ext cx="3276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Given a transaction t, what are the possible subsets of size 3?</a:t>
            </a:r>
          </a:p>
        </p:txBody>
      </p:sp>
    </p:spTree>
    <p:extLst>
      <p:ext uri="{BB962C8B-B14F-4D97-AF65-F5344CB8AC3E}">
        <p14:creationId xmlns:p14="http://schemas.microsoft.com/office/powerpoint/2010/main" val="247314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/>
          <p:cNvSpPr txBox="1">
            <a:spLocks noChangeArrowheads="1"/>
          </p:cNvSpPr>
          <p:nvPr/>
        </p:nvSpPr>
        <p:spPr bwMode="auto">
          <a:xfrm>
            <a:off x="228600" y="334963"/>
            <a:ext cx="8915400" cy="1311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LGC Sans" charset="0"/>
                <a:cs typeface="DejaVu LGC Sans" charset="0"/>
              </a:rPr>
              <a:t>How to Count Supports of Candidates?</a:t>
            </a:r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609600" y="1676400"/>
            <a:ext cx="8077200" cy="449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284163" indent="-284163">
              <a:lnSpc>
                <a:spcPct val="110000"/>
              </a:lnSpc>
              <a:spcBef>
                <a:spcPts val="500"/>
              </a:spcBef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>
                <a:solidFill>
                  <a:srgbClr val="000000"/>
                </a:solidFill>
                <a:ea typeface="DejaVu LGC Sans" charset="0"/>
                <a:cs typeface="DejaVu LGC Sans" charset="0"/>
              </a:rPr>
              <a:t>Method</a:t>
            </a:r>
            <a:r>
              <a:rPr lang="en-GB" sz="24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: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Candidate </a:t>
            </a:r>
            <a:r>
              <a:rPr lang="en-GB" sz="20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itemsets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are stored in a </a:t>
            </a: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hash-tree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Leaf </a:t>
            </a:r>
            <a:r>
              <a:rPr lang="en-GB" sz="2000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node 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of hash-tree contains a list of </a:t>
            </a:r>
            <a:r>
              <a:rPr lang="en-GB" sz="20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itemsets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and counts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Interior </a:t>
            </a:r>
            <a:r>
              <a:rPr lang="en-GB" sz="2000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node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contains a hash table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Subset function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: finds all the candidates contained in a transaction</a:t>
            </a:r>
          </a:p>
        </p:txBody>
      </p:sp>
    </p:spTree>
    <p:extLst>
      <p:ext uri="{BB962C8B-B14F-4D97-AF65-F5344CB8AC3E}">
        <p14:creationId xmlns:p14="http://schemas.microsoft.com/office/powerpoint/2010/main" val="3284070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Reducing Number of Comparisons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3048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Candidate counting: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Scan the database of transactions to determine the support of each candidate </a:t>
            </a:r>
            <a:r>
              <a:rPr lang="en-US" sz="2400" dirty="0" err="1" smtClean="0"/>
              <a:t>itemset</a:t>
            </a:r>
            <a:endParaRPr 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 reduce the number of comparisons, store the candidates in a hash structure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200" dirty="0" smtClean="0"/>
              <a:t> Instead of matching each transaction against every candidate, match it against candidates contained in the hashed buckets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066800" y="4114800"/>
          <a:ext cx="682466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5" name="Visio" r:id="rId3" imgW="7643978" imgH="3191008" progId="Visio.Drawing.6">
                  <p:embed/>
                </p:oleObj>
              </mc:Choice>
              <mc:Fallback>
                <p:oleObj name="Visio" r:id="rId3" imgW="7643978" imgH="319100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14800"/>
                        <a:ext cx="682466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4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Hash Tree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r>
              <a:rPr lang="en-US" altLang="en-US" sz="2400" dirty="0" smtClean="0">
                <a:solidFill>
                  <a:schemeClr val="tx2"/>
                </a:solidFill>
              </a:rPr>
              <a:t>Partition CIs into different buckets and store them in hash tree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During support counting,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</a:rPr>
              <a:t> in each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</a:rPr>
              <a:t>. are also hashed into their appropriate buckets using the same hash function</a:t>
            </a:r>
          </a:p>
          <a:p>
            <a:endParaRPr lang="en-US" altLang="en-US" sz="2400" dirty="0" smtClean="0">
              <a:solidFill>
                <a:schemeClr val="tx2"/>
              </a:solidFill>
            </a:endParaRP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2" y="2743200"/>
            <a:ext cx="6567488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629400" y="289560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for C</a:t>
            </a:r>
            <a:r>
              <a:rPr lang="en-US" altLang="en-US" sz="24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165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Hash Tree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2775" y="1600200"/>
            <a:ext cx="8153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Example: 3-itemset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All candidate 3-itemsets are hashed 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Enumerate all the 3-itemsets of the </a:t>
            </a:r>
            <a:r>
              <a:rPr lang="en-US" sz="2800" dirty="0" err="1">
                <a:solidFill>
                  <a:schemeClr val="tx2"/>
                </a:solidFill>
                <a:latin typeface="+mn-lt"/>
                <a:sym typeface="Symbol" pitchFamily="18" charset="2"/>
              </a:rPr>
              <a:t>tx</a:t>
            </a: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.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All 3-itemsets contained in a transaction are also hashed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Comparison of a 3-itemset of </a:t>
            </a:r>
            <a:r>
              <a:rPr lang="en-US" sz="2800" dirty="0" err="1">
                <a:solidFill>
                  <a:schemeClr val="tx2"/>
                </a:solidFill>
                <a:latin typeface="+mn-lt"/>
                <a:sym typeface="Symbol" pitchFamily="18" charset="2"/>
              </a:rPr>
              <a:t>tx</a:t>
            </a: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. with all candidate 3-itemsets is avoided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Comparison is required to be done only in the appropriate bucket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Saves </a:t>
            </a:r>
            <a:r>
              <a:rPr lang="en-US" sz="2800">
                <a:solidFill>
                  <a:schemeClr val="tx2"/>
                </a:solidFill>
                <a:latin typeface="+mn-lt"/>
                <a:sym typeface="Symbol" pitchFamily="18" charset="2"/>
              </a:rPr>
              <a:t>time </a:t>
            </a:r>
            <a:r>
              <a:rPr lang="en-US" sz="2800">
                <a:solidFill>
                  <a:schemeClr val="tx2"/>
                </a:solidFill>
                <a:latin typeface="+mn-lt"/>
                <a:sym typeface="Wingdings" pitchFamily="2" charset="2"/>
              </a:rPr>
              <a:t></a:t>
            </a:r>
            <a:endParaRPr lang="en-US" sz="2800" dirty="0">
              <a:solidFill>
                <a:schemeClr val="tx2"/>
              </a:solidFill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603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82804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Generate Hash Tree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3810000" y="3886200"/>
            <a:ext cx="4681538" cy="2446338"/>
            <a:chOff x="1632" y="1536"/>
            <a:chExt cx="3143" cy="1750"/>
          </a:xfrm>
        </p:grpSpPr>
        <p:sp>
          <p:nvSpPr>
            <p:cNvPr id="26638" name="Line 4"/>
            <p:cNvSpPr>
              <a:spLocks noChangeShapeType="1"/>
            </p:cNvSpPr>
            <p:nvPr/>
          </p:nvSpPr>
          <p:spPr bwMode="auto">
            <a:xfrm flipH="1">
              <a:off x="2496" y="1536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5"/>
            <p:cNvSpPr>
              <a:spLocks noChangeShapeType="1"/>
            </p:cNvSpPr>
            <p:nvPr/>
          </p:nvSpPr>
          <p:spPr bwMode="auto">
            <a:xfrm>
              <a:off x="3168" y="1536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6"/>
            <p:cNvSpPr>
              <a:spLocks noChangeShapeType="1"/>
            </p:cNvSpPr>
            <p:nvPr/>
          </p:nvSpPr>
          <p:spPr bwMode="auto">
            <a:xfrm>
              <a:off x="316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Text Box 7"/>
            <p:cNvSpPr txBox="1">
              <a:spLocks noChangeArrowheads="1"/>
            </p:cNvSpPr>
            <p:nvPr/>
          </p:nvSpPr>
          <p:spPr bwMode="auto">
            <a:xfrm>
              <a:off x="2976" y="1728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2 3 4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5 6 7</a:t>
              </a:r>
            </a:p>
          </p:txBody>
        </p:sp>
        <p:sp>
          <p:nvSpPr>
            <p:cNvPr id="26642" name="Line 8"/>
            <p:cNvSpPr>
              <a:spLocks noChangeShapeType="1"/>
            </p:cNvSpPr>
            <p:nvPr/>
          </p:nvSpPr>
          <p:spPr bwMode="auto">
            <a:xfrm flipH="1">
              <a:off x="1917" y="1871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Text Box 9"/>
            <p:cNvSpPr txBox="1">
              <a:spLocks noChangeArrowheads="1"/>
            </p:cNvSpPr>
            <p:nvPr/>
          </p:nvSpPr>
          <p:spPr bwMode="auto">
            <a:xfrm>
              <a:off x="1728" y="215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1 4 5</a:t>
              </a:r>
            </a:p>
          </p:txBody>
        </p:sp>
        <p:sp>
          <p:nvSpPr>
            <p:cNvPr id="26644" name="Line 10"/>
            <p:cNvSpPr>
              <a:spLocks noChangeShapeType="1"/>
            </p:cNvSpPr>
            <p:nvPr/>
          </p:nvSpPr>
          <p:spPr bwMode="auto">
            <a:xfrm>
              <a:off x="2493" y="1871"/>
              <a:ext cx="3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11"/>
            <p:cNvSpPr>
              <a:spLocks noChangeShapeType="1"/>
            </p:cNvSpPr>
            <p:nvPr/>
          </p:nvSpPr>
          <p:spPr bwMode="auto">
            <a:xfrm>
              <a:off x="2493" y="1871"/>
              <a:ext cx="576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Text Box 12"/>
            <p:cNvSpPr txBox="1">
              <a:spLocks noChangeArrowheads="1"/>
            </p:cNvSpPr>
            <p:nvPr/>
          </p:nvSpPr>
          <p:spPr bwMode="auto">
            <a:xfrm>
              <a:off x="2870" y="2265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1 3 6</a:t>
              </a:r>
            </a:p>
          </p:txBody>
        </p:sp>
        <p:sp>
          <p:nvSpPr>
            <p:cNvPr id="26647" name="Line 13"/>
            <p:cNvSpPr>
              <a:spLocks noChangeShapeType="1"/>
            </p:cNvSpPr>
            <p:nvPr/>
          </p:nvSpPr>
          <p:spPr bwMode="auto">
            <a:xfrm flipH="1">
              <a:off x="1824" y="2352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Text Box 14"/>
            <p:cNvSpPr txBox="1">
              <a:spLocks noChangeArrowheads="1"/>
            </p:cNvSpPr>
            <p:nvPr/>
          </p:nvSpPr>
          <p:spPr bwMode="auto">
            <a:xfrm>
              <a:off x="1632" y="2640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1 2 4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4 5 7</a:t>
              </a:r>
            </a:p>
          </p:txBody>
        </p:sp>
        <p:sp>
          <p:nvSpPr>
            <p:cNvPr id="26649" name="Line 15"/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Text Box 16"/>
            <p:cNvSpPr txBox="1">
              <a:spLocks noChangeArrowheads="1"/>
            </p:cNvSpPr>
            <p:nvPr/>
          </p:nvSpPr>
          <p:spPr bwMode="auto">
            <a:xfrm>
              <a:off x="2255" y="2784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4 5 8</a:t>
              </a:r>
            </a:p>
          </p:txBody>
        </p:sp>
        <p:sp>
          <p:nvSpPr>
            <p:cNvPr id="26651" name="Line 17"/>
            <p:cNvSpPr>
              <a:spLocks noChangeShapeType="1"/>
            </p:cNvSpPr>
            <p:nvPr/>
          </p:nvSpPr>
          <p:spPr bwMode="auto">
            <a:xfrm>
              <a:off x="2496" y="2352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Text Box 18"/>
            <p:cNvSpPr txBox="1">
              <a:spLocks noChangeArrowheads="1"/>
            </p:cNvSpPr>
            <p:nvPr/>
          </p:nvSpPr>
          <p:spPr bwMode="auto">
            <a:xfrm>
              <a:off x="2832" y="2784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1 5 9</a:t>
              </a:r>
            </a:p>
          </p:txBody>
        </p:sp>
        <p:sp>
          <p:nvSpPr>
            <p:cNvPr id="26653" name="Line 19"/>
            <p:cNvSpPr>
              <a:spLocks noChangeShapeType="1"/>
            </p:cNvSpPr>
            <p:nvPr/>
          </p:nvSpPr>
          <p:spPr bwMode="auto">
            <a:xfrm flipH="1">
              <a:off x="3456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Text Box 20"/>
            <p:cNvSpPr txBox="1">
              <a:spLocks noChangeArrowheads="1"/>
            </p:cNvSpPr>
            <p:nvPr/>
          </p:nvSpPr>
          <p:spPr bwMode="auto">
            <a:xfrm>
              <a:off x="3254" y="216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3 4 5</a:t>
              </a:r>
            </a:p>
          </p:txBody>
        </p:sp>
        <p:sp>
          <p:nvSpPr>
            <p:cNvPr id="26655" name="Line 21"/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Text Box 22"/>
            <p:cNvSpPr txBox="1">
              <a:spLocks noChangeArrowheads="1"/>
            </p:cNvSpPr>
            <p:nvPr/>
          </p:nvSpPr>
          <p:spPr bwMode="auto">
            <a:xfrm>
              <a:off x="3792" y="2160"/>
              <a:ext cx="46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3 5 6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3 5 7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6 8 9</a:t>
              </a:r>
            </a:p>
          </p:txBody>
        </p:sp>
        <p:sp>
          <p:nvSpPr>
            <p:cNvPr id="26657" name="Line 23"/>
            <p:cNvSpPr>
              <a:spLocks noChangeShapeType="1"/>
            </p:cNvSpPr>
            <p:nvPr/>
          </p:nvSpPr>
          <p:spPr bwMode="auto">
            <a:xfrm>
              <a:off x="3984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Text Box 24"/>
            <p:cNvSpPr txBox="1">
              <a:spLocks noChangeArrowheads="1"/>
            </p:cNvSpPr>
            <p:nvPr/>
          </p:nvSpPr>
          <p:spPr bwMode="auto">
            <a:xfrm>
              <a:off x="4310" y="2121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3 6 7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3 6 8</a:t>
              </a:r>
            </a:p>
          </p:txBody>
        </p:sp>
      </p:grpSp>
      <p:grpSp>
        <p:nvGrpSpPr>
          <p:cNvPr id="26628" name="Group 25"/>
          <p:cNvGrpSpPr>
            <a:grpSpLocks/>
          </p:cNvGrpSpPr>
          <p:nvPr/>
        </p:nvGrpSpPr>
        <p:grpSpPr bwMode="auto">
          <a:xfrm>
            <a:off x="533400" y="4237038"/>
            <a:ext cx="2286000" cy="1249362"/>
            <a:chOff x="144" y="912"/>
            <a:chExt cx="1440" cy="787"/>
          </a:xfrm>
        </p:grpSpPr>
        <p:sp>
          <p:nvSpPr>
            <p:cNvPr id="26630" name="Line 26"/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Line 27"/>
            <p:cNvSpPr>
              <a:spLocks noChangeShapeType="1"/>
            </p:cNvSpPr>
            <p:nvPr/>
          </p:nvSpPr>
          <p:spPr bwMode="auto">
            <a:xfrm>
              <a:off x="864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Text Box 28"/>
            <p:cNvSpPr txBox="1">
              <a:spLocks noChangeArrowheads="1"/>
            </p:cNvSpPr>
            <p:nvPr/>
          </p:nvSpPr>
          <p:spPr bwMode="auto"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1,4,7</a:t>
              </a:r>
            </a:p>
          </p:txBody>
        </p:sp>
        <p:sp>
          <p:nvSpPr>
            <p:cNvPr id="26633" name="Text Box 29"/>
            <p:cNvSpPr txBox="1">
              <a:spLocks noChangeArrowheads="1"/>
            </p:cNvSpPr>
            <p:nvPr/>
          </p:nvSpPr>
          <p:spPr bwMode="auto"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2,5,8</a:t>
              </a:r>
            </a:p>
          </p:txBody>
        </p:sp>
        <p:sp>
          <p:nvSpPr>
            <p:cNvPr id="26634" name="Line 30"/>
            <p:cNvSpPr>
              <a:spLocks noChangeShapeType="1"/>
            </p:cNvSpPr>
            <p:nvPr/>
          </p:nvSpPr>
          <p:spPr bwMode="auto">
            <a:xfrm>
              <a:off x="864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Text Box 31"/>
            <p:cNvSpPr txBox="1">
              <a:spLocks noChangeArrowheads="1"/>
            </p:cNvSpPr>
            <p:nvPr/>
          </p:nvSpPr>
          <p:spPr bwMode="auto"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3,6,9</a:t>
              </a:r>
            </a:p>
          </p:txBody>
        </p:sp>
        <p:sp>
          <p:nvSpPr>
            <p:cNvPr id="26636" name="Text Box 32"/>
            <p:cNvSpPr txBox="1">
              <a:spLocks noChangeArrowheads="1"/>
            </p:cNvSpPr>
            <p:nvPr/>
          </p:nvSpPr>
          <p:spPr bwMode="auto">
            <a:xfrm>
              <a:off x="336" y="912"/>
              <a:ext cx="10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Hash function</a:t>
              </a:r>
            </a:p>
          </p:txBody>
        </p:sp>
        <p:sp>
          <p:nvSpPr>
            <p:cNvPr id="26637" name="Rectangle 33"/>
            <p:cNvSpPr>
              <a:spLocks noChangeArrowheads="1"/>
            </p:cNvSpPr>
            <p:nvPr/>
          </p:nvSpPr>
          <p:spPr bwMode="auto">
            <a:xfrm>
              <a:off x="144" y="912"/>
              <a:ext cx="1440" cy="76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</p:grpSp>
      <p:sp>
        <p:nvSpPr>
          <p:cNvPr id="26629" name="Text Box 34"/>
          <p:cNvSpPr txBox="1">
            <a:spLocks noChangeArrowheads="1"/>
          </p:cNvSpPr>
          <p:nvPr/>
        </p:nvSpPr>
        <p:spPr bwMode="auto">
          <a:xfrm>
            <a:off x="349723" y="618249"/>
            <a:ext cx="830580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Suppose you have 15 candidate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of length 3: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{1 4 5}, {1 2 4}, {4 5 7}, {1 2 5}, {4 5 8}, {1 5 9}, {1 3 6}, {2 3 4}, {5 6 7}, {3 4 5}, {3 5 6}, {3 5 7}, {6 8 9}, {3 6 7}, {3 6 8}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You need: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Hash </a:t>
            </a:r>
            <a:r>
              <a:rPr lang="en-US" altLang="en-US" sz="2000" dirty="0" smtClean="0">
                <a:latin typeface="Arial" panose="020B0604020202020204" pitchFamily="34" charset="0"/>
              </a:rPr>
              <a:t>function: </a:t>
            </a: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For each internal node use hash fn. h(p) = p mod 3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All candidate </a:t>
            </a:r>
            <a:r>
              <a:rPr lang="en-US" sz="2000" dirty="0" err="1">
                <a:solidFill>
                  <a:schemeClr val="tx2"/>
                </a:solidFill>
                <a:sym typeface="Symbol" pitchFamily="18" charset="2"/>
              </a:rPr>
              <a:t>itemsets</a:t>
            </a: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 are stored at the leaf nodes of the hash tree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Max leaf size: max number of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stored in a leaf node (if number of candidate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exceeds max leaf size, split the node)</a:t>
            </a:r>
          </a:p>
        </p:txBody>
      </p:sp>
    </p:spTree>
    <p:extLst>
      <p:ext uri="{BB962C8B-B14F-4D97-AF65-F5344CB8AC3E}">
        <p14:creationId xmlns:p14="http://schemas.microsoft.com/office/powerpoint/2010/main" val="13550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397108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grpSp>
        <p:nvGrpSpPr>
          <p:cNvPr id="27654" name="Group 6"/>
          <p:cNvGrpSpPr>
            <a:grpSpLocks/>
          </p:cNvGrpSpPr>
          <p:nvPr/>
        </p:nvGrpSpPr>
        <p:grpSpPr bwMode="auto">
          <a:xfrm>
            <a:off x="1219202" y="2133600"/>
            <a:ext cx="358776" cy="366713"/>
            <a:chOff x="768" y="1344"/>
            <a:chExt cx="226" cy="231"/>
          </a:xfrm>
        </p:grpSpPr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627063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grpSp>
        <p:nvGrpSpPr>
          <p:cNvPr id="27663" name="Group 15"/>
          <p:cNvGrpSpPr>
            <a:grpSpLocks/>
          </p:cNvGrpSpPr>
          <p:nvPr/>
        </p:nvGrpSpPr>
        <p:grpSpPr bwMode="auto">
          <a:xfrm>
            <a:off x="5029207" y="2182819"/>
            <a:ext cx="358776" cy="366713"/>
            <a:chOff x="3168" y="1375"/>
            <a:chExt cx="226" cy="231"/>
          </a:xfrm>
        </p:grpSpPr>
        <p:sp>
          <p:nvSpPr>
            <p:cNvPr id="27664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65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7668" name="Group 20"/>
          <p:cNvGrpSpPr>
            <a:grpSpLocks/>
          </p:cNvGrpSpPr>
          <p:nvPr/>
        </p:nvGrpSpPr>
        <p:grpSpPr bwMode="auto">
          <a:xfrm>
            <a:off x="4087807" y="2944821"/>
            <a:ext cx="358774" cy="366713"/>
            <a:chOff x="2575" y="1855"/>
            <a:chExt cx="226" cy="231"/>
          </a:xfrm>
        </p:grpSpPr>
        <p:sp>
          <p:nvSpPr>
            <p:cNvPr id="27669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0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7671" name="Group 23"/>
          <p:cNvGrpSpPr>
            <a:grpSpLocks/>
          </p:cNvGrpSpPr>
          <p:nvPr/>
        </p:nvGrpSpPr>
        <p:grpSpPr bwMode="auto">
          <a:xfrm>
            <a:off x="5976930" y="2944821"/>
            <a:ext cx="358774" cy="366713"/>
            <a:chOff x="3765" y="1855"/>
            <a:chExt cx="226" cy="231"/>
          </a:xfrm>
        </p:grpSpPr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3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7675" name="Group 27"/>
          <p:cNvGrpSpPr>
            <a:grpSpLocks/>
          </p:cNvGrpSpPr>
          <p:nvPr/>
        </p:nvGrpSpPr>
        <p:grpSpPr bwMode="auto">
          <a:xfrm>
            <a:off x="4087807" y="3783023"/>
            <a:ext cx="358774" cy="366713"/>
            <a:chOff x="2575" y="2383"/>
            <a:chExt cx="226" cy="231"/>
          </a:xfrm>
        </p:grpSpPr>
        <p:sp>
          <p:nvSpPr>
            <p:cNvPr id="27676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7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1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2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7683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7684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7685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6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7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8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9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90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7691" name="Text Box 43"/>
          <p:cNvSpPr txBox="1">
            <a:spLocks noChangeArrowheads="1"/>
          </p:cNvSpPr>
          <p:nvPr/>
        </p:nvSpPr>
        <p:spPr bwMode="auto">
          <a:xfrm>
            <a:off x="5832474" y="3721100"/>
            <a:ext cx="601664" cy="74084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357</a:t>
            </a:r>
            <a:endParaRPr lang="en-GB" sz="1400" b="1" dirty="0">
              <a:solidFill>
                <a:srgbClr val="000000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7692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7693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94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7695" name="Text Box 47"/>
          <p:cNvSpPr txBox="1">
            <a:spLocks noChangeArrowheads="1"/>
          </p:cNvSpPr>
          <p:nvPr/>
        </p:nvSpPr>
        <p:spPr bwMode="auto">
          <a:xfrm>
            <a:off x="885825" y="3965575"/>
            <a:ext cx="208772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3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rd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7696" name="Line 48"/>
          <p:cNvSpPr>
            <a:spLocks noChangeShapeType="1"/>
          </p:cNvSpPr>
          <p:nvPr/>
        </p:nvSpPr>
        <p:spPr bwMode="auto">
          <a:xfrm>
            <a:off x="5181600" y="1949450"/>
            <a:ext cx="1588" cy="2428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50" name="Line 38"/>
          <p:cNvSpPr>
            <a:spLocks noChangeShapeType="1"/>
          </p:cNvSpPr>
          <p:nvPr/>
        </p:nvSpPr>
        <p:spPr bwMode="auto">
          <a:xfrm>
            <a:off x="4280464" y="3340206"/>
            <a:ext cx="297096" cy="52862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51" name="Text Box 30"/>
          <p:cNvSpPr txBox="1">
            <a:spLocks noChangeArrowheads="1"/>
          </p:cNvSpPr>
          <p:nvPr/>
        </p:nvSpPr>
        <p:spPr bwMode="auto">
          <a:xfrm>
            <a:off x="4486288" y="3875288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136</a:t>
            </a:r>
            <a:endParaRPr lang="en-GB" sz="1400" b="1" dirty="0">
              <a:solidFill>
                <a:srgbClr val="000000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224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288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663206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8678" name="Group 6"/>
          <p:cNvGrpSpPr>
            <a:grpSpLocks/>
          </p:cNvGrpSpPr>
          <p:nvPr/>
        </p:nvGrpSpPr>
        <p:grpSpPr bwMode="auto">
          <a:xfrm>
            <a:off x="1219202" y="2133597"/>
            <a:ext cx="358776" cy="371475"/>
            <a:chOff x="768" y="1344"/>
            <a:chExt cx="226" cy="234"/>
          </a:xfrm>
        </p:grpSpPr>
        <p:sp>
          <p:nvSpPr>
            <p:cNvPr id="28679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623887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62230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8687" name="Group 15"/>
          <p:cNvGrpSpPr>
            <a:grpSpLocks/>
          </p:cNvGrpSpPr>
          <p:nvPr/>
        </p:nvGrpSpPr>
        <p:grpSpPr bwMode="auto">
          <a:xfrm>
            <a:off x="5029207" y="2182816"/>
            <a:ext cx="358776" cy="371475"/>
            <a:chOff x="3168" y="1375"/>
            <a:chExt cx="226" cy="234"/>
          </a:xfrm>
        </p:grpSpPr>
        <p:sp>
          <p:nvSpPr>
            <p:cNvPr id="28688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89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8692" name="Group 20"/>
          <p:cNvGrpSpPr>
            <a:grpSpLocks/>
          </p:cNvGrpSpPr>
          <p:nvPr/>
        </p:nvGrpSpPr>
        <p:grpSpPr bwMode="auto">
          <a:xfrm>
            <a:off x="4087807" y="2944817"/>
            <a:ext cx="358774" cy="371475"/>
            <a:chOff x="2575" y="1855"/>
            <a:chExt cx="226" cy="234"/>
          </a:xfrm>
        </p:grpSpPr>
        <p:sp>
          <p:nvSpPr>
            <p:cNvPr id="28693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94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8695" name="Group 23"/>
          <p:cNvGrpSpPr>
            <a:grpSpLocks/>
          </p:cNvGrpSpPr>
          <p:nvPr/>
        </p:nvGrpSpPr>
        <p:grpSpPr bwMode="auto">
          <a:xfrm>
            <a:off x="5976930" y="2944817"/>
            <a:ext cx="358774" cy="371475"/>
            <a:chOff x="3765" y="1855"/>
            <a:chExt cx="226" cy="234"/>
          </a:xfrm>
        </p:grpSpPr>
        <p:sp>
          <p:nvSpPr>
            <p:cNvPr id="28696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8699" name="Group 27"/>
          <p:cNvGrpSpPr>
            <a:grpSpLocks/>
          </p:cNvGrpSpPr>
          <p:nvPr/>
        </p:nvGrpSpPr>
        <p:grpSpPr bwMode="auto">
          <a:xfrm>
            <a:off x="4087807" y="3783018"/>
            <a:ext cx="358774" cy="371475"/>
            <a:chOff x="2575" y="2383"/>
            <a:chExt cx="226" cy="234"/>
          </a:xfrm>
        </p:grpSpPr>
        <p:sp>
          <p:nvSpPr>
            <p:cNvPr id="28700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701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4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6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8707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3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4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8715" name="Text Box 43"/>
          <p:cNvSpPr txBox="1">
            <a:spLocks noChangeArrowheads="1"/>
          </p:cNvSpPr>
          <p:nvPr/>
        </p:nvSpPr>
        <p:spPr bwMode="auto">
          <a:xfrm>
            <a:off x="5832475" y="3721100"/>
            <a:ext cx="624187" cy="92551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357</a:t>
            </a:r>
            <a:endParaRPr lang="en-GB" sz="1800" b="1" dirty="0">
              <a:solidFill>
                <a:srgbClr val="000000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8716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8717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8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8719" name="Text Box 47"/>
          <p:cNvSpPr txBox="1">
            <a:spLocks noChangeArrowheads="1"/>
          </p:cNvSpPr>
          <p:nvPr/>
        </p:nvSpPr>
        <p:spPr bwMode="auto">
          <a:xfrm>
            <a:off x="885825" y="3965575"/>
            <a:ext cx="208772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3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rd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8720" name="Text Box 48"/>
          <p:cNvSpPr txBox="1">
            <a:spLocks noChangeArrowheads="1"/>
          </p:cNvSpPr>
          <p:nvPr/>
        </p:nvSpPr>
        <p:spPr bwMode="auto">
          <a:xfrm>
            <a:off x="3932238" y="1766888"/>
            <a:ext cx="919139" cy="371513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12356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</p:txBody>
      </p:sp>
      <p:cxnSp>
        <p:nvCxnSpPr>
          <p:cNvPr id="28721" name="AutoShape 49"/>
          <p:cNvCxnSpPr>
            <a:cxnSpLocks noChangeShapeType="1"/>
            <a:stCxn id="28720" idx="3"/>
            <a:endCxn id="28689" idx="0"/>
          </p:cNvCxnSpPr>
          <p:nvPr/>
        </p:nvCxnSpPr>
        <p:spPr bwMode="auto">
          <a:xfrm>
            <a:off x="4851377" y="1952645"/>
            <a:ext cx="357218" cy="230171"/>
          </a:xfrm>
          <a:prstGeom prst="bentConnector2">
            <a:avLst/>
          </a:prstGeom>
          <a:noFill/>
          <a:ln w="9360">
            <a:solidFill>
              <a:srgbClr val="F8400E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28722" name="Text Box 50"/>
          <p:cNvSpPr txBox="1">
            <a:spLocks noChangeArrowheads="1"/>
          </p:cNvSpPr>
          <p:nvPr/>
        </p:nvSpPr>
        <p:spPr bwMode="auto">
          <a:xfrm>
            <a:off x="2544501" y="2563813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3" name="Text Box 51"/>
          <p:cNvSpPr txBox="1">
            <a:spLocks noChangeArrowheads="1"/>
          </p:cNvSpPr>
          <p:nvPr/>
        </p:nvSpPr>
        <p:spPr bwMode="auto">
          <a:xfrm>
            <a:off x="531627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4" name="Line 52"/>
          <p:cNvSpPr>
            <a:spLocks noChangeShapeType="1"/>
          </p:cNvSpPr>
          <p:nvPr/>
        </p:nvSpPr>
        <p:spPr bwMode="auto">
          <a:xfrm flipH="1">
            <a:off x="5240338" y="2092325"/>
            <a:ext cx="465137" cy="852488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707522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6" name="Line 54"/>
          <p:cNvSpPr>
            <a:spLocks noChangeShapeType="1"/>
          </p:cNvSpPr>
          <p:nvPr/>
        </p:nvSpPr>
        <p:spPr bwMode="auto">
          <a:xfrm flipH="1">
            <a:off x="6154738" y="2078038"/>
            <a:ext cx="1046162" cy="866775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41686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663206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9702" name="Group 6"/>
          <p:cNvGrpSpPr>
            <a:grpSpLocks/>
          </p:cNvGrpSpPr>
          <p:nvPr/>
        </p:nvGrpSpPr>
        <p:grpSpPr bwMode="auto">
          <a:xfrm>
            <a:off x="1219202" y="2133597"/>
            <a:ext cx="358776" cy="371475"/>
            <a:chOff x="768" y="1344"/>
            <a:chExt cx="226" cy="234"/>
          </a:xfrm>
        </p:grpSpPr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04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9711" name="Group 15"/>
          <p:cNvGrpSpPr>
            <a:grpSpLocks/>
          </p:cNvGrpSpPr>
          <p:nvPr/>
        </p:nvGrpSpPr>
        <p:grpSpPr bwMode="auto">
          <a:xfrm>
            <a:off x="5029207" y="2182816"/>
            <a:ext cx="358776" cy="371475"/>
            <a:chOff x="3168" y="1375"/>
            <a:chExt cx="226" cy="234"/>
          </a:xfrm>
        </p:grpSpPr>
        <p:sp>
          <p:nvSpPr>
            <p:cNvPr id="29712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13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9716" name="Group 20"/>
          <p:cNvGrpSpPr>
            <a:grpSpLocks/>
          </p:cNvGrpSpPr>
          <p:nvPr/>
        </p:nvGrpSpPr>
        <p:grpSpPr bwMode="auto">
          <a:xfrm>
            <a:off x="4087807" y="2944817"/>
            <a:ext cx="358774" cy="371475"/>
            <a:chOff x="2575" y="1855"/>
            <a:chExt cx="226" cy="234"/>
          </a:xfrm>
        </p:grpSpPr>
        <p:sp>
          <p:nvSpPr>
            <p:cNvPr id="29717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18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9719" name="Group 23"/>
          <p:cNvGrpSpPr>
            <a:grpSpLocks/>
          </p:cNvGrpSpPr>
          <p:nvPr/>
        </p:nvGrpSpPr>
        <p:grpSpPr bwMode="auto">
          <a:xfrm>
            <a:off x="5976930" y="2944817"/>
            <a:ext cx="358774" cy="371475"/>
            <a:chOff x="3765" y="1855"/>
            <a:chExt cx="226" cy="234"/>
          </a:xfrm>
        </p:grpSpPr>
        <p:sp>
          <p:nvSpPr>
            <p:cNvPr id="29720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9723" name="Group 27"/>
          <p:cNvGrpSpPr>
            <a:grpSpLocks/>
          </p:cNvGrpSpPr>
          <p:nvPr/>
        </p:nvGrpSpPr>
        <p:grpSpPr bwMode="auto">
          <a:xfrm>
            <a:off x="4087807" y="3783018"/>
            <a:ext cx="358774" cy="371475"/>
            <a:chOff x="2575" y="2383"/>
            <a:chExt cx="226" cy="234"/>
          </a:xfrm>
        </p:grpSpPr>
        <p:sp>
          <p:nvSpPr>
            <p:cNvPr id="29724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25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9731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9739" name="Text Box 43"/>
          <p:cNvSpPr txBox="1">
            <a:spLocks noChangeArrowheads="1"/>
          </p:cNvSpPr>
          <p:nvPr/>
        </p:nvSpPr>
        <p:spPr bwMode="auto">
          <a:xfrm>
            <a:off x="5832475" y="3721100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9740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42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9743" name="Text Box 47"/>
          <p:cNvSpPr txBox="1">
            <a:spLocks noChangeArrowheads="1"/>
          </p:cNvSpPr>
          <p:nvPr/>
        </p:nvSpPr>
        <p:spPr bwMode="auto">
          <a:xfrm>
            <a:off x="3932238" y="1766888"/>
            <a:ext cx="919139" cy="371513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12356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</p:txBody>
      </p:sp>
      <p:cxnSp>
        <p:nvCxnSpPr>
          <p:cNvPr id="29744" name="AutoShape 48"/>
          <p:cNvCxnSpPr>
            <a:cxnSpLocks noChangeShapeType="1"/>
            <a:stCxn id="29743" idx="3"/>
            <a:endCxn id="29713" idx="0"/>
          </p:cNvCxnSpPr>
          <p:nvPr/>
        </p:nvCxnSpPr>
        <p:spPr bwMode="auto">
          <a:xfrm>
            <a:off x="4851377" y="1952645"/>
            <a:ext cx="357218" cy="230171"/>
          </a:xfrm>
          <a:prstGeom prst="bentConnector2">
            <a:avLst/>
          </a:prstGeom>
          <a:noFill/>
          <a:ln w="9360">
            <a:solidFill>
              <a:srgbClr val="F8400E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29745" name="Text Box 49"/>
          <p:cNvSpPr txBox="1">
            <a:spLocks noChangeArrowheads="1"/>
          </p:cNvSpPr>
          <p:nvPr/>
        </p:nvSpPr>
        <p:spPr bwMode="auto">
          <a:xfrm>
            <a:off x="2544501" y="2563813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6" name="Text Box 50"/>
          <p:cNvSpPr txBox="1">
            <a:spLocks noChangeArrowheads="1"/>
          </p:cNvSpPr>
          <p:nvPr/>
        </p:nvSpPr>
        <p:spPr bwMode="auto">
          <a:xfrm>
            <a:off x="531627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7" name="Line 51"/>
          <p:cNvSpPr>
            <a:spLocks noChangeShapeType="1"/>
          </p:cNvSpPr>
          <p:nvPr/>
        </p:nvSpPr>
        <p:spPr bwMode="auto">
          <a:xfrm flipH="1">
            <a:off x="5240338" y="2092325"/>
            <a:ext cx="465137" cy="852488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48" name="Text Box 52"/>
          <p:cNvSpPr txBox="1">
            <a:spLocks noChangeArrowheads="1"/>
          </p:cNvSpPr>
          <p:nvPr/>
        </p:nvSpPr>
        <p:spPr bwMode="auto">
          <a:xfrm>
            <a:off x="707522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9" name="Line 53"/>
          <p:cNvSpPr>
            <a:spLocks noChangeShapeType="1"/>
          </p:cNvSpPr>
          <p:nvPr/>
        </p:nvSpPr>
        <p:spPr bwMode="auto">
          <a:xfrm flipH="1">
            <a:off x="6154738" y="2078038"/>
            <a:ext cx="1046162" cy="866775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0" name="Text Box 54"/>
          <p:cNvSpPr txBox="1">
            <a:spLocks noChangeArrowheads="1"/>
          </p:cNvSpPr>
          <p:nvPr/>
        </p:nvSpPr>
        <p:spPr bwMode="auto">
          <a:xfrm>
            <a:off x="1288896" y="3446463"/>
            <a:ext cx="159400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</a:t>
            </a:r>
          </a:p>
        </p:txBody>
      </p:sp>
      <p:sp>
        <p:nvSpPr>
          <p:cNvPr id="29751" name="Text Box 55"/>
          <p:cNvSpPr txBox="1">
            <a:spLocks noChangeArrowheads="1"/>
          </p:cNvSpPr>
          <p:nvPr/>
        </p:nvSpPr>
        <p:spPr bwMode="auto">
          <a:xfrm>
            <a:off x="605769" y="4205288"/>
            <a:ext cx="2302531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56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13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 (null)‏</a:t>
            </a:r>
          </a:p>
        </p:txBody>
      </p:sp>
      <p:sp>
        <p:nvSpPr>
          <p:cNvPr id="29752" name="Text Box 56"/>
          <p:cNvSpPr txBox="1">
            <a:spLocks noChangeArrowheads="1"/>
          </p:cNvSpPr>
          <p:nvPr/>
        </p:nvSpPr>
        <p:spPr bwMode="auto">
          <a:xfrm>
            <a:off x="1285721" y="4987925"/>
            <a:ext cx="159400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</a:t>
            </a: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5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6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 smtClean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15</a:t>
            </a:r>
            <a:r>
              <a:rPr lang="en-GB" sz="1800" b="1" dirty="0" smtClean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</a:t>
            </a:r>
            <a:endParaRPr lang="en-GB" sz="1800" b="1" dirty="0">
              <a:solidFill>
                <a:srgbClr val="F8400E"/>
              </a:solidFill>
              <a:latin typeface="Tahoma" pitchFamily="32" charset="0"/>
              <a:ea typeface="DejaVu LGC Sans" charset="0"/>
              <a:cs typeface="DejaVu LGC Sans" charset="0"/>
            </a:endParaRPr>
          </a:p>
        </p:txBody>
      </p:sp>
      <p:sp>
        <p:nvSpPr>
          <p:cNvPr id="29753" name="Line 57"/>
          <p:cNvSpPr>
            <a:spLocks noChangeShapeType="1"/>
          </p:cNvSpPr>
          <p:nvPr/>
        </p:nvSpPr>
        <p:spPr bwMode="auto">
          <a:xfrm flipH="1">
            <a:off x="2817813" y="3871913"/>
            <a:ext cx="1271587" cy="1587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4" name="Line 58"/>
          <p:cNvSpPr>
            <a:spLocks noChangeShapeType="1"/>
          </p:cNvSpPr>
          <p:nvPr/>
        </p:nvSpPr>
        <p:spPr bwMode="auto">
          <a:xfrm flipH="1">
            <a:off x="2820988" y="3871913"/>
            <a:ext cx="1763712" cy="500062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5" name="Line 59"/>
          <p:cNvSpPr>
            <a:spLocks noChangeShapeType="1"/>
          </p:cNvSpPr>
          <p:nvPr/>
        </p:nvSpPr>
        <p:spPr bwMode="auto">
          <a:xfrm flipH="1">
            <a:off x="2817813" y="4100513"/>
            <a:ext cx="255587" cy="1379537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6" name="Rectangle 60"/>
          <p:cNvSpPr>
            <a:spLocks noChangeArrowheads="1"/>
          </p:cNvSpPr>
          <p:nvPr/>
        </p:nvSpPr>
        <p:spPr bwMode="auto">
          <a:xfrm>
            <a:off x="4484688" y="3582988"/>
            <a:ext cx="393354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Symbol" pitchFamily="16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Symbol" pitchFamily="16" charset="2"/>
                <a:ea typeface="DejaVu LGC Sans" charset="0"/>
                <a:cs typeface="DejaVu LGC Sans" charset="0"/>
              </a:rPr>
              <a:t></a:t>
            </a:r>
          </a:p>
        </p:txBody>
      </p:sp>
      <p:sp>
        <p:nvSpPr>
          <p:cNvPr id="29757" name="Text Box 61"/>
          <p:cNvSpPr txBox="1">
            <a:spLocks noChangeArrowheads="1"/>
          </p:cNvSpPr>
          <p:nvPr/>
        </p:nvSpPr>
        <p:spPr bwMode="auto">
          <a:xfrm>
            <a:off x="180251" y="5704285"/>
            <a:ext cx="8771398" cy="98706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The subset function finds all the candidates contained in a transaction:</a:t>
            </a:r>
          </a:p>
          <a:p>
            <a:pPr>
              <a:lnSpc>
                <a:spcPct val="100000"/>
              </a:lnSpc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At the root level it hashes on all items in the transaction</a:t>
            </a:r>
          </a:p>
          <a:p>
            <a:pPr>
              <a:lnSpc>
                <a:spcPct val="100000"/>
              </a:lnSpc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At level </a:t>
            </a:r>
            <a:r>
              <a:rPr lang="en-GB" sz="1800" dirty="0" err="1">
                <a:solidFill>
                  <a:srgbClr val="4F81BD"/>
                </a:solidFill>
                <a:ea typeface="DejaVu LGC Sans" charset="0"/>
                <a:cs typeface="DejaVu LGC Sans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it hashes on all items in the transaction that come after item the </a:t>
            </a:r>
            <a:r>
              <a:rPr lang="en-GB" sz="1800" dirty="0" err="1">
                <a:solidFill>
                  <a:srgbClr val="4F81BD"/>
                </a:solidFill>
                <a:ea typeface="DejaVu LGC Sans" charset="0"/>
                <a:cs typeface="DejaVu LGC Sans" charset="0"/>
              </a:rPr>
              <a:t>i</a:t>
            </a:r>
            <a:r>
              <a:rPr lang="en-GB" sz="18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-th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item</a:t>
            </a:r>
          </a:p>
        </p:txBody>
      </p:sp>
    </p:spTree>
    <p:extLst>
      <p:ext uri="{BB962C8B-B14F-4D97-AF65-F5344CB8AC3E}">
        <p14:creationId xmlns:p14="http://schemas.microsoft.com/office/powerpoint/2010/main" val="3643929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6365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Association Rule Discovery: Hash tree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7668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7748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9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50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69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7745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6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7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0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7742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3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4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1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7739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0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1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2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7736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7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8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3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7733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4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5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4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7730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1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2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5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7728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9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5 9</a:t>
                </a:r>
              </a:p>
            </p:txBody>
          </p:sp>
        </p:grpSp>
        <p:grpSp>
          <p:nvGrpSpPr>
            <p:cNvPr id="27676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7726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7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</a:t>
                </a:r>
              </a:p>
            </p:txBody>
          </p:sp>
        </p:grpSp>
        <p:grpSp>
          <p:nvGrpSpPr>
            <p:cNvPr id="27677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7724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5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3 6</a:t>
                </a:r>
              </a:p>
            </p:txBody>
          </p:sp>
        </p:grpSp>
        <p:grpSp>
          <p:nvGrpSpPr>
            <p:cNvPr id="27678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7722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3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</a:t>
                </a:r>
              </a:p>
            </p:txBody>
          </p:sp>
        </p:grpSp>
        <p:grpSp>
          <p:nvGrpSpPr>
            <p:cNvPr id="27679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7716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720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2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27717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718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27680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7706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7710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7714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7715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3 5 6</a:t>
                    </a:r>
                  </a:p>
                </p:txBody>
              </p:sp>
            </p:grpSp>
            <p:grpSp>
              <p:nvGrpSpPr>
                <p:cNvPr id="27711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7712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7713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3 5 7</a:t>
                    </a:r>
                  </a:p>
                </p:txBody>
              </p:sp>
            </p:grpSp>
          </p:grpSp>
          <p:grpSp>
            <p:nvGrpSpPr>
              <p:cNvPr id="27707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7708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9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6 8 9</a:t>
                  </a:r>
                </a:p>
              </p:txBody>
            </p:sp>
          </p:grpSp>
        </p:grpSp>
        <p:grpSp>
          <p:nvGrpSpPr>
            <p:cNvPr id="27681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7700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704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5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7701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702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7682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7694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698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2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27695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696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5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</p:grpSp>
        </p:grpSp>
        <p:grpSp>
          <p:nvGrpSpPr>
            <p:cNvPr id="27683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7688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692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2 5</a:t>
                  </a:r>
                </a:p>
              </p:txBody>
            </p:sp>
          </p:grpSp>
          <p:grpSp>
            <p:nvGrpSpPr>
              <p:cNvPr id="27689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690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1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5 8</a:t>
                  </a:r>
                </a:p>
              </p:txBody>
            </p:sp>
          </p:grpSp>
        </p:grpSp>
        <p:grpSp>
          <p:nvGrpSpPr>
            <p:cNvPr id="27684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7685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686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7653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7665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7666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4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1,4,7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8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2,5,8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7659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7660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7661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7662" name="Text Box 100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1, 4 or 7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63" name="Rectangle 101"/>
          <p:cNvSpPr>
            <a:spLocks noChangeArrowheads="1"/>
          </p:cNvSpPr>
          <p:nvPr/>
        </p:nvSpPr>
        <p:spPr bwMode="auto">
          <a:xfrm>
            <a:off x="1676400" y="3810000"/>
            <a:ext cx="3124200" cy="2286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7664" name="Rectangle 102"/>
          <p:cNvSpPr>
            <a:spLocks noChangeArrowheads="1"/>
          </p:cNvSpPr>
          <p:nvPr/>
        </p:nvSpPr>
        <p:spPr bwMode="auto">
          <a:xfrm>
            <a:off x="5029200" y="4038600"/>
            <a:ext cx="1143000" cy="762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08451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Association Rule Discovery: Hash tree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8693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8773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4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4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8770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1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5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8767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8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9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6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8764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5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6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7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8761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62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3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8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8758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9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0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9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8755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6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57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00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8753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4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9</a:t>
                </a:r>
              </a:p>
            </p:txBody>
          </p:sp>
        </p:grpSp>
        <p:grpSp>
          <p:nvGrpSpPr>
            <p:cNvPr id="28701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8751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2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1 4 5</a:t>
                </a:r>
              </a:p>
            </p:txBody>
          </p:sp>
        </p:grpSp>
        <p:grpSp>
          <p:nvGrpSpPr>
            <p:cNvPr id="28702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8749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0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1 3 6</a:t>
                </a:r>
              </a:p>
            </p:txBody>
          </p:sp>
        </p:grpSp>
        <p:grpSp>
          <p:nvGrpSpPr>
            <p:cNvPr id="28703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8747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48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3 4 5</a:t>
                </a:r>
              </a:p>
            </p:txBody>
          </p:sp>
        </p:grpSp>
        <p:grpSp>
          <p:nvGrpSpPr>
            <p:cNvPr id="28704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8741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45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4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28742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43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4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28705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8731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8735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8739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8740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6</a:t>
                    </a:r>
                  </a:p>
                </p:txBody>
              </p:sp>
            </p:grpSp>
            <p:grpSp>
              <p:nvGrpSpPr>
                <p:cNvPr id="28736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8737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8738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7</a:t>
                    </a:r>
                  </a:p>
                </p:txBody>
              </p:sp>
            </p:grpSp>
          </p:grpSp>
          <p:grpSp>
            <p:nvGrpSpPr>
              <p:cNvPr id="28732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8733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3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6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9</a:t>
                  </a:r>
                </a:p>
              </p:txBody>
            </p:sp>
          </p:grpSp>
        </p:grpSp>
        <p:grpSp>
          <p:nvGrpSpPr>
            <p:cNvPr id="28706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8725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29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30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3 4</a:t>
                  </a:r>
                </a:p>
              </p:txBody>
            </p:sp>
          </p:grpSp>
          <p:grpSp>
            <p:nvGrpSpPr>
              <p:cNvPr id="28726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27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6 7</a:t>
                  </a:r>
                </a:p>
              </p:txBody>
            </p:sp>
          </p:grpSp>
        </p:grpSp>
        <p:grpSp>
          <p:nvGrpSpPr>
            <p:cNvPr id="28707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8719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23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4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4</a:t>
                  </a:r>
                </a:p>
              </p:txBody>
            </p:sp>
          </p:grpSp>
          <p:grpSp>
            <p:nvGrpSpPr>
              <p:cNvPr id="28720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21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7</a:t>
                  </a:r>
                </a:p>
              </p:txBody>
            </p:sp>
          </p:grpSp>
        </p:grpSp>
        <p:grpSp>
          <p:nvGrpSpPr>
            <p:cNvPr id="28708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8713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17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1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</p:grpSp>
          <p:grpSp>
            <p:nvGrpSpPr>
              <p:cNvPr id="28714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15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16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</p:grpSp>
        </p:grpSp>
        <p:grpSp>
          <p:nvGrpSpPr>
            <p:cNvPr id="28709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8710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11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8677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8690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8691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78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1,4,7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8682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2,5,8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3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8684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8685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8686" name="Rectangle 100"/>
          <p:cNvSpPr>
            <a:spLocks noChangeArrowheads="1"/>
          </p:cNvSpPr>
          <p:nvPr/>
        </p:nvSpPr>
        <p:spPr bwMode="auto">
          <a:xfrm>
            <a:off x="1828800" y="4953000"/>
            <a:ext cx="3048000" cy="1066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8687" name="Rectangle 101"/>
          <p:cNvSpPr>
            <a:spLocks noChangeArrowheads="1"/>
          </p:cNvSpPr>
          <p:nvPr/>
        </p:nvSpPr>
        <p:spPr bwMode="auto">
          <a:xfrm>
            <a:off x="4495800" y="2895600"/>
            <a:ext cx="1143000" cy="990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8688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2, 5 or 8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8689" name="Rectangle 103"/>
          <p:cNvSpPr>
            <a:spLocks noChangeArrowheads="1"/>
          </p:cNvSpPr>
          <p:nvPr/>
        </p:nvSpPr>
        <p:spPr bwMode="auto">
          <a:xfrm>
            <a:off x="6172200" y="4114800"/>
            <a:ext cx="1143000" cy="1447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12714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Association Rule Discovery: Hash tree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9717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9797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8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9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8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9794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5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6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9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9791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2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3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0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9788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9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0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1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9785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6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7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2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9782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3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4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3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9779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0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1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4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9777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8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29725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9775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6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1 4 5</a:t>
                </a:r>
              </a:p>
            </p:txBody>
          </p:sp>
        </p:grpSp>
        <p:grpSp>
          <p:nvGrpSpPr>
            <p:cNvPr id="29726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9773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4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29727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9771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2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4 5</a:t>
                </a:r>
              </a:p>
            </p:txBody>
          </p:sp>
        </p:grpSp>
        <p:grpSp>
          <p:nvGrpSpPr>
            <p:cNvPr id="29728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9765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69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7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7</a:t>
                  </a:r>
                </a:p>
              </p:txBody>
            </p:sp>
          </p:grpSp>
          <p:grpSp>
            <p:nvGrpSpPr>
              <p:cNvPr id="29766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67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6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8</a:t>
                  </a:r>
                </a:p>
              </p:txBody>
            </p:sp>
          </p:grpSp>
        </p:grpSp>
        <p:grpSp>
          <p:nvGrpSpPr>
            <p:cNvPr id="29729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9755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9759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976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9764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5 6</a:t>
                    </a:r>
                  </a:p>
                </p:txBody>
              </p:sp>
            </p:grpSp>
            <p:grpSp>
              <p:nvGrpSpPr>
                <p:cNvPr id="29760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9761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9762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5 7</a:t>
                    </a:r>
                  </a:p>
                </p:txBody>
              </p:sp>
            </p:grpSp>
          </p:grpSp>
          <p:grpSp>
            <p:nvGrpSpPr>
              <p:cNvPr id="29756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9757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8 9</a:t>
                  </a:r>
                </a:p>
              </p:txBody>
            </p:sp>
          </p:grpSp>
        </p:grpSp>
        <p:grpSp>
          <p:nvGrpSpPr>
            <p:cNvPr id="29730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9749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53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9750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51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9731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9743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47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1 2 4</a:t>
                  </a:r>
                </a:p>
              </p:txBody>
            </p:sp>
          </p:grpSp>
          <p:grpSp>
            <p:nvGrpSpPr>
              <p:cNvPr id="29744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45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4 5 7</a:t>
                  </a:r>
                </a:p>
              </p:txBody>
            </p:sp>
          </p:grpSp>
        </p:grpSp>
        <p:grpSp>
          <p:nvGrpSpPr>
            <p:cNvPr id="29732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9737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41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1 2 5</a:t>
                  </a:r>
                </a:p>
              </p:txBody>
            </p:sp>
          </p:grpSp>
          <p:grpSp>
            <p:nvGrpSpPr>
              <p:cNvPr id="29738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39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0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4 5 8</a:t>
                  </a:r>
                </a:p>
              </p:txBody>
            </p:sp>
          </p:grpSp>
        </p:grpSp>
        <p:grpSp>
          <p:nvGrpSpPr>
            <p:cNvPr id="29733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9734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35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6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9701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9714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9715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02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1,4,7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9706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2,5,8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9707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9708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9709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9710" name="Rectangle 100"/>
          <p:cNvSpPr>
            <a:spLocks noChangeArrowheads="1"/>
          </p:cNvSpPr>
          <p:nvPr/>
        </p:nvSpPr>
        <p:spPr bwMode="auto">
          <a:xfrm>
            <a:off x="3810000" y="4953000"/>
            <a:ext cx="1066800" cy="685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9711" name="Rectangle 101"/>
          <p:cNvSpPr>
            <a:spLocks noChangeArrowheads="1"/>
          </p:cNvSpPr>
          <p:nvPr/>
        </p:nvSpPr>
        <p:spPr bwMode="auto">
          <a:xfrm>
            <a:off x="5105400" y="4038600"/>
            <a:ext cx="3657600" cy="1524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9712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3, 6 or 9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9713" name="Rectangle 103"/>
          <p:cNvSpPr>
            <a:spLocks noChangeArrowheads="1"/>
          </p:cNvSpPr>
          <p:nvPr/>
        </p:nvSpPr>
        <p:spPr bwMode="auto">
          <a:xfrm>
            <a:off x="3657600" y="3810000"/>
            <a:ext cx="990600" cy="609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62766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grpSp>
        <p:nvGrpSpPr>
          <p:cNvPr id="30723" name="Group 3"/>
          <p:cNvGrpSpPr>
            <a:grpSpLocks/>
          </p:cNvGrpSpPr>
          <p:nvPr/>
        </p:nvGrpSpPr>
        <p:grpSpPr bwMode="auto">
          <a:xfrm>
            <a:off x="914400" y="2743200"/>
            <a:ext cx="5457825" cy="3744913"/>
            <a:chOff x="1248" y="1392"/>
            <a:chExt cx="4134" cy="2678"/>
          </a:xfrm>
        </p:grpSpPr>
        <p:sp>
          <p:nvSpPr>
            <p:cNvPr id="30767" name="Line 4"/>
            <p:cNvSpPr>
              <a:spLocks noChangeShapeType="1"/>
            </p:cNvSpPr>
            <p:nvPr/>
          </p:nvSpPr>
          <p:spPr bwMode="auto">
            <a:xfrm flipH="1">
              <a:off x="211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8" name="Line 5"/>
            <p:cNvSpPr>
              <a:spLocks noChangeShapeType="1"/>
            </p:cNvSpPr>
            <p:nvPr/>
          </p:nvSpPr>
          <p:spPr bwMode="auto">
            <a:xfrm>
              <a:off x="3192" y="16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9" name="Line 6"/>
            <p:cNvSpPr>
              <a:spLocks noChangeShapeType="1"/>
            </p:cNvSpPr>
            <p:nvPr/>
          </p:nvSpPr>
          <p:spPr bwMode="auto">
            <a:xfrm>
              <a:off x="319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0" name="Line 7"/>
            <p:cNvSpPr>
              <a:spLocks noChangeShapeType="1"/>
            </p:cNvSpPr>
            <p:nvPr/>
          </p:nvSpPr>
          <p:spPr bwMode="auto">
            <a:xfrm flipH="1">
              <a:off x="1488" y="2448"/>
              <a:ext cx="613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1" name="Line 8"/>
            <p:cNvSpPr>
              <a:spLocks noChangeShapeType="1"/>
            </p:cNvSpPr>
            <p:nvPr/>
          </p:nvSpPr>
          <p:spPr bwMode="auto">
            <a:xfrm>
              <a:off x="2101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2" name="Line 9"/>
            <p:cNvSpPr>
              <a:spLocks noChangeShapeType="1"/>
            </p:cNvSpPr>
            <p:nvPr/>
          </p:nvSpPr>
          <p:spPr bwMode="auto">
            <a:xfrm>
              <a:off x="2101" y="2448"/>
              <a:ext cx="491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3" name="Line 10"/>
            <p:cNvSpPr>
              <a:spLocks noChangeShapeType="1"/>
            </p:cNvSpPr>
            <p:nvPr/>
          </p:nvSpPr>
          <p:spPr bwMode="auto">
            <a:xfrm flipH="1">
              <a:off x="3504" y="2448"/>
              <a:ext cx="76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4" name="Line 11"/>
            <p:cNvSpPr>
              <a:spLocks noChangeShapeType="1"/>
            </p:cNvSpPr>
            <p:nvPr/>
          </p:nvSpPr>
          <p:spPr bwMode="auto">
            <a:xfrm>
              <a:off x="4272" y="24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5" name="Line 12"/>
            <p:cNvSpPr>
              <a:spLocks noChangeShapeType="1"/>
            </p:cNvSpPr>
            <p:nvPr/>
          </p:nvSpPr>
          <p:spPr bwMode="auto">
            <a:xfrm>
              <a:off x="4272" y="244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6" name="Line 13"/>
            <p:cNvSpPr>
              <a:spLocks noChangeShapeType="1"/>
            </p:cNvSpPr>
            <p:nvPr/>
          </p:nvSpPr>
          <p:spPr bwMode="auto">
            <a:xfrm flipH="1">
              <a:off x="1536" y="3120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7" name="Line 14"/>
            <p:cNvSpPr>
              <a:spLocks noChangeShapeType="1"/>
            </p:cNvSpPr>
            <p:nvPr/>
          </p:nvSpPr>
          <p:spPr bwMode="auto">
            <a:xfrm>
              <a:off x="2112" y="31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8" name="Line 15"/>
            <p:cNvSpPr>
              <a:spLocks noChangeShapeType="1"/>
            </p:cNvSpPr>
            <p:nvPr/>
          </p:nvSpPr>
          <p:spPr bwMode="auto">
            <a:xfrm>
              <a:off x="2112" y="3120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9" name="Rectangle 16"/>
            <p:cNvSpPr>
              <a:spLocks noChangeArrowheads="1"/>
            </p:cNvSpPr>
            <p:nvPr/>
          </p:nvSpPr>
          <p:spPr bwMode="auto">
            <a:xfrm>
              <a:off x="201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0" name="Line 17"/>
            <p:cNvSpPr>
              <a:spLocks noChangeShapeType="1"/>
            </p:cNvSpPr>
            <p:nvPr/>
          </p:nvSpPr>
          <p:spPr bwMode="auto">
            <a:xfrm>
              <a:off x="201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1" name="Line 18"/>
            <p:cNvSpPr>
              <a:spLocks noChangeShapeType="1"/>
            </p:cNvSpPr>
            <p:nvPr/>
          </p:nvSpPr>
          <p:spPr bwMode="auto">
            <a:xfrm>
              <a:off x="201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2" name="Rectangle 19"/>
            <p:cNvSpPr>
              <a:spLocks noChangeArrowheads="1"/>
            </p:cNvSpPr>
            <p:nvPr/>
          </p:nvSpPr>
          <p:spPr bwMode="auto">
            <a:xfrm>
              <a:off x="417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3" name="Line 20"/>
            <p:cNvSpPr>
              <a:spLocks noChangeShapeType="1"/>
            </p:cNvSpPr>
            <p:nvPr/>
          </p:nvSpPr>
          <p:spPr bwMode="auto">
            <a:xfrm>
              <a:off x="41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4" name="Line 21"/>
            <p:cNvSpPr>
              <a:spLocks noChangeShapeType="1"/>
            </p:cNvSpPr>
            <p:nvPr/>
          </p:nvSpPr>
          <p:spPr bwMode="auto">
            <a:xfrm>
              <a:off x="417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Rectangle 22"/>
            <p:cNvSpPr>
              <a:spLocks noChangeArrowheads="1"/>
            </p:cNvSpPr>
            <p:nvPr/>
          </p:nvSpPr>
          <p:spPr bwMode="auto">
            <a:xfrm>
              <a:off x="2016" y="283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6" name="Line 23"/>
            <p:cNvSpPr>
              <a:spLocks noChangeShapeType="1"/>
            </p:cNvSpPr>
            <p:nvPr/>
          </p:nvSpPr>
          <p:spPr bwMode="auto">
            <a:xfrm>
              <a:off x="2016" y="30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Line 24"/>
            <p:cNvSpPr>
              <a:spLocks noChangeShapeType="1"/>
            </p:cNvSpPr>
            <p:nvPr/>
          </p:nvSpPr>
          <p:spPr bwMode="auto">
            <a:xfrm>
              <a:off x="201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8" name="Rectangle 25"/>
            <p:cNvSpPr>
              <a:spLocks noChangeArrowheads="1"/>
            </p:cNvSpPr>
            <p:nvPr/>
          </p:nvSpPr>
          <p:spPr bwMode="auto">
            <a:xfrm>
              <a:off x="2496" y="350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9" name="Text Box 26"/>
            <p:cNvSpPr txBox="1">
              <a:spLocks noChangeArrowheads="1"/>
            </p:cNvSpPr>
            <p:nvPr/>
          </p:nvSpPr>
          <p:spPr bwMode="auto">
            <a:xfrm>
              <a:off x="2496" y="352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1 5 9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0790" name="Group 27"/>
            <p:cNvGrpSpPr>
              <a:grpSpLocks/>
            </p:cNvGrpSpPr>
            <p:nvPr/>
          </p:nvGrpSpPr>
          <p:grpSpPr bwMode="auto">
            <a:xfrm>
              <a:off x="1248" y="2784"/>
              <a:ext cx="486" cy="279"/>
              <a:chOff x="1248" y="2784"/>
              <a:chExt cx="486" cy="279"/>
            </a:xfrm>
          </p:grpSpPr>
          <p:sp>
            <p:nvSpPr>
              <p:cNvPr id="30832" name="Rectangle 2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33" name="Text Box 29"/>
              <p:cNvSpPr txBox="1">
                <a:spLocks noChangeArrowheads="1"/>
              </p:cNvSpPr>
              <p:nvPr/>
            </p:nvSpPr>
            <p:spPr bwMode="auto">
              <a:xfrm>
                <a:off x="1248" y="2801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1 4 5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91" name="Rectangle 30"/>
            <p:cNvSpPr>
              <a:spLocks noChangeArrowheads="1"/>
            </p:cNvSpPr>
            <p:nvPr/>
          </p:nvSpPr>
          <p:spPr bwMode="auto">
            <a:xfrm>
              <a:off x="2400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92" name="Text Box 31"/>
            <p:cNvSpPr txBox="1">
              <a:spLocks noChangeArrowheads="1"/>
            </p:cNvSpPr>
            <p:nvPr/>
          </p:nvSpPr>
          <p:spPr bwMode="auto">
            <a:xfrm>
              <a:off x="2400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1 3 6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0793" name="Rectangle 32"/>
            <p:cNvSpPr>
              <a:spLocks noChangeArrowheads="1"/>
            </p:cNvSpPr>
            <p:nvPr/>
          </p:nvSpPr>
          <p:spPr bwMode="auto">
            <a:xfrm>
              <a:off x="3264" y="2976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94" name="Text Box 33"/>
            <p:cNvSpPr txBox="1">
              <a:spLocks noChangeArrowheads="1"/>
            </p:cNvSpPr>
            <p:nvPr/>
          </p:nvSpPr>
          <p:spPr bwMode="auto">
            <a:xfrm>
              <a:off x="3264" y="2993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0795" name="Group 34"/>
            <p:cNvGrpSpPr>
              <a:grpSpLocks/>
            </p:cNvGrpSpPr>
            <p:nvPr/>
          </p:nvGrpSpPr>
          <p:grpSpPr bwMode="auto">
            <a:xfrm>
              <a:off x="4896" y="2976"/>
              <a:ext cx="486" cy="279"/>
              <a:chOff x="432" y="3408"/>
              <a:chExt cx="486" cy="279"/>
            </a:xfrm>
          </p:grpSpPr>
          <p:sp>
            <p:nvSpPr>
              <p:cNvPr id="30830" name="Rectangle 35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31" name="Text Box 36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3 6 7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6" name="Group 37"/>
            <p:cNvGrpSpPr>
              <a:grpSpLocks/>
            </p:cNvGrpSpPr>
            <p:nvPr/>
          </p:nvGrpSpPr>
          <p:grpSpPr bwMode="auto">
            <a:xfrm>
              <a:off x="4896" y="3216"/>
              <a:ext cx="486" cy="280"/>
              <a:chOff x="432" y="3408"/>
              <a:chExt cx="486" cy="280"/>
            </a:xfrm>
          </p:grpSpPr>
          <p:sp>
            <p:nvSpPr>
              <p:cNvPr id="30828" name="Rectangle 3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29" name="Text Box 39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3 6 8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7" name="Group 40"/>
            <p:cNvGrpSpPr>
              <a:grpSpLocks/>
            </p:cNvGrpSpPr>
            <p:nvPr/>
          </p:nvGrpSpPr>
          <p:grpSpPr bwMode="auto">
            <a:xfrm>
              <a:off x="4032" y="2976"/>
              <a:ext cx="488" cy="519"/>
              <a:chOff x="3792" y="3312"/>
              <a:chExt cx="488" cy="519"/>
            </a:xfrm>
          </p:grpSpPr>
          <p:grpSp>
            <p:nvGrpSpPr>
              <p:cNvPr id="30822" name="Group 4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8" cy="279"/>
                <a:chOff x="432" y="3408"/>
                <a:chExt cx="488" cy="279"/>
              </a:xfrm>
            </p:grpSpPr>
            <p:sp>
              <p:nvSpPr>
                <p:cNvPr id="30826" name="Rectangle 4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82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3 5 6</a:t>
                  </a:r>
                  <a:endParaRPr lang="en-US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823" name="Group 4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8" cy="279"/>
                <a:chOff x="432" y="3408"/>
                <a:chExt cx="488" cy="279"/>
              </a:xfrm>
            </p:grpSpPr>
            <p:sp>
              <p:nvSpPr>
                <p:cNvPr id="30824" name="Rectangle 4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82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3 5 7</a:t>
                  </a:r>
                  <a:endParaRPr lang="en-US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0798" name="Group 47"/>
            <p:cNvGrpSpPr>
              <a:grpSpLocks/>
            </p:cNvGrpSpPr>
            <p:nvPr/>
          </p:nvGrpSpPr>
          <p:grpSpPr bwMode="auto">
            <a:xfrm>
              <a:off x="4032" y="3456"/>
              <a:ext cx="488" cy="279"/>
              <a:chOff x="432" y="3408"/>
              <a:chExt cx="488" cy="279"/>
            </a:xfrm>
          </p:grpSpPr>
          <p:sp>
            <p:nvSpPr>
              <p:cNvPr id="30820" name="Rectangle 4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21" name="Text Box 49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6 8 9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9" name="Group 50"/>
            <p:cNvGrpSpPr>
              <a:grpSpLocks/>
            </p:cNvGrpSpPr>
            <p:nvPr/>
          </p:nvGrpSpPr>
          <p:grpSpPr bwMode="auto">
            <a:xfrm>
              <a:off x="2976" y="2208"/>
              <a:ext cx="486" cy="279"/>
              <a:chOff x="432" y="3408"/>
              <a:chExt cx="486" cy="279"/>
            </a:xfrm>
          </p:grpSpPr>
          <p:sp>
            <p:nvSpPr>
              <p:cNvPr id="30818" name="Rectangle 5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9" name="Text Box 52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2 3 4</a:t>
                </a:r>
              </a:p>
            </p:txBody>
          </p:sp>
        </p:grpSp>
        <p:grpSp>
          <p:nvGrpSpPr>
            <p:cNvPr id="30800" name="Group 53"/>
            <p:cNvGrpSpPr>
              <a:grpSpLocks/>
            </p:cNvGrpSpPr>
            <p:nvPr/>
          </p:nvGrpSpPr>
          <p:grpSpPr bwMode="auto">
            <a:xfrm>
              <a:off x="2976" y="2448"/>
              <a:ext cx="486" cy="280"/>
              <a:chOff x="432" y="3408"/>
              <a:chExt cx="486" cy="280"/>
            </a:xfrm>
          </p:grpSpPr>
          <p:sp>
            <p:nvSpPr>
              <p:cNvPr id="30816" name="Rectangle 5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7" name="Text Box 55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5 6 7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1" name="Group 56"/>
            <p:cNvGrpSpPr>
              <a:grpSpLocks/>
            </p:cNvGrpSpPr>
            <p:nvPr/>
          </p:nvGrpSpPr>
          <p:grpSpPr bwMode="auto">
            <a:xfrm>
              <a:off x="1296" y="3504"/>
              <a:ext cx="486" cy="279"/>
              <a:chOff x="432" y="3408"/>
              <a:chExt cx="486" cy="279"/>
            </a:xfrm>
          </p:grpSpPr>
          <p:sp>
            <p:nvSpPr>
              <p:cNvPr id="30814" name="Rectangle 5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5" name="Text Box 58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1 2 4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2" name="Group 59"/>
            <p:cNvGrpSpPr>
              <a:grpSpLocks/>
            </p:cNvGrpSpPr>
            <p:nvPr/>
          </p:nvGrpSpPr>
          <p:grpSpPr bwMode="auto">
            <a:xfrm>
              <a:off x="1296" y="3744"/>
              <a:ext cx="486" cy="281"/>
              <a:chOff x="432" y="3408"/>
              <a:chExt cx="486" cy="281"/>
            </a:xfrm>
          </p:grpSpPr>
          <p:sp>
            <p:nvSpPr>
              <p:cNvPr id="30812" name="Rectangle 6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3" name="Text Box 61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3" name="Group 62"/>
            <p:cNvGrpSpPr>
              <a:grpSpLocks/>
            </p:cNvGrpSpPr>
            <p:nvPr/>
          </p:nvGrpSpPr>
          <p:grpSpPr bwMode="auto">
            <a:xfrm>
              <a:off x="1872" y="3552"/>
              <a:ext cx="486" cy="280"/>
              <a:chOff x="432" y="3408"/>
              <a:chExt cx="486" cy="280"/>
            </a:xfrm>
          </p:grpSpPr>
          <p:sp>
            <p:nvSpPr>
              <p:cNvPr id="30810" name="Rectangle 6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1" name="Text Box 64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1 2 5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4" name="Group 65"/>
            <p:cNvGrpSpPr>
              <a:grpSpLocks/>
            </p:cNvGrpSpPr>
            <p:nvPr/>
          </p:nvGrpSpPr>
          <p:grpSpPr bwMode="auto">
            <a:xfrm>
              <a:off x="1872" y="3792"/>
              <a:ext cx="486" cy="278"/>
              <a:chOff x="432" y="3408"/>
              <a:chExt cx="486" cy="278"/>
            </a:xfrm>
          </p:grpSpPr>
          <p:sp>
            <p:nvSpPr>
              <p:cNvPr id="30808" name="Rectangle 66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09" name="Text Box 67"/>
              <p:cNvSpPr txBox="1">
                <a:spLocks noChangeArrowheads="1"/>
              </p:cNvSpPr>
              <p:nvPr/>
            </p:nvSpPr>
            <p:spPr bwMode="auto">
              <a:xfrm>
                <a:off x="432" y="3424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4 5 8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805" name="Rectangle 68"/>
            <p:cNvSpPr>
              <a:spLocks noChangeArrowheads="1"/>
            </p:cNvSpPr>
            <p:nvPr/>
          </p:nvSpPr>
          <p:spPr bwMode="auto">
            <a:xfrm>
              <a:off x="3072" y="139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806" name="Line 69"/>
            <p:cNvSpPr>
              <a:spLocks noChangeShapeType="1"/>
            </p:cNvSpPr>
            <p:nvPr/>
          </p:nvSpPr>
          <p:spPr bwMode="auto">
            <a:xfrm>
              <a:off x="3072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7" name="Line 70"/>
            <p:cNvSpPr>
              <a:spLocks noChangeShapeType="1"/>
            </p:cNvSpPr>
            <p:nvPr/>
          </p:nvSpPr>
          <p:spPr bwMode="auto">
            <a:xfrm>
              <a:off x="3072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4" name="Group 71"/>
          <p:cNvGrpSpPr>
            <a:grpSpLocks/>
          </p:cNvGrpSpPr>
          <p:nvPr/>
        </p:nvGrpSpPr>
        <p:grpSpPr bwMode="auto">
          <a:xfrm>
            <a:off x="2895600" y="1828800"/>
            <a:ext cx="1073150" cy="396875"/>
            <a:chOff x="4416" y="1440"/>
            <a:chExt cx="676" cy="250"/>
          </a:xfrm>
        </p:grpSpPr>
        <p:sp>
          <p:nvSpPr>
            <p:cNvPr id="30765" name="Rectangle 72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0766" name="Text Box 73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0725" name="Line 74"/>
          <p:cNvSpPr>
            <a:spLocks noChangeShapeType="1"/>
          </p:cNvSpPr>
          <p:nvPr/>
        </p:nvSpPr>
        <p:spPr bwMode="auto">
          <a:xfrm>
            <a:off x="3429000" y="2209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Line 75"/>
          <p:cNvSpPr>
            <a:spLocks noChangeShapeType="1"/>
          </p:cNvSpPr>
          <p:nvPr/>
        </p:nvSpPr>
        <p:spPr bwMode="auto">
          <a:xfrm>
            <a:off x="1981200" y="2971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76"/>
          <p:cNvSpPr>
            <a:spLocks noChangeShapeType="1"/>
          </p:cNvSpPr>
          <p:nvPr/>
        </p:nvSpPr>
        <p:spPr bwMode="auto">
          <a:xfrm flipH="1">
            <a:off x="3505200" y="3048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77"/>
          <p:cNvSpPr>
            <a:spLocks noChangeShapeType="1"/>
          </p:cNvSpPr>
          <p:nvPr/>
        </p:nvSpPr>
        <p:spPr bwMode="auto">
          <a:xfrm flipH="1">
            <a:off x="4876800" y="3581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729" name="Group 78"/>
          <p:cNvGrpSpPr>
            <a:grpSpLocks/>
          </p:cNvGrpSpPr>
          <p:nvPr/>
        </p:nvGrpSpPr>
        <p:grpSpPr bwMode="auto">
          <a:xfrm>
            <a:off x="1295400" y="2514600"/>
            <a:ext cx="1371600" cy="396875"/>
            <a:chOff x="1344" y="1536"/>
            <a:chExt cx="863" cy="226"/>
          </a:xfrm>
        </p:grpSpPr>
        <p:grpSp>
          <p:nvGrpSpPr>
            <p:cNvPr id="30759" name="Group 79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0763" name="Rectangle 8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64" name="Text Box 8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0760" name="Group 82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0761" name="Rectangle 8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62" name="Text Box 8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grpSp>
        <p:nvGrpSpPr>
          <p:cNvPr id="30730" name="Group 85"/>
          <p:cNvGrpSpPr>
            <a:grpSpLocks/>
          </p:cNvGrpSpPr>
          <p:nvPr/>
        </p:nvGrpSpPr>
        <p:grpSpPr bwMode="auto">
          <a:xfrm>
            <a:off x="4038600" y="2667000"/>
            <a:ext cx="1149350" cy="396875"/>
            <a:chOff x="2880" y="1632"/>
            <a:chExt cx="724" cy="250"/>
          </a:xfrm>
        </p:grpSpPr>
        <p:grpSp>
          <p:nvGrpSpPr>
            <p:cNvPr id="30753" name="Group 8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0757" name="Rectangle 8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8" name="Text Box 8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0754" name="Group 8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0755" name="Rectangle 9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6" name="Text Box 9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0731" name="Group 92"/>
          <p:cNvGrpSpPr>
            <a:grpSpLocks/>
          </p:cNvGrpSpPr>
          <p:nvPr/>
        </p:nvGrpSpPr>
        <p:grpSpPr bwMode="auto">
          <a:xfrm>
            <a:off x="5334000" y="3200400"/>
            <a:ext cx="958850" cy="396875"/>
            <a:chOff x="3792" y="2064"/>
            <a:chExt cx="604" cy="250"/>
          </a:xfrm>
        </p:grpSpPr>
        <p:grpSp>
          <p:nvGrpSpPr>
            <p:cNvPr id="30747" name="Group 9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0751" name="Rectangle 9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2" name="Text Box 9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0748" name="Group 9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0749" name="Rectangle 9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0" name="Text Box 9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0732" name="Group 99"/>
          <p:cNvGrpSpPr>
            <a:grpSpLocks/>
          </p:cNvGrpSpPr>
          <p:nvPr/>
        </p:nvGrpSpPr>
        <p:grpSpPr bwMode="auto">
          <a:xfrm>
            <a:off x="7162800" y="1219200"/>
            <a:ext cx="1654175" cy="1692275"/>
            <a:chOff x="96" y="1097"/>
            <a:chExt cx="1141" cy="1122"/>
          </a:xfrm>
        </p:grpSpPr>
        <p:sp>
          <p:nvSpPr>
            <p:cNvPr id="30734" name="Text Box 100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0735" name="Group 101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0736" name="Text Box 102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0737" name="Group 103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0744" name="Rectangle 104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745" name="Line 105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46" name="Line 106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738" name="Line 107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39" name="Line 108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0" name="Line 109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1" name="Text Box 110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2" name="Text Box 111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0743" name="Text Box 112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0733" name="Text Box 113"/>
          <p:cNvSpPr txBox="1">
            <a:spLocks noChangeArrowheads="1"/>
          </p:cNvSpPr>
          <p:nvPr/>
        </p:nvSpPr>
        <p:spPr bwMode="auto">
          <a:xfrm>
            <a:off x="3962400" y="1828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02433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86868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sp>
        <p:nvSpPr>
          <p:cNvPr id="31747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5614988" y="3838575"/>
            <a:ext cx="1139825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8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1 5 9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1770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1879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80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71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72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1 3 6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1773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74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3 4 5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1775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1877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78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6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1875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76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7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1869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1873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1874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3 5 6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870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1871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1872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778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1867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8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6 8 9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9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1865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6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2 3 4</a:t>
              </a:r>
            </a:p>
          </p:txBody>
        </p:sp>
      </p:grpSp>
      <p:grpSp>
        <p:nvGrpSpPr>
          <p:cNvPr id="31780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1863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4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1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1861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2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1 2 4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2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1859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0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3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1857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58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4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1855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56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85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86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87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88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1842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1843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1844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1845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1852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1853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854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1846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7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8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9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0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1851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789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1840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1841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1790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1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2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3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94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1834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1838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9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1835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1836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7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2 +</a:t>
                </a:r>
              </a:p>
            </p:txBody>
          </p:sp>
        </p:grpSp>
      </p:grpSp>
      <p:grpSp>
        <p:nvGrpSpPr>
          <p:cNvPr id="31795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1828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1832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3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1829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1830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1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+</a:t>
                </a:r>
              </a:p>
            </p:txBody>
          </p:sp>
        </p:grpSp>
      </p:grpSp>
      <p:grpSp>
        <p:nvGrpSpPr>
          <p:cNvPr id="31796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1822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1826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7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31823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1824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5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+</a:t>
                </a:r>
              </a:p>
            </p:txBody>
          </p:sp>
        </p:grpSp>
      </p:grpSp>
      <p:sp>
        <p:nvSpPr>
          <p:cNvPr id="31797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8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9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800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1816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1820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1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1817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1818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9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1801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1810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1814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5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1811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1812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3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1802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1804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1808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09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1805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1806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07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sp>
        <p:nvSpPr>
          <p:cNvPr id="31803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264568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5614988" y="3838575"/>
            <a:ext cx="1166812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1 5 9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2794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2914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5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2795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6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1 3 6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2797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8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3 4 5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2799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2912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3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0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2910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1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1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2904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2908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2909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3 5 6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905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2906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2907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802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2902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03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6 8 9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3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2900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01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2 3 4</a:t>
              </a:r>
            </a:p>
          </p:txBody>
        </p:sp>
      </p:grpSp>
      <p:grpSp>
        <p:nvGrpSpPr>
          <p:cNvPr id="32804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2898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9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5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2896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7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1 2 4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6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2894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5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7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2892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3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8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2890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1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2809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10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12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2877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2878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2879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2880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2887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2888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89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2881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2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3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4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5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2886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813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2875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2876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2814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18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2869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2873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74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2870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2871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72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2 +</a:t>
                </a:r>
              </a:p>
            </p:txBody>
          </p:sp>
        </p:grpSp>
      </p:grpSp>
      <p:grpSp>
        <p:nvGrpSpPr>
          <p:cNvPr id="32819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2863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2867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8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2864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2865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6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+</a:t>
                </a:r>
              </a:p>
            </p:txBody>
          </p:sp>
        </p:grpSp>
      </p:grpSp>
      <p:grpSp>
        <p:nvGrpSpPr>
          <p:cNvPr id="32820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2857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2861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2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32858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2859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0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+</a:t>
                </a:r>
              </a:p>
            </p:txBody>
          </p:sp>
        </p:grpSp>
      </p:grpSp>
      <p:sp>
        <p:nvSpPr>
          <p:cNvPr id="32821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22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23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24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2851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2855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6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2852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2853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4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2825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2845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2849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0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2846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2847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8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2826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2839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2843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4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2840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2841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2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sp>
        <p:nvSpPr>
          <p:cNvPr id="32827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  <p:sp>
        <p:nvSpPr>
          <p:cNvPr id="32828" name="Rectangle 137"/>
          <p:cNvSpPr>
            <a:spLocks noChangeArrowheads="1"/>
          </p:cNvSpPr>
          <p:nvPr/>
        </p:nvSpPr>
        <p:spPr bwMode="auto">
          <a:xfrm>
            <a:off x="2362200" y="5257800"/>
            <a:ext cx="762000" cy="914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29" name="Line 138"/>
          <p:cNvSpPr>
            <a:spLocks noChangeShapeType="1"/>
          </p:cNvSpPr>
          <p:nvPr/>
        </p:nvSpPr>
        <p:spPr bwMode="auto">
          <a:xfrm flipH="1">
            <a:off x="2743200" y="4800600"/>
            <a:ext cx="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0" name="Line 139"/>
          <p:cNvSpPr>
            <a:spLocks noChangeShapeType="1"/>
          </p:cNvSpPr>
          <p:nvPr/>
        </p:nvSpPr>
        <p:spPr bwMode="auto">
          <a:xfrm>
            <a:off x="2743200" y="4800600"/>
            <a:ext cx="68580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1" name="Rectangle 140"/>
          <p:cNvSpPr>
            <a:spLocks noChangeArrowheads="1"/>
          </p:cNvSpPr>
          <p:nvPr/>
        </p:nvSpPr>
        <p:spPr bwMode="auto">
          <a:xfrm>
            <a:off x="3200400" y="5257800"/>
            <a:ext cx="762000" cy="533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2" name="Rectangle 141"/>
          <p:cNvSpPr>
            <a:spLocks noChangeArrowheads="1"/>
          </p:cNvSpPr>
          <p:nvPr/>
        </p:nvSpPr>
        <p:spPr bwMode="auto">
          <a:xfrm>
            <a:off x="3886200" y="3429000"/>
            <a:ext cx="6858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3" name="Rectangle 142"/>
          <p:cNvSpPr>
            <a:spLocks noChangeArrowheads="1"/>
          </p:cNvSpPr>
          <p:nvPr/>
        </p:nvSpPr>
        <p:spPr bwMode="auto">
          <a:xfrm>
            <a:off x="3124200" y="4267200"/>
            <a:ext cx="685800" cy="457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4" name="Line 143"/>
          <p:cNvSpPr>
            <a:spLocks noChangeShapeType="1"/>
          </p:cNvSpPr>
          <p:nvPr/>
        </p:nvSpPr>
        <p:spPr bwMode="auto">
          <a:xfrm>
            <a:off x="5638800" y="3886200"/>
            <a:ext cx="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6" name="Rectangle 145"/>
          <p:cNvSpPr>
            <a:spLocks noChangeArrowheads="1"/>
          </p:cNvSpPr>
          <p:nvPr/>
        </p:nvSpPr>
        <p:spPr bwMode="auto">
          <a:xfrm>
            <a:off x="5181600" y="4495800"/>
            <a:ext cx="838200" cy="1143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8" name="Text Box 147"/>
          <p:cNvSpPr txBox="1">
            <a:spLocks noChangeArrowheads="1"/>
          </p:cNvSpPr>
          <p:nvPr/>
        </p:nvSpPr>
        <p:spPr bwMode="auto">
          <a:xfrm>
            <a:off x="4038600" y="5943600"/>
            <a:ext cx="4806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Match transaction against </a:t>
            </a:r>
            <a:r>
              <a:rPr lang="en-US" altLang="en-US" sz="1800" dirty="0" smtClean="0">
                <a:latin typeface="Times New Roman" panose="02020603050405020304" pitchFamily="18" charset="0"/>
              </a:rPr>
              <a:t>9 </a:t>
            </a:r>
            <a:r>
              <a:rPr lang="en-US" altLang="en-US" sz="1800" dirty="0">
                <a:latin typeface="Times New Roman" panose="02020603050405020304" pitchFamily="18" charset="0"/>
              </a:rPr>
              <a:t>out of 15 candidates</a:t>
            </a:r>
          </a:p>
        </p:txBody>
      </p:sp>
    </p:spTree>
    <p:extLst>
      <p:ext uri="{BB962C8B-B14F-4D97-AF65-F5344CB8AC3E}">
        <p14:creationId xmlns:p14="http://schemas.microsoft.com/office/powerpoint/2010/main" val="288635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Factors Affecting Complexity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916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Choice of minimum support threshold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lowering support threshold results in more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this may increase number of candidates and max length of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Dimensionality (number of items) of the data set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more space is needed to store support count of each item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if number of frequent items also increases, both computation and I/O costs may also increase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Size of database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since </a:t>
            </a:r>
            <a:r>
              <a:rPr lang="en-US" sz="2400" dirty="0" err="1" smtClean="0"/>
              <a:t>Apriori</a:t>
            </a:r>
            <a:r>
              <a:rPr lang="en-US" sz="2400" dirty="0" smtClean="0"/>
              <a:t> makes multiple passes, run time of algorithm may increase with number of transactions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Average transaction width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transaction width increases with denser data sets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This may increase max length of frequent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and traversals of hash tree (number of subsets in a transaction increases with its width)</a:t>
            </a:r>
          </a:p>
        </p:txBody>
      </p:sp>
    </p:spTree>
    <p:extLst>
      <p:ext uri="{BB962C8B-B14F-4D97-AF65-F5344CB8AC3E}">
        <p14:creationId xmlns:p14="http://schemas.microsoft.com/office/powerpoint/2010/main" val="400609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Computational Complexity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Factors affecting computational complexity of Apriori: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Min_sup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No. of items (dimensionality)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No. of transactions 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Average transaction width</a:t>
            </a:r>
          </a:p>
          <a:p>
            <a:endParaRPr lang="en-US" altLang="en-US" sz="210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15953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88"/>
            <a:ext cx="6781800" cy="673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91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Computational Complexity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No. of items (dimensionality)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More space for storing support counts of items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If the no. of FIs grow with dim., the computation &amp; I/O costs will increase because of the large no. of candidates generated by the algo.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No. of Transactions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Apriori makes repeated passes of the tr. DB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Run time increases as a result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Average Transaction width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Max. size of FIs increase as avg size of tx. Increases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More itemsets need to be examined during candidate generation and support counting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As width increases, more itemsets are contained in the tx. Will inc. the hash tree traversal</a:t>
            </a:r>
          </a:p>
        </p:txBody>
      </p:sp>
    </p:spTree>
    <p:extLst>
      <p:ext uri="{BB962C8B-B14F-4D97-AF65-F5344CB8AC3E}">
        <p14:creationId xmlns:p14="http://schemas.microsoft.com/office/powerpoint/2010/main" val="2870180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400"/>
            <a:ext cx="5621338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43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953000"/>
          </a:xfrm>
          <a:noFill/>
        </p:spPr>
        <p:txBody>
          <a:bodyPr/>
          <a:lstStyle/>
          <a:p>
            <a:r>
              <a:rPr lang="en-US" altLang="en-US" smtClean="0">
                <a:solidFill>
                  <a:schemeClr val="tx2"/>
                </a:solidFill>
              </a:rPr>
              <a:t>So far we have seen algorithms for finding FIs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Lets now look at how we can generate the ARs from FIs 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FIs are concerned only with “support”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Time to bring in the concept of “confidence”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For each FI </a:t>
            </a:r>
            <a:r>
              <a:rPr lang="en-US" altLang="en-US" i="1" smtClean="0">
                <a:solidFill>
                  <a:schemeClr val="tx2"/>
                </a:solidFill>
              </a:rPr>
              <a:t>l, </a:t>
            </a:r>
            <a:r>
              <a:rPr lang="en-US" altLang="en-US" smtClean="0">
                <a:solidFill>
                  <a:schemeClr val="tx2"/>
                </a:solidFill>
              </a:rPr>
              <a:t>generate all non-empty subsets of</a:t>
            </a:r>
            <a:r>
              <a:rPr lang="en-US" altLang="en-US" i="1" smtClean="0">
                <a:solidFill>
                  <a:schemeClr val="tx2"/>
                </a:solidFill>
              </a:rPr>
              <a:t> l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For each non-empty subset </a:t>
            </a:r>
            <a:r>
              <a:rPr lang="en-US" altLang="en-US" i="1" smtClean="0">
                <a:solidFill>
                  <a:schemeClr val="tx2"/>
                </a:solidFill>
              </a:rPr>
              <a:t>s</a:t>
            </a:r>
            <a:r>
              <a:rPr lang="en-US" altLang="en-US" smtClean="0">
                <a:solidFill>
                  <a:schemeClr val="tx2"/>
                </a:solidFill>
              </a:rPr>
              <a:t> of </a:t>
            </a:r>
            <a:r>
              <a:rPr lang="en-US" altLang="en-US" i="1" smtClean="0">
                <a:solidFill>
                  <a:schemeClr val="tx2"/>
                </a:solidFill>
              </a:rPr>
              <a:t>l, </a:t>
            </a:r>
            <a:r>
              <a:rPr lang="en-US" altLang="en-US" smtClean="0">
                <a:solidFill>
                  <a:schemeClr val="tx2"/>
                </a:solidFill>
              </a:rPr>
              <a:t>output the rule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chemeClr val="tx2"/>
                </a:solidFill>
              </a:rPr>
              <a:t>	s</a:t>
            </a:r>
            <a:r>
              <a:rPr lang="en-US" altLang="en-US" smtClean="0">
                <a:solidFill>
                  <a:schemeClr val="tx2"/>
                </a:solidFill>
              </a:rPr>
              <a:t> </a:t>
            </a:r>
            <a:r>
              <a:rPr lang="en-US" altLang="en-US" smtClean="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 (</a:t>
            </a:r>
            <a:r>
              <a:rPr lang="en-US" altLang="en-US" i="1" smtClean="0">
                <a:solidFill>
                  <a:schemeClr val="tx2"/>
                </a:solidFill>
                <a:sym typeface="Wingdings" panose="05000000000000000000" pitchFamily="2" charset="2"/>
              </a:rPr>
              <a:t>l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-</a:t>
            </a:r>
            <a:r>
              <a:rPr lang="en-US" altLang="en-US" i="1" smtClean="0">
                <a:solidFill>
                  <a:schemeClr val="tx2"/>
                </a:solidFill>
                <a:sym typeface="Wingdings" panose="05000000000000000000" pitchFamily="2" charset="2"/>
              </a:rPr>
              <a:t>s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) if</a:t>
            </a:r>
            <a:endParaRPr lang="en-US" altLang="en-US" smtClean="0">
              <a:solidFill>
                <a:schemeClr val="tx2"/>
              </a:solidFill>
            </a:endParaRPr>
          </a:p>
          <a:p>
            <a:endParaRPr lang="en-US" altLang="en-US" smtClean="0">
              <a:solidFill>
                <a:schemeClr val="tx2"/>
              </a:solidFill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743200" y="5181600"/>
          <a:ext cx="33035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Equation" r:id="rId4" imgW="2019240" imgH="419040" progId="Equation.3">
                  <p:embed/>
                </p:oleObj>
              </mc:Choice>
              <mc:Fallback>
                <p:oleObj name="Equation" r:id="rId4" imgW="20192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33035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3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839200" cy="4953000"/>
          </a:xfrm>
          <a:noFill/>
        </p:spPr>
        <p:txBody>
          <a:bodyPr>
            <a:normAutofit lnSpcReduction="10000"/>
          </a:bodyPr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For each k-FI, Y, we can have up to 2</a:t>
            </a:r>
            <a:r>
              <a:rPr lang="en-US" altLang="en-US" sz="2400" baseline="30000" smtClean="0">
                <a:solidFill>
                  <a:schemeClr val="tx2"/>
                </a:solidFill>
              </a:rPr>
              <a:t>k</a:t>
            </a:r>
            <a:r>
              <a:rPr lang="en-US" altLang="en-US" sz="2400" smtClean="0">
                <a:solidFill>
                  <a:schemeClr val="tx2"/>
                </a:solidFill>
              </a:rPr>
              <a:t>-2 ARs.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Ignore empty antecedents/consequents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Partition Y into 2 non-empty subsets X &amp; Y-X, such that X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Y-X satisfies min_conf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We need not worry about min_sup!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Y={1,2,3}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6 candidate ARs: {1,2}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{3}, </a:t>
            </a:r>
            <a:r>
              <a:rPr lang="en-US" altLang="en-US" sz="2400" smtClean="0">
                <a:solidFill>
                  <a:schemeClr val="tx2"/>
                </a:solidFill>
              </a:rPr>
              <a:t>{1,3}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{2},</a:t>
            </a:r>
            <a:r>
              <a:rPr lang="en-US" altLang="en-US" sz="2400" smtClean="0">
                <a:solidFill>
                  <a:schemeClr val="tx2"/>
                </a:solidFill>
              </a:rPr>
              <a:t> {2,3}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{1},</a:t>
            </a:r>
            <a:r>
              <a:rPr lang="en-US" altLang="en-US" sz="2400" smtClean="0">
                <a:solidFill>
                  <a:schemeClr val="tx2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chemeClr val="tx2"/>
                </a:solidFill>
              </a:rPr>
              <a:t>	{1}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{2,3},</a:t>
            </a:r>
            <a:r>
              <a:rPr lang="en-US" altLang="en-US" sz="2400" smtClean="0">
                <a:solidFill>
                  <a:schemeClr val="tx2"/>
                </a:solidFill>
              </a:rPr>
              <a:t> {2}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{1,3},</a:t>
            </a:r>
            <a:r>
              <a:rPr lang="en-US" altLang="en-US" sz="2400" smtClean="0">
                <a:solidFill>
                  <a:schemeClr val="tx2"/>
                </a:solidFill>
              </a:rPr>
              <a:t> {3}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{1,2}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DO we need any additional scans to find confidence?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For {1,2}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{3}, the confidence is ({1,2,3})/({1,2})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123 is frequent, therefore 12 is also frequent. So no need to find support counts again</a:t>
            </a:r>
          </a:p>
        </p:txBody>
      </p:sp>
    </p:spTree>
    <p:extLst>
      <p:ext uri="{BB962C8B-B14F-4D97-AF65-F5344CB8AC3E}">
        <p14:creationId xmlns:p14="http://schemas.microsoft.com/office/powerpoint/2010/main" val="402386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Rule Generation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8975" cy="4876800"/>
          </a:xfrm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</a:rPr>
              <a:t>Given a frequent </a:t>
            </a:r>
            <a:r>
              <a:rPr lang="en-US" altLang="en-US" sz="2800" dirty="0" err="1" smtClean="0">
                <a:solidFill>
                  <a:schemeClr val="tx2"/>
                </a:solidFill>
              </a:rPr>
              <a:t>itemset</a:t>
            </a:r>
            <a:r>
              <a:rPr lang="en-US" altLang="en-US" sz="2800" dirty="0" smtClean="0">
                <a:solidFill>
                  <a:schemeClr val="tx2"/>
                </a:solidFill>
              </a:rPr>
              <a:t> L, find all non-empty subsets f 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 L such that f  L – f satisfies the minimum confidence requirement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If {A,B,C,D} is a frequent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, candidate rules: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  </a:t>
            </a: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ABC D, 		ABD C, 	ACD B, 	BCD A, 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 BCD,		B ACD,	C ABD, 	D ABC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AB CD,		AC  BD, 	AD  BC, 	BC AD, 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  <a:t>BD AC, 		CD AB,	</a:t>
            </a:r>
            <a:br>
              <a:rPr lang="en-US" altLang="en-US" sz="2200" dirty="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endParaRPr lang="en-US" altLang="en-US" sz="2200" dirty="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r>
              <a:rPr lang="en-US" altLang="en-US" sz="2800" dirty="0" smtClean="0">
                <a:solidFill>
                  <a:schemeClr val="tx2"/>
                </a:solidFill>
              </a:rPr>
              <a:t>If |L| = k, then there are 2</a:t>
            </a:r>
            <a:r>
              <a:rPr lang="en-US" altLang="en-US" sz="2800" baseline="30000" dirty="0" smtClean="0">
                <a:solidFill>
                  <a:schemeClr val="tx2"/>
                </a:solidFill>
              </a:rPr>
              <a:t>k</a:t>
            </a:r>
            <a:r>
              <a:rPr lang="en-US" altLang="en-US" sz="2800" dirty="0" smtClean="0">
                <a:solidFill>
                  <a:schemeClr val="tx2"/>
                </a:solidFill>
              </a:rPr>
              <a:t> – 2 candidate association rules (ignoring L 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  and   L)</a:t>
            </a:r>
          </a:p>
        </p:txBody>
      </p:sp>
    </p:spTree>
    <p:extLst>
      <p:ext uri="{BB962C8B-B14F-4D97-AF65-F5344CB8AC3E}">
        <p14:creationId xmlns:p14="http://schemas.microsoft.com/office/powerpoint/2010/main" val="2224680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Rule Generation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altLang="en-US" sz="3200" smtClean="0">
                <a:solidFill>
                  <a:schemeClr val="tx2"/>
                </a:solidFill>
                <a:sym typeface="Symbol" panose="05050102010706020507" pitchFamily="18" charset="2"/>
              </a:rPr>
              <a:t>How to efficiently generate rules from frequent itemsets?</a:t>
            </a:r>
          </a:p>
          <a:p>
            <a:pPr lvl="1"/>
            <a:r>
              <a:rPr lang="en-US" altLang="en-US" sz="2800" smtClean="0">
                <a:solidFill>
                  <a:schemeClr val="tx2"/>
                </a:solidFill>
                <a:sym typeface="Symbol" panose="05050102010706020507" pitchFamily="18" charset="2"/>
              </a:rPr>
              <a:t>In general, confidence does not have an anti-monotone property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	c(ABC D) can be larger or smaller than c(AB D)</a:t>
            </a:r>
          </a:p>
          <a:p>
            <a:pPr lvl="1"/>
            <a:r>
              <a:rPr lang="en-US" altLang="en-US" sz="2800" smtClean="0">
                <a:solidFill>
                  <a:schemeClr val="tx2"/>
                </a:solidFill>
                <a:sym typeface="Symbol" panose="05050102010706020507" pitchFamily="18" charset="2"/>
              </a:rPr>
              <a:t>But confidence of rules generated from the same itemset has an anti-monotone property</a:t>
            </a:r>
          </a:p>
          <a:p>
            <a:pPr lvl="1"/>
            <a:r>
              <a:rPr lang="en-US" altLang="en-US" sz="2800" smtClean="0">
                <a:solidFill>
                  <a:schemeClr val="tx2"/>
                </a:solidFill>
                <a:sym typeface="Symbol" panose="05050102010706020507" pitchFamily="18" charset="2"/>
              </a:rPr>
              <a:t>e.g., L = {A,B,C,D}:</a:t>
            </a:r>
            <a:br>
              <a:rPr lang="en-US" altLang="en-US" sz="2800" smtClean="0">
                <a:solidFill>
                  <a:schemeClr val="tx2"/>
                </a:solidFill>
                <a:sym typeface="Symbol" panose="05050102010706020507" pitchFamily="18" charset="2"/>
              </a:rPr>
            </a:br>
            <a:r>
              <a:rPr lang="en-US" altLang="en-US" sz="2800" smtClean="0">
                <a:solidFill>
                  <a:schemeClr val="tx2"/>
                </a:solidFill>
                <a:sym typeface="Symbol" panose="05050102010706020507" pitchFamily="18" charset="2"/>
              </a:rPr>
              <a:t> 		c(ABC  D)  c(AB  CD)  c(A  BCD)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 Confidence is anti-monotone w.r.t. number of items on the RHS of the rule</a:t>
            </a:r>
          </a:p>
        </p:txBody>
      </p:sp>
    </p:spTree>
    <p:extLst>
      <p:ext uri="{BB962C8B-B14F-4D97-AF65-F5344CB8AC3E}">
        <p14:creationId xmlns:p14="http://schemas.microsoft.com/office/powerpoint/2010/main" val="1968789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Rule Generation for Apriori Algorithm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219200" y="15240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Lattice of rules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752600"/>
            <a:ext cx="8153400" cy="4851400"/>
            <a:chOff x="96" y="894"/>
            <a:chExt cx="5136" cy="3056"/>
          </a:xfrm>
        </p:grpSpPr>
        <p:graphicFrame>
          <p:nvGraphicFramePr>
            <p:cNvPr id="6146" name="Object 6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1" name="Visio" r:id="rId4" imgW="8671306" imgH="4782859" progId="Visio.Drawing.6">
                    <p:embed/>
                  </p:oleObj>
                </mc:Choice>
                <mc:Fallback>
                  <p:oleObj name="Visio" r:id="rId4" imgW="8671306" imgH="4782859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2" name="Freeform 7"/>
            <p:cNvSpPr>
              <a:spLocks/>
            </p:cNvSpPr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dirty="0"/>
                <a:t>Pruned Rules</a:t>
              </a:r>
            </a:p>
          </p:txBody>
        </p:sp>
      </p:grpSp>
      <p:sp>
        <p:nvSpPr>
          <p:cNvPr id="6150" name="Line 9"/>
          <p:cNvSpPr>
            <a:spLocks noChangeShapeType="1"/>
          </p:cNvSpPr>
          <p:nvPr/>
        </p:nvSpPr>
        <p:spPr bwMode="auto">
          <a:xfrm>
            <a:off x="1066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Text Box 10"/>
          <p:cNvSpPr txBox="1">
            <a:spLocks noChangeArrowheads="1"/>
          </p:cNvSpPr>
          <p:nvPr/>
        </p:nvSpPr>
        <p:spPr bwMode="auto">
          <a:xfrm>
            <a:off x="304800" y="1600200"/>
            <a:ext cx="1371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Low Confidence Rule</a:t>
            </a:r>
          </a:p>
        </p:txBody>
      </p:sp>
    </p:spTree>
    <p:extLst>
      <p:ext uri="{BB962C8B-B14F-4D97-AF65-F5344CB8AC3E}">
        <p14:creationId xmlns:p14="http://schemas.microsoft.com/office/powerpoint/2010/main" val="21193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Compact Representation of FIs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8975" cy="4876800"/>
          </a:xfrm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Generally, the no. of FIs generated by a </a:t>
            </a:r>
            <a:r>
              <a:rPr lang="en-US" altLang="en-US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. DB can be very large</a:t>
            </a:r>
          </a:p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Good if we could identify a small representative set of FIs from which all other FIs could be generated</a:t>
            </a:r>
          </a:p>
          <a:p>
            <a:r>
              <a:rPr lang="en-US" altLang="en-US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2 such representations: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Maximal FIs</a:t>
            </a:r>
          </a:p>
          <a:p>
            <a:pPr lvl="1"/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Closed FIs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2664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Frequent Itemset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162050" y="1524000"/>
          <a:ext cx="7140575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Visio" r:id="rId3" imgW="9687611" imgH="7157416" progId="Visio.Drawing.6">
                  <p:embed/>
                </p:oleObj>
              </mc:Choice>
              <mc:Fallback>
                <p:oleObj name="Visio" r:id="rId3" imgW="9687611" imgH="715741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1524000"/>
                        <a:ext cx="7140575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7270750" y="5897563"/>
            <a:ext cx="111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Border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85800" y="5610225"/>
            <a:ext cx="11112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Infrequent Itemsets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844550" y="2097088"/>
            <a:ext cx="11128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Maximal Itemsets</a:t>
            </a: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1241425" y="4606925"/>
            <a:ext cx="158750" cy="10747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H="1" flipV="1">
            <a:off x="1717675" y="2527300"/>
            <a:ext cx="1030288" cy="646113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1717675" y="4535488"/>
            <a:ext cx="1030288" cy="1146175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>
            <a:off x="1797050" y="5538788"/>
            <a:ext cx="635000" cy="2873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H="1" flipV="1">
            <a:off x="1638300" y="5969000"/>
            <a:ext cx="2697163" cy="2873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 flipH="1" flipV="1">
            <a:off x="1558925" y="2598738"/>
            <a:ext cx="2632075" cy="16684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 flipH="1">
            <a:off x="1479550" y="4535488"/>
            <a:ext cx="555625" cy="10747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381000" y="1050925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An itemset is maximal frequent if none of its immediate supersets is frequent</a:t>
            </a:r>
          </a:p>
        </p:txBody>
      </p:sp>
    </p:spTree>
    <p:extLst>
      <p:ext uri="{BB962C8B-B14F-4D97-AF65-F5344CB8AC3E}">
        <p14:creationId xmlns:p14="http://schemas.microsoft.com/office/powerpoint/2010/main" val="73859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Maximal FIs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Maximal FIs are the smallest set of itemsets from which all the FIs can be derived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Maximal FIs do not contain support information of their subsets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An additional scan of the DB is needed to determine the support count of the non-maximal FIs</a:t>
            </a:r>
          </a:p>
          <a:p>
            <a:endParaRPr lang="en-US" altLang="en-US" sz="240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810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Closed </a:t>
            </a:r>
            <a:r>
              <a:rPr lang="en-US" dirty="0" err="1" smtClean="0"/>
              <a:t>Itemset</a:t>
            </a:r>
            <a:endParaRPr lang="en-US" dirty="0" smtClean="0"/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008063" y="2998788"/>
          <a:ext cx="1966912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9" name="Worksheet" r:id="rId3" imgW="1988871" imgH="1744914" progId="Excel.Sheet.8">
                  <p:embed/>
                </p:oleObj>
              </mc:Choice>
              <mc:Fallback>
                <p:oleObj name="Worksheet" r:id="rId3" imgW="1988871" imgH="174491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2998788"/>
                        <a:ext cx="1966912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An itemset is closed if none of its immediate supersets has the same support as the itemset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</p:txBody>
      </p:sp>
      <p:graphicFrame>
        <p:nvGraphicFramePr>
          <p:cNvPr id="36869" name="Object 5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3906838" y="2401093"/>
          <a:ext cx="2236787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0" name="Worksheet" r:id="rId5" imgW="2209698" imgH="3192747" progId="Excel.Sheet.8">
                  <p:embed/>
                </p:oleObj>
              </mc:Choice>
              <mc:Fallback>
                <p:oleObj name="Worksheet" r:id="rId5" imgW="2209698" imgH="319274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2401093"/>
                        <a:ext cx="2236787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6705600" y="3065461"/>
          <a:ext cx="2085975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1" name="Worksheet" r:id="rId7" imgW="2153107" imgH="1781556" progId="Excel.Sheet.8">
                  <p:embed/>
                </p:oleObj>
              </mc:Choice>
              <mc:Fallback>
                <p:oleObj name="Worksheet" r:id="rId7" imgW="2153107" imgH="1781556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065461"/>
                        <a:ext cx="2085975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62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Itemsets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28600" y="1143000"/>
          <a:ext cx="16002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Worksheet" r:id="rId3" imgW="1733931" imgH="2229104" progId="Excel.Sheet.8">
                  <p:embed/>
                </p:oleObj>
              </mc:Choice>
              <mc:Fallback>
                <p:oleObj name="Worksheet" r:id="rId3" imgW="1733931" imgH="222910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1600200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828800" y="1066800"/>
          <a:ext cx="7229475" cy="528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VISIO" r:id="rId5" imgW="10120884" imgH="7392924" progId="Visio.Drawing.6">
                  <p:embed/>
                </p:oleObj>
              </mc:Choice>
              <mc:Fallback>
                <p:oleObj name="VISIO" r:id="rId5" imgW="10120884" imgH="739292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7229475" cy="528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162800" y="990600"/>
            <a:ext cx="152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Transaction Ids</a:t>
            </a:r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6400800" y="12954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 flipH="1">
            <a:off x="7772400" y="13716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1219200" y="5715000"/>
            <a:ext cx="1752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Not supported by any transactions</a:t>
            </a:r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819400" y="6019800"/>
            <a:ext cx="2286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 flipV="1">
            <a:off x="2819400" y="54864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1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Frequent Itemsets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28600" y="1066800"/>
          <a:ext cx="70866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7" name="VISIO" r:id="rId3" imgW="10169652" imgH="7367016" progId="Visio.Drawing.6">
                  <p:embed/>
                </p:oleObj>
              </mc:Choice>
              <mc:Fallback>
                <p:oleObj name="VISIO" r:id="rId3" imgW="10169652" imgH="736701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70866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Minimum support = 2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7010400" y="5105400"/>
            <a:ext cx="15240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# Closed = 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# Maximal = 4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7543800" y="19050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Closed and maximal</a:t>
            </a:r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 flipH="1">
            <a:off x="6477000" y="2209800"/>
            <a:ext cx="1066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7239000" y="2209800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4876800" y="137160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5486400" y="9906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Closed but not maximal</a:t>
            </a: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 flipH="1">
            <a:off x="3962400" y="12192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5715000" y="1447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6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65188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Compact Representation of Frequent Itemsets</a:t>
            </a:r>
          </a:p>
        </p:txBody>
      </p:sp>
      <p:pic>
        <p:nvPicPr>
          <p:cNvPr id="348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963738"/>
            <a:ext cx="8839200" cy="26844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Some </a:t>
            </a:r>
            <a:r>
              <a:rPr lang="en-US" sz="2800" dirty="0" err="1" smtClean="0"/>
              <a:t>itemsets</a:t>
            </a:r>
            <a:r>
              <a:rPr lang="en-US" sz="2800" dirty="0" smtClean="0"/>
              <a:t> are redundant because they have identical support as their supersets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lvl="4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Number of frequent </a:t>
            </a:r>
            <a:r>
              <a:rPr lang="en-US" sz="2800" dirty="0" err="1" smtClean="0"/>
              <a:t>itemsets</a:t>
            </a:r>
            <a:endParaRPr lang="en-US" sz="2800" dirty="0" smtClean="0"/>
          </a:p>
          <a:p>
            <a:pPr lvl="4" eaLnBrk="1" hangingPunct="1">
              <a:lnSpc>
                <a:spcPct val="90000"/>
              </a:lnSpc>
              <a:defRPr/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Need a compact representation</a:t>
            </a:r>
          </a:p>
        </p:txBody>
      </p:sp>
      <p:graphicFrame>
        <p:nvGraphicFramePr>
          <p:cNvPr id="34821" name="Object 5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4495800" y="5029200"/>
          <a:ext cx="16954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4" imgW="1409700" imgH="838200" progId="Equation.3">
                  <p:embed/>
                </p:oleObj>
              </mc:Choice>
              <mc:Fallback>
                <p:oleObj name="Equation" r:id="rId4" imgW="1409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029200"/>
                        <a:ext cx="16954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39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Maximal vs Closed Itemsets</a:t>
            </a:r>
          </a:p>
        </p:txBody>
      </p:sp>
      <p:graphicFrame>
        <p:nvGraphicFramePr>
          <p:cNvPr id="399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114550" y="1733550"/>
          <a:ext cx="4429125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Visio" r:id="rId3" imgW="6603848" imgH="6157987" progId="Visio.Drawing.6">
                  <p:embed/>
                </p:oleObj>
              </mc:Choice>
              <mc:Fallback>
                <p:oleObj name="Visio" r:id="rId3" imgW="6603848" imgH="615798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1733550"/>
                        <a:ext cx="4429125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19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4059</TotalTime>
  <Words>2018</Words>
  <Application>Microsoft Office PowerPoint</Application>
  <PresentationFormat>On-screen Show (4:3)</PresentationFormat>
  <Paragraphs>474</Paragraphs>
  <Slides>40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Arial</vt:lpstr>
      <vt:lpstr>Calibri</vt:lpstr>
      <vt:lpstr>Calibri Light</vt:lpstr>
      <vt:lpstr>DejaVu LGC Sans</vt:lpstr>
      <vt:lpstr>Symbol</vt:lpstr>
      <vt:lpstr>Tahoma</vt:lpstr>
      <vt:lpstr>Times New Roman</vt:lpstr>
      <vt:lpstr>Wingdings</vt:lpstr>
      <vt:lpstr>Office Theme</vt:lpstr>
      <vt:lpstr>Visio</vt:lpstr>
      <vt:lpstr>Equation</vt:lpstr>
      <vt:lpstr>Worksheet</vt:lpstr>
      <vt:lpstr>VISIO</vt:lpstr>
      <vt:lpstr>Association Rule Mining</vt:lpstr>
      <vt:lpstr>Frequent Itemset Generation</vt:lpstr>
      <vt:lpstr>Frequent Itemset Generation Strategies</vt:lpstr>
      <vt:lpstr>PowerPoint Presentation</vt:lpstr>
      <vt:lpstr>PowerPoint Presentation</vt:lpstr>
      <vt:lpstr>PowerPoint Presentation</vt:lpstr>
      <vt:lpstr>Support Counting</vt:lpstr>
      <vt:lpstr>Subset Operation</vt:lpstr>
      <vt:lpstr>PowerPoint Presentation</vt:lpstr>
      <vt:lpstr>Reducing Number of Comparisons</vt:lpstr>
      <vt:lpstr>Hash Tree</vt:lpstr>
      <vt:lpstr>Hash Tree</vt:lpstr>
      <vt:lpstr>Generate Hash Tree</vt:lpstr>
      <vt:lpstr>PowerPoint Presentation</vt:lpstr>
      <vt:lpstr>PowerPoint Presentation</vt:lpstr>
      <vt:lpstr>PowerPoint Presentation</vt:lpstr>
      <vt:lpstr>Association Rule Discovery: Hash tree</vt:lpstr>
      <vt:lpstr>Association Rule Discovery: Hash tree</vt:lpstr>
      <vt:lpstr>Association Rule Discovery: Hash tree</vt:lpstr>
      <vt:lpstr>Subset Operation Using Hash Tree</vt:lpstr>
      <vt:lpstr>Subset Operation Using Hash Tree</vt:lpstr>
      <vt:lpstr>Subset Operation Using Hash Tree</vt:lpstr>
      <vt:lpstr>Factors Affecting Complexity</vt:lpstr>
      <vt:lpstr>Computational Complexity</vt:lpstr>
      <vt:lpstr>PowerPoint Presentation</vt:lpstr>
      <vt:lpstr>Computational Complexity</vt:lpstr>
      <vt:lpstr>PowerPoint Presentation</vt:lpstr>
      <vt:lpstr>AR Generation from FIs</vt:lpstr>
      <vt:lpstr>AR Generation from FIs</vt:lpstr>
      <vt:lpstr>Rule Generation</vt:lpstr>
      <vt:lpstr>Rule Generation</vt:lpstr>
      <vt:lpstr>Rule Generation for Apriori Algorithm</vt:lpstr>
      <vt:lpstr>Compact Representation of FIs</vt:lpstr>
      <vt:lpstr>Maximal Frequent Itemset</vt:lpstr>
      <vt:lpstr>Maximal FIs</vt:lpstr>
      <vt:lpstr>Closed Itemset</vt:lpstr>
      <vt:lpstr>Maximal vs Closed Itemsets</vt:lpstr>
      <vt:lpstr>Maximal vs Closed Frequent Itemsets</vt:lpstr>
      <vt:lpstr>Compact Representation of Frequent Itemsets</vt:lpstr>
      <vt:lpstr>Maximal vs Closed Itemsets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240</cp:revision>
  <cp:lastPrinted>1601-01-01T00:00:00Z</cp:lastPrinted>
  <dcterms:created xsi:type="dcterms:W3CDTF">1601-01-01T00:00:00Z</dcterms:created>
  <dcterms:modified xsi:type="dcterms:W3CDTF">2018-03-19T10:19:23Z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