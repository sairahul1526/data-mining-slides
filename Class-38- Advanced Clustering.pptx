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569" r:id="rId2"/>
    <p:sldId id="594" r:id="rId3"/>
    <p:sldId id="595" r:id="rId4"/>
    <p:sldId id="598" r:id="rId5"/>
    <p:sldId id="599" r:id="rId6"/>
    <p:sldId id="597" r:id="rId7"/>
    <p:sldId id="596" r:id="rId8"/>
    <p:sldId id="606" r:id="rId9"/>
    <p:sldId id="607" r:id="rId10"/>
    <p:sldId id="600" r:id="rId11"/>
    <p:sldId id="603" r:id="rId12"/>
    <p:sldId id="604" r:id="rId13"/>
    <p:sldId id="605" r:id="rId14"/>
    <p:sldId id="570" r:id="rId15"/>
    <p:sldId id="571" r:id="rId16"/>
    <p:sldId id="608" r:id="rId17"/>
    <p:sldId id="572" r:id="rId18"/>
    <p:sldId id="573" r:id="rId19"/>
    <p:sldId id="609" r:id="rId20"/>
    <p:sldId id="574" r:id="rId21"/>
    <p:sldId id="575" r:id="rId22"/>
    <p:sldId id="576" r:id="rId23"/>
    <p:sldId id="577" r:id="rId24"/>
    <p:sldId id="578" r:id="rId25"/>
    <p:sldId id="579" r:id="rId26"/>
    <p:sldId id="580" r:id="rId27"/>
    <p:sldId id="581" r:id="rId28"/>
    <p:sldId id="582" r:id="rId29"/>
    <p:sldId id="583" r:id="rId30"/>
    <p:sldId id="584" r:id="rId31"/>
    <p:sldId id="585" r:id="rId32"/>
    <p:sldId id="586" r:id="rId33"/>
    <p:sldId id="587" r:id="rId34"/>
    <p:sldId id="588" r:id="rId35"/>
    <p:sldId id="589" r:id="rId36"/>
    <p:sldId id="590" r:id="rId37"/>
    <p:sldId id="591" r:id="rId38"/>
    <p:sldId id="592" r:id="rId39"/>
    <p:sldId id="593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2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png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6B36DB-C3DA-49BB-AA53-5DF52F722C4A}" type="datetimeFigureOut">
              <a:rPr lang="en-US" smtClean="0"/>
              <a:t>27-Apr-18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24CDF2-A126-45BB-BED0-2A856D792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61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5E6470-F21F-45E0-9C8C-C6B6357D3418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1732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82625"/>
            <a:ext cx="4559300" cy="3419475"/>
          </a:xfrm>
          <a:ln/>
        </p:spPr>
      </p:sp>
      <p:sp>
        <p:nvSpPr>
          <p:cNvPr id="1732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1225" y="4330700"/>
            <a:ext cx="5008563" cy="4103688"/>
          </a:xfrm>
        </p:spPr>
        <p:txBody>
          <a:bodyPr lIns="91119" tIns="45560" rIns="91119" bIns="45560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1944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56E96C-DFB5-44A7-AFC8-E39540C12491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1734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82625"/>
            <a:ext cx="4559300" cy="3419475"/>
          </a:xfrm>
          <a:ln/>
        </p:spPr>
      </p:sp>
      <p:sp>
        <p:nvSpPr>
          <p:cNvPr id="1734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1225" y="4330700"/>
            <a:ext cx="5008563" cy="4103688"/>
          </a:xfrm>
        </p:spPr>
        <p:txBody>
          <a:bodyPr lIns="91119" tIns="45560" rIns="91119" bIns="45560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5309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27-Apr-18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27-Apr-18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27-Apr-18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27-Apr-18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27-Apr-18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27-Apr-18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27-Apr-18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27-Apr-18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27-Apr-18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27-Apr-18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27-Apr-18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7793038" cy="609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1371600"/>
            <a:ext cx="4114800" cy="5105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371600"/>
            <a:ext cx="4114800" cy="2476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114800" cy="2476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304800" y="6477000"/>
            <a:ext cx="1905000" cy="381000"/>
          </a:xfrm>
        </p:spPr>
        <p:txBody>
          <a:bodyPr/>
          <a:lstStyle>
            <a:lvl1pPr>
              <a:defRPr/>
            </a:lvl1pPr>
          </a:lstStyle>
          <a:p>
            <a:fld id="{7719FF2D-3926-4A01-B2E7-8D750E2CF478}" type="datetime4">
              <a:rPr lang="en-US" altLang="en-US"/>
              <a:pPr/>
              <a:t>April 27, 2018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352800" y="6477000"/>
            <a:ext cx="2895600" cy="381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Data Mining: Concepts and Techniques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7239000" y="6477000"/>
            <a:ext cx="1905000" cy="381000"/>
          </a:xfrm>
        </p:spPr>
        <p:txBody>
          <a:bodyPr/>
          <a:lstStyle>
            <a:lvl1pPr>
              <a:defRPr/>
            </a:lvl1pPr>
          </a:lstStyle>
          <a:p>
            <a:fld id="{039B610F-332E-42D7-A229-63F84E53156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9469769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27B745-B939-4367-9798-1F14DB30F90E}" type="datetimeFigureOut">
              <a:rPr lang="en-US" smtClean="0"/>
              <a:t>27-Apr-18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1.png"/><Relationship Id="rId4" Type="http://schemas.openxmlformats.org/officeDocument/2006/relationships/oleObject" Target="../embeddings/oleObject2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46.w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Advanced Clustering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975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81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839200" cy="5334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en-US" altLang="en-US" sz="2800"/>
              <a:t>Chameleon: Clustering Using Dynamic Modeling</a:t>
            </a:r>
          </a:p>
        </p:txBody>
      </p:sp>
      <p:sp>
        <p:nvSpPr>
          <p:cNvPr id="1655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7363" y="1143000"/>
            <a:ext cx="8178800" cy="4724400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altLang="en-US" sz="2400" dirty="0"/>
              <a:t>Adapt to the characteristics of the data set to find the natural clusters</a:t>
            </a:r>
          </a:p>
          <a:p>
            <a:pPr>
              <a:defRPr/>
            </a:pPr>
            <a:r>
              <a:rPr lang="en-US" altLang="en-US" sz="2400" dirty="0"/>
              <a:t>Use a dynamic model to measure the similarity between clusters</a:t>
            </a:r>
          </a:p>
          <a:p>
            <a:pPr lvl="1">
              <a:defRPr/>
            </a:pPr>
            <a:r>
              <a:rPr lang="en-US" altLang="en-US" sz="2000" dirty="0"/>
              <a:t>Main property is the relative closeness and relative inter-connectivity of the cluster</a:t>
            </a:r>
          </a:p>
          <a:p>
            <a:pPr lvl="1">
              <a:defRPr/>
            </a:pPr>
            <a:r>
              <a:rPr lang="en-US" altLang="en-US" sz="2000" dirty="0"/>
              <a:t>Two clusters are combined if the resulting cluster shares certain </a:t>
            </a:r>
            <a:r>
              <a:rPr lang="en-US" altLang="en-US" sz="2000" i="1" dirty="0">
                <a:solidFill>
                  <a:srgbClr val="FF0000"/>
                </a:solidFill>
              </a:rPr>
              <a:t>properties</a:t>
            </a:r>
            <a:r>
              <a:rPr lang="en-US" altLang="en-US" sz="2000" dirty="0"/>
              <a:t> with the constituent clusters</a:t>
            </a:r>
          </a:p>
          <a:p>
            <a:pPr lvl="1">
              <a:defRPr/>
            </a:pPr>
            <a:r>
              <a:rPr lang="en-US" altLang="en-US" sz="2000" dirty="0"/>
              <a:t>The merging scheme preserves </a:t>
            </a:r>
            <a:r>
              <a:rPr lang="en-US" altLang="en-US" sz="2000" i="1" dirty="0">
                <a:solidFill>
                  <a:srgbClr val="FF0000"/>
                </a:solidFill>
              </a:rPr>
              <a:t>self-similarity</a:t>
            </a: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sz="1600" dirty="0"/>
          </a:p>
          <a:p>
            <a:pPr>
              <a:defRPr/>
            </a:pPr>
            <a:endParaRPr lang="en-US" altLang="en-US" sz="1600" dirty="0"/>
          </a:p>
          <a:p>
            <a:pPr>
              <a:defRPr/>
            </a:pPr>
            <a:endParaRPr lang="en-US" altLang="en-US" sz="2400" dirty="0" smtClean="0"/>
          </a:p>
          <a:p>
            <a:pPr>
              <a:defRPr/>
            </a:pPr>
            <a:endParaRPr lang="en-US" altLang="en-US" sz="2400" dirty="0"/>
          </a:p>
          <a:p>
            <a:pPr>
              <a:defRPr/>
            </a:pPr>
            <a:r>
              <a:rPr lang="en-US" altLang="en-US" sz="2400" dirty="0" smtClean="0"/>
              <a:t>One </a:t>
            </a:r>
            <a:r>
              <a:rPr lang="en-US" altLang="en-US" sz="2400" dirty="0"/>
              <a:t>of the areas of application is </a:t>
            </a:r>
            <a:r>
              <a:rPr lang="en-US" altLang="en-US" sz="2400" dirty="0">
                <a:solidFill>
                  <a:srgbClr val="FF0000"/>
                </a:solidFill>
              </a:rPr>
              <a:t>spatial data</a:t>
            </a:r>
            <a:endParaRPr lang="en-US" altLang="en-US" dirty="0"/>
          </a:p>
        </p:txBody>
      </p:sp>
      <p:graphicFrame>
        <p:nvGraphicFramePr>
          <p:cNvPr id="17412" name="Object 4"/>
          <p:cNvGraphicFramePr>
            <a:graphicFrameLocks noChangeAspect="1"/>
          </p:cNvGraphicFramePr>
          <p:nvPr>
            <p:extLst/>
          </p:nvPr>
        </p:nvGraphicFramePr>
        <p:xfrm>
          <a:off x="1447800" y="3886200"/>
          <a:ext cx="4876800" cy="1340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57" name="Bitmap Image" r:id="rId3" imgW="5570703" imgH="3795089" progId="Paint.Picture">
                  <p:embed/>
                </p:oleObj>
              </mc:Choice>
              <mc:Fallback>
                <p:oleObj name="Bitmap Image" r:id="rId3" imgW="5570703" imgH="3795089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30835" b="62024"/>
                      <a:stretch>
                        <a:fillRect/>
                      </a:stretch>
                    </p:blipFill>
                    <p:spPr bwMode="auto">
                      <a:xfrm>
                        <a:off x="1447800" y="3886200"/>
                        <a:ext cx="4876800" cy="13402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4218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534400" cy="1139825"/>
          </a:xfrm>
        </p:spPr>
        <p:txBody>
          <a:bodyPr/>
          <a:lstStyle/>
          <a:p>
            <a:pPr>
              <a:defRPr/>
            </a:pPr>
            <a:r>
              <a:rPr lang="en-US" altLang="en-US" sz="3600" dirty="0"/>
              <a:t>Limitations of Current Merging Schemes</a:t>
            </a:r>
          </a:p>
        </p:txBody>
      </p:sp>
      <p:pic>
        <p:nvPicPr>
          <p:cNvPr id="16947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7138" y="1447800"/>
            <a:ext cx="5072062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600200"/>
            <a:ext cx="990600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94726" name="Text Box 6"/>
          <p:cNvSpPr txBox="1">
            <a:spLocks noChangeArrowheads="1"/>
          </p:cNvSpPr>
          <p:nvPr/>
        </p:nvSpPr>
        <p:spPr bwMode="auto">
          <a:xfrm>
            <a:off x="152400" y="5370513"/>
            <a:ext cx="29718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Shows relative closeness</a:t>
            </a:r>
          </a:p>
        </p:txBody>
      </p:sp>
      <p:sp>
        <p:nvSpPr>
          <p:cNvPr id="18438" name="Text Box 7"/>
          <p:cNvSpPr txBox="1">
            <a:spLocks noChangeArrowheads="1"/>
          </p:cNvSpPr>
          <p:nvPr/>
        </p:nvSpPr>
        <p:spPr bwMode="auto">
          <a:xfrm>
            <a:off x="457200" y="1744663"/>
            <a:ext cx="6096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(a)</a:t>
            </a:r>
          </a:p>
        </p:txBody>
      </p:sp>
      <p:sp>
        <p:nvSpPr>
          <p:cNvPr id="18439" name="Text Box 8"/>
          <p:cNvSpPr txBox="1">
            <a:spLocks noChangeArrowheads="1"/>
          </p:cNvSpPr>
          <p:nvPr/>
        </p:nvSpPr>
        <p:spPr bwMode="auto">
          <a:xfrm>
            <a:off x="457200" y="2222500"/>
            <a:ext cx="6096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(b)</a:t>
            </a:r>
          </a:p>
        </p:txBody>
      </p:sp>
      <p:sp>
        <p:nvSpPr>
          <p:cNvPr id="18440" name="Text Box 9"/>
          <p:cNvSpPr txBox="1">
            <a:spLocks noChangeArrowheads="1"/>
          </p:cNvSpPr>
          <p:nvPr/>
        </p:nvSpPr>
        <p:spPr bwMode="auto">
          <a:xfrm>
            <a:off x="457200" y="3352800"/>
            <a:ext cx="6858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(c)</a:t>
            </a:r>
          </a:p>
        </p:txBody>
      </p:sp>
      <p:sp>
        <p:nvSpPr>
          <p:cNvPr id="18441" name="Text Box 10"/>
          <p:cNvSpPr txBox="1">
            <a:spLocks noChangeArrowheads="1"/>
          </p:cNvSpPr>
          <p:nvPr/>
        </p:nvSpPr>
        <p:spPr bwMode="auto">
          <a:xfrm>
            <a:off x="457200" y="4419600"/>
            <a:ext cx="6096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(d)</a:t>
            </a:r>
          </a:p>
        </p:txBody>
      </p:sp>
      <p:sp>
        <p:nvSpPr>
          <p:cNvPr id="1694731" name="Text Box 11"/>
          <p:cNvSpPr txBox="1">
            <a:spLocks noChangeArrowheads="1"/>
          </p:cNvSpPr>
          <p:nvPr/>
        </p:nvSpPr>
        <p:spPr bwMode="auto">
          <a:xfrm>
            <a:off x="4419600" y="5475288"/>
            <a:ext cx="36576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Shows inter connectedness</a:t>
            </a:r>
          </a:p>
        </p:txBody>
      </p:sp>
    </p:spTree>
    <p:extLst>
      <p:ext uri="{BB962C8B-B14F-4D97-AF65-F5344CB8AC3E}">
        <p14:creationId xmlns:p14="http://schemas.microsoft.com/office/powerpoint/2010/main" val="3325417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4726" grpId="0"/>
      <p:bldP spid="16947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860" name="Rectangle 4"/>
          <p:cNvSpPr>
            <a:spLocks noGrp="1" noChangeArrowheads="1"/>
          </p:cNvSpPr>
          <p:nvPr>
            <p:ph type="title"/>
          </p:nvPr>
        </p:nvSpPr>
        <p:spPr>
          <a:xfrm>
            <a:off x="419100" y="152400"/>
            <a:ext cx="8229600" cy="865188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Chameleon:  Steps</a:t>
            </a:r>
          </a:p>
        </p:txBody>
      </p:sp>
      <p:sp>
        <p:nvSpPr>
          <p:cNvPr id="165786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9067800" cy="453072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en-US" sz="2800" dirty="0">
                <a:solidFill>
                  <a:srgbClr val="FF0000"/>
                </a:solidFill>
              </a:rPr>
              <a:t>Preprocessing Step</a:t>
            </a:r>
            <a:r>
              <a:rPr lang="en-US" altLang="en-US" sz="2800" dirty="0"/>
              <a:t>: </a:t>
            </a:r>
            <a:br>
              <a:rPr lang="en-US" altLang="en-US" sz="2800" dirty="0"/>
            </a:br>
            <a:r>
              <a:rPr lang="en-US" altLang="en-US" sz="2800" dirty="0"/>
              <a:t>Represent the Data by a Graph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sz="2400" dirty="0"/>
              <a:t>Given a set of points, construct the k-nearest-neighbor (k-NN) graph to capture the relationship between a point and its k nearest neighbors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sz="2400" dirty="0"/>
              <a:t>Concept of neighborhood is captured dynamically (even if region is sparse)</a:t>
            </a:r>
          </a:p>
          <a:p>
            <a:pPr lvl="4">
              <a:lnSpc>
                <a:spcPct val="90000"/>
              </a:lnSpc>
              <a:defRPr/>
            </a:pPr>
            <a:endParaRPr lang="en-US" altLang="en-US" sz="1800" dirty="0"/>
          </a:p>
          <a:p>
            <a:pPr>
              <a:lnSpc>
                <a:spcPct val="90000"/>
              </a:lnSpc>
              <a:defRPr/>
            </a:pPr>
            <a:r>
              <a:rPr lang="en-US" altLang="en-US" sz="2800" dirty="0">
                <a:solidFill>
                  <a:srgbClr val="FF0000"/>
                </a:solidFill>
              </a:rPr>
              <a:t>Phase 1</a:t>
            </a:r>
            <a:r>
              <a:rPr lang="en-US" altLang="en-US" sz="2800" dirty="0"/>
              <a:t>: Use a multilevel graph partitioning algorithm on the graph to find a large number of clusters of well-connected vertices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sz="2400" dirty="0"/>
              <a:t>Each cluster should contain mostly points from one “true” cluster, i.e., is a sub-cluster of a “real” cluster</a:t>
            </a:r>
          </a:p>
        </p:txBody>
      </p:sp>
    </p:spTree>
    <p:extLst>
      <p:ext uri="{BB962C8B-B14F-4D97-AF65-F5344CB8AC3E}">
        <p14:creationId xmlns:p14="http://schemas.microsoft.com/office/powerpoint/2010/main" val="1772704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88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Chameleon:  Steps … </a:t>
            </a:r>
          </a:p>
        </p:txBody>
      </p:sp>
      <p:sp>
        <p:nvSpPr>
          <p:cNvPr id="165888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52400" y="1143000"/>
            <a:ext cx="8839200" cy="5562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rgbClr val="FF0000"/>
                </a:solidFill>
              </a:rPr>
              <a:t>Phase 2</a:t>
            </a:r>
            <a:r>
              <a:rPr lang="en-US" altLang="en-US" dirty="0"/>
              <a:t>: Use Hierarchical Agglomerative Clustering to merge sub-clusters</a:t>
            </a:r>
          </a:p>
          <a:p>
            <a:pPr lvl="1">
              <a:defRPr/>
            </a:pPr>
            <a:r>
              <a:rPr lang="en-US" altLang="en-US" dirty="0"/>
              <a:t>Two clusters are combined if the </a:t>
            </a:r>
            <a:r>
              <a:rPr lang="en-US" altLang="en-US" i="1" dirty="0"/>
              <a:t>resulting cluster shares certain properties with the constituent </a:t>
            </a:r>
            <a:r>
              <a:rPr lang="en-US" altLang="en-US" i="1" dirty="0" smtClean="0"/>
              <a:t>clusters</a:t>
            </a:r>
            <a:endParaRPr lang="en-US" altLang="en-US" dirty="0"/>
          </a:p>
          <a:p>
            <a:pPr lvl="1">
              <a:defRPr/>
            </a:pPr>
            <a:r>
              <a:rPr lang="en-US" altLang="en-US" dirty="0"/>
              <a:t>Two key properties used to model cluster similarity:</a:t>
            </a:r>
          </a:p>
          <a:p>
            <a:pPr lvl="2">
              <a:defRPr/>
            </a:pPr>
            <a:r>
              <a:rPr lang="en-US" altLang="en-US" dirty="0">
                <a:solidFill>
                  <a:srgbClr val="1C5A61"/>
                </a:solidFill>
              </a:rPr>
              <a:t> </a:t>
            </a:r>
            <a:r>
              <a:rPr lang="en-US" altLang="en-US" dirty="0">
                <a:solidFill>
                  <a:srgbClr val="FF0000"/>
                </a:solidFill>
              </a:rPr>
              <a:t>Relative Interconnectivity</a:t>
            </a:r>
            <a:r>
              <a:rPr lang="en-US" altLang="en-US" dirty="0"/>
              <a:t>: Absolute interconnectivity of two clusters normalized by the internal connectivity of the clusters</a:t>
            </a:r>
          </a:p>
          <a:p>
            <a:pPr lvl="3">
              <a:defRPr/>
            </a:pPr>
            <a:endParaRPr lang="en-US" altLang="en-US" sz="800" dirty="0"/>
          </a:p>
          <a:p>
            <a:pPr lvl="2">
              <a:defRPr/>
            </a:pPr>
            <a:r>
              <a:rPr lang="en-US" altLang="en-US" dirty="0">
                <a:solidFill>
                  <a:srgbClr val="1C5A61"/>
                </a:solidFill>
              </a:rPr>
              <a:t> </a:t>
            </a:r>
            <a:r>
              <a:rPr lang="en-US" altLang="en-US" dirty="0">
                <a:solidFill>
                  <a:srgbClr val="FF0000"/>
                </a:solidFill>
              </a:rPr>
              <a:t>Relative Closeness</a:t>
            </a:r>
            <a:r>
              <a:rPr lang="en-US" altLang="en-US" dirty="0"/>
              <a:t>: Absolute closeness of two clusters normalized by the internal closeness of the clusters</a:t>
            </a:r>
          </a:p>
          <a:p>
            <a:pPr lvl="3"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43540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Relative Closeness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8387" y="1736931"/>
            <a:ext cx="7947226" cy="42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09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Relative Interconnectivity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295400"/>
            <a:ext cx="8229600" cy="487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458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37" y="2166539"/>
            <a:ext cx="8403526" cy="2524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286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562" y="2365875"/>
            <a:ext cx="7414876" cy="212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649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Characteristics of Spatial Data Sets</a:t>
            </a:r>
          </a:p>
        </p:txBody>
      </p:sp>
      <p:pic>
        <p:nvPicPr>
          <p:cNvPr id="19459" name="Picture 3" descr="t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905000"/>
            <a:ext cx="3124200" cy="18462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381000" y="1676400"/>
            <a:ext cx="50292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339725" indent="-225425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1800">
                <a:latin typeface="Arial" panose="020B0604020202020204" pitchFamily="34" charset="0"/>
              </a:rPr>
              <a:t>Clusters are defined as densely populated regions of the space</a:t>
            </a:r>
          </a:p>
          <a:p>
            <a:pPr lvl="1">
              <a:spcBef>
                <a:spcPct val="0"/>
              </a:spcBef>
              <a:buClrTx/>
              <a:buSzTx/>
              <a:buFontTx/>
              <a:buChar char="•"/>
            </a:pPr>
            <a:endParaRPr lang="en-US" altLang="en-US" sz="1000"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1800">
                <a:latin typeface="Arial" panose="020B0604020202020204" pitchFamily="34" charset="0"/>
              </a:rPr>
              <a:t>Clusters have arbitrary shapes, orientation, and non-uniform sizes</a:t>
            </a:r>
            <a:br>
              <a:rPr lang="en-US" altLang="en-US" sz="1800">
                <a:latin typeface="Arial" panose="020B0604020202020204" pitchFamily="34" charset="0"/>
              </a:rPr>
            </a:br>
            <a:endParaRPr lang="en-US" altLang="en-US" sz="1000"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1800">
                <a:latin typeface="Arial" panose="020B0604020202020204" pitchFamily="34" charset="0"/>
              </a:rPr>
              <a:t>Difference in densities across clusters and variation in density within clusters</a:t>
            </a:r>
            <a:br>
              <a:rPr lang="en-US" altLang="en-US" sz="1800">
                <a:latin typeface="Arial" panose="020B0604020202020204" pitchFamily="34" charset="0"/>
              </a:rPr>
            </a:br>
            <a:endParaRPr lang="en-US" altLang="en-US" sz="1000"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1800">
                <a:latin typeface="Arial" panose="020B0604020202020204" pitchFamily="34" charset="0"/>
              </a:rPr>
              <a:t>Existence of special artifacts (</a:t>
            </a:r>
            <a:r>
              <a:rPr lang="en-US" altLang="en-US" sz="1800" i="1">
                <a:latin typeface="Arial" panose="020B0604020202020204" pitchFamily="34" charset="0"/>
              </a:rPr>
              <a:t>streaks</a:t>
            </a:r>
            <a:r>
              <a:rPr lang="en-US" altLang="en-US" sz="1800">
                <a:latin typeface="Arial" panose="020B0604020202020204" pitchFamily="34" charset="0"/>
              </a:rPr>
              <a:t>) and noise</a:t>
            </a:r>
          </a:p>
        </p:txBody>
      </p:sp>
      <p:pic>
        <p:nvPicPr>
          <p:cNvPr id="19461" name="Picture 5" descr="t7_talk_origina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962400"/>
            <a:ext cx="3124200" cy="18526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762000" y="4648200"/>
            <a:ext cx="4546600" cy="915988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en-US" sz="1800">
                <a:solidFill>
                  <a:srgbClr val="CC3300"/>
                </a:solidFill>
                <a:latin typeface="Arial Rounded MT Bold" panose="020F0704030504030204" pitchFamily="34" charset="0"/>
              </a:rPr>
              <a:t>The clustering algorithm must address the above characteristics and also require minimal supervision</a:t>
            </a:r>
            <a:r>
              <a:rPr lang="en-US" altLang="en-US" sz="1800">
                <a:solidFill>
                  <a:srgbClr val="CC3300"/>
                </a:solidFill>
                <a:latin typeface="Arial" panose="020B0604020202020204" pitchFamily="34" charset="0"/>
              </a:rPr>
              <a:t>.</a:t>
            </a:r>
            <a:endParaRPr lang="en-US" altLang="en-US" sz="1400">
              <a:solidFill>
                <a:srgbClr val="CC33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4878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9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3982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dirty="0"/>
              <a:t>Experimental Results: </a:t>
            </a:r>
            <a:r>
              <a:rPr lang="en-US" altLang="en-US" dirty="0">
                <a:latin typeface="Arial Rounded MT Bold" panose="020F0704030504030204" pitchFamily="34" charset="0"/>
              </a:rPr>
              <a:t>CHAMELEON</a:t>
            </a:r>
            <a:endParaRPr lang="en-US" altLang="en-US" dirty="0"/>
          </a:p>
        </p:txBody>
      </p:sp>
      <p:pic>
        <p:nvPicPr>
          <p:cNvPr id="22531" name="Picture 3" descr="ds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371600"/>
            <a:ext cx="7112000" cy="47545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5481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9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096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dirty="0"/>
              <a:t>Experimental Results</a:t>
            </a:r>
            <a:r>
              <a:rPr lang="en-US" altLang="en-US" dirty="0" smtClean="0"/>
              <a:t>:</a:t>
            </a:r>
            <a:endParaRPr lang="en-US" altLang="en-US" dirty="0"/>
          </a:p>
        </p:txBody>
      </p:sp>
      <p:pic>
        <p:nvPicPr>
          <p:cNvPr id="23555" name="Picture 3" descr="t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" y="990600"/>
            <a:ext cx="4343400" cy="2743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56" name="Picture 3" descr="t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5350" y="990600"/>
            <a:ext cx="4419600" cy="2743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557" name="Rectangle 1"/>
          <p:cNvSpPr>
            <a:spLocks noChangeArrowheads="1"/>
          </p:cNvSpPr>
          <p:nvPr/>
        </p:nvSpPr>
        <p:spPr bwMode="auto">
          <a:xfrm>
            <a:off x="1382713" y="3733800"/>
            <a:ext cx="16938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 Rounded MT Bold" panose="020F0704030504030204" pitchFamily="34" charset="0"/>
              </a:rPr>
              <a:t>CHAMELEON</a:t>
            </a:r>
            <a:endParaRPr lang="en-US" altLang="en-US" sz="1800"/>
          </a:p>
        </p:txBody>
      </p:sp>
      <p:sp>
        <p:nvSpPr>
          <p:cNvPr id="23558" name="Rectangle 2"/>
          <p:cNvSpPr>
            <a:spLocks noChangeArrowheads="1"/>
          </p:cNvSpPr>
          <p:nvPr/>
        </p:nvSpPr>
        <p:spPr bwMode="auto">
          <a:xfrm>
            <a:off x="5467350" y="3733800"/>
            <a:ext cx="23066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 Rounded MT Bold" panose="020F0704030504030204" pitchFamily="34" charset="0"/>
              </a:rPr>
              <a:t>CURE (</a:t>
            </a:r>
            <a:r>
              <a:rPr lang="en-US" altLang="en-US" sz="1800" i="1">
                <a:latin typeface="Arial Rounded MT Bold" panose="020F0704030504030204" pitchFamily="34" charset="0"/>
              </a:rPr>
              <a:t>10 clusters</a:t>
            </a:r>
            <a:r>
              <a:rPr lang="en-US" altLang="en-US" sz="1800">
                <a:latin typeface="Arial Rounded MT Bold" panose="020F0704030504030204" pitchFamily="34" charset="0"/>
              </a:rPr>
              <a:t>)</a:t>
            </a:r>
            <a:endParaRPr lang="en-US" altLang="en-US" sz="1800"/>
          </a:p>
        </p:txBody>
      </p:sp>
      <p:pic>
        <p:nvPicPr>
          <p:cNvPr id="23559" name="Picture 3" descr="t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4267200"/>
            <a:ext cx="4648200" cy="233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560" name="Rectangle 4"/>
          <p:cNvSpPr>
            <a:spLocks noChangeArrowheads="1"/>
          </p:cNvSpPr>
          <p:nvPr/>
        </p:nvSpPr>
        <p:spPr bwMode="auto">
          <a:xfrm>
            <a:off x="6384925" y="6208713"/>
            <a:ext cx="23050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 Rounded MT Bold" panose="020F0704030504030204" pitchFamily="34" charset="0"/>
              </a:rPr>
              <a:t>CURE (</a:t>
            </a:r>
            <a:r>
              <a:rPr lang="en-US" altLang="en-US" sz="1800" i="1">
                <a:latin typeface="Arial Rounded MT Bold" panose="020F0704030504030204" pitchFamily="34" charset="0"/>
              </a:rPr>
              <a:t>15 clusters</a:t>
            </a:r>
            <a:r>
              <a:rPr lang="en-US" altLang="en-US" sz="1800">
                <a:latin typeface="Arial Rounded MT Bold" panose="020F0704030504030204" pitchFamily="34" charset="0"/>
              </a:rPr>
              <a:t>)</a:t>
            </a: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3487300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00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229600" cy="5334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dirty="0"/>
              <a:t>Experimental Results</a:t>
            </a:r>
            <a:r>
              <a:rPr lang="en-US" altLang="en-US" dirty="0" smtClean="0"/>
              <a:t>:</a:t>
            </a:r>
            <a:endParaRPr lang="en-US" altLang="en-US" dirty="0">
              <a:latin typeface="Arial Rounded MT Bold" panose="020F0704030504030204" pitchFamily="34" charset="0"/>
            </a:endParaRPr>
          </a:p>
        </p:txBody>
      </p:sp>
      <p:pic>
        <p:nvPicPr>
          <p:cNvPr id="24579" name="Picture 3" descr="t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219200"/>
            <a:ext cx="4343400" cy="2265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580" name="Rectangle 1"/>
          <p:cNvSpPr>
            <a:spLocks noChangeArrowheads="1"/>
          </p:cNvSpPr>
          <p:nvPr/>
        </p:nvSpPr>
        <p:spPr bwMode="auto">
          <a:xfrm>
            <a:off x="1295400" y="3598863"/>
            <a:ext cx="16954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 Rounded MT Bold" panose="020F0704030504030204" pitchFamily="34" charset="0"/>
              </a:rPr>
              <a:t>CHAMELEON</a:t>
            </a:r>
            <a:endParaRPr lang="en-US" altLang="en-US" sz="1800"/>
          </a:p>
        </p:txBody>
      </p:sp>
      <p:pic>
        <p:nvPicPr>
          <p:cNvPr id="24581" name="Picture 3" descr="t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219200"/>
            <a:ext cx="4191000" cy="2265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582" name="Rectangle 2"/>
          <p:cNvSpPr>
            <a:spLocks noChangeArrowheads="1"/>
          </p:cNvSpPr>
          <p:nvPr/>
        </p:nvSpPr>
        <p:spPr bwMode="auto">
          <a:xfrm>
            <a:off x="5659438" y="3571875"/>
            <a:ext cx="2168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 Rounded MT Bold" panose="020F0704030504030204" pitchFamily="34" charset="0"/>
              </a:rPr>
              <a:t>CURE (</a:t>
            </a:r>
            <a:r>
              <a:rPr lang="en-US" altLang="en-US" sz="1800" i="1">
                <a:latin typeface="Arial Rounded MT Bold" panose="020F0704030504030204" pitchFamily="34" charset="0"/>
              </a:rPr>
              <a:t>9 clusters</a:t>
            </a:r>
            <a:r>
              <a:rPr lang="en-US" altLang="en-US" sz="1800">
                <a:latin typeface="Arial Rounded MT Bold" panose="020F0704030504030204" pitchFamily="34" charset="0"/>
              </a:rPr>
              <a:t>)</a:t>
            </a:r>
            <a:endParaRPr lang="en-US" altLang="en-US" sz="1800"/>
          </a:p>
        </p:txBody>
      </p:sp>
      <p:pic>
        <p:nvPicPr>
          <p:cNvPr id="24583" name="Picture 3" descr="t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4343400"/>
            <a:ext cx="4267200" cy="213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584" name="Rectangle 3"/>
          <p:cNvSpPr>
            <a:spLocks noChangeArrowheads="1"/>
          </p:cNvSpPr>
          <p:nvPr/>
        </p:nvSpPr>
        <p:spPr bwMode="auto">
          <a:xfrm>
            <a:off x="4525963" y="6057900"/>
            <a:ext cx="23050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 Rounded MT Bold" panose="020F0704030504030204" pitchFamily="34" charset="0"/>
              </a:rPr>
              <a:t>CURE (</a:t>
            </a:r>
            <a:r>
              <a:rPr lang="en-US" altLang="en-US" sz="1800" i="1">
                <a:latin typeface="Arial Rounded MT Bold" panose="020F0704030504030204" pitchFamily="34" charset="0"/>
              </a:rPr>
              <a:t>15 clusters</a:t>
            </a:r>
            <a:r>
              <a:rPr lang="en-US" altLang="en-US" sz="1800">
                <a:latin typeface="Arial Rounded MT Bold" panose="020F0704030504030204" pitchFamily="34" charset="0"/>
              </a:rPr>
              <a:t>)</a:t>
            </a: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1796764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2"/>
          <p:cNvGrpSpPr>
            <a:grpSpLocks/>
          </p:cNvGrpSpPr>
          <p:nvPr/>
        </p:nvGrpSpPr>
        <p:grpSpPr bwMode="auto">
          <a:xfrm>
            <a:off x="838200" y="3429000"/>
            <a:ext cx="2743200" cy="1676400"/>
            <a:chOff x="714" y="2331"/>
            <a:chExt cx="1728" cy="1056"/>
          </a:xfrm>
        </p:grpSpPr>
        <p:sp>
          <p:nvSpPr>
            <p:cNvPr id="25625" name="Oval 3"/>
            <p:cNvSpPr>
              <a:spLocks noChangeArrowheads="1"/>
            </p:cNvSpPr>
            <p:nvPr/>
          </p:nvSpPr>
          <p:spPr bwMode="auto">
            <a:xfrm>
              <a:off x="1242" y="2763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5626" name="Oval 4"/>
            <p:cNvSpPr>
              <a:spLocks noChangeArrowheads="1"/>
            </p:cNvSpPr>
            <p:nvPr/>
          </p:nvSpPr>
          <p:spPr bwMode="auto">
            <a:xfrm>
              <a:off x="1578" y="2331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5627" name="Oval 5"/>
            <p:cNvSpPr>
              <a:spLocks noChangeArrowheads="1"/>
            </p:cNvSpPr>
            <p:nvPr/>
          </p:nvSpPr>
          <p:spPr bwMode="auto">
            <a:xfrm>
              <a:off x="1578" y="2571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5628" name="Oval 6"/>
            <p:cNvSpPr>
              <a:spLocks noChangeArrowheads="1"/>
            </p:cNvSpPr>
            <p:nvPr/>
          </p:nvSpPr>
          <p:spPr bwMode="auto">
            <a:xfrm>
              <a:off x="1578" y="2955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5629" name="Oval 7"/>
            <p:cNvSpPr>
              <a:spLocks noChangeArrowheads="1"/>
            </p:cNvSpPr>
            <p:nvPr/>
          </p:nvSpPr>
          <p:spPr bwMode="auto">
            <a:xfrm>
              <a:off x="1578" y="3243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5630" name="Oval 8"/>
            <p:cNvSpPr>
              <a:spLocks noChangeArrowheads="1"/>
            </p:cNvSpPr>
            <p:nvPr/>
          </p:nvSpPr>
          <p:spPr bwMode="auto">
            <a:xfrm>
              <a:off x="1866" y="2763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5631" name="Oval 9"/>
            <p:cNvSpPr>
              <a:spLocks noChangeArrowheads="1"/>
            </p:cNvSpPr>
            <p:nvPr/>
          </p:nvSpPr>
          <p:spPr bwMode="auto">
            <a:xfrm>
              <a:off x="954" y="3099"/>
              <a:ext cx="144" cy="1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5632" name="Oval 10"/>
            <p:cNvSpPr>
              <a:spLocks noChangeArrowheads="1"/>
            </p:cNvSpPr>
            <p:nvPr/>
          </p:nvSpPr>
          <p:spPr bwMode="auto">
            <a:xfrm>
              <a:off x="714" y="2763"/>
              <a:ext cx="144" cy="1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5633" name="Oval 11"/>
            <p:cNvSpPr>
              <a:spLocks noChangeArrowheads="1"/>
            </p:cNvSpPr>
            <p:nvPr/>
          </p:nvSpPr>
          <p:spPr bwMode="auto">
            <a:xfrm>
              <a:off x="954" y="2379"/>
              <a:ext cx="144" cy="1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5634" name="Oval 12"/>
            <p:cNvSpPr>
              <a:spLocks noChangeArrowheads="1"/>
            </p:cNvSpPr>
            <p:nvPr/>
          </p:nvSpPr>
          <p:spPr bwMode="auto">
            <a:xfrm>
              <a:off x="2106" y="2379"/>
              <a:ext cx="144" cy="1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5635" name="Oval 13"/>
            <p:cNvSpPr>
              <a:spLocks noChangeArrowheads="1"/>
            </p:cNvSpPr>
            <p:nvPr/>
          </p:nvSpPr>
          <p:spPr bwMode="auto">
            <a:xfrm>
              <a:off x="2058" y="3099"/>
              <a:ext cx="144" cy="1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5636" name="Oval 14"/>
            <p:cNvSpPr>
              <a:spLocks noChangeArrowheads="1"/>
            </p:cNvSpPr>
            <p:nvPr/>
          </p:nvSpPr>
          <p:spPr bwMode="auto">
            <a:xfrm>
              <a:off x="2298" y="2763"/>
              <a:ext cx="144" cy="1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5637" name="Text Box 15"/>
            <p:cNvSpPr txBox="1">
              <a:spLocks noChangeArrowheads="1"/>
            </p:cNvSpPr>
            <p:nvPr/>
          </p:nvSpPr>
          <p:spPr bwMode="auto">
            <a:xfrm>
              <a:off x="1242" y="2571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25638" name="Text Box 16"/>
            <p:cNvSpPr txBox="1">
              <a:spLocks noChangeArrowheads="1"/>
            </p:cNvSpPr>
            <p:nvPr/>
          </p:nvSpPr>
          <p:spPr bwMode="auto">
            <a:xfrm>
              <a:off x="1866" y="2571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25639" name="Line 17"/>
            <p:cNvSpPr>
              <a:spLocks noChangeShapeType="1"/>
            </p:cNvSpPr>
            <p:nvPr/>
          </p:nvSpPr>
          <p:spPr bwMode="auto">
            <a:xfrm flipV="1">
              <a:off x="1381" y="2675"/>
              <a:ext cx="205" cy="1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0" name="Line 18"/>
            <p:cNvSpPr>
              <a:spLocks noChangeShapeType="1"/>
            </p:cNvSpPr>
            <p:nvPr/>
          </p:nvSpPr>
          <p:spPr bwMode="auto">
            <a:xfrm flipV="1">
              <a:off x="1068" y="2888"/>
              <a:ext cx="211" cy="2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1" name="Line 19"/>
            <p:cNvSpPr>
              <a:spLocks noChangeShapeType="1"/>
            </p:cNvSpPr>
            <p:nvPr/>
          </p:nvSpPr>
          <p:spPr bwMode="auto">
            <a:xfrm>
              <a:off x="863" y="2838"/>
              <a:ext cx="385" cy="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2" name="Line 20"/>
            <p:cNvSpPr>
              <a:spLocks noChangeShapeType="1"/>
            </p:cNvSpPr>
            <p:nvPr/>
          </p:nvSpPr>
          <p:spPr bwMode="auto">
            <a:xfrm>
              <a:off x="1064" y="2520"/>
              <a:ext cx="243" cy="2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3" name="Line 21"/>
            <p:cNvSpPr>
              <a:spLocks noChangeShapeType="1"/>
            </p:cNvSpPr>
            <p:nvPr/>
          </p:nvSpPr>
          <p:spPr bwMode="auto">
            <a:xfrm>
              <a:off x="1375" y="2866"/>
              <a:ext cx="218" cy="1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4" name="Line 22"/>
            <p:cNvSpPr>
              <a:spLocks noChangeShapeType="1"/>
            </p:cNvSpPr>
            <p:nvPr/>
          </p:nvSpPr>
          <p:spPr bwMode="auto">
            <a:xfrm flipH="1" flipV="1">
              <a:off x="1332" y="2910"/>
              <a:ext cx="278" cy="3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5" name="Line 23"/>
            <p:cNvSpPr>
              <a:spLocks noChangeShapeType="1"/>
            </p:cNvSpPr>
            <p:nvPr/>
          </p:nvSpPr>
          <p:spPr bwMode="auto">
            <a:xfrm flipV="1">
              <a:off x="1349" y="2427"/>
              <a:ext cx="237" cy="3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6" name="Line 24"/>
            <p:cNvSpPr>
              <a:spLocks noChangeShapeType="1"/>
            </p:cNvSpPr>
            <p:nvPr/>
          </p:nvSpPr>
          <p:spPr bwMode="auto">
            <a:xfrm>
              <a:off x="1393" y="2835"/>
              <a:ext cx="484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7" name="Line 25"/>
            <p:cNvSpPr>
              <a:spLocks noChangeShapeType="1"/>
            </p:cNvSpPr>
            <p:nvPr/>
          </p:nvSpPr>
          <p:spPr bwMode="auto">
            <a:xfrm>
              <a:off x="2018" y="2835"/>
              <a:ext cx="29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8" name="Line 26"/>
            <p:cNvSpPr>
              <a:spLocks noChangeShapeType="1"/>
            </p:cNvSpPr>
            <p:nvPr/>
          </p:nvSpPr>
          <p:spPr bwMode="auto">
            <a:xfrm flipV="1">
              <a:off x="1730" y="2894"/>
              <a:ext cx="162" cy="1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9" name="Line 27"/>
            <p:cNvSpPr>
              <a:spLocks noChangeShapeType="1"/>
            </p:cNvSpPr>
            <p:nvPr/>
          </p:nvSpPr>
          <p:spPr bwMode="auto">
            <a:xfrm flipV="1">
              <a:off x="1702" y="2910"/>
              <a:ext cx="224" cy="3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50" name="Line 28"/>
            <p:cNvSpPr>
              <a:spLocks noChangeShapeType="1"/>
            </p:cNvSpPr>
            <p:nvPr/>
          </p:nvSpPr>
          <p:spPr bwMode="auto">
            <a:xfrm flipH="1" flipV="1">
              <a:off x="1979" y="2889"/>
              <a:ext cx="115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51" name="Line 29"/>
            <p:cNvSpPr>
              <a:spLocks noChangeShapeType="1"/>
            </p:cNvSpPr>
            <p:nvPr/>
          </p:nvSpPr>
          <p:spPr bwMode="auto">
            <a:xfrm flipV="1">
              <a:off x="1984" y="2511"/>
              <a:ext cx="168" cy="2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52" name="Line 30"/>
            <p:cNvSpPr>
              <a:spLocks noChangeShapeType="1"/>
            </p:cNvSpPr>
            <p:nvPr/>
          </p:nvSpPr>
          <p:spPr bwMode="auto">
            <a:xfrm flipH="1" flipV="1">
              <a:off x="1715" y="2693"/>
              <a:ext cx="160" cy="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53" name="Line 31"/>
            <p:cNvSpPr>
              <a:spLocks noChangeShapeType="1"/>
            </p:cNvSpPr>
            <p:nvPr/>
          </p:nvSpPr>
          <p:spPr bwMode="auto">
            <a:xfrm flipH="1" flipV="1">
              <a:off x="1702" y="2465"/>
              <a:ext cx="210" cy="2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54" name="Text Box 32"/>
            <p:cNvSpPr txBox="1">
              <a:spLocks noChangeArrowheads="1"/>
            </p:cNvSpPr>
            <p:nvPr/>
          </p:nvSpPr>
          <p:spPr bwMode="auto">
            <a:xfrm>
              <a:off x="1555" y="2668"/>
              <a:ext cx="21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6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5603" name="Group 33"/>
          <p:cNvGrpSpPr>
            <a:grpSpLocks/>
          </p:cNvGrpSpPr>
          <p:nvPr/>
        </p:nvGrpSpPr>
        <p:grpSpPr bwMode="auto">
          <a:xfrm>
            <a:off x="5029200" y="3559175"/>
            <a:ext cx="2743200" cy="1371600"/>
            <a:chOff x="2928" y="2413"/>
            <a:chExt cx="1728" cy="864"/>
          </a:xfrm>
        </p:grpSpPr>
        <p:sp>
          <p:nvSpPr>
            <p:cNvPr id="25607" name="Oval 34"/>
            <p:cNvSpPr>
              <a:spLocks noChangeArrowheads="1"/>
            </p:cNvSpPr>
            <p:nvPr/>
          </p:nvSpPr>
          <p:spPr bwMode="auto">
            <a:xfrm>
              <a:off x="3456" y="2797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5608" name="Oval 35"/>
            <p:cNvSpPr>
              <a:spLocks noChangeArrowheads="1"/>
            </p:cNvSpPr>
            <p:nvPr/>
          </p:nvSpPr>
          <p:spPr bwMode="auto">
            <a:xfrm>
              <a:off x="4080" y="2797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5609" name="Oval 36"/>
            <p:cNvSpPr>
              <a:spLocks noChangeArrowheads="1"/>
            </p:cNvSpPr>
            <p:nvPr/>
          </p:nvSpPr>
          <p:spPr bwMode="auto">
            <a:xfrm>
              <a:off x="3168" y="3133"/>
              <a:ext cx="144" cy="1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5610" name="Oval 37"/>
            <p:cNvSpPr>
              <a:spLocks noChangeArrowheads="1"/>
            </p:cNvSpPr>
            <p:nvPr/>
          </p:nvSpPr>
          <p:spPr bwMode="auto">
            <a:xfrm>
              <a:off x="2928" y="2797"/>
              <a:ext cx="144" cy="1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5611" name="Oval 38"/>
            <p:cNvSpPr>
              <a:spLocks noChangeArrowheads="1"/>
            </p:cNvSpPr>
            <p:nvPr/>
          </p:nvSpPr>
          <p:spPr bwMode="auto">
            <a:xfrm>
              <a:off x="3168" y="2413"/>
              <a:ext cx="144" cy="1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5612" name="Oval 39"/>
            <p:cNvSpPr>
              <a:spLocks noChangeArrowheads="1"/>
            </p:cNvSpPr>
            <p:nvPr/>
          </p:nvSpPr>
          <p:spPr bwMode="auto">
            <a:xfrm>
              <a:off x="4320" y="2413"/>
              <a:ext cx="144" cy="1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5613" name="Oval 40"/>
            <p:cNvSpPr>
              <a:spLocks noChangeArrowheads="1"/>
            </p:cNvSpPr>
            <p:nvPr/>
          </p:nvSpPr>
          <p:spPr bwMode="auto">
            <a:xfrm>
              <a:off x="4272" y="3133"/>
              <a:ext cx="144" cy="1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5614" name="Oval 41"/>
            <p:cNvSpPr>
              <a:spLocks noChangeArrowheads="1"/>
            </p:cNvSpPr>
            <p:nvPr/>
          </p:nvSpPr>
          <p:spPr bwMode="auto">
            <a:xfrm>
              <a:off x="4512" y="2797"/>
              <a:ext cx="144" cy="1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5615" name="Text Box 42"/>
            <p:cNvSpPr txBox="1">
              <a:spLocks noChangeArrowheads="1"/>
            </p:cNvSpPr>
            <p:nvPr/>
          </p:nvSpPr>
          <p:spPr bwMode="auto">
            <a:xfrm>
              <a:off x="3456" y="2605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25616" name="Text Box 43"/>
            <p:cNvSpPr txBox="1">
              <a:spLocks noChangeArrowheads="1"/>
            </p:cNvSpPr>
            <p:nvPr/>
          </p:nvSpPr>
          <p:spPr bwMode="auto">
            <a:xfrm>
              <a:off x="4080" y="2605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25617" name="Line 44"/>
            <p:cNvSpPr>
              <a:spLocks noChangeShapeType="1"/>
            </p:cNvSpPr>
            <p:nvPr/>
          </p:nvSpPr>
          <p:spPr bwMode="auto">
            <a:xfrm flipV="1">
              <a:off x="3282" y="2922"/>
              <a:ext cx="211" cy="2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18" name="Line 45"/>
            <p:cNvSpPr>
              <a:spLocks noChangeShapeType="1"/>
            </p:cNvSpPr>
            <p:nvPr/>
          </p:nvSpPr>
          <p:spPr bwMode="auto">
            <a:xfrm>
              <a:off x="3077" y="2872"/>
              <a:ext cx="385" cy="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19" name="Line 46"/>
            <p:cNvSpPr>
              <a:spLocks noChangeShapeType="1"/>
            </p:cNvSpPr>
            <p:nvPr/>
          </p:nvSpPr>
          <p:spPr bwMode="auto">
            <a:xfrm>
              <a:off x="3278" y="2554"/>
              <a:ext cx="243" cy="2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0" name="Line 47"/>
            <p:cNvSpPr>
              <a:spLocks noChangeShapeType="1"/>
            </p:cNvSpPr>
            <p:nvPr/>
          </p:nvSpPr>
          <p:spPr bwMode="auto">
            <a:xfrm>
              <a:off x="3607" y="2869"/>
              <a:ext cx="484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1" name="Line 48"/>
            <p:cNvSpPr>
              <a:spLocks noChangeShapeType="1"/>
            </p:cNvSpPr>
            <p:nvPr/>
          </p:nvSpPr>
          <p:spPr bwMode="auto">
            <a:xfrm>
              <a:off x="4232" y="2869"/>
              <a:ext cx="29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2" name="Line 49"/>
            <p:cNvSpPr>
              <a:spLocks noChangeShapeType="1"/>
            </p:cNvSpPr>
            <p:nvPr/>
          </p:nvSpPr>
          <p:spPr bwMode="auto">
            <a:xfrm flipH="1" flipV="1">
              <a:off x="4193" y="2923"/>
              <a:ext cx="115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3" name="Line 50"/>
            <p:cNvSpPr>
              <a:spLocks noChangeShapeType="1"/>
            </p:cNvSpPr>
            <p:nvPr/>
          </p:nvSpPr>
          <p:spPr bwMode="auto">
            <a:xfrm flipV="1">
              <a:off x="4198" y="2545"/>
              <a:ext cx="168" cy="2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4" name="Text Box 51"/>
            <p:cNvSpPr txBox="1">
              <a:spLocks noChangeArrowheads="1"/>
            </p:cNvSpPr>
            <p:nvPr/>
          </p:nvSpPr>
          <p:spPr bwMode="auto">
            <a:xfrm>
              <a:off x="3757" y="2659"/>
              <a:ext cx="21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4</a:t>
              </a:r>
            </a:p>
          </p:txBody>
        </p:sp>
      </p:grpSp>
      <p:sp>
        <p:nvSpPr>
          <p:cNvPr id="25604" name="Text Box 52"/>
          <p:cNvSpPr txBox="1">
            <a:spLocks noChangeArrowheads="1"/>
          </p:cNvSpPr>
          <p:nvPr/>
        </p:nvSpPr>
        <p:spPr bwMode="auto">
          <a:xfrm>
            <a:off x="533400" y="1371600"/>
            <a:ext cx="80772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SNN graph</a:t>
            </a:r>
            <a:r>
              <a:rPr lang="en-US" altLang="en-US" sz="2400">
                <a:latin typeface="Times New Roman" panose="02020603050405020304" pitchFamily="18" charset="0"/>
              </a:rPr>
              <a:t>: the weight of an edge is the number of shared neighbors between vertices given that the vertices are connected</a:t>
            </a:r>
          </a:p>
        </p:txBody>
      </p:sp>
      <p:sp>
        <p:nvSpPr>
          <p:cNvPr id="1668151" name="Rectangle 5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Shared Near Neighbor Approach</a:t>
            </a:r>
          </a:p>
        </p:txBody>
      </p:sp>
      <p:sp>
        <p:nvSpPr>
          <p:cNvPr id="25606" name="AutoShape 54"/>
          <p:cNvSpPr>
            <a:spLocks noChangeArrowheads="1"/>
          </p:cNvSpPr>
          <p:nvPr/>
        </p:nvSpPr>
        <p:spPr bwMode="auto">
          <a:xfrm>
            <a:off x="4038600" y="4148138"/>
            <a:ext cx="533400" cy="228600"/>
          </a:xfrm>
          <a:prstGeom prst="rightArrow">
            <a:avLst>
              <a:gd name="adj1" fmla="val 50000"/>
              <a:gd name="adj2" fmla="val 58333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37683487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9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700" y="1789113"/>
            <a:ext cx="5816600" cy="3279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87709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274" y="2313668"/>
            <a:ext cx="8289451" cy="2230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7965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204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Creating the SNN Graph</a:t>
            </a:r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762000" y="4552950"/>
            <a:ext cx="3505200" cy="146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Sparse Graph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Link weights are similarities between neighboring points</a:t>
            </a:r>
          </a:p>
        </p:txBody>
      </p:sp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3048000" y="22288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6629" name="Rectangle 5"/>
          <p:cNvSpPr>
            <a:spLocks noChangeArrowheads="1"/>
          </p:cNvSpPr>
          <p:nvPr/>
        </p:nvSpPr>
        <p:spPr bwMode="auto">
          <a:xfrm>
            <a:off x="3630613" y="27892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6630" name="Rectangle 6"/>
          <p:cNvSpPr>
            <a:spLocks noChangeArrowheads="1"/>
          </p:cNvSpPr>
          <p:nvPr/>
        </p:nvSpPr>
        <p:spPr bwMode="auto">
          <a:xfrm>
            <a:off x="3630613" y="27892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6631" name="Text Box 7"/>
          <p:cNvSpPr txBox="1">
            <a:spLocks noChangeArrowheads="1"/>
          </p:cNvSpPr>
          <p:nvPr/>
        </p:nvSpPr>
        <p:spPr bwMode="auto">
          <a:xfrm>
            <a:off x="4876800" y="4572000"/>
            <a:ext cx="3810000" cy="146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Shared Near Neighbor Graph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Link weights are number of Shared Nearest Neighbors</a:t>
            </a:r>
          </a:p>
        </p:txBody>
      </p:sp>
      <p:sp>
        <p:nvSpPr>
          <p:cNvPr id="26632" name="Rectangle 8"/>
          <p:cNvSpPr>
            <a:spLocks noChangeArrowheads="1"/>
          </p:cNvSpPr>
          <p:nvPr/>
        </p:nvSpPr>
        <p:spPr bwMode="auto">
          <a:xfrm>
            <a:off x="3262313" y="2514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pic>
        <p:nvPicPr>
          <p:cNvPr id="26633" name="Picture 9" descr="knn-connectivit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24000"/>
            <a:ext cx="3940175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4" name="Rectangle 10"/>
          <p:cNvSpPr>
            <a:spLocks noChangeArrowheads="1"/>
          </p:cNvSpPr>
          <p:nvPr/>
        </p:nvSpPr>
        <p:spPr bwMode="auto">
          <a:xfrm>
            <a:off x="3262313" y="2514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grpSp>
        <p:nvGrpSpPr>
          <p:cNvPr id="26635" name="Group 14"/>
          <p:cNvGrpSpPr>
            <a:grpSpLocks/>
          </p:cNvGrpSpPr>
          <p:nvPr/>
        </p:nvGrpSpPr>
        <p:grpSpPr bwMode="auto">
          <a:xfrm>
            <a:off x="4822825" y="1524000"/>
            <a:ext cx="4016375" cy="2819400"/>
            <a:chOff x="3038" y="960"/>
            <a:chExt cx="2530" cy="1776"/>
          </a:xfrm>
        </p:grpSpPr>
        <p:pic>
          <p:nvPicPr>
            <p:cNvPr id="26636" name="Picture 11" descr="knn-connectivity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8" y="960"/>
              <a:ext cx="2530" cy="1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637" name="Line 13"/>
            <p:cNvSpPr>
              <a:spLocks noChangeShapeType="1"/>
            </p:cNvSpPr>
            <p:nvPr/>
          </p:nvSpPr>
          <p:spPr bwMode="auto">
            <a:xfrm flipH="1">
              <a:off x="3600" y="1872"/>
              <a:ext cx="96" cy="288"/>
            </a:xfrm>
            <a:prstGeom prst="line">
              <a:avLst/>
            </a:prstGeom>
            <a:noFill/>
            <a:ln w="762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42743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2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Jarvis-Patrick Clustering</a:t>
            </a:r>
          </a:p>
        </p:txBody>
      </p:sp>
      <p:sp>
        <p:nvSpPr>
          <p:cNvPr id="167322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en-US" altLang="en-US" sz="2400" dirty="0"/>
              <a:t>First, the k-nearest neighbors of all points are found  </a:t>
            </a:r>
          </a:p>
          <a:p>
            <a:pPr lvl="1">
              <a:defRPr/>
            </a:pPr>
            <a:r>
              <a:rPr lang="en-US" altLang="en-US" sz="2000" dirty="0"/>
              <a:t>In graph terms this can be regarded as breaking all but the k strongest links from a point to other points in the proximity graph</a:t>
            </a:r>
          </a:p>
          <a:p>
            <a:pPr lvl="4">
              <a:buFontTx/>
              <a:buNone/>
              <a:defRPr/>
            </a:pPr>
            <a:r>
              <a:rPr lang="en-US" altLang="en-US" sz="1800" dirty="0"/>
              <a:t> </a:t>
            </a:r>
          </a:p>
          <a:p>
            <a:pPr>
              <a:defRPr/>
            </a:pPr>
            <a:r>
              <a:rPr lang="en-US" altLang="en-US" sz="2400" dirty="0"/>
              <a:t>A pair of points is put in the same cluster if </a:t>
            </a:r>
          </a:p>
          <a:p>
            <a:pPr lvl="1">
              <a:defRPr/>
            </a:pPr>
            <a:r>
              <a:rPr lang="en-US" altLang="en-US" sz="2000" dirty="0"/>
              <a:t>any two points share more than T neighbors and </a:t>
            </a:r>
          </a:p>
          <a:p>
            <a:pPr lvl="1">
              <a:defRPr/>
            </a:pPr>
            <a:r>
              <a:rPr lang="en-US" altLang="en-US" sz="2000" dirty="0"/>
              <a:t>the two points are in each others k nearest neighbor list</a:t>
            </a:r>
          </a:p>
          <a:p>
            <a:pPr lvl="4">
              <a:defRPr/>
            </a:pPr>
            <a:endParaRPr lang="en-US" altLang="en-US" sz="1800" dirty="0"/>
          </a:p>
          <a:p>
            <a:pPr>
              <a:defRPr/>
            </a:pPr>
            <a:r>
              <a:rPr lang="en-US" altLang="en-US" sz="2400" dirty="0"/>
              <a:t>For instance, we might choose a nearest neighbor list of size 20 and put points in the same cluster if they share more than 10 near neighbors</a:t>
            </a:r>
          </a:p>
          <a:p>
            <a:pPr>
              <a:defRPr/>
            </a:pPr>
            <a:r>
              <a:rPr lang="en-US" altLang="en-US" sz="2400" dirty="0" smtClean="0"/>
              <a:t>Jarvis-Patrick </a:t>
            </a:r>
            <a:r>
              <a:rPr lang="en-US" altLang="en-US" sz="2400" dirty="0"/>
              <a:t>clustering is too brittle</a:t>
            </a:r>
          </a:p>
        </p:txBody>
      </p:sp>
    </p:spTree>
    <p:extLst>
      <p:ext uri="{BB962C8B-B14F-4D97-AF65-F5344CB8AC3E}">
        <p14:creationId xmlns:p14="http://schemas.microsoft.com/office/powerpoint/2010/main" val="13062733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12" y="1981200"/>
            <a:ext cx="8175376" cy="2221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736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144588"/>
            <a:ext cx="8064500" cy="4567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708163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24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pPr>
              <a:defRPr/>
            </a:pPr>
            <a:r>
              <a:rPr lang="en-US" altLang="en-US" sz="2800"/>
              <a:t>When Jarvis-Patrick Works Reasonably Well</a:t>
            </a: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990600" y="5029200"/>
            <a:ext cx="2514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Original Points</a:t>
            </a:r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3048000" y="22288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pic>
        <p:nvPicPr>
          <p:cNvPr id="29701" name="Picture 5" descr="fish_cluster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981200"/>
            <a:ext cx="30480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2" name="Rectangle 6"/>
          <p:cNvSpPr>
            <a:spLocks noChangeArrowheads="1"/>
          </p:cNvSpPr>
          <p:nvPr/>
        </p:nvSpPr>
        <p:spPr bwMode="auto">
          <a:xfrm>
            <a:off x="3630613" y="27892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9703" name="Rectangle 7"/>
          <p:cNvSpPr>
            <a:spLocks noChangeArrowheads="1"/>
          </p:cNvSpPr>
          <p:nvPr/>
        </p:nvSpPr>
        <p:spPr bwMode="auto">
          <a:xfrm>
            <a:off x="3630613" y="27892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pic>
        <p:nvPicPr>
          <p:cNvPr id="29704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1676400"/>
            <a:ext cx="426878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705" name="Text Box 9"/>
          <p:cNvSpPr txBox="1">
            <a:spLocks noChangeArrowheads="1"/>
          </p:cNvSpPr>
          <p:nvPr/>
        </p:nvSpPr>
        <p:spPr bwMode="auto">
          <a:xfrm>
            <a:off x="4572000" y="4953000"/>
            <a:ext cx="4114800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Jarvis Patrick Clustering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6 shared neighbors out of 20</a:t>
            </a:r>
          </a:p>
        </p:txBody>
      </p:sp>
    </p:spTree>
    <p:extLst>
      <p:ext uri="{BB962C8B-B14F-4D97-AF65-F5344CB8AC3E}">
        <p14:creationId xmlns:p14="http://schemas.microsoft.com/office/powerpoint/2010/main" val="38683427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/>
          <p:cNvSpPr txBox="1">
            <a:spLocks noChangeArrowheads="1"/>
          </p:cNvSpPr>
          <p:nvPr/>
        </p:nvSpPr>
        <p:spPr bwMode="auto">
          <a:xfrm>
            <a:off x="990600" y="4800600"/>
            <a:ext cx="27813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Smallest threshold, T, that does not merge clusters.</a:t>
            </a:r>
          </a:p>
        </p:txBody>
      </p:sp>
      <p:pic>
        <p:nvPicPr>
          <p:cNvPr id="30723" name="Picture 3" descr="jp_40_5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2413"/>
            <a:ext cx="4114800" cy="303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4" name="Picture 4" descr="jp_39_5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524000"/>
            <a:ext cx="4114800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5" name="Text Box 5"/>
          <p:cNvSpPr txBox="1">
            <a:spLocks noChangeArrowheads="1"/>
          </p:cNvSpPr>
          <p:nvPr/>
        </p:nvSpPr>
        <p:spPr bwMode="auto">
          <a:xfrm>
            <a:off x="5448300" y="4800600"/>
            <a:ext cx="23241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Threshold of T - 1</a:t>
            </a:r>
          </a:p>
        </p:txBody>
      </p:sp>
      <p:sp>
        <p:nvSpPr>
          <p:cNvPr id="1675270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pPr>
              <a:defRPr/>
            </a:pPr>
            <a:r>
              <a:rPr lang="en-US" altLang="en-US" sz="2800"/>
              <a:t>When Jarvis-Patrick Does NOT Work Well</a:t>
            </a:r>
          </a:p>
        </p:txBody>
      </p:sp>
    </p:spTree>
    <p:extLst>
      <p:ext uri="{BB962C8B-B14F-4D97-AF65-F5344CB8AC3E}">
        <p14:creationId xmlns:p14="http://schemas.microsoft.com/office/powerpoint/2010/main" val="11480171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292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88987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SNN </a:t>
            </a:r>
            <a:r>
              <a:rPr lang="en-US" altLang="en-US" dirty="0" smtClean="0"/>
              <a:t>Density Clustering </a:t>
            </a:r>
            <a:r>
              <a:rPr lang="en-US" altLang="en-US" dirty="0"/>
              <a:t>Algorithm</a:t>
            </a:r>
          </a:p>
        </p:txBody>
      </p:sp>
      <p:sp>
        <p:nvSpPr>
          <p:cNvPr id="167629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428037" cy="5181600"/>
          </a:xfrm>
        </p:spPr>
        <p:txBody>
          <a:bodyPr/>
          <a:lstStyle/>
          <a:p>
            <a:pPr marL="381000" indent="-381000">
              <a:lnSpc>
                <a:spcPct val="90000"/>
              </a:lnSpc>
              <a:buFont typeface="Monotype Sorts" pitchFamily="2" charset="2"/>
              <a:buAutoNum type="arabicPeriod"/>
              <a:defRPr/>
            </a:pPr>
            <a:r>
              <a:rPr lang="en-US" altLang="en-US" sz="2000" b="1" dirty="0"/>
              <a:t>Compute the similarity matrix</a:t>
            </a:r>
            <a:br>
              <a:rPr lang="en-US" altLang="en-US" sz="2000" b="1" dirty="0"/>
            </a:br>
            <a:r>
              <a:rPr lang="en-US" altLang="en-US" sz="2000" dirty="0"/>
              <a:t>This corresponds to a similarity graph with data points for nodes and edges whose weights are the similarities between data points</a:t>
            </a:r>
          </a:p>
          <a:p>
            <a:pPr marL="2133600" lvl="4" indent="-304800">
              <a:lnSpc>
                <a:spcPct val="90000"/>
              </a:lnSpc>
              <a:buFontTx/>
              <a:buAutoNum type="arabicPeriod"/>
              <a:defRPr/>
            </a:pPr>
            <a:endParaRPr lang="en-US" altLang="en-US" sz="800" dirty="0"/>
          </a:p>
          <a:p>
            <a:pPr marL="381000" indent="-381000">
              <a:lnSpc>
                <a:spcPct val="90000"/>
              </a:lnSpc>
              <a:buFont typeface="Monotype Sorts" pitchFamily="2" charset="2"/>
              <a:buAutoNum type="arabicPeriod"/>
              <a:defRPr/>
            </a:pPr>
            <a:r>
              <a:rPr lang="en-US" altLang="en-US" sz="2000" b="1" dirty="0" err="1"/>
              <a:t>Sparsify</a:t>
            </a:r>
            <a:r>
              <a:rPr lang="en-US" altLang="en-US" sz="2000" b="1" dirty="0"/>
              <a:t> the similarity matrix by keeping only the </a:t>
            </a:r>
            <a:r>
              <a:rPr lang="en-US" altLang="en-US" sz="2000" b="1" i="1" dirty="0"/>
              <a:t>k</a:t>
            </a:r>
            <a:r>
              <a:rPr lang="en-US" altLang="en-US" sz="2000" b="1" dirty="0"/>
              <a:t> most similar neighbors</a:t>
            </a:r>
            <a:br>
              <a:rPr lang="en-US" altLang="en-US" sz="2000" b="1" dirty="0"/>
            </a:br>
            <a:r>
              <a:rPr lang="en-US" altLang="en-US" sz="2000" dirty="0"/>
              <a:t>This corresponds to only keeping the </a:t>
            </a:r>
            <a:r>
              <a:rPr lang="en-US" altLang="en-US" sz="2000" i="1" dirty="0"/>
              <a:t>k</a:t>
            </a:r>
            <a:r>
              <a:rPr lang="en-US" altLang="en-US" sz="2000" dirty="0"/>
              <a:t> strongest links of the similarity graph</a:t>
            </a:r>
          </a:p>
          <a:p>
            <a:pPr marL="2133600" lvl="4" indent="-304800">
              <a:lnSpc>
                <a:spcPct val="90000"/>
              </a:lnSpc>
              <a:buFontTx/>
              <a:buAutoNum type="arabicPeriod"/>
              <a:defRPr/>
            </a:pPr>
            <a:endParaRPr lang="en-US" altLang="en-US" sz="800" dirty="0"/>
          </a:p>
          <a:p>
            <a:pPr marL="381000" indent="-381000">
              <a:lnSpc>
                <a:spcPct val="90000"/>
              </a:lnSpc>
              <a:buFont typeface="Monotype Sorts" pitchFamily="2" charset="2"/>
              <a:buAutoNum type="arabicPeriod"/>
              <a:defRPr/>
            </a:pPr>
            <a:r>
              <a:rPr lang="en-US" altLang="en-US" sz="2000" b="1" dirty="0"/>
              <a:t>Construct the shared nearest neighbor graph from the </a:t>
            </a:r>
            <a:r>
              <a:rPr lang="en-US" altLang="en-US" sz="2000" b="1" dirty="0" err="1"/>
              <a:t>sparsified</a:t>
            </a:r>
            <a:r>
              <a:rPr lang="en-US" altLang="en-US" sz="2000" b="1" dirty="0"/>
              <a:t> similarity </a:t>
            </a:r>
            <a:r>
              <a:rPr lang="en-US" altLang="en-US" sz="2000" b="1" dirty="0" smtClean="0"/>
              <a:t>matrix</a:t>
            </a:r>
            <a:r>
              <a:rPr lang="en-US" altLang="en-US" sz="2000" b="1" dirty="0"/>
              <a:t/>
            </a:r>
            <a:br>
              <a:rPr lang="en-US" altLang="en-US" sz="2000" b="1" dirty="0"/>
            </a:br>
            <a:r>
              <a:rPr lang="en-US" altLang="en-US" sz="2000" dirty="0"/>
              <a:t>At this point, we could apply a similarity threshold and find the connected components to obtain the clusters (Jarvis-Patrick algorithm)</a:t>
            </a:r>
          </a:p>
          <a:p>
            <a:pPr marL="2133600" lvl="4" indent="-304800">
              <a:lnSpc>
                <a:spcPct val="90000"/>
              </a:lnSpc>
              <a:buFontTx/>
              <a:buAutoNum type="arabicPeriod"/>
              <a:defRPr/>
            </a:pPr>
            <a:endParaRPr lang="en-US" altLang="en-US" sz="800" dirty="0"/>
          </a:p>
          <a:p>
            <a:pPr marL="381000" indent="-381000">
              <a:lnSpc>
                <a:spcPct val="90000"/>
              </a:lnSpc>
              <a:buFont typeface="Monotype Sorts" pitchFamily="2" charset="2"/>
              <a:buAutoNum type="arabicPeriod"/>
              <a:defRPr/>
            </a:pPr>
            <a:r>
              <a:rPr lang="en-US" altLang="en-US" sz="2000" b="1" dirty="0"/>
              <a:t>Find the SNN density of each </a:t>
            </a:r>
            <a:r>
              <a:rPr lang="en-US" altLang="en-US" sz="2000" b="1" dirty="0" smtClean="0"/>
              <a:t>Point</a:t>
            </a:r>
            <a:r>
              <a:rPr lang="en-US" altLang="en-US" sz="2000" b="1" dirty="0"/>
              <a:t/>
            </a:r>
            <a:br>
              <a:rPr lang="en-US" altLang="en-US" sz="2000" b="1" dirty="0"/>
            </a:br>
            <a:r>
              <a:rPr lang="en-US" altLang="en-US" sz="2000" dirty="0"/>
              <a:t>Using a user specified parameters,</a:t>
            </a:r>
            <a:r>
              <a:rPr lang="en-US" altLang="en-US" sz="2000" b="1" dirty="0"/>
              <a:t> </a:t>
            </a:r>
            <a:r>
              <a:rPr lang="en-US" altLang="en-US" sz="2000" i="1" dirty="0"/>
              <a:t>Eps</a:t>
            </a:r>
            <a:r>
              <a:rPr lang="en-US" altLang="en-US" sz="2000" dirty="0"/>
              <a:t>, find the number points that  have an SNN similarity of </a:t>
            </a:r>
            <a:r>
              <a:rPr lang="en-US" altLang="en-US" sz="2000" i="1" dirty="0"/>
              <a:t>Eps</a:t>
            </a:r>
            <a:r>
              <a:rPr lang="en-US" altLang="en-US" sz="2000" dirty="0"/>
              <a:t> or greater to each point. This is the SNN density of the point</a:t>
            </a:r>
          </a:p>
        </p:txBody>
      </p:sp>
    </p:spTree>
    <p:extLst>
      <p:ext uri="{BB962C8B-B14F-4D97-AF65-F5344CB8AC3E}">
        <p14:creationId xmlns:p14="http://schemas.microsoft.com/office/powerpoint/2010/main" val="34615430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400"/>
              <a:t>SNN Clustering Algorithm  …</a:t>
            </a:r>
            <a:endParaRPr lang="en-US" altLang="en-US"/>
          </a:p>
        </p:txBody>
      </p:sp>
      <p:sp>
        <p:nvSpPr>
          <p:cNvPr id="1677316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lnSpc>
                <a:spcPct val="80000"/>
              </a:lnSpc>
              <a:buFont typeface="Monotype Sorts" pitchFamily="2" charset="2"/>
              <a:buAutoNum type="arabicPeriod" startAt="5"/>
              <a:defRPr/>
            </a:pPr>
            <a:r>
              <a:rPr lang="en-US" altLang="en-US" sz="2400" b="1"/>
              <a:t>Find the core points</a:t>
            </a:r>
            <a:br>
              <a:rPr lang="en-US" altLang="en-US" sz="2400" b="1"/>
            </a:br>
            <a:r>
              <a:rPr lang="en-US" altLang="en-US" sz="2400"/>
              <a:t>Using a user specified parameter, </a:t>
            </a:r>
            <a:r>
              <a:rPr lang="en-US" altLang="en-US" sz="2400" i="1"/>
              <a:t>MinPts</a:t>
            </a:r>
            <a:r>
              <a:rPr lang="en-US" altLang="en-US" sz="2400"/>
              <a:t>, find the core points, i.e., all points that have an SNN density greater than </a:t>
            </a:r>
            <a:r>
              <a:rPr lang="en-US" altLang="en-US" sz="2400" i="1"/>
              <a:t>MinPts</a:t>
            </a:r>
          </a:p>
          <a:p>
            <a:pPr marL="2171700" lvl="4" indent="-342900">
              <a:lnSpc>
                <a:spcPct val="80000"/>
              </a:lnSpc>
              <a:buFontTx/>
              <a:buAutoNum type="arabicPeriod"/>
              <a:defRPr/>
            </a:pPr>
            <a:endParaRPr lang="en-US" altLang="en-US" sz="800"/>
          </a:p>
          <a:p>
            <a:pPr marL="457200" indent="-457200">
              <a:lnSpc>
                <a:spcPct val="80000"/>
              </a:lnSpc>
              <a:buFont typeface="Monotype Sorts" pitchFamily="2" charset="2"/>
              <a:buAutoNum type="arabicPeriod" startAt="5"/>
              <a:defRPr/>
            </a:pPr>
            <a:r>
              <a:rPr lang="en-US" altLang="en-US" sz="2400" b="1"/>
              <a:t>Form clusters from the core points  </a:t>
            </a:r>
            <a:br>
              <a:rPr lang="en-US" altLang="en-US" sz="2400" b="1"/>
            </a:br>
            <a:r>
              <a:rPr lang="en-US" altLang="en-US" sz="2400"/>
              <a:t>If two core points are within a radius, </a:t>
            </a:r>
            <a:r>
              <a:rPr lang="en-US" altLang="en-US" sz="2400" i="1"/>
              <a:t>Eps</a:t>
            </a:r>
            <a:r>
              <a:rPr lang="en-US" altLang="en-US" sz="2400"/>
              <a:t>, of each other they are place in the same cluster</a:t>
            </a:r>
          </a:p>
          <a:p>
            <a:pPr marL="2171700" lvl="4" indent="-342900">
              <a:lnSpc>
                <a:spcPct val="80000"/>
              </a:lnSpc>
              <a:buFontTx/>
              <a:buAutoNum type="arabicPeriod"/>
              <a:defRPr/>
            </a:pPr>
            <a:endParaRPr lang="en-US" altLang="en-US" sz="900" b="1"/>
          </a:p>
          <a:p>
            <a:pPr marL="457200" indent="-457200">
              <a:lnSpc>
                <a:spcPct val="80000"/>
              </a:lnSpc>
              <a:buFont typeface="Monotype Sorts" pitchFamily="2" charset="2"/>
              <a:buAutoNum type="arabicPeriod" startAt="5"/>
              <a:defRPr/>
            </a:pPr>
            <a:r>
              <a:rPr lang="en-US" altLang="en-US" sz="2400" b="1"/>
              <a:t>Discard all noise points</a:t>
            </a:r>
            <a:br>
              <a:rPr lang="en-US" altLang="en-US" sz="2400" b="1"/>
            </a:br>
            <a:r>
              <a:rPr lang="en-US" altLang="en-US" sz="2400"/>
              <a:t>All non-core points that are not within a radius of</a:t>
            </a:r>
            <a:r>
              <a:rPr lang="en-US" altLang="en-US" sz="2400" b="1"/>
              <a:t> </a:t>
            </a:r>
            <a:r>
              <a:rPr lang="en-US" altLang="en-US" sz="2400" i="1"/>
              <a:t>Eps</a:t>
            </a:r>
            <a:r>
              <a:rPr lang="en-US" altLang="en-US" sz="2400"/>
              <a:t> of a core point are discarded</a:t>
            </a:r>
            <a:r>
              <a:rPr lang="en-US" altLang="en-US" sz="2400" b="1"/>
              <a:t>  </a:t>
            </a:r>
          </a:p>
          <a:p>
            <a:pPr marL="2171700" lvl="4" indent="-342900">
              <a:lnSpc>
                <a:spcPct val="80000"/>
              </a:lnSpc>
              <a:buFontTx/>
              <a:buAutoNum type="arabicPeriod"/>
              <a:defRPr/>
            </a:pPr>
            <a:endParaRPr lang="en-US" altLang="en-US" sz="900" b="1"/>
          </a:p>
          <a:p>
            <a:pPr marL="457200" indent="-457200">
              <a:lnSpc>
                <a:spcPct val="80000"/>
              </a:lnSpc>
              <a:buFont typeface="Monotype Sorts" pitchFamily="2" charset="2"/>
              <a:buAutoNum type="arabicPeriod" startAt="5"/>
              <a:defRPr/>
            </a:pPr>
            <a:r>
              <a:rPr lang="en-US" altLang="en-US" sz="2400" b="1"/>
              <a:t>Assign all non-noise, non-core points to clusters </a:t>
            </a:r>
            <a:br>
              <a:rPr lang="en-US" altLang="en-US" sz="2400" b="1"/>
            </a:br>
            <a:r>
              <a:rPr lang="en-US" altLang="en-US" sz="2400"/>
              <a:t>This can be done by assigning such points to the nearest core point</a:t>
            </a:r>
          </a:p>
          <a:p>
            <a:pPr marL="457200" indent="-457200">
              <a:lnSpc>
                <a:spcPct val="80000"/>
              </a:lnSpc>
              <a:buFont typeface="Monotype Sorts" pitchFamily="2" charset="2"/>
              <a:buNone/>
              <a:defRPr/>
            </a:pPr>
            <a:r>
              <a:rPr lang="en-US" altLang="en-US" sz="1800"/>
              <a:t/>
            </a:r>
            <a:br>
              <a:rPr lang="en-US" altLang="en-US" sz="1800"/>
            </a:br>
            <a:r>
              <a:rPr lang="en-US" altLang="en-US" sz="2000"/>
              <a:t>(Note that steps 4-8 are DBSCAN) </a:t>
            </a:r>
          </a:p>
        </p:txBody>
      </p:sp>
    </p:spTree>
    <p:extLst>
      <p:ext uri="{BB962C8B-B14F-4D97-AF65-F5344CB8AC3E}">
        <p14:creationId xmlns:p14="http://schemas.microsoft.com/office/powerpoint/2010/main" val="30331831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158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SNN Density</a:t>
            </a:r>
          </a:p>
        </p:txBody>
      </p:sp>
      <p:sp>
        <p:nvSpPr>
          <p:cNvPr id="33795" name="Rectangle 4"/>
          <p:cNvSpPr>
            <a:spLocks noChangeArrowheads="1"/>
          </p:cNvSpPr>
          <p:nvPr/>
        </p:nvSpPr>
        <p:spPr bwMode="auto">
          <a:xfrm>
            <a:off x="3886200" y="2979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3796" name="Rectangle 5"/>
          <p:cNvSpPr>
            <a:spLocks noChangeArrowheads="1"/>
          </p:cNvSpPr>
          <p:nvPr/>
        </p:nvSpPr>
        <p:spPr bwMode="auto">
          <a:xfrm>
            <a:off x="3886200" y="2979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3797" name="Rectangle 6"/>
          <p:cNvSpPr>
            <a:spLocks noChangeArrowheads="1"/>
          </p:cNvSpPr>
          <p:nvPr/>
        </p:nvSpPr>
        <p:spPr bwMode="auto">
          <a:xfrm>
            <a:off x="3886200" y="2979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3798" name="Rectangle 7"/>
          <p:cNvSpPr>
            <a:spLocks noChangeArrowheads="1"/>
          </p:cNvSpPr>
          <p:nvPr/>
        </p:nvSpPr>
        <p:spPr bwMode="auto">
          <a:xfrm>
            <a:off x="3886200" y="2979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grpSp>
        <p:nvGrpSpPr>
          <p:cNvPr id="33799" name="Group 17"/>
          <p:cNvGrpSpPr>
            <a:grpSpLocks/>
          </p:cNvGrpSpPr>
          <p:nvPr/>
        </p:nvGrpSpPr>
        <p:grpSpPr bwMode="auto">
          <a:xfrm>
            <a:off x="1600200" y="3946525"/>
            <a:ext cx="5181600" cy="1905000"/>
            <a:chOff x="2784" y="1776"/>
            <a:chExt cx="2620" cy="868"/>
          </a:xfrm>
        </p:grpSpPr>
        <p:pic>
          <p:nvPicPr>
            <p:cNvPr id="33805" name="Picture 9" descr="points_noise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85" y="1779"/>
              <a:ext cx="1319" cy="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3806" name="Picture 10" descr="points_border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4" y="1776"/>
              <a:ext cx="1324" cy="8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3800" name="Group 16"/>
          <p:cNvGrpSpPr>
            <a:grpSpLocks/>
          </p:cNvGrpSpPr>
          <p:nvPr/>
        </p:nvGrpSpPr>
        <p:grpSpPr bwMode="auto">
          <a:xfrm>
            <a:off x="1600200" y="1295400"/>
            <a:ext cx="5181600" cy="1889125"/>
            <a:chOff x="144" y="1779"/>
            <a:chExt cx="2648" cy="867"/>
          </a:xfrm>
        </p:grpSpPr>
        <p:pic>
          <p:nvPicPr>
            <p:cNvPr id="33803" name="Picture 11" descr="points_core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68" y="1779"/>
              <a:ext cx="1324" cy="8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3804" name="Picture 12" descr="points_all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" y="1779"/>
              <a:ext cx="1324" cy="8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3801" name="Rectangle 13"/>
          <p:cNvSpPr>
            <a:spLocks noChangeArrowheads="1"/>
          </p:cNvSpPr>
          <p:nvPr/>
        </p:nvSpPr>
        <p:spPr bwMode="auto">
          <a:xfrm>
            <a:off x="2209800" y="3184525"/>
            <a:ext cx="41910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   a) All Points                    b) High SNN Density</a:t>
            </a:r>
            <a:endParaRPr lang="en-US" altLang="en-US" sz="1500">
              <a:latin typeface="Times New Roman" panose="02020603050405020304" pitchFamily="18" charset="0"/>
            </a:endParaRPr>
          </a:p>
        </p:txBody>
      </p:sp>
      <p:sp>
        <p:nvSpPr>
          <p:cNvPr id="33802" name="Rectangle 21"/>
          <p:cNvSpPr>
            <a:spLocks noChangeArrowheads="1"/>
          </p:cNvSpPr>
          <p:nvPr/>
        </p:nvSpPr>
        <p:spPr bwMode="auto">
          <a:xfrm>
            <a:off x="1981200" y="5851525"/>
            <a:ext cx="43434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c) Medium SNN Density        d) Low SNN Density</a:t>
            </a:r>
            <a:endParaRPr lang="en-US" altLang="en-US" sz="15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48234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33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pPr>
              <a:defRPr/>
            </a:pPr>
            <a:r>
              <a:rPr lang="en-US" altLang="en-US" sz="2400"/>
              <a:t>SNN Clustering Can Handle Differing Densities</a:t>
            </a: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990600" y="5029200"/>
            <a:ext cx="2514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Original Points</a:t>
            </a:r>
          </a:p>
        </p:txBody>
      </p:sp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3048000" y="22288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pic>
        <p:nvPicPr>
          <p:cNvPr id="34821" name="Picture 5" descr="fish_cluster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981200"/>
            <a:ext cx="30480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2" name="Rectangle 6"/>
          <p:cNvSpPr>
            <a:spLocks noChangeArrowheads="1"/>
          </p:cNvSpPr>
          <p:nvPr/>
        </p:nvSpPr>
        <p:spPr bwMode="auto">
          <a:xfrm>
            <a:off x="3630613" y="27892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4823" name="Rectangle 7"/>
          <p:cNvSpPr>
            <a:spLocks noChangeArrowheads="1"/>
          </p:cNvSpPr>
          <p:nvPr/>
        </p:nvSpPr>
        <p:spPr bwMode="auto">
          <a:xfrm>
            <a:off x="3630613" y="27892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4824" name="Text Box 8"/>
          <p:cNvSpPr txBox="1">
            <a:spLocks noChangeArrowheads="1"/>
          </p:cNvSpPr>
          <p:nvPr/>
        </p:nvSpPr>
        <p:spPr bwMode="auto">
          <a:xfrm>
            <a:off x="4572000" y="4953000"/>
            <a:ext cx="411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SNN Clustering</a:t>
            </a:r>
          </a:p>
        </p:txBody>
      </p:sp>
      <p:sp>
        <p:nvSpPr>
          <p:cNvPr id="34825" name="Rectangle 9"/>
          <p:cNvSpPr>
            <a:spLocks noChangeArrowheads="1"/>
          </p:cNvSpPr>
          <p:nvPr/>
        </p:nvSpPr>
        <p:spPr bwMode="auto">
          <a:xfrm>
            <a:off x="3113088" y="2438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graphicFrame>
        <p:nvGraphicFramePr>
          <p:cNvPr id="34826" name="Object 10"/>
          <p:cNvGraphicFramePr>
            <a:graphicFrameLocks noChangeAspect="1"/>
          </p:cNvGraphicFramePr>
          <p:nvPr/>
        </p:nvGraphicFramePr>
        <p:xfrm>
          <a:off x="3741738" y="1752600"/>
          <a:ext cx="4030662" cy="273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10" r:id="rId4" imgW="4686706" imgH="3177815" progId="MSPhotoEd.3">
                  <p:embed/>
                </p:oleObj>
              </mc:Choice>
              <mc:Fallback>
                <p:oleObj r:id="rId4" imgW="4686706" imgH="3177815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1738" y="1752600"/>
                        <a:ext cx="4030662" cy="2736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41468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6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pPr>
              <a:defRPr/>
            </a:pPr>
            <a:r>
              <a:rPr lang="en-US" altLang="en-US" sz="2400"/>
              <a:t>SNN Clustering Can Handle Other Difficult Situations</a:t>
            </a:r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3048000" y="22288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3630613" y="27892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5845" name="Rectangle 5"/>
          <p:cNvSpPr>
            <a:spLocks noChangeArrowheads="1"/>
          </p:cNvSpPr>
          <p:nvPr/>
        </p:nvSpPr>
        <p:spPr bwMode="auto">
          <a:xfrm>
            <a:off x="3630613" y="27892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5846" name="Rectangle 6"/>
          <p:cNvSpPr>
            <a:spLocks noChangeArrowheads="1"/>
          </p:cNvSpPr>
          <p:nvPr/>
        </p:nvSpPr>
        <p:spPr bwMode="auto">
          <a:xfrm>
            <a:off x="3113088" y="2438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pic>
        <p:nvPicPr>
          <p:cNvPr id="35847" name="Picture 7" descr="t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057400"/>
            <a:ext cx="4095750" cy="274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8" name="Picture 8" descr="ds18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8525" y="2057400"/>
            <a:ext cx="404971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61992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pPr>
              <a:defRPr/>
            </a:pPr>
            <a:r>
              <a:rPr lang="en-US" altLang="en-US" sz="2200"/>
              <a:t>Finding Clusters of Time Series In Spatio-Temporal Data</a:t>
            </a:r>
          </a:p>
        </p:txBody>
      </p:sp>
      <p:sp>
        <p:nvSpPr>
          <p:cNvPr id="36867" name="Rectangle 3"/>
          <p:cNvSpPr>
            <a:spLocks noChangeArrowheads="1"/>
          </p:cNvSpPr>
          <p:nvPr/>
        </p:nvSpPr>
        <p:spPr bwMode="auto">
          <a:xfrm>
            <a:off x="3048000" y="22288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6868" name="Rectangle 4"/>
          <p:cNvSpPr>
            <a:spLocks noChangeArrowheads="1"/>
          </p:cNvSpPr>
          <p:nvPr/>
        </p:nvSpPr>
        <p:spPr bwMode="auto">
          <a:xfrm>
            <a:off x="3630613" y="27892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6869" name="Rectangle 5"/>
          <p:cNvSpPr>
            <a:spLocks noChangeArrowheads="1"/>
          </p:cNvSpPr>
          <p:nvPr/>
        </p:nvSpPr>
        <p:spPr bwMode="auto">
          <a:xfrm>
            <a:off x="3630613" y="27892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6870" name="Rectangle 6"/>
          <p:cNvSpPr>
            <a:spLocks noChangeArrowheads="1"/>
          </p:cNvSpPr>
          <p:nvPr/>
        </p:nvSpPr>
        <p:spPr bwMode="auto">
          <a:xfrm>
            <a:off x="3113088" y="2438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pic>
        <p:nvPicPr>
          <p:cNvPr id="3687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8" r="2803"/>
          <a:stretch>
            <a:fillRect/>
          </a:stretch>
        </p:blipFill>
        <p:spPr bwMode="auto">
          <a:xfrm>
            <a:off x="0" y="1600200"/>
            <a:ext cx="4495800" cy="329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72" name="Text Box 8"/>
          <p:cNvSpPr txBox="1">
            <a:spLocks noChangeArrowheads="1"/>
          </p:cNvSpPr>
          <p:nvPr/>
        </p:nvSpPr>
        <p:spPr bwMode="auto">
          <a:xfrm>
            <a:off x="1066800" y="4953000"/>
            <a:ext cx="2638425" cy="23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ts val="400"/>
              </a:spcAft>
              <a:buClrTx/>
              <a:buSzTx/>
              <a:buFontTx/>
              <a:buNone/>
            </a:pPr>
            <a:r>
              <a:rPr lang="en-AU" altLang="en-US" sz="1800">
                <a:latin typeface="Times New Roman" panose="02020603050405020304" pitchFamily="18" charset="0"/>
              </a:rPr>
              <a:t>SNN Clusters of SLP.</a:t>
            </a:r>
          </a:p>
        </p:txBody>
      </p:sp>
      <p:pic>
        <p:nvPicPr>
          <p:cNvPr id="36873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1" r="4240"/>
          <a:stretch>
            <a:fillRect/>
          </a:stretch>
        </p:blipFill>
        <p:spPr bwMode="auto">
          <a:xfrm>
            <a:off x="4572000" y="1525588"/>
            <a:ext cx="4267200" cy="3198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74" name="Text Box 10"/>
          <p:cNvSpPr txBox="1">
            <a:spLocks noChangeArrowheads="1"/>
          </p:cNvSpPr>
          <p:nvPr/>
        </p:nvSpPr>
        <p:spPr bwMode="auto">
          <a:xfrm>
            <a:off x="4572000" y="5029200"/>
            <a:ext cx="4114800" cy="23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ts val="400"/>
              </a:spcAft>
              <a:buClrTx/>
              <a:buSzTx/>
              <a:buFontTx/>
              <a:buNone/>
            </a:pPr>
            <a:r>
              <a:rPr lang="en-AU" altLang="en-US" sz="1800">
                <a:latin typeface="Times New Roman" panose="02020603050405020304" pitchFamily="18" charset="0"/>
              </a:rPr>
              <a:t>SNN Density of  Points on the Globe.</a:t>
            </a:r>
          </a:p>
        </p:txBody>
      </p:sp>
    </p:spTree>
    <p:extLst>
      <p:ext uri="{BB962C8B-B14F-4D97-AF65-F5344CB8AC3E}">
        <p14:creationId xmlns:p14="http://schemas.microsoft.com/office/powerpoint/2010/main" val="2827717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43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pPr>
              <a:defRPr/>
            </a:pPr>
            <a:r>
              <a:rPr lang="en-US" altLang="en-US" sz="2800"/>
              <a:t>Features and Limitations of SNN Clustering</a:t>
            </a:r>
          </a:p>
        </p:txBody>
      </p:sp>
      <p:sp>
        <p:nvSpPr>
          <p:cNvPr id="1682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5181600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defRPr/>
            </a:pPr>
            <a:r>
              <a:rPr lang="en-US" altLang="en-US"/>
              <a:t>Does not cluster all the points</a:t>
            </a:r>
          </a:p>
          <a:p>
            <a:pPr marL="533400" indent="-533400">
              <a:lnSpc>
                <a:spcPct val="90000"/>
              </a:lnSpc>
              <a:defRPr/>
            </a:pPr>
            <a:endParaRPr lang="en-US" altLang="en-US"/>
          </a:p>
          <a:p>
            <a:pPr marL="533400" indent="-533400">
              <a:lnSpc>
                <a:spcPct val="90000"/>
              </a:lnSpc>
              <a:defRPr/>
            </a:pPr>
            <a:r>
              <a:rPr lang="en-US" altLang="en-US"/>
              <a:t>Complexity of SNN Clustering is high</a:t>
            </a:r>
          </a:p>
          <a:p>
            <a:pPr marL="990600" lvl="1" indent="-533400">
              <a:lnSpc>
                <a:spcPct val="90000"/>
              </a:lnSpc>
              <a:defRPr/>
            </a:pPr>
            <a:r>
              <a:rPr lang="en-US" altLang="en-US" sz="2000"/>
              <a:t>O( n * time to find numbers of neighbor within </a:t>
            </a:r>
            <a:r>
              <a:rPr lang="en-US" altLang="en-US" sz="2000" i="1"/>
              <a:t>Eps</a:t>
            </a:r>
            <a:r>
              <a:rPr lang="en-US" altLang="en-US" sz="2000"/>
              <a:t>)</a:t>
            </a:r>
          </a:p>
          <a:p>
            <a:pPr marL="990600" lvl="1" indent="-533400">
              <a:lnSpc>
                <a:spcPct val="90000"/>
              </a:lnSpc>
              <a:defRPr/>
            </a:pPr>
            <a:r>
              <a:rPr lang="en-US" altLang="en-US" sz="2000"/>
              <a:t>In worst case, this is O(n</a:t>
            </a:r>
            <a:r>
              <a:rPr lang="en-US" altLang="en-US" sz="2000" baseline="30000"/>
              <a:t>2</a:t>
            </a:r>
            <a:r>
              <a:rPr lang="en-US" altLang="en-US" sz="2000"/>
              <a:t>)</a:t>
            </a:r>
          </a:p>
          <a:p>
            <a:pPr marL="990600" lvl="1" indent="-533400">
              <a:lnSpc>
                <a:spcPct val="90000"/>
              </a:lnSpc>
              <a:defRPr/>
            </a:pPr>
            <a:r>
              <a:rPr lang="en-US" altLang="en-US" sz="2000"/>
              <a:t>For lower dimensions, there are more efficient ways to find the nearest neighbors</a:t>
            </a:r>
          </a:p>
          <a:p>
            <a:pPr marL="1295400" lvl="2" indent="-381000">
              <a:defRPr/>
            </a:pPr>
            <a:r>
              <a:rPr lang="en-US" altLang="en-US" sz="1800"/>
              <a:t>R* Tree</a:t>
            </a:r>
          </a:p>
          <a:p>
            <a:pPr marL="1295400" lvl="2" indent="-381000">
              <a:defRPr/>
            </a:pPr>
            <a:r>
              <a:rPr lang="en-US" altLang="en-US" sz="1800"/>
              <a:t>k-d Trees</a:t>
            </a:r>
          </a:p>
          <a:p>
            <a:pPr marL="533400" indent="-533400">
              <a:lnSpc>
                <a:spcPct val="90000"/>
              </a:lnSpc>
              <a:defRPr/>
            </a:pP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7188143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10678-6D1D-4EAA-BE2D-AACF240C88E9}" type="datetime4">
              <a:rPr lang="en-US" altLang="en-US"/>
              <a:pPr/>
              <a:t>April 27, 2018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3F6DE-88F6-48E3-BE0B-361C5EB5C3BC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173773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534400" cy="6096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Clustering High-Dimensional Data</a:t>
            </a:r>
          </a:p>
        </p:txBody>
      </p:sp>
      <p:sp>
        <p:nvSpPr>
          <p:cNvPr id="1737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534400" cy="51054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en-US" sz="1800"/>
              <a:t>Clustering high-dimensional data</a:t>
            </a:r>
          </a:p>
          <a:p>
            <a:pPr lvl="1">
              <a:lnSpc>
                <a:spcPct val="120000"/>
              </a:lnSpc>
            </a:pPr>
            <a:r>
              <a:rPr lang="en-US" altLang="en-US" sz="1800"/>
              <a:t>Many applications: text documents, DNA micro-array data</a:t>
            </a:r>
          </a:p>
          <a:p>
            <a:pPr lvl="1">
              <a:lnSpc>
                <a:spcPct val="120000"/>
              </a:lnSpc>
            </a:pPr>
            <a:r>
              <a:rPr lang="en-US" altLang="en-US" sz="1800"/>
              <a:t>Major challenges: </a:t>
            </a:r>
          </a:p>
          <a:p>
            <a:pPr lvl="2">
              <a:lnSpc>
                <a:spcPct val="120000"/>
              </a:lnSpc>
            </a:pPr>
            <a:r>
              <a:rPr lang="en-US" altLang="en-US" sz="1800"/>
              <a:t>Many irrelevant dimensions may mask clusters</a:t>
            </a:r>
          </a:p>
          <a:p>
            <a:pPr lvl="2">
              <a:lnSpc>
                <a:spcPct val="120000"/>
              </a:lnSpc>
            </a:pPr>
            <a:r>
              <a:rPr lang="en-US" altLang="en-US" sz="1800"/>
              <a:t>Distance measure becomes meaningless</a:t>
            </a:r>
            <a:r>
              <a:rPr lang="en-US" altLang="en-US" sz="1800">
                <a:cs typeface="Tahoma" panose="020B0604030504040204" pitchFamily="34" charset="0"/>
              </a:rPr>
              <a:t>—due to </a:t>
            </a:r>
            <a:r>
              <a:rPr lang="en-US" altLang="en-US" sz="1800"/>
              <a:t>equi-distance</a:t>
            </a:r>
          </a:p>
          <a:p>
            <a:pPr lvl="2">
              <a:lnSpc>
                <a:spcPct val="120000"/>
              </a:lnSpc>
            </a:pPr>
            <a:r>
              <a:rPr lang="en-US" altLang="en-US" sz="1800"/>
              <a:t>Clusters may exist only in some subspaces</a:t>
            </a:r>
          </a:p>
          <a:p>
            <a:pPr>
              <a:lnSpc>
                <a:spcPct val="120000"/>
              </a:lnSpc>
            </a:pPr>
            <a:r>
              <a:rPr lang="en-US" altLang="en-US" sz="1800"/>
              <a:t>Methods</a:t>
            </a:r>
          </a:p>
          <a:p>
            <a:pPr lvl="1">
              <a:lnSpc>
                <a:spcPct val="120000"/>
              </a:lnSpc>
            </a:pPr>
            <a:r>
              <a:rPr lang="en-US" altLang="en-US" sz="1800"/>
              <a:t>Feature transformation: only effective if most dimensions are relevant</a:t>
            </a:r>
          </a:p>
          <a:p>
            <a:pPr lvl="2">
              <a:lnSpc>
                <a:spcPct val="120000"/>
              </a:lnSpc>
            </a:pPr>
            <a:r>
              <a:rPr lang="en-US" altLang="en-US" sz="1800"/>
              <a:t>PCA &amp; SVD useful only when features are highly correlated/redundant</a:t>
            </a:r>
          </a:p>
          <a:p>
            <a:pPr lvl="1">
              <a:lnSpc>
                <a:spcPct val="120000"/>
              </a:lnSpc>
            </a:pPr>
            <a:r>
              <a:rPr lang="en-US" altLang="en-US" sz="1800"/>
              <a:t>Feature selection: wrapper or filter approaches</a:t>
            </a:r>
          </a:p>
          <a:p>
            <a:pPr lvl="2">
              <a:lnSpc>
                <a:spcPct val="120000"/>
              </a:lnSpc>
            </a:pPr>
            <a:r>
              <a:rPr lang="en-US" altLang="en-US" sz="1800"/>
              <a:t>useful to find a subspace where the data have nice clusters</a:t>
            </a:r>
          </a:p>
          <a:p>
            <a:pPr lvl="1">
              <a:lnSpc>
                <a:spcPct val="120000"/>
              </a:lnSpc>
            </a:pPr>
            <a:r>
              <a:rPr lang="en-US" altLang="en-US" sz="1800"/>
              <a:t>Subspace-clustering: find clusters in all the possible subspaces</a:t>
            </a:r>
          </a:p>
          <a:p>
            <a:pPr lvl="2">
              <a:lnSpc>
                <a:spcPct val="120000"/>
              </a:lnSpc>
            </a:pPr>
            <a:r>
              <a:rPr lang="en-US" altLang="en-US" sz="1800"/>
              <a:t>CLIQUE, ProClus, and frequent pattern-based clustering</a:t>
            </a:r>
          </a:p>
        </p:txBody>
      </p:sp>
    </p:spTree>
    <p:extLst>
      <p:ext uri="{BB962C8B-B14F-4D97-AF65-F5344CB8AC3E}">
        <p14:creationId xmlns:p14="http://schemas.microsoft.com/office/powerpoint/2010/main" val="3122124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D9561-EA66-4AEA-8AE1-23A4990D1A28}" type="datetime4">
              <a:rPr lang="en-US" altLang="en-US"/>
              <a:pPr/>
              <a:t>April 27, 2018</a:t>
            </a:fld>
            <a:endParaRPr lang="en-US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4CD64-8FF3-4C16-972C-B571957019F1}" type="slidenum">
              <a:rPr lang="en-US" altLang="en-US"/>
              <a:pPr/>
              <a:t>31</a:t>
            </a:fld>
            <a:endParaRPr lang="en-US" altLang="en-US"/>
          </a:p>
        </p:txBody>
      </p:sp>
      <p:pic>
        <p:nvPicPr>
          <p:cNvPr id="17387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5075" y="0"/>
            <a:ext cx="2828925" cy="150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387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6705600" cy="838200"/>
          </a:xfrm>
        </p:spPr>
        <p:txBody>
          <a:bodyPr>
            <a:normAutofit fontScale="90000"/>
          </a:bodyPr>
          <a:lstStyle/>
          <a:p>
            <a:r>
              <a:rPr lang="en-US" altLang="en-US" sz="3200"/>
              <a:t>The Curse of Dimensionality</a:t>
            </a:r>
            <a:br>
              <a:rPr lang="en-US" altLang="en-US" sz="3200"/>
            </a:br>
            <a:r>
              <a:rPr lang="en-US" altLang="en-US" sz="3200"/>
              <a:t> </a:t>
            </a:r>
            <a:r>
              <a:rPr lang="en-US" altLang="en-US" sz="1800"/>
              <a:t>(graphs adapted from Parsons et al. KDD Explorations 2004)</a:t>
            </a:r>
          </a:p>
        </p:txBody>
      </p:sp>
      <p:sp>
        <p:nvSpPr>
          <p:cNvPr id="1738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5867400" cy="50292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en-US" sz="2400"/>
              <a:t>Data in only one dimension is relatively packed</a:t>
            </a:r>
          </a:p>
          <a:p>
            <a:pPr>
              <a:lnSpc>
                <a:spcPct val="120000"/>
              </a:lnSpc>
            </a:pPr>
            <a:r>
              <a:rPr lang="en-US" altLang="en-US" sz="2400"/>
              <a:t>Adding a dimension “stretch” the  points across that dimension, making them further apart</a:t>
            </a:r>
          </a:p>
          <a:p>
            <a:pPr>
              <a:lnSpc>
                <a:spcPct val="120000"/>
              </a:lnSpc>
            </a:pPr>
            <a:r>
              <a:rPr lang="en-US" altLang="en-US" sz="2400"/>
              <a:t>Adding more dimensions will make the points further apart</a:t>
            </a:r>
            <a:r>
              <a:rPr lang="en-US" altLang="en-US" sz="2400">
                <a:cs typeface="Tahoma" panose="020B0604030504040204" pitchFamily="34" charset="0"/>
              </a:rPr>
              <a:t>—high dimensional data is extremely sparse</a:t>
            </a:r>
            <a:endParaRPr lang="en-US" altLang="en-US" sz="2400"/>
          </a:p>
          <a:p>
            <a:pPr>
              <a:lnSpc>
                <a:spcPct val="120000"/>
              </a:lnSpc>
            </a:pPr>
            <a:r>
              <a:rPr lang="en-US" altLang="en-US" sz="2400"/>
              <a:t>Distance measure becomes meaningless</a:t>
            </a:r>
            <a:r>
              <a:rPr lang="en-US" altLang="en-US" sz="2400">
                <a:cs typeface="Tahoma" panose="020B0604030504040204" pitchFamily="34" charset="0"/>
              </a:rPr>
              <a:t>—due to </a:t>
            </a:r>
            <a:r>
              <a:rPr lang="en-US" altLang="en-US" sz="2400"/>
              <a:t>equi-distance</a:t>
            </a:r>
          </a:p>
        </p:txBody>
      </p:sp>
      <p:pic>
        <p:nvPicPr>
          <p:cNvPr id="173875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050" y="1295400"/>
            <a:ext cx="2876550" cy="234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3875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3924300"/>
            <a:ext cx="2743200" cy="2516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8121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30AD4-EF8A-4B8B-B523-478E15014A67}" type="datetime4">
              <a:rPr lang="en-US" altLang="en-US"/>
              <a:pPr/>
              <a:t>April 27, 2018</a:t>
            </a:fld>
            <a:endParaRPr lang="en-US" alt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E8BC5-7BB7-4D08-A17E-F495EBEA9712}" type="slidenum">
              <a:rPr lang="en-US" altLang="en-US"/>
              <a:pPr/>
              <a:t>32</a:t>
            </a:fld>
            <a:endParaRPr lang="en-US" altLang="en-US"/>
          </a:p>
        </p:txBody>
      </p:sp>
      <p:pic>
        <p:nvPicPr>
          <p:cNvPr id="173978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4625"/>
            <a:ext cx="2438400" cy="1882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39778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0" y="304800"/>
            <a:ext cx="6172200" cy="838200"/>
          </a:xfrm>
        </p:spPr>
        <p:txBody>
          <a:bodyPr>
            <a:normAutofit fontScale="90000"/>
          </a:bodyPr>
          <a:lstStyle/>
          <a:p>
            <a:r>
              <a:rPr lang="en-US" altLang="en-US" sz="3200"/>
              <a:t>Why Subspace Clustering?</a:t>
            </a:r>
            <a:br>
              <a:rPr lang="en-US" altLang="en-US" sz="3200"/>
            </a:br>
            <a:r>
              <a:rPr lang="en-US" altLang="en-US" sz="1800"/>
              <a:t>(adapted from Parsons et al. SIGKDD Explorations 2004)</a:t>
            </a:r>
          </a:p>
        </p:txBody>
      </p:sp>
      <p:sp>
        <p:nvSpPr>
          <p:cNvPr id="1739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90800" y="1295400"/>
            <a:ext cx="6096000" cy="762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1800"/>
              <a:t>Clusters may exist only in some subspaces</a:t>
            </a:r>
          </a:p>
          <a:p>
            <a:pPr>
              <a:lnSpc>
                <a:spcPct val="110000"/>
              </a:lnSpc>
            </a:pPr>
            <a:r>
              <a:rPr lang="en-US" altLang="en-US" sz="1800"/>
              <a:t>Subspace-clustering: find clusters in all the subspaces</a:t>
            </a:r>
          </a:p>
        </p:txBody>
      </p:sp>
      <p:pic>
        <p:nvPicPr>
          <p:cNvPr id="173978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300288"/>
            <a:ext cx="2438400" cy="2043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39782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273300"/>
            <a:ext cx="2514600" cy="208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39783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6975" y="2228850"/>
            <a:ext cx="2562225" cy="212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39784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545013"/>
            <a:ext cx="2667000" cy="2236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39785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4495800"/>
            <a:ext cx="274320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39786" name="Picture 1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4498975"/>
            <a:ext cx="2819400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3829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83EFF-30DF-4F81-887A-6783B23D6B5E}" type="datetime4">
              <a:rPr lang="en-US" altLang="en-US"/>
              <a:pPr/>
              <a:t>April 27, 2018</a:t>
            </a:fld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9E7C5-D67B-46E8-88FD-68705612015C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17315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1038" y="436563"/>
            <a:ext cx="7226300" cy="498475"/>
          </a:xfrm>
        </p:spPr>
        <p:txBody>
          <a:bodyPr>
            <a:normAutofit fontScale="90000"/>
          </a:bodyPr>
          <a:lstStyle/>
          <a:p>
            <a:r>
              <a:rPr lang="en-US" altLang="en-US" sz="3200"/>
              <a:t>CLIQUE (Clustering In QUEst)</a:t>
            </a:r>
            <a:r>
              <a:rPr lang="en-US" altLang="en-US"/>
              <a:t> </a:t>
            </a:r>
          </a:p>
        </p:txBody>
      </p:sp>
      <p:sp>
        <p:nvSpPr>
          <p:cNvPr id="1731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686800" cy="5105400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ct val="50000"/>
              </a:spcBef>
              <a:buClr>
                <a:schemeClr val="tx1"/>
              </a:buClr>
            </a:pPr>
            <a:r>
              <a:rPr lang="en-US" altLang="en-US" sz="2000"/>
              <a:t>Agrawal, Gehrke, Gunopulos, Raghavan (SIGMOD’98)</a:t>
            </a:r>
          </a:p>
          <a:p>
            <a:pPr>
              <a:lnSpc>
                <a:spcPct val="110000"/>
              </a:lnSpc>
              <a:spcBef>
                <a:spcPct val="50000"/>
              </a:spcBef>
              <a:buClr>
                <a:schemeClr val="tx1"/>
              </a:buClr>
            </a:pPr>
            <a:r>
              <a:rPr lang="en-US" altLang="en-US" sz="2000"/>
              <a:t>Automatically identifying subspaces of a high dimensional data space that allow better clustering than original space </a:t>
            </a:r>
          </a:p>
          <a:p>
            <a:pPr>
              <a:lnSpc>
                <a:spcPct val="110000"/>
              </a:lnSpc>
              <a:spcBef>
                <a:spcPct val="50000"/>
              </a:spcBef>
              <a:buClr>
                <a:schemeClr val="tx1"/>
              </a:buClr>
            </a:pPr>
            <a:r>
              <a:rPr lang="en-US" altLang="en-US" sz="2000"/>
              <a:t>CLIQUE can be considered as both density-based and grid-based</a:t>
            </a:r>
          </a:p>
          <a:p>
            <a:pPr lvl="1">
              <a:lnSpc>
                <a:spcPct val="110000"/>
              </a:lnSpc>
              <a:spcBef>
                <a:spcPct val="50000"/>
              </a:spcBef>
              <a:buClr>
                <a:schemeClr val="tx1"/>
              </a:buClr>
            </a:pPr>
            <a:r>
              <a:rPr lang="en-US" altLang="en-US" sz="2000"/>
              <a:t>It partitions each dimension into the same number of equal length interval</a:t>
            </a:r>
          </a:p>
          <a:p>
            <a:pPr lvl="1">
              <a:lnSpc>
                <a:spcPct val="110000"/>
              </a:lnSpc>
              <a:spcBef>
                <a:spcPct val="50000"/>
              </a:spcBef>
              <a:buClr>
                <a:schemeClr val="tx1"/>
              </a:buClr>
            </a:pPr>
            <a:r>
              <a:rPr lang="en-US" altLang="en-US" sz="2000"/>
              <a:t>It partitions an m-dimensional data space into non-overlapping rectangular units</a:t>
            </a:r>
          </a:p>
          <a:p>
            <a:pPr lvl="1">
              <a:lnSpc>
                <a:spcPct val="110000"/>
              </a:lnSpc>
              <a:spcBef>
                <a:spcPct val="50000"/>
              </a:spcBef>
              <a:buClr>
                <a:schemeClr val="tx1"/>
              </a:buClr>
            </a:pPr>
            <a:r>
              <a:rPr lang="en-US" altLang="en-US" sz="2000"/>
              <a:t>A unit is dense if the fraction of total data points contained in the unit exceeds the input model parameter</a:t>
            </a:r>
          </a:p>
          <a:p>
            <a:pPr lvl="1">
              <a:lnSpc>
                <a:spcPct val="110000"/>
              </a:lnSpc>
              <a:spcBef>
                <a:spcPct val="50000"/>
              </a:spcBef>
              <a:buClr>
                <a:schemeClr val="tx1"/>
              </a:buClr>
            </a:pPr>
            <a:r>
              <a:rPr lang="en-US" altLang="en-US" sz="2000"/>
              <a:t>A cluster is a maximal set of connected dense units within a subspace</a:t>
            </a:r>
          </a:p>
        </p:txBody>
      </p:sp>
    </p:spTree>
    <p:extLst>
      <p:ext uri="{BB962C8B-B14F-4D97-AF65-F5344CB8AC3E}">
        <p14:creationId xmlns:p14="http://schemas.microsoft.com/office/powerpoint/2010/main" val="963573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D5E5A-CB33-4F99-BEF9-5F9D75694482}" type="datetime4">
              <a:rPr lang="en-US" altLang="en-US"/>
              <a:pPr/>
              <a:t>April 27, 2018</a:t>
            </a:fld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E04E4-2448-4FBA-A62F-4653BCB67274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17336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1038" y="436563"/>
            <a:ext cx="7226300" cy="498475"/>
          </a:xfrm>
        </p:spPr>
        <p:txBody>
          <a:bodyPr>
            <a:normAutofit fontScale="90000"/>
          </a:bodyPr>
          <a:lstStyle/>
          <a:p>
            <a:r>
              <a:rPr lang="en-US" altLang="en-US" sz="3200"/>
              <a:t>CLIQUE: The Major Steps</a:t>
            </a:r>
          </a:p>
        </p:txBody>
      </p:sp>
      <p:sp>
        <p:nvSpPr>
          <p:cNvPr id="1733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610600" cy="49530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</a:pPr>
            <a:r>
              <a:rPr lang="en-US" altLang="en-US" sz="2400">
                <a:solidFill>
                  <a:srgbClr val="261C6E"/>
                </a:solidFill>
              </a:rPr>
              <a:t>Partition the data space and find the number of points that lie inside each cell of the partition.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</a:pPr>
            <a:r>
              <a:rPr lang="en-US" altLang="en-US" sz="2400">
                <a:solidFill>
                  <a:srgbClr val="261C6E"/>
                </a:solidFill>
              </a:rPr>
              <a:t>Identify the subspaces that contain clusters using the Apriori principle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</a:pPr>
            <a:r>
              <a:rPr lang="en-US" altLang="en-US" sz="2400">
                <a:solidFill>
                  <a:srgbClr val="261C6E"/>
                </a:solidFill>
              </a:rPr>
              <a:t>Identify clusters</a:t>
            </a:r>
            <a:endParaRPr lang="en-US" altLang="en-US" sz="2400"/>
          </a:p>
          <a:p>
            <a:pPr lvl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</a:pPr>
            <a:r>
              <a:rPr lang="en-US" altLang="en-US" sz="2400"/>
              <a:t>Determine dense units in all subspaces of interests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Determine connected dense units in all subspaces of interests.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</a:pPr>
            <a:r>
              <a:rPr lang="en-US" altLang="en-US" sz="2400">
                <a:solidFill>
                  <a:srgbClr val="261C6E"/>
                </a:solidFill>
              </a:rPr>
              <a:t>Generate minimal description for the clusters</a:t>
            </a:r>
            <a:endParaRPr lang="en-US" altLang="en-US" sz="2400"/>
          </a:p>
          <a:p>
            <a:pPr lvl="1">
              <a:lnSpc>
                <a:spcPct val="90000"/>
              </a:lnSpc>
            </a:pPr>
            <a:r>
              <a:rPr lang="en-US" altLang="en-US" sz="2400"/>
              <a:t>Determine maximal regions that cover a cluster of connected dense units for each cluster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Determination of minimal cover for each cluster</a:t>
            </a:r>
          </a:p>
        </p:txBody>
      </p:sp>
    </p:spTree>
    <p:extLst>
      <p:ext uri="{BB962C8B-B14F-4D97-AF65-F5344CB8AC3E}">
        <p14:creationId xmlns:p14="http://schemas.microsoft.com/office/powerpoint/2010/main" val="945068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D9494-26E3-4D16-A46D-E4D4A6D7B75A}" type="datetime4">
              <a:rPr lang="en-US" altLang="en-US"/>
              <a:pPr/>
              <a:t>April 27, 2018</a:t>
            </a:fld>
            <a:endParaRPr lang="en-US" altLang="en-US"/>
          </a:p>
        </p:txBody>
      </p:sp>
      <p:sp>
        <p:nvSpPr>
          <p:cNvPr id="16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C6166-F017-4AA8-99E3-2DE910C4D49D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1735682" name="Text Box 2"/>
          <p:cNvSpPr txBox="1">
            <a:spLocks noChangeArrowheads="1"/>
          </p:cNvSpPr>
          <p:nvPr/>
        </p:nvSpPr>
        <p:spPr bwMode="auto">
          <a:xfrm rot="-5400000">
            <a:off x="19844" y="369094"/>
            <a:ext cx="10588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en-US" sz="1800">
                <a:latin typeface="Times New Roman" panose="02020603050405020304" pitchFamily="18" charset="0"/>
              </a:rPr>
              <a:t>Salary (10,000)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735683" name="Rectangle 3" descr="25%"/>
          <p:cNvSpPr>
            <a:spLocks noChangeArrowheads="1"/>
          </p:cNvSpPr>
          <p:nvPr/>
        </p:nvSpPr>
        <p:spPr bwMode="auto">
          <a:xfrm>
            <a:off x="2133600" y="1066800"/>
            <a:ext cx="914400" cy="1204913"/>
          </a:xfrm>
          <a:prstGeom prst="rect">
            <a:avLst/>
          </a:prstGeom>
          <a:pattFill prst="pct25">
            <a:fgClr>
              <a:schemeClr val="tx2"/>
            </a:fgClr>
            <a:bgClr>
              <a:srgbClr val="FFFFFF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35684" name="Rectangle 4" descr="25%"/>
          <p:cNvSpPr>
            <a:spLocks noChangeArrowheads="1"/>
          </p:cNvSpPr>
          <p:nvPr/>
        </p:nvSpPr>
        <p:spPr bwMode="auto">
          <a:xfrm>
            <a:off x="1524000" y="762000"/>
            <a:ext cx="1219200" cy="1219200"/>
          </a:xfrm>
          <a:prstGeom prst="rect">
            <a:avLst/>
          </a:prstGeom>
          <a:pattFill prst="pct25">
            <a:fgClr>
              <a:schemeClr val="tx2"/>
            </a:fgClr>
            <a:bgClr>
              <a:srgbClr val="FFFFFF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35685" name="Rectangle 5"/>
          <p:cNvSpPr>
            <a:spLocks noChangeArrowheads="1"/>
          </p:cNvSpPr>
          <p:nvPr/>
        </p:nvSpPr>
        <p:spPr bwMode="auto">
          <a:xfrm>
            <a:off x="1219200" y="381000"/>
            <a:ext cx="2438400" cy="251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35686" name="Line 6"/>
          <p:cNvSpPr>
            <a:spLocks noChangeShapeType="1"/>
          </p:cNvSpPr>
          <p:nvPr/>
        </p:nvSpPr>
        <p:spPr bwMode="auto">
          <a:xfrm>
            <a:off x="2438400" y="381000"/>
            <a:ext cx="0" cy="2514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35687" name="Line 7"/>
          <p:cNvSpPr>
            <a:spLocks noChangeShapeType="1"/>
          </p:cNvSpPr>
          <p:nvPr/>
        </p:nvSpPr>
        <p:spPr bwMode="auto">
          <a:xfrm>
            <a:off x="3048000" y="381000"/>
            <a:ext cx="0" cy="2514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35688" name="Line 8"/>
          <p:cNvSpPr>
            <a:spLocks noChangeShapeType="1"/>
          </p:cNvSpPr>
          <p:nvPr/>
        </p:nvSpPr>
        <p:spPr bwMode="auto">
          <a:xfrm>
            <a:off x="1828800" y="381000"/>
            <a:ext cx="0" cy="2514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35689" name="Line 9"/>
          <p:cNvSpPr>
            <a:spLocks noChangeShapeType="1"/>
          </p:cNvSpPr>
          <p:nvPr/>
        </p:nvSpPr>
        <p:spPr bwMode="auto">
          <a:xfrm>
            <a:off x="3352800" y="381000"/>
            <a:ext cx="0" cy="2514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35690" name="Line 10"/>
          <p:cNvSpPr>
            <a:spLocks noChangeShapeType="1"/>
          </p:cNvSpPr>
          <p:nvPr/>
        </p:nvSpPr>
        <p:spPr bwMode="auto">
          <a:xfrm>
            <a:off x="2743200" y="381000"/>
            <a:ext cx="0" cy="2514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35691" name="Line 11"/>
          <p:cNvSpPr>
            <a:spLocks noChangeShapeType="1"/>
          </p:cNvSpPr>
          <p:nvPr/>
        </p:nvSpPr>
        <p:spPr bwMode="auto">
          <a:xfrm>
            <a:off x="2133600" y="381000"/>
            <a:ext cx="0" cy="2514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35692" name="Line 12"/>
          <p:cNvSpPr>
            <a:spLocks noChangeShapeType="1"/>
          </p:cNvSpPr>
          <p:nvPr/>
        </p:nvSpPr>
        <p:spPr bwMode="auto">
          <a:xfrm>
            <a:off x="1524000" y="381000"/>
            <a:ext cx="0" cy="2514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35693" name="Line 13"/>
          <p:cNvSpPr>
            <a:spLocks noChangeShapeType="1"/>
          </p:cNvSpPr>
          <p:nvPr/>
        </p:nvSpPr>
        <p:spPr bwMode="auto">
          <a:xfrm rot="16200000" flipH="1">
            <a:off x="2439988" y="458787"/>
            <a:ext cx="0" cy="2435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35694" name="Line 14"/>
          <p:cNvSpPr>
            <a:spLocks noChangeShapeType="1"/>
          </p:cNvSpPr>
          <p:nvPr/>
        </p:nvSpPr>
        <p:spPr bwMode="auto">
          <a:xfrm rot="16200000" flipH="1">
            <a:off x="2436813" y="1068387"/>
            <a:ext cx="0" cy="2435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35695" name="Line 15"/>
          <p:cNvSpPr>
            <a:spLocks noChangeShapeType="1"/>
          </p:cNvSpPr>
          <p:nvPr/>
        </p:nvSpPr>
        <p:spPr bwMode="auto">
          <a:xfrm rot="16200000" flipH="1">
            <a:off x="2436813" y="153987"/>
            <a:ext cx="0" cy="2435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35696" name="Line 16"/>
          <p:cNvSpPr>
            <a:spLocks noChangeShapeType="1"/>
          </p:cNvSpPr>
          <p:nvPr/>
        </p:nvSpPr>
        <p:spPr bwMode="auto">
          <a:xfrm rot="16200000" flipH="1">
            <a:off x="2436813" y="-455613"/>
            <a:ext cx="0" cy="2435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35697" name="Line 17"/>
          <p:cNvSpPr>
            <a:spLocks noChangeShapeType="1"/>
          </p:cNvSpPr>
          <p:nvPr/>
        </p:nvSpPr>
        <p:spPr bwMode="auto">
          <a:xfrm rot="16200000" flipH="1">
            <a:off x="2436813" y="-150813"/>
            <a:ext cx="0" cy="2435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35698" name="Line 18"/>
          <p:cNvSpPr>
            <a:spLocks noChangeShapeType="1"/>
          </p:cNvSpPr>
          <p:nvPr/>
        </p:nvSpPr>
        <p:spPr bwMode="auto">
          <a:xfrm rot="16200000" flipH="1">
            <a:off x="2436813" y="763587"/>
            <a:ext cx="0" cy="2435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35699" name="Line 19"/>
          <p:cNvSpPr>
            <a:spLocks noChangeShapeType="1"/>
          </p:cNvSpPr>
          <p:nvPr/>
        </p:nvSpPr>
        <p:spPr bwMode="auto">
          <a:xfrm rot="16200000" flipH="1">
            <a:off x="2436813" y="1373187"/>
            <a:ext cx="0" cy="2435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35700" name="Text Box 20"/>
          <p:cNvSpPr txBox="1">
            <a:spLocks noChangeArrowheads="1"/>
          </p:cNvSpPr>
          <p:nvPr/>
        </p:nvSpPr>
        <p:spPr bwMode="auto">
          <a:xfrm>
            <a:off x="990600" y="2895600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en-US" sz="1800">
                <a:latin typeface="Times New Roman" panose="02020603050405020304" pitchFamily="18" charset="0"/>
              </a:rPr>
              <a:t>20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735701" name="Text Box 21"/>
          <p:cNvSpPr txBox="1">
            <a:spLocks noChangeArrowheads="1"/>
          </p:cNvSpPr>
          <p:nvPr/>
        </p:nvSpPr>
        <p:spPr bwMode="auto">
          <a:xfrm>
            <a:off x="1644650" y="2895600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en-US" sz="1800">
                <a:latin typeface="Times New Roman" panose="02020603050405020304" pitchFamily="18" charset="0"/>
              </a:rPr>
              <a:t>30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735702" name="Text Box 22"/>
          <p:cNvSpPr txBox="1">
            <a:spLocks noChangeArrowheads="1"/>
          </p:cNvSpPr>
          <p:nvPr/>
        </p:nvSpPr>
        <p:spPr bwMode="auto">
          <a:xfrm>
            <a:off x="2254250" y="2895600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en-US" sz="1800">
                <a:latin typeface="Times New Roman" panose="02020603050405020304" pitchFamily="18" charset="0"/>
              </a:rPr>
              <a:t>40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735703" name="Text Box 23"/>
          <p:cNvSpPr txBox="1">
            <a:spLocks noChangeArrowheads="1"/>
          </p:cNvSpPr>
          <p:nvPr/>
        </p:nvSpPr>
        <p:spPr bwMode="auto">
          <a:xfrm>
            <a:off x="2863850" y="2895600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en-US" sz="1800">
                <a:latin typeface="Times New Roman" panose="02020603050405020304" pitchFamily="18" charset="0"/>
              </a:rPr>
              <a:t>50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735704" name="Text Box 24"/>
          <p:cNvSpPr txBox="1">
            <a:spLocks noChangeArrowheads="1"/>
          </p:cNvSpPr>
          <p:nvPr/>
        </p:nvSpPr>
        <p:spPr bwMode="auto">
          <a:xfrm>
            <a:off x="3473450" y="2895600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en-US" sz="1800">
                <a:latin typeface="Times New Roman" panose="02020603050405020304" pitchFamily="18" charset="0"/>
              </a:rPr>
              <a:t>60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735705" name="Text Box 25"/>
          <p:cNvSpPr txBox="1">
            <a:spLocks noChangeArrowheads="1"/>
          </p:cNvSpPr>
          <p:nvPr/>
        </p:nvSpPr>
        <p:spPr bwMode="auto">
          <a:xfrm>
            <a:off x="3689350" y="2681288"/>
            <a:ext cx="501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en-US" sz="1800">
                <a:latin typeface="Times New Roman" panose="02020603050405020304" pitchFamily="18" charset="0"/>
              </a:rPr>
              <a:t>age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735706" name="Text Box 26"/>
          <p:cNvSpPr txBox="1">
            <a:spLocks noChangeArrowheads="1"/>
          </p:cNvSpPr>
          <p:nvPr/>
        </p:nvSpPr>
        <p:spPr bwMode="auto">
          <a:xfrm rot="-5400000">
            <a:off x="872332" y="1185068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en-US" sz="1800">
                <a:latin typeface="Times New Roman" panose="02020603050405020304" pitchFamily="18" charset="0"/>
              </a:rPr>
              <a:t>5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735707" name="Text Box 27"/>
          <p:cNvSpPr txBox="1">
            <a:spLocks noChangeArrowheads="1"/>
          </p:cNvSpPr>
          <p:nvPr/>
        </p:nvSpPr>
        <p:spPr bwMode="auto">
          <a:xfrm rot="-5400000">
            <a:off x="872332" y="1489868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en-US" sz="1800">
                <a:latin typeface="Times New Roman" panose="02020603050405020304" pitchFamily="18" charset="0"/>
              </a:rPr>
              <a:t>4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735708" name="Text Box 28"/>
          <p:cNvSpPr txBox="1">
            <a:spLocks noChangeArrowheads="1"/>
          </p:cNvSpPr>
          <p:nvPr/>
        </p:nvSpPr>
        <p:spPr bwMode="auto">
          <a:xfrm rot="-5400000">
            <a:off x="872332" y="1801018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en-US" sz="1800">
                <a:latin typeface="Times New Roman" panose="02020603050405020304" pitchFamily="18" charset="0"/>
              </a:rPr>
              <a:t>3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735709" name="Text Box 29"/>
          <p:cNvSpPr txBox="1">
            <a:spLocks noChangeArrowheads="1"/>
          </p:cNvSpPr>
          <p:nvPr/>
        </p:nvSpPr>
        <p:spPr bwMode="auto">
          <a:xfrm rot="-5400000">
            <a:off x="872332" y="2404268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en-US" sz="1800">
                <a:latin typeface="Times New Roman" panose="02020603050405020304" pitchFamily="18" charset="0"/>
              </a:rPr>
              <a:t>1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735710" name="Text Box 30"/>
          <p:cNvSpPr txBox="1">
            <a:spLocks noChangeArrowheads="1"/>
          </p:cNvSpPr>
          <p:nvPr/>
        </p:nvSpPr>
        <p:spPr bwMode="auto">
          <a:xfrm rot="-5400000">
            <a:off x="872332" y="2105818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735711" name="Text Box 31"/>
          <p:cNvSpPr txBox="1">
            <a:spLocks noChangeArrowheads="1"/>
          </p:cNvSpPr>
          <p:nvPr/>
        </p:nvSpPr>
        <p:spPr bwMode="auto">
          <a:xfrm rot="-5400000">
            <a:off x="886619" y="878682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en-US" sz="1800">
                <a:latin typeface="Times New Roman" panose="02020603050405020304" pitchFamily="18" charset="0"/>
              </a:rPr>
              <a:t>6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735712" name="Text Box 32"/>
          <p:cNvSpPr txBox="1">
            <a:spLocks noChangeArrowheads="1"/>
          </p:cNvSpPr>
          <p:nvPr/>
        </p:nvSpPr>
        <p:spPr bwMode="auto">
          <a:xfrm rot="-5400000">
            <a:off x="872332" y="573881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en-US" sz="1800">
                <a:latin typeface="Times New Roman" panose="02020603050405020304" pitchFamily="18" charset="0"/>
              </a:rPr>
              <a:t>7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735713" name="Text Box 33"/>
          <p:cNvSpPr txBox="1">
            <a:spLocks noChangeArrowheads="1"/>
          </p:cNvSpPr>
          <p:nvPr/>
        </p:nvSpPr>
        <p:spPr bwMode="auto">
          <a:xfrm rot="-5400000">
            <a:off x="886619" y="2699544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en-US" sz="1800">
                <a:latin typeface="Times New Roman" panose="02020603050405020304" pitchFamily="18" charset="0"/>
              </a:rPr>
              <a:t>0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grpSp>
        <p:nvGrpSpPr>
          <p:cNvPr id="1735714" name="Group 34"/>
          <p:cNvGrpSpPr>
            <a:grpSpLocks/>
          </p:cNvGrpSpPr>
          <p:nvPr/>
        </p:nvGrpSpPr>
        <p:grpSpPr bwMode="auto">
          <a:xfrm>
            <a:off x="4648200" y="160338"/>
            <a:ext cx="3921125" cy="3101975"/>
            <a:chOff x="2928" y="101"/>
            <a:chExt cx="2470" cy="1954"/>
          </a:xfrm>
        </p:grpSpPr>
        <p:sp>
          <p:nvSpPr>
            <p:cNvPr id="1735715" name="Rectangle 35" descr="25%"/>
            <p:cNvSpPr>
              <a:spLocks noChangeArrowheads="1"/>
            </p:cNvSpPr>
            <p:nvPr/>
          </p:nvSpPr>
          <p:spPr bwMode="auto">
            <a:xfrm>
              <a:off x="3720" y="1248"/>
              <a:ext cx="382" cy="382"/>
            </a:xfrm>
            <a:prstGeom prst="rect">
              <a:avLst/>
            </a:prstGeom>
            <a:pattFill prst="pct25">
              <a:fgClr>
                <a:schemeClr val="tx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35716" name="Rectangle 36" descr="25%"/>
            <p:cNvSpPr>
              <a:spLocks noChangeArrowheads="1"/>
            </p:cNvSpPr>
            <p:nvPr/>
          </p:nvSpPr>
          <p:spPr bwMode="auto">
            <a:xfrm>
              <a:off x="3910" y="1056"/>
              <a:ext cx="384" cy="574"/>
            </a:xfrm>
            <a:prstGeom prst="rect">
              <a:avLst/>
            </a:prstGeom>
            <a:pattFill prst="pct25">
              <a:fgClr>
                <a:schemeClr val="tx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35717" name="Rectangle 37" descr="25%"/>
            <p:cNvSpPr>
              <a:spLocks noChangeArrowheads="1"/>
            </p:cNvSpPr>
            <p:nvPr/>
          </p:nvSpPr>
          <p:spPr bwMode="auto">
            <a:xfrm>
              <a:off x="4102" y="866"/>
              <a:ext cx="384" cy="574"/>
            </a:xfrm>
            <a:prstGeom prst="rect">
              <a:avLst/>
            </a:prstGeom>
            <a:pattFill prst="pct25">
              <a:fgClr>
                <a:schemeClr val="tx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35718" name="Rectangle 38" descr="25%"/>
            <p:cNvSpPr>
              <a:spLocks noChangeArrowheads="1"/>
            </p:cNvSpPr>
            <p:nvPr/>
          </p:nvSpPr>
          <p:spPr bwMode="auto">
            <a:xfrm>
              <a:off x="4294" y="862"/>
              <a:ext cx="384" cy="574"/>
            </a:xfrm>
            <a:prstGeom prst="rect">
              <a:avLst/>
            </a:prstGeom>
            <a:pattFill prst="pct25">
              <a:fgClr>
                <a:schemeClr val="tx2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35719" name="Rectangle 39"/>
            <p:cNvSpPr>
              <a:spLocks noChangeArrowheads="1"/>
            </p:cNvSpPr>
            <p:nvPr/>
          </p:nvSpPr>
          <p:spPr bwMode="auto">
            <a:xfrm>
              <a:off x="3526" y="240"/>
              <a:ext cx="1536" cy="15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35720" name="Line 40"/>
            <p:cNvSpPr>
              <a:spLocks noChangeShapeType="1"/>
            </p:cNvSpPr>
            <p:nvPr/>
          </p:nvSpPr>
          <p:spPr bwMode="auto">
            <a:xfrm>
              <a:off x="4294" y="240"/>
              <a:ext cx="0" cy="15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35721" name="Line 41"/>
            <p:cNvSpPr>
              <a:spLocks noChangeShapeType="1"/>
            </p:cNvSpPr>
            <p:nvPr/>
          </p:nvSpPr>
          <p:spPr bwMode="auto">
            <a:xfrm>
              <a:off x="4678" y="240"/>
              <a:ext cx="0" cy="15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35722" name="Line 42"/>
            <p:cNvSpPr>
              <a:spLocks noChangeShapeType="1"/>
            </p:cNvSpPr>
            <p:nvPr/>
          </p:nvSpPr>
          <p:spPr bwMode="auto">
            <a:xfrm>
              <a:off x="3910" y="240"/>
              <a:ext cx="0" cy="15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35723" name="Line 43"/>
            <p:cNvSpPr>
              <a:spLocks noChangeShapeType="1"/>
            </p:cNvSpPr>
            <p:nvPr/>
          </p:nvSpPr>
          <p:spPr bwMode="auto">
            <a:xfrm>
              <a:off x="4870" y="240"/>
              <a:ext cx="0" cy="15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35724" name="Line 44"/>
            <p:cNvSpPr>
              <a:spLocks noChangeShapeType="1"/>
            </p:cNvSpPr>
            <p:nvPr/>
          </p:nvSpPr>
          <p:spPr bwMode="auto">
            <a:xfrm>
              <a:off x="4486" y="240"/>
              <a:ext cx="0" cy="15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35725" name="Line 45"/>
            <p:cNvSpPr>
              <a:spLocks noChangeShapeType="1"/>
            </p:cNvSpPr>
            <p:nvPr/>
          </p:nvSpPr>
          <p:spPr bwMode="auto">
            <a:xfrm>
              <a:off x="4102" y="240"/>
              <a:ext cx="0" cy="15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35726" name="Line 46"/>
            <p:cNvSpPr>
              <a:spLocks noChangeShapeType="1"/>
            </p:cNvSpPr>
            <p:nvPr/>
          </p:nvSpPr>
          <p:spPr bwMode="auto">
            <a:xfrm>
              <a:off x="3718" y="240"/>
              <a:ext cx="0" cy="15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35727" name="Line 47"/>
            <p:cNvSpPr>
              <a:spLocks noChangeShapeType="1"/>
            </p:cNvSpPr>
            <p:nvPr/>
          </p:nvSpPr>
          <p:spPr bwMode="auto">
            <a:xfrm rot="16200000" flipH="1">
              <a:off x="4295" y="289"/>
              <a:ext cx="0" cy="15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35728" name="Line 48"/>
            <p:cNvSpPr>
              <a:spLocks noChangeShapeType="1"/>
            </p:cNvSpPr>
            <p:nvPr/>
          </p:nvSpPr>
          <p:spPr bwMode="auto">
            <a:xfrm rot="16200000" flipH="1">
              <a:off x="4293" y="673"/>
              <a:ext cx="0" cy="15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35729" name="Line 49"/>
            <p:cNvSpPr>
              <a:spLocks noChangeShapeType="1"/>
            </p:cNvSpPr>
            <p:nvPr/>
          </p:nvSpPr>
          <p:spPr bwMode="auto">
            <a:xfrm rot="16200000" flipH="1">
              <a:off x="4293" y="97"/>
              <a:ext cx="0" cy="15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35730" name="Line 50"/>
            <p:cNvSpPr>
              <a:spLocks noChangeShapeType="1"/>
            </p:cNvSpPr>
            <p:nvPr/>
          </p:nvSpPr>
          <p:spPr bwMode="auto">
            <a:xfrm rot="16200000" flipH="1">
              <a:off x="4293" y="-287"/>
              <a:ext cx="0" cy="15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35731" name="Line 51"/>
            <p:cNvSpPr>
              <a:spLocks noChangeShapeType="1"/>
            </p:cNvSpPr>
            <p:nvPr/>
          </p:nvSpPr>
          <p:spPr bwMode="auto">
            <a:xfrm rot="16200000" flipH="1">
              <a:off x="4293" y="-95"/>
              <a:ext cx="0" cy="15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35732" name="Line 52"/>
            <p:cNvSpPr>
              <a:spLocks noChangeShapeType="1"/>
            </p:cNvSpPr>
            <p:nvPr/>
          </p:nvSpPr>
          <p:spPr bwMode="auto">
            <a:xfrm rot="16200000" flipH="1">
              <a:off x="4293" y="481"/>
              <a:ext cx="0" cy="15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35733" name="Line 53"/>
            <p:cNvSpPr>
              <a:spLocks noChangeShapeType="1"/>
            </p:cNvSpPr>
            <p:nvPr/>
          </p:nvSpPr>
          <p:spPr bwMode="auto">
            <a:xfrm rot="16200000" flipH="1">
              <a:off x="4293" y="865"/>
              <a:ext cx="0" cy="15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35734" name="Text Box 54"/>
            <p:cNvSpPr txBox="1">
              <a:spLocks noChangeArrowheads="1"/>
            </p:cNvSpPr>
            <p:nvPr/>
          </p:nvSpPr>
          <p:spPr bwMode="auto">
            <a:xfrm>
              <a:off x="3382" y="1824"/>
              <a:ext cx="2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en-US" sz="1800">
                  <a:latin typeface="Times New Roman" panose="02020603050405020304" pitchFamily="18" charset="0"/>
                </a:rPr>
                <a:t>20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735735" name="Text Box 55"/>
            <p:cNvSpPr txBox="1">
              <a:spLocks noChangeArrowheads="1"/>
            </p:cNvSpPr>
            <p:nvPr/>
          </p:nvSpPr>
          <p:spPr bwMode="auto">
            <a:xfrm>
              <a:off x="3794" y="1824"/>
              <a:ext cx="2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en-US" sz="1800">
                  <a:latin typeface="Times New Roman" panose="02020603050405020304" pitchFamily="18" charset="0"/>
                </a:rPr>
                <a:t>30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735736" name="Text Box 56"/>
            <p:cNvSpPr txBox="1">
              <a:spLocks noChangeArrowheads="1"/>
            </p:cNvSpPr>
            <p:nvPr/>
          </p:nvSpPr>
          <p:spPr bwMode="auto">
            <a:xfrm>
              <a:off x="4178" y="1824"/>
              <a:ext cx="2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en-US" sz="1800">
                  <a:latin typeface="Times New Roman" panose="02020603050405020304" pitchFamily="18" charset="0"/>
                </a:rPr>
                <a:t>40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735737" name="Text Box 57"/>
            <p:cNvSpPr txBox="1">
              <a:spLocks noChangeArrowheads="1"/>
            </p:cNvSpPr>
            <p:nvPr/>
          </p:nvSpPr>
          <p:spPr bwMode="auto">
            <a:xfrm>
              <a:off x="4562" y="1824"/>
              <a:ext cx="2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en-US" sz="1800">
                  <a:latin typeface="Times New Roman" panose="02020603050405020304" pitchFamily="18" charset="0"/>
                </a:rPr>
                <a:t>50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735738" name="Text Box 58"/>
            <p:cNvSpPr txBox="1">
              <a:spLocks noChangeArrowheads="1"/>
            </p:cNvSpPr>
            <p:nvPr/>
          </p:nvSpPr>
          <p:spPr bwMode="auto">
            <a:xfrm>
              <a:off x="4946" y="1824"/>
              <a:ext cx="2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en-US" sz="1800">
                  <a:latin typeface="Times New Roman" panose="02020603050405020304" pitchFamily="18" charset="0"/>
                </a:rPr>
                <a:t>60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735739" name="Text Box 59"/>
            <p:cNvSpPr txBox="1">
              <a:spLocks noChangeArrowheads="1"/>
            </p:cNvSpPr>
            <p:nvPr/>
          </p:nvSpPr>
          <p:spPr bwMode="auto">
            <a:xfrm>
              <a:off x="5082" y="1689"/>
              <a:ext cx="3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en-US" sz="1800">
                  <a:latin typeface="Times New Roman" panose="02020603050405020304" pitchFamily="18" charset="0"/>
                </a:rPr>
                <a:t>age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735740" name="Text Box 60"/>
            <p:cNvSpPr txBox="1">
              <a:spLocks noChangeArrowheads="1"/>
            </p:cNvSpPr>
            <p:nvPr/>
          </p:nvSpPr>
          <p:spPr bwMode="auto">
            <a:xfrm rot="-5400000">
              <a:off x="3308" y="746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en-US" sz="1800">
                  <a:latin typeface="Times New Roman" panose="02020603050405020304" pitchFamily="18" charset="0"/>
                </a:rPr>
                <a:t>5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735741" name="Text Box 61"/>
            <p:cNvSpPr txBox="1">
              <a:spLocks noChangeArrowheads="1"/>
            </p:cNvSpPr>
            <p:nvPr/>
          </p:nvSpPr>
          <p:spPr bwMode="auto">
            <a:xfrm rot="-5400000">
              <a:off x="3308" y="938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en-US" sz="1800">
                  <a:latin typeface="Times New Roman" panose="02020603050405020304" pitchFamily="18" charset="0"/>
                </a:rPr>
                <a:t>4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735742" name="Text Box 62"/>
            <p:cNvSpPr txBox="1">
              <a:spLocks noChangeArrowheads="1"/>
            </p:cNvSpPr>
            <p:nvPr/>
          </p:nvSpPr>
          <p:spPr bwMode="auto">
            <a:xfrm rot="-5400000">
              <a:off x="3308" y="1134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en-US" sz="1800">
                  <a:latin typeface="Times New Roman" panose="02020603050405020304" pitchFamily="18" charset="0"/>
                </a:rPr>
                <a:t>3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735743" name="Text Box 63"/>
            <p:cNvSpPr txBox="1">
              <a:spLocks noChangeArrowheads="1"/>
            </p:cNvSpPr>
            <p:nvPr/>
          </p:nvSpPr>
          <p:spPr bwMode="auto">
            <a:xfrm rot="-5400000">
              <a:off x="3308" y="1514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en-US" sz="1800">
                  <a:latin typeface="Times New Roman" panose="02020603050405020304" pitchFamily="18" charset="0"/>
                </a:rPr>
                <a:t>1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735744" name="Text Box 64"/>
            <p:cNvSpPr txBox="1">
              <a:spLocks noChangeArrowheads="1"/>
            </p:cNvSpPr>
            <p:nvPr/>
          </p:nvSpPr>
          <p:spPr bwMode="auto">
            <a:xfrm rot="-5400000">
              <a:off x="3308" y="1326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en-US" sz="1800">
                  <a:latin typeface="Times New Roman" panose="02020603050405020304" pitchFamily="18" charset="0"/>
                </a:rPr>
                <a:t>2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735745" name="Text Box 65"/>
            <p:cNvSpPr txBox="1">
              <a:spLocks noChangeArrowheads="1"/>
            </p:cNvSpPr>
            <p:nvPr/>
          </p:nvSpPr>
          <p:spPr bwMode="auto">
            <a:xfrm rot="-5400000">
              <a:off x="3318" y="552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en-US" sz="1800">
                  <a:latin typeface="Times New Roman" panose="02020603050405020304" pitchFamily="18" charset="0"/>
                </a:rPr>
                <a:t>6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735746" name="Text Box 66"/>
            <p:cNvSpPr txBox="1">
              <a:spLocks noChangeArrowheads="1"/>
            </p:cNvSpPr>
            <p:nvPr/>
          </p:nvSpPr>
          <p:spPr bwMode="auto">
            <a:xfrm rot="-5400000">
              <a:off x="3309" y="360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en-US" sz="1800">
                  <a:latin typeface="Times New Roman" panose="02020603050405020304" pitchFamily="18" charset="0"/>
                </a:rPr>
                <a:t>7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735747" name="Text Box 67"/>
            <p:cNvSpPr txBox="1">
              <a:spLocks noChangeArrowheads="1"/>
            </p:cNvSpPr>
            <p:nvPr/>
          </p:nvSpPr>
          <p:spPr bwMode="auto">
            <a:xfrm rot="-5400000">
              <a:off x="3317" y="1700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en-US" sz="1800">
                  <a:latin typeface="Times New Roman" panose="02020603050405020304" pitchFamily="18" charset="0"/>
                </a:rPr>
                <a:t>0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735748" name="Text Box 68"/>
            <p:cNvSpPr txBox="1">
              <a:spLocks noChangeArrowheads="1"/>
            </p:cNvSpPr>
            <p:nvPr/>
          </p:nvSpPr>
          <p:spPr bwMode="auto">
            <a:xfrm rot="-5400000">
              <a:off x="2796" y="233"/>
              <a:ext cx="667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en-US" sz="1800">
                  <a:latin typeface="Times New Roman" panose="02020603050405020304" pitchFamily="18" charset="0"/>
                </a:rPr>
                <a:t>Vacation(week)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735749" name="Group 69"/>
          <p:cNvGrpSpPr>
            <a:grpSpLocks/>
          </p:cNvGrpSpPr>
          <p:nvPr/>
        </p:nvGrpSpPr>
        <p:grpSpPr bwMode="auto">
          <a:xfrm>
            <a:off x="2209800" y="3505200"/>
            <a:ext cx="5149850" cy="3124200"/>
            <a:chOff x="1776" y="2064"/>
            <a:chExt cx="3244" cy="1968"/>
          </a:xfrm>
        </p:grpSpPr>
        <p:grpSp>
          <p:nvGrpSpPr>
            <p:cNvPr id="1735750" name="Group 70"/>
            <p:cNvGrpSpPr>
              <a:grpSpLocks/>
            </p:cNvGrpSpPr>
            <p:nvPr/>
          </p:nvGrpSpPr>
          <p:grpSpPr bwMode="auto">
            <a:xfrm>
              <a:off x="2976" y="2256"/>
              <a:ext cx="672" cy="768"/>
              <a:chOff x="2976" y="2256"/>
              <a:chExt cx="958" cy="768"/>
            </a:xfrm>
          </p:grpSpPr>
          <p:sp>
            <p:nvSpPr>
              <p:cNvPr id="1735751" name="Rectangle 71" descr="25%"/>
              <p:cNvSpPr>
                <a:spLocks noChangeArrowheads="1"/>
              </p:cNvSpPr>
              <p:nvPr/>
            </p:nvSpPr>
            <p:spPr bwMode="auto">
              <a:xfrm>
                <a:off x="2976" y="2642"/>
                <a:ext cx="382" cy="382"/>
              </a:xfrm>
              <a:prstGeom prst="rect">
                <a:avLst/>
              </a:prstGeom>
              <a:pattFill prst="pct25">
                <a:fgClr>
                  <a:schemeClr val="tx2"/>
                </a:fgClr>
                <a:bgClr>
                  <a:srgbClr val="FFFFFF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35752" name="Rectangle 72" descr="25%"/>
              <p:cNvSpPr>
                <a:spLocks noChangeArrowheads="1"/>
              </p:cNvSpPr>
              <p:nvPr/>
            </p:nvSpPr>
            <p:spPr bwMode="auto">
              <a:xfrm>
                <a:off x="3166" y="2450"/>
                <a:ext cx="384" cy="574"/>
              </a:xfrm>
              <a:prstGeom prst="rect">
                <a:avLst/>
              </a:prstGeom>
              <a:pattFill prst="pct25">
                <a:fgClr>
                  <a:schemeClr val="tx2"/>
                </a:fgClr>
                <a:bgClr>
                  <a:srgbClr val="FFFFFF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35753" name="Rectangle 73" descr="25%"/>
              <p:cNvSpPr>
                <a:spLocks noChangeArrowheads="1"/>
              </p:cNvSpPr>
              <p:nvPr/>
            </p:nvSpPr>
            <p:spPr bwMode="auto">
              <a:xfrm>
                <a:off x="3358" y="2260"/>
                <a:ext cx="384" cy="574"/>
              </a:xfrm>
              <a:prstGeom prst="rect">
                <a:avLst/>
              </a:prstGeom>
              <a:pattFill prst="pct25">
                <a:fgClr>
                  <a:schemeClr val="tx2"/>
                </a:fgClr>
                <a:bgClr>
                  <a:srgbClr val="FFFFFF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35754" name="Rectangle 74" descr="25%"/>
              <p:cNvSpPr>
                <a:spLocks noChangeArrowheads="1"/>
              </p:cNvSpPr>
              <p:nvPr/>
            </p:nvSpPr>
            <p:spPr bwMode="auto">
              <a:xfrm>
                <a:off x="3550" y="2256"/>
                <a:ext cx="384" cy="574"/>
              </a:xfrm>
              <a:prstGeom prst="rect">
                <a:avLst/>
              </a:prstGeom>
              <a:pattFill prst="pct25">
                <a:fgClr>
                  <a:schemeClr val="tx2"/>
                </a:fgClr>
                <a:bgClr>
                  <a:srgbClr val="FFFFFF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735755" name="Rectangle 75"/>
            <p:cNvSpPr>
              <a:spLocks noChangeArrowheads="1"/>
            </p:cNvSpPr>
            <p:nvPr/>
          </p:nvSpPr>
          <p:spPr bwMode="auto">
            <a:xfrm>
              <a:off x="1776" y="2928"/>
              <a:ext cx="2016" cy="1104"/>
            </a:xfrm>
            <a:prstGeom prst="rect">
              <a:avLst/>
            </a:prstGeom>
            <a:solidFill>
              <a:schemeClr val="accent1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Normal3" dir="b"/>
            </a:scene3d>
            <a:sp3d extrusionH="3630600" prstMaterial="legacyWireframe">
              <a:bevelT w="13500" h="13500" prst="angle"/>
              <a:bevelB w="13500" h="13500" prst="angle"/>
              <a:extrusionClr>
                <a:schemeClr val="accent1"/>
              </a:extrusionClr>
              <a:contourClr>
                <a:schemeClr val="accent1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US"/>
            </a:p>
          </p:txBody>
        </p:sp>
        <p:sp>
          <p:nvSpPr>
            <p:cNvPr id="1735756" name="Text Box 76"/>
            <p:cNvSpPr txBox="1">
              <a:spLocks noChangeArrowheads="1"/>
            </p:cNvSpPr>
            <p:nvPr/>
          </p:nvSpPr>
          <p:spPr bwMode="auto">
            <a:xfrm>
              <a:off x="4704" y="3168"/>
              <a:ext cx="3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en-US" sz="1800">
                  <a:latin typeface="Times New Roman" panose="02020603050405020304" pitchFamily="18" charset="0"/>
                </a:rPr>
                <a:t>age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735757" name="Text Box 77"/>
            <p:cNvSpPr txBox="1">
              <a:spLocks noChangeArrowheads="1"/>
            </p:cNvSpPr>
            <p:nvPr/>
          </p:nvSpPr>
          <p:spPr bwMode="auto">
            <a:xfrm rot="-5400000">
              <a:off x="2143" y="2282"/>
              <a:ext cx="66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en-US" sz="1800">
                  <a:latin typeface="Times New Roman" panose="02020603050405020304" pitchFamily="18" charset="0"/>
                </a:rPr>
                <a:t>Vacation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735758" name="Text Box 78"/>
            <p:cNvSpPr txBox="1">
              <a:spLocks noChangeArrowheads="1"/>
            </p:cNvSpPr>
            <p:nvPr/>
          </p:nvSpPr>
          <p:spPr bwMode="auto">
            <a:xfrm rot="-2607393">
              <a:off x="2160" y="3072"/>
              <a:ext cx="5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en-US" sz="1800">
                  <a:latin typeface="Times New Roman" panose="02020603050405020304" pitchFamily="18" charset="0"/>
                </a:rPr>
                <a:t>Salary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1735759" name="Group 79"/>
            <p:cNvGrpSpPr>
              <a:grpSpLocks/>
            </p:cNvGrpSpPr>
            <p:nvPr/>
          </p:nvGrpSpPr>
          <p:grpSpPr bwMode="auto">
            <a:xfrm>
              <a:off x="2736" y="3360"/>
              <a:ext cx="720" cy="624"/>
              <a:chOff x="4512" y="3120"/>
              <a:chExt cx="576" cy="528"/>
            </a:xfrm>
          </p:grpSpPr>
          <p:sp>
            <p:nvSpPr>
              <p:cNvPr id="1735760" name="Line 80"/>
              <p:cNvSpPr>
                <a:spLocks noChangeShapeType="1"/>
              </p:cNvSpPr>
              <p:nvPr/>
            </p:nvSpPr>
            <p:spPr bwMode="auto">
              <a:xfrm flipH="1">
                <a:off x="4512" y="3120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35761" name="Line 81"/>
              <p:cNvSpPr>
                <a:spLocks noChangeShapeType="1"/>
              </p:cNvSpPr>
              <p:nvPr/>
            </p:nvSpPr>
            <p:spPr bwMode="auto">
              <a:xfrm>
                <a:off x="4512" y="3312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35762" name="Line 82"/>
              <p:cNvSpPr>
                <a:spLocks noChangeShapeType="1"/>
              </p:cNvSpPr>
              <p:nvPr/>
            </p:nvSpPr>
            <p:spPr bwMode="auto">
              <a:xfrm flipH="1">
                <a:off x="4512" y="3312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35763" name="Line 83"/>
              <p:cNvSpPr>
                <a:spLocks noChangeShapeType="1"/>
              </p:cNvSpPr>
              <p:nvPr/>
            </p:nvSpPr>
            <p:spPr bwMode="auto">
              <a:xfrm>
                <a:off x="4512" y="350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35764" name="Line 84"/>
              <p:cNvSpPr>
                <a:spLocks noChangeShapeType="1"/>
              </p:cNvSpPr>
              <p:nvPr/>
            </p:nvSpPr>
            <p:spPr bwMode="auto">
              <a:xfrm flipH="1">
                <a:off x="4608" y="3504"/>
                <a:ext cx="96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35765" name="Line 85"/>
              <p:cNvSpPr>
                <a:spLocks noChangeShapeType="1"/>
              </p:cNvSpPr>
              <p:nvPr/>
            </p:nvSpPr>
            <p:spPr bwMode="auto">
              <a:xfrm>
                <a:off x="4608" y="3648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35766" name="Line 86"/>
              <p:cNvSpPr>
                <a:spLocks noChangeShapeType="1"/>
              </p:cNvSpPr>
              <p:nvPr/>
            </p:nvSpPr>
            <p:spPr bwMode="auto">
              <a:xfrm>
                <a:off x="4656" y="3120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35767" name="Line 87"/>
              <p:cNvSpPr>
                <a:spLocks noChangeShapeType="1"/>
              </p:cNvSpPr>
              <p:nvPr/>
            </p:nvSpPr>
            <p:spPr bwMode="auto">
              <a:xfrm flipH="1">
                <a:off x="4944" y="3120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35768" name="Line 88"/>
              <p:cNvSpPr>
                <a:spLocks noChangeShapeType="1"/>
              </p:cNvSpPr>
              <p:nvPr/>
            </p:nvSpPr>
            <p:spPr bwMode="auto">
              <a:xfrm>
                <a:off x="4944" y="3312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35769" name="Line 89"/>
              <p:cNvSpPr>
                <a:spLocks noChangeShapeType="1"/>
              </p:cNvSpPr>
              <p:nvPr/>
            </p:nvSpPr>
            <p:spPr bwMode="auto">
              <a:xfrm flipH="1">
                <a:off x="4848" y="3312"/>
                <a:ext cx="24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735770" name="Text Box 90"/>
            <p:cNvSpPr txBox="1">
              <a:spLocks noChangeArrowheads="1"/>
            </p:cNvSpPr>
            <p:nvPr/>
          </p:nvSpPr>
          <p:spPr bwMode="auto">
            <a:xfrm>
              <a:off x="2880" y="3033"/>
              <a:ext cx="2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en-US" sz="1800">
                  <a:latin typeface="Times New Roman" panose="02020603050405020304" pitchFamily="18" charset="0"/>
                </a:rPr>
                <a:t>30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735771" name="Text Box 91"/>
            <p:cNvSpPr txBox="1">
              <a:spLocks noChangeArrowheads="1"/>
            </p:cNvSpPr>
            <p:nvPr/>
          </p:nvSpPr>
          <p:spPr bwMode="auto">
            <a:xfrm>
              <a:off x="3504" y="3033"/>
              <a:ext cx="2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en-US" sz="1800">
                  <a:latin typeface="Times New Roman" panose="02020603050405020304" pitchFamily="18" charset="0"/>
                </a:rPr>
                <a:t>50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1735772" name="Oval 92"/>
          <p:cNvSpPr>
            <a:spLocks noChangeArrowheads="1"/>
          </p:cNvSpPr>
          <p:nvPr/>
        </p:nvSpPr>
        <p:spPr bwMode="auto">
          <a:xfrm>
            <a:off x="6096000" y="24384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773" name="Oval 93"/>
          <p:cNvSpPr>
            <a:spLocks noChangeArrowheads="1"/>
          </p:cNvSpPr>
          <p:nvPr/>
        </p:nvSpPr>
        <p:spPr bwMode="auto">
          <a:xfrm>
            <a:off x="1600200" y="17526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774" name="Oval 94"/>
          <p:cNvSpPr>
            <a:spLocks noChangeArrowheads="1"/>
          </p:cNvSpPr>
          <p:nvPr/>
        </p:nvSpPr>
        <p:spPr bwMode="auto">
          <a:xfrm>
            <a:off x="1752600" y="19050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775" name="Oval 95"/>
          <p:cNvSpPr>
            <a:spLocks noChangeArrowheads="1"/>
          </p:cNvSpPr>
          <p:nvPr/>
        </p:nvSpPr>
        <p:spPr bwMode="auto">
          <a:xfrm>
            <a:off x="1752600" y="15240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776" name="Oval 96"/>
          <p:cNvSpPr>
            <a:spLocks noChangeArrowheads="1"/>
          </p:cNvSpPr>
          <p:nvPr/>
        </p:nvSpPr>
        <p:spPr bwMode="auto">
          <a:xfrm>
            <a:off x="1600200" y="12192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777" name="Oval 97"/>
          <p:cNvSpPr>
            <a:spLocks noChangeArrowheads="1"/>
          </p:cNvSpPr>
          <p:nvPr/>
        </p:nvSpPr>
        <p:spPr bwMode="auto">
          <a:xfrm>
            <a:off x="1752600" y="9144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778" name="Oval 98"/>
          <p:cNvSpPr>
            <a:spLocks noChangeArrowheads="1"/>
          </p:cNvSpPr>
          <p:nvPr/>
        </p:nvSpPr>
        <p:spPr bwMode="auto">
          <a:xfrm>
            <a:off x="1600200" y="8382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779" name="Oval 99"/>
          <p:cNvSpPr>
            <a:spLocks noChangeArrowheads="1"/>
          </p:cNvSpPr>
          <p:nvPr/>
        </p:nvSpPr>
        <p:spPr bwMode="auto">
          <a:xfrm>
            <a:off x="1676400" y="10668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780" name="Oval 100"/>
          <p:cNvSpPr>
            <a:spLocks noChangeArrowheads="1"/>
          </p:cNvSpPr>
          <p:nvPr/>
        </p:nvSpPr>
        <p:spPr bwMode="auto">
          <a:xfrm>
            <a:off x="1828800" y="8382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781" name="Oval 101"/>
          <p:cNvSpPr>
            <a:spLocks noChangeArrowheads="1"/>
          </p:cNvSpPr>
          <p:nvPr/>
        </p:nvSpPr>
        <p:spPr bwMode="auto">
          <a:xfrm>
            <a:off x="1981200" y="17526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782" name="Oval 102"/>
          <p:cNvSpPr>
            <a:spLocks noChangeArrowheads="1"/>
          </p:cNvSpPr>
          <p:nvPr/>
        </p:nvSpPr>
        <p:spPr bwMode="auto">
          <a:xfrm>
            <a:off x="2133600" y="19050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783" name="Oval 103"/>
          <p:cNvSpPr>
            <a:spLocks noChangeArrowheads="1"/>
          </p:cNvSpPr>
          <p:nvPr/>
        </p:nvSpPr>
        <p:spPr bwMode="auto">
          <a:xfrm>
            <a:off x="2133600" y="15240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784" name="Oval 104"/>
          <p:cNvSpPr>
            <a:spLocks noChangeArrowheads="1"/>
          </p:cNvSpPr>
          <p:nvPr/>
        </p:nvSpPr>
        <p:spPr bwMode="auto">
          <a:xfrm>
            <a:off x="1981200" y="8382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785" name="Oval 105"/>
          <p:cNvSpPr>
            <a:spLocks noChangeArrowheads="1"/>
          </p:cNvSpPr>
          <p:nvPr/>
        </p:nvSpPr>
        <p:spPr bwMode="auto">
          <a:xfrm>
            <a:off x="2209800" y="8382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786" name="Oval 106"/>
          <p:cNvSpPr>
            <a:spLocks noChangeArrowheads="1"/>
          </p:cNvSpPr>
          <p:nvPr/>
        </p:nvSpPr>
        <p:spPr bwMode="auto">
          <a:xfrm>
            <a:off x="2362200" y="17526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787" name="Oval 107"/>
          <p:cNvSpPr>
            <a:spLocks noChangeArrowheads="1"/>
          </p:cNvSpPr>
          <p:nvPr/>
        </p:nvSpPr>
        <p:spPr bwMode="auto">
          <a:xfrm>
            <a:off x="2514600" y="19050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788" name="Oval 108"/>
          <p:cNvSpPr>
            <a:spLocks noChangeArrowheads="1"/>
          </p:cNvSpPr>
          <p:nvPr/>
        </p:nvSpPr>
        <p:spPr bwMode="auto">
          <a:xfrm>
            <a:off x="2514600" y="15240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789" name="Oval 109"/>
          <p:cNvSpPr>
            <a:spLocks noChangeArrowheads="1"/>
          </p:cNvSpPr>
          <p:nvPr/>
        </p:nvSpPr>
        <p:spPr bwMode="auto">
          <a:xfrm>
            <a:off x="2362200" y="8382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790" name="Oval 110"/>
          <p:cNvSpPr>
            <a:spLocks noChangeArrowheads="1"/>
          </p:cNvSpPr>
          <p:nvPr/>
        </p:nvSpPr>
        <p:spPr bwMode="auto">
          <a:xfrm>
            <a:off x="2590800" y="8382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791" name="Oval 111"/>
          <p:cNvSpPr>
            <a:spLocks noChangeArrowheads="1"/>
          </p:cNvSpPr>
          <p:nvPr/>
        </p:nvSpPr>
        <p:spPr bwMode="auto">
          <a:xfrm>
            <a:off x="2590800" y="20574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792" name="Oval 112"/>
          <p:cNvSpPr>
            <a:spLocks noChangeArrowheads="1"/>
          </p:cNvSpPr>
          <p:nvPr/>
        </p:nvSpPr>
        <p:spPr bwMode="auto">
          <a:xfrm>
            <a:off x="2743200" y="22098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793" name="Oval 113"/>
          <p:cNvSpPr>
            <a:spLocks noChangeArrowheads="1"/>
          </p:cNvSpPr>
          <p:nvPr/>
        </p:nvSpPr>
        <p:spPr bwMode="auto">
          <a:xfrm>
            <a:off x="2743200" y="18288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794" name="Oval 114"/>
          <p:cNvSpPr>
            <a:spLocks noChangeArrowheads="1"/>
          </p:cNvSpPr>
          <p:nvPr/>
        </p:nvSpPr>
        <p:spPr bwMode="auto">
          <a:xfrm>
            <a:off x="2590800" y="11430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795" name="Oval 115"/>
          <p:cNvSpPr>
            <a:spLocks noChangeArrowheads="1"/>
          </p:cNvSpPr>
          <p:nvPr/>
        </p:nvSpPr>
        <p:spPr bwMode="auto">
          <a:xfrm>
            <a:off x="2819400" y="11430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796" name="Oval 116"/>
          <p:cNvSpPr>
            <a:spLocks noChangeArrowheads="1"/>
          </p:cNvSpPr>
          <p:nvPr/>
        </p:nvSpPr>
        <p:spPr bwMode="auto">
          <a:xfrm>
            <a:off x="2133600" y="20574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797" name="Oval 117"/>
          <p:cNvSpPr>
            <a:spLocks noChangeArrowheads="1"/>
          </p:cNvSpPr>
          <p:nvPr/>
        </p:nvSpPr>
        <p:spPr bwMode="auto">
          <a:xfrm>
            <a:off x="2286000" y="22098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798" name="Oval 118"/>
          <p:cNvSpPr>
            <a:spLocks noChangeArrowheads="1"/>
          </p:cNvSpPr>
          <p:nvPr/>
        </p:nvSpPr>
        <p:spPr bwMode="auto">
          <a:xfrm>
            <a:off x="2286000" y="18288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799" name="Oval 119"/>
          <p:cNvSpPr>
            <a:spLocks noChangeArrowheads="1"/>
          </p:cNvSpPr>
          <p:nvPr/>
        </p:nvSpPr>
        <p:spPr bwMode="auto">
          <a:xfrm>
            <a:off x="2133600" y="11430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800" name="Oval 120"/>
          <p:cNvSpPr>
            <a:spLocks noChangeArrowheads="1"/>
          </p:cNvSpPr>
          <p:nvPr/>
        </p:nvSpPr>
        <p:spPr bwMode="auto">
          <a:xfrm>
            <a:off x="2362200" y="11430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801" name="Oval 121"/>
          <p:cNvSpPr>
            <a:spLocks noChangeArrowheads="1"/>
          </p:cNvSpPr>
          <p:nvPr/>
        </p:nvSpPr>
        <p:spPr bwMode="auto">
          <a:xfrm>
            <a:off x="3200400" y="18288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802" name="Oval 122"/>
          <p:cNvSpPr>
            <a:spLocks noChangeArrowheads="1"/>
          </p:cNvSpPr>
          <p:nvPr/>
        </p:nvSpPr>
        <p:spPr bwMode="auto">
          <a:xfrm>
            <a:off x="1371600" y="4572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803" name="Text Box 123"/>
          <p:cNvSpPr txBox="1">
            <a:spLocks noChangeArrowheads="1"/>
          </p:cNvSpPr>
          <p:nvPr/>
        </p:nvSpPr>
        <p:spPr bwMode="auto">
          <a:xfrm>
            <a:off x="304800" y="3581400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en-US">
                <a:latin typeface="Times New Roman" panose="02020603050405020304" pitchFamily="18" charset="0"/>
              </a:rPr>
              <a:t> = 3</a:t>
            </a:r>
          </a:p>
        </p:txBody>
      </p:sp>
      <p:sp>
        <p:nvSpPr>
          <p:cNvPr id="1735804" name="Oval 124"/>
          <p:cNvSpPr>
            <a:spLocks noChangeArrowheads="1"/>
          </p:cNvSpPr>
          <p:nvPr/>
        </p:nvSpPr>
        <p:spPr bwMode="auto">
          <a:xfrm>
            <a:off x="6324600" y="23622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805" name="Oval 125"/>
          <p:cNvSpPr>
            <a:spLocks noChangeArrowheads="1"/>
          </p:cNvSpPr>
          <p:nvPr/>
        </p:nvSpPr>
        <p:spPr bwMode="auto">
          <a:xfrm>
            <a:off x="6019800" y="21336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806" name="Oval 126"/>
          <p:cNvSpPr>
            <a:spLocks noChangeArrowheads="1"/>
          </p:cNvSpPr>
          <p:nvPr/>
        </p:nvSpPr>
        <p:spPr bwMode="auto">
          <a:xfrm>
            <a:off x="5943600" y="23622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807" name="Oval 127"/>
          <p:cNvSpPr>
            <a:spLocks noChangeArrowheads="1"/>
          </p:cNvSpPr>
          <p:nvPr/>
        </p:nvSpPr>
        <p:spPr bwMode="auto">
          <a:xfrm>
            <a:off x="6400800" y="22098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808" name="Oval 128"/>
          <p:cNvSpPr>
            <a:spLocks noChangeArrowheads="1"/>
          </p:cNvSpPr>
          <p:nvPr/>
        </p:nvSpPr>
        <p:spPr bwMode="auto">
          <a:xfrm>
            <a:off x="6629400" y="21336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809" name="Oval 129"/>
          <p:cNvSpPr>
            <a:spLocks noChangeArrowheads="1"/>
          </p:cNvSpPr>
          <p:nvPr/>
        </p:nvSpPr>
        <p:spPr bwMode="auto">
          <a:xfrm>
            <a:off x="6324600" y="19050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810" name="Oval 130"/>
          <p:cNvSpPr>
            <a:spLocks noChangeArrowheads="1"/>
          </p:cNvSpPr>
          <p:nvPr/>
        </p:nvSpPr>
        <p:spPr bwMode="auto">
          <a:xfrm>
            <a:off x="6248400" y="21336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811" name="Oval 131"/>
          <p:cNvSpPr>
            <a:spLocks noChangeArrowheads="1"/>
          </p:cNvSpPr>
          <p:nvPr/>
        </p:nvSpPr>
        <p:spPr bwMode="auto">
          <a:xfrm>
            <a:off x="6781800" y="19812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812" name="Oval 132"/>
          <p:cNvSpPr>
            <a:spLocks noChangeArrowheads="1"/>
          </p:cNvSpPr>
          <p:nvPr/>
        </p:nvSpPr>
        <p:spPr bwMode="auto">
          <a:xfrm>
            <a:off x="7010400" y="19050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813" name="Oval 133"/>
          <p:cNvSpPr>
            <a:spLocks noChangeArrowheads="1"/>
          </p:cNvSpPr>
          <p:nvPr/>
        </p:nvSpPr>
        <p:spPr bwMode="auto">
          <a:xfrm>
            <a:off x="6705600" y="16764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814" name="Oval 134"/>
          <p:cNvSpPr>
            <a:spLocks noChangeArrowheads="1"/>
          </p:cNvSpPr>
          <p:nvPr/>
        </p:nvSpPr>
        <p:spPr bwMode="auto">
          <a:xfrm>
            <a:off x="6629400" y="19050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815" name="Oval 135"/>
          <p:cNvSpPr>
            <a:spLocks noChangeArrowheads="1"/>
          </p:cNvSpPr>
          <p:nvPr/>
        </p:nvSpPr>
        <p:spPr bwMode="auto">
          <a:xfrm>
            <a:off x="7086600" y="21336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816" name="Oval 136"/>
          <p:cNvSpPr>
            <a:spLocks noChangeArrowheads="1"/>
          </p:cNvSpPr>
          <p:nvPr/>
        </p:nvSpPr>
        <p:spPr bwMode="auto">
          <a:xfrm>
            <a:off x="7315200" y="20574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817" name="Oval 137"/>
          <p:cNvSpPr>
            <a:spLocks noChangeArrowheads="1"/>
          </p:cNvSpPr>
          <p:nvPr/>
        </p:nvSpPr>
        <p:spPr bwMode="auto">
          <a:xfrm>
            <a:off x="7010400" y="18288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818" name="Oval 138"/>
          <p:cNvSpPr>
            <a:spLocks noChangeArrowheads="1"/>
          </p:cNvSpPr>
          <p:nvPr/>
        </p:nvSpPr>
        <p:spPr bwMode="auto">
          <a:xfrm>
            <a:off x="6934200" y="20574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819" name="Oval 139"/>
          <p:cNvSpPr>
            <a:spLocks noChangeArrowheads="1"/>
          </p:cNvSpPr>
          <p:nvPr/>
        </p:nvSpPr>
        <p:spPr bwMode="auto">
          <a:xfrm>
            <a:off x="7239000" y="17526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820" name="Oval 140"/>
          <p:cNvSpPr>
            <a:spLocks noChangeArrowheads="1"/>
          </p:cNvSpPr>
          <p:nvPr/>
        </p:nvSpPr>
        <p:spPr bwMode="auto">
          <a:xfrm>
            <a:off x="7315200" y="16002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821" name="Oval 141"/>
          <p:cNvSpPr>
            <a:spLocks noChangeArrowheads="1"/>
          </p:cNvSpPr>
          <p:nvPr/>
        </p:nvSpPr>
        <p:spPr bwMode="auto">
          <a:xfrm>
            <a:off x="7010400" y="13716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822" name="Oval 142"/>
          <p:cNvSpPr>
            <a:spLocks noChangeArrowheads="1"/>
          </p:cNvSpPr>
          <p:nvPr/>
        </p:nvSpPr>
        <p:spPr bwMode="auto">
          <a:xfrm>
            <a:off x="6934200" y="16002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823" name="Oval 143"/>
          <p:cNvSpPr>
            <a:spLocks noChangeArrowheads="1"/>
          </p:cNvSpPr>
          <p:nvPr/>
        </p:nvSpPr>
        <p:spPr bwMode="auto">
          <a:xfrm>
            <a:off x="6705600" y="16764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824" name="Oval 144"/>
          <p:cNvSpPr>
            <a:spLocks noChangeArrowheads="1"/>
          </p:cNvSpPr>
          <p:nvPr/>
        </p:nvSpPr>
        <p:spPr bwMode="auto">
          <a:xfrm>
            <a:off x="6934200" y="16002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825" name="Oval 145"/>
          <p:cNvSpPr>
            <a:spLocks noChangeArrowheads="1"/>
          </p:cNvSpPr>
          <p:nvPr/>
        </p:nvSpPr>
        <p:spPr bwMode="auto">
          <a:xfrm>
            <a:off x="6629400" y="13716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826" name="Oval 146"/>
          <p:cNvSpPr>
            <a:spLocks noChangeArrowheads="1"/>
          </p:cNvSpPr>
          <p:nvPr/>
        </p:nvSpPr>
        <p:spPr bwMode="auto">
          <a:xfrm>
            <a:off x="6553200" y="16002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827" name="Oval 147"/>
          <p:cNvSpPr>
            <a:spLocks noChangeArrowheads="1"/>
          </p:cNvSpPr>
          <p:nvPr/>
        </p:nvSpPr>
        <p:spPr bwMode="auto">
          <a:xfrm>
            <a:off x="6705600" y="25146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828" name="Oval 148"/>
          <p:cNvSpPr>
            <a:spLocks noChangeArrowheads="1"/>
          </p:cNvSpPr>
          <p:nvPr/>
        </p:nvSpPr>
        <p:spPr bwMode="auto">
          <a:xfrm>
            <a:off x="7772400" y="27432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829" name="Oval 149"/>
          <p:cNvSpPr>
            <a:spLocks noChangeArrowheads="1"/>
          </p:cNvSpPr>
          <p:nvPr/>
        </p:nvSpPr>
        <p:spPr bwMode="auto">
          <a:xfrm>
            <a:off x="6629400" y="22098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830" name="Oval 150"/>
          <p:cNvSpPr>
            <a:spLocks noChangeArrowheads="1"/>
          </p:cNvSpPr>
          <p:nvPr/>
        </p:nvSpPr>
        <p:spPr bwMode="auto">
          <a:xfrm>
            <a:off x="6553200" y="24384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831" name="Oval 151"/>
          <p:cNvSpPr>
            <a:spLocks noChangeArrowheads="1"/>
          </p:cNvSpPr>
          <p:nvPr/>
        </p:nvSpPr>
        <p:spPr bwMode="auto">
          <a:xfrm>
            <a:off x="5715000" y="12192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832" name="Rectangle 152"/>
          <p:cNvSpPr>
            <a:spLocks noChangeArrowheads="1"/>
          </p:cNvSpPr>
          <p:nvPr/>
        </p:nvSpPr>
        <p:spPr bwMode="auto">
          <a:xfrm>
            <a:off x="1524000" y="762000"/>
            <a:ext cx="1219200" cy="12192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833" name="Rectangle 153"/>
          <p:cNvSpPr>
            <a:spLocks noChangeArrowheads="1"/>
          </p:cNvSpPr>
          <p:nvPr/>
        </p:nvSpPr>
        <p:spPr bwMode="auto">
          <a:xfrm>
            <a:off x="2133600" y="1066800"/>
            <a:ext cx="914400" cy="12192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834" name="Line 154"/>
          <p:cNvSpPr>
            <a:spLocks noChangeShapeType="1"/>
          </p:cNvSpPr>
          <p:nvPr/>
        </p:nvSpPr>
        <p:spPr bwMode="auto">
          <a:xfrm>
            <a:off x="1219200" y="3429000"/>
            <a:ext cx="259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835" name="Freeform 155"/>
          <p:cNvSpPr>
            <a:spLocks/>
          </p:cNvSpPr>
          <p:nvPr/>
        </p:nvSpPr>
        <p:spPr bwMode="auto">
          <a:xfrm>
            <a:off x="1528763" y="3327400"/>
            <a:ext cx="1557337" cy="109538"/>
          </a:xfrm>
          <a:custGeom>
            <a:avLst/>
            <a:gdLst>
              <a:gd name="T0" fmla="*/ 0 w 981"/>
              <a:gd name="T1" fmla="*/ 67 h 69"/>
              <a:gd name="T2" fmla="*/ 52 w 981"/>
              <a:gd name="T3" fmla="*/ 52 h 69"/>
              <a:gd name="T4" fmla="*/ 59 w 981"/>
              <a:gd name="T5" fmla="*/ 30 h 69"/>
              <a:gd name="T6" fmla="*/ 111 w 981"/>
              <a:gd name="T7" fmla="*/ 15 h 69"/>
              <a:gd name="T8" fmla="*/ 792 w 981"/>
              <a:gd name="T9" fmla="*/ 8 h 69"/>
              <a:gd name="T10" fmla="*/ 926 w 981"/>
              <a:gd name="T11" fmla="*/ 15 h 69"/>
              <a:gd name="T12" fmla="*/ 941 w 981"/>
              <a:gd name="T13" fmla="*/ 67 h 69"/>
              <a:gd name="T14" fmla="*/ 778 w 981"/>
              <a:gd name="T15" fmla="*/ 67 h 69"/>
              <a:gd name="T16" fmla="*/ 0 w 981"/>
              <a:gd name="T17" fmla="*/ 67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981" h="69">
                <a:moveTo>
                  <a:pt x="0" y="67"/>
                </a:moveTo>
                <a:cubicBezTo>
                  <a:pt x="3" y="66"/>
                  <a:pt x="47" y="57"/>
                  <a:pt x="52" y="52"/>
                </a:cubicBezTo>
                <a:cubicBezTo>
                  <a:pt x="57" y="46"/>
                  <a:pt x="54" y="35"/>
                  <a:pt x="59" y="30"/>
                </a:cubicBezTo>
                <a:cubicBezTo>
                  <a:pt x="72" y="17"/>
                  <a:pt x="94" y="20"/>
                  <a:pt x="111" y="15"/>
                </a:cubicBezTo>
                <a:cubicBezTo>
                  <a:pt x="326" y="34"/>
                  <a:pt x="603" y="11"/>
                  <a:pt x="792" y="8"/>
                </a:cubicBezTo>
                <a:cubicBezTo>
                  <a:pt x="839" y="0"/>
                  <a:pt x="879" y="0"/>
                  <a:pt x="926" y="15"/>
                </a:cubicBezTo>
                <a:cubicBezTo>
                  <a:pt x="957" y="36"/>
                  <a:pt x="981" y="40"/>
                  <a:pt x="941" y="67"/>
                </a:cubicBezTo>
                <a:cubicBezTo>
                  <a:pt x="862" y="48"/>
                  <a:pt x="948" y="66"/>
                  <a:pt x="778" y="67"/>
                </a:cubicBezTo>
                <a:cubicBezTo>
                  <a:pt x="519" y="69"/>
                  <a:pt x="259" y="67"/>
                  <a:pt x="0" y="67"/>
                </a:cubicBezTo>
                <a:close/>
              </a:path>
            </a:pathLst>
          </a:cu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836" name="Line 156"/>
          <p:cNvSpPr>
            <a:spLocks noChangeShapeType="1"/>
          </p:cNvSpPr>
          <p:nvPr/>
        </p:nvSpPr>
        <p:spPr bwMode="auto">
          <a:xfrm>
            <a:off x="4267200" y="381000"/>
            <a:ext cx="0" cy="2819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5837" name="Freeform 157"/>
          <p:cNvSpPr>
            <a:spLocks/>
          </p:cNvSpPr>
          <p:nvPr/>
        </p:nvSpPr>
        <p:spPr bwMode="auto">
          <a:xfrm>
            <a:off x="4114800" y="752475"/>
            <a:ext cx="198438" cy="1522413"/>
          </a:xfrm>
          <a:custGeom>
            <a:avLst/>
            <a:gdLst>
              <a:gd name="T0" fmla="*/ 97 w 125"/>
              <a:gd name="T1" fmla="*/ 0 h 959"/>
              <a:gd name="T2" fmla="*/ 82 w 125"/>
              <a:gd name="T3" fmla="*/ 22 h 959"/>
              <a:gd name="T4" fmla="*/ 67 w 125"/>
              <a:gd name="T5" fmla="*/ 67 h 959"/>
              <a:gd name="T6" fmla="*/ 8 w 125"/>
              <a:gd name="T7" fmla="*/ 393 h 959"/>
              <a:gd name="T8" fmla="*/ 0 w 125"/>
              <a:gd name="T9" fmla="*/ 571 h 959"/>
              <a:gd name="T10" fmla="*/ 37 w 125"/>
              <a:gd name="T11" fmla="*/ 859 h 959"/>
              <a:gd name="T12" fmla="*/ 82 w 125"/>
              <a:gd name="T13" fmla="*/ 956 h 959"/>
              <a:gd name="T14" fmla="*/ 89 w 125"/>
              <a:gd name="T15" fmla="*/ 911 h 959"/>
              <a:gd name="T16" fmla="*/ 97 w 125"/>
              <a:gd name="T17" fmla="*/ 874 h 959"/>
              <a:gd name="T18" fmla="*/ 89 w 125"/>
              <a:gd name="T19" fmla="*/ 148 h 959"/>
              <a:gd name="T20" fmla="*/ 97 w 125"/>
              <a:gd name="T21" fmla="*/ 0 h 9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25" h="959">
                <a:moveTo>
                  <a:pt x="97" y="0"/>
                </a:moveTo>
                <a:cubicBezTo>
                  <a:pt x="92" y="7"/>
                  <a:pt x="86" y="14"/>
                  <a:pt x="82" y="22"/>
                </a:cubicBezTo>
                <a:cubicBezTo>
                  <a:pt x="76" y="36"/>
                  <a:pt x="67" y="67"/>
                  <a:pt x="67" y="67"/>
                </a:cubicBezTo>
                <a:cubicBezTo>
                  <a:pt x="59" y="183"/>
                  <a:pt x="41" y="283"/>
                  <a:pt x="8" y="393"/>
                </a:cubicBezTo>
                <a:cubicBezTo>
                  <a:pt x="5" y="452"/>
                  <a:pt x="0" y="512"/>
                  <a:pt x="0" y="571"/>
                </a:cubicBezTo>
                <a:cubicBezTo>
                  <a:pt x="0" y="667"/>
                  <a:pt x="14" y="765"/>
                  <a:pt x="37" y="859"/>
                </a:cubicBezTo>
                <a:cubicBezTo>
                  <a:pt x="45" y="893"/>
                  <a:pt x="54" y="937"/>
                  <a:pt x="82" y="956"/>
                </a:cubicBezTo>
                <a:cubicBezTo>
                  <a:pt x="114" y="906"/>
                  <a:pt x="89" y="959"/>
                  <a:pt x="89" y="911"/>
                </a:cubicBezTo>
                <a:cubicBezTo>
                  <a:pt x="89" y="898"/>
                  <a:pt x="94" y="886"/>
                  <a:pt x="97" y="874"/>
                </a:cubicBezTo>
                <a:cubicBezTo>
                  <a:pt x="100" y="647"/>
                  <a:pt x="125" y="384"/>
                  <a:pt x="89" y="148"/>
                </a:cubicBezTo>
                <a:cubicBezTo>
                  <a:pt x="98" y="30"/>
                  <a:pt x="97" y="79"/>
                  <a:pt x="97" y="0"/>
                </a:cubicBezTo>
                <a:close/>
              </a:path>
            </a:pathLst>
          </a:cu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605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57E42-FA87-4319-BF1A-D09ADFC39CCF}" type="datetime4">
              <a:rPr lang="en-US" altLang="en-US"/>
              <a:pPr/>
              <a:t>April 27, 2018</a:t>
            </a:fld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6E78E-C400-4F75-8D65-6DFBEF111197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1736706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04800"/>
            <a:ext cx="6873875" cy="650875"/>
          </a:xfrm>
        </p:spPr>
        <p:txBody>
          <a:bodyPr/>
          <a:lstStyle/>
          <a:p>
            <a:r>
              <a:rPr lang="en-US" altLang="en-US" sz="3200"/>
              <a:t>Strength and Weakness of </a:t>
            </a:r>
            <a:r>
              <a:rPr lang="en-US" altLang="en-US" sz="3200" i="1"/>
              <a:t>CLIQUE</a:t>
            </a:r>
            <a:endParaRPr lang="en-US" altLang="en-US" sz="2100" b="1"/>
          </a:p>
        </p:txBody>
      </p:sp>
      <p:sp>
        <p:nvSpPr>
          <p:cNvPr id="1736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458200" cy="4953000"/>
          </a:xfrm>
        </p:spPr>
        <p:txBody>
          <a:bodyPr/>
          <a:lstStyle/>
          <a:p>
            <a:r>
              <a:rPr lang="en-US" altLang="en-US" sz="2400" u="sng"/>
              <a:t>Strength</a:t>
            </a:r>
            <a:r>
              <a:rPr lang="en-US" altLang="en-US" sz="2400"/>
              <a:t> </a:t>
            </a:r>
          </a:p>
          <a:p>
            <a:pPr lvl="1"/>
            <a:r>
              <a:rPr lang="en-US" altLang="en-US" sz="2400" i="1" u="sng"/>
              <a:t>automatically</a:t>
            </a:r>
            <a:r>
              <a:rPr lang="en-US" altLang="en-US" sz="2400" u="sng"/>
              <a:t> finds subspaces of the</a:t>
            </a:r>
            <a:r>
              <a:rPr lang="en-US" altLang="en-US" sz="2400"/>
              <a:t> </a:t>
            </a:r>
            <a:r>
              <a:rPr lang="en-US" altLang="en-US" sz="2400" u="sng"/>
              <a:t>highest dimensionality</a:t>
            </a:r>
            <a:r>
              <a:rPr lang="en-US" altLang="en-US" sz="2400"/>
              <a:t> such that high density clusters exist in those subspaces</a:t>
            </a:r>
          </a:p>
          <a:p>
            <a:pPr lvl="1"/>
            <a:r>
              <a:rPr lang="en-US" altLang="en-US" sz="2400" i="1"/>
              <a:t>insensitive</a:t>
            </a:r>
            <a:r>
              <a:rPr lang="en-US" altLang="en-US" sz="2400"/>
              <a:t> to the order of records in input and does not presume some canonical data distribution</a:t>
            </a:r>
          </a:p>
          <a:p>
            <a:pPr lvl="1"/>
            <a:r>
              <a:rPr lang="en-US" altLang="en-US" sz="2400"/>
              <a:t>scales</a:t>
            </a:r>
            <a:r>
              <a:rPr lang="en-US" altLang="en-US" sz="2400" i="1"/>
              <a:t> linearly</a:t>
            </a:r>
            <a:r>
              <a:rPr lang="en-US" altLang="en-US" sz="2400"/>
              <a:t> with the size of input and has good scalability as the number of dimensions in the data increases</a:t>
            </a:r>
          </a:p>
          <a:p>
            <a:r>
              <a:rPr lang="en-US" altLang="en-US" sz="2400" u="sng"/>
              <a:t>Weakness</a:t>
            </a:r>
            <a:endParaRPr lang="en-US" altLang="en-US" sz="2400"/>
          </a:p>
          <a:p>
            <a:pPr lvl="1"/>
            <a:r>
              <a:rPr lang="en-US" altLang="en-US" sz="2400"/>
              <a:t>The accuracy of the clustering result may be degraded at the expense of simplicity of the method</a:t>
            </a:r>
          </a:p>
        </p:txBody>
      </p:sp>
    </p:spTree>
    <p:extLst>
      <p:ext uri="{BB962C8B-B14F-4D97-AF65-F5344CB8AC3E}">
        <p14:creationId xmlns:p14="http://schemas.microsoft.com/office/powerpoint/2010/main" val="3164845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BB84D-750E-40B1-97ED-CD078E2477D4}" type="datetime4">
              <a:rPr lang="en-US" altLang="en-US"/>
              <a:pPr/>
              <a:t>April 27, 2018</a:t>
            </a:fld>
            <a:endParaRPr lang="en-US" altLang="en-US"/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E4B4B-AB76-4F94-B968-382F1AD14E86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1505282" name="Rectangle 1026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 anchor="ctr"/>
          <a:lstStyle/>
          <a:p>
            <a:r>
              <a:rPr lang="en-US" altLang="zh-CN" sz="3200">
                <a:ea typeface="SimSun" panose="02010600030101010101" pitchFamily="2" charset="-122"/>
              </a:rPr>
              <a:t>DENCLUE: Using Statistical Density Functions</a:t>
            </a:r>
            <a:endParaRPr lang="en-US" altLang="zh-CN" sz="2400">
              <a:ea typeface="SimSun" panose="02010600030101010101" pitchFamily="2" charset="-122"/>
            </a:endParaRPr>
          </a:p>
        </p:txBody>
      </p:sp>
      <p:sp>
        <p:nvSpPr>
          <p:cNvPr id="1505283" name="Rectangle 1027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371600"/>
            <a:ext cx="8382000" cy="5105400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120000"/>
              </a:lnSpc>
            </a:pPr>
            <a:r>
              <a:rPr lang="en-US" altLang="zh-CN" sz="2000">
                <a:ea typeface="SimSun" panose="02010600030101010101" pitchFamily="2" charset="-122"/>
              </a:rPr>
              <a:t>DENsity-based CLUstEring by Hinneburg &amp; Keim  (KDD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’</a:t>
            </a:r>
            <a:r>
              <a:rPr lang="en-US" altLang="zh-CN" sz="2000">
                <a:ea typeface="SimSun" panose="02010600030101010101" pitchFamily="2" charset="-122"/>
              </a:rPr>
              <a:t>98)</a:t>
            </a:r>
          </a:p>
          <a:p>
            <a:pPr>
              <a:lnSpc>
                <a:spcPct val="120000"/>
              </a:lnSpc>
            </a:pPr>
            <a:r>
              <a:rPr lang="en-US" altLang="zh-CN" sz="2000">
                <a:ea typeface="SimSun" panose="02010600030101010101" pitchFamily="2" charset="-122"/>
              </a:rPr>
              <a:t>Using statistical density functions:</a:t>
            </a:r>
          </a:p>
          <a:p>
            <a:pPr>
              <a:lnSpc>
                <a:spcPct val="120000"/>
              </a:lnSpc>
            </a:pPr>
            <a:endParaRPr lang="en-US" altLang="zh-CN" sz="2000">
              <a:ea typeface="SimSun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en-US" altLang="zh-CN" sz="2000">
              <a:ea typeface="SimSun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en-US" altLang="zh-CN" sz="2000">
              <a:ea typeface="SimSun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>
                <a:ea typeface="SimSun" panose="02010600030101010101" pitchFamily="2" charset="-122"/>
              </a:rPr>
              <a:t>Major features</a:t>
            </a:r>
          </a:p>
          <a:p>
            <a:pPr lvl="1">
              <a:lnSpc>
                <a:spcPct val="120000"/>
              </a:lnSpc>
            </a:pPr>
            <a:r>
              <a:rPr lang="en-US" altLang="zh-CN" sz="2000">
                <a:ea typeface="SimSun" panose="02010600030101010101" pitchFamily="2" charset="-122"/>
              </a:rPr>
              <a:t>Solid mathematical foundation</a:t>
            </a:r>
          </a:p>
          <a:p>
            <a:pPr lvl="1">
              <a:lnSpc>
                <a:spcPct val="120000"/>
              </a:lnSpc>
            </a:pPr>
            <a:r>
              <a:rPr lang="en-US" altLang="zh-CN" sz="2000">
                <a:ea typeface="SimSun" panose="02010600030101010101" pitchFamily="2" charset="-122"/>
              </a:rPr>
              <a:t>Good for data sets with large amounts of noise</a:t>
            </a:r>
          </a:p>
          <a:p>
            <a:pPr lvl="1">
              <a:lnSpc>
                <a:spcPct val="120000"/>
              </a:lnSpc>
            </a:pPr>
            <a:r>
              <a:rPr lang="en-US" altLang="zh-CN" sz="2000">
                <a:ea typeface="SimSun" panose="02010600030101010101" pitchFamily="2" charset="-122"/>
              </a:rPr>
              <a:t>Allows a compact mathematical description of arbitrarily shaped clusters in high-dimensional data sets</a:t>
            </a:r>
          </a:p>
          <a:p>
            <a:pPr lvl="1">
              <a:lnSpc>
                <a:spcPct val="120000"/>
              </a:lnSpc>
            </a:pPr>
            <a:r>
              <a:rPr lang="en-US" altLang="zh-CN" sz="2000">
                <a:ea typeface="SimSun" panose="02010600030101010101" pitchFamily="2" charset="-122"/>
              </a:rPr>
              <a:t>Significant faster than existing algorithm (e.g., DBSCAN)</a:t>
            </a:r>
          </a:p>
          <a:p>
            <a:pPr lvl="1">
              <a:lnSpc>
                <a:spcPct val="120000"/>
              </a:lnSpc>
            </a:pPr>
            <a:r>
              <a:rPr lang="en-US" altLang="zh-CN" sz="2000">
                <a:ea typeface="SimSun" panose="02010600030101010101" pitchFamily="2" charset="-122"/>
              </a:rPr>
              <a:t>But needs a large number of parameters</a:t>
            </a:r>
          </a:p>
        </p:txBody>
      </p:sp>
      <p:graphicFrame>
        <p:nvGraphicFramePr>
          <p:cNvPr id="1505284" name="Object 1028"/>
          <p:cNvGraphicFramePr>
            <a:graphicFrameLocks noGrp="1"/>
          </p:cNvGraphicFramePr>
          <p:nvPr>
            <p:ph sz="quarter" idx="2"/>
          </p:nvPr>
        </p:nvGraphicFramePr>
        <p:xfrm>
          <a:off x="4876800" y="1752600"/>
          <a:ext cx="220980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42" name="Equation" r:id="rId3" imgW="1523880" imgH="380880" progId="Equation.2">
                  <p:embed/>
                </p:oleObj>
              </mc:Choice>
              <mc:Fallback>
                <p:oleObj name="Equation" r:id="rId3" imgW="1523880" imgH="380880" progId="Equation.2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1752600"/>
                        <a:ext cx="2209800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286" name="Object 1030"/>
          <p:cNvGraphicFramePr>
            <a:graphicFrameLocks noGrp="1"/>
          </p:cNvGraphicFramePr>
          <p:nvPr>
            <p:ph sz="quarter" idx="3"/>
          </p:nvPr>
        </p:nvGraphicFramePr>
        <p:xfrm>
          <a:off x="4800600" y="2438400"/>
          <a:ext cx="38100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43" name="Equation" r:id="rId5" imgW="6306840" imgH="1515960" progId="Equation.3">
                  <p:embed/>
                </p:oleObj>
              </mc:Choice>
              <mc:Fallback>
                <p:oleObj name="Equation" r:id="rId5" imgW="6306840" imgH="151596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2438400"/>
                        <a:ext cx="38100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288" name="Object 1032"/>
          <p:cNvGraphicFramePr>
            <a:graphicFrameLocks/>
          </p:cNvGraphicFramePr>
          <p:nvPr/>
        </p:nvGraphicFramePr>
        <p:xfrm>
          <a:off x="4787900" y="3200400"/>
          <a:ext cx="43561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44" name="Equation" r:id="rId7" imgW="8546760" imgH="1536480" progId="Equation.3">
                  <p:embed/>
                </p:oleObj>
              </mc:Choice>
              <mc:Fallback>
                <p:oleObj name="Equation" r:id="rId7" imgW="8546760" imgH="153648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3200400"/>
                        <a:ext cx="43561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18257804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9F52E-5AB1-4C67-B31D-48EC092BA5A5}" type="datetime4">
              <a:rPr lang="en-US" altLang="en-US"/>
              <a:pPr/>
              <a:t>April 27, 2018</a:t>
            </a:fld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FEABE-05D6-4360-9B34-3BA4822194C8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15063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229600" cy="4953000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110000"/>
              </a:lnSpc>
            </a:pPr>
            <a:r>
              <a:rPr lang="en-US" altLang="zh-CN" sz="2400">
                <a:ea typeface="SimSun" panose="02010600030101010101" pitchFamily="2" charset="-122"/>
              </a:rPr>
              <a:t>Uses grid cells but only keeps information about grid cells that do actually contain data points and manages these cells in a tree-based access structure</a:t>
            </a:r>
          </a:p>
          <a:p>
            <a:pPr>
              <a:lnSpc>
                <a:spcPct val="110000"/>
              </a:lnSpc>
            </a:pPr>
            <a:r>
              <a:rPr lang="en-US" altLang="zh-CN" sz="2400">
                <a:ea typeface="SimSun" panose="02010600030101010101" pitchFamily="2" charset="-122"/>
              </a:rPr>
              <a:t>Influence function: describes the impact of a data point within its neighborhood</a:t>
            </a:r>
          </a:p>
          <a:p>
            <a:pPr>
              <a:lnSpc>
                <a:spcPct val="110000"/>
              </a:lnSpc>
            </a:pPr>
            <a:r>
              <a:rPr lang="en-US" altLang="zh-CN" sz="2400">
                <a:ea typeface="SimSun" panose="02010600030101010101" pitchFamily="2" charset="-122"/>
              </a:rPr>
              <a:t>Overall density of the data space can be calculated as the sum of the influence function of all data points</a:t>
            </a:r>
          </a:p>
          <a:p>
            <a:pPr>
              <a:lnSpc>
                <a:spcPct val="110000"/>
              </a:lnSpc>
            </a:pPr>
            <a:r>
              <a:rPr lang="en-US" altLang="zh-CN" sz="2400">
                <a:ea typeface="SimSun" panose="02010600030101010101" pitchFamily="2" charset="-122"/>
              </a:rPr>
              <a:t>Clusters can be determined mathematically by identifying density attractors</a:t>
            </a:r>
          </a:p>
          <a:p>
            <a:pPr>
              <a:lnSpc>
                <a:spcPct val="110000"/>
              </a:lnSpc>
            </a:pPr>
            <a:r>
              <a:rPr lang="en-US" altLang="zh-CN" sz="2400">
                <a:ea typeface="SimSun" panose="02010600030101010101" pitchFamily="2" charset="-122"/>
              </a:rPr>
              <a:t>Density attractors are local maximal of the overall density function</a:t>
            </a:r>
          </a:p>
        </p:txBody>
      </p:sp>
      <p:sp>
        <p:nvSpPr>
          <p:cNvPr id="150630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SimSun" panose="02010600030101010101" pitchFamily="2" charset="-122"/>
              </a:rPr>
              <a:t>Denclue: Technical Essence</a:t>
            </a:r>
          </a:p>
        </p:txBody>
      </p:sp>
    </p:spTree>
    <p:extLst>
      <p:ext uri="{BB962C8B-B14F-4D97-AF65-F5344CB8AC3E}">
        <p14:creationId xmlns:p14="http://schemas.microsoft.com/office/powerpoint/2010/main" val="467990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8F1F5-490A-421E-BBAA-0248F6D4F172}" type="datetime4">
              <a:rPr lang="en-US" altLang="en-US"/>
              <a:pPr/>
              <a:t>April 27, 2018</a:t>
            </a:fld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7A6D-33C5-412C-8B54-76427390B244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1386498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0" y="457200"/>
            <a:ext cx="3657600" cy="6096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Summary</a:t>
            </a:r>
          </a:p>
        </p:txBody>
      </p:sp>
      <p:sp>
        <p:nvSpPr>
          <p:cNvPr id="138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382000" cy="4953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2400">
                <a:solidFill>
                  <a:schemeClr val="hlink"/>
                </a:solidFill>
              </a:rPr>
              <a:t>Cluster analysis</a:t>
            </a:r>
            <a:r>
              <a:rPr lang="en-US" altLang="en-US" sz="2400"/>
              <a:t> groups objects based on their </a:t>
            </a:r>
            <a:r>
              <a:rPr lang="en-US" altLang="en-US" sz="2400">
                <a:solidFill>
                  <a:schemeClr val="hlink"/>
                </a:solidFill>
              </a:rPr>
              <a:t>similarity</a:t>
            </a:r>
            <a:r>
              <a:rPr lang="en-US" altLang="en-US" sz="2400"/>
              <a:t>  and has wide applications</a:t>
            </a:r>
          </a:p>
          <a:p>
            <a:pPr>
              <a:lnSpc>
                <a:spcPct val="110000"/>
              </a:lnSpc>
            </a:pPr>
            <a:r>
              <a:rPr lang="en-US" altLang="en-US" sz="2400"/>
              <a:t>Measure of similarity can be computed for </a:t>
            </a:r>
            <a:r>
              <a:rPr lang="en-US" altLang="en-US" sz="2400">
                <a:solidFill>
                  <a:schemeClr val="hlink"/>
                </a:solidFill>
              </a:rPr>
              <a:t>various types of data</a:t>
            </a:r>
          </a:p>
          <a:p>
            <a:pPr>
              <a:lnSpc>
                <a:spcPct val="110000"/>
              </a:lnSpc>
            </a:pPr>
            <a:r>
              <a:rPr lang="en-US" altLang="en-US" sz="2400"/>
              <a:t>Clustering algorithms can be </a:t>
            </a:r>
            <a:r>
              <a:rPr lang="en-US" altLang="en-US" sz="2400">
                <a:solidFill>
                  <a:schemeClr val="hlink"/>
                </a:solidFill>
              </a:rPr>
              <a:t>categorized</a:t>
            </a:r>
            <a:r>
              <a:rPr lang="en-US" altLang="en-US" sz="2400"/>
              <a:t> into partitioning methods, hierarchical methods, density-based methods, grid-based methods, and model-based methods</a:t>
            </a:r>
          </a:p>
          <a:p>
            <a:pPr>
              <a:lnSpc>
                <a:spcPct val="110000"/>
              </a:lnSpc>
            </a:pPr>
            <a:r>
              <a:rPr lang="en-US" altLang="en-US" sz="2400">
                <a:solidFill>
                  <a:schemeClr val="hlink"/>
                </a:solidFill>
              </a:rPr>
              <a:t>Outlier detection</a:t>
            </a:r>
            <a:r>
              <a:rPr lang="en-US" altLang="en-US" sz="2400"/>
              <a:t> and analysis are very useful for fraud detection, etc. and can be performed by statistical, distance-based or deviation-based approaches</a:t>
            </a:r>
          </a:p>
          <a:p>
            <a:pPr>
              <a:lnSpc>
                <a:spcPct val="110000"/>
              </a:lnSpc>
            </a:pPr>
            <a:r>
              <a:rPr lang="en-US" altLang="en-US" sz="2400"/>
              <a:t>There are still lots of research issues on cluster analysis</a:t>
            </a:r>
          </a:p>
        </p:txBody>
      </p:sp>
    </p:spTree>
    <p:extLst>
      <p:ext uri="{BB962C8B-B14F-4D97-AF65-F5344CB8AC3E}">
        <p14:creationId xmlns:p14="http://schemas.microsoft.com/office/powerpoint/2010/main" val="3327337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2660</TotalTime>
  <Words>1291</Words>
  <Application>Microsoft Office PowerPoint</Application>
  <PresentationFormat>On-screen Show (4:3)</PresentationFormat>
  <Paragraphs>249</Paragraphs>
  <Slides>39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39</vt:i4>
      </vt:variant>
    </vt:vector>
  </HeadingPairs>
  <TitlesOfParts>
    <vt:vector size="52" baseType="lpstr">
      <vt:lpstr>SimSun</vt:lpstr>
      <vt:lpstr>Arial</vt:lpstr>
      <vt:lpstr>Arial Rounded MT Bold</vt:lpstr>
      <vt:lpstr>Calibri</vt:lpstr>
      <vt:lpstr>Monotype Sorts</vt:lpstr>
      <vt:lpstr>Symbol</vt:lpstr>
      <vt:lpstr>Tahoma</vt:lpstr>
      <vt:lpstr>Times New Roman</vt:lpstr>
      <vt:lpstr>Wingdings</vt:lpstr>
      <vt:lpstr>Office Theme</vt:lpstr>
      <vt:lpstr>MSPhotoEd.3</vt:lpstr>
      <vt:lpstr>Equation</vt:lpstr>
      <vt:lpstr>Bitmap Image</vt:lpstr>
      <vt:lpstr>Advanced Clustering</vt:lpstr>
      <vt:lpstr>Chameleon: Clustering Using Dynamic Modeling</vt:lpstr>
      <vt:lpstr>Limitations of Current Merging Schemes</vt:lpstr>
      <vt:lpstr>Chameleon:  Steps</vt:lpstr>
      <vt:lpstr>Chameleon:  Steps … </vt:lpstr>
      <vt:lpstr>Relative Closeness</vt:lpstr>
      <vt:lpstr>Relative Interconnectivity</vt:lpstr>
      <vt:lpstr>PowerPoint Presentation</vt:lpstr>
      <vt:lpstr>PowerPoint Presentation</vt:lpstr>
      <vt:lpstr>Characteristics of Spatial Data Sets</vt:lpstr>
      <vt:lpstr>Experimental Results: CHAMELEON</vt:lpstr>
      <vt:lpstr>Experimental Results:</vt:lpstr>
      <vt:lpstr>Experimental Results:</vt:lpstr>
      <vt:lpstr>Shared Near Neighbor Approach</vt:lpstr>
      <vt:lpstr>PowerPoint Presentation</vt:lpstr>
      <vt:lpstr>PowerPoint Presentation</vt:lpstr>
      <vt:lpstr>Creating the SNN Graph</vt:lpstr>
      <vt:lpstr>Jarvis-Patrick Clustering</vt:lpstr>
      <vt:lpstr>PowerPoint Presentation</vt:lpstr>
      <vt:lpstr>PowerPoint Presentation</vt:lpstr>
      <vt:lpstr>When Jarvis-Patrick Works Reasonably Well</vt:lpstr>
      <vt:lpstr>When Jarvis-Patrick Does NOT Work Well</vt:lpstr>
      <vt:lpstr>SNN Density Clustering Algorithm</vt:lpstr>
      <vt:lpstr>SNN Clustering Algorithm  …</vt:lpstr>
      <vt:lpstr>SNN Density</vt:lpstr>
      <vt:lpstr>SNN Clustering Can Handle Differing Densities</vt:lpstr>
      <vt:lpstr>SNN Clustering Can Handle Other Difficult Situations</vt:lpstr>
      <vt:lpstr>Finding Clusters of Time Series In Spatio-Temporal Data</vt:lpstr>
      <vt:lpstr>Features and Limitations of SNN Clustering</vt:lpstr>
      <vt:lpstr>Clustering High-Dimensional Data</vt:lpstr>
      <vt:lpstr>The Curse of Dimensionality  (graphs adapted from Parsons et al. KDD Explorations 2004)</vt:lpstr>
      <vt:lpstr>Why Subspace Clustering? (adapted from Parsons et al. SIGKDD Explorations 2004)</vt:lpstr>
      <vt:lpstr>CLIQUE (Clustering In QUEst) </vt:lpstr>
      <vt:lpstr>CLIQUE: The Major Steps</vt:lpstr>
      <vt:lpstr>PowerPoint Presentation</vt:lpstr>
      <vt:lpstr>Strength and Weakness of CLIQUE</vt:lpstr>
      <vt:lpstr>DENCLUE: Using Statistical Density Functions</vt:lpstr>
      <vt:lpstr>Denclue: Technical Essence</vt:lpstr>
      <vt:lpstr>Summary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User</cp:lastModifiedBy>
  <cp:revision>80</cp:revision>
  <dcterms:created xsi:type="dcterms:W3CDTF">2016-03-31T23:17:38Z</dcterms:created>
  <dcterms:modified xsi:type="dcterms:W3CDTF">2018-04-27T10:08:29Z</dcterms:modified>
</cp:coreProperties>
</file>