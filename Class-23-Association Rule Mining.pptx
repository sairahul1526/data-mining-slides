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48"/>
  </p:notesMasterIdLst>
  <p:sldIdLst>
    <p:sldId id="256" r:id="rId2"/>
    <p:sldId id="335" r:id="rId3"/>
    <p:sldId id="260" r:id="rId4"/>
    <p:sldId id="304" r:id="rId5"/>
    <p:sldId id="261" r:id="rId6"/>
    <p:sldId id="262" r:id="rId7"/>
    <p:sldId id="263" r:id="rId8"/>
    <p:sldId id="267" r:id="rId9"/>
    <p:sldId id="276" r:id="rId10"/>
    <p:sldId id="268" r:id="rId11"/>
    <p:sldId id="269" r:id="rId12"/>
    <p:sldId id="273" r:id="rId13"/>
    <p:sldId id="270" r:id="rId14"/>
    <p:sldId id="305" r:id="rId15"/>
    <p:sldId id="274" r:id="rId16"/>
    <p:sldId id="275" r:id="rId17"/>
    <p:sldId id="339" r:id="rId18"/>
    <p:sldId id="336" r:id="rId19"/>
    <p:sldId id="337" r:id="rId20"/>
    <p:sldId id="338" r:id="rId21"/>
    <p:sldId id="332" r:id="rId22"/>
    <p:sldId id="333" r:id="rId23"/>
    <p:sldId id="334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77138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0D7F308-6E47-4D76-9E52-41B4AC0F7E93}" type="slidenum">
              <a:rPr lang="en-GB"/>
              <a:pPr/>
              <a:t>26</a:t>
            </a:fld>
            <a:endParaRPr lang="en-GB"/>
          </a:p>
        </p:txBody>
      </p:sp>
      <p:sp>
        <p:nvSpPr>
          <p:cNvPr id="95233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62E1B3F4-88B3-47C8-918B-F95D17E9A80E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26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5235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90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8660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62652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165115B-5636-420C-81C7-CE7DFD6BF3D6}" type="slidenum">
              <a:rPr lang="en-GB"/>
              <a:pPr/>
              <a:t>31</a:t>
            </a:fld>
            <a:endParaRPr lang="en-GB"/>
          </a:p>
        </p:txBody>
      </p:sp>
      <p:sp>
        <p:nvSpPr>
          <p:cNvPr id="96257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ED69D6B5-D2EE-4F89-BE3D-F6BCB52B33B5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31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6259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72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8DF41F8-C733-4E28-96EC-B11BB87154B1}" type="slidenum">
              <a:rPr lang="en-GB"/>
              <a:pPr/>
              <a:t>32</a:t>
            </a:fld>
            <a:endParaRPr lang="en-GB"/>
          </a:p>
        </p:txBody>
      </p:sp>
      <p:sp>
        <p:nvSpPr>
          <p:cNvPr id="97281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9CF00A34-251A-440E-BA55-323B632749FE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32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7283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65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0FC040F-1C7E-4CFF-9DF6-BF767E31B63F}" type="slidenum">
              <a:rPr lang="en-GB"/>
              <a:pPr/>
              <a:t>33</a:t>
            </a:fld>
            <a:endParaRPr lang="en-GB"/>
          </a:p>
        </p:txBody>
      </p:sp>
      <p:sp>
        <p:nvSpPr>
          <p:cNvPr id="98305" name="Text Box 1"/>
          <p:cNvSpPr txBox="1">
            <a:spLocks noChangeArrowheads="1"/>
          </p:cNvSpPr>
          <p:nvPr/>
        </p:nvSpPr>
        <p:spPr bwMode="auto">
          <a:xfrm>
            <a:off x="3660826" y="8420630"/>
            <a:ext cx="2800599" cy="4432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6202" tIns="44825" rIns="86202" bIns="44825" anchor="b"/>
          <a:lstStyle/>
          <a:p>
            <a:pPr algn="r">
              <a:tabLst>
                <a:tab pos="0" algn="l"/>
                <a:tab pos="875812" algn="l"/>
                <a:tab pos="1751625" algn="l"/>
                <a:tab pos="2627437" algn="l"/>
                <a:tab pos="3503249" algn="l"/>
                <a:tab pos="4379062" algn="l"/>
                <a:tab pos="5254874" algn="l"/>
                <a:tab pos="6130686" algn="l"/>
                <a:tab pos="7006499" algn="l"/>
                <a:tab pos="7882311" algn="l"/>
                <a:tab pos="8758123" algn="l"/>
                <a:tab pos="9633936" algn="l"/>
              </a:tabLst>
            </a:pPr>
            <a:fld id="{3E3B166B-9B12-4F13-BCA0-B2F1F5AA9E5A}" type="slidenum">
              <a:rPr lang="en-GB" sz="1100">
                <a:solidFill>
                  <a:srgbClr val="000000"/>
                </a:solidFill>
                <a:ea typeface="DejaVu LGC Sans" charset="0"/>
                <a:cs typeface="DejaVu LGC Sans" charset="0"/>
              </a:rPr>
              <a:pPr algn="r">
                <a:tabLst>
                  <a:tab pos="0" algn="l"/>
                  <a:tab pos="875812" algn="l"/>
                  <a:tab pos="1751625" algn="l"/>
                  <a:tab pos="2627437" algn="l"/>
                  <a:tab pos="3503249" algn="l"/>
                  <a:tab pos="4379062" algn="l"/>
                  <a:tab pos="5254874" algn="l"/>
                  <a:tab pos="6130686" algn="l"/>
                  <a:tab pos="7006499" algn="l"/>
                  <a:tab pos="7882311" algn="l"/>
                  <a:tab pos="8758123" algn="l"/>
                  <a:tab pos="9633936" algn="l"/>
                </a:tabLst>
              </a:pPr>
              <a:t>33</a:t>
            </a:fld>
            <a:endParaRPr lang="en-GB" sz="1100">
              <a:solidFill>
                <a:srgbClr val="000000"/>
              </a:solidFill>
              <a:ea typeface="DejaVu LGC Sans" charset="0"/>
              <a:cs typeface="DejaVu LGC Sans" charset="0"/>
            </a:endParaRP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1077154" y="664908"/>
            <a:ext cx="4308613" cy="33245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7581" tIns="43791" rIns="87581" bIns="43791" anchor="ctr"/>
          <a:lstStyle/>
          <a:p>
            <a:endParaRPr lang="en-US"/>
          </a:p>
        </p:txBody>
      </p:sp>
      <p:sp>
        <p:nvSpPr>
          <p:cNvPr id="98307" name="Rectangle 3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46292" y="4211085"/>
            <a:ext cx="5170336" cy="398944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42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4046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5824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68554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27113" y="673100"/>
            <a:ext cx="4411662" cy="33099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83354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16-Mar-18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20E9E8-6A2C-4426-BDED-10FE704E6DEA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159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16-Mar-18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598" indent="-27369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4765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2672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0578" indent="-21895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8484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46390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84296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22202" indent="-21895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EC1609-A737-4B3E-BFE2-7CCC5D81AC88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7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.e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8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e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2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09800" y="4038600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Apriori</a:t>
            </a:r>
            <a:r>
              <a:rPr lang="en-US" sz="2000" dirty="0" smtClean="0"/>
              <a:t> Algorithm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BCB1-745C-4005-9A27-A9A44AC634F9}" type="datetime4">
              <a:rPr lang="en-US" altLang="en-US"/>
              <a:pPr/>
              <a:t>March 16, 2018</a:t>
            </a:fld>
            <a:endParaRPr lang="en-US" altLang="en-US"/>
          </a:p>
        </p:txBody>
      </p:sp>
      <p:sp>
        <p:nvSpPr>
          <p:cNvPr id="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F25E7-EC27-455F-B0C6-DBE044E493F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2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9144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Basic Concepts: Frequent Patterns and Association Rules</a:t>
            </a:r>
          </a:p>
        </p:txBody>
      </p:sp>
      <p:sp>
        <p:nvSpPr>
          <p:cNvPr id="152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1524000"/>
            <a:ext cx="4953000" cy="3200400"/>
          </a:xfrm>
        </p:spPr>
        <p:txBody>
          <a:bodyPr/>
          <a:lstStyle/>
          <a:p>
            <a:r>
              <a:rPr lang="en-US" altLang="en-US" sz="2000"/>
              <a:t>Itemset X = {x</a:t>
            </a:r>
            <a:r>
              <a:rPr lang="en-US" altLang="en-US" sz="2000" baseline="-25000"/>
              <a:t>1</a:t>
            </a:r>
            <a:r>
              <a:rPr lang="en-US" altLang="en-US" sz="2000"/>
              <a:t>, …, x</a:t>
            </a:r>
            <a:r>
              <a:rPr lang="en-US" altLang="en-US" sz="2000" baseline="-25000"/>
              <a:t>k</a:t>
            </a:r>
            <a:r>
              <a:rPr lang="en-US" altLang="en-US" sz="2000"/>
              <a:t>}</a:t>
            </a:r>
          </a:p>
          <a:p>
            <a:r>
              <a:rPr lang="en-US" altLang="en-US" sz="2000"/>
              <a:t>Find all the rules </a:t>
            </a:r>
            <a:r>
              <a:rPr lang="en-US" altLang="en-US" sz="2000" i="1"/>
              <a:t>X </a:t>
            </a:r>
            <a:r>
              <a:rPr lang="en-US" altLang="en-US" sz="2000">
                <a:sym typeface="Wingdings" panose="05000000000000000000" pitchFamily="2" charset="2"/>
              </a:rPr>
              <a:t> </a:t>
            </a:r>
            <a:r>
              <a:rPr lang="en-US" altLang="en-US" sz="2000" i="1">
                <a:sym typeface="Wingdings" panose="05000000000000000000" pitchFamily="2" charset="2"/>
              </a:rPr>
              <a:t>Y</a:t>
            </a:r>
            <a:r>
              <a:rPr lang="en-US" altLang="en-US" sz="2400" i="1">
                <a:sym typeface="Symbol" panose="05050102010706020507" pitchFamily="18" charset="2"/>
              </a:rPr>
              <a:t> </a:t>
            </a:r>
            <a:r>
              <a:rPr lang="en-US" altLang="en-US" sz="2000"/>
              <a:t>with minimum support and confidence</a:t>
            </a:r>
            <a:endParaRPr lang="en-US" altLang="en-US" sz="2400">
              <a:sym typeface="Symbol" panose="05050102010706020507" pitchFamily="18" charset="2"/>
            </a:endParaRPr>
          </a:p>
          <a:p>
            <a:pPr lvl="1"/>
            <a:r>
              <a:rPr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support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s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>
                <a:solidFill>
                  <a:schemeClr val="tx2"/>
                </a:solidFill>
                <a:sym typeface="Symbol" panose="05050102010706020507" pitchFamily="18" charset="2"/>
              </a:rPr>
              <a:t>probability</a:t>
            </a:r>
            <a:r>
              <a:rPr lang="en-US" altLang="en-US" sz="2400">
                <a:sym typeface="Symbol" panose="05050102010706020507" pitchFamily="18" charset="2"/>
              </a:rPr>
              <a:t> that a transaction contains X  Y</a:t>
            </a:r>
          </a:p>
          <a:p>
            <a:pPr lvl="1"/>
            <a:r>
              <a:rPr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confidence</a:t>
            </a:r>
            <a:r>
              <a:rPr lang="en-US" altLang="en-US" sz="2400">
                <a:sym typeface="Symbol" panose="05050102010706020507" pitchFamily="18" charset="2"/>
              </a:rPr>
              <a:t>, </a:t>
            </a:r>
            <a:r>
              <a:rPr lang="en-US" altLang="en-US" sz="2400" i="1">
                <a:sym typeface="Symbol" panose="05050102010706020507" pitchFamily="18" charset="2"/>
              </a:rPr>
              <a:t>c,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chemeClr val="tx2"/>
                </a:solidFill>
                <a:sym typeface="Symbol" panose="05050102010706020507" pitchFamily="18" charset="2"/>
              </a:rPr>
              <a:t>conditional probability</a:t>
            </a:r>
            <a:r>
              <a:rPr lang="en-US" altLang="en-US" sz="2400">
                <a:sym typeface="Symbol" panose="05050102010706020507" pitchFamily="18" charset="2"/>
              </a:rPr>
              <a:t> that a transaction having X also contains </a:t>
            </a:r>
            <a:r>
              <a:rPr lang="en-US" altLang="en-US" sz="2400" i="1">
                <a:sym typeface="Symbol" panose="05050102010706020507" pitchFamily="18" charset="2"/>
              </a:rPr>
              <a:t>Y</a:t>
            </a:r>
          </a:p>
        </p:txBody>
      </p:sp>
      <p:sp>
        <p:nvSpPr>
          <p:cNvPr id="1527812" name="Rectangle 4"/>
          <p:cNvSpPr>
            <a:spLocks noChangeArrowheads="1"/>
          </p:cNvSpPr>
          <p:nvPr/>
        </p:nvSpPr>
        <p:spPr bwMode="auto">
          <a:xfrm>
            <a:off x="4343400" y="4724400"/>
            <a:ext cx="45720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000" i="1"/>
              <a:t>Let  sup</a:t>
            </a:r>
            <a:r>
              <a:rPr lang="en-US" altLang="en-US" sz="2000" i="1" baseline="-25000"/>
              <a:t>min</a:t>
            </a:r>
            <a:r>
              <a:rPr lang="en-US" altLang="en-US" sz="2000" i="1"/>
              <a:t> = 50%,  conf</a:t>
            </a:r>
            <a:r>
              <a:rPr lang="en-US" altLang="en-US" sz="2000" i="1" baseline="-25000"/>
              <a:t>min</a:t>
            </a:r>
            <a:r>
              <a:rPr lang="en-US" altLang="en-US" sz="2000" i="1"/>
              <a:t> = 50%</a:t>
            </a:r>
          </a:p>
          <a:p>
            <a:pPr>
              <a:lnSpc>
                <a:spcPct val="110000"/>
              </a:lnSpc>
            </a:pPr>
            <a:r>
              <a:rPr lang="en-US" altLang="en-US" sz="2000" i="1"/>
              <a:t>Freq. Pat.: </a:t>
            </a:r>
            <a:r>
              <a:rPr lang="en-US" altLang="en-US" sz="2000"/>
              <a:t>{</a:t>
            </a:r>
            <a:r>
              <a:rPr lang="en-US" altLang="en-US" sz="2000" i="1"/>
              <a:t>A:3, B:3, D:4, E:3, AD:3</a:t>
            </a:r>
            <a:r>
              <a:rPr lang="en-US" altLang="en-US" sz="2000"/>
              <a:t>}</a:t>
            </a:r>
          </a:p>
          <a:p>
            <a:pPr>
              <a:lnSpc>
                <a:spcPct val="110000"/>
              </a:lnSpc>
            </a:pPr>
            <a:r>
              <a:rPr lang="en-US" altLang="en-US" sz="2000"/>
              <a:t>Association rules: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A </a:t>
            </a:r>
            <a:r>
              <a:rPr lang="en-US" altLang="en-US" sz="2000">
                <a:sym typeface="Wingdings" panose="05000000000000000000" pitchFamily="2" charset="2"/>
              </a:rPr>
              <a:t></a:t>
            </a:r>
            <a:r>
              <a:rPr lang="en-US" altLang="en-US" sz="2000" i="1">
                <a:sym typeface="Symbol" panose="05050102010706020507" pitchFamily="18" charset="2"/>
              </a:rPr>
              <a:t> D  </a:t>
            </a:r>
            <a:r>
              <a:rPr lang="en-US" altLang="en-US" sz="2000">
                <a:sym typeface="Symbol" panose="05050102010706020507" pitchFamily="18" charset="2"/>
              </a:rPr>
              <a:t>(60%, 100%)</a:t>
            </a:r>
          </a:p>
          <a:p>
            <a:pPr lvl="1">
              <a:lnSpc>
                <a:spcPct val="110000"/>
              </a:lnSpc>
            </a:pPr>
            <a:r>
              <a:rPr lang="en-US" altLang="en-US" sz="2000" i="1"/>
              <a:t>D </a:t>
            </a:r>
            <a:r>
              <a:rPr lang="en-US" altLang="en-US" sz="2000">
                <a:sym typeface="Wingdings" panose="05000000000000000000" pitchFamily="2" charset="2"/>
              </a:rPr>
              <a:t></a:t>
            </a:r>
            <a:r>
              <a:rPr lang="en-US" altLang="en-US" sz="2000" i="1">
                <a:sym typeface="Symbol" panose="05050102010706020507" pitchFamily="18" charset="2"/>
              </a:rPr>
              <a:t> A  </a:t>
            </a:r>
            <a:r>
              <a:rPr lang="en-US" altLang="en-US" sz="2000">
                <a:sym typeface="Symbol" panose="05050102010706020507" pitchFamily="18" charset="2"/>
              </a:rPr>
              <a:t>(60%, 75%)</a:t>
            </a:r>
            <a:endParaRPr lang="en-US" altLang="en-US" sz="2000" b="1">
              <a:sym typeface="Symbol" panose="05050102010706020507" pitchFamily="18" charset="2"/>
            </a:endParaRPr>
          </a:p>
          <a:p>
            <a:pPr lvl="1"/>
            <a:endParaRPr lang="en-US" altLang="en-US" sz="2000">
              <a:sym typeface="Symbol" panose="05050102010706020507" pitchFamily="18" charset="2"/>
            </a:endParaRPr>
          </a:p>
        </p:txBody>
      </p:sp>
      <p:grpSp>
        <p:nvGrpSpPr>
          <p:cNvPr id="1527813" name="Group 5"/>
          <p:cNvGrpSpPr>
            <a:grpSpLocks/>
          </p:cNvGrpSpPr>
          <p:nvPr/>
        </p:nvGrpSpPr>
        <p:grpSpPr bwMode="auto">
          <a:xfrm>
            <a:off x="152400" y="3810000"/>
            <a:ext cx="3886200" cy="2630488"/>
            <a:chOff x="192" y="2400"/>
            <a:chExt cx="2448" cy="1657"/>
          </a:xfrm>
        </p:grpSpPr>
        <p:sp>
          <p:nvSpPr>
            <p:cNvPr id="1527814" name="Oval 6"/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5" name="Oval 7"/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000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6" name="Line 8"/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7" name="Line 9"/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8" name="Line 10"/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7819" name="Text Box 11"/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buys diaper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1527820" name="Text Box 12"/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anose="02020603050405020304" pitchFamily="18" charset="0"/>
                </a:rPr>
                <a:t>buys both</a:t>
              </a:r>
              <a:endParaRPr lang="en-US" altLang="en-US" sz="1800" b="1" u="sng">
                <a:solidFill>
                  <a:srgbClr val="5FA1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27821" name="Text Box 13"/>
            <p:cNvSpPr txBox="1">
              <a:spLocks noChangeArrowheads="1"/>
            </p:cNvSpPr>
            <p:nvPr/>
          </p:nvSpPr>
          <p:spPr bwMode="auto"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buys beer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1527822" name="Rectangle 14"/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27823" name="Group 15"/>
          <p:cNvGraphicFramePr>
            <a:graphicFrameLocks noGrp="1"/>
          </p:cNvGraphicFramePr>
          <p:nvPr/>
        </p:nvGraphicFramePr>
        <p:xfrm>
          <a:off x="152400" y="1524000"/>
          <a:ext cx="3886200" cy="213106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Transaction-id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</a:rPr>
                        <a:t>Items bought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B,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C, 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A, D, 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E,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B, C, D, E, 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12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Association Rule Mining Task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763000" cy="506412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Given a set of transactions T, the goal of association rule mining is to find all rules having 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support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≥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minsup</a:t>
            </a:r>
            <a:r>
              <a:rPr lang="en-US" altLang="en-US" sz="2800" i="1" dirty="0" smtClean="0">
                <a:effectLst/>
                <a:cs typeface="Arial" panose="020B0604020202020204" pitchFamily="34" charset="0"/>
              </a:rPr>
              <a:t>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threshold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confidence ≥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minconf</a:t>
            </a:r>
            <a:r>
              <a:rPr lang="en-US" altLang="en-US" sz="2800" i="1" dirty="0" smtClean="0">
                <a:effectLst/>
                <a:cs typeface="Arial" panose="020B0604020202020204" pitchFamily="34" charset="0"/>
              </a:rPr>
              <a:t>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threshold</a:t>
            </a:r>
          </a:p>
          <a:p>
            <a:pPr eaLnBrk="1" hangingPunct="1"/>
            <a:r>
              <a:rPr lang="en-US" altLang="en-US" sz="3200" dirty="0" smtClean="0">
                <a:effectLst/>
                <a:cs typeface="Arial" panose="020B0604020202020204" pitchFamily="34" charset="0"/>
              </a:rPr>
              <a:t>Brute-force approach: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List all possible association rules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Compute the support and confidence for each rule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Prune rules that fail the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minsup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 and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minconf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 thresholds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800" dirty="0" smtClean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Computationally prohibitive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Computational Complexity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>
          <a:xfrm>
            <a:off x="411163" y="990600"/>
            <a:ext cx="8318500" cy="137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Given d unique items: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Total number of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= 2</a:t>
            </a:r>
            <a:r>
              <a:rPr lang="en-US" sz="2400" baseline="30000" dirty="0" smtClean="0"/>
              <a:t>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Total number of possible association rules: 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5257800" y="28194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19400"/>
                        <a:ext cx="3662363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410200" y="49530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If d=</a:t>
            </a:r>
            <a:r>
              <a:rPr lang="en-US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6,  R = 602 rules</a:t>
            </a: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52400" y="2895600"/>
            <a:ext cx="4876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943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Mining Association Rules</a:t>
            </a:r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04800" y="1524000"/>
          <a:ext cx="37338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373380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Example of Rules:</a:t>
            </a:r>
            <a:b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</a:br>
            <a:endParaRPr lang="en-US" altLang="en-US" sz="1000">
              <a:solidFill>
                <a:srgbClr val="CC33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{Milk,Diaper}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{Beer} (s=0.4, c=0.67)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</a:rPr>
              <a:t>{Milk,Beer}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{Diaper,Beer}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{Milk} (s=0.4, c=0.67)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{Beer}  {Milk,Diaper} (s=0.4, c=0.67) 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{Diaper}  {Milk,Beer} (s=0.4, c=0.5)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{Milk}  {Diaper,Beer} (s=0.4, c=0.5)</a:t>
            </a:r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381000" y="3886200"/>
            <a:ext cx="792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Observations: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All the above rules are binary partitions of the same itemset: 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Rules originating from the same itemset have identical support but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 can have different confidence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Thus, we may decouple the support and confidence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Mining Association Rules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marL="533400" indent="-533400" eaLnBrk="1" hangingPunct="1">
              <a:defRPr/>
            </a:pPr>
            <a:r>
              <a:rPr lang="en-US" sz="3600" dirty="0" smtClean="0"/>
              <a:t>Two-step approach: </a:t>
            </a:r>
          </a:p>
          <a:p>
            <a:pPr marL="914400" lvl="1" indent="-457200" eaLnBrk="1" hangingPunct="1">
              <a:buFont typeface="Arial" charset="0"/>
              <a:buAutoNum type="arabicPeriod"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Frequent </a:t>
            </a:r>
            <a:r>
              <a:rPr lang="en-US" sz="3200" dirty="0" err="1" smtClean="0">
                <a:solidFill>
                  <a:srgbClr val="FF0000"/>
                </a:solidFill>
              </a:rPr>
              <a:t>Itemset</a:t>
            </a:r>
            <a:r>
              <a:rPr lang="en-US" sz="3200" dirty="0" smtClean="0">
                <a:solidFill>
                  <a:srgbClr val="FF0000"/>
                </a:solidFill>
              </a:rPr>
              <a:t> Generation</a:t>
            </a:r>
            <a:endParaRPr lang="en-US" sz="3200" dirty="0" smtClean="0"/>
          </a:p>
          <a:p>
            <a:pPr marL="1295400" lvl="2" indent="-381000" eaLnBrk="1" hangingPunct="1">
              <a:buFont typeface="Arial" charset="0"/>
              <a:buChar char="–"/>
              <a:defRPr/>
            </a:pPr>
            <a:r>
              <a:rPr lang="en-US" sz="2800" dirty="0" smtClean="0"/>
              <a:t>Generate all </a:t>
            </a:r>
            <a:r>
              <a:rPr lang="en-US" sz="2800" dirty="0" err="1" smtClean="0"/>
              <a:t>itemsets</a:t>
            </a:r>
            <a:r>
              <a:rPr lang="en-US" sz="2800" dirty="0" smtClean="0"/>
              <a:t> whose support </a:t>
            </a:r>
            <a:r>
              <a:rPr lang="en-US" sz="2800" dirty="0" smtClean="0">
                <a:sym typeface="Symbol" pitchFamily="18" charset="2"/>
              </a:rPr>
              <a:t> </a:t>
            </a:r>
            <a:r>
              <a:rPr lang="en-US" sz="2800" dirty="0" err="1" smtClean="0"/>
              <a:t>minsup</a:t>
            </a:r>
            <a:endParaRPr lang="en-US" sz="2800" dirty="0" smtClean="0"/>
          </a:p>
          <a:p>
            <a:pPr marL="914400" lvl="1" indent="-457200" eaLnBrk="1" hangingPunct="1">
              <a:buFont typeface="Arial" charset="0"/>
              <a:buAutoNum type="arabicPeriod"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Rule Generation</a:t>
            </a:r>
            <a:endParaRPr lang="en-US" sz="3200" dirty="0" smtClean="0"/>
          </a:p>
          <a:p>
            <a:pPr marL="1295400" lvl="2" indent="-381000" eaLnBrk="1" hangingPunct="1">
              <a:buFont typeface="Arial" charset="0"/>
              <a:buChar char="–"/>
              <a:defRPr/>
            </a:pPr>
            <a:r>
              <a:rPr lang="en-US" sz="2800" dirty="0" smtClean="0"/>
              <a:t>Generate high confidence rules from each frequent </a:t>
            </a:r>
            <a:r>
              <a:rPr lang="en-US" sz="2800" dirty="0" err="1" smtClean="0"/>
              <a:t>itemset</a:t>
            </a:r>
            <a:r>
              <a:rPr lang="en-US" sz="2800" dirty="0" smtClean="0"/>
              <a:t>, where each rule is a binary partitioning of a frequent </a:t>
            </a:r>
            <a:r>
              <a:rPr lang="en-US" sz="2800" dirty="0" err="1" smtClean="0"/>
              <a:t>itemset</a:t>
            </a:r>
            <a:endParaRPr lang="en-US" sz="2800" dirty="0" smtClean="0"/>
          </a:p>
          <a:p>
            <a:pPr marL="533400" indent="-533400" eaLnBrk="1" hangingPunct="1">
              <a:defRPr/>
            </a:pPr>
            <a:r>
              <a:rPr lang="en-US" sz="3600" dirty="0" smtClean="0"/>
              <a:t>Frequent </a:t>
            </a:r>
            <a:r>
              <a:rPr lang="en-US" sz="3600" dirty="0" err="1" smtClean="0"/>
              <a:t>itemset</a:t>
            </a:r>
            <a:r>
              <a:rPr lang="en-US" sz="3600" dirty="0" smtClean="0"/>
              <a:t> generation is still computationally expensive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  <a:defRPr/>
            </a:pP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Frequent Itemset Generation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" y="990600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name="VISIO" r:id="rId3" imgW="9811512" imgH="7395972" progId="Visio.Drawing.6">
                  <p:embed/>
                </p:oleObj>
              </mc:Choice>
              <mc:Fallback>
                <p:oleObj name="VISIO" r:id="rId3" imgW="9811512" imgH="7395972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Given d items, there are 2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d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-1 possible </a:t>
            </a:r>
            <a:r>
              <a:rPr lang="en-US" altLang="en-US" sz="2000" b="1" dirty="0">
                <a:latin typeface="Arial" panose="020B0604020202020204" pitchFamily="34" charset="0"/>
              </a:rPr>
              <a:t>candidate </a:t>
            </a:r>
            <a:r>
              <a:rPr lang="en-US" altLang="en-US" sz="2000" b="1" dirty="0" err="1">
                <a:latin typeface="Arial" panose="020B0604020202020204" pitchFamily="34" charset="0"/>
              </a:rPr>
              <a:t>itemsets</a:t>
            </a:r>
            <a:endParaRPr lang="en-US" altLang="en-US" sz="2000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Reducing Number of Candidates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763000" cy="5181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 err="1" smtClean="0">
                <a:solidFill>
                  <a:srgbClr val="CC3300"/>
                </a:solidFill>
              </a:rPr>
              <a:t>Apriori</a:t>
            </a:r>
            <a:r>
              <a:rPr lang="en-US" sz="2800" dirty="0" smtClean="0">
                <a:solidFill>
                  <a:srgbClr val="CC3300"/>
                </a:solidFill>
              </a:rPr>
              <a:t> principle</a:t>
            </a:r>
            <a:r>
              <a:rPr lang="en-US" sz="2800" dirty="0" smtClean="0"/>
              <a:t>:</a:t>
            </a:r>
          </a:p>
          <a:p>
            <a:pPr lvl="1" eaLnBrk="1" hangingPunct="1">
              <a:defRPr/>
            </a:pPr>
            <a:r>
              <a:rPr lang="en-US" sz="2400" dirty="0" smtClean="0"/>
              <a:t>If an </a:t>
            </a:r>
            <a:r>
              <a:rPr lang="en-US" sz="2400" dirty="0" err="1" smtClean="0"/>
              <a:t>itemset</a:t>
            </a:r>
            <a:r>
              <a:rPr lang="en-US" sz="2400" dirty="0" smtClean="0"/>
              <a:t> is frequent, then all of its subsets must also be frequent</a:t>
            </a:r>
          </a:p>
          <a:p>
            <a:pPr eaLnBrk="1" hangingPunct="1">
              <a:defRPr/>
            </a:pPr>
            <a:r>
              <a:rPr lang="en-US" sz="3200" dirty="0" err="1" smtClean="0"/>
              <a:t>Apriori</a:t>
            </a:r>
            <a:r>
              <a:rPr lang="en-US" sz="3200" dirty="0" smtClean="0"/>
              <a:t> principle holds due to the following property of the support measure: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endParaRPr lang="en-US" sz="2800" dirty="0" smtClean="0"/>
          </a:p>
          <a:p>
            <a:pPr lvl="1" eaLnBrk="1" hangingPunct="1">
              <a:defRPr/>
            </a:pPr>
            <a:endParaRPr lang="en-US" sz="2400" dirty="0" smtClean="0"/>
          </a:p>
          <a:p>
            <a:pPr lvl="1" eaLnBrk="1" hangingPunct="1">
              <a:defRPr/>
            </a:pPr>
            <a:r>
              <a:rPr lang="en-US" sz="2400" dirty="0" smtClean="0"/>
              <a:t>Support of an </a:t>
            </a:r>
            <a:r>
              <a:rPr lang="en-US" sz="2400" dirty="0" err="1" smtClean="0"/>
              <a:t>itemset</a:t>
            </a:r>
            <a:r>
              <a:rPr lang="en-US" sz="2400" dirty="0" smtClean="0"/>
              <a:t> never exceeds the support of its subsets</a:t>
            </a:r>
          </a:p>
          <a:p>
            <a:pPr lvl="1" eaLnBrk="1" hangingPunct="1">
              <a:defRPr/>
            </a:pPr>
            <a:r>
              <a:rPr lang="en-US" sz="2400" dirty="0" smtClean="0"/>
              <a:t>This is known as the </a:t>
            </a:r>
            <a:r>
              <a:rPr lang="en-US" sz="2400" dirty="0" smtClean="0">
                <a:solidFill>
                  <a:srgbClr val="CC3300"/>
                </a:solidFill>
              </a:rPr>
              <a:t>anti-monotone</a:t>
            </a:r>
            <a:r>
              <a:rPr lang="en-US" sz="2400" dirty="0" smtClean="0"/>
              <a:t> property of support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295400" y="3810000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3" imgW="1993900" imgH="203200" progId="Equation.3">
                  <p:embed/>
                </p:oleObj>
              </mc:Choice>
              <mc:Fallback>
                <p:oleObj name="Equation" r:id="rId3" imgW="1993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10000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620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FI/Apriori Property</a:t>
            </a:r>
          </a:p>
        </p:txBody>
      </p:sp>
      <p:sp>
        <p:nvSpPr>
          <p:cNvPr id="17411" name="Text Box 39"/>
          <p:cNvSpPr txBox="1">
            <a:spLocks noChangeArrowheads="1"/>
          </p:cNvSpPr>
          <p:nvPr/>
        </p:nvSpPr>
        <p:spPr bwMode="auto">
          <a:xfrm>
            <a:off x="7696200" y="45720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Frequent Itemset</a:t>
            </a:r>
            <a:endParaRPr lang="en-US" altLang="en-US" sz="200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412" name="AutoShape 41"/>
          <p:cNvSpPr>
            <a:spLocks noChangeAspect="1" noChangeArrowheads="1" noTextEdit="1"/>
          </p:cNvSpPr>
          <p:nvPr/>
        </p:nvSpPr>
        <p:spPr bwMode="auto">
          <a:xfrm>
            <a:off x="914400" y="1371600"/>
            <a:ext cx="68500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Freeform 43"/>
          <p:cNvSpPr>
            <a:spLocks/>
          </p:cNvSpPr>
          <p:nvPr/>
        </p:nvSpPr>
        <p:spPr bwMode="auto">
          <a:xfrm>
            <a:off x="4205288" y="1231900"/>
            <a:ext cx="392112" cy="312738"/>
          </a:xfrm>
          <a:custGeom>
            <a:avLst/>
            <a:gdLst>
              <a:gd name="T0" fmla="*/ 0 w 1185"/>
              <a:gd name="T1" fmla="*/ 2147483646 h 927"/>
              <a:gd name="T2" fmla="*/ 2147483646 w 1185"/>
              <a:gd name="T3" fmla="*/ 0 h 927"/>
              <a:gd name="T4" fmla="*/ 2147483646 w 1185"/>
              <a:gd name="T5" fmla="*/ 2147483646 h 927"/>
              <a:gd name="T6" fmla="*/ 2147483646 w 1185"/>
              <a:gd name="T7" fmla="*/ 2147483646 h 927"/>
              <a:gd name="T8" fmla="*/ 2147483646 w 1185"/>
              <a:gd name="T9" fmla="*/ 2147483646 h 927"/>
              <a:gd name="T10" fmla="*/ 0 w 1185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85"/>
              <a:gd name="T19" fmla="*/ 0 h 927"/>
              <a:gd name="T20" fmla="*/ 1185 w 1185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85" h="927">
                <a:moveTo>
                  <a:pt x="0" y="463"/>
                </a:moveTo>
                <a:cubicBezTo>
                  <a:pt x="0" y="207"/>
                  <a:pt x="265" y="0"/>
                  <a:pt x="593" y="0"/>
                </a:cubicBezTo>
                <a:cubicBezTo>
                  <a:pt x="920" y="0"/>
                  <a:pt x="1185" y="207"/>
                  <a:pt x="1185" y="463"/>
                </a:cubicBezTo>
                <a:cubicBezTo>
                  <a:pt x="1185" y="463"/>
                  <a:pt x="1185" y="463"/>
                  <a:pt x="1185" y="463"/>
                </a:cubicBezTo>
                <a:cubicBezTo>
                  <a:pt x="1185" y="720"/>
                  <a:pt x="920" y="927"/>
                  <a:pt x="593" y="927"/>
                </a:cubicBezTo>
                <a:cubicBezTo>
                  <a:pt x="265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Freeform 44"/>
          <p:cNvSpPr>
            <a:spLocks/>
          </p:cNvSpPr>
          <p:nvPr/>
        </p:nvSpPr>
        <p:spPr bwMode="auto">
          <a:xfrm>
            <a:off x="4205288" y="1231900"/>
            <a:ext cx="392112" cy="312738"/>
          </a:xfrm>
          <a:custGeom>
            <a:avLst/>
            <a:gdLst>
              <a:gd name="T0" fmla="*/ 0 w 247"/>
              <a:gd name="T1" fmla="*/ 2147483646 h 197"/>
              <a:gd name="T2" fmla="*/ 2147483646 w 247"/>
              <a:gd name="T3" fmla="*/ 0 h 197"/>
              <a:gd name="T4" fmla="*/ 2147483646 w 247"/>
              <a:gd name="T5" fmla="*/ 2147483646 h 197"/>
              <a:gd name="T6" fmla="*/ 2147483646 w 247"/>
              <a:gd name="T7" fmla="*/ 2147483646 h 197"/>
              <a:gd name="T8" fmla="*/ 2147483646 w 247"/>
              <a:gd name="T9" fmla="*/ 2147483646 h 197"/>
              <a:gd name="T10" fmla="*/ 0 w 247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7"/>
              <a:gd name="T19" fmla="*/ 0 h 197"/>
              <a:gd name="T20" fmla="*/ 247 w 247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7" h="197">
                <a:moveTo>
                  <a:pt x="0" y="98"/>
                </a:moveTo>
                <a:cubicBezTo>
                  <a:pt x="0" y="44"/>
                  <a:pt x="55" y="0"/>
                  <a:pt x="124" y="0"/>
                </a:cubicBezTo>
                <a:cubicBezTo>
                  <a:pt x="192" y="0"/>
                  <a:pt x="247" y="44"/>
                  <a:pt x="247" y="98"/>
                </a:cubicBezTo>
                <a:cubicBezTo>
                  <a:pt x="247" y="98"/>
                  <a:pt x="247" y="98"/>
                  <a:pt x="247" y="98"/>
                </a:cubicBezTo>
                <a:cubicBezTo>
                  <a:pt x="247" y="153"/>
                  <a:pt x="192" y="197"/>
                  <a:pt x="124" y="197"/>
                </a:cubicBezTo>
                <a:cubicBezTo>
                  <a:pt x="55" y="197"/>
                  <a:pt x="0" y="153"/>
                  <a:pt x="0" y="98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Rectangle 45"/>
          <p:cNvSpPr>
            <a:spLocks noChangeArrowheads="1"/>
          </p:cNvSpPr>
          <p:nvPr/>
        </p:nvSpPr>
        <p:spPr bwMode="auto">
          <a:xfrm>
            <a:off x="4294188" y="1306513"/>
            <a:ext cx="2190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null</a:t>
            </a:r>
            <a:endParaRPr lang="en-US" altLang="en-US" sz="4000"/>
          </a:p>
        </p:txBody>
      </p:sp>
      <p:sp>
        <p:nvSpPr>
          <p:cNvPr id="17416" name="Freeform 46"/>
          <p:cNvSpPr>
            <a:spLocks/>
          </p:cNvSpPr>
          <p:nvPr/>
        </p:nvSpPr>
        <p:spPr bwMode="auto">
          <a:xfrm>
            <a:off x="1050925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Rectangle 48"/>
          <p:cNvSpPr>
            <a:spLocks noChangeArrowheads="1"/>
          </p:cNvSpPr>
          <p:nvPr/>
        </p:nvSpPr>
        <p:spPr bwMode="auto">
          <a:xfrm>
            <a:off x="1173163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</a:t>
            </a:r>
            <a:endParaRPr lang="en-US" altLang="en-US" sz="4000"/>
          </a:p>
        </p:txBody>
      </p:sp>
      <p:sp>
        <p:nvSpPr>
          <p:cNvPr id="17418" name="Freeform 49"/>
          <p:cNvSpPr>
            <a:spLocks/>
          </p:cNvSpPr>
          <p:nvPr/>
        </p:nvSpPr>
        <p:spPr bwMode="auto">
          <a:xfrm>
            <a:off x="1736725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Freeform 50"/>
          <p:cNvSpPr>
            <a:spLocks/>
          </p:cNvSpPr>
          <p:nvPr/>
        </p:nvSpPr>
        <p:spPr bwMode="auto">
          <a:xfrm>
            <a:off x="1736725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Rectangle 51"/>
          <p:cNvSpPr>
            <a:spLocks noChangeArrowheads="1"/>
          </p:cNvSpPr>
          <p:nvPr/>
        </p:nvSpPr>
        <p:spPr bwMode="auto">
          <a:xfrm>
            <a:off x="1855788" y="3030538"/>
            <a:ext cx="1952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</a:t>
            </a:r>
            <a:endParaRPr lang="en-US" altLang="en-US" sz="4000"/>
          </a:p>
        </p:txBody>
      </p:sp>
      <p:sp>
        <p:nvSpPr>
          <p:cNvPr id="17421" name="Freeform 52"/>
          <p:cNvSpPr>
            <a:spLocks/>
          </p:cNvSpPr>
          <p:nvPr/>
        </p:nvSpPr>
        <p:spPr bwMode="auto">
          <a:xfrm>
            <a:off x="2441575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2" name="Freeform 53"/>
          <p:cNvSpPr>
            <a:spLocks/>
          </p:cNvSpPr>
          <p:nvPr/>
        </p:nvSpPr>
        <p:spPr bwMode="auto">
          <a:xfrm>
            <a:off x="2441575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Rectangle 54"/>
          <p:cNvSpPr>
            <a:spLocks noChangeArrowheads="1"/>
          </p:cNvSpPr>
          <p:nvPr/>
        </p:nvSpPr>
        <p:spPr bwMode="auto">
          <a:xfrm>
            <a:off x="255905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AD</a:t>
            </a:r>
            <a:endParaRPr lang="en-US" altLang="en-US" sz="4000"/>
          </a:p>
        </p:txBody>
      </p:sp>
      <p:sp>
        <p:nvSpPr>
          <p:cNvPr id="17424" name="Freeform 55"/>
          <p:cNvSpPr>
            <a:spLocks/>
          </p:cNvSpPr>
          <p:nvPr/>
        </p:nvSpPr>
        <p:spPr bwMode="auto">
          <a:xfrm>
            <a:off x="3148013" y="2955925"/>
            <a:ext cx="430212" cy="312738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3" y="207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5" name="Freeform 56"/>
          <p:cNvSpPr>
            <a:spLocks/>
          </p:cNvSpPr>
          <p:nvPr/>
        </p:nvSpPr>
        <p:spPr bwMode="auto">
          <a:xfrm>
            <a:off x="3148013" y="2955925"/>
            <a:ext cx="430212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Rectangle 57"/>
          <p:cNvSpPr>
            <a:spLocks noChangeArrowheads="1"/>
          </p:cNvSpPr>
          <p:nvPr/>
        </p:nvSpPr>
        <p:spPr bwMode="auto">
          <a:xfrm>
            <a:off x="3268663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AE</a:t>
            </a:r>
            <a:endParaRPr lang="en-US" altLang="en-US" sz="4000"/>
          </a:p>
        </p:txBody>
      </p:sp>
      <p:sp>
        <p:nvSpPr>
          <p:cNvPr id="17427" name="Freeform 58"/>
          <p:cNvSpPr>
            <a:spLocks/>
          </p:cNvSpPr>
          <p:nvPr/>
        </p:nvSpPr>
        <p:spPr bwMode="auto">
          <a:xfrm>
            <a:off x="3852863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Freeform 59"/>
          <p:cNvSpPr>
            <a:spLocks/>
          </p:cNvSpPr>
          <p:nvPr/>
        </p:nvSpPr>
        <p:spPr bwMode="auto">
          <a:xfrm>
            <a:off x="3852863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Rectangle 60"/>
          <p:cNvSpPr>
            <a:spLocks noChangeArrowheads="1"/>
          </p:cNvSpPr>
          <p:nvPr/>
        </p:nvSpPr>
        <p:spPr bwMode="auto">
          <a:xfrm>
            <a:off x="3971925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</a:t>
            </a:r>
            <a:endParaRPr lang="en-US" altLang="en-US" sz="4000"/>
          </a:p>
        </p:txBody>
      </p:sp>
      <p:sp>
        <p:nvSpPr>
          <p:cNvPr id="17430" name="Freeform 61"/>
          <p:cNvSpPr>
            <a:spLocks/>
          </p:cNvSpPr>
          <p:nvPr/>
        </p:nvSpPr>
        <p:spPr bwMode="auto">
          <a:xfrm>
            <a:off x="4538663" y="2955925"/>
            <a:ext cx="431800" cy="312738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4"/>
                </a:moveTo>
                <a:cubicBezTo>
                  <a:pt x="0" y="207"/>
                  <a:pt x="291" y="0"/>
                  <a:pt x="651" y="0"/>
                </a:cubicBezTo>
                <a:cubicBezTo>
                  <a:pt x="1012" y="0"/>
                  <a:pt x="1303" y="207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7"/>
                  <a:pt x="651" y="927"/>
                </a:cubicBezTo>
                <a:cubicBezTo>
                  <a:pt x="291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Freeform 62"/>
          <p:cNvSpPr>
            <a:spLocks/>
          </p:cNvSpPr>
          <p:nvPr/>
        </p:nvSpPr>
        <p:spPr bwMode="auto">
          <a:xfrm>
            <a:off x="4538663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2" name="Rectangle 63"/>
          <p:cNvSpPr>
            <a:spLocks noChangeArrowheads="1"/>
          </p:cNvSpPr>
          <p:nvPr/>
        </p:nvSpPr>
        <p:spPr bwMode="auto">
          <a:xfrm>
            <a:off x="4659313" y="3030538"/>
            <a:ext cx="1952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BD</a:t>
            </a:r>
            <a:endParaRPr lang="en-US" altLang="en-US" sz="4000"/>
          </a:p>
        </p:txBody>
      </p:sp>
      <p:sp>
        <p:nvSpPr>
          <p:cNvPr id="17433" name="Freeform 64"/>
          <p:cNvSpPr>
            <a:spLocks/>
          </p:cNvSpPr>
          <p:nvPr/>
        </p:nvSpPr>
        <p:spPr bwMode="auto">
          <a:xfrm>
            <a:off x="5264150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4" name="Freeform 65"/>
          <p:cNvSpPr>
            <a:spLocks/>
          </p:cNvSpPr>
          <p:nvPr/>
        </p:nvSpPr>
        <p:spPr bwMode="auto">
          <a:xfrm>
            <a:off x="5264150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Rectangle 66"/>
          <p:cNvSpPr>
            <a:spLocks noChangeArrowheads="1"/>
          </p:cNvSpPr>
          <p:nvPr/>
        </p:nvSpPr>
        <p:spPr bwMode="auto">
          <a:xfrm>
            <a:off x="5384800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BE</a:t>
            </a:r>
            <a:endParaRPr lang="en-US" altLang="en-US" sz="4000"/>
          </a:p>
        </p:txBody>
      </p:sp>
      <p:sp>
        <p:nvSpPr>
          <p:cNvPr id="17436" name="Freeform 67"/>
          <p:cNvSpPr>
            <a:spLocks/>
          </p:cNvSpPr>
          <p:nvPr/>
        </p:nvSpPr>
        <p:spPr bwMode="auto">
          <a:xfrm>
            <a:off x="5949950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36" name="Freeform 68"/>
          <p:cNvSpPr>
            <a:spLocks/>
          </p:cNvSpPr>
          <p:nvPr/>
        </p:nvSpPr>
        <p:spPr bwMode="auto">
          <a:xfrm>
            <a:off x="5949950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8" name="Rectangle 69"/>
          <p:cNvSpPr>
            <a:spLocks noChangeArrowheads="1"/>
          </p:cNvSpPr>
          <p:nvPr/>
        </p:nvSpPr>
        <p:spPr bwMode="auto">
          <a:xfrm>
            <a:off x="6062663" y="3030538"/>
            <a:ext cx="2032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CD</a:t>
            </a:r>
            <a:endParaRPr lang="en-US" altLang="en-US" sz="4000"/>
          </a:p>
        </p:txBody>
      </p:sp>
      <p:sp>
        <p:nvSpPr>
          <p:cNvPr id="17439" name="Freeform 70"/>
          <p:cNvSpPr>
            <a:spLocks/>
          </p:cNvSpPr>
          <p:nvPr/>
        </p:nvSpPr>
        <p:spPr bwMode="auto">
          <a:xfrm>
            <a:off x="6654800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39" name="Freeform 71"/>
          <p:cNvSpPr>
            <a:spLocks/>
          </p:cNvSpPr>
          <p:nvPr/>
        </p:nvSpPr>
        <p:spPr bwMode="auto">
          <a:xfrm>
            <a:off x="6654800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1" name="Rectangle 72"/>
          <p:cNvSpPr>
            <a:spLocks noChangeArrowheads="1"/>
          </p:cNvSpPr>
          <p:nvPr/>
        </p:nvSpPr>
        <p:spPr bwMode="auto">
          <a:xfrm>
            <a:off x="677545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endParaRPr lang="en-US" altLang="en-US" sz="4000"/>
          </a:p>
        </p:txBody>
      </p:sp>
      <p:sp>
        <p:nvSpPr>
          <p:cNvPr id="17442" name="Freeform 73"/>
          <p:cNvSpPr>
            <a:spLocks/>
          </p:cNvSpPr>
          <p:nvPr/>
        </p:nvSpPr>
        <p:spPr bwMode="auto">
          <a:xfrm>
            <a:off x="7321550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42" name="Freeform 74"/>
          <p:cNvSpPr>
            <a:spLocks/>
          </p:cNvSpPr>
          <p:nvPr/>
        </p:nvSpPr>
        <p:spPr bwMode="auto">
          <a:xfrm>
            <a:off x="7321550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4" name="Rectangle 75"/>
          <p:cNvSpPr>
            <a:spLocks noChangeArrowheads="1"/>
          </p:cNvSpPr>
          <p:nvPr/>
        </p:nvSpPr>
        <p:spPr bwMode="auto">
          <a:xfrm>
            <a:off x="744220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DE</a:t>
            </a:r>
            <a:endParaRPr lang="en-US" altLang="en-US" sz="4000"/>
          </a:p>
        </p:txBody>
      </p:sp>
      <p:sp>
        <p:nvSpPr>
          <p:cNvPr id="17445" name="Freeform 76"/>
          <p:cNvSpPr>
            <a:spLocks/>
          </p:cNvSpPr>
          <p:nvPr/>
        </p:nvSpPr>
        <p:spPr bwMode="auto">
          <a:xfrm>
            <a:off x="2324100" y="1936750"/>
            <a:ext cx="431800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6" name="Freeform 77"/>
          <p:cNvSpPr>
            <a:spLocks/>
          </p:cNvSpPr>
          <p:nvPr/>
        </p:nvSpPr>
        <p:spPr bwMode="auto">
          <a:xfrm>
            <a:off x="2324100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7" name="Rectangle 78"/>
          <p:cNvSpPr>
            <a:spLocks noChangeArrowheads="1"/>
          </p:cNvSpPr>
          <p:nvPr/>
        </p:nvSpPr>
        <p:spPr bwMode="auto">
          <a:xfrm>
            <a:off x="2490788" y="2009775"/>
            <a:ext cx="936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 sz="4000"/>
          </a:p>
        </p:txBody>
      </p:sp>
      <p:sp>
        <p:nvSpPr>
          <p:cNvPr id="17448" name="Freeform 79"/>
          <p:cNvSpPr>
            <a:spLocks/>
          </p:cNvSpPr>
          <p:nvPr/>
        </p:nvSpPr>
        <p:spPr bwMode="auto">
          <a:xfrm>
            <a:off x="3265488" y="1936750"/>
            <a:ext cx="430212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9" name="Freeform 80"/>
          <p:cNvSpPr>
            <a:spLocks/>
          </p:cNvSpPr>
          <p:nvPr/>
        </p:nvSpPr>
        <p:spPr bwMode="auto">
          <a:xfrm>
            <a:off x="3265488" y="1936750"/>
            <a:ext cx="430212" cy="314325"/>
          </a:xfrm>
          <a:custGeom>
            <a:avLst/>
            <a:gdLst>
              <a:gd name="T0" fmla="*/ 0 w 271"/>
              <a:gd name="T1" fmla="*/ 2147483646 h 198"/>
              <a:gd name="T2" fmla="*/ 2147483646 w 271"/>
              <a:gd name="T3" fmla="*/ 0 h 198"/>
              <a:gd name="T4" fmla="*/ 2147483646 w 271"/>
              <a:gd name="T5" fmla="*/ 2147483646 h 198"/>
              <a:gd name="T6" fmla="*/ 2147483646 w 271"/>
              <a:gd name="T7" fmla="*/ 2147483646 h 198"/>
              <a:gd name="T8" fmla="*/ 2147483646 w 271"/>
              <a:gd name="T9" fmla="*/ 2147483646 h 198"/>
              <a:gd name="T10" fmla="*/ 0 w 2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8"/>
              <a:gd name="T20" fmla="*/ 271 w 2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8">
                <a:moveTo>
                  <a:pt x="0" y="99"/>
                </a:moveTo>
                <a:cubicBezTo>
                  <a:pt x="0" y="44"/>
                  <a:pt x="61" y="0"/>
                  <a:pt x="135" y="0"/>
                </a:cubicBezTo>
                <a:cubicBezTo>
                  <a:pt x="210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0" y="198"/>
                  <a:pt x="135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0" name="Rectangle 81"/>
          <p:cNvSpPr>
            <a:spLocks noChangeArrowheads="1"/>
          </p:cNvSpPr>
          <p:nvPr/>
        </p:nvSpPr>
        <p:spPr bwMode="auto">
          <a:xfrm>
            <a:off x="3432175" y="2009775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 sz="4000"/>
          </a:p>
        </p:txBody>
      </p:sp>
      <p:sp>
        <p:nvSpPr>
          <p:cNvPr id="17451" name="Freeform 82"/>
          <p:cNvSpPr>
            <a:spLocks/>
          </p:cNvSpPr>
          <p:nvPr/>
        </p:nvSpPr>
        <p:spPr bwMode="auto">
          <a:xfrm>
            <a:off x="4186238" y="1936750"/>
            <a:ext cx="431800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1" name="Freeform 83"/>
          <p:cNvSpPr>
            <a:spLocks/>
          </p:cNvSpPr>
          <p:nvPr/>
        </p:nvSpPr>
        <p:spPr bwMode="auto">
          <a:xfrm>
            <a:off x="4186238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3" name="Rectangle 84"/>
          <p:cNvSpPr>
            <a:spLocks noChangeArrowheads="1"/>
          </p:cNvSpPr>
          <p:nvPr/>
        </p:nvSpPr>
        <p:spPr bwMode="auto">
          <a:xfrm>
            <a:off x="4352925" y="2009775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n-US" altLang="en-US" sz="4000"/>
          </a:p>
        </p:txBody>
      </p:sp>
      <p:sp>
        <p:nvSpPr>
          <p:cNvPr id="17454" name="Freeform 85"/>
          <p:cNvSpPr>
            <a:spLocks/>
          </p:cNvSpPr>
          <p:nvPr/>
        </p:nvSpPr>
        <p:spPr bwMode="auto">
          <a:xfrm>
            <a:off x="5146675" y="1936750"/>
            <a:ext cx="430213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4" name="Freeform 86"/>
          <p:cNvSpPr>
            <a:spLocks/>
          </p:cNvSpPr>
          <p:nvPr/>
        </p:nvSpPr>
        <p:spPr bwMode="auto">
          <a:xfrm>
            <a:off x="5146675" y="1936750"/>
            <a:ext cx="430213" cy="314325"/>
          </a:xfrm>
          <a:custGeom>
            <a:avLst/>
            <a:gdLst>
              <a:gd name="T0" fmla="*/ 0 w 271"/>
              <a:gd name="T1" fmla="*/ 2147483646 h 198"/>
              <a:gd name="T2" fmla="*/ 2147483646 w 271"/>
              <a:gd name="T3" fmla="*/ 0 h 198"/>
              <a:gd name="T4" fmla="*/ 2147483646 w 271"/>
              <a:gd name="T5" fmla="*/ 2147483646 h 198"/>
              <a:gd name="T6" fmla="*/ 2147483646 w 271"/>
              <a:gd name="T7" fmla="*/ 2147483646 h 198"/>
              <a:gd name="T8" fmla="*/ 2147483646 w 271"/>
              <a:gd name="T9" fmla="*/ 2147483646 h 198"/>
              <a:gd name="T10" fmla="*/ 0 w 2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8"/>
              <a:gd name="T20" fmla="*/ 271 w 2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6" name="Rectangle 87"/>
          <p:cNvSpPr>
            <a:spLocks noChangeArrowheads="1"/>
          </p:cNvSpPr>
          <p:nvPr/>
        </p:nvSpPr>
        <p:spPr bwMode="auto">
          <a:xfrm>
            <a:off x="5310188" y="2009775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en-US" sz="4000"/>
          </a:p>
        </p:txBody>
      </p:sp>
      <p:sp>
        <p:nvSpPr>
          <p:cNvPr id="17457" name="Freeform 88"/>
          <p:cNvSpPr>
            <a:spLocks/>
          </p:cNvSpPr>
          <p:nvPr/>
        </p:nvSpPr>
        <p:spPr bwMode="auto">
          <a:xfrm>
            <a:off x="6086475" y="1936750"/>
            <a:ext cx="431800" cy="314325"/>
          </a:xfrm>
          <a:custGeom>
            <a:avLst/>
            <a:gdLst>
              <a:gd name="T0" fmla="*/ 0 w 1303"/>
              <a:gd name="T1" fmla="*/ 2147483646 h 928"/>
              <a:gd name="T2" fmla="*/ 2147483646 w 1303"/>
              <a:gd name="T3" fmla="*/ 0 h 928"/>
              <a:gd name="T4" fmla="*/ 2147483646 w 1303"/>
              <a:gd name="T5" fmla="*/ 2147483646 h 928"/>
              <a:gd name="T6" fmla="*/ 2147483646 w 1303"/>
              <a:gd name="T7" fmla="*/ 2147483646 h 928"/>
              <a:gd name="T8" fmla="*/ 2147483646 w 1303"/>
              <a:gd name="T9" fmla="*/ 2147483646 h 928"/>
              <a:gd name="T10" fmla="*/ 0 w 1303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8"/>
              <a:gd name="T20" fmla="*/ 1303 w 1303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3" y="208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7" name="Freeform 89"/>
          <p:cNvSpPr>
            <a:spLocks/>
          </p:cNvSpPr>
          <p:nvPr/>
        </p:nvSpPr>
        <p:spPr bwMode="auto">
          <a:xfrm>
            <a:off x="6086475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9" name="Rectangle 90"/>
          <p:cNvSpPr>
            <a:spLocks noChangeArrowheads="1"/>
          </p:cNvSpPr>
          <p:nvPr/>
        </p:nvSpPr>
        <p:spPr bwMode="auto">
          <a:xfrm>
            <a:off x="6257925" y="2009775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n-US" altLang="en-US" sz="4000"/>
          </a:p>
        </p:txBody>
      </p:sp>
      <p:sp>
        <p:nvSpPr>
          <p:cNvPr id="17460" name="Freeform 91"/>
          <p:cNvSpPr>
            <a:spLocks/>
          </p:cNvSpPr>
          <p:nvPr/>
        </p:nvSpPr>
        <p:spPr bwMode="auto">
          <a:xfrm>
            <a:off x="1050925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1" name="Rectangle 93"/>
          <p:cNvSpPr>
            <a:spLocks noChangeArrowheads="1"/>
          </p:cNvSpPr>
          <p:nvPr/>
        </p:nvSpPr>
        <p:spPr bwMode="auto">
          <a:xfrm>
            <a:off x="1120775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</a:t>
            </a:r>
            <a:endParaRPr lang="en-US" altLang="en-US" sz="4000"/>
          </a:p>
        </p:txBody>
      </p:sp>
      <p:sp>
        <p:nvSpPr>
          <p:cNvPr id="17462" name="Freeform 94"/>
          <p:cNvSpPr>
            <a:spLocks/>
          </p:cNvSpPr>
          <p:nvPr/>
        </p:nvSpPr>
        <p:spPr bwMode="auto">
          <a:xfrm>
            <a:off x="1736725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3" name="Rectangle 96"/>
          <p:cNvSpPr>
            <a:spLocks noChangeArrowheads="1"/>
          </p:cNvSpPr>
          <p:nvPr/>
        </p:nvSpPr>
        <p:spPr bwMode="auto">
          <a:xfrm>
            <a:off x="1828800" y="4114800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ABD</a:t>
            </a:r>
            <a:endParaRPr lang="en-US" altLang="en-US" sz="4000"/>
          </a:p>
        </p:txBody>
      </p:sp>
      <p:sp>
        <p:nvSpPr>
          <p:cNvPr id="17464" name="Freeform 97"/>
          <p:cNvSpPr>
            <a:spLocks/>
          </p:cNvSpPr>
          <p:nvPr/>
        </p:nvSpPr>
        <p:spPr bwMode="auto">
          <a:xfrm>
            <a:off x="2441575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5" name="Rectangle 99"/>
          <p:cNvSpPr>
            <a:spLocks noChangeArrowheads="1"/>
          </p:cNvSpPr>
          <p:nvPr/>
        </p:nvSpPr>
        <p:spPr bwMode="auto">
          <a:xfrm>
            <a:off x="2517775" y="4129088"/>
            <a:ext cx="2809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ABE</a:t>
            </a:r>
            <a:endParaRPr lang="en-US" altLang="en-US" sz="4000"/>
          </a:p>
        </p:txBody>
      </p:sp>
      <p:sp>
        <p:nvSpPr>
          <p:cNvPr id="17466" name="Freeform 100"/>
          <p:cNvSpPr>
            <a:spLocks/>
          </p:cNvSpPr>
          <p:nvPr/>
        </p:nvSpPr>
        <p:spPr bwMode="auto">
          <a:xfrm>
            <a:off x="3148013" y="4052888"/>
            <a:ext cx="430212" cy="312737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3" y="207"/>
                  <a:pt x="1303" y="463"/>
                </a:cubicBezTo>
                <a:cubicBezTo>
                  <a:pt x="1303" y="463"/>
                  <a:pt x="1303" y="463"/>
                  <a:pt x="1303" y="463"/>
                </a:cubicBezTo>
                <a:cubicBezTo>
                  <a:pt x="1303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7" name="Freeform 101"/>
          <p:cNvSpPr>
            <a:spLocks/>
          </p:cNvSpPr>
          <p:nvPr/>
        </p:nvSpPr>
        <p:spPr bwMode="auto">
          <a:xfrm>
            <a:off x="3148013" y="4052888"/>
            <a:ext cx="430212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8" name="Rectangle 102"/>
          <p:cNvSpPr>
            <a:spLocks noChangeArrowheads="1"/>
          </p:cNvSpPr>
          <p:nvPr/>
        </p:nvSpPr>
        <p:spPr bwMode="auto">
          <a:xfrm>
            <a:off x="3216275" y="4129088"/>
            <a:ext cx="2968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ACD</a:t>
            </a:r>
            <a:endParaRPr lang="en-US" altLang="en-US" sz="4000"/>
          </a:p>
        </p:txBody>
      </p:sp>
      <p:sp>
        <p:nvSpPr>
          <p:cNvPr id="17469" name="Freeform 103"/>
          <p:cNvSpPr>
            <a:spLocks/>
          </p:cNvSpPr>
          <p:nvPr/>
        </p:nvSpPr>
        <p:spPr bwMode="auto">
          <a:xfrm>
            <a:off x="3852863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0" name="Freeform 104"/>
          <p:cNvSpPr>
            <a:spLocks/>
          </p:cNvSpPr>
          <p:nvPr/>
        </p:nvSpPr>
        <p:spPr bwMode="auto">
          <a:xfrm>
            <a:off x="3852863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1" name="Rectangle 105"/>
          <p:cNvSpPr>
            <a:spLocks noChangeArrowheads="1"/>
          </p:cNvSpPr>
          <p:nvPr/>
        </p:nvSpPr>
        <p:spPr bwMode="auto">
          <a:xfrm>
            <a:off x="3924300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ACE</a:t>
            </a:r>
            <a:endParaRPr lang="en-US" altLang="en-US" sz="4000"/>
          </a:p>
        </p:txBody>
      </p:sp>
      <p:sp>
        <p:nvSpPr>
          <p:cNvPr id="17472" name="Freeform 106"/>
          <p:cNvSpPr>
            <a:spLocks/>
          </p:cNvSpPr>
          <p:nvPr/>
        </p:nvSpPr>
        <p:spPr bwMode="auto">
          <a:xfrm>
            <a:off x="4538663" y="4052888"/>
            <a:ext cx="431800" cy="312737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3"/>
                </a:moveTo>
                <a:cubicBezTo>
                  <a:pt x="0" y="207"/>
                  <a:pt x="291" y="0"/>
                  <a:pt x="651" y="0"/>
                </a:cubicBezTo>
                <a:cubicBezTo>
                  <a:pt x="1012" y="0"/>
                  <a:pt x="1303" y="207"/>
                  <a:pt x="1303" y="463"/>
                </a:cubicBezTo>
                <a:cubicBezTo>
                  <a:pt x="1303" y="463"/>
                  <a:pt x="1303" y="463"/>
                  <a:pt x="1303" y="463"/>
                </a:cubicBezTo>
                <a:cubicBezTo>
                  <a:pt x="1303" y="720"/>
                  <a:pt x="1012" y="927"/>
                  <a:pt x="651" y="927"/>
                </a:cubicBezTo>
                <a:cubicBezTo>
                  <a:pt x="291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3" name="Freeform 107"/>
          <p:cNvSpPr>
            <a:spLocks/>
          </p:cNvSpPr>
          <p:nvPr/>
        </p:nvSpPr>
        <p:spPr bwMode="auto">
          <a:xfrm>
            <a:off x="4538663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4" name="Rectangle 108"/>
          <p:cNvSpPr>
            <a:spLocks noChangeArrowheads="1"/>
          </p:cNvSpPr>
          <p:nvPr/>
        </p:nvSpPr>
        <p:spPr bwMode="auto">
          <a:xfrm>
            <a:off x="4611688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ADE</a:t>
            </a:r>
            <a:endParaRPr lang="en-US" altLang="en-US" sz="4000"/>
          </a:p>
        </p:txBody>
      </p:sp>
      <p:sp>
        <p:nvSpPr>
          <p:cNvPr id="17475" name="Freeform 109"/>
          <p:cNvSpPr>
            <a:spLocks/>
          </p:cNvSpPr>
          <p:nvPr/>
        </p:nvSpPr>
        <p:spPr bwMode="auto">
          <a:xfrm>
            <a:off x="5264150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6" name="Freeform 110"/>
          <p:cNvSpPr>
            <a:spLocks/>
          </p:cNvSpPr>
          <p:nvPr/>
        </p:nvSpPr>
        <p:spPr bwMode="auto">
          <a:xfrm>
            <a:off x="5264150" y="4052888"/>
            <a:ext cx="430213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7" name="Rectangle 111"/>
          <p:cNvSpPr>
            <a:spLocks noChangeArrowheads="1"/>
          </p:cNvSpPr>
          <p:nvPr/>
        </p:nvSpPr>
        <p:spPr bwMode="auto">
          <a:xfrm>
            <a:off x="5332413" y="4129088"/>
            <a:ext cx="2968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BCD</a:t>
            </a:r>
            <a:endParaRPr lang="en-US" altLang="en-US" sz="4000"/>
          </a:p>
        </p:txBody>
      </p:sp>
      <p:sp>
        <p:nvSpPr>
          <p:cNvPr id="17478" name="Freeform 112"/>
          <p:cNvSpPr>
            <a:spLocks/>
          </p:cNvSpPr>
          <p:nvPr/>
        </p:nvSpPr>
        <p:spPr bwMode="auto">
          <a:xfrm>
            <a:off x="5949950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9" name="Freeform 113"/>
          <p:cNvSpPr>
            <a:spLocks/>
          </p:cNvSpPr>
          <p:nvPr/>
        </p:nvSpPr>
        <p:spPr bwMode="auto">
          <a:xfrm>
            <a:off x="5949950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0" name="Rectangle 114"/>
          <p:cNvSpPr>
            <a:spLocks noChangeArrowheads="1"/>
          </p:cNvSpPr>
          <p:nvPr/>
        </p:nvSpPr>
        <p:spPr bwMode="auto">
          <a:xfrm>
            <a:off x="6019800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BCE</a:t>
            </a:r>
            <a:endParaRPr lang="en-US" altLang="en-US" sz="4000"/>
          </a:p>
        </p:txBody>
      </p:sp>
      <p:sp>
        <p:nvSpPr>
          <p:cNvPr id="17481" name="Freeform 115"/>
          <p:cNvSpPr>
            <a:spLocks/>
          </p:cNvSpPr>
          <p:nvPr/>
        </p:nvSpPr>
        <p:spPr bwMode="auto">
          <a:xfrm>
            <a:off x="6654800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2" name="Freeform 116"/>
          <p:cNvSpPr>
            <a:spLocks/>
          </p:cNvSpPr>
          <p:nvPr/>
        </p:nvSpPr>
        <p:spPr bwMode="auto">
          <a:xfrm>
            <a:off x="6654800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3" name="Rectangle 117"/>
          <p:cNvSpPr>
            <a:spLocks noChangeArrowheads="1"/>
          </p:cNvSpPr>
          <p:nvPr/>
        </p:nvSpPr>
        <p:spPr bwMode="auto">
          <a:xfrm>
            <a:off x="6727825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BDE</a:t>
            </a:r>
            <a:endParaRPr lang="en-US" altLang="en-US" sz="4000"/>
          </a:p>
        </p:txBody>
      </p:sp>
      <p:sp>
        <p:nvSpPr>
          <p:cNvPr id="17484" name="Freeform 118"/>
          <p:cNvSpPr>
            <a:spLocks/>
          </p:cNvSpPr>
          <p:nvPr/>
        </p:nvSpPr>
        <p:spPr bwMode="auto">
          <a:xfrm>
            <a:off x="7321550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87" name="Freeform 119"/>
          <p:cNvSpPr>
            <a:spLocks/>
          </p:cNvSpPr>
          <p:nvPr/>
        </p:nvSpPr>
        <p:spPr bwMode="auto">
          <a:xfrm>
            <a:off x="7321550" y="4052888"/>
            <a:ext cx="430213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solidFill>
            <a:schemeClr val="accent2"/>
          </a:solidFill>
          <a:ln w="15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6" name="Rectangle 120"/>
          <p:cNvSpPr>
            <a:spLocks noChangeArrowheads="1"/>
          </p:cNvSpPr>
          <p:nvPr/>
        </p:nvSpPr>
        <p:spPr bwMode="auto">
          <a:xfrm>
            <a:off x="7389813" y="4129088"/>
            <a:ext cx="2968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CDE</a:t>
            </a:r>
            <a:endParaRPr lang="en-US" altLang="en-US" sz="4000"/>
          </a:p>
        </p:txBody>
      </p:sp>
      <p:sp>
        <p:nvSpPr>
          <p:cNvPr id="17487" name="Line 121"/>
          <p:cNvSpPr>
            <a:spLocks noChangeShapeType="1"/>
          </p:cNvSpPr>
          <p:nvPr/>
        </p:nvSpPr>
        <p:spPr bwMode="auto">
          <a:xfrm>
            <a:off x="4402138" y="1544638"/>
            <a:ext cx="158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8" name="Line 122"/>
          <p:cNvSpPr>
            <a:spLocks noChangeShapeType="1"/>
          </p:cNvSpPr>
          <p:nvPr/>
        </p:nvSpPr>
        <p:spPr bwMode="auto">
          <a:xfrm flipH="1">
            <a:off x="3479800" y="1544638"/>
            <a:ext cx="922338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9" name="Line 123"/>
          <p:cNvSpPr>
            <a:spLocks noChangeShapeType="1"/>
          </p:cNvSpPr>
          <p:nvPr/>
        </p:nvSpPr>
        <p:spPr bwMode="auto">
          <a:xfrm flipH="1">
            <a:off x="2540000" y="1544638"/>
            <a:ext cx="1862138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0" name="Line 124"/>
          <p:cNvSpPr>
            <a:spLocks noChangeShapeType="1"/>
          </p:cNvSpPr>
          <p:nvPr/>
        </p:nvSpPr>
        <p:spPr bwMode="auto">
          <a:xfrm>
            <a:off x="4402138" y="1544638"/>
            <a:ext cx="96043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1" name="Line 125"/>
          <p:cNvSpPr>
            <a:spLocks noChangeShapeType="1"/>
          </p:cNvSpPr>
          <p:nvPr/>
        </p:nvSpPr>
        <p:spPr bwMode="auto">
          <a:xfrm>
            <a:off x="4402138" y="1544638"/>
            <a:ext cx="190023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2" name="Line 126"/>
          <p:cNvSpPr>
            <a:spLocks noChangeShapeType="1"/>
          </p:cNvSpPr>
          <p:nvPr/>
        </p:nvSpPr>
        <p:spPr bwMode="auto">
          <a:xfrm flipH="1">
            <a:off x="4068763" y="2251075"/>
            <a:ext cx="3333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3" name="Line 127"/>
          <p:cNvSpPr>
            <a:spLocks noChangeShapeType="1"/>
          </p:cNvSpPr>
          <p:nvPr/>
        </p:nvSpPr>
        <p:spPr bwMode="auto">
          <a:xfrm flipH="1">
            <a:off x="1266825" y="2251075"/>
            <a:ext cx="12731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4" name="Line 128"/>
          <p:cNvSpPr>
            <a:spLocks noChangeShapeType="1"/>
          </p:cNvSpPr>
          <p:nvPr/>
        </p:nvSpPr>
        <p:spPr bwMode="auto">
          <a:xfrm flipH="1">
            <a:off x="1952625" y="2251075"/>
            <a:ext cx="5873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5" name="Line 129"/>
          <p:cNvSpPr>
            <a:spLocks noChangeShapeType="1"/>
          </p:cNvSpPr>
          <p:nvPr/>
        </p:nvSpPr>
        <p:spPr bwMode="auto">
          <a:xfrm>
            <a:off x="2540000" y="2251075"/>
            <a:ext cx="1174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6" name="Line 130"/>
          <p:cNvSpPr>
            <a:spLocks noChangeShapeType="1"/>
          </p:cNvSpPr>
          <p:nvPr/>
        </p:nvSpPr>
        <p:spPr bwMode="auto">
          <a:xfrm>
            <a:off x="2540000" y="2251075"/>
            <a:ext cx="82391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7" name="Line 131"/>
          <p:cNvSpPr>
            <a:spLocks noChangeShapeType="1"/>
          </p:cNvSpPr>
          <p:nvPr/>
        </p:nvSpPr>
        <p:spPr bwMode="auto">
          <a:xfrm>
            <a:off x="3479800" y="2251075"/>
            <a:ext cx="58896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8" name="Line 132"/>
          <p:cNvSpPr>
            <a:spLocks noChangeShapeType="1"/>
          </p:cNvSpPr>
          <p:nvPr/>
        </p:nvSpPr>
        <p:spPr bwMode="auto">
          <a:xfrm flipH="1">
            <a:off x="1266825" y="2251075"/>
            <a:ext cx="22129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9" name="Line 133"/>
          <p:cNvSpPr>
            <a:spLocks noChangeShapeType="1"/>
          </p:cNvSpPr>
          <p:nvPr/>
        </p:nvSpPr>
        <p:spPr bwMode="auto">
          <a:xfrm>
            <a:off x="3479800" y="2251075"/>
            <a:ext cx="127476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0" name="Line 134"/>
          <p:cNvSpPr>
            <a:spLocks noChangeShapeType="1"/>
          </p:cNvSpPr>
          <p:nvPr/>
        </p:nvSpPr>
        <p:spPr bwMode="auto">
          <a:xfrm>
            <a:off x="3479800" y="2251075"/>
            <a:ext cx="2000250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1" name="Line 135"/>
          <p:cNvSpPr>
            <a:spLocks noChangeShapeType="1"/>
          </p:cNvSpPr>
          <p:nvPr/>
        </p:nvSpPr>
        <p:spPr bwMode="auto">
          <a:xfrm flipH="1">
            <a:off x="1952625" y="2251075"/>
            <a:ext cx="244951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2" name="Line 136"/>
          <p:cNvSpPr>
            <a:spLocks noChangeShapeType="1"/>
          </p:cNvSpPr>
          <p:nvPr/>
        </p:nvSpPr>
        <p:spPr bwMode="auto">
          <a:xfrm>
            <a:off x="4402138" y="2251075"/>
            <a:ext cx="176371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3" name="Line 137"/>
          <p:cNvSpPr>
            <a:spLocks noChangeShapeType="1"/>
          </p:cNvSpPr>
          <p:nvPr/>
        </p:nvSpPr>
        <p:spPr bwMode="auto">
          <a:xfrm>
            <a:off x="4402138" y="2251075"/>
            <a:ext cx="246856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4" name="Line 138"/>
          <p:cNvSpPr>
            <a:spLocks noChangeShapeType="1"/>
          </p:cNvSpPr>
          <p:nvPr/>
        </p:nvSpPr>
        <p:spPr bwMode="auto">
          <a:xfrm flipH="1">
            <a:off x="2657475" y="2251075"/>
            <a:ext cx="2705100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5" name="Line 139"/>
          <p:cNvSpPr>
            <a:spLocks noChangeShapeType="1"/>
          </p:cNvSpPr>
          <p:nvPr/>
        </p:nvSpPr>
        <p:spPr bwMode="auto">
          <a:xfrm flipH="1">
            <a:off x="4754563" y="2251075"/>
            <a:ext cx="60801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6" name="Line 140"/>
          <p:cNvSpPr>
            <a:spLocks noChangeShapeType="1"/>
          </p:cNvSpPr>
          <p:nvPr/>
        </p:nvSpPr>
        <p:spPr bwMode="auto">
          <a:xfrm>
            <a:off x="5362575" y="2251075"/>
            <a:ext cx="8032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7" name="Line 141"/>
          <p:cNvSpPr>
            <a:spLocks noChangeShapeType="1"/>
          </p:cNvSpPr>
          <p:nvPr/>
        </p:nvSpPr>
        <p:spPr bwMode="auto">
          <a:xfrm>
            <a:off x="5362575" y="2251075"/>
            <a:ext cx="21748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8" name="Line 142"/>
          <p:cNvSpPr>
            <a:spLocks noChangeShapeType="1"/>
          </p:cNvSpPr>
          <p:nvPr/>
        </p:nvSpPr>
        <p:spPr bwMode="auto">
          <a:xfrm flipH="1">
            <a:off x="3363913" y="2251075"/>
            <a:ext cx="293846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9" name="Line 143"/>
          <p:cNvSpPr>
            <a:spLocks noChangeShapeType="1"/>
          </p:cNvSpPr>
          <p:nvPr/>
        </p:nvSpPr>
        <p:spPr bwMode="auto">
          <a:xfrm flipH="1">
            <a:off x="5480050" y="2251075"/>
            <a:ext cx="82232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0" name="Line 144"/>
          <p:cNvSpPr>
            <a:spLocks noChangeShapeType="1"/>
          </p:cNvSpPr>
          <p:nvPr/>
        </p:nvSpPr>
        <p:spPr bwMode="auto">
          <a:xfrm>
            <a:off x="6302375" y="2251075"/>
            <a:ext cx="56832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1" name="Line 145"/>
          <p:cNvSpPr>
            <a:spLocks noChangeShapeType="1"/>
          </p:cNvSpPr>
          <p:nvPr/>
        </p:nvSpPr>
        <p:spPr bwMode="auto">
          <a:xfrm>
            <a:off x="6302375" y="2251075"/>
            <a:ext cx="12350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2" name="Line 146"/>
          <p:cNvSpPr>
            <a:spLocks noChangeShapeType="1"/>
          </p:cNvSpPr>
          <p:nvPr/>
        </p:nvSpPr>
        <p:spPr bwMode="auto">
          <a:xfrm>
            <a:off x="1266825" y="3268663"/>
            <a:ext cx="15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3" name="Line 147"/>
          <p:cNvSpPr>
            <a:spLocks noChangeShapeType="1"/>
          </p:cNvSpPr>
          <p:nvPr/>
        </p:nvSpPr>
        <p:spPr bwMode="auto">
          <a:xfrm>
            <a:off x="1266825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4" name="Line 148"/>
          <p:cNvSpPr>
            <a:spLocks noChangeShapeType="1"/>
          </p:cNvSpPr>
          <p:nvPr/>
        </p:nvSpPr>
        <p:spPr bwMode="auto">
          <a:xfrm>
            <a:off x="1266825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5" name="Line 149"/>
          <p:cNvSpPr>
            <a:spLocks noChangeShapeType="1"/>
          </p:cNvSpPr>
          <p:nvPr/>
        </p:nvSpPr>
        <p:spPr bwMode="auto">
          <a:xfrm>
            <a:off x="1952625" y="3268663"/>
            <a:ext cx="14112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6" name="Line 150"/>
          <p:cNvSpPr>
            <a:spLocks noChangeShapeType="1"/>
          </p:cNvSpPr>
          <p:nvPr/>
        </p:nvSpPr>
        <p:spPr bwMode="auto">
          <a:xfrm flipH="1">
            <a:off x="1266825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7" name="Line 151"/>
          <p:cNvSpPr>
            <a:spLocks noChangeShapeType="1"/>
          </p:cNvSpPr>
          <p:nvPr/>
        </p:nvSpPr>
        <p:spPr bwMode="auto">
          <a:xfrm>
            <a:off x="1952625" y="3268663"/>
            <a:ext cx="21161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8" name="Line 152"/>
          <p:cNvSpPr>
            <a:spLocks noChangeShapeType="1"/>
          </p:cNvSpPr>
          <p:nvPr/>
        </p:nvSpPr>
        <p:spPr bwMode="auto">
          <a:xfrm flipH="1">
            <a:off x="1952625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9" name="Line 153"/>
          <p:cNvSpPr>
            <a:spLocks noChangeShapeType="1"/>
          </p:cNvSpPr>
          <p:nvPr/>
        </p:nvSpPr>
        <p:spPr bwMode="auto">
          <a:xfrm>
            <a:off x="2657475" y="3268663"/>
            <a:ext cx="7064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0" name="Line 154"/>
          <p:cNvSpPr>
            <a:spLocks noChangeShapeType="1"/>
          </p:cNvSpPr>
          <p:nvPr/>
        </p:nvSpPr>
        <p:spPr bwMode="auto">
          <a:xfrm>
            <a:off x="2657475" y="3268663"/>
            <a:ext cx="20970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1" name="Line 155"/>
          <p:cNvSpPr>
            <a:spLocks noChangeShapeType="1"/>
          </p:cNvSpPr>
          <p:nvPr/>
        </p:nvSpPr>
        <p:spPr bwMode="auto">
          <a:xfrm flipH="1">
            <a:off x="2657475" y="3268663"/>
            <a:ext cx="7064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2" name="Line 156"/>
          <p:cNvSpPr>
            <a:spLocks noChangeShapeType="1"/>
          </p:cNvSpPr>
          <p:nvPr/>
        </p:nvSpPr>
        <p:spPr bwMode="auto">
          <a:xfrm>
            <a:off x="3363913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3" name="Line 157"/>
          <p:cNvSpPr>
            <a:spLocks noChangeShapeType="1"/>
          </p:cNvSpPr>
          <p:nvPr/>
        </p:nvSpPr>
        <p:spPr bwMode="auto">
          <a:xfrm>
            <a:off x="3363913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4" name="Line 158"/>
          <p:cNvSpPr>
            <a:spLocks noChangeShapeType="1"/>
          </p:cNvSpPr>
          <p:nvPr/>
        </p:nvSpPr>
        <p:spPr bwMode="auto">
          <a:xfrm flipH="1">
            <a:off x="1266825" y="3268663"/>
            <a:ext cx="28019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5" name="Line 159"/>
          <p:cNvSpPr>
            <a:spLocks noChangeShapeType="1"/>
          </p:cNvSpPr>
          <p:nvPr/>
        </p:nvSpPr>
        <p:spPr bwMode="auto">
          <a:xfrm>
            <a:off x="4068763" y="3268663"/>
            <a:ext cx="14112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6" name="Line 160"/>
          <p:cNvSpPr>
            <a:spLocks noChangeShapeType="1"/>
          </p:cNvSpPr>
          <p:nvPr/>
        </p:nvSpPr>
        <p:spPr bwMode="auto">
          <a:xfrm>
            <a:off x="4068763" y="3268663"/>
            <a:ext cx="20970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7" name="Line 161"/>
          <p:cNvSpPr>
            <a:spLocks noChangeShapeType="1"/>
          </p:cNvSpPr>
          <p:nvPr/>
        </p:nvSpPr>
        <p:spPr bwMode="auto">
          <a:xfrm flipH="1">
            <a:off x="1952625" y="3268663"/>
            <a:ext cx="28019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8" name="Line 162"/>
          <p:cNvSpPr>
            <a:spLocks noChangeShapeType="1"/>
          </p:cNvSpPr>
          <p:nvPr/>
        </p:nvSpPr>
        <p:spPr bwMode="auto">
          <a:xfrm>
            <a:off x="4754563" y="3268663"/>
            <a:ext cx="7254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9" name="Line 163"/>
          <p:cNvSpPr>
            <a:spLocks noChangeShapeType="1"/>
          </p:cNvSpPr>
          <p:nvPr/>
        </p:nvSpPr>
        <p:spPr bwMode="auto">
          <a:xfrm>
            <a:off x="4754563" y="3268663"/>
            <a:ext cx="21161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0" name="Line 164"/>
          <p:cNvSpPr>
            <a:spLocks noChangeShapeType="1"/>
          </p:cNvSpPr>
          <p:nvPr/>
        </p:nvSpPr>
        <p:spPr bwMode="auto">
          <a:xfrm flipH="1">
            <a:off x="2657475" y="3268663"/>
            <a:ext cx="28225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1" name="Line 165"/>
          <p:cNvSpPr>
            <a:spLocks noChangeShapeType="1"/>
          </p:cNvSpPr>
          <p:nvPr/>
        </p:nvSpPr>
        <p:spPr bwMode="auto">
          <a:xfrm>
            <a:off x="5480050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2" name="Line 166"/>
          <p:cNvSpPr>
            <a:spLocks noChangeShapeType="1"/>
          </p:cNvSpPr>
          <p:nvPr/>
        </p:nvSpPr>
        <p:spPr bwMode="auto">
          <a:xfrm>
            <a:off x="5480050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3" name="Line 167"/>
          <p:cNvSpPr>
            <a:spLocks noChangeShapeType="1"/>
          </p:cNvSpPr>
          <p:nvPr/>
        </p:nvSpPr>
        <p:spPr bwMode="auto">
          <a:xfrm flipH="1">
            <a:off x="3363913" y="3268663"/>
            <a:ext cx="28019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4" name="Line 168"/>
          <p:cNvSpPr>
            <a:spLocks noChangeShapeType="1"/>
          </p:cNvSpPr>
          <p:nvPr/>
        </p:nvSpPr>
        <p:spPr bwMode="auto">
          <a:xfrm flipH="1">
            <a:off x="5480050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5" name="Line 169"/>
          <p:cNvSpPr>
            <a:spLocks noChangeShapeType="1"/>
          </p:cNvSpPr>
          <p:nvPr/>
        </p:nvSpPr>
        <p:spPr bwMode="auto">
          <a:xfrm>
            <a:off x="6165850" y="3268663"/>
            <a:ext cx="13716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6" name="Line 170"/>
          <p:cNvSpPr>
            <a:spLocks noChangeShapeType="1"/>
          </p:cNvSpPr>
          <p:nvPr/>
        </p:nvSpPr>
        <p:spPr bwMode="auto">
          <a:xfrm flipH="1">
            <a:off x="4068763" y="3268663"/>
            <a:ext cx="28019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7" name="Line 171"/>
          <p:cNvSpPr>
            <a:spLocks noChangeShapeType="1"/>
          </p:cNvSpPr>
          <p:nvPr/>
        </p:nvSpPr>
        <p:spPr bwMode="auto">
          <a:xfrm flipH="1">
            <a:off x="6165850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8" name="Line 172"/>
          <p:cNvSpPr>
            <a:spLocks noChangeShapeType="1"/>
          </p:cNvSpPr>
          <p:nvPr/>
        </p:nvSpPr>
        <p:spPr bwMode="auto">
          <a:xfrm>
            <a:off x="6870700" y="3268663"/>
            <a:ext cx="6667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9" name="Line 173"/>
          <p:cNvSpPr>
            <a:spLocks noChangeShapeType="1"/>
          </p:cNvSpPr>
          <p:nvPr/>
        </p:nvSpPr>
        <p:spPr bwMode="auto">
          <a:xfrm flipH="1">
            <a:off x="4754563" y="3268663"/>
            <a:ext cx="27828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0" name="Line 174"/>
          <p:cNvSpPr>
            <a:spLocks noChangeShapeType="1"/>
          </p:cNvSpPr>
          <p:nvPr/>
        </p:nvSpPr>
        <p:spPr bwMode="auto">
          <a:xfrm flipH="1">
            <a:off x="6870700" y="3268663"/>
            <a:ext cx="6667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1" name="Line 175"/>
          <p:cNvSpPr>
            <a:spLocks noChangeShapeType="1"/>
          </p:cNvSpPr>
          <p:nvPr/>
        </p:nvSpPr>
        <p:spPr bwMode="auto">
          <a:xfrm>
            <a:off x="7537450" y="3268663"/>
            <a:ext cx="15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2" name="Freeform 176"/>
          <p:cNvSpPr>
            <a:spLocks/>
          </p:cNvSpPr>
          <p:nvPr/>
        </p:nvSpPr>
        <p:spPr bwMode="auto">
          <a:xfrm>
            <a:off x="2246313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3" name="Rectangle 178"/>
          <p:cNvSpPr>
            <a:spLocks noChangeArrowheads="1"/>
          </p:cNvSpPr>
          <p:nvPr/>
        </p:nvSpPr>
        <p:spPr bwMode="auto">
          <a:xfrm>
            <a:off x="2347913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ABCD</a:t>
            </a:r>
            <a:endParaRPr lang="en-US" altLang="en-US" sz="4000"/>
          </a:p>
        </p:txBody>
      </p:sp>
      <p:sp>
        <p:nvSpPr>
          <p:cNvPr id="17544" name="Freeform 179"/>
          <p:cNvSpPr>
            <a:spLocks/>
          </p:cNvSpPr>
          <p:nvPr/>
        </p:nvSpPr>
        <p:spPr bwMode="auto">
          <a:xfrm>
            <a:off x="3167063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5" name="Rectangle 181"/>
          <p:cNvSpPr>
            <a:spLocks noChangeArrowheads="1"/>
          </p:cNvSpPr>
          <p:nvPr/>
        </p:nvSpPr>
        <p:spPr bwMode="auto">
          <a:xfrm>
            <a:off x="3268663" y="5226050"/>
            <a:ext cx="3825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ABCE</a:t>
            </a:r>
            <a:endParaRPr lang="en-US" altLang="en-US" sz="4000"/>
          </a:p>
        </p:txBody>
      </p:sp>
      <p:sp>
        <p:nvSpPr>
          <p:cNvPr id="17546" name="Freeform 182"/>
          <p:cNvSpPr>
            <a:spLocks/>
          </p:cNvSpPr>
          <p:nvPr/>
        </p:nvSpPr>
        <p:spPr bwMode="auto">
          <a:xfrm>
            <a:off x="4108450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7" name="Rectangle 184"/>
          <p:cNvSpPr>
            <a:spLocks noChangeArrowheads="1"/>
          </p:cNvSpPr>
          <p:nvPr/>
        </p:nvSpPr>
        <p:spPr bwMode="auto">
          <a:xfrm>
            <a:off x="4210050" y="5226050"/>
            <a:ext cx="3825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ABDE</a:t>
            </a:r>
            <a:endParaRPr lang="en-US" altLang="en-US" sz="4000"/>
          </a:p>
        </p:txBody>
      </p:sp>
      <p:sp>
        <p:nvSpPr>
          <p:cNvPr id="17548" name="Freeform 185"/>
          <p:cNvSpPr>
            <a:spLocks/>
          </p:cNvSpPr>
          <p:nvPr/>
        </p:nvSpPr>
        <p:spPr bwMode="auto">
          <a:xfrm>
            <a:off x="5048250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9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9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49" name="Freeform 186"/>
          <p:cNvSpPr>
            <a:spLocks/>
          </p:cNvSpPr>
          <p:nvPr/>
        </p:nvSpPr>
        <p:spPr bwMode="auto">
          <a:xfrm>
            <a:off x="5048250" y="5149850"/>
            <a:ext cx="587375" cy="314325"/>
          </a:xfrm>
          <a:custGeom>
            <a:avLst/>
            <a:gdLst>
              <a:gd name="T0" fmla="*/ 0 w 370"/>
              <a:gd name="T1" fmla="*/ 2147483646 h 198"/>
              <a:gd name="T2" fmla="*/ 2147483646 w 370"/>
              <a:gd name="T3" fmla="*/ 0 h 198"/>
              <a:gd name="T4" fmla="*/ 2147483646 w 370"/>
              <a:gd name="T5" fmla="*/ 2147483646 h 198"/>
              <a:gd name="T6" fmla="*/ 2147483646 w 370"/>
              <a:gd name="T7" fmla="*/ 2147483646 h 198"/>
              <a:gd name="T8" fmla="*/ 2147483646 w 370"/>
              <a:gd name="T9" fmla="*/ 2147483646 h 198"/>
              <a:gd name="T10" fmla="*/ 0 w 370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0"/>
              <a:gd name="T19" fmla="*/ 0 h 198"/>
              <a:gd name="T20" fmla="*/ 370 w 370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0" h="198">
                <a:moveTo>
                  <a:pt x="0" y="99"/>
                </a:moveTo>
                <a:cubicBezTo>
                  <a:pt x="0" y="44"/>
                  <a:pt x="83" y="0"/>
                  <a:pt x="185" y="0"/>
                </a:cubicBezTo>
                <a:cubicBezTo>
                  <a:pt x="287" y="0"/>
                  <a:pt x="370" y="44"/>
                  <a:pt x="370" y="99"/>
                </a:cubicBezTo>
                <a:cubicBezTo>
                  <a:pt x="370" y="99"/>
                  <a:pt x="370" y="99"/>
                  <a:pt x="370" y="99"/>
                </a:cubicBezTo>
                <a:cubicBezTo>
                  <a:pt x="370" y="153"/>
                  <a:pt x="287" y="198"/>
                  <a:pt x="185" y="198"/>
                </a:cubicBezTo>
                <a:cubicBezTo>
                  <a:pt x="83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0" name="Rectangle 187"/>
          <p:cNvSpPr>
            <a:spLocks noChangeArrowheads="1"/>
          </p:cNvSpPr>
          <p:nvPr/>
        </p:nvSpPr>
        <p:spPr bwMode="auto">
          <a:xfrm>
            <a:off x="5146675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ACDE</a:t>
            </a:r>
            <a:endParaRPr lang="en-US" altLang="en-US" sz="4000"/>
          </a:p>
        </p:txBody>
      </p:sp>
      <p:sp>
        <p:nvSpPr>
          <p:cNvPr id="17551" name="Freeform 188"/>
          <p:cNvSpPr>
            <a:spLocks/>
          </p:cNvSpPr>
          <p:nvPr/>
        </p:nvSpPr>
        <p:spPr bwMode="auto">
          <a:xfrm>
            <a:off x="5969000" y="5149850"/>
            <a:ext cx="588963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52" name="Freeform 189"/>
          <p:cNvSpPr>
            <a:spLocks/>
          </p:cNvSpPr>
          <p:nvPr/>
        </p:nvSpPr>
        <p:spPr bwMode="auto">
          <a:xfrm>
            <a:off x="5969000" y="5149850"/>
            <a:ext cx="588963" cy="314325"/>
          </a:xfrm>
          <a:custGeom>
            <a:avLst/>
            <a:gdLst>
              <a:gd name="T0" fmla="*/ 0 w 371"/>
              <a:gd name="T1" fmla="*/ 2147483646 h 198"/>
              <a:gd name="T2" fmla="*/ 2147483646 w 371"/>
              <a:gd name="T3" fmla="*/ 0 h 198"/>
              <a:gd name="T4" fmla="*/ 2147483646 w 371"/>
              <a:gd name="T5" fmla="*/ 2147483646 h 198"/>
              <a:gd name="T6" fmla="*/ 2147483646 w 371"/>
              <a:gd name="T7" fmla="*/ 2147483646 h 198"/>
              <a:gd name="T8" fmla="*/ 2147483646 w 371"/>
              <a:gd name="T9" fmla="*/ 2147483646 h 198"/>
              <a:gd name="T10" fmla="*/ 0 w 3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1"/>
              <a:gd name="T19" fmla="*/ 0 h 198"/>
              <a:gd name="T20" fmla="*/ 371 w 3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1" h="198">
                <a:moveTo>
                  <a:pt x="0" y="99"/>
                </a:moveTo>
                <a:cubicBezTo>
                  <a:pt x="0" y="44"/>
                  <a:pt x="83" y="0"/>
                  <a:pt x="185" y="0"/>
                </a:cubicBezTo>
                <a:cubicBezTo>
                  <a:pt x="288" y="0"/>
                  <a:pt x="371" y="44"/>
                  <a:pt x="371" y="99"/>
                </a:cubicBezTo>
                <a:cubicBezTo>
                  <a:pt x="371" y="99"/>
                  <a:pt x="371" y="99"/>
                  <a:pt x="371" y="99"/>
                </a:cubicBezTo>
                <a:cubicBezTo>
                  <a:pt x="371" y="153"/>
                  <a:pt x="288" y="198"/>
                  <a:pt x="185" y="198"/>
                </a:cubicBezTo>
                <a:cubicBezTo>
                  <a:pt x="83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3" name="Rectangle 190"/>
          <p:cNvSpPr>
            <a:spLocks noChangeArrowheads="1"/>
          </p:cNvSpPr>
          <p:nvPr/>
        </p:nvSpPr>
        <p:spPr bwMode="auto">
          <a:xfrm>
            <a:off x="6067425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BCDE</a:t>
            </a:r>
            <a:endParaRPr lang="en-US" altLang="en-US" sz="4000"/>
          </a:p>
        </p:txBody>
      </p:sp>
      <p:sp>
        <p:nvSpPr>
          <p:cNvPr id="17554" name="Line 191"/>
          <p:cNvSpPr>
            <a:spLocks noChangeShapeType="1"/>
          </p:cNvSpPr>
          <p:nvPr/>
        </p:nvSpPr>
        <p:spPr bwMode="auto">
          <a:xfrm>
            <a:off x="1266825" y="4365625"/>
            <a:ext cx="12731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5" name="Line 192"/>
          <p:cNvSpPr>
            <a:spLocks noChangeShapeType="1"/>
          </p:cNvSpPr>
          <p:nvPr/>
        </p:nvSpPr>
        <p:spPr bwMode="auto">
          <a:xfrm>
            <a:off x="1295400" y="4343400"/>
            <a:ext cx="21939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6" name="Line 193"/>
          <p:cNvSpPr>
            <a:spLocks noChangeShapeType="1"/>
          </p:cNvSpPr>
          <p:nvPr/>
        </p:nvSpPr>
        <p:spPr bwMode="auto">
          <a:xfrm>
            <a:off x="1952625" y="4365625"/>
            <a:ext cx="5873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7" name="Line 194"/>
          <p:cNvSpPr>
            <a:spLocks noChangeShapeType="1"/>
          </p:cNvSpPr>
          <p:nvPr/>
        </p:nvSpPr>
        <p:spPr bwMode="auto">
          <a:xfrm>
            <a:off x="1952625" y="4365625"/>
            <a:ext cx="24495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8" name="Line 195"/>
          <p:cNvSpPr>
            <a:spLocks noChangeShapeType="1"/>
          </p:cNvSpPr>
          <p:nvPr/>
        </p:nvSpPr>
        <p:spPr bwMode="auto">
          <a:xfrm>
            <a:off x="2657475" y="4365625"/>
            <a:ext cx="8032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9" name="Line 196"/>
          <p:cNvSpPr>
            <a:spLocks noChangeShapeType="1"/>
          </p:cNvSpPr>
          <p:nvPr/>
        </p:nvSpPr>
        <p:spPr bwMode="auto">
          <a:xfrm>
            <a:off x="2657475" y="4365625"/>
            <a:ext cx="174466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0" name="Line 197"/>
          <p:cNvSpPr>
            <a:spLocks noChangeShapeType="1"/>
          </p:cNvSpPr>
          <p:nvPr/>
        </p:nvSpPr>
        <p:spPr bwMode="auto">
          <a:xfrm>
            <a:off x="3363913" y="4365625"/>
            <a:ext cx="19780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1" name="Line 198"/>
          <p:cNvSpPr>
            <a:spLocks noChangeShapeType="1"/>
          </p:cNvSpPr>
          <p:nvPr/>
        </p:nvSpPr>
        <p:spPr bwMode="auto">
          <a:xfrm flipH="1">
            <a:off x="2540000" y="4365625"/>
            <a:ext cx="8239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2" name="Line 199"/>
          <p:cNvSpPr>
            <a:spLocks noChangeShapeType="1"/>
          </p:cNvSpPr>
          <p:nvPr/>
        </p:nvSpPr>
        <p:spPr bwMode="auto">
          <a:xfrm flipH="1">
            <a:off x="3460750" y="4365625"/>
            <a:ext cx="6080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3" name="Line 200"/>
          <p:cNvSpPr>
            <a:spLocks noChangeShapeType="1"/>
          </p:cNvSpPr>
          <p:nvPr/>
        </p:nvSpPr>
        <p:spPr bwMode="auto">
          <a:xfrm flipH="1" flipV="1">
            <a:off x="4068763" y="4365625"/>
            <a:ext cx="12731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4" name="Line 201"/>
          <p:cNvSpPr>
            <a:spLocks noChangeShapeType="1"/>
          </p:cNvSpPr>
          <p:nvPr/>
        </p:nvSpPr>
        <p:spPr bwMode="auto">
          <a:xfrm flipH="1">
            <a:off x="4402138" y="4365625"/>
            <a:ext cx="3524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5" name="Line 202"/>
          <p:cNvSpPr>
            <a:spLocks noChangeShapeType="1"/>
          </p:cNvSpPr>
          <p:nvPr/>
        </p:nvSpPr>
        <p:spPr bwMode="auto">
          <a:xfrm>
            <a:off x="4754563" y="4365625"/>
            <a:ext cx="5873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6" name="Line 203"/>
          <p:cNvSpPr>
            <a:spLocks noChangeShapeType="1"/>
          </p:cNvSpPr>
          <p:nvPr/>
        </p:nvSpPr>
        <p:spPr bwMode="auto">
          <a:xfrm flipH="1">
            <a:off x="2540000" y="4365625"/>
            <a:ext cx="29400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7" name="Line 204"/>
          <p:cNvSpPr>
            <a:spLocks noChangeShapeType="1"/>
          </p:cNvSpPr>
          <p:nvPr/>
        </p:nvSpPr>
        <p:spPr bwMode="auto">
          <a:xfrm>
            <a:off x="5480050" y="4365625"/>
            <a:ext cx="7826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8" name="Line 205"/>
          <p:cNvSpPr>
            <a:spLocks noChangeShapeType="1"/>
          </p:cNvSpPr>
          <p:nvPr/>
        </p:nvSpPr>
        <p:spPr bwMode="auto">
          <a:xfrm flipH="1">
            <a:off x="3460750" y="4365625"/>
            <a:ext cx="27051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9" name="Line 206"/>
          <p:cNvSpPr>
            <a:spLocks noChangeShapeType="1"/>
          </p:cNvSpPr>
          <p:nvPr/>
        </p:nvSpPr>
        <p:spPr bwMode="auto">
          <a:xfrm>
            <a:off x="6165850" y="4365625"/>
            <a:ext cx="968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0" name="Line 207"/>
          <p:cNvSpPr>
            <a:spLocks noChangeShapeType="1"/>
          </p:cNvSpPr>
          <p:nvPr/>
        </p:nvSpPr>
        <p:spPr bwMode="auto">
          <a:xfrm flipH="1">
            <a:off x="6262688" y="4365625"/>
            <a:ext cx="60801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1" name="Line 208"/>
          <p:cNvSpPr>
            <a:spLocks noChangeShapeType="1"/>
          </p:cNvSpPr>
          <p:nvPr/>
        </p:nvSpPr>
        <p:spPr bwMode="auto">
          <a:xfrm flipH="1">
            <a:off x="4402138" y="4365625"/>
            <a:ext cx="246856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2" name="Line 209"/>
          <p:cNvSpPr>
            <a:spLocks noChangeShapeType="1"/>
          </p:cNvSpPr>
          <p:nvPr/>
        </p:nvSpPr>
        <p:spPr bwMode="auto">
          <a:xfrm flipH="1">
            <a:off x="5341938" y="4365625"/>
            <a:ext cx="219551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3" name="Line 210"/>
          <p:cNvSpPr>
            <a:spLocks noChangeShapeType="1"/>
          </p:cNvSpPr>
          <p:nvPr/>
        </p:nvSpPr>
        <p:spPr bwMode="auto">
          <a:xfrm flipH="1">
            <a:off x="6262688" y="4365625"/>
            <a:ext cx="127476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4" name="Freeform 211"/>
          <p:cNvSpPr>
            <a:spLocks/>
          </p:cNvSpPr>
          <p:nvPr/>
        </p:nvSpPr>
        <p:spPr bwMode="auto">
          <a:xfrm>
            <a:off x="4021138" y="5973763"/>
            <a:ext cx="755650" cy="312737"/>
          </a:xfrm>
          <a:custGeom>
            <a:avLst/>
            <a:gdLst>
              <a:gd name="T0" fmla="*/ 0 w 2285"/>
              <a:gd name="T1" fmla="*/ 2147483646 h 928"/>
              <a:gd name="T2" fmla="*/ 2147483646 w 2285"/>
              <a:gd name="T3" fmla="*/ 0 h 928"/>
              <a:gd name="T4" fmla="*/ 2147483646 w 2285"/>
              <a:gd name="T5" fmla="*/ 2147483646 h 928"/>
              <a:gd name="T6" fmla="*/ 2147483646 w 2285"/>
              <a:gd name="T7" fmla="*/ 2147483646 h 928"/>
              <a:gd name="T8" fmla="*/ 2147483646 w 2285"/>
              <a:gd name="T9" fmla="*/ 2147483646 h 928"/>
              <a:gd name="T10" fmla="*/ 0 w 2285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85"/>
              <a:gd name="T19" fmla="*/ 0 h 928"/>
              <a:gd name="T20" fmla="*/ 2285 w 2285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85" h="928">
                <a:moveTo>
                  <a:pt x="0" y="464"/>
                </a:moveTo>
                <a:cubicBezTo>
                  <a:pt x="0" y="208"/>
                  <a:pt x="512" y="0"/>
                  <a:pt x="1143" y="0"/>
                </a:cubicBezTo>
                <a:cubicBezTo>
                  <a:pt x="1774" y="0"/>
                  <a:pt x="2285" y="208"/>
                  <a:pt x="2285" y="464"/>
                </a:cubicBezTo>
                <a:cubicBezTo>
                  <a:pt x="2285" y="464"/>
                  <a:pt x="2285" y="464"/>
                  <a:pt x="2285" y="464"/>
                </a:cubicBezTo>
                <a:cubicBezTo>
                  <a:pt x="2285" y="720"/>
                  <a:pt x="1774" y="928"/>
                  <a:pt x="1143" y="928"/>
                </a:cubicBezTo>
                <a:cubicBezTo>
                  <a:pt x="512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5" name="Rectangle 213"/>
          <p:cNvSpPr>
            <a:spLocks noChangeArrowheads="1"/>
          </p:cNvSpPr>
          <p:nvPr/>
        </p:nvSpPr>
        <p:spPr bwMode="auto">
          <a:xfrm>
            <a:off x="4157663" y="6048375"/>
            <a:ext cx="4841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ABCDE</a:t>
            </a:r>
            <a:endParaRPr lang="en-US" altLang="en-US" sz="4000"/>
          </a:p>
        </p:txBody>
      </p:sp>
      <p:sp>
        <p:nvSpPr>
          <p:cNvPr id="17576" name="Line 214"/>
          <p:cNvSpPr>
            <a:spLocks noChangeShapeType="1"/>
          </p:cNvSpPr>
          <p:nvPr/>
        </p:nvSpPr>
        <p:spPr bwMode="auto">
          <a:xfrm>
            <a:off x="2540000" y="5464175"/>
            <a:ext cx="1858963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7" name="Line 215"/>
          <p:cNvSpPr>
            <a:spLocks noChangeShapeType="1"/>
          </p:cNvSpPr>
          <p:nvPr/>
        </p:nvSpPr>
        <p:spPr bwMode="auto">
          <a:xfrm>
            <a:off x="3460750" y="5464175"/>
            <a:ext cx="938213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8" name="Line 216"/>
          <p:cNvSpPr>
            <a:spLocks noChangeShapeType="1"/>
          </p:cNvSpPr>
          <p:nvPr/>
        </p:nvSpPr>
        <p:spPr bwMode="auto">
          <a:xfrm flipH="1">
            <a:off x="4398963" y="5464175"/>
            <a:ext cx="317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9" name="Line 217"/>
          <p:cNvSpPr>
            <a:spLocks noChangeShapeType="1"/>
          </p:cNvSpPr>
          <p:nvPr/>
        </p:nvSpPr>
        <p:spPr bwMode="auto">
          <a:xfrm flipH="1">
            <a:off x="4398963" y="5464175"/>
            <a:ext cx="94297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80" name="Line 218"/>
          <p:cNvSpPr>
            <a:spLocks noChangeShapeType="1"/>
          </p:cNvSpPr>
          <p:nvPr/>
        </p:nvSpPr>
        <p:spPr bwMode="auto">
          <a:xfrm flipH="1">
            <a:off x="4398963" y="5464175"/>
            <a:ext cx="186372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389" name="Freeform 221"/>
          <p:cNvSpPr>
            <a:spLocks/>
          </p:cNvSpPr>
          <p:nvPr/>
        </p:nvSpPr>
        <p:spPr bwMode="auto">
          <a:xfrm>
            <a:off x="4114800" y="1600200"/>
            <a:ext cx="3987800" cy="2819400"/>
          </a:xfrm>
          <a:custGeom>
            <a:avLst/>
            <a:gdLst>
              <a:gd name="T0" fmla="*/ 2147483646 w 2680"/>
              <a:gd name="T1" fmla="*/ 2147483646 h 1896"/>
              <a:gd name="T2" fmla="*/ 2147483646 w 2680"/>
              <a:gd name="T3" fmla="*/ 2147483646 h 1896"/>
              <a:gd name="T4" fmla="*/ 2147483646 w 2680"/>
              <a:gd name="T5" fmla="*/ 2147483646 h 1896"/>
              <a:gd name="T6" fmla="*/ 2147483646 w 2680"/>
              <a:gd name="T7" fmla="*/ 2147483646 h 1896"/>
              <a:gd name="T8" fmla="*/ 2147483646 w 2680"/>
              <a:gd name="T9" fmla="*/ 2147483646 h 1896"/>
              <a:gd name="T10" fmla="*/ 2147483646 w 2680"/>
              <a:gd name="T11" fmla="*/ 2147483646 h 1896"/>
              <a:gd name="T12" fmla="*/ 2147483646 w 2680"/>
              <a:gd name="T13" fmla="*/ 2147483646 h 1896"/>
              <a:gd name="T14" fmla="*/ 2147483646 w 2680"/>
              <a:gd name="T15" fmla="*/ 2147483646 h 1896"/>
              <a:gd name="T16" fmla="*/ 2147483646 w 2680"/>
              <a:gd name="T17" fmla="*/ 2147483646 h 1896"/>
              <a:gd name="T18" fmla="*/ 2147483646 w 2680"/>
              <a:gd name="T19" fmla="*/ 2147483646 h 1896"/>
              <a:gd name="T20" fmla="*/ 2147483646 w 2680"/>
              <a:gd name="T21" fmla="*/ 2147483646 h 1896"/>
              <a:gd name="T22" fmla="*/ 2147483646 w 2680"/>
              <a:gd name="T23" fmla="*/ 2147483646 h 1896"/>
              <a:gd name="T24" fmla="*/ 2147483646 w 2680"/>
              <a:gd name="T25" fmla="*/ 2147483646 h 1896"/>
              <a:gd name="T26" fmla="*/ 2147483646 w 2680"/>
              <a:gd name="T27" fmla="*/ 2147483646 h 1896"/>
              <a:gd name="T28" fmla="*/ 2147483646 w 2680"/>
              <a:gd name="T29" fmla="*/ 2147483646 h 1896"/>
              <a:gd name="T30" fmla="*/ 2147483646 w 2680"/>
              <a:gd name="T31" fmla="*/ 2147483646 h 1896"/>
              <a:gd name="T32" fmla="*/ 2147483646 w 2680"/>
              <a:gd name="T33" fmla="*/ 2147483646 h 1896"/>
              <a:gd name="T34" fmla="*/ 2147483646 w 2680"/>
              <a:gd name="T35" fmla="*/ 2147483646 h 1896"/>
              <a:gd name="T36" fmla="*/ 2147483646 w 2680"/>
              <a:gd name="T37" fmla="*/ 2147483646 h 1896"/>
              <a:gd name="T38" fmla="*/ 2147483646 w 2680"/>
              <a:gd name="T39" fmla="*/ 2147483646 h 1896"/>
              <a:gd name="T40" fmla="*/ 2147483646 w 2680"/>
              <a:gd name="T41" fmla="*/ 2147483646 h 1896"/>
              <a:gd name="T42" fmla="*/ 2147483646 w 2680"/>
              <a:gd name="T43" fmla="*/ 2147483646 h 1896"/>
              <a:gd name="T44" fmla="*/ 2147483646 w 2680"/>
              <a:gd name="T45" fmla="*/ 2147483646 h 1896"/>
              <a:gd name="T46" fmla="*/ 2147483646 w 2680"/>
              <a:gd name="T47" fmla="*/ 2147483646 h 1896"/>
              <a:gd name="T48" fmla="*/ 2147483646 w 2680"/>
              <a:gd name="T49" fmla="*/ 2147483646 h 1896"/>
              <a:gd name="T50" fmla="*/ 2147483646 w 2680"/>
              <a:gd name="T51" fmla="*/ 2147483646 h 1896"/>
              <a:gd name="T52" fmla="*/ 2147483646 w 2680"/>
              <a:gd name="T53" fmla="*/ 2147483646 h 1896"/>
              <a:gd name="T54" fmla="*/ 2147483646 w 2680"/>
              <a:gd name="T55" fmla="*/ 2147483646 h 1896"/>
              <a:gd name="T56" fmla="*/ 2147483646 w 2680"/>
              <a:gd name="T57" fmla="*/ 2147483646 h 1896"/>
              <a:gd name="T58" fmla="*/ 2147483646 w 2680"/>
              <a:gd name="T59" fmla="*/ 2147483646 h 1896"/>
              <a:gd name="T60" fmla="*/ 2147483646 w 2680"/>
              <a:gd name="T61" fmla="*/ 2147483646 h 1896"/>
              <a:gd name="T62" fmla="*/ 2147483646 w 2680"/>
              <a:gd name="T63" fmla="*/ 2147483646 h 1896"/>
              <a:gd name="T64" fmla="*/ 2147483646 w 2680"/>
              <a:gd name="T65" fmla="*/ 2147483646 h 1896"/>
              <a:gd name="T66" fmla="*/ 2147483646 w 2680"/>
              <a:gd name="T67" fmla="*/ 2147483646 h 1896"/>
              <a:gd name="T68" fmla="*/ 2147483646 w 2680"/>
              <a:gd name="T69" fmla="*/ 2147483646 h 1896"/>
              <a:gd name="T70" fmla="*/ 2147483646 w 2680"/>
              <a:gd name="T71" fmla="*/ 2147483646 h 1896"/>
              <a:gd name="T72" fmla="*/ 2147483646 w 2680"/>
              <a:gd name="T73" fmla="*/ 2147483646 h 1896"/>
              <a:gd name="T74" fmla="*/ 2147483646 w 2680"/>
              <a:gd name="T75" fmla="*/ 2147483646 h 1896"/>
              <a:gd name="T76" fmla="*/ 2147483646 w 2680"/>
              <a:gd name="T77" fmla="*/ 2147483646 h 1896"/>
              <a:gd name="T78" fmla="*/ 2147483646 w 2680"/>
              <a:gd name="T79" fmla="*/ 2147483646 h 1896"/>
              <a:gd name="T80" fmla="*/ 2147483646 w 2680"/>
              <a:gd name="T81" fmla="*/ 2147483646 h 1896"/>
              <a:gd name="T82" fmla="*/ 2147483646 w 2680"/>
              <a:gd name="T83" fmla="*/ 2147483646 h 189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80"/>
              <a:gd name="T127" fmla="*/ 0 h 1896"/>
              <a:gd name="T128" fmla="*/ 2680 w 2680"/>
              <a:gd name="T129" fmla="*/ 1896 h 189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80" h="1896">
                <a:moveTo>
                  <a:pt x="2560" y="344"/>
                </a:moveTo>
                <a:cubicBezTo>
                  <a:pt x="2456" y="280"/>
                  <a:pt x="2112" y="112"/>
                  <a:pt x="1936" y="56"/>
                </a:cubicBezTo>
                <a:cubicBezTo>
                  <a:pt x="1760" y="0"/>
                  <a:pt x="1648" y="16"/>
                  <a:pt x="1504" y="8"/>
                </a:cubicBezTo>
                <a:cubicBezTo>
                  <a:pt x="1360" y="0"/>
                  <a:pt x="1184" y="8"/>
                  <a:pt x="1072" y="8"/>
                </a:cubicBezTo>
                <a:cubicBezTo>
                  <a:pt x="960" y="8"/>
                  <a:pt x="928" y="0"/>
                  <a:pt x="832" y="8"/>
                </a:cubicBezTo>
                <a:cubicBezTo>
                  <a:pt x="736" y="16"/>
                  <a:pt x="584" y="40"/>
                  <a:pt x="496" y="56"/>
                </a:cubicBezTo>
                <a:cubicBezTo>
                  <a:pt x="408" y="72"/>
                  <a:pt x="360" y="88"/>
                  <a:pt x="304" y="104"/>
                </a:cubicBezTo>
                <a:cubicBezTo>
                  <a:pt x="248" y="120"/>
                  <a:pt x="200" y="128"/>
                  <a:pt x="160" y="152"/>
                </a:cubicBezTo>
                <a:cubicBezTo>
                  <a:pt x="120" y="176"/>
                  <a:pt x="88" y="216"/>
                  <a:pt x="64" y="248"/>
                </a:cubicBezTo>
                <a:cubicBezTo>
                  <a:pt x="40" y="280"/>
                  <a:pt x="24" y="288"/>
                  <a:pt x="16" y="344"/>
                </a:cubicBezTo>
                <a:cubicBezTo>
                  <a:pt x="8" y="400"/>
                  <a:pt x="0" y="536"/>
                  <a:pt x="16" y="584"/>
                </a:cubicBezTo>
                <a:cubicBezTo>
                  <a:pt x="32" y="632"/>
                  <a:pt x="72" y="616"/>
                  <a:pt x="112" y="632"/>
                </a:cubicBezTo>
                <a:cubicBezTo>
                  <a:pt x="152" y="648"/>
                  <a:pt x="200" y="672"/>
                  <a:pt x="256" y="680"/>
                </a:cubicBezTo>
                <a:cubicBezTo>
                  <a:pt x="312" y="688"/>
                  <a:pt x="392" y="680"/>
                  <a:pt x="448" y="680"/>
                </a:cubicBezTo>
                <a:cubicBezTo>
                  <a:pt x="504" y="680"/>
                  <a:pt x="536" y="664"/>
                  <a:pt x="592" y="680"/>
                </a:cubicBezTo>
                <a:cubicBezTo>
                  <a:pt x="648" y="696"/>
                  <a:pt x="736" y="760"/>
                  <a:pt x="784" y="776"/>
                </a:cubicBezTo>
                <a:cubicBezTo>
                  <a:pt x="832" y="792"/>
                  <a:pt x="848" y="768"/>
                  <a:pt x="880" y="776"/>
                </a:cubicBezTo>
                <a:cubicBezTo>
                  <a:pt x="912" y="784"/>
                  <a:pt x="944" y="800"/>
                  <a:pt x="976" y="824"/>
                </a:cubicBezTo>
                <a:cubicBezTo>
                  <a:pt x="1008" y="848"/>
                  <a:pt x="1048" y="896"/>
                  <a:pt x="1072" y="920"/>
                </a:cubicBezTo>
                <a:cubicBezTo>
                  <a:pt x="1096" y="944"/>
                  <a:pt x="1104" y="936"/>
                  <a:pt x="1120" y="968"/>
                </a:cubicBezTo>
                <a:cubicBezTo>
                  <a:pt x="1136" y="1000"/>
                  <a:pt x="1144" y="1064"/>
                  <a:pt x="1168" y="1112"/>
                </a:cubicBezTo>
                <a:cubicBezTo>
                  <a:pt x="1192" y="1160"/>
                  <a:pt x="1224" y="1224"/>
                  <a:pt x="1264" y="1256"/>
                </a:cubicBezTo>
                <a:cubicBezTo>
                  <a:pt x="1304" y="1288"/>
                  <a:pt x="1360" y="1288"/>
                  <a:pt x="1408" y="1304"/>
                </a:cubicBezTo>
                <a:cubicBezTo>
                  <a:pt x="1456" y="1320"/>
                  <a:pt x="1512" y="1336"/>
                  <a:pt x="1552" y="1352"/>
                </a:cubicBezTo>
                <a:cubicBezTo>
                  <a:pt x="1592" y="1368"/>
                  <a:pt x="1608" y="1376"/>
                  <a:pt x="1648" y="1400"/>
                </a:cubicBezTo>
                <a:cubicBezTo>
                  <a:pt x="1688" y="1424"/>
                  <a:pt x="1744" y="1480"/>
                  <a:pt x="1792" y="1496"/>
                </a:cubicBezTo>
                <a:cubicBezTo>
                  <a:pt x="1840" y="1512"/>
                  <a:pt x="1904" y="1480"/>
                  <a:pt x="1936" y="1496"/>
                </a:cubicBezTo>
                <a:cubicBezTo>
                  <a:pt x="1968" y="1512"/>
                  <a:pt x="1976" y="1544"/>
                  <a:pt x="1984" y="1592"/>
                </a:cubicBezTo>
                <a:cubicBezTo>
                  <a:pt x="1992" y="1640"/>
                  <a:pt x="1968" y="1736"/>
                  <a:pt x="1984" y="1784"/>
                </a:cubicBezTo>
                <a:cubicBezTo>
                  <a:pt x="2000" y="1832"/>
                  <a:pt x="2040" y="1864"/>
                  <a:pt x="2080" y="1880"/>
                </a:cubicBezTo>
                <a:cubicBezTo>
                  <a:pt x="2120" y="1896"/>
                  <a:pt x="2184" y="1880"/>
                  <a:pt x="2224" y="1880"/>
                </a:cubicBezTo>
                <a:cubicBezTo>
                  <a:pt x="2264" y="1880"/>
                  <a:pt x="2272" y="1880"/>
                  <a:pt x="2320" y="1880"/>
                </a:cubicBezTo>
                <a:cubicBezTo>
                  <a:pt x="2368" y="1880"/>
                  <a:pt x="2456" y="1896"/>
                  <a:pt x="2512" y="1880"/>
                </a:cubicBezTo>
                <a:cubicBezTo>
                  <a:pt x="2568" y="1864"/>
                  <a:pt x="2632" y="1840"/>
                  <a:pt x="2656" y="1784"/>
                </a:cubicBezTo>
                <a:cubicBezTo>
                  <a:pt x="2680" y="1728"/>
                  <a:pt x="2656" y="1600"/>
                  <a:pt x="2656" y="1544"/>
                </a:cubicBezTo>
                <a:cubicBezTo>
                  <a:pt x="2656" y="1488"/>
                  <a:pt x="2656" y="1504"/>
                  <a:pt x="2656" y="1448"/>
                </a:cubicBezTo>
                <a:cubicBezTo>
                  <a:pt x="2656" y="1392"/>
                  <a:pt x="2656" y="1320"/>
                  <a:pt x="2656" y="1208"/>
                </a:cubicBezTo>
                <a:cubicBezTo>
                  <a:pt x="2656" y="1096"/>
                  <a:pt x="2656" y="864"/>
                  <a:pt x="2656" y="776"/>
                </a:cubicBezTo>
                <a:cubicBezTo>
                  <a:pt x="2656" y="688"/>
                  <a:pt x="2664" y="728"/>
                  <a:pt x="2656" y="680"/>
                </a:cubicBezTo>
                <a:cubicBezTo>
                  <a:pt x="2648" y="632"/>
                  <a:pt x="2624" y="528"/>
                  <a:pt x="2608" y="488"/>
                </a:cubicBezTo>
                <a:cubicBezTo>
                  <a:pt x="2592" y="448"/>
                  <a:pt x="2568" y="464"/>
                  <a:pt x="2560" y="440"/>
                </a:cubicBezTo>
                <a:cubicBezTo>
                  <a:pt x="2552" y="416"/>
                  <a:pt x="2664" y="408"/>
                  <a:pt x="2560" y="344"/>
                </a:cubicBezTo>
                <a:close/>
              </a:path>
            </a:pathLst>
          </a:custGeom>
          <a:noFill/>
          <a:ln w="38100">
            <a:solidFill>
              <a:srgbClr val="FF33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82" name="Line 222"/>
          <p:cNvSpPr>
            <a:spLocks noChangeShapeType="1"/>
          </p:cNvSpPr>
          <p:nvPr/>
        </p:nvSpPr>
        <p:spPr bwMode="auto">
          <a:xfrm flipH="1" flipV="1">
            <a:off x="7543800" y="43434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391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391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391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391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391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2000" fill="hold"/>
                                        <p:tgtEl>
                                          <p:spTgt spid="3912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391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236" grpId="0" animBg="1"/>
      <p:bldP spid="391239" grpId="0" animBg="1"/>
      <p:bldP spid="391242" grpId="0" animBg="1"/>
      <p:bldP spid="391251" grpId="0" animBg="1"/>
      <p:bldP spid="391254" grpId="0" animBg="1"/>
      <p:bldP spid="391257" grpId="0" animBg="1"/>
      <p:bldP spid="391287" grpId="0" animBg="1"/>
      <p:bldP spid="3913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228600" y="1089025"/>
            <a:ext cx="8831263" cy="5235575"/>
            <a:chOff x="144" y="686"/>
            <a:chExt cx="5563" cy="3298"/>
          </a:xfrm>
        </p:grpSpPr>
        <p:sp>
          <p:nvSpPr>
            <p:cNvPr id="18439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C6D9C"/>
                  </a:solidFill>
                  <a:latin typeface="Arial" panose="020B0604020202020204" pitchFamily="34" charset="0"/>
                </a:rPr>
                <a:t>Found to be Infrequent</a:t>
              </a:r>
              <a:endParaRPr lang="en-US" altLang="en-US" sz="2000">
                <a:solidFill>
                  <a:srgbClr val="0C6D9C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8441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" name="Visio" r:id="rId3" imgW="9866478" imgH="7377618" progId="Visio.Drawing.6">
                    <p:embed/>
                  </p:oleObj>
                </mc:Choice>
                <mc:Fallback>
                  <p:oleObj name="Visio" r:id="rId3" imgW="9866478" imgH="7377618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298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Anti-monotonicity Property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09800" y="1089025"/>
            <a:ext cx="6850063" cy="5235575"/>
            <a:chOff x="1392" y="686"/>
            <a:chExt cx="4315" cy="3298"/>
          </a:xfrm>
        </p:grpSpPr>
        <p:graphicFrame>
          <p:nvGraphicFramePr>
            <p:cNvPr id="18437" name="Object 8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" name="Visio" r:id="rId5" imgW="9866478" imgH="7377618" progId="Visio.Drawing.6">
                    <p:embed/>
                  </p:oleObj>
                </mc:Choice>
                <mc:Fallback>
                  <p:oleObj name="Visio" r:id="rId5" imgW="9866478" imgH="7377618" progId="Visio.Drawing.6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8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Pruned supersets</a:t>
              </a:r>
              <a:endParaRPr lang="en-US" altLang="en-U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Illustrating Apriori Principle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371600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Document" r:id="rId3" imgW="2289048" imgH="2494788" progId="Word.Document.8">
                  <p:embed/>
                </p:oleObj>
              </mc:Choice>
              <mc:Fallback>
                <p:oleObj name="Document" r:id="rId3" imgW="2289048" imgH="249478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71600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Document" r:id="rId5" imgW="3328416" imgH="2008632" progId="Word.Document.8">
                  <p:embed/>
                </p:oleObj>
              </mc:Choice>
              <mc:Fallback>
                <p:oleObj name="Document" r:id="rId5" imgW="3328416" imgH="20086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4876800" y="4648200"/>
          <a:ext cx="38004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Document" r:id="rId7" imgW="3124200" imgH="841248" progId="Word.Document.8">
                  <p:embed/>
                </p:oleObj>
              </mc:Choice>
              <mc:Fallback>
                <p:oleObj name="Document" r:id="rId7" imgW="3124200" imgH="84124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48200"/>
                        <a:ext cx="38004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Items (1-itemsets)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Pairs (2-itemsets)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(No need to generate</a:t>
            </a:r>
            <a:br>
              <a:rPr lang="en-US" altLang="en-US" sz="1800"/>
            </a:br>
            <a:r>
              <a:rPr lang="en-US" altLang="en-US" sz="1800"/>
              <a:t>candidates involving Coke</a:t>
            </a:r>
            <a:br>
              <a:rPr lang="en-US" altLang="en-US" sz="1800"/>
            </a:br>
            <a:r>
              <a:rPr lang="en-US" altLang="en-US" sz="1800"/>
              <a:t>or Eggs)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Triplets (3-itemsets)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6934200" y="5638800"/>
            <a:ext cx="304800" cy="304800"/>
          </a:xfrm>
          <a:prstGeom prst="line">
            <a:avLst/>
          </a:prstGeom>
          <a:noFill/>
          <a:ln w="38100" cap="rnd">
            <a:solidFill>
              <a:srgbClr val="CC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Minimum Support = 3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04800" y="4800600"/>
            <a:ext cx="3227388" cy="12001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If every subset is considered,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1</a:t>
            </a:r>
            <a:r>
              <a:rPr lang="en-US" altLang="en-US" sz="1800"/>
              <a:t> + 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2</a:t>
            </a:r>
            <a:r>
              <a:rPr lang="en-US" altLang="en-US" sz="1800"/>
              <a:t> + 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3</a:t>
            </a:r>
            <a:r>
              <a:rPr lang="en-US" altLang="en-US" sz="1800"/>
              <a:t> = 41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With support-based pruning,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6 + 6 + 1 = 13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382392"/>
              </p:ext>
            </p:extLst>
          </p:nvPr>
        </p:nvGraphicFramePr>
        <p:xfrm>
          <a:off x="5300662" y="-19050"/>
          <a:ext cx="358616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Document" r:id="rId9" imgW="3359338" imgH="2015504" progId="Word.Document.8">
                  <p:embed/>
                </p:oleObj>
              </mc:Choice>
              <mc:Fallback>
                <p:oleObj name="Document" r:id="rId9" imgW="3359338" imgH="2015504" progId="Word.Documen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2" y="-19050"/>
                        <a:ext cx="358616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Apriori</a:t>
            </a:r>
            <a:r>
              <a:rPr lang="en-US" b="1" smtClean="0"/>
              <a:t> </a:t>
            </a:r>
            <a:r>
              <a:rPr lang="en-US" smtClean="0"/>
              <a:t>Algorithm -Example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958850" y="2006600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8"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2006600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0" name="Object 4"/>
          <p:cNvGraphicFramePr>
            <a:graphicFrameLocks noChangeAspect="1"/>
          </p:cNvGraphicFramePr>
          <p:nvPr/>
        </p:nvGraphicFramePr>
        <p:xfrm>
          <a:off x="3917950" y="1679575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9" name="Worksheet" r:id="rId5" imgW="1619701" imgH="2086337" progId="Excel.Sheet.8">
                  <p:embed/>
                </p:oleObj>
              </mc:Choice>
              <mc:Fallback>
                <p:oleObj name="Worksheet" r:id="rId5" imgW="1619701" imgH="2086337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679575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1" name="Object 5"/>
          <p:cNvGraphicFramePr>
            <a:graphicFrameLocks noChangeAspect="1"/>
          </p:cNvGraphicFramePr>
          <p:nvPr/>
        </p:nvGraphicFramePr>
        <p:xfrm>
          <a:off x="6440488" y="1771650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0" name="Worksheet" r:id="rId7" imgW="1619701" imgH="1743437" progId="Excel.Sheet.8">
                  <p:embed/>
                </p:oleObj>
              </mc:Choice>
              <mc:Fallback>
                <p:oleObj name="Worksheet" r:id="rId7" imgW="1619701" imgH="174343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771650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2" name="Text Box 6"/>
          <p:cNvSpPr txBox="1">
            <a:spLocks noChangeArrowheads="1"/>
          </p:cNvSpPr>
          <p:nvPr/>
        </p:nvSpPr>
        <p:spPr bwMode="auto">
          <a:xfrm>
            <a:off x="2836863" y="2484438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88103" name="Line 7"/>
          <p:cNvSpPr>
            <a:spLocks noChangeShapeType="1"/>
          </p:cNvSpPr>
          <p:nvPr/>
        </p:nvSpPr>
        <p:spPr bwMode="auto">
          <a:xfrm>
            <a:off x="2952750" y="2930525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8104" name="Text Box 8"/>
          <p:cNvSpPr txBox="1">
            <a:spLocks noChangeArrowheads="1"/>
          </p:cNvSpPr>
          <p:nvPr/>
        </p:nvSpPr>
        <p:spPr bwMode="auto">
          <a:xfrm>
            <a:off x="3414713" y="19319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8105" name="Text Box 9"/>
          <p:cNvSpPr txBox="1">
            <a:spLocks noChangeArrowheads="1"/>
          </p:cNvSpPr>
          <p:nvPr/>
        </p:nvSpPr>
        <p:spPr bwMode="auto">
          <a:xfrm>
            <a:off x="6002338" y="177482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88106" name="Object 10"/>
          <p:cNvGraphicFramePr>
            <a:graphicFrameLocks noChangeAspect="1"/>
          </p:cNvGraphicFramePr>
          <p:nvPr/>
        </p:nvGraphicFramePr>
        <p:xfrm>
          <a:off x="7265988" y="359251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Worksheet" r:id="rId9" imgW="990961" imgH="2429237" progId="Excel.Sheet.8">
                  <p:embed/>
                </p:oleObj>
              </mc:Choice>
              <mc:Fallback>
                <p:oleObj name="Worksheet" r:id="rId9" imgW="990961" imgH="2429237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359251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7" name="Object 11"/>
          <p:cNvGraphicFramePr>
            <a:graphicFrameLocks noChangeAspect="1"/>
          </p:cNvGraphicFramePr>
          <p:nvPr/>
        </p:nvGraphicFramePr>
        <p:xfrm>
          <a:off x="3856038" y="3703638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Worksheet" r:id="rId11" imgW="1581421" imgH="2429237" progId="Excel.Sheet.8">
                  <p:embed/>
                </p:oleObj>
              </mc:Choice>
              <mc:Fallback>
                <p:oleObj name="Worksheet" r:id="rId11" imgW="1581421" imgH="2429237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703638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8" name="Object 12"/>
          <p:cNvGraphicFramePr>
            <a:graphicFrameLocks noChangeAspect="1"/>
          </p:cNvGraphicFramePr>
          <p:nvPr/>
        </p:nvGraphicFramePr>
        <p:xfrm>
          <a:off x="1468438" y="3967163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Worksheet" r:id="rId13" imgW="1581421" imgH="1743437" progId="Excel.Sheet.8">
                  <p:embed/>
                </p:oleObj>
              </mc:Choice>
              <mc:Fallback>
                <p:oleObj name="Worksheet" r:id="rId13" imgW="1581421" imgH="1743437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967163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9" name="Text Box 13"/>
          <p:cNvSpPr txBox="1">
            <a:spLocks noChangeArrowheads="1"/>
          </p:cNvSpPr>
          <p:nvPr/>
        </p:nvSpPr>
        <p:spPr bwMode="auto">
          <a:xfrm>
            <a:off x="957263" y="39401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0" name="Text Box 14"/>
          <p:cNvSpPr txBox="1">
            <a:spLocks noChangeArrowheads="1"/>
          </p:cNvSpPr>
          <p:nvPr/>
        </p:nvSpPr>
        <p:spPr bwMode="auto">
          <a:xfrm>
            <a:off x="3384550" y="3543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1" name="Text Box 15"/>
          <p:cNvSpPr txBox="1">
            <a:spLocks noChangeArrowheads="1"/>
          </p:cNvSpPr>
          <p:nvPr/>
        </p:nvSpPr>
        <p:spPr bwMode="auto">
          <a:xfrm>
            <a:off x="6672263" y="35941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2" name="Line 16"/>
          <p:cNvSpPr>
            <a:spLocks noChangeShapeType="1"/>
          </p:cNvSpPr>
          <p:nvPr/>
        </p:nvSpPr>
        <p:spPr bwMode="auto">
          <a:xfrm flipH="1">
            <a:off x="5783263" y="4464050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8113" name="Text Box 17"/>
          <p:cNvSpPr txBox="1">
            <a:spLocks noChangeArrowheads="1"/>
          </p:cNvSpPr>
          <p:nvPr/>
        </p:nvSpPr>
        <p:spPr bwMode="auto">
          <a:xfrm>
            <a:off x="5803900" y="396240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88114" name="AutoShape 18"/>
          <p:cNvSpPr>
            <a:spLocks noChangeArrowheads="1"/>
          </p:cNvSpPr>
          <p:nvPr/>
        </p:nvSpPr>
        <p:spPr bwMode="auto">
          <a:xfrm>
            <a:off x="8516938" y="3281363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88115" name="Line 19"/>
          <p:cNvSpPr>
            <a:spLocks noChangeShapeType="1"/>
          </p:cNvSpPr>
          <p:nvPr/>
        </p:nvSpPr>
        <p:spPr bwMode="auto">
          <a:xfrm>
            <a:off x="3190875" y="651033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8116" name="Text Box 20"/>
          <p:cNvSpPr txBox="1">
            <a:spLocks noChangeArrowheads="1"/>
          </p:cNvSpPr>
          <p:nvPr/>
        </p:nvSpPr>
        <p:spPr bwMode="auto">
          <a:xfrm>
            <a:off x="1354138" y="60134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88117" name="Text Box 21"/>
          <p:cNvSpPr txBox="1">
            <a:spLocks noChangeArrowheads="1"/>
          </p:cNvSpPr>
          <p:nvPr/>
        </p:nvSpPr>
        <p:spPr bwMode="auto">
          <a:xfrm>
            <a:off x="4770438" y="60023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88118" name="Object 22"/>
          <p:cNvGraphicFramePr>
            <a:graphicFrameLocks noChangeAspect="1"/>
          </p:cNvGraphicFramePr>
          <p:nvPr/>
        </p:nvGraphicFramePr>
        <p:xfrm>
          <a:off x="1822450" y="605631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4" name="Worksheet" r:id="rId15" imgW="990961" imgH="714737" progId="Excel.Sheet.8">
                  <p:embed/>
                </p:oleObj>
              </mc:Choice>
              <mc:Fallback>
                <p:oleObj name="Worksheet" r:id="rId15" imgW="990961" imgH="714737" progId="Excel.Shee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605631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19" name="Text Box 23"/>
          <p:cNvSpPr txBox="1">
            <a:spLocks noChangeArrowheads="1"/>
          </p:cNvSpPr>
          <p:nvPr/>
        </p:nvSpPr>
        <p:spPr bwMode="auto">
          <a:xfrm>
            <a:off x="3387725" y="60928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388120" name="Object 24"/>
          <p:cNvGraphicFramePr>
            <a:graphicFrameLocks noChangeAspect="1"/>
          </p:cNvGraphicFramePr>
          <p:nvPr/>
        </p:nvGraphicFramePr>
        <p:xfrm>
          <a:off x="5224463" y="6046788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Worksheet" r:id="rId17" imgW="1581421" imgH="705332" progId="Excel.Sheet.8">
                  <p:embed/>
                </p:oleObj>
              </mc:Choice>
              <mc:Fallback>
                <p:oleObj name="Worksheet" r:id="rId17" imgW="1581421" imgH="705332" progId="Excel.Shee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6046788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1" name="AutoShape 25"/>
          <p:cNvSpPr>
            <a:spLocks noChangeArrowheads="1"/>
          </p:cNvSpPr>
          <p:nvPr/>
        </p:nvSpPr>
        <p:spPr bwMode="auto">
          <a:xfrm>
            <a:off x="857250" y="5057775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88122" name="Line 26"/>
          <p:cNvSpPr>
            <a:spLocks noChangeShapeType="1"/>
          </p:cNvSpPr>
          <p:nvPr/>
        </p:nvSpPr>
        <p:spPr bwMode="auto">
          <a:xfrm>
            <a:off x="5837238" y="2649538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8123" name="Line 27"/>
          <p:cNvSpPr>
            <a:spLocks noChangeShapeType="1"/>
          </p:cNvSpPr>
          <p:nvPr/>
        </p:nvSpPr>
        <p:spPr bwMode="auto">
          <a:xfrm flipH="1">
            <a:off x="3322638" y="485933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2" grpId="0"/>
      <p:bldP spid="388103" grpId="0" animBg="1"/>
      <p:bldP spid="388104" grpId="0"/>
      <p:bldP spid="388105" grpId="0"/>
      <p:bldP spid="388109" grpId="0"/>
      <p:bldP spid="388110" grpId="0"/>
      <p:bldP spid="388111" grpId="0"/>
      <p:bldP spid="388112" grpId="0" animBg="1"/>
      <p:bldP spid="388113" grpId="0"/>
      <p:bldP spid="388114" grpId="0" animBg="1"/>
      <p:bldP spid="388115" grpId="0" animBg="1"/>
      <p:bldP spid="388116" grpId="0"/>
      <p:bldP spid="388117" grpId="0"/>
      <p:bldP spid="388119" grpId="0"/>
      <p:bldP spid="388121" grpId="0" animBg="1"/>
      <p:bldP spid="388122" grpId="0" animBg="1"/>
      <p:bldP spid="3881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Apriori Algorithm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3600" dirty="0" smtClean="0"/>
              <a:t>Method: </a:t>
            </a:r>
            <a:endParaRPr lang="en-US" sz="4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Let k=1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Generate frequent </a:t>
            </a:r>
            <a:r>
              <a:rPr lang="en-US" sz="3200" dirty="0" err="1" smtClean="0"/>
              <a:t>itemsets</a:t>
            </a:r>
            <a:r>
              <a:rPr lang="en-US" sz="3200" dirty="0" smtClean="0"/>
              <a:t> of length 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Repeat until no new frequent </a:t>
            </a:r>
            <a:r>
              <a:rPr lang="en-US" sz="3200" dirty="0" err="1" smtClean="0"/>
              <a:t>itemsets</a:t>
            </a:r>
            <a:r>
              <a:rPr lang="en-US" sz="3200" dirty="0" smtClean="0"/>
              <a:t> are identified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Generate length (k+1) candidate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from length k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Prune candidate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containing subsets of length k that are infrequent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Count the support of each candidate by scanning the DB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Eliminate candidates that are infrequent, leaving only those that are frequent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25474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Apriori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8686800" cy="4524375"/>
          </a:xfrm>
        </p:spPr>
        <p:txBody>
          <a:bodyPr>
            <a:noAutofit/>
          </a:bodyPr>
          <a:lstStyle/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i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C</a:t>
            </a:r>
            <a:r>
              <a:rPr lang="en-GB" sz="2400" b="1" i="1" baseline="-25000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</a:t>
            </a:r>
            <a:r>
              <a:rPr lang="en-GB" sz="2400" dirty="0">
                <a:ea typeface="DejaVu LGC Sans" charset="0"/>
                <a:cs typeface="DejaVu LGC Sans" charset="0"/>
              </a:rPr>
              <a:t>: Candidate </a:t>
            </a:r>
            <a:r>
              <a:rPr lang="en-GB" sz="2400" dirty="0" err="1" smtClean="0">
                <a:ea typeface="DejaVu LGC Sans" charset="0"/>
                <a:cs typeface="DejaVu LGC Sans" charset="0"/>
              </a:rPr>
              <a:t>itemsets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of size k</a:t>
            </a: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i="1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L</a:t>
            </a:r>
            <a:r>
              <a:rPr lang="en-GB" sz="2400" b="1" i="1" baseline="-25000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</a:t>
            </a:r>
            <a:r>
              <a:rPr lang="en-GB" sz="2400" b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: frequent </a:t>
            </a:r>
            <a:r>
              <a:rPr lang="en-GB" sz="2400" dirty="0" err="1" smtClean="0">
                <a:ea typeface="DejaVu LGC Sans" charset="0"/>
                <a:cs typeface="DejaVu LGC Sans" charset="0"/>
              </a:rPr>
              <a:t>itemsets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of size k</a:t>
            </a:r>
          </a:p>
          <a:p>
            <a:pPr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400" dirty="0">
              <a:ea typeface="DejaVu LGC Sans" charset="0"/>
              <a:cs typeface="DejaVu LGC Sans" charset="0"/>
            </a:endParaRP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i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L</a:t>
            </a:r>
            <a:r>
              <a:rPr lang="en-GB" sz="2400" b="1" i="1" baseline="-25000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1</a:t>
            </a:r>
            <a:r>
              <a:rPr lang="en-GB" sz="2400" b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= {frequent items};</a:t>
            </a:r>
          </a:p>
          <a:p>
            <a:pPr marL="228600" indent="-228600">
              <a:lnSpc>
                <a:spcPct val="90000"/>
              </a:lnSpc>
              <a:buClr>
                <a:srgbClr val="F83F24"/>
              </a:buClr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>
                <a:solidFill>
                  <a:schemeClr val="tx1"/>
                </a:solidFill>
                <a:ea typeface="DejaVu LGC Sans" charset="0"/>
                <a:cs typeface="DejaVu LGC Sans" charset="0"/>
              </a:rPr>
              <a:t>for</a:t>
            </a:r>
            <a:r>
              <a:rPr lang="en-GB" sz="2400" b="1" dirty="0"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(</a:t>
            </a:r>
            <a:r>
              <a:rPr lang="en-GB" sz="2400" i="1" dirty="0">
                <a:ea typeface="DejaVu LGC Sans" charset="0"/>
                <a:cs typeface="DejaVu LGC Sans" charset="0"/>
              </a:rPr>
              <a:t>k</a:t>
            </a:r>
            <a:r>
              <a:rPr lang="en-GB" sz="2400" dirty="0">
                <a:ea typeface="DejaVu LGC Sans" charset="0"/>
                <a:cs typeface="DejaVu LGC Sans" charset="0"/>
              </a:rPr>
              <a:t> = 1; </a:t>
            </a:r>
            <a:r>
              <a:rPr lang="en-GB" sz="2400" i="1" dirty="0" err="1">
                <a:ea typeface="DejaVu LGC Sans" charset="0"/>
                <a:cs typeface="DejaVu LGC Sans" charset="0"/>
              </a:rPr>
              <a:t>L</a:t>
            </a:r>
            <a:r>
              <a:rPr lang="en-GB" sz="2400" i="1" baseline="-25000" dirty="0" err="1">
                <a:ea typeface="DejaVu LGC Sans" charset="0"/>
                <a:cs typeface="DejaVu LGC Sans" charset="0"/>
              </a:rPr>
              <a:t>k</a:t>
            </a:r>
            <a:r>
              <a:rPr lang="en-GB" sz="2400" dirty="0">
                <a:ea typeface="DejaVu LGC Sans" charset="0"/>
                <a:cs typeface="DejaVu LGC Sans" charset="0"/>
              </a:rPr>
              <a:t> !=</a:t>
            </a:r>
            <a:r>
              <a:rPr lang="en-GB" sz="2400" dirty="0">
                <a:latin typeface="Symbol" pitchFamily="16" charset="2"/>
                <a:ea typeface="DejaVu LGC Sans" charset="0"/>
                <a:cs typeface="DejaVu LGC Sans" charset="0"/>
              </a:rPr>
              <a:t></a:t>
            </a:r>
            <a:r>
              <a:rPr lang="en-GB" sz="2400" dirty="0">
                <a:ea typeface="DejaVu LGC Sans" charset="0"/>
                <a:cs typeface="DejaVu LGC Sans" charset="0"/>
              </a:rPr>
              <a:t>; </a:t>
            </a:r>
            <a:r>
              <a:rPr lang="en-GB" sz="2400" i="1" dirty="0">
                <a:ea typeface="DejaVu LGC Sans" charset="0"/>
                <a:cs typeface="DejaVu LGC Sans" charset="0"/>
              </a:rPr>
              <a:t>k</a:t>
            </a:r>
            <a:r>
              <a:rPr lang="en-GB" sz="2400" dirty="0">
                <a:ea typeface="DejaVu LGC Sans" charset="0"/>
                <a:cs typeface="DejaVu LGC Sans" charset="0"/>
              </a:rPr>
              <a:t>++) </a:t>
            </a:r>
            <a:endParaRPr lang="en-GB" sz="2400" b="1" dirty="0" smtClean="0">
              <a:solidFill>
                <a:srgbClr val="F83F24"/>
              </a:solidFill>
              <a:ea typeface="DejaVu LGC Sans" charset="0"/>
              <a:cs typeface="DejaVu LGC Sans" charset="0"/>
            </a:endParaRP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DejaVu LGC Sans" charset="0"/>
                <a:cs typeface="DejaVu LGC Sans" charset="0"/>
              </a:rPr>
              <a:t>   </a:t>
            </a:r>
            <a:r>
              <a:rPr lang="en-GB" sz="2400" b="1" i="1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C</a:t>
            </a:r>
            <a:r>
              <a:rPr lang="en-GB" sz="2400" b="1" i="1" baseline="-25000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k+1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= </a:t>
            </a:r>
            <a:r>
              <a:rPr lang="en-GB" sz="2400" dirty="0" err="1">
                <a:ea typeface="DejaVu LGC Sans" charset="0"/>
                <a:cs typeface="DejaVu LGC Sans" charset="0"/>
              </a:rPr>
              <a:t>GenerateCandidates</a:t>
            </a:r>
            <a:r>
              <a:rPr lang="en-GB" sz="2400" dirty="0">
                <a:ea typeface="DejaVu LGC Sans" charset="0"/>
                <a:cs typeface="DejaVu LGC Sans" charset="0"/>
              </a:rPr>
              <a:t>(</a:t>
            </a:r>
            <a:r>
              <a:rPr lang="en-GB" sz="2400" b="1" i="1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L</a:t>
            </a:r>
            <a:r>
              <a:rPr lang="en-GB" sz="2400" b="1" i="1" baseline="-25000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</a:t>
            </a:r>
            <a:r>
              <a:rPr lang="en-GB" sz="2400" dirty="0">
                <a:ea typeface="DejaVu LGC Sans" charset="0"/>
                <a:cs typeface="DejaVu LGC Sans" charset="0"/>
              </a:rPr>
              <a:t>)‏</a:t>
            </a: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>
                <a:solidFill>
                  <a:srgbClr val="F83F24"/>
                </a:solidFill>
                <a:ea typeface="DejaVu LGC Sans" charset="0"/>
                <a:cs typeface="DejaVu LGC Sans" charset="0"/>
              </a:rPr>
              <a:t>	</a:t>
            </a:r>
            <a:r>
              <a:rPr lang="en-GB" sz="2400" b="1" dirty="0" smtClean="0">
                <a:solidFill>
                  <a:schemeClr val="tx1"/>
                </a:solidFill>
                <a:ea typeface="DejaVu LGC Sans" charset="0"/>
                <a:cs typeface="DejaVu LGC Sans" charset="0"/>
              </a:rPr>
              <a:t>for </a:t>
            </a:r>
            <a:r>
              <a:rPr lang="en-GB" sz="2400" dirty="0" smtClean="0">
                <a:solidFill>
                  <a:schemeClr val="tx1"/>
                </a:solidFill>
                <a:ea typeface="DejaVu LGC Sans" charset="0"/>
                <a:cs typeface="DejaVu LGC Sans" charset="0"/>
              </a:rPr>
              <a:t>each</a:t>
            </a:r>
            <a:r>
              <a:rPr lang="en-GB" sz="2400" dirty="0">
                <a:solidFill>
                  <a:schemeClr val="tx1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transaction </a:t>
            </a:r>
            <a:r>
              <a:rPr lang="en-GB" sz="2400" b="1" i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t</a:t>
            </a:r>
            <a:r>
              <a:rPr lang="en-GB" sz="2400" dirty="0">
                <a:ea typeface="DejaVu LGC Sans" charset="0"/>
                <a:cs typeface="DejaVu LGC Sans" charset="0"/>
              </a:rPr>
              <a:t> in database 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do </a:t>
            </a: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>
                <a:ea typeface="DejaVu LGC Sans" charset="0"/>
                <a:cs typeface="DejaVu LGC Sans" charset="0"/>
              </a:rPr>
              <a:t>	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	increment count </a:t>
            </a:r>
            <a:r>
              <a:rPr lang="en-GB" sz="2400" dirty="0">
                <a:ea typeface="DejaVu LGC Sans" charset="0"/>
                <a:cs typeface="DejaVu LGC Sans" charset="0"/>
              </a:rPr>
              <a:t>of 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candidates in </a:t>
            </a:r>
            <a:r>
              <a:rPr lang="en-GB" sz="2400" b="1" i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C</a:t>
            </a:r>
            <a:r>
              <a:rPr lang="en-GB" sz="2400" b="1" i="1" baseline="-25000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k+1</a:t>
            </a:r>
            <a:r>
              <a:rPr lang="en-GB" sz="2400" dirty="0">
                <a:ea typeface="DejaVu LGC Sans" charset="0"/>
                <a:cs typeface="DejaVu LGC Sans" charset="0"/>
              </a:rPr>
              <a:t> 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that </a:t>
            </a:r>
            <a:r>
              <a:rPr lang="en-GB" sz="2400" dirty="0">
                <a:ea typeface="DejaVu LGC Sans" charset="0"/>
                <a:cs typeface="DejaVu LGC Sans" charset="0"/>
              </a:rPr>
              <a:t>are contained in </a:t>
            </a:r>
            <a:r>
              <a:rPr lang="en-GB" sz="2400" b="1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t</a:t>
            </a:r>
            <a:endParaRPr lang="en-GB" sz="2400" b="1" i="1" dirty="0">
              <a:solidFill>
                <a:schemeClr val="accent2"/>
              </a:solidFill>
              <a:ea typeface="DejaVu LGC Sans" charset="0"/>
              <a:cs typeface="DejaVu LGC Sans" charset="0"/>
            </a:endParaRP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i="1" dirty="0" smtClean="0">
                <a:ea typeface="DejaVu LGC Sans" charset="0"/>
                <a:cs typeface="DejaVu LGC Sans" charset="0"/>
              </a:rPr>
              <a:t>	</a:t>
            </a:r>
            <a:r>
              <a:rPr lang="en-GB" sz="2400" b="1" dirty="0" err="1" smtClean="0">
                <a:ea typeface="DejaVu LGC Sans" charset="0"/>
                <a:cs typeface="DejaVu LGC Sans" charset="0"/>
              </a:rPr>
              <a:t>endfor</a:t>
            </a:r>
            <a:endParaRPr lang="en-GB" sz="2400" b="1" dirty="0" smtClean="0">
              <a:ea typeface="DejaVu LGC Sans" charset="0"/>
              <a:cs typeface="DejaVu LGC Sans" charset="0"/>
            </a:endParaRP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i="1" dirty="0">
                <a:ea typeface="DejaVu LGC Sans" charset="0"/>
                <a:cs typeface="DejaVu LGC Sans" charset="0"/>
              </a:rPr>
              <a:t>	</a:t>
            </a:r>
            <a:r>
              <a:rPr lang="en-GB" sz="2400" b="1" i="1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L</a:t>
            </a:r>
            <a:r>
              <a:rPr lang="en-GB" sz="2400" b="1" i="1" baseline="-25000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k+1</a:t>
            </a:r>
            <a:r>
              <a:rPr lang="en-GB" sz="2400" b="1" dirty="0" smtClean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 </a:t>
            </a:r>
            <a:r>
              <a:rPr lang="en-GB" sz="2400" dirty="0">
                <a:ea typeface="DejaVu LGC Sans" charset="0"/>
                <a:cs typeface="DejaVu LGC Sans" charset="0"/>
              </a:rPr>
              <a:t>= candidates in </a:t>
            </a:r>
            <a:r>
              <a:rPr lang="en-GB" sz="2400" b="1" i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C</a:t>
            </a:r>
            <a:r>
              <a:rPr lang="en-GB" sz="2400" b="1" i="1" baseline="-25000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k+1</a:t>
            </a:r>
            <a:r>
              <a:rPr lang="en-GB" sz="2400" dirty="0">
                <a:ea typeface="DejaVu LGC Sans" charset="0"/>
                <a:cs typeface="DejaVu LGC Sans" charset="0"/>
              </a:rPr>
              <a:t> with 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support ≥</a:t>
            </a:r>
            <a:r>
              <a:rPr lang="en-GB" sz="2400" b="1" i="1" dirty="0" err="1" smtClean="0">
                <a:ea typeface="DejaVu LGC Sans" charset="0"/>
                <a:cs typeface="DejaVu LGC Sans" charset="0"/>
              </a:rPr>
              <a:t>min_sup</a:t>
            </a:r>
            <a:r>
              <a:rPr lang="en-GB" sz="2400" b="1" i="1" dirty="0" smtClean="0">
                <a:ea typeface="DejaVu LGC Sans" charset="0"/>
                <a:cs typeface="DejaVu LGC Sans" charset="0"/>
              </a:rPr>
              <a:t> </a:t>
            </a: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err="1">
                <a:ea typeface="DejaVu LGC Sans" charset="0"/>
                <a:cs typeface="DejaVu LGC Sans" charset="0"/>
              </a:rPr>
              <a:t>e</a:t>
            </a:r>
            <a:r>
              <a:rPr lang="en-GB" sz="2400" b="1" dirty="0" err="1" smtClean="0">
                <a:ea typeface="DejaVu LGC Sans" charset="0"/>
                <a:cs typeface="DejaVu LGC Sans" charset="0"/>
              </a:rPr>
              <a:t>ndfor</a:t>
            </a:r>
            <a:endParaRPr lang="en-GB" sz="2400" b="1" dirty="0" smtClean="0">
              <a:ea typeface="DejaVu LGC Sans" charset="0"/>
              <a:cs typeface="DejaVu LGC Sans" charset="0"/>
            </a:endParaRPr>
          </a:p>
          <a:p>
            <a:pPr marL="228600" indent="-228600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b="1" dirty="0" smtClean="0">
                <a:solidFill>
                  <a:schemeClr val="tx1"/>
                </a:solidFill>
                <a:ea typeface="DejaVu LGC Sans" charset="0"/>
                <a:cs typeface="DejaVu LGC Sans" charset="0"/>
              </a:rPr>
              <a:t>return</a:t>
            </a:r>
            <a:r>
              <a:rPr lang="en-GB" sz="2400" dirty="0" smtClean="0">
                <a:ea typeface="DejaVu LGC Sans" charset="0"/>
                <a:cs typeface="DejaVu LGC Sans" charset="0"/>
              </a:rPr>
              <a:t> </a:t>
            </a:r>
            <a:r>
              <a:rPr lang="en-GB" sz="2400" b="1" dirty="0">
                <a:solidFill>
                  <a:schemeClr val="accent2"/>
                </a:solidFill>
                <a:latin typeface="Symbol" pitchFamily="16" charset="2"/>
                <a:ea typeface="DejaVu LGC Sans" charset="0"/>
                <a:cs typeface="DejaVu LGC Sans" charset="0"/>
              </a:rPr>
              <a:t></a:t>
            </a:r>
            <a:r>
              <a:rPr lang="en-GB" sz="2400" b="1" i="1" baseline="-25000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</a:t>
            </a:r>
            <a:r>
              <a:rPr lang="en-GB" sz="2400" b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2400" b="1" i="1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L</a:t>
            </a:r>
            <a:r>
              <a:rPr lang="en-GB" sz="2400" b="1" i="1" baseline="-25000" dirty="0" err="1">
                <a:solidFill>
                  <a:schemeClr val="accent2"/>
                </a:solidFill>
                <a:ea typeface="DejaVu LGC Sans" charset="0"/>
                <a:cs typeface="DejaVu LGC Sans" charset="0"/>
              </a:rPr>
              <a:t>k</a:t>
            </a:r>
            <a:r>
              <a:rPr lang="en-GB" sz="2400" b="1" dirty="0">
                <a:solidFill>
                  <a:schemeClr val="accent2"/>
                </a:solidFill>
                <a:ea typeface="DejaVu LGC Sans" charset="0"/>
                <a:cs typeface="DejaVu LGC Sans" charset="0"/>
              </a:rPr>
              <a:t>;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304800" y="3445620"/>
            <a:ext cx="5257800" cy="304800"/>
          </a:xfrm>
          <a:prstGeom prst="roundRect">
            <a:avLst/>
          </a:prstGeom>
          <a:solidFill>
            <a:srgbClr val="00B8FF">
              <a:alpha val="22000"/>
            </a:srgbClr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Calibri" pitchFamily="32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66800" y="4267200"/>
            <a:ext cx="7696200" cy="381000"/>
          </a:xfrm>
          <a:prstGeom prst="roundRect">
            <a:avLst/>
          </a:prstGeom>
          <a:solidFill>
            <a:srgbClr val="00B8FF">
              <a:alpha val="22000"/>
            </a:srgbClr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Calibri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458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effectLst/>
              </a:rPr>
              <a:t>Apriori</a:t>
            </a:r>
            <a:r>
              <a:rPr lang="en-US" b="1" dirty="0" smtClean="0">
                <a:effectLst/>
              </a:rPr>
              <a:t> </a:t>
            </a:r>
            <a:r>
              <a:rPr lang="en-US" dirty="0" smtClean="0"/>
              <a:t>Algorithm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077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1" lang="en-US" altLang="ko-KR" sz="4000" b="1" dirty="0" smtClean="0">
                <a:effectLst/>
                <a:ea typeface="굴림" pitchFamily="34" charset="-127"/>
              </a:rPr>
              <a:t>2-Step Process</a:t>
            </a:r>
          </a:p>
          <a:p>
            <a:pPr marL="609600" indent="-609600" eaLnBrk="1" hangingPunct="1"/>
            <a:r>
              <a:rPr kumimoji="1" lang="en-US" altLang="ko-KR" sz="3600" dirty="0" smtClean="0">
                <a:solidFill>
                  <a:srgbClr val="CC3300"/>
                </a:solidFill>
                <a:effectLst/>
                <a:ea typeface="굴림" pitchFamily="34" charset="-127"/>
              </a:rPr>
              <a:t>Join Step (candidate generation)</a:t>
            </a:r>
          </a:p>
          <a:p>
            <a:pPr marL="990600" lvl="1" indent="-533400" eaLnBrk="1" hangingPunct="1"/>
            <a:r>
              <a:rPr kumimoji="1" lang="en-US" altLang="ko-KR" sz="3200" dirty="0" smtClean="0">
                <a:effectLst/>
                <a:ea typeface="굴림" pitchFamily="34" charset="-127"/>
              </a:rPr>
              <a:t>Guarantees that no candidate of length &gt; k is generated using L</a:t>
            </a:r>
            <a:r>
              <a:rPr kumimoji="1" lang="en-US" altLang="ko-KR" sz="3200" baseline="-25000" dirty="0" smtClean="0">
                <a:effectLst/>
                <a:ea typeface="굴림" pitchFamily="34" charset="-127"/>
              </a:rPr>
              <a:t>k-1</a:t>
            </a:r>
            <a:endParaRPr kumimoji="1" lang="en-US" altLang="ko-KR" sz="3200" b="1" baseline="-25000" dirty="0" smtClean="0">
              <a:effectLst/>
              <a:ea typeface="굴림" pitchFamily="34" charset="-127"/>
            </a:endParaRPr>
          </a:p>
          <a:p>
            <a:pPr marL="609600" indent="-609600" eaLnBrk="1" hangingPunct="1"/>
            <a:r>
              <a:rPr kumimoji="1" lang="en-US" altLang="ko-KR" sz="3600" dirty="0" smtClean="0">
                <a:solidFill>
                  <a:srgbClr val="CC3300"/>
                </a:solidFill>
                <a:effectLst/>
                <a:ea typeface="굴림" pitchFamily="34" charset="-127"/>
              </a:rPr>
              <a:t>Prune Step </a:t>
            </a:r>
          </a:p>
          <a:p>
            <a:pPr marL="990600" lvl="1" indent="-533400" eaLnBrk="1" hangingPunct="1"/>
            <a:r>
              <a:rPr kumimoji="1" lang="en-US" altLang="ko-KR" sz="3200" dirty="0" smtClean="0">
                <a:effectLst/>
                <a:ea typeface="굴림" pitchFamily="34" charset="-127"/>
              </a:rPr>
              <a:t>Prunes those candidate </a:t>
            </a:r>
            <a:r>
              <a:rPr kumimoji="1" lang="en-US" altLang="ko-KR" sz="3200" dirty="0" err="1" smtClean="0">
                <a:effectLst/>
                <a:ea typeface="굴림" pitchFamily="34" charset="-127"/>
              </a:rPr>
              <a:t>itemsets</a:t>
            </a:r>
            <a:r>
              <a:rPr kumimoji="1" lang="en-US" altLang="ko-KR" sz="3200" dirty="0" smtClean="0">
                <a:effectLst/>
                <a:ea typeface="굴림" pitchFamily="34" charset="-127"/>
              </a:rPr>
              <a:t> all of whose subsets are not frequent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12750"/>
            <a:ext cx="8458200" cy="654050"/>
          </a:xfrm>
        </p:spPr>
        <p:txBody>
          <a:bodyPr/>
          <a:lstStyle/>
          <a:p>
            <a:pPr>
              <a:defRPr/>
            </a:pPr>
            <a:r>
              <a:rPr lang="en-US" sz="4000" dirty="0" err="1"/>
              <a:t>Apriori</a:t>
            </a:r>
            <a:r>
              <a:rPr lang="en-US" sz="4000" b="1" dirty="0"/>
              <a:t> </a:t>
            </a:r>
            <a:r>
              <a:rPr lang="en-US" sz="4000" dirty="0"/>
              <a:t>Algorithm</a:t>
            </a:r>
            <a:endParaRPr kumimoji="1" lang="en-US" sz="3800" dirty="0" smtClean="0"/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8077200" cy="49530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How to generate candidates?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Step 1: self-joining </a:t>
            </a:r>
            <a:r>
              <a:rPr lang="en-US" altLang="en-US" sz="2400" i="1" dirty="0"/>
              <a:t>L</a:t>
            </a:r>
            <a:r>
              <a:rPr lang="en-US" altLang="en-US" sz="2400" i="1" baseline="-25000" dirty="0"/>
              <a:t>k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Step 2: pruning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How to count supports of candidates?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Example of Candidate-generation</a:t>
            </a:r>
          </a:p>
          <a:p>
            <a:pPr marL="609600" indent="-609600" eaLnBrk="1" hangingPunct="1">
              <a:defRPr/>
            </a:pPr>
            <a:r>
              <a:rPr kumimoji="1" lang="en-US" altLang="ko-KR" sz="2400" i="1" dirty="0" smtClean="0">
                <a:ea typeface="굴림" charset="-127"/>
              </a:rPr>
              <a:t>L3</a:t>
            </a:r>
            <a:r>
              <a:rPr kumimoji="1" lang="en-US" altLang="ko-KR" sz="2400" i="1" dirty="0" smtClean="0">
                <a:ea typeface="굴림" charset="-127"/>
              </a:rPr>
              <a:t>=</a:t>
            </a:r>
            <a:r>
              <a:rPr kumimoji="1" lang="en-US" altLang="ko-KR" sz="2400" dirty="0" smtClean="0">
                <a:ea typeface="굴림" charset="-127"/>
              </a:rPr>
              <a:t>{</a:t>
            </a:r>
            <a:r>
              <a:rPr kumimoji="1" lang="en-US" altLang="ko-KR" sz="2400" i="1" dirty="0" err="1" smtClean="0">
                <a:ea typeface="굴림" charset="-127"/>
              </a:rPr>
              <a:t>abc</a:t>
            </a:r>
            <a:r>
              <a:rPr kumimoji="1" lang="en-US" altLang="ko-KR" sz="2400" i="1" dirty="0" smtClean="0">
                <a:ea typeface="굴림" charset="-127"/>
              </a:rPr>
              <a:t>, </a:t>
            </a:r>
            <a:r>
              <a:rPr kumimoji="1" lang="en-US" altLang="ko-KR" sz="2400" i="1" dirty="0" err="1" smtClean="0">
                <a:ea typeface="굴림" charset="-127"/>
              </a:rPr>
              <a:t>abd</a:t>
            </a:r>
            <a:r>
              <a:rPr kumimoji="1" lang="en-US" altLang="ko-KR" sz="2400" i="1" dirty="0" smtClean="0">
                <a:ea typeface="굴림" charset="-127"/>
              </a:rPr>
              <a:t>, </a:t>
            </a:r>
            <a:r>
              <a:rPr kumimoji="1" lang="en-US" altLang="ko-KR" sz="2400" i="1" dirty="0" err="1" smtClean="0">
                <a:ea typeface="굴림" charset="-127"/>
              </a:rPr>
              <a:t>acd</a:t>
            </a:r>
            <a:r>
              <a:rPr kumimoji="1" lang="en-US" altLang="ko-KR" sz="2400" i="1" dirty="0" smtClean="0">
                <a:ea typeface="굴림" charset="-127"/>
              </a:rPr>
              <a:t>, ace, </a:t>
            </a:r>
            <a:r>
              <a:rPr kumimoji="1" lang="en-US" altLang="ko-KR" sz="2400" i="1" dirty="0" err="1" smtClean="0">
                <a:ea typeface="굴림" charset="-127"/>
              </a:rPr>
              <a:t>bcd</a:t>
            </a:r>
            <a:r>
              <a:rPr kumimoji="1" lang="en-US" altLang="ko-KR" sz="2400" dirty="0" smtClean="0">
                <a:ea typeface="굴림" charset="-127"/>
              </a:rPr>
              <a:t>}</a:t>
            </a:r>
          </a:p>
          <a:p>
            <a:pPr marL="990600" lvl="1" indent="-533400" eaLnBrk="1" hangingPunct="1">
              <a:defRPr/>
            </a:pPr>
            <a:r>
              <a:rPr kumimoji="1" lang="en-US" altLang="ko-KR" sz="2400" dirty="0" smtClean="0">
                <a:ea typeface="굴림" charset="-127"/>
              </a:rPr>
              <a:t>Self-joining: </a:t>
            </a:r>
            <a:r>
              <a:rPr kumimoji="1" lang="en-US" altLang="ko-KR" sz="2400" i="1" dirty="0" smtClean="0">
                <a:ea typeface="굴림" charset="-127"/>
              </a:rPr>
              <a:t>L3*L3</a:t>
            </a:r>
            <a:endParaRPr kumimoji="1" lang="en-US" altLang="ko-KR" sz="2400" dirty="0" smtClean="0">
              <a:ea typeface="굴림" charset="-127"/>
            </a:endParaRPr>
          </a:p>
          <a:p>
            <a:pPr marL="990600" lvl="1" indent="-533400" eaLnBrk="1" hangingPunct="1">
              <a:defRPr/>
            </a:pPr>
            <a:r>
              <a:rPr kumimoji="1" lang="en-US" altLang="ko-KR" sz="2400" i="1" dirty="0" err="1" smtClean="0">
                <a:ea typeface="굴림" charset="-127"/>
              </a:rPr>
              <a:t>abcd</a:t>
            </a:r>
            <a:r>
              <a:rPr kumimoji="1" lang="en-US" altLang="ko-KR" sz="2400" i="1" dirty="0" smtClean="0">
                <a:ea typeface="굴림" charset="-127"/>
              </a:rPr>
              <a:t>  </a:t>
            </a:r>
            <a:r>
              <a:rPr kumimoji="1" lang="en-US" altLang="ko-KR" sz="2400" dirty="0" smtClean="0">
                <a:ea typeface="굴림" charset="-127"/>
              </a:rPr>
              <a:t>from </a:t>
            </a:r>
            <a:r>
              <a:rPr kumimoji="1" lang="en-US" altLang="ko-KR" sz="2400" i="1" dirty="0" err="1" smtClean="0">
                <a:ea typeface="굴림" charset="-127"/>
              </a:rPr>
              <a:t>abc</a:t>
            </a:r>
            <a:r>
              <a:rPr kumimoji="1" lang="en-US" altLang="ko-KR" sz="2400" dirty="0" smtClean="0">
                <a:ea typeface="굴림" charset="-127"/>
              </a:rPr>
              <a:t> and </a:t>
            </a:r>
            <a:r>
              <a:rPr kumimoji="1" lang="en-US" altLang="ko-KR" sz="2400" i="1" dirty="0" err="1" smtClean="0">
                <a:ea typeface="굴림" charset="-127"/>
              </a:rPr>
              <a:t>abd</a:t>
            </a:r>
            <a:endParaRPr kumimoji="1" lang="en-US" altLang="ko-KR" sz="2400" i="1" dirty="0" smtClean="0">
              <a:ea typeface="굴림" charset="-127"/>
            </a:endParaRPr>
          </a:p>
          <a:p>
            <a:pPr marL="990600" lvl="1" indent="-533400" eaLnBrk="1" hangingPunct="1">
              <a:defRPr/>
            </a:pPr>
            <a:r>
              <a:rPr kumimoji="1" lang="en-US" altLang="ko-KR" sz="2400" i="1" dirty="0" err="1" smtClean="0">
                <a:ea typeface="굴림" charset="-127"/>
              </a:rPr>
              <a:t>acde</a:t>
            </a:r>
            <a:r>
              <a:rPr kumimoji="1" lang="en-US" altLang="ko-KR" sz="2400" dirty="0" smtClean="0">
                <a:ea typeface="굴림" charset="-127"/>
              </a:rPr>
              <a:t>  from </a:t>
            </a:r>
            <a:r>
              <a:rPr kumimoji="1" lang="en-US" altLang="ko-KR" sz="2400" i="1" dirty="0" err="1" smtClean="0">
                <a:ea typeface="굴림" charset="-127"/>
              </a:rPr>
              <a:t>acd</a:t>
            </a:r>
            <a:r>
              <a:rPr kumimoji="1" lang="en-US" altLang="ko-KR" sz="2400" dirty="0" smtClean="0">
                <a:ea typeface="굴림" charset="-127"/>
              </a:rPr>
              <a:t> and </a:t>
            </a:r>
            <a:r>
              <a:rPr kumimoji="1" lang="en-US" altLang="ko-KR" sz="2400" i="1" dirty="0" smtClean="0">
                <a:ea typeface="굴림" charset="-127"/>
              </a:rPr>
              <a:t>ace</a:t>
            </a:r>
          </a:p>
          <a:p>
            <a:pPr marL="609600" indent="-609600" eaLnBrk="1" hangingPunct="1">
              <a:defRPr/>
            </a:pPr>
            <a:r>
              <a:rPr kumimoji="1" lang="en-US" altLang="ko-KR" sz="2400" dirty="0" smtClean="0">
                <a:ea typeface="굴림" charset="-127"/>
              </a:rPr>
              <a:t>Pruning:</a:t>
            </a:r>
          </a:p>
          <a:p>
            <a:pPr marL="990600" lvl="1" indent="-533400" eaLnBrk="1" hangingPunct="1">
              <a:defRPr/>
            </a:pPr>
            <a:r>
              <a:rPr kumimoji="1" lang="en-US" altLang="ko-KR" sz="2400" i="1" dirty="0" err="1" smtClean="0">
                <a:ea typeface="굴림" charset="-127"/>
              </a:rPr>
              <a:t>acde</a:t>
            </a:r>
            <a:r>
              <a:rPr kumimoji="1" lang="en-US" altLang="ko-KR" sz="2400" dirty="0" smtClean="0">
                <a:ea typeface="굴림" charset="-127"/>
              </a:rPr>
              <a:t> is removed because </a:t>
            </a:r>
            <a:r>
              <a:rPr kumimoji="1" lang="en-US" altLang="ko-KR" sz="2400" i="1" dirty="0" err="1" smtClean="0">
                <a:ea typeface="굴림" charset="-127"/>
              </a:rPr>
              <a:t>ade</a:t>
            </a:r>
            <a:r>
              <a:rPr kumimoji="1" lang="en-US" altLang="ko-KR" sz="2400" dirty="0" smtClean="0">
                <a:ea typeface="굴림" charset="-127"/>
              </a:rPr>
              <a:t> is not in </a:t>
            </a:r>
            <a:r>
              <a:rPr kumimoji="1" lang="en-US" altLang="ko-KR" sz="2400" i="1" dirty="0" smtClean="0">
                <a:ea typeface="굴림" charset="-127"/>
              </a:rPr>
              <a:t>L3</a:t>
            </a:r>
          </a:p>
          <a:p>
            <a:pPr marL="609600" indent="-609600" eaLnBrk="1" hangingPunct="1">
              <a:defRPr/>
            </a:pPr>
            <a:r>
              <a:rPr kumimoji="1" lang="en-US" altLang="ko-KR" sz="2400" i="1" dirty="0" smtClean="0">
                <a:ea typeface="굴림" charset="-127"/>
              </a:rPr>
              <a:t>C4</a:t>
            </a:r>
            <a:r>
              <a:rPr kumimoji="1" lang="en-US" altLang="ko-KR" sz="2400" dirty="0" smtClean="0">
                <a:ea typeface="굴림" charset="-127"/>
              </a:rPr>
              <a:t>={</a:t>
            </a:r>
            <a:r>
              <a:rPr kumimoji="1" lang="en-US" altLang="ko-KR" sz="2400" i="1" dirty="0" err="1" smtClean="0">
                <a:ea typeface="굴림" charset="-127"/>
              </a:rPr>
              <a:t>abcd</a:t>
            </a:r>
            <a:r>
              <a:rPr kumimoji="1" lang="en-US" altLang="ko-KR" sz="2400" dirty="0" smtClean="0">
                <a:ea typeface="굴림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2F37A-12D4-47A2-9193-F12AE751964B}" type="datetime4">
              <a:rPr lang="en-US" altLang="en-US"/>
              <a:pPr/>
              <a:t>March 16,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D9E6-3671-4A61-A06C-082B42D7A53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37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174038" cy="639763"/>
          </a:xfrm>
        </p:spPr>
        <p:txBody>
          <a:bodyPr/>
          <a:lstStyle/>
          <a:p>
            <a:r>
              <a:rPr lang="en-US" altLang="en-US"/>
              <a:t>How to Generate Candidates?</a:t>
            </a:r>
          </a:p>
        </p:txBody>
      </p:sp>
      <p:sp>
        <p:nvSpPr>
          <p:cNvPr id="137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876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/>
              <a:t>Suppose the items in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k-1</a:t>
            </a:r>
            <a:r>
              <a:rPr lang="en-US" altLang="en-US" sz="2400"/>
              <a:t> are listed in an order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Step 1: self-joining </a:t>
            </a:r>
            <a:r>
              <a:rPr lang="en-US" altLang="en-US" sz="2400" i="1"/>
              <a:t>L</a:t>
            </a:r>
            <a:r>
              <a:rPr lang="en-US" altLang="en-US" sz="2400" i="1" baseline="-25000"/>
              <a:t>k-1</a:t>
            </a:r>
            <a:r>
              <a:rPr lang="en-US" altLang="en-US" sz="2400"/>
              <a:t> 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insert into</a:t>
            </a:r>
            <a:r>
              <a:rPr lang="en-US" altLang="en-US" sz="2000" b="1"/>
              <a:t> </a:t>
            </a:r>
            <a:r>
              <a:rPr lang="en-US" altLang="en-US" sz="2000" b="1" i="1"/>
              <a:t>C</a:t>
            </a:r>
            <a:r>
              <a:rPr lang="en-US" altLang="en-US" sz="2000" b="1" i="1" baseline="-25000"/>
              <a:t>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select </a:t>
            </a:r>
            <a:r>
              <a:rPr lang="en-US" altLang="en-US" sz="2000" b="1" i="1"/>
              <a:t>p.item</a:t>
            </a:r>
            <a:r>
              <a:rPr lang="en-US" altLang="en-US" sz="2000" b="1" i="1" baseline="-25000"/>
              <a:t>1</a:t>
            </a:r>
            <a:r>
              <a:rPr lang="en-US" altLang="en-US" sz="2000" b="1" i="1"/>
              <a:t>, p.item</a:t>
            </a:r>
            <a:r>
              <a:rPr lang="en-US" altLang="en-US" sz="2000" b="1" i="1" baseline="-25000"/>
              <a:t>2</a:t>
            </a:r>
            <a:r>
              <a:rPr lang="en-US" altLang="en-US" sz="2000" b="1" i="1"/>
              <a:t>, …, p.item</a:t>
            </a:r>
            <a:r>
              <a:rPr lang="en-US" altLang="en-US" sz="2000" b="1" i="1" baseline="-25000"/>
              <a:t>k-1</a:t>
            </a:r>
            <a:r>
              <a:rPr lang="en-US" altLang="en-US" sz="2000" b="1" i="1"/>
              <a:t>, q.item</a:t>
            </a:r>
            <a:r>
              <a:rPr lang="en-US" altLang="en-US" sz="2000" b="1" i="1" baseline="-25000"/>
              <a:t>k-1</a:t>
            </a:r>
            <a:endParaRPr lang="en-US" altLang="en-US" sz="2000" b="1"/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from </a:t>
            </a:r>
            <a:r>
              <a:rPr lang="en-US" altLang="en-US" sz="2000" b="1" i="1"/>
              <a:t>L</a:t>
            </a:r>
            <a:r>
              <a:rPr lang="en-US" altLang="en-US" sz="2000" b="1" i="1" baseline="-25000"/>
              <a:t>k-1</a:t>
            </a:r>
            <a:r>
              <a:rPr lang="en-US" altLang="en-US" sz="2000" b="1" i="1"/>
              <a:t> p, L</a:t>
            </a:r>
            <a:r>
              <a:rPr lang="en-US" altLang="en-US" sz="2000" b="1" i="1" baseline="-25000"/>
              <a:t>k-1 </a:t>
            </a:r>
            <a:r>
              <a:rPr lang="en-US" altLang="en-US" sz="2000" b="1" i="1"/>
              <a:t>q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where </a:t>
            </a:r>
            <a:r>
              <a:rPr lang="en-US" altLang="en-US" sz="2000" b="1" i="1"/>
              <a:t>p.item</a:t>
            </a:r>
            <a:r>
              <a:rPr lang="en-US" altLang="en-US" sz="2000" b="1" i="1" baseline="-25000"/>
              <a:t>1</a:t>
            </a:r>
            <a:r>
              <a:rPr lang="en-US" altLang="en-US" sz="2000" b="1" i="1"/>
              <a:t>=q.item</a:t>
            </a:r>
            <a:r>
              <a:rPr lang="en-US" altLang="en-US" sz="2000" b="1" i="1" baseline="-25000"/>
              <a:t>1</a:t>
            </a:r>
            <a:r>
              <a:rPr lang="en-US" altLang="en-US" sz="2000" b="1" i="1"/>
              <a:t>, …, p.item</a:t>
            </a:r>
            <a:r>
              <a:rPr lang="en-US" altLang="en-US" sz="2000" b="1" i="1" baseline="-25000"/>
              <a:t>k-2</a:t>
            </a:r>
            <a:r>
              <a:rPr lang="en-US" altLang="en-US" sz="2000" b="1" i="1"/>
              <a:t>=q.item</a:t>
            </a:r>
            <a:r>
              <a:rPr lang="en-US" altLang="en-US" sz="2000" b="1" i="1" baseline="-25000"/>
              <a:t>k-2</a:t>
            </a:r>
            <a:r>
              <a:rPr lang="en-US" altLang="en-US" sz="2000" b="1" i="1"/>
              <a:t>, p.item</a:t>
            </a:r>
            <a:r>
              <a:rPr lang="en-US" altLang="en-US" sz="2000" b="1" i="1" baseline="-25000"/>
              <a:t>k-1 </a:t>
            </a:r>
            <a:r>
              <a:rPr lang="en-US" altLang="en-US" sz="2000" b="1" i="1"/>
              <a:t>&lt; q.item</a:t>
            </a:r>
            <a:r>
              <a:rPr lang="en-US" altLang="en-US" sz="2000" b="1" i="1" baseline="-25000"/>
              <a:t>k-1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Step 2: pruning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forall </a:t>
            </a:r>
            <a:r>
              <a:rPr lang="en-US" altLang="en-US" sz="2000" b="1" i="1"/>
              <a:t>itemsets c in C</a:t>
            </a:r>
            <a:r>
              <a:rPr lang="en-US" altLang="en-US" sz="2000" b="1" i="1" baseline="-25000"/>
              <a:t>k</a:t>
            </a:r>
            <a:r>
              <a:rPr lang="en-US" altLang="en-US" sz="2000" b="1" i="1"/>
              <a:t> </a:t>
            </a:r>
            <a:r>
              <a:rPr lang="en-US" altLang="en-US" sz="2000"/>
              <a:t>do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forall </a:t>
            </a:r>
            <a:r>
              <a:rPr lang="en-US" altLang="en-US" sz="2000" b="1" i="1"/>
              <a:t>(k-1)-subsets s of c </a:t>
            </a:r>
            <a:r>
              <a:rPr lang="en-US" altLang="en-US" sz="2000"/>
              <a:t>do</a:t>
            </a:r>
          </a:p>
          <a:p>
            <a:pPr lvl="3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300" b="1"/>
              <a:t>if </a:t>
            </a:r>
            <a:r>
              <a:rPr lang="en-US" altLang="en-US" sz="2300" i="1"/>
              <a:t>(s is not in L</a:t>
            </a:r>
            <a:r>
              <a:rPr lang="en-US" altLang="en-US" sz="2300" i="1" baseline="-25000"/>
              <a:t>k-1</a:t>
            </a:r>
            <a:r>
              <a:rPr lang="en-US" altLang="en-US" sz="2300" i="1"/>
              <a:t>) </a:t>
            </a:r>
            <a:r>
              <a:rPr lang="en-US" altLang="en-US" sz="2300" b="1"/>
              <a:t>then delete </a:t>
            </a:r>
            <a:r>
              <a:rPr lang="en-US" altLang="en-US" sz="2300" i="1"/>
              <a:t>c</a:t>
            </a:r>
            <a:r>
              <a:rPr lang="en-US" altLang="en-US" sz="2300" b="1"/>
              <a:t> from </a:t>
            </a:r>
            <a:r>
              <a:rPr lang="en-US" altLang="en-US" sz="2300" i="1"/>
              <a:t>C</a:t>
            </a:r>
            <a:r>
              <a:rPr lang="en-US" altLang="en-US" sz="2300" i="1" baseline="-25000"/>
              <a:t>k</a:t>
            </a:r>
            <a:endParaRPr lang="en-US" altLang="en-US" sz="2300" b="1"/>
          </a:p>
        </p:txBody>
      </p:sp>
    </p:spTree>
    <p:extLst>
      <p:ext uri="{BB962C8B-B14F-4D97-AF65-F5344CB8AC3E}">
        <p14:creationId xmlns:p14="http://schemas.microsoft.com/office/powerpoint/2010/main" val="423077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981200"/>
            <a:ext cx="5334000" cy="45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Frequent Itemset Generation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410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Brute-force approach: 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Each </a:t>
            </a:r>
            <a:r>
              <a:rPr lang="en-US" altLang="en-US" sz="2800" dirty="0" err="1" smtClean="0">
                <a:effectLst/>
              </a:rPr>
              <a:t>itemset</a:t>
            </a:r>
            <a:r>
              <a:rPr lang="en-US" altLang="en-US" sz="2800" dirty="0" smtClean="0">
                <a:effectLst/>
              </a:rPr>
              <a:t> in the lattice is a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candidate</a:t>
            </a:r>
            <a:r>
              <a:rPr lang="en-US" altLang="en-US" sz="2800" dirty="0" smtClean="0">
                <a:effectLst/>
              </a:rPr>
              <a:t> frequent </a:t>
            </a:r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lvl="1" eaLnBrk="1" hangingPunct="1"/>
            <a:r>
              <a:rPr lang="en-US" altLang="en-US" sz="2800" dirty="0" smtClean="0">
                <a:effectLst/>
              </a:rPr>
              <a:t>Count the support of each candidate by scanning the database</a:t>
            </a: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800" dirty="0"/>
          </a:p>
          <a:p>
            <a:pPr lvl="1" eaLnBrk="1" hangingPunct="1"/>
            <a:r>
              <a:rPr lang="en-US" altLang="en-US" sz="2800" dirty="0" smtClean="0">
                <a:effectLst/>
              </a:rPr>
              <a:t>Match each transaction against every candidate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Complexity ~ O(</a:t>
            </a:r>
            <a:r>
              <a:rPr lang="en-US" altLang="en-US" sz="2800" dirty="0" err="1" smtClean="0">
                <a:effectLst/>
              </a:rPr>
              <a:t>NMw</a:t>
            </a:r>
            <a:r>
              <a:rPr lang="en-US" altLang="en-US" sz="2800" dirty="0" smtClean="0">
                <a:effectLst/>
              </a:rPr>
              <a:t>) =&gt;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Expensive since M = 2</a:t>
            </a:r>
            <a:r>
              <a:rPr lang="en-US" altLang="en-US" sz="2800" baseline="30000" dirty="0" smtClean="0">
                <a:solidFill>
                  <a:srgbClr val="FF0000"/>
                </a:solidFill>
                <a:effectLst/>
              </a:rPr>
              <a:t>d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 </a:t>
            </a:r>
            <a:r>
              <a:rPr lang="en-US" altLang="en-US" sz="2800" dirty="0" smtClean="0">
                <a:effectLst/>
              </a:rPr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143000" y="2971800"/>
          <a:ext cx="7281863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Visio" r:id="rId3" imgW="7643978" imgH="2744343" progId="Visio.Drawing.6">
                  <p:embed/>
                </p:oleObj>
              </mc:Choice>
              <mc:Fallback>
                <p:oleObj name="Visio" r:id="rId3" imgW="7643978" imgH="274434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7281863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454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/>
              <a:t>Frequent </a:t>
            </a:r>
            <a:r>
              <a:rPr lang="en-US" sz="4000" dirty="0" err="1" smtClean="0"/>
              <a:t>Itemset</a:t>
            </a:r>
            <a:r>
              <a:rPr lang="en-US" sz="4000" dirty="0" smtClean="0"/>
              <a:t> Generation Strategies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candidates</a:t>
            </a:r>
            <a:r>
              <a:rPr lang="en-US" altLang="en-US" sz="2800" dirty="0" smtClean="0">
                <a:effectLst/>
              </a:rPr>
              <a:t> 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Complete search: M=2</a:t>
            </a:r>
            <a:r>
              <a:rPr lang="en-US" altLang="en-US" sz="2400" baseline="30000" dirty="0" smtClean="0">
                <a:effectLst/>
              </a:rPr>
              <a:t>d   </a:t>
            </a:r>
            <a:r>
              <a:rPr lang="en-US" altLang="en-US" sz="2400" dirty="0" smtClean="0">
                <a:effectLst/>
              </a:rPr>
              <a:t>- 1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pruning techniques to reduce M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6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transactions </a:t>
            </a:r>
            <a:r>
              <a:rPr lang="en-US" altLang="en-US" sz="2800" dirty="0" smtClean="0">
                <a:effectLst/>
              </a:rPr>
              <a:t>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Reduce size of N as the size of </a:t>
            </a:r>
            <a:r>
              <a:rPr lang="en-US" altLang="en-US" sz="2400" dirty="0" err="1" smtClean="0">
                <a:effectLst/>
              </a:rPr>
              <a:t>itemset</a:t>
            </a:r>
            <a:r>
              <a:rPr lang="en-US" altLang="en-US" sz="2400" dirty="0" smtClean="0">
                <a:effectLst/>
              </a:rPr>
              <a:t> increases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Used by DHP and vertical-based mining algorithms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1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comparisons</a:t>
            </a:r>
            <a:r>
              <a:rPr lang="en-US" altLang="en-US" sz="2800" dirty="0" smtClean="0">
                <a:effectLst/>
              </a:rPr>
              <a:t> (NM)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efficient data structures to store the candidates or transactions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No need to match every candidate against every transaction</a:t>
            </a:r>
          </a:p>
        </p:txBody>
      </p:sp>
    </p:spTree>
    <p:extLst>
      <p:ext uri="{BB962C8B-B14F-4D97-AF65-F5344CB8AC3E}">
        <p14:creationId xmlns:p14="http://schemas.microsoft.com/office/powerpoint/2010/main" val="177447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965200"/>
            <a:ext cx="6483350" cy="492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3483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85801"/>
            <a:ext cx="8439150" cy="510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357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3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3820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69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Support Counting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4724400"/>
          </a:xfrm>
        </p:spPr>
        <p:txBody>
          <a:bodyPr/>
          <a:lstStyle/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Compare each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against every candidate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&amp; update the support count of candidates contained in the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Computationally expensive when no. of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&amp; no. of candidates is large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How to make it efficient?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Enumerate all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contained in a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&amp; use them to update support counts of their respective CIs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T1 has {1,2,3,5,6}.  </a:t>
            </a:r>
            <a:r>
              <a:rPr lang="en-US" altLang="en-US" sz="2400" baseline="30000" dirty="0" smtClean="0">
                <a:solidFill>
                  <a:schemeClr val="tx2"/>
                </a:solidFill>
                <a:sym typeface="Symbol" panose="05050102010706020507" pitchFamily="18" charset="2"/>
              </a:rPr>
              <a:t>5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baseline="-25000" dirty="0" smtClean="0">
                <a:solidFill>
                  <a:schemeClr val="tx2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= 10 </a:t>
            </a:r>
            <a:r>
              <a:rPr lang="en-US" altLang="en-US" sz="24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 of size 3. some of these 10 will correspond to C</a:t>
            </a:r>
            <a:r>
              <a:rPr lang="en-US" altLang="en-US" sz="2400" baseline="-25000" dirty="0" smtClean="0">
                <a:solidFill>
                  <a:schemeClr val="tx2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. Others are ignored.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How to make matching operation efficient?</a:t>
            </a:r>
          </a:p>
          <a:p>
            <a:r>
              <a:rPr lang="en-US" altLang="en-US" sz="2400" dirty="0" smtClean="0">
                <a:solidFill>
                  <a:schemeClr val="tx2"/>
                </a:solidFill>
                <a:sym typeface="Symbol" panose="05050102010706020507" pitchFamily="18" charset="2"/>
              </a:rPr>
              <a:t>Use HASH TREE!!!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098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</a:t>
            </a:r>
          </a:p>
        </p:txBody>
      </p:sp>
      <p:graphicFrame>
        <p:nvGraphicFramePr>
          <p:cNvPr id="25603" name="Object 3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2220621" y="1654174"/>
          <a:ext cx="670877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Visio" r:id="rId3" imgW="9765132" imgH="7372400" progId="Visio.Drawing.6">
                  <p:embed/>
                </p:oleObj>
              </mc:Choice>
              <mc:Fallback>
                <p:oleObj name="Visio" r:id="rId3" imgW="9765132" imgH="7372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621" y="1654174"/>
                        <a:ext cx="670877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52400" y="1054010"/>
            <a:ext cx="3276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Given a transaction t, what are the possible subsets of size 3?</a:t>
            </a:r>
          </a:p>
        </p:txBody>
      </p:sp>
    </p:spTree>
    <p:extLst>
      <p:ext uri="{BB962C8B-B14F-4D97-AF65-F5344CB8AC3E}">
        <p14:creationId xmlns:p14="http://schemas.microsoft.com/office/powerpoint/2010/main" val="247314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/>
          <p:cNvSpPr txBox="1">
            <a:spLocks noChangeArrowheads="1"/>
          </p:cNvSpPr>
          <p:nvPr/>
        </p:nvSpPr>
        <p:spPr bwMode="auto">
          <a:xfrm>
            <a:off x="228600" y="334963"/>
            <a:ext cx="8915400" cy="13112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>
                <a:solidFill>
                  <a:srgbClr val="000000"/>
                </a:solidFill>
                <a:ea typeface="DejaVu LGC Sans" charset="0"/>
                <a:cs typeface="DejaVu LGC Sans" charset="0"/>
              </a:rPr>
              <a:t>How to Count Supports of Candidates?</a:t>
            </a:r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609600" y="1676400"/>
            <a:ext cx="8077200" cy="449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284163" indent="-284163">
              <a:lnSpc>
                <a:spcPct val="110000"/>
              </a:lnSpc>
              <a:spcBef>
                <a:spcPts val="500"/>
              </a:spcBef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>
                <a:solidFill>
                  <a:srgbClr val="000000"/>
                </a:solidFill>
                <a:ea typeface="DejaVu LGC Sans" charset="0"/>
                <a:cs typeface="DejaVu LGC Sans" charset="0"/>
              </a:rPr>
              <a:t>Method</a:t>
            </a:r>
            <a:r>
              <a:rPr lang="en-GB" sz="24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: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Candidate </a:t>
            </a:r>
            <a:r>
              <a:rPr lang="en-GB" sz="20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itemsets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are stored in a </a:t>
            </a: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hash-tree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Leaf </a:t>
            </a:r>
            <a:r>
              <a:rPr lang="en-GB" sz="2000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node 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of hash-tree contains a list of </a:t>
            </a:r>
            <a:r>
              <a:rPr lang="en-GB" sz="20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itemsets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and counts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Interior </a:t>
            </a:r>
            <a:r>
              <a:rPr lang="en-GB" sz="2000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node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contains a hash table</a:t>
            </a:r>
          </a:p>
          <a:p>
            <a:pPr marL="741363" lvl="1" indent="-284163">
              <a:lnSpc>
                <a:spcPct val="110000"/>
              </a:lnSpc>
              <a:spcBef>
                <a:spcPts val="500"/>
              </a:spcBef>
              <a:buClr>
                <a:srgbClr val="0000FF"/>
              </a:buClr>
              <a:buFont typeface="Arial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i="1" dirty="0">
                <a:solidFill>
                  <a:srgbClr val="0000FF"/>
                </a:solidFill>
                <a:ea typeface="DejaVu LGC Sans" charset="0"/>
                <a:cs typeface="DejaVu LGC Sans" charset="0"/>
              </a:rPr>
              <a:t>Subset function</a:t>
            </a: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: finds all the candidates contained in a transaction</a:t>
            </a:r>
          </a:p>
        </p:txBody>
      </p:sp>
    </p:spTree>
    <p:extLst>
      <p:ext uri="{BB962C8B-B14F-4D97-AF65-F5344CB8AC3E}">
        <p14:creationId xmlns:p14="http://schemas.microsoft.com/office/powerpoint/2010/main" val="3284070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Reducing Number of Comparisons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3048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Candidate counting: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Scan the database of transactions to determine the support of each candidate </a:t>
            </a:r>
            <a:r>
              <a:rPr lang="en-US" sz="2400" dirty="0" err="1" smtClean="0"/>
              <a:t>itemset</a:t>
            </a:r>
            <a:endParaRPr 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 reduce the number of comparisons, store the candidates in a hash structure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200" dirty="0" smtClean="0"/>
              <a:t> Instead of matching each transaction against every candidate, match it against candidates contained in the hashed buckets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066800" y="4114800"/>
          <a:ext cx="682466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Visio" r:id="rId3" imgW="7643978" imgH="3191008" progId="Visio.Drawing.6">
                  <p:embed/>
                </p:oleObj>
              </mc:Choice>
              <mc:Fallback>
                <p:oleObj name="Visio" r:id="rId3" imgW="7643978" imgH="319100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14800"/>
                        <a:ext cx="6824663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24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Hash Tree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r>
              <a:rPr lang="en-US" altLang="en-US" sz="2400" dirty="0" smtClean="0">
                <a:solidFill>
                  <a:schemeClr val="tx2"/>
                </a:solidFill>
              </a:rPr>
              <a:t>Partition CIs into different buckets and store them in hash tree</a:t>
            </a:r>
          </a:p>
          <a:p>
            <a:r>
              <a:rPr lang="en-US" altLang="en-US" sz="2400" dirty="0" smtClean="0">
                <a:solidFill>
                  <a:schemeClr val="tx2"/>
                </a:solidFill>
              </a:rPr>
              <a:t>During support counting,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itemsets</a:t>
            </a:r>
            <a:r>
              <a:rPr lang="en-US" altLang="en-US" sz="2400" dirty="0" smtClean="0">
                <a:solidFill>
                  <a:schemeClr val="tx2"/>
                </a:solidFill>
              </a:rPr>
              <a:t> in each </a:t>
            </a:r>
            <a:r>
              <a:rPr lang="en-US" altLang="en-US" sz="2400" dirty="0" err="1" smtClean="0">
                <a:solidFill>
                  <a:schemeClr val="tx2"/>
                </a:solidFill>
              </a:rPr>
              <a:t>tx</a:t>
            </a:r>
            <a:r>
              <a:rPr lang="en-US" altLang="en-US" sz="2400" dirty="0" smtClean="0">
                <a:solidFill>
                  <a:schemeClr val="tx2"/>
                </a:solidFill>
              </a:rPr>
              <a:t>. are also hashed into their appropriate buckets using the same hash function</a:t>
            </a:r>
          </a:p>
          <a:p>
            <a:endParaRPr lang="en-US" altLang="en-US" sz="2400" dirty="0" smtClean="0">
              <a:solidFill>
                <a:schemeClr val="tx2"/>
              </a:solidFill>
            </a:endParaRP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2" y="2743200"/>
            <a:ext cx="6567488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629400" y="2895600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for C</a:t>
            </a:r>
            <a:r>
              <a:rPr lang="en-US" altLang="en-US" sz="24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165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Hash Tree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2775" y="1600200"/>
            <a:ext cx="8153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Example: 3-itemset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All candidate 3-itemsets are hashed 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Enumerate all the 3-itemsets of the </a:t>
            </a:r>
            <a:r>
              <a:rPr lang="en-US" sz="2800" dirty="0" err="1">
                <a:solidFill>
                  <a:schemeClr val="tx2"/>
                </a:solidFill>
                <a:latin typeface="+mn-lt"/>
                <a:sym typeface="Symbol" pitchFamily="18" charset="2"/>
              </a:rPr>
              <a:t>tx</a:t>
            </a: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.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All 3-itemsets contained in a transaction are also hashed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Comparison of a 3-itemset of </a:t>
            </a:r>
            <a:r>
              <a:rPr lang="en-US" sz="2800" dirty="0" err="1">
                <a:solidFill>
                  <a:schemeClr val="tx2"/>
                </a:solidFill>
                <a:latin typeface="+mn-lt"/>
                <a:sym typeface="Symbol" pitchFamily="18" charset="2"/>
              </a:rPr>
              <a:t>tx</a:t>
            </a: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. with all candidate 3-itemsets is avoided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Comparison is required to be done only in the appropriate bucket</a:t>
            </a: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sym typeface="Symbol" pitchFamily="18" charset="2"/>
              </a:rPr>
              <a:t>Saves </a:t>
            </a:r>
            <a:r>
              <a:rPr lang="en-US" sz="2800">
                <a:solidFill>
                  <a:schemeClr val="tx2"/>
                </a:solidFill>
                <a:latin typeface="+mn-lt"/>
                <a:sym typeface="Symbol" pitchFamily="18" charset="2"/>
              </a:rPr>
              <a:t>time </a:t>
            </a:r>
            <a:r>
              <a:rPr lang="en-US" sz="2800">
                <a:solidFill>
                  <a:schemeClr val="tx2"/>
                </a:solidFill>
                <a:latin typeface="+mn-lt"/>
                <a:sym typeface="Wingdings" pitchFamily="2" charset="2"/>
              </a:rPr>
              <a:t></a:t>
            </a:r>
            <a:endParaRPr lang="en-US" sz="2800" dirty="0">
              <a:solidFill>
                <a:schemeClr val="tx2"/>
              </a:solidFill>
              <a:latin typeface="+mn-lt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603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82804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Generate Hash Tree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3810000" y="3886200"/>
            <a:ext cx="4681538" cy="2446338"/>
            <a:chOff x="1632" y="1536"/>
            <a:chExt cx="3143" cy="1750"/>
          </a:xfrm>
        </p:grpSpPr>
        <p:sp>
          <p:nvSpPr>
            <p:cNvPr id="26638" name="Line 4"/>
            <p:cNvSpPr>
              <a:spLocks noChangeShapeType="1"/>
            </p:cNvSpPr>
            <p:nvPr/>
          </p:nvSpPr>
          <p:spPr bwMode="auto">
            <a:xfrm flipH="1">
              <a:off x="2496" y="1536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5"/>
            <p:cNvSpPr>
              <a:spLocks noChangeShapeType="1"/>
            </p:cNvSpPr>
            <p:nvPr/>
          </p:nvSpPr>
          <p:spPr bwMode="auto">
            <a:xfrm>
              <a:off x="3168" y="1536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6"/>
            <p:cNvSpPr>
              <a:spLocks noChangeShapeType="1"/>
            </p:cNvSpPr>
            <p:nvPr/>
          </p:nvSpPr>
          <p:spPr bwMode="auto">
            <a:xfrm>
              <a:off x="316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Text Box 7"/>
            <p:cNvSpPr txBox="1">
              <a:spLocks noChangeArrowheads="1"/>
            </p:cNvSpPr>
            <p:nvPr/>
          </p:nvSpPr>
          <p:spPr bwMode="auto">
            <a:xfrm>
              <a:off x="2976" y="1728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2 3 4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5 6 7</a:t>
              </a:r>
            </a:p>
          </p:txBody>
        </p:sp>
        <p:sp>
          <p:nvSpPr>
            <p:cNvPr id="26642" name="Line 8"/>
            <p:cNvSpPr>
              <a:spLocks noChangeShapeType="1"/>
            </p:cNvSpPr>
            <p:nvPr/>
          </p:nvSpPr>
          <p:spPr bwMode="auto">
            <a:xfrm flipH="1">
              <a:off x="1917" y="1871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Text Box 9"/>
            <p:cNvSpPr txBox="1">
              <a:spLocks noChangeArrowheads="1"/>
            </p:cNvSpPr>
            <p:nvPr/>
          </p:nvSpPr>
          <p:spPr bwMode="auto">
            <a:xfrm>
              <a:off x="1728" y="215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1 4 5</a:t>
              </a:r>
            </a:p>
          </p:txBody>
        </p:sp>
        <p:sp>
          <p:nvSpPr>
            <p:cNvPr id="26644" name="Line 10"/>
            <p:cNvSpPr>
              <a:spLocks noChangeShapeType="1"/>
            </p:cNvSpPr>
            <p:nvPr/>
          </p:nvSpPr>
          <p:spPr bwMode="auto">
            <a:xfrm>
              <a:off x="2493" y="1871"/>
              <a:ext cx="3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11"/>
            <p:cNvSpPr>
              <a:spLocks noChangeShapeType="1"/>
            </p:cNvSpPr>
            <p:nvPr/>
          </p:nvSpPr>
          <p:spPr bwMode="auto">
            <a:xfrm>
              <a:off x="2493" y="1871"/>
              <a:ext cx="576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Text Box 12"/>
            <p:cNvSpPr txBox="1">
              <a:spLocks noChangeArrowheads="1"/>
            </p:cNvSpPr>
            <p:nvPr/>
          </p:nvSpPr>
          <p:spPr bwMode="auto">
            <a:xfrm>
              <a:off x="2870" y="2265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1 3 6</a:t>
              </a:r>
            </a:p>
          </p:txBody>
        </p:sp>
        <p:sp>
          <p:nvSpPr>
            <p:cNvPr id="26647" name="Line 13"/>
            <p:cNvSpPr>
              <a:spLocks noChangeShapeType="1"/>
            </p:cNvSpPr>
            <p:nvPr/>
          </p:nvSpPr>
          <p:spPr bwMode="auto">
            <a:xfrm flipH="1">
              <a:off x="1824" y="2352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Text Box 14"/>
            <p:cNvSpPr txBox="1">
              <a:spLocks noChangeArrowheads="1"/>
            </p:cNvSpPr>
            <p:nvPr/>
          </p:nvSpPr>
          <p:spPr bwMode="auto">
            <a:xfrm>
              <a:off x="1632" y="2640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1 2 4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4 5 7</a:t>
              </a:r>
            </a:p>
          </p:txBody>
        </p:sp>
        <p:sp>
          <p:nvSpPr>
            <p:cNvPr id="26649" name="Line 15"/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Text Box 16"/>
            <p:cNvSpPr txBox="1">
              <a:spLocks noChangeArrowheads="1"/>
            </p:cNvSpPr>
            <p:nvPr/>
          </p:nvSpPr>
          <p:spPr bwMode="auto">
            <a:xfrm>
              <a:off x="2255" y="2784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4 5 8</a:t>
              </a:r>
            </a:p>
          </p:txBody>
        </p:sp>
        <p:sp>
          <p:nvSpPr>
            <p:cNvPr id="26651" name="Line 17"/>
            <p:cNvSpPr>
              <a:spLocks noChangeShapeType="1"/>
            </p:cNvSpPr>
            <p:nvPr/>
          </p:nvSpPr>
          <p:spPr bwMode="auto">
            <a:xfrm>
              <a:off x="2496" y="2352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Text Box 18"/>
            <p:cNvSpPr txBox="1">
              <a:spLocks noChangeArrowheads="1"/>
            </p:cNvSpPr>
            <p:nvPr/>
          </p:nvSpPr>
          <p:spPr bwMode="auto">
            <a:xfrm>
              <a:off x="2832" y="2784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1 5 9</a:t>
              </a:r>
            </a:p>
          </p:txBody>
        </p:sp>
        <p:sp>
          <p:nvSpPr>
            <p:cNvPr id="26653" name="Line 19"/>
            <p:cNvSpPr>
              <a:spLocks noChangeShapeType="1"/>
            </p:cNvSpPr>
            <p:nvPr/>
          </p:nvSpPr>
          <p:spPr bwMode="auto">
            <a:xfrm flipH="1">
              <a:off x="3456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Text Box 20"/>
            <p:cNvSpPr txBox="1">
              <a:spLocks noChangeArrowheads="1"/>
            </p:cNvSpPr>
            <p:nvPr/>
          </p:nvSpPr>
          <p:spPr bwMode="auto">
            <a:xfrm>
              <a:off x="3254" y="216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3 4 5</a:t>
              </a:r>
            </a:p>
          </p:txBody>
        </p:sp>
        <p:sp>
          <p:nvSpPr>
            <p:cNvPr id="26655" name="Line 21"/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Text Box 22"/>
            <p:cNvSpPr txBox="1">
              <a:spLocks noChangeArrowheads="1"/>
            </p:cNvSpPr>
            <p:nvPr/>
          </p:nvSpPr>
          <p:spPr bwMode="auto">
            <a:xfrm>
              <a:off x="3792" y="2160"/>
              <a:ext cx="46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3 5 6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3 5 7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6 8 9</a:t>
              </a:r>
            </a:p>
          </p:txBody>
        </p:sp>
        <p:sp>
          <p:nvSpPr>
            <p:cNvPr id="26657" name="Line 23"/>
            <p:cNvSpPr>
              <a:spLocks noChangeShapeType="1"/>
            </p:cNvSpPr>
            <p:nvPr/>
          </p:nvSpPr>
          <p:spPr bwMode="auto">
            <a:xfrm>
              <a:off x="3984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Text Box 24"/>
            <p:cNvSpPr txBox="1">
              <a:spLocks noChangeArrowheads="1"/>
            </p:cNvSpPr>
            <p:nvPr/>
          </p:nvSpPr>
          <p:spPr bwMode="auto">
            <a:xfrm>
              <a:off x="4310" y="2121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3 6 7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3 6 8</a:t>
              </a:r>
            </a:p>
          </p:txBody>
        </p:sp>
      </p:grpSp>
      <p:grpSp>
        <p:nvGrpSpPr>
          <p:cNvPr id="26628" name="Group 25"/>
          <p:cNvGrpSpPr>
            <a:grpSpLocks/>
          </p:cNvGrpSpPr>
          <p:nvPr/>
        </p:nvGrpSpPr>
        <p:grpSpPr bwMode="auto">
          <a:xfrm>
            <a:off x="533400" y="4237038"/>
            <a:ext cx="2286000" cy="1249362"/>
            <a:chOff x="144" y="912"/>
            <a:chExt cx="1440" cy="787"/>
          </a:xfrm>
        </p:grpSpPr>
        <p:sp>
          <p:nvSpPr>
            <p:cNvPr id="26630" name="Line 26"/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Line 27"/>
            <p:cNvSpPr>
              <a:spLocks noChangeShapeType="1"/>
            </p:cNvSpPr>
            <p:nvPr/>
          </p:nvSpPr>
          <p:spPr bwMode="auto">
            <a:xfrm>
              <a:off x="864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Text Box 28"/>
            <p:cNvSpPr txBox="1">
              <a:spLocks noChangeArrowheads="1"/>
            </p:cNvSpPr>
            <p:nvPr/>
          </p:nvSpPr>
          <p:spPr bwMode="auto"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1,4,7</a:t>
              </a:r>
            </a:p>
          </p:txBody>
        </p:sp>
        <p:sp>
          <p:nvSpPr>
            <p:cNvPr id="26633" name="Text Box 29"/>
            <p:cNvSpPr txBox="1">
              <a:spLocks noChangeArrowheads="1"/>
            </p:cNvSpPr>
            <p:nvPr/>
          </p:nvSpPr>
          <p:spPr bwMode="auto"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2,5,8</a:t>
              </a:r>
            </a:p>
          </p:txBody>
        </p:sp>
        <p:sp>
          <p:nvSpPr>
            <p:cNvPr id="26634" name="Line 30"/>
            <p:cNvSpPr>
              <a:spLocks noChangeShapeType="1"/>
            </p:cNvSpPr>
            <p:nvPr/>
          </p:nvSpPr>
          <p:spPr bwMode="auto">
            <a:xfrm>
              <a:off x="864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Text Box 31"/>
            <p:cNvSpPr txBox="1">
              <a:spLocks noChangeArrowheads="1"/>
            </p:cNvSpPr>
            <p:nvPr/>
          </p:nvSpPr>
          <p:spPr bwMode="auto"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3,6,9</a:t>
              </a:r>
            </a:p>
          </p:txBody>
        </p:sp>
        <p:sp>
          <p:nvSpPr>
            <p:cNvPr id="26636" name="Text Box 32"/>
            <p:cNvSpPr txBox="1">
              <a:spLocks noChangeArrowheads="1"/>
            </p:cNvSpPr>
            <p:nvPr/>
          </p:nvSpPr>
          <p:spPr bwMode="auto">
            <a:xfrm>
              <a:off x="336" y="912"/>
              <a:ext cx="10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Hash function</a:t>
              </a:r>
            </a:p>
          </p:txBody>
        </p:sp>
        <p:sp>
          <p:nvSpPr>
            <p:cNvPr id="26637" name="Rectangle 33"/>
            <p:cNvSpPr>
              <a:spLocks noChangeArrowheads="1"/>
            </p:cNvSpPr>
            <p:nvPr/>
          </p:nvSpPr>
          <p:spPr bwMode="auto">
            <a:xfrm>
              <a:off x="144" y="912"/>
              <a:ext cx="1440" cy="76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</p:grpSp>
      <p:sp>
        <p:nvSpPr>
          <p:cNvPr id="26629" name="Text Box 34"/>
          <p:cNvSpPr txBox="1">
            <a:spLocks noChangeArrowheads="1"/>
          </p:cNvSpPr>
          <p:nvPr/>
        </p:nvSpPr>
        <p:spPr bwMode="auto">
          <a:xfrm>
            <a:off x="349723" y="618249"/>
            <a:ext cx="830580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Suppose you have 15 candidate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of length 3: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{1 4 5}, {1 2 4}, {4 5 7}, {1 2 5}, {4 5 8}, {1 5 9}, {1 3 6}, {2 3 4}, {5 6 7}, {3 4 5}, {3 5 6}, {3 5 7}, {6 8 9}, {3 6 7}, {3 6 8}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You need: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Hash </a:t>
            </a:r>
            <a:r>
              <a:rPr lang="en-US" altLang="en-US" sz="2000" dirty="0" smtClean="0">
                <a:latin typeface="Arial" panose="020B0604020202020204" pitchFamily="34" charset="0"/>
              </a:rPr>
              <a:t>function: </a:t>
            </a: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For each internal node use hash fn. h(p) = p mod 3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All candidate </a:t>
            </a:r>
            <a:r>
              <a:rPr lang="en-US" sz="2000" dirty="0" err="1">
                <a:solidFill>
                  <a:schemeClr val="tx2"/>
                </a:solidFill>
                <a:sym typeface="Symbol" pitchFamily="18" charset="2"/>
              </a:rPr>
              <a:t>itemsets</a:t>
            </a:r>
            <a:r>
              <a:rPr lang="en-US" sz="2000" dirty="0">
                <a:solidFill>
                  <a:schemeClr val="tx2"/>
                </a:solidFill>
                <a:sym typeface="Symbol" pitchFamily="18" charset="2"/>
              </a:rPr>
              <a:t> are stored at the leaf nodes of the hash tree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Max leaf size: max number of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stored in a leaf node (if number of candidate </a:t>
            </a:r>
            <a:r>
              <a:rPr lang="en-US" altLang="en-US" sz="2000" dirty="0" err="1">
                <a:latin typeface="Arial" panose="020B0604020202020204" pitchFamily="34" charset="0"/>
              </a:rPr>
              <a:t>itemsets</a:t>
            </a:r>
            <a:r>
              <a:rPr lang="en-US" altLang="en-US" sz="2000" dirty="0">
                <a:latin typeface="Arial" panose="020B0604020202020204" pitchFamily="34" charset="0"/>
              </a:rPr>
              <a:t> exceeds max leaf size, split the node)</a:t>
            </a:r>
          </a:p>
        </p:txBody>
      </p:sp>
    </p:spTree>
    <p:extLst>
      <p:ext uri="{BB962C8B-B14F-4D97-AF65-F5344CB8AC3E}">
        <p14:creationId xmlns:p14="http://schemas.microsoft.com/office/powerpoint/2010/main" val="13550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397108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grpSp>
        <p:nvGrpSpPr>
          <p:cNvPr id="27654" name="Group 6"/>
          <p:cNvGrpSpPr>
            <a:grpSpLocks/>
          </p:cNvGrpSpPr>
          <p:nvPr/>
        </p:nvGrpSpPr>
        <p:grpSpPr bwMode="auto">
          <a:xfrm>
            <a:off x="1219202" y="2133600"/>
            <a:ext cx="358776" cy="366713"/>
            <a:chOff x="768" y="1344"/>
            <a:chExt cx="226" cy="231"/>
          </a:xfrm>
        </p:grpSpPr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627063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grpSp>
        <p:nvGrpSpPr>
          <p:cNvPr id="27663" name="Group 15"/>
          <p:cNvGrpSpPr>
            <a:grpSpLocks/>
          </p:cNvGrpSpPr>
          <p:nvPr/>
        </p:nvGrpSpPr>
        <p:grpSpPr bwMode="auto">
          <a:xfrm>
            <a:off x="5029207" y="2182819"/>
            <a:ext cx="358776" cy="366713"/>
            <a:chOff x="3168" y="1375"/>
            <a:chExt cx="226" cy="231"/>
          </a:xfrm>
        </p:grpSpPr>
        <p:sp>
          <p:nvSpPr>
            <p:cNvPr id="27664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65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7668" name="Group 20"/>
          <p:cNvGrpSpPr>
            <a:grpSpLocks/>
          </p:cNvGrpSpPr>
          <p:nvPr/>
        </p:nvGrpSpPr>
        <p:grpSpPr bwMode="auto">
          <a:xfrm>
            <a:off x="4087807" y="2944821"/>
            <a:ext cx="358774" cy="366713"/>
            <a:chOff x="2575" y="1855"/>
            <a:chExt cx="226" cy="231"/>
          </a:xfrm>
        </p:grpSpPr>
        <p:sp>
          <p:nvSpPr>
            <p:cNvPr id="27669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0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7671" name="Group 23"/>
          <p:cNvGrpSpPr>
            <a:grpSpLocks/>
          </p:cNvGrpSpPr>
          <p:nvPr/>
        </p:nvGrpSpPr>
        <p:grpSpPr bwMode="auto">
          <a:xfrm>
            <a:off x="5976930" y="2944821"/>
            <a:ext cx="358774" cy="366713"/>
            <a:chOff x="3765" y="1855"/>
            <a:chExt cx="226" cy="231"/>
          </a:xfrm>
        </p:grpSpPr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3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7675" name="Group 27"/>
          <p:cNvGrpSpPr>
            <a:grpSpLocks/>
          </p:cNvGrpSpPr>
          <p:nvPr/>
        </p:nvGrpSpPr>
        <p:grpSpPr bwMode="auto">
          <a:xfrm>
            <a:off x="4087807" y="3783023"/>
            <a:ext cx="358774" cy="366713"/>
            <a:chOff x="2575" y="2383"/>
            <a:chExt cx="226" cy="231"/>
          </a:xfrm>
        </p:grpSpPr>
        <p:sp>
          <p:nvSpPr>
            <p:cNvPr id="27676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27677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19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1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2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7683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7684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7685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6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7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8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89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90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523198" cy="30995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7691" name="Text Box 43"/>
          <p:cNvSpPr txBox="1">
            <a:spLocks noChangeArrowheads="1"/>
          </p:cNvSpPr>
          <p:nvPr/>
        </p:nvSpPr>
        <p:spPr bwMode="auto">
          <a:xfrm>
            <a:off x="5832475" y="3721100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7692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523198" cy="525401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7693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400"/>
          </a:p>
        </p:txBody>
      </p:sp>
      <p:sp>
        <p:nvSpPr>
          <p:cNvPr id="27694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7695" name="Text Box 47"/>
          <p:cNvSpPr txBox="1">
            <a:spLocks noChangeArrowheads="1"/>
          </p:cNvSpPr>
          <p:nvPr/>
        </p:nvSpPr>
        <p:spPr bwMode="auto">
          <a:xfrm>
            <a:off x="885825" y="3965575"/>
            <a:ext cx="208772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3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rd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7696" name="Line 48"/>
          <p:cNvSpPr>
            <a:spLocks noChangeShapeType="1"/>
          </p:cNvSpPr>
          <p:nvPr/>
        </p:nvSpPr>
        <p:spPr bwMode="auto">
          <a:xfrm>
            <a:off x="5181600" y="1949450"/>
            <a:ext cx="1588" cy="2428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56224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28892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663206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8678" name="Group 6"/>
          <p:cNvGrpSpPr>
            <a:grpSpLocks/>
          </p:cNvGrpSpPr>
          <p:nvPr/>
        </p:nvGrpSpPr>
        <p:grpSpPr bwMode="auto">
          <a:xfrm>
            <a:off x="1219202" y="2133597"/>
            <a:ext cx="358776" cy="371475"/>
            <a:chOff x="768" y="1344"/>
            <a:chExt cx="226" cy="234"/>
          </a:xfrm>
        </p:grpSpPr>
        <p:sp>
          <p:nvSpPr>
            <p:cNvPr id="28679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623887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62230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8687" name="Group 15"/>
          <p:cNvGrpSpPr>
            <a:grpSpLocks/>
          </p:cNvGrpSpPr>
          <p:nvPr/>
        </p:nvGrpSpPr>
        <p:grpSpPr bwMode="auto">
          <a:xfrm>
            <a:off x="5029207" y="2182816"/>
            <a:ext cx="358776" cy="371475"/>
            <a:chOff x="3168" y="1375"/>
            <a:chExt cx="226" cy="234"/>
          </a:xfrm>
        </p:grpSpPr>
        <p:sp>
          <p:nvSpPr>
            <p:cNvPr id="28688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89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8692" name="Group 20"/>
          <p:cNvGrpSpPr>
            <a:grpSpLocks/>
          </p:cNvGrpSpPr>
          <p:nvPr/>
        </p:nvGrpSpPr>
        <p:grpSpPr bwMode="auto">
          <a:xfrm>
            <a:off x="4087807" y="2944817"/>
            <a:ext cx="358774" cy="371475"/>
            <a:chOff x="2575" y="1855"/>
            <a:chExt cx="226" cy="234"/>
          </a:xfrm>
        </p:grpSpPr>
        <p:sp>
          <p:nvSpPr>
            <p:cNvPr id="28693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94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8695" name="Group 23"/>
          <p:cNvGrpSpPr>
            <a:grpSpLocks/>
          </p:cNvGrpSpPr>
          <p:nvPr/>
        </p:nvGrpSpPr>
        <p:grpSpPr bwMode="auto">
          <a:xfrm>
            <a:off x="5976930" y="2944817"/>
            <a:ext cx="358774" cy="371475"/>
            <a:chOff x="3765" y="1855"/>
            <a:chExt cx="226" cy="234"/>
          </a:xfrm>
        </p:grpSpPr>
        <p:sp>
          <p:nvSpPr>
            <p:cNvPr id="28696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8699" name="Group 27"/>
          <p:cNvGrpSpPr>
            <a:grpSpLocks/>
          </p:cNvGrpSpPr>
          <p:nvPr/>
        </p:nvGrpSpPr>
        <p:grpSpPr bwMode="auto">
          <a:xfrm>
            <a:off x="4087807" y="3783018"/>
            <a:ext cx="358774" cy="371475"/>
            <a:chOff x="2575" y="2383"/>
            <a:chExt cx="226" cy="234"/>
          </a:xfrm>
        </p:grpSpPr>
        <p:sp>
          <p:nvSpPr>
            <p:cNvPr id="28700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701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4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06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8707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3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4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8715" name="Text Box 43"/>
          <p:cNvSpPr txBox="1">
            <a:spLocks noChangeArrowheads="1"/>
          </p:cNvSpPr>
          <p:nvPr/>
        </p:nvSpPr>
        <p:spPr bwMode="auto">
          <a:xfrm>
            <a:off x="5832475" y="3721100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8716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8717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18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8719" name="Text Box 47"/>
          <p:cNvSpPr txBox="1">
            <a:spLocks noChangeArrowheads="1"/>
          </p:cNvSpPr>
          <p:nvPr/>
        </p:nvSpPr>
        <p:spPr bwMode="auto">
          <a:xfrm>
            <a:off x="885825" y="3965575"/>
            <a:ext cx="208772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3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rd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8720" name="Text Box 48"/>
          <p:cNvSpPr txBox="1">
            <a:spLocks noChangeArrowheads="1"/>
          </p:cNvSpPr>
          <p:nvPr/>
        </p:nvSpPr>
        <p:spPr bwMode="auto">
          <a:xfrm>
            <a:off x="3932238" y="1766888"/>
            <a:ext cx="919139" cy="371513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12345</a:t>
            </a:r>
          </a:p>
        </p:txBody>
      </p:sp>
      <p:cxnSp>
        <p:nvCxnSpPr>
          <p:cNvPr id="28721" name="AutoShape 49"/>
          <p:cNvCxnSpPr>
            <a:cxnSpLocks noChangeShapeType="1"/>
            <a:stCxn id="28720" idx="3"/>
            <a:endCxn id="28689" idx="0"/>
          </p:cNvCxnSpPr>
          <p:nvPr/>
        </p:nvCxnSpPr>
        <p:spPr bwMode="auto">
          <a:xfrm>
            <a:off x="4851377" y="1952645"/>
            <a:ext cx="357218" cy="230171"/>
          </a:xfrm>
          <a:prstGeom prst="bentConnector2">
            <a:avLst/>
          </a:prstGeom>
          <a:noFill/>
          <a:ln w="9360">
            <a:solidFill>
              <a:srgbClr val="F8400E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28722" name="Text Box 50"/>
          <p:cNvSpPr txBox="1">
            <a:spLocks noChangeArrowheads="1"/>
          </p:cNvSpPr>
          <p:nvPr/>
        </p:nvSpPr>
        <p:spPr bwMode="auto">
          <a:xfrm>
            <a:off x="2544501" y="2563813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3" name="Text Box 51"/>
          <p:cNvSpPr txBox="1">
            <a:spLocks noChangeArrowheads="1"/>
          </p:cNvSpPr>
          <p:nvPr/>
        </p:nvSpPr>
        <p:spPr bwMode="auto">
          <a:xfrm>
            <a:off x="531627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4" name="Line 52"/>
          <p:cNvSpPr>
            <a:spLocks noChangeShapeType="1"/>
          </p:cNvSpPr>
          <p:nvPr/>
        </p:nvSpPr>
        <p:spPr bwMode="auto">
          <a:xfrm flipH="1">
            <a:off x="5240338" y="2092325"/>
            <a:ext cx="465137" cy="852488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707522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8726" name="Line 54"/>
          <p:cNvSpPr>
            <a:spLocks noChangeShapeType="1"/>
          </p:cNvSpPr>
          <p:nvPr/>
        </p:nvSpPr>
        <p:spPr bwMode="auto">
          <a:xfrm flipH="1">
            <a:off x="6154738" y="2078038"/>
            <a:ext cx="1046162" cy="866775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41686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7239000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Example of the hash-tree for C</a:t>
            </a:r>
            <a:r>
              <a:rPr lang="en-GB" sz="3200" baseline="-25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3</a:t>
            </a: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27063" y="1708150"/>
            <a:ext cx="2663206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function: mod 3</a:t>
            </a: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1371600" y="2514600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 flipH="1">
            <a:off x="1065213" y="2514600"/>
            <a:ext cx="3079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1371600" y="2514600"/>
            <a:ext cx="304800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9702" name="Group 6"/>
          <p:cNvGrpSpPr>
            <a:grpSpLocks/>
          </p:cNvGrpSpPr>
          <p:nvPr/>
        </p:nvGrpSpPr>
        <p:grpSpPr bwMode="auto">
          <a:xfrm>
            <a:off x="1219202" y="2133597"/>
            <a:ext cx="358776" cy="371475"/>
            <a:chOff x="768" y="1344"/>
            <a:chExt cx="226" cy="234"/>
          </a:xfrm>
        </p:grpSpPr>
        <p:sp>
          <p:nvSpPr>
            <p:cNvPr id="29703" name="Oval 7"/>
            <p:cNvSpPr>
              <a:spLocks noChangeArrowheads="1"/>
            </p:cNvSpPr>
            <p:nvPr/>
          </p:nvSpPr>
          <p:spPr bwMode="auto">
            <a:xfrm>
              <a:off x="768" y="1344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04" name="Text Box 8"/>
            <p:cNvSpPr txBox="1">
              <a:spLocks noChangeArrowheads="1"/>
            </p:cNvSpPr>
            <p:nvPr/>
          </p:nvSpPr>
          <p:spPr bwMode="auto">
            <a:xfrm>
              <a:off x="768" y="1344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657225" y="2851150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1,4,..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11541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2,5,..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1649413" y="2849563"/>
            <a:ext cx="569685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3,6,..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>
            <a:off x="5181600" y="2563813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 flipH="1">
            <a:off x="4265613" y="2563813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>
            <a:off x="5181600" y="2563813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29711" name="Group 15"/>
          <p:cNvGrpSpPr>
            <a:grpSpLocks/>
          </p:cNvGrpSpPr>
          <p:nvPr/>
        </p:nvGrpSpPr>
        <p:grpSpPr bwMode="auto">
          <a:xfrm>
            <a:off x="5029207" y="2182816"/>
            <a:ext cx="358776" cy="371475"/>
            <a:chOff x="3168" y="1375"/>
            <a:chExt cx="226" cy="234"/>
          </a:xfrm>
        </p:grpSpPr>
        <p:sp>
          <p:nvSpPr>
            <p:cNvPr id="29712" name="Oval 16"/>
            <p:cNvSpPr>
              <a:spLocks noChangeArrowheads="1"/>
            </p:cNvSpPr>
            <p:nvPr/>
          </p:nvSpPr>
          <p:spPr bwMode="auto">
            <a:xfrm>
              <a:off x="3168" y="137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13" name="Text Box 17"/>
            <p:cNvSpPr txBox="1">
              <a:spLocks noChangeArrowheads="1"/>
            </p:cNvSpPr>
            <p:nvPr/>
          </p:nvSpPr>
          <p:spPr bwMode="auto">
            <a:xfrm>
              <a:off x="3168" y="137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14" name="Line 18"/>
          <p:cNvSpPr>
            <a:spLocks noChangeShapeType="1"/>
          </p:cNvSpPr>
          <p:nvPr/>
        </p:nvSpPr>
        <p:spPr bwMode="auto">
          <a:xfrm>
            <a:off x="5638800" y="24288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5934075" y="2244725"/>
            <a:ext cx="2066889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1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st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grpSp>
        <p:nvGrpSpPr>
          <p:cNvPr id="29716" name="Group 20"/>
          <p:cNvGrpSpPr>
            <a:grpSpLocks/>
          </p:cNvGrpSpPr>
          <p:nvPr/>
        </p:nvGrpSpPr>
        <p:grpSpPr bwMode="auto">
          <a:xfrm>
            <a:off x="4087807" y="2944817"/>
            <a:ext cx="358774" cy="371475"/>
            <a:chOff x="2575" y="1855"/>
            <a:chExt cx="226" cy="234"/>
          </a:xfrm>
        </p:grpSpPr>
        <p:sp>
          <p:nvSpPr>
            <p:cNvPr id="29717" name="Oval 21"/>
            <p:cNvSpPr>
              <a:spLocks noChangeArrowheads="1"/>
            </p:cNvSpPr>
            <p:nvPr/>
          </p:nvSpPr>
          <p:spPr bwMode="auto">
            <a:xfrm>
              <a:off x="257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18" name="Text Box 22"/>
            <p:cNvSpPr txBox="1">
              <a:spLocks noChangeArrowheads="1"/>
            </p:cNvSpPr>
            <p:nvPr/>
          </p:nvSpPr>
          <p:spPr bwMode="auto">
            <a:xfrm>
              <a:off x="257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grpSp>
        <p:nvGrpSpPr>
          <p:cNvPr id="29719" name="Group 23"/>
          <p:cNvGrpSpPr>
            <a:grpSpLocks/>
          </p:cNvGrpSpPr>
          <p:nvPr/>
        </p:nvGrpSpPr>
        <p:grpSpPr bwMode="auto">
          <a:xfrm>
            <a:off x="5976930" y="2944817"/>
            <a:ext cx="358774" cy="371475"/>
            <a:chOff x="3765" y="1855"/>
            <a:chExt cx="226" cy="234"/>
          </a:xfrm>
        </p:grpSpPr>
        <p:sp>
          <p:nvSpPr>
            <p:cNvPr id="29720" name="Oval 24"/>
            <p:cNvSpPr>
              <a:spLocks noChangeArrowheads="1"/>
            </p:cNvSpPr>
            <p:nvPr/>
          </p:nvSpPr>
          <p:spPr bwMode="auto">
            <a:xfrm>
              <a:off x="3765" y="1855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3765" y="1855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4927600" y="29305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567</a:t>
            </a:r>
          </a:p>
        </p:txBody>
      </p:sp>
      <p:grpSp>
        <p:nvGrpSpPr>
          <p:cNvPr id="29723" name="Group 27"/>
          <p:cNvGrpSpPr>
            <a:grpSpLocks/>
          </p:cNvGrpSpPr>
          <p:nvPr/>
        </p:nvGrpSpPr>
        <p:grpSpPr bwMode="auto">
          <a:xfrm>
            <a:off x="4087807" y="3783018"/>
            <a:ext cx="358774" cy="371475"/>
            <a:chOff x="2575" y="2383"/>
            <a:chExt cx="226" cy="234"/>
          </a:xfrm>
        </p:grpSpPr>
        <p:sp>
          <p:nvSpPr>
            <p:cNvPr id="29724" name="Oval 28"/>
            <p:cNvSpPr>
              <a:spLocks noChangeArrowheads="1"/>
            </p:cNvSpPr>
            <p:nvPr/>
          </p:nvSpPr>
          <p:spPr bwMode="auto">
            <a:xfrm>
              <a:off x="2575" y="2383"/>
              <a:ext cx="226" cy="231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725" name="Text Box 29"/>
            <p:cNvSpPr txBox="1">
              <a:spLocks noChangeArrowheads="1"/>
            </p:cNvSpPr>
            <p:nvPr/>
          </p:nvSpPr>
          <p:spPr bwMode="auto">
            <a:xfrm>
              <a:off x="2575" y="2383"/>
              <a:ext cx="226" cy="23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Tahom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solidFill>
                    <a:srgbClr val="000000"/>
                  </a:solidFill>
                  <a:latin typeface="Tahoma" pitchFamily="32" charset="0"/>
                  <a:ea typeface="DejaVu LGC Sans" charset="0"/>
                  <a:cs typeface="DejaVu LGC Sans" charset="0"/>
                </a:rPr>
                <a:t>H</a:t>
              </a:r>
            </a:p>
          </p:txBody>
        </p:sp>
      </p:grp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3063875" y="3721100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145</a:t>
            </a:r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4267200" y="414972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 flipH="1">
            <a:off x="3351213" y="414972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4267200" y="414972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3062288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124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457</a:t>
            </a:r>
          </a:p>
        </p:txBody>
      </p:sp>
      <p:sp>
        <p:nvSpPr>
          <p:cNvPr id="29731" name="Text Box 35"/>
          <p:cNvSpPr txBox="1">
            <a:spLocks noChangeArrowheads="1"/>
          </p:cNvSpPr>
          <p:nvPr/>
        </p:nvSpPr>
        <p:spPr bwMode="auto">
          <a:xfrm>
            <a:off x="3941763" y="453072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125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458</a:t>
            </a:r>
          </a:p>
        </p:txBody>
      </p:sp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4916488" y="453072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159</a:t>
            </a:r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4267200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H="1">
            <a:off x="3351213" y="3343275"/>
            <a:ext cx="91757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6156325" y="3343275"/>
            <a:ext cx="1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>
            <a:off x="5567363" y="3343275"/>
            <a:ext cx="590550" cy="3778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>
            <a:off x="6156325" y="3343275"/>
            <a:ext cx="974725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5064125" y="3724275"/>
            <a:ext cx="624187" cy="3715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</p:txBody>
      </p:sp>
      <p:sp>
        <p:nvSpPr>
          <p:cNvPr id="29739" name="Text Box 43"/>
          <p:cNvSpPr txBox="1">
            <a:spLocks noChangeArrowheads="1"/>
          </p:cNvSpPr>
          <p:nvPr/>
        </p:nvSpPr>
        <p:spPr bwMode="auto">
          <a:xfrm>
            <a:off x="5832475" y="3721100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356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689</a:t>
            </a:r>
          </a:p>
        </p:txBody>
      </p:sp>
      <p:sp>
        <p:nvSpPr>
          <p:cNvPr id="29740" name="Text Box 44"/>
          <p:cNvSpPr txBox="1">
            <a:spLocks noChangeArrowheads="1"/>
          </p:cNvSpPr>
          <p:nvPr/>
        </p:nvSpPr>
        <p:spPr bwMode="auto">
          <a:xfrm>
            <a:off x="6805613" y="3724275"/>
            <a:ext cx="624187" cy="6485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367</a:t>
            </a:r>
          </a:p>
          <a:p>
            <a:pPr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368</a:t>
            </a:r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6434138" y="3114675"/>
            <a:ext cx="381000" cy="1588"/>
          </a:xfrm>
          <a:prstGeom prst="line">
            <a:avLst/>
          </a:prstGeom>
          <a:noFill/>
          <a:ln w="9360">
            <a:solidFill>
              <a:srgbClr val="15CB22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42" name="Text Box 46"/>
          <p:cNvSpPr txBox="1">
            <a:spLocks noChangeArrowheads="1"/>
          </p:cNvSpPr>
          <p:nvPr/>
        </p:nvSpPr>
        <p:spPr bwMode="auto">
          <a:xfrm>
            <a:off x="6729413" y="2930525"/>
            <a:ext cx="2118185" cy="371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Hash on 2</a:t>
            </a:r>
            <a:r>
              <a:rPr lang="en-GB" sz="1800" b="1" baseline="3000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nd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 item</a:t>
            </a:r>
          </a:p>
        </p:txBody>
      </p:sp>
      <p:sp>
        <p:nvSpPr>
          <p:cNvPr id="29743" name="Text Box 47"/>
          <p:cNvSpPr txBox="1">
            <a:spLocks noChangeArrowheads="1"/>
          </p:cNvSpPr>
          <p:nvPr/>
        </p:nvSpPr>
        <p:spPr bwMode="auto">
          <a:xfrm>
            <a:off x="3932238" y="1766888"/>
            <a:ext cx="919139" cy="371513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12345</a:t>
            </a:r>
          </a:p>
        </p:txBody>
      </p:sp>
      <p:cxnSp>
        <p:nvCxnSpPr>
          <p:cNvPr id="29744" name="AutoShape 48"/>
          <p:cNvCxnSpPr>
            <a:cxnSpLocks noChangeShapeType="1"/>
            <a:stCxn id="29743" idx="3"/>
            <a:endCxn id="29713" idx="0"/>
          </p:cNvCxnSpPr>
          <p:nvPr/>
        </p:nvCxnSpPr>
        <p:spPr bwMode="auto">
          <a:xfrm>
            <a:off x="4851377" y="1952645"/>
            <a:ext cx="357218" cy="230171"/>
          </a:xfrm>
          <a:prstGeom prst="bentConnector2">
            <a:avLst/>
          </a:prstGeom>
          <a:noFill/>
          <a:ln w="9360">
            <a:solidFill>
              <a:srgbClr val="F8400E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29745" name="Text Box 49"/>
          <p:cNvSpPr txBox="1">
            <a:spLocks noChangeArrowheads="1"/>
          </p:cNvSpPr>
          <p:nvPr/>
        </p:nvSpPr>
        <p:spPr bwMode="auto">
          <a:xfrm>
            <a:off x="2544501" y="2563813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6" name="Text Box 50"/>
          <p:cNvSpPr txBox="1">
            <a:spLocks noChangeArrowheads="1"/>
          </p:cNvSpPr>
          <p:nvPr/>
        </p:nvSpPr>
        <p:spPr bwMode="auto">
          <a:xfrm>
            <a:off x="531627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7" name="Line 51"/>
          <p:cNvSpPr>
            <a:spLocks noChangeShapeType="1"/>
          </p:cNvSpPr>
          <p:nvPr/>
        </p:nvSpPr>
        <p:spPr bwMode="auto">
          <a:xfrm flipH="1">
            <a:off x="5240338" y="2092325"/>
            <a:ext cx="465137" cy="852488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48" name="Text Box 52"/>
          <p:cNvSpPr txBox="1">
            <a:spLocks noChangeArrowheads="1"/>
          </p:cNvSpPr>
          <p:nvPr/>
        </p:nvSpPr>
        <p:spPr bwMode="auto">
          <a:xfrm>
            <a:off x="7075226" y="1441450"/>
            <a:ext cx="160522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15CB22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XX</a:t>
            </a:r>
          </a:p>
        </p:txBody>
      </p:sp>
      <p:sp>
        <p:nvSpPr>
          <p:cNvPr id="29749" name="Line 53"/>
          <p:cNvSpPr>
            <a:spLocks noChangeShapeType="1"/>
          </p:cNvSpPr>
          <p:nvPr/>
        </p:nvSpPr>
        <p:spPr bwMode="auto">
          <a:xfrm flipH="1">
            <a:off x="6154738" y="2078038"/>
            <a:ext cx="1046162" cy="866775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0" name="Text Box 54"/>
          <p:cNvSpPr txBox="1">
            <a:spLocks noChangeArrowheads="1"/>
          </p:cNvSpPr>
          <p:nvPr/>
        </p:nvSpPr>
        <p:spPr bwMode="auto">
          <a:xfrm>
            <a:off x="1288896" y="3446463"/>
            <a:ext cx="159400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345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 dirty="0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12</a:t>
            </a:r>
            <a:r>
              <a:rPr lang="en-GB" sz="1800" b="1" dirty="0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</a:t>
            </a:r>
          </a:p>
        </p:txBody>
      </p:sp>
      <p:sp>
        <p:nvSpPr>
          <p:cNvPr id="29751" name="Text Box 55"/>
          <p:cNvSpPr txBox="1">
            <a:spLocks noChangeArrowheads="1"/>
          </p:cNvSpPr>
          <p:nvPr/>
        </p:nvSpPr>
        <p:spPr bwMode="auto">
          <a:xfrm>
            <a:off x="605769" y="4205288"/>
            <a:ext cx="2302531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45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13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 (null)‏</a:t>
            </a:r>
          </a:p>
        </p:txBody>
      </p:sp>
      <p:sp>
        <p:nvSpPr>
          <p:cNvPr id="29752" name="Text Box 56"/>
          <p:cNvSpPr txBox="1">
            <a:spLocks noChangeArrowheads="1"/>
          </p:cNvSpPr>
          <p:nvPr/>
        </p:nvSpPr>
        <p:spPr bwMode="auto">
          <a:xfrm>
            <a:off x="1285721" y="4987925"/>
            <a:ext cx="1594004" cy="648512"/>
          </a:xfrm>
          <a:prstGeom prst="rect">
            <a:avLst/>
          </a:prstGeom>
          <a:solidFill>
            <a:srgbClr val="FFFF66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Tahoma" pitchFamily="32" charset="0"/>
                <a:ea typeface="DejaVu LGC Sans" charset="0"/>
                <a:cs typeface="DejaVu LGC Sans" charset="0"/>
              </a:rPr>
              <a:t>1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23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4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5</a:t>
            </a:r>
          </a:p>
          <a:p>
            <a:pPr algn="r">
              <a:lnSpc>
                <a:spcPct val="100000"/>
              </a:lnSpc>
              <a:buClr>
                <a:srgbClr val="F8400E"/>
              </a:buClr>
              <a:buFont typeface="Tahom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look for </a:t>
            </a:r>
            <a:r>
              <a:rPr lang="en-GB" sz="1800" b="1">
                <a:solidFill>
                  <a:srgbClr val="15CB22"/>
                </a:solidFill>
                <a:latin typeface="Tahoma" pitchFamily="32" charset="0"/>
                <a:ea typeface="DejaVu LGC Sans" charset="0"/>
                <a:cs typeface="DejaVu LGC Sans" charset="0"/>
              </a:rPr>
              <a:t>14</a:t>
            </a:r>
            <a:r>
              <a:rPr lang="en-GB" sz="1800" b="1">
                <a:solidFill>
                  <a:srgbClr val="F8400E"/>
                </a:solidFill>
                <a:latin typeface="Tahoma" pitchFamily="32" charset="0"/>
                <a:ea typeface="DejaVu LGC Sans" charset="0"/>
                <a:cs typeface="DejaVu LGC Sans" charset="0"/>
              </a:rPr>
              <a:t>X</a:t>
            </a:r>
          </a:p>
        </p:txBody>
      </p:sp>
      <p:sp>
        <p:nvSpPr>
          <p:cNvPr id="29753" name="Line 57"/>
          <p:cNvSpPr>
            <a:spLocks noChangeShapeType="1"/>
          </p:cNvSpPr>
          <p:nvPr/>
        </p:nvSpPr>
        <p:spPr bwMode="auto">
          <a:xfrm flipH="1">
            <a:off x="2817813" y="3871913"/>
            <a:ext cx="1271587" cy="1587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4" name="Line 58"/>
          <p:cNvSpPr>
            <a:spLocks noChangeShapeType="1"/>
          </p:cNvSpPr>
          <p:nvPr/>
        </p:nvSpPr>
        <p:spPr bwMode="auto">
          <a:xfrm flipH="1">
            <a:off x="2820988" y="3871913"/>
            <a:ext cx="1763712" cy="500062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5" name="Line 59"/>
          <p:cNvSpPr>
            <a:spLocks noChangeShapeType="1"/>
          </p:cNvSpPr>
          <p:nvPr/>
        </p:nvSpPr>
        <p:spPr bwMode="auto">
          <a:xfrm flipH="1">
            <a:off x="2817813" y="4100513"/>
            <a:ext cx="255587" cy="1379537"/>
          </a:xfrm>
          <a:prstGeom prst="line">
            <a:avLst/>
          </a:prstGeom>
          <a:noFill/>
          <a:ln w="2232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756" name="Rectangle 60"/>
          <p:cNvSpPr>
            <a:spLocks noChangeArrowheads="1"/>
          </p:cNvSpPr>
          <p:nvPr/>
        </p:nvSpPr>
        <p:spPr bwMode="auto">
          <a:xfrm>
            <a:off x="4484688" y="3582988"/>
            <a:ext cx="393354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Symbol" pitchFamily="16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Symbol" pitchFamily="16" charset="2"/>
                <a:ea typeface="DejaVu LGC Sans" charset="0"/>
                <a:cs typeface="DejaVu LGC Sans" charset="0"/>
              </a:rPr>
              <a:t></a:t>
            </a:r>
          </a:p>
        </p:txBody>
      </p:sp>
      <p:sp>
        <p:nvSpPr>
          <p:cNvPr id="29757" name="Text Box 61"/>
          <p:cNvSpPr txBox="1">
            <a:spLocks noChangeArrowheads="1"/>
          </p:cNvSpPr>
          <p:nvPr/>
        </p:nvSpPr>
        <p:spPr bwMode="auto">
          <a:xfrm>
            <a:off x="180251" y="5704285"/>
            <a:ext cx="8771398" cy="98706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The subset function finds all the candidates contained in a transaction:</a:t>
            </a:r>
          </a:p>
          <a:p>
            <a:pPr>
              <a:lnSpc>
                <a:spcPct val="100000"/>
              </a:lnSpc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At the root level it hashes on all items in the transaction</a:t>
            </a:r>
          </a:p>
          <a:p>
            <a:pPr>
              <a:lnSpc>
                <a:spcPct val="100000"/>
              </a:lnSpc>
              <a:buFont typeface="Arial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At level </a:t>
            </a:r>
            <a:r>
              <a:rPr lang="en-GB" sz="1800" dirty="0" err="1">
                <a:solidFill>
                  <a:srgbClr val="4F81BD"/>
                </a:solidFill>
                <a:ea typeface="DejaVu LGC Sans" charset="0"/>
                <a:cs typeface="DejaVu LGC Sans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it hashes on all items in the transaction that come after item the </a:t>
            </a:r>
            <a:r>
              <a:rPr lang="en-GB" sz="1800" dirty="0" err="1">
                <a:solidFill>
                  <a:srgbClr val="4F81BD"/>
                </a:solidFill>
                <a:ea typeface="DejaVu LGC Sans" charset="0"/>
                <a:cs typeface="DejaVu LGC Sans" charset="0"/>
              </a:rPr>
              <a:t>i</a:t>
            </a:r>
            <a:r>
              <a:rPr lang="en-GB" sz="1800" dirty="0" err="1">
                <a:solidFill>
                  <a:srgbClr val="000000"/>
                </a:solidFill>
                <a:ea typeface="DejaVu LGC Sans" charset="0"/>
                <a:cs typeface="DejaVu LGC Sans" charset="0"/>
              </a:rPr>
              <a:t>-th</a:t>
            </a:r>
            <a:r>
              <a:rPr lang="en-GB" sz="1800" dirty="0">
                <a:solidFill>
                  <a:srgbClr val="000000"/>
                </a:solidFill>
                <a:ea typeface="DejaVu LGC Sans" charset="0"/>
                <a:cs typeface="DejaVu LGC Sans" charset="0"/>
              </a:rPr>
              <a:t> item</a:t>
            </a:r>
          </a:p>
        </p:txBody>
      </p:sp>
    </p:spTree>
    <p:extLst>
      <p:ext uri="{BB962C8B-B14F-4D97-AF65-F5344CB8AC3E}">
        <p14:creationId xmlns:p14="http://schemas.microsoft.com/office/powerpoint/2010/main" val="3643929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6365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Association Rule Discovery: Hash tree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7668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7748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9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50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69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7745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6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7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0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7742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3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4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1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7739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0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41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2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7736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7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8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3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7733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4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5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4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7730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31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32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75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7728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9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5 9</a:t>
                </a:r>
              </a:p>
            </p:txBody>
          </p:sp>
        </p:grpSp>
        <p:grpSp>
          <p:nvGrpSpPr>
            <p:cNvPr id="27676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7726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7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</a:t>
                </a:r>
              </a:p>
            </p:txBody>
          </p:sp>
        </p:grpSp>
        <p:grpSp>
          <p:nvGrpSpPr>
            <p:cNvPr id="27677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7724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5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3 6</a:t>
                </a:r>
              </a:p>
            </p:txBody>
          </p:sp>
        </p:grpSp>
        <p:grpSp>
          <p:nvGrpSpPr>
            <p:cNvPr id="27678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7722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723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5</a:t>
                </a:r>
              </a:p>
            </p:txBody>
          </p:sp>
        </p:grpSp>
        <p:grpSp>
          <p:nvGrpSpPr>
            <p:cNvPr id="27679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7716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720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2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27717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718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27680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7706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7710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7714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7715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3 5 6</a:t>
                    </a:r>
                  </a:p>
                </p:txBody>
              </p:sp>
            </p:grpSp>
            <p:grpSp>
              <p:nvGrpSpPr>
                <p:cNvPr id="27711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7712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7713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3 5 7</a:t>
                    </a:r>
                  </a:p>
                </p:txBody>
              </p:sp>
            </p:grpSp>
          </p:grpSp>
          <p:grpSp>
            <p:nvGrpSpPr>
              <p:cNvPr id="27707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7708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9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6 8 9</a:t>
                  </a:r>
                </a:p>
              </p:txBody>
            </p:sp>
          </p:grpSp>
        </p:grpSp>
        <p:grpSp>
          <p:nvGrpSpPr>
            <p:cNvPr id="27681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7700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704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5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7701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702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70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7682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7694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698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2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27695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696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5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</p:grpSp>
        </p:grpSp>
        <p:grpSp>
          <p:nvGrpSpPr>
            <p:cNvPr id="27683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7688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7692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2 5</a:t>
                  </a:r>
                </a:p>
              </p:txBody>
            </p:sp>
          </p:grpSp>
          <p:grpSp>
            <p:nvGrpSpPr>
              <p:cNvPr id="27689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7690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7691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5 8</a:t>
                  </a:r>
                </a:p>
              </p:txBody>
            </p:sp>
          </p:grpSp>
        </p:grpSp>
        <p:grpSp>
          <p:nvGrpSpPr>
            <p:cNvPr id="27684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7685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7686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7653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7665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7666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4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1,4,7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8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2,5,8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7659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7660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7661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7662" name="Text Box 100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1, 4 or 7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63" name="Rectangle 101"/>
          <p:cNvSpPr>
            <a:spLocks noChangeArrowheads="1"/>
          </p:cNvSpPr>
          <p:nvPr/>
        </p:nvSpPr>
        <p:spPr bwMode="auto">
          <a:xfrm>
            <a:off x="1676400" y="3810000"/>
            <a:ext cx="3124200" cy="2286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7664" name="Rectangle 102"/>
          <p:cNvSpPr>
            <a:spLocks noChangeArrowheads="1"/>
          </p:cNvSpPr>
          <p:nvPr/>
        </p:nvSpPr>
        <p:spPr bwMode="auto">
          <a:xfrm>
            <a:off x="5029200" y="4038600"/>
            <a:ext cx="1143000" cy="762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08451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Association Rule Discovery: Hash tree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8693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8773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4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4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8770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1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5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8767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8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9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6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8764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5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6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7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8761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62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3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8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8758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9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0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99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8755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6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57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00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8753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4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9</a:t>
                </a:r>
              </a:p>
            </p:txBody>
          </p:sp>
        </p:grpSp>
        <p:grpSp>
          <p:nvGrpSpPr>
            <p:cNvPr id="28701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8751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2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1 4 5</a:t>
                </a:r>
              </a:p>
            </p:txBody>
          </p:sp>
        </p:grpSp>
        <p:grpSp>
          <p:nvGrpSpPr>
            <p:cNvPr id="28702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8749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50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1 3 6</a:t>
                </a:r>
              </a:p>
            </p:txBody>
          </p:sp>
        </p:grpSp>
        <p:grpSp>
          <p:nvGrpSpPr>
            <p:cNvPr id="28703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8747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48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3 4 5</a:t>
                </a:r>
              </a:p>
            </p:txBody>
          </p:sp>
        </p:grpSp>
        <p:grpSp>
          <p:nvGrpSpPr>
            <p:cNvPr id="28704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8741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45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46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28742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43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4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28705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8731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8735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8739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8740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6</a:t>
                    </a:r>
                  </a:p>
                </p:txBody>
              </p:sp>
            </p:grpSp>
            <p:grpSp>
              <p:nvGrpSpPr>
                <p:cNvPr id="28736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8737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8738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7</a:t>
                    </a:r>
                  </a:p>
                </p:txBody>
              </p:sp>
            </p:grpSp>
          </p:grpSp>
          <p:grpSp>
            <p:nvGrpSpPr>
              <p:cNvPr id="28732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8733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3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6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9</a:t>
                  </a:r>
                </a:p>
              </p:txBody>
            </p:sp>
          </p:grpSp>
        </p:grpSp>
        <p:grpSp>
          <p:nvGrpSpPr>
            <p:cNvPr id="28706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8725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29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30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3 4</a:t>
                  </a:r>
                </a:p>
              </p:txBody>
            </p:sp>
          </p:grpSp>
          <p:grpSp>
            <p:nvGrpSpPr>
              <p:cNvPr id="28726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27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6 7</a:t>
                  </a:r>
                </a:p>
              </p:txBody>
            </p:sp>
          </p:grpSp>
        </p:grpSp>
        <p:grpSp>
          <p:nvGrpSpPr>
            <p:cNvPr id="28707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8719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23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4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4</a:t>
                  </a:r>
                </a:p>
              </p:txBody>
            </p:sp>
          </p:grpSp>
          <p:grpSp>
            <p:nvGrpSpPr>
              <p:cNvPr id="28720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21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2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7</a:t>
                  </a:r>
                </a:p>
              </p:txBody>
            </p:sp>
          </p:grpSp>
        </p:grpSp>
        <p:grpSp>
          <p:nvGrpSpPr>
            <p:cNvPr id="28708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8713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8717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1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</p:grpSp>
          <p:grpSp>
            <p:nvGrpSpPr>
              <p:cNvPr id="28714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8715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8716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</p:grpSp>
        </p:grpSp>
        <p:grpSp>
          <p:nvGrpSpPr>
            <p:cNvPr id="28709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8710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8711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8677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8690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8691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78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1,4,7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8682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2,5,8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3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8684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8685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8686" name="Rectangle 100"/>
          <p:cNvSpPr>
            <a:spLocks noChangeArrowheads="1"/>
          </p:cNvSpPr>
          <p:nvPr/>
        </p:nvSpPr>
        <p:spPr bwMode="auto">
          <a:xfrm>
            <a:off x="1828800" y="4953000"/>
            <a:ext cx="3048000" cy="1066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8687" name="Rectangle 101"/>
          <p:cNvSpPr>
            <a:spLocks noChangeArrowheads="1"/>
          </p:cNvSpPr>
          <p:nvPr/>
        </p:nvSpPr>
        <p:spPr bwMode="auto">
          <a:xfrm>
            <a:off x="4495800" y="2895600"/>
            <a:ext cx="1143000" cy="990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8688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2, 5 or 8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8689" name="Rectangle 103"/>
          <p:cNvSpPr>
            <a:spLocks noChangeArrowheads="1"/>
          </p:cNvSpPr>
          <p:nvPr/>
        </p:nvSpPr>
        <p:spPr bwMode="auto">
          <a:xfrm>
            <a:off x="6172200" y="4114800"/>
            <a:ext cx="1143000" cy="1447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12714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Association Rule Discovery: Hash tree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>
              <a:latin typeface="Wingdings" panose="05000000000000000000" pitchFamily="2" charset="2"/>
            </a:endParaRP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29717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29797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8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9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8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29794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5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6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19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29791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2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3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0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29788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9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90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1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29785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6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7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2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29782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3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4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3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29779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80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81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724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29777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8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29725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29775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6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1 4 5</a:t>
                </a:r>
              </a:p>
            </p:txBody>
          </p:sp>
        </p:grpSp>
        <p:grpSp>
          <p:nvGrpSpPr>
            <p:cNvPr id="29726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29773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4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29727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29771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72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 4 5</a:t>
                </a:r>
              </a:p>
            </p:txBody>
          </p:sp>
        </p:grpSp>
        <p:grpSp>
          <p:nvGrpSpPr>
            <p:cNvPr id="29728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29765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69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7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7</a:t>
                  </a:r>
                </a:p>
              </p:txBody>
            </p:sp>
          </p:grpSp>
          <p:grpSp>
            <p:nvGrpSpPr>
              <p:cNvPr id="29766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67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6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8</a:t>
                  </a:r>
                </a:p>
              </p:txBody>
            </p:sp>
          </p:grpSp>
        </p:grpSp>
        <p:grpSp>
          <p:nvGrpSpPr>
            <p:cNvPr id="29729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29755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29759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2976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9764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5 6</a:t>
                    </a:r>
                  </a:p>
                </p:txBody>
              </p:sp>
            </p:grpSp>
            <p:grpSp>
              <p:nvGrpSpPr>
                <p:cNvPr id="29760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29761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4000"/>
                  </a:p>
                </p:txBody>
              </p:sp>
              <p:sp>
                <p:nvSpPr>
                  <p:cNvPr id="29762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SzPct val="80000"/>
                      <a:buFont typeface="Wingdings" panose="05000000000000000000" pitchFamily="2" charset="2"/>
                      <a:buChar char="l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Wingdings" panose="05000000000000000000" pitchFamily="2" charset="2"/>
                      <a:buChar char="l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20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>
                        <a:latin typeface="Times New Roman" panose="02020603050405020304" pitchFamily="18" charset="0"/>
                      </a:rPr>
                      <a:t> 5 7</a:t>
                    </a:r>
                  </a:p>
                </p:txBody>
              </p:sp>
            </p:grpSp>
          </p:grpSp>
          <p:grpSp>
            <p:nvGrpSpPr>
              <p:cNvPr id="29756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29757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>
                      <a:latin typeface="Times New Roman" panose="02020603050405020304" pitchFamily="18" charset="0"/>
                    </a:rPr>
                    <a:t> 8 9</a:t>
                  </a:r>
                </a:p>
              </p:txBody>
            </p:sp>
          </p:grpSp>
        </p:grpSp>
        <p:grpSp>
          <p:nvGrpSpPr>
            <p:cNvPr id="29730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9749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53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9750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51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5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9731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9743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47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1 2 4</a:t>
                  </a:r>
                </a:p>
              </p:txBody>
            </p:sp>
          </p:grpSp>
          <p:grpSp>
            <p:nvGrpSpPr>
              <p:cNvPr id="29744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45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4 5 7</a:t>
                  </a:r>
                </a:p>
              </p:txBody>
            </p:sp>
          </p:grpSp>
        </p:grpSp>
        <p:grpSp>
          <p:nvGrpSpPr>
            <p:cNvPr id="29732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9737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29741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1 2 5</a:t>
                  </a:r>
                </a:p>
              </p:txBody>
            </p:sp>
          </p:grpSp>
          <p:grpSp>
            <p:nvGrpSpPr>
              <p:cNvPr id="29738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29739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29740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>
                      <a:latin typeface="Times New Roman" panose="02020603050405020304" pitchFamily="18" charset="0"/>
                    </a:rPr>
                    <a:t>4 5 8</a:t>
                  </a:r>
                </a:p>
              </p:txBody>
            </p:sp>
          </p:grpSp>
        </p:grpSp>
        <p:grpSp>
          <p:nvGrpSpPr>
            <p:cNvPr id="29733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29734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29735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6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9701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29714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29715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02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1,4,7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9706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2,5,8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9707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3,6,9</a:t>
            </a:r>
          </a:p>
        </p:txBody>
      </p:sp>
      <p:sp>
        <p:nvSpPr>
          <p:cNvPr id="29708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Hash Function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9709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Candidate Hash Tree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9710" name="Rectangle 100"/>
          <p:cNvSpPr>
            <a:spLocks noChangeArrowheads="1"/>
          </p:cNvSpPr>
          <p:nvPr/>
        </p:nvSpPr>
        <p:spPr bwMode="auto">
          <a:xfrm>
            <a:off x="3810000" y="4953000"/>
            <a:ext cx="1066800" cy="685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9711" name="Rectangle 101"/>
          <p:cNvSpPr>
            <a:spLocks noChangeArrowheads="1"/>
          </p:cNvSpPr>
          <p:nvPr/>
        </p:nvSpPr>
        <p:spPr bwMode="auto">
          <a:xfrm>
            <a:off x="5105400" y="4038600"/>
            <a:ext cx="3657600" cy="1524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9712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  <a:latin typeface="Arial" panose="020B0604020202020204" pitchFamily="34" charset="0"/>
              </a:rPr>
              <a:t>Hash on 3, 6 or 9</a:t>
            </a:r>
            <a:endParaRPr lang="en-US" altLang="en-US" sz="2000">
              <a:solidFill>
                <a:srgbClr val="0C6D9C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9713" name="Rectangle 103"/>
          <p:cNvSpPr>
            <a:spLocks noChangeArrowheads="1"/>
          </p:cNvSpPr>
          <p:nvPr/>
        </p:nvSpPr>
        <p:spPr bwMode="auto">
          <a:xfrm>
            <a:off x="3657600" y="3810000"/>
            <a:ext cx="990600" cy="609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</p:spTree>
    <p:extLst>
      <p:ext uri="{BB962C8B-B14F-4D97-AF65-F5344CB8AC3E}">
        <p14:creationId xmlns:p14="http://schemas.microsoft.com/office/powerpoint/2010/main" val="162766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grpSp>
        <p:nvGrpSpPr>
          <p:cNvPr id="30723" name="Group 3"/>
          <p:cNvGrpSpPr>
            <a:grpSpLocks/>
          </p:cNvGrpSpPr>
          <p:nvPr/>
        </p:nvGrpSpPr>
        <p:grpSpPr bwMode="auto">
          <a:xfrm>
            <a:off x="914400" y="2743200"/>
            <a:ext cx="5457825" cy="3744913"/>
            <a:chOff x="1248" y="1392"/>
            <a:chExt cx="4134" cy="2678"/>
          </a:xfrm>
        </p:grpSpPr>
        <p:sp>
          <p:nvSpPr>
            <p:cNvPr id="30767" name="Line 4"/>
            <p:cNvSpPr>
              <a:spLocks noChangeShapeType="1"/>
            </p:cNvSpPr>
            <p:nvPr/>
          </p:nvSpPr>
          <p:spPr bwMode="auto">
            <a:xfrm flipH="1">
              <a:off x="211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8" name="Line 5"/>
            <p:cNvSpPr>
              <a:spLocks noChangeShapeType="1"/>
            </p:cNvSpPr>
            <p:nvPr/>
          </p:nvSpPr>
          <p:spPr bwMode="auto">
            <a:xfrm>
              <a:off x="3192" y="16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9" name="Line 6"/>
            <p:cNvSpPr>
              <a:spLocks noChangeShapeType="1"/>
            </p:cNvSpPr>
            <p:nvPr/>
          </p:nvSpPr>
          <p:spPr bwMode="auto">
            <a:xfrm>
              <a:off x="319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0" name="Line 7"/>
            <p:cNvSpPr>
              <a:spLocks noChangeShapeType="1"/>
            </p:cNvSpPr>
            <p:nvPr/>
          </p:nvSpPr>
          <p:spPr bwMode="auto">
            <a:xfrm flipH="1">
              <a:off x="1488" y="2448"/>
              <a:ext cx="613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1" name="Line 8"/>
            <p:cNvSpPr>
              <a:spLocks noChangeShapeType="1"/>
            </p:cNvSpPr>
            <p:nvPr/>
          </p:nvSpPr>
          <p:spPr bwMode="auto">
            <a:xfrm>
              <a:off x="2101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2" name="Line 9"/>
            <p:cNvSpPr>
              <a:spLocks noChangeShapeType="1"/>
            </p:cNvSpPr>
            <p:nvPr/>
          </p:nvSpPr>
          <p:spPr bwMode="auto">
            <a:xfrm>
              <a:off x="2101" y="2448"/>
              <a:ext cx="491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3" name="Line 10"/>
            <p:cNvSpPr>
              <a:spLocks noChangeShapeType="1"/>
            </p:cNvSpPr>
            <p:nvPr/>
          </p:nvSpPr>
          <p:spPr bwMode="auto">
            <a:xfrm flipH="1">
              <a:off x="3504" y="2448"/>
              <a:ext cx="76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4" name="Line 11"/>
            <p:cNvSpPr>
              <a:spLocks noChangeShapeType="1"/>
            </p:cNvSpPr>
            <p:nvPr/>
          </p:nvSpPr>
          <p:spPr bwMode="auto">
            <a:xfrm>
              <a:off x="4272" y="24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5" name="Line 12"/>
            <p:cNvSpPr>
              <a:spLocks noChangeShapeType="1"/>
            </p:cNvSpPr>
            <p:nvPr/>
          </p:nvSpPr>
          <p:spPr bwMode="auto">
            <a:xfrm>
              <a:off x="4272" y="244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6" name="Line 13"/>
            <p:cNvSpPr>
              <a:spLocks noChangeShapeType="1"/>
            </p:cNvSpPr>
            <p:nvPr/>
          </p:nvSpPr>
          <p:spPr bwMode="auto">
            <a:xfrm flipH="1">
              <a:off x="1536" y="3120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7" name="Line 14"/>
            <p:cNvSpPr>
              <a:spLocks noChangeShapeType="1"/>
            </p:cNvSpPr>
            <p:nvPr/>
          </p:nvSpPr>
          <p:spPr bwMode="auto">
            <a:xfrm>
              <a:off x="2112" y="31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8" name="Line 15"/>
            <p:cNvSpPr>
              <a:spLocks noChangeShapeType="1"/>
            </p:cNvSpPr>
            <p:nvPr/>
          </p:nvSpPr>
          <p:spPr bwMode="auto">
            <a:xfrm>
              <a:off x="2112" y="3120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9" name="Rectangle 16"/>
            <p:cNvSpPr>
              <a:spLocks noChangeArrowheads="1"/>
            </p:cNvSpPr>
            <p:nvPr/>
          </p:nvSpPr>
          <p:spPr bwMode="auto">
            <a:xfrm>
              <a:off x="201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0" name="Line 17"/>
            <p:cNvSpPr>
              <a:spLocks noChangeShapeType="1"/>
            </p:cNvSpPr>
            <p:nvPr/>
          </p:nvSpPr>
          <p:spPr bwMode="auto">
            <a:xfrm>
              <a:off x="201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1" name="Line 18"/>
            <p:cNvSpPr>
              <a:spLocks noChangeShapeType="1"/>
            </p:cNvSpPr>
            <p:nvPr/>
          </p:nvSpPr>
          <p:spPr bwMode="auto">
            <a:xfrm>
              <a:off x="201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2" name="Rectangle 19"/>
            <p:cNvSpPr>
              <a:spLocks noChangeArrowheads="1"/>
            </p:cNvSpPr>
            <p:nvPr/>
          </p:nvSpPr>
          <p:spPr bwMode="auto">
            <a:xfrm>
              <a:off x="417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3" name="Line 20"/>
            <p:cNvSpPr>
              <a:spLocks noChangeShapeType="1"/>
            </p:cNvSpPr>
            <p:nvPr/>
          </p:nvSpPr>
          <p:spPr bwMode="auto">
            <a:xfrm>
              <a:off x="41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4" name="Line 21"/>
            <p:cNvSpPr>
              <a:spLocks noChangeShapeType="1"/>
            </p:cNvSpPr>
            <p:nvPr/>
          </p:nvSpPr>
          <p:spPr bwMode="auto">
            <a:xfrm>
              <a:off x="417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Rectangle 22"/>
            <p:cNvSpPr>
              <a:spLocks noChangeArrowheads="1"/>
            </p:cNvSpPr>
            <p:nvPr/>
          </p:nvSpPr>
          <p:spPr bwMode="auto">
            <a:xfrm>
              <a:off x="2016" y="283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6" name="Line 23"/>
            <p:cNvSpPr>
              <a:spLocks noChangeShapeType="1"/>
            </p:cNvSpPr>
            <p:nvPr/>
          </p:nvSpPr>
          <p:spPr bwMode="auto">
            <a:xfrm>
              <a:off x="2016" y="30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Line 24"/>
            <p:cNvSpPr>
              <a:spLocks noChangeShapeType="1"/>
            </p:cNvSpPr>
            <p:nvPr/>
          </p:nvSpPr>
          <p:spPr bwMode="auto">
            <a:xfrm>
              <a:off x="201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8" name="Rectangle 25"/>
            <p:cNvSpPr>
              <a:spLocks noChangeArrowheads="1"/>
            </p:cNvSpPr>
            <p:nvPr/>
          </p:nvSpPr>
          <p:spPr bwMode="auto">
            <a:xfrm>
              <a:off x="2496" y="350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89" name="Text Box 26"/>
            <p:cNvSpPr txBox="1">
              <a:spLocks noChangeArrowheads="1"/>
            </p:cNvSpPr>
            <p:nvPr/>
          </p:nvSpPr>
          <p:spPr bwMode="auto">
            <a:xfrm>
              <a:off x="2496" y="352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1 5 9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0790" name="Group 27"/>
            <p:cNvGrpSpPr>
              <a:grpSpLocks/>
            </p:cNvGrpSpPr>
            <p:nvPr/>
          </p:nvGrpSpPr>
          <p:grpSpPr bwMode="auto">
            <a:xfrm>
              <a:off x="1248" y="2784"/>
              <a:ext cx="486" cy="279"/>
              <a:chOff x="1248" y="2784"/>
              <a:chExt cx="486" cy="279"/>
            </a:xfrm>
          </p:grpSpPr>
          <p:sp>
            <p:nvSpPr>
              <p:cNvPr id="30832" name="Rectangle 2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33" name="Text Box 29"/>
              <p:cNvSpPr txBox="1">
                <a:spLocks noChangeArrowheads="1"/>
              </p:cNvSpPr>
              <p:nvPr/>
            </p:nvSpPr>
            <p:spPr bwMode="auto">
              <a:xfrm>
                <a:off x="1248" y="2801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1 4 5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791" name="Rectangle 30"/>
            <p:cNvSpPr>
              <a:spLocks noChangeArrowheads="1"/>
            </p:cNvSpPr>
            <p:nvPr/>
          </p:nvSpPr>
          <p:spPr bwMode="auto">
            <a:xfrm>
              <a:off x="2400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92" name="Text Box 31"/>
            <p:cNvSpPr txBox="1">
              <a:spLocks noChangeArrowheads="1"/>
            </p:cNvSpPr>
            <p:nvPr/>
          </p:nvSpPr>
          <p:spPr bwMode="auto">
            <a:xfrm>
              <a:off x="2400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1 3 6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0793" name="Rectangle 32"/>
            <p:cNvSpPr>
              <a:spLocks noChangeArrowheads="1"/>
            </p:cNvSpPr>
            <p:nvPr/>
          </p:nvSpPr>
          <p:spPr bwMode="auto">
            <a:xfrm>
              <a:off x="3264" y="2976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794" name="Text Box 33"/>
            <p:cNvSpPr txBox="1">
              <a:spLocks noChangeArrowheads="1"/>
            </p:cNvSpPr>
            <p:nvPr/>
          </p:nvSpPr>
          <p:spPr bwMode="auto">
            <a:xfrm>
              <a:off x="3264" y="2993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30795" name="Group 34"/>
            <p:cNvGrpSpPr>
              <a:grpSpLocks/>
            </p:cNvGrpSpPr>
            <p:nvPr/>
          </p:nvGrpSpPr>
          <p:grpSpPr bwMode="auto">
            <a:xfrm>
              <a:off x="4896" y="2976"/>
              <a:ext cx="486" cy="279"/>
              <a:chOff x="432" y="3408"/>
              <a:chExt cx="486" cy="279"/>
            </a:xfrm>
          </p:grpSpPr>
          <p:sp>
            <p:nvSpPr>
              <p:cNvPr id="30830" name="Rectangle 35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31" name="Text Box 36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3 6 7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6" name="Group 37"/>
            <p:cNvGrpSpPr>
              <a:grpSpLocks/>
            </p:cNvGrpSpPr>
            <p:nvPr/>
          </p:nvGrpSpPr>
          <p:grpSpPr bwMode="auto">
            <a:xfrm>
              <a:off x="4896" y="3216"/>
              <a:ext cx="486" cy="280"/>
              <a:chOff x="432" y="3408"/>
              <a:chExt cx="486" cy="280"/>
            </a:xfrm>
          </p:grpSpPr>
          <p:sp>
            <p:nvSpPr>
              <p:cNvPr id="30828" name="Rectangle 3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29" name="Text Box 39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3 6 8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7" name="Group 40"/>
            <p:cNvGrpSpPr>
              <a:grpSpLocks/>
            </p:cNvGrpSpPr>
            <p:nvPr/>
          </p:nvGrpSpPr>
          <p:grpSpPr bwMode="auto">
            <a:xfrm>
              <a:off x="4032" y="2976"/>
              <a:ext cx="488" cy="519"/>
              <a:chOff x="3792" y="3312"/>
              <a:chExt cx="488" cy="519"/>
            </a:xfrm>
          </p:grpSpPr>
          <p:grpSp>
            <p:nvGrpSpPr>
              <p:cNvPr id="30822" name="Group 4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8" cy="279"/>
                <a:chOff x="432" y="3408"/>
                <a:chExt cx="488" cy="279"/>
              </a:xfrm>
            </p:grpSpPr>
            <p:sp>
              <p:nvSpPr>
                <p:cNvPr id="30826" name="Rectangle 4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82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3 5 6</a:t>
                  </a:r>
                  <a:endParaRPr lang="en-US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823" name="Group 4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8" cy="279"/>
                <a:chOff x="432" y="3408"/>
                <a:chExt cx="488" cy="279"/>
              </a:xfrm>
            </p:grpSpPr>
            <p:sp>
              <p:nvSpPr>
                <p:cNvPr id="30824" name="Rectangle 4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82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Times New Roman" panose="02020603050405020304" pitchFamily="18" charset="0"/>
                    </a:rPr>
                    <a:t>3 5 7</a:t>
                  </a:r>
                  <a:endParaRPr lang="en-US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0798" name="Group 47"/>
            <p:cNvGrpSpPr>
              <a:grpSpLocks/>
            </p:cNvGrpSpPr>
            <p:nvPr/>
          </p:nvGrpSpPr>
          <p:grpSpPr bwMode="auto">
            <a:xfrm>
              <a:off x="4032" y="3456"/>
              <a:ext cx="488" cy="279"/>
              <a:chOff x="432" y="3408"/>
              <a:chExt cx="488" cy="279"/>
            </a:xfrm>
          </p:grpSpPr>
          <p:sp>
            <p:nvSpPr>
              <p:cNvPr id="30820" name="Rectangle 4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21" name="Text Box 49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6 8 9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799" name="Group 50"/>
            <p:cNvGrpSpPr>
              <a:grpSpLocks/>
            </p:cNvGrpSpPr>
            <p:nvPr/>
          </p:nvGrpSpPr>
          <p:grpSpPr bwMode="auto">
            <a:xfrm>
              <a:off x="2976" y="2208"/>
              <a:ext cx="486" cy="279"/>
              <a:chOff x="432" y="3408"/>
              <a:chExt cx="486" cy="279"/>
            </a:xfrm>
          </p:grpSpPr>
          <p:sp>
            <p:nvSpPr>
              <p:cNvPr id="30818" name="Rectangle 5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9" name="Text Box 52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2 3 4</a:t>
                </a:r>
              </a:p>
            </p:txBody>
          </p:sp>
        </p:grpSp>
        <p:grpSp>
          <p:nvGrpSpPr>
            <p:cNvPr id="30800" name="Group 53"/>
            <p:cNvGrpSpPr>
              <a:grpSpLocks/>
            </p:cNvGrpSpPr>
            <p:nvPr/>
          </p:nvGrpSpPr>
          <p:grpSpPr bwMode="auto">
            <a:xfrm>
              <a:off x="2976" y="2448"/>
              <a:ext cx="486" cy="280"/>
              <a:chOff x="432" y="3408"/>
              <a:chExt cx="486" cy="280"/>
            </a:xfrm>
          </p:grpSpPr>
          <p:sp>
            <p:nvSpPr>
              <p:cNvPr id="30816" name="Rectangle 5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7" name="Text Box 55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5 6 7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1" name="Group 56"/>
            <p:cNvGrpSpPr>
              <a:grpSpLocks/>
            </p:cNvGrpSpPr>
            <p:nvPr/>
          </p:nvGrpSpPr>
          <p:grpSpPr bwMode="auto">
            <a:xfrm>
              <a:off x="1296" y="3504"/>
              <a:ext cx="486" cy="279"/>
              <a:chOff x="432" y="3408"/>
              <a:chExt cx="486" cy="279"/>
            </a:xfrm>
          </p:grpSpPr>
          <p:sp>
            <p:nvSpPr>
              <p:cNvPr id="30814" name="Rectangle 5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5" name="Text Box 58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1 2 4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2" name="Group 59"/>
            <p:cNvGrpSpPr>
              <a:grpSpLocks/>
            </p:cNvGrpSpPr>
            <p:nvPr/>
          </p:nvGrpSpPr>
          <p:grpSpPr bwMode="auto">
            <a:xfrm>
              <a:off x="1296" y="3744"/>
              <a:ext cx="486" cy="281"/>
              <a:chOff x="432" y="3408"/>
              <a:chExt cx="486" cy="281"/>
            </a:xfrm>
          </p:grpSpPr>
          <p:sp>
            <p:nvSpPr>
              <p:cNvPr id="30812" name="Rectangle 6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3" name="Text Box 61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3" name="Group 62"/>
            <p:cNvGrpSpPr>
              <a:grpSpLocks/>
            </p:cNvGrpSpPr>
            <p:nvPr/>
          </p:nvGrpSpPr>
          <p:grpSpPr bwMode="auto">
            <a:xfrm>
              <a:off x="1872" y="3552"/>
              <a:ext cx="486" cy="280"/>
              <a:chOff x="432" y="3408"/>
              <a:chExt cx="486" cy="280"/>
            </a:xfrm>
          </p:grpSpPr>
          <p:sp>
            <p:nvSpPr>
              <p:cNvPr id="30810" name="Rectangle 6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11" name="Text Box 64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1 2 5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804" name="Group 65"/>
            <p:cNvGrpSpPr>
              <a:grpSpLocks/>
            </p:cNvGrpSpPr>
            <p:nvPr/>
          </p:nvGrpSpPr>
          <p:grpSpPr bwMode="auto">
            <a:xfrm>
              <a:off x="1872" y="3792"/>
              <a:ext cx="486" cy="278"/>
              <a:chOff x="432" y="3408"/>
              <a:chExt cx="486" cy="278"/>
            </a:xfrm>
          </p:grpSpPr>
          <p:sp>
            <p:nvSpPr>
              <p:cNvPr id="30808" name="Rectangle 66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0809" name="Text Box 67"/>
              <p:cNvSpPr txBox="1">
                <a:spLocks noChangeArrowheads="1"/>
              </p:cNvSpPr>
              <p:nvPr/>
            </p:nvSpPr>
            <p:spPr bwMode="auto">
              <a:xfrm>
                <a:off x="432" y="3424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4 5 8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805" name="Rectangle 68"/>
            <p:cNvSpPr>
              <a:spLocks noChangeArrowheads="1"/>
            </p:cNvSpPr>
            <p:nvPr/>
          </p:nvSpPr>
          <p:spPr bwMode="auto">
            <a:xfrm>
              <a:off x="3072" y="139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0806" name="Line 69"/>
            <p:cNvSpPr>
              <a:spLocks noChangeShapeType="1"/>
            </p:cNvSpPr>
            <p:nvPr/>
          </p:nvSpPr>
          <p:spPr bwMode="auto">
            <a:xfrm>
              <a:off x="3072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7" name="Line 70"/>
            <p:cNvSpPr>
              <a:spLocks noChangeShapeType="1"/>
            </p:cNvSpPr>
            <p:nvPr/>
          </p:nvSpPr>
          <p:spPr bwMode="auto">
            <a:xfrm>
              <a:off x="3072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4" name="Group 71"/>
          <p:cNvGrpSpPr>
            <a:grpSpLocks/>
          </p:cNvGrpSpPr>
          <p:nvPr/>
        </p:nvGrpSpPr>
        <p:grpSpPr bwMode="auto">
          <a:xfrm>
            <a:off x="2895600" y="1828800"/>
            <a:ext cx="1073150" cy="396875"/>
            <a:chOff x="4416" y="1440"/>
            <a:chExt cx="676" cy="250"/>
          </a:xfrm>
        </p:grpSpPr>
        <p:sp>
          <p:nvSpPr>
            <p:cNvPr id="30765" name="Rectangle 72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0766" name="Text Box 73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0725" name="Line 74"/>
          <p:cNvSpPr>
            <a:spLocks noChangeShapeType="1"/>
          </p:cNvSpPr>
          <p:nvPr/>
        </p:nvSpPr>
        <p:spPr bwMode="auto">
          <a:xfrm>
            <a:off x="3429000" y="2209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Line 75"/>
          <p:cNvSpPr>
            <a:spLocks noChangeShapeType="1"/>
          </p:cNvSpPr>
          <p:nvPr/>
        </p:nvSpPr>
        <p:spPr bwMode="auto">
          <a:xfrm>
            <a:off x="1981200" y="2971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76"/>
          <p:cNvSpPr>
            <a:spLocks noChangeShapeType="1"/>
          </p:cNvSpPr>
          <p:nvPr/>
        </p:nvSpPr>
        <p:spPr bwMode="auto">
          <a:xfrm flipH="1">
            <a:off x="3505200" y="3048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Line 77"/>
          <p:cNvSpPr>
            <a:spLocks noChangeShapeType="1"/>
          </p:cNvSpPr>
          <p:nvPr/>
        </p:nvSpPr>
        <p:spPr bwMode="auto">
          <a:xfrm flipH="1">
            <a:off x="4876800" y="3581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729" name="Group 78"/>
          <p:cNvGrpSpPr>
            <a:grpSpLocks/>
          </p:cNvGrpSpPr>
          <p:nvPr/>
        </p:nvGrpSpPr>
        <p:grpSpPr bwMode="auto">
          <a:xfrm>
            <a:off x="1295400" y="2514600"/>
            <a:ext cx="1371600" cy="396875"/>
            <a:chOff x="1344" y="1536"/>
            <a:chExt cx="863" cy="226"/>
          </a:xfrm>
        </p:grpSpPr>
        <p:grpSp>
          <p:nvGrpSpPr>
            <p:cNvPr id="30759" name="Group 79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0763" name="Rectangle 8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64" name="Text Box 8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0760" name="Group 82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0761" name="Rectangle 8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62" name="Text Box 8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grpSp>
        <p:nvGrpSpPr>
          <p:cNvPr id="30730" name="Group 85"/>
          <p:cNvGrpSpPr>
            <a:grpSpLocks/>
          </p:cNvGrpSpPr>
          <p:nvPr/>
        </p:nvGrpSpPr>
        <p:grpSpPr bwMode="auto">
          <a:xfrm>
            <a:off x="4038600" y="2667000"/>
            <a:ext cx="1149350" cy="396875"/>
            <a:chOff x="2880" y="1632"/>
            <a:chExt cx="724" cy="250"/>
          </a:xfrm>
        </p:grpSpPr>
        <p:grpSp>
          <p:nvGrpSpPr>
            <p:cNvPr id="30753" name="Group 8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0757" name="Rectangle 8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8" name="Text Box 8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0754" name="Group 8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0755" name="Rectangle 9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6" name="Text Box 9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0731" name="Group 92"/>
          <p:cNvGrpSpPr>
            <a:grpSpLocks/>
          </p:cNvGrpSpPr>
          <p:nvPr/>
        </p:nvGrpSpPr>
        <p:grpSpPr bwMode="auto">
          <a:xfrm>
            <a:off x="5334000" y="3200400"/>
            <a:ext cx="958850" cy="396875"/>
            <a:chOff x="3792" y="2064"/>
            <a:chExt cx="604" cy="250"/>
          </a:xfrm>
        </p:grpSpPr>
        <p:grpSp>
          <p:nvGrpSpPr>
            <p:cNvPr id="30747" name="Group 9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0751" name="Rectangle 9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2" name="Text Box 9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0748" name="Group 9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0749" name="Rectangle 9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0750" name="Text Box 9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0732" name="Group 99"/>
          <p:cNvGrpSpPr>
            <a:grpSpLocks/>
          </p:cNvGrpSpPr>
          <p:nvPr/>
        </p:nvGrpSpPr>
        <p:grpSpPr bwMode="auto">
          <a:xfrm>
            <a:off x="7162800" y="1219200"/>
            <a:ext cx="1654175" cy="1692275"/>
            <a:chOff x="96" y="1097"/>
            <a:chExt cx="1141" cy="1122"/>
          </a:xfrm>
        </p:grpSpPr>
        <p:sp>
          <p:nvSpPr>
            <p:cNvPr id="30734" name="Text Box 100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0735" name="Group 101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0736" name="Text Box 102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0737" name="Group 103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0744" name="Rectangle 104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0745" name="Line 105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746" name="Line 106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0738" name="Line 107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39" name="Line 108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0" name="Line 109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1" name="Text Box 110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2" name="Text Box 111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0743" name="Text Box 112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0733" name="Text Box 113"/>
          <p:cNvSpPr txBox="1">
            <a:spLocks noChangeArrowheads="1"/>
          </p:cNvSpPr>
          <p:nvPr/>
        </p:nvSpPr>
        <p:spPr bwMode="auto">
          <a:xfrm>
            <a:off x="3962400" y="1828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102433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86868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sp>
        <p:nvSpPr>
          <p:cNvPr id="31747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5614988" y="3838575"/>
            <a:ext cx="1139825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8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1 5 9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1770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1879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80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71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72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1 3 6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1773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74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3 4 5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1775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1877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78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6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1875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76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7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1869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1873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1874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3 5 6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870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1871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1872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778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1867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8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6 8 9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79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1865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6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2 3 4</a:t>
              </a:r>
            </a:p>
          </p:txBody>
        </p:sp>
      </p:grpSp>
      <p:grpSp>
        <p:nvGrpSpPr>
          <p:cNvPr id="31780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1863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4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1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1861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2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1 2 4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2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1859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60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3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1857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58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84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1855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1856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1785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1786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87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88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1842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1843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1844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1845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1852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1853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854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1846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7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8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49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0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1851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789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1840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1841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1790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1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2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3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94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1834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1838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9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1835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1836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7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2 +</a:t>
                </a:r>
              </a:p>
            </p:txBody>
          </p:sp>
        </p:grpSp>
      </p:grpSp>
      <p:grpSp>
        <p:nvGrpSpPr>
          <p:cNvPr id="31795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1828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1832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3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1829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1830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31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+</a:t>
                </a:r>
              </a:p>
            </p:txBody>
          </p:sp>
        </p:grpSp>
      </p:grpSp>
      <p:grpSp>
        <p:nvGrpSpPr>
          <p:cNvPr id="31796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1822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1826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7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31823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1824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5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+</a:t>
                </a:r>
              </a:p>
            </p:txBody>
          </p:sp>
        </p:grpSp>
      </p:grpSp>
      <p:sp>
        <p:nvSpPr>
          <p:cNvPr id="31797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8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9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800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1816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1820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21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1817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1818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9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1801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1810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1814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5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1811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1812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13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1802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1804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1808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09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1805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1806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1807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sp>
        <p:nvSpPr>
          <p:cNvPr id="31803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264568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Subset Operation Using Hash Tree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5614988" y="3838575"/>
            <a:ext cx="1166812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1 5 9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2794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2914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5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1 4 5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2795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6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1 3 6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2797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798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3 4 5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2799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2912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3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0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2910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11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3 6 8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1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2904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2908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2909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3 5 6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905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2906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4000"/>
              </a:p>
            </p:txBody>
          </p:sp>
          <p:sp>
            <p:nvSpPr>
              <p:cNvPr id="32907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Times New Roman" panose="02020603050405020304" pitchFamily="18" charset="0"/>
                  </a:rPr>
                  <a:t>3 5 7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802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2902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03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6 8 9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3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2900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901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2 3 4</a:t>
              </a:r>
            </a:p>
          </p:txBody>
        </p:sp>
      </p:grpSp>
      <p:grpSp>
        <p:nvGrpSpPr>
          <p:cNvPr id="32804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2898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9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5 6 7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5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2896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7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1 2 4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6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2894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5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4 5 7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7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2892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3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1 2 5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8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2890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4000"/>
            </a:p>
          </p:txBody>
        </p:sp>
        <p:sp>
          <p:nvSpPr>
            <p:cNvPr id="32891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4 5 8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2809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10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12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2877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1,4,7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grpSp>
          <p:nvGrpSpPr>
            <p:cNvPr id="32878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2879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2880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2887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80000"/>
                    <a:buFont typeface="Wingdings" panose="05000000000000000000" pitchFamily="2" charset="2"/>
                    <a:buChar char="l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l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4000"/>
                </a:p>
              </p:txBody>
            </p:sp>
            <p:sp>
              <p:nvSpPr>
                <p:cNvPr id="32888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889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2881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2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3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84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2,5,8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5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b="1">
                    <a:latin typeface="Times New Roman" panose="02020603050405020304" pitchFamily="18" charset="0"/>
                  </a:rPr>
                  <a:t>3,6,9</a:t>
                </a:r>
              </a:p>
            </p:txBody>
          </p:sp>
          <p:sp>
            <p:nvSpPr>
              <p:cNvPr id="32886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Hash Function</a:t>
                </a:r>
                <a:endParaRPr lang="en-US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813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2875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 b="1">
                <a:latin typeface="Wingdings" panose="05000000000000000000" pitchFamily="2" charset="2"/>
              </a:endParaRPr>
            </a:p>
          </p:txBody>
        </p:sp>
        <p:sp>
          <p:nvSpPr>
            <p:cNvPr id="32876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1 2 3 5 6</a:t>
              </a:r>
            </a:p>
          </p:txBody>
        </p:sp>
      </p:grpSp>
      <p:sp>
        <p:nvSpPr>
          <p:cNvPr id="32814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18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2869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2873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74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2870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2871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72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2 +</a:t>
                </a:r>
              </a:p>
            </p:txBody>
          </p:sp>
        </p:grpSp>
      </p:grpSp>
      <p:grpSp>
        <p:nvGrpSpPr>
          <p:cNvPr id="32819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2863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2867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8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2864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2865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6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3 +</a:t>
                </a:r>
              </a:p>
            </p:txBody>
          </p:sp>
        </p:grpSp>
      </p:grpSp>
      <p:grpSp>
        <p:nvGrpSpPr>
          <p:cNvPr id="32820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2857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2861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2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32858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2859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60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5 +</a:t>
                </a:r>
              </a:p>
            </p:txBody>
          </p:sp>
        </p:grpSp>
      </p:grpSp>
      <p:sp>
        <p:nvSpPr>
          <p:cNvPr id="32821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22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23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24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2851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2855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6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3 5 6</a:t>
                </a:r>
              </a:p>
            </p:txBody>
          </p:sp>
        </p:grpSp>
        <p:grpSp>
          <p:nvGrpSpPr>
            <p:cNvPr id="32852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2853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4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+</a:t>
                </a:r>
              </a:p>
            </p:txBody>
          </p:sp>
        </p:grpSp>
      </p:grpSp>
      <p:grpSp>
        <p:nvGrpSpPr>
          <p:cNvPr id="32825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2845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2849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50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5 6</a:t>
                </a:r>
              </a:p>
            </p:txBody>
          </p:sp>
        </p:grpSp>
        <p:grpSp>
          <p:nvGrpSpPr>
            <p:cNvPr id="32846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2847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8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3 +</a:t>
                </a:r>
              </a:p>
            </p:txBody>
          </p:sp>
        </p:grpSp>
      </p:grpSp>
      <p:grpSp>
        <p:nvGrpSpPr>
          <p:cNvPr id="32826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2839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2843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4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1 +</a:t>
                </a:r>
              </a:p>
            </p:txBody>
          </p:sp>
        </p:grpSp>
        <p:grpSp>
          <p:nvGrpSpPr>
            <p:cNvPr id="32840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2841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800" b="1">
                  <a:latin typeface="Wingdings" panose="05000000000000000000" pitchFamily="2" charset="2"/>
                </a:endParaRPr>
              </a:p>
            </p:txBody>
          </p:sp>
          <p:sp>
            <p:nvSpPr>
              <p:cNvPr id="32842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2 3 5 6</a:t>
                </a:r>
              </a:p>
            </p:txBody>
          </p:sp>
        </p:grpSp>
      </p:grpSp>
      <p:sp>
        <p:nvSpPr>
          <p:cNvPr id="32827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transaction</a:t>
            </a:r>
          </a:p>
        </p:txBody>
      </p:sp>
      <p:sp>
        <p:nvSpPr>
          <p:cNvPr id="32828" name="Rectangle 137"/>
          <p:cNvSpPr>
            <a:spLocks noChangeArrowheads="1"/>
          </p:cNvSpPr>
          <p:nvPr/>
        </p:nvSpPr>
        <p:spPr bwMode="auto">
          <a:xfrm>
            <a:off x="2362200" y="5257800"/>
            <a:ext cx="762000" cy="914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29" name="Line 138"/>
          <p:cNvSpPr>
            <a:spLocks noChangeShapeType="1"/>
          </p:cNvSpPr>
          <p:nvPr/>
        </p:nvSpPr>
        <p:spPr bwMode="auto">
          <a:xfrm flipH="1">
            <a:off x="2743200" y="4800600"/>
            <a:ext cx="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0" name="Line 139"/>
          <p:cNvSpPr>
            <a:spLocks noChangeShapeType="1"/>
          </p:cNvSpPr>
          <p:nvPr/>
        </p:nvSpPr>
        <p:spPr bwMode="auto">
          <a:xfrm>
            <a:off x="2743200" y="4800600"/>
            <a:ext cx="68580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1" name="Rectangle 140"/>
          <p:cNvSpPr>
            <a:spLocks noChangeArrowheads="1"/>
          </p:cNvSpPr>
          <p:nvPr/>
        </p:nvSpPr>
        <p:spPr bwMode="auto">
          <a:xfrm>
            <a:off x="3200400" y="5257800"/>
            <a:ext cx="762000" cy="533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2" name="Rectangle 141"/>
          <p:cNvSpPr>
            <a:spLocks noChangeArrowheads="1"/>
          </p:cNvSpPr>
          <p:nvPr/>
        </p:nvSpPr>
        <p:spPr bwMode="auto">
          <a:xfrm>
            <a:off x="3886200" y="3429000"/>
            <a:ext cx="6858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3" name="Rectangle 142"/>
          <p:cNvSpPr>
            <a:spLocks noChangeArrowheads="1"/>
          </p:cNvSpPr>
          <p:nvPr/>
        </p:nvSpPr>
        <p:spPr bwMode="auto">
          <a:xfrm>
            <a:off x="3124200" y="4267200"/>
            <a:ext cx="685800" cy="457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4" name="Line 143"/>
          <p:cNvSpPr>
            <a:spLocks noChangeShapeType="1"/>
          </p:cNvSpPr>
          <p:nvPr/>
        </p:nvSpPr>
        <p:spPr bwMode="auto">
          <a:xfrm>
            <a:off x="5638800" y="3886200"/>
            <a:ext cx="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5" name="Line 144"/>
          <p:cNvSpPr>
            <a:spLocks noChangeShapeType="1"/>
          </p:cNvSpPr>
          <p:nvPr/>
        </p:nvSpPr>
        <p:spPr bwMode="auto">
          <a:xfrm>
            <a:off x="5715000" y="3886200"/>
            <a:ext cx="99060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836" name="Rectangle 145"/>
          <p:cNvSpPr>
            <a:spLocks noChangeArrowheads="1"/>
          </p:cNvSpPr>
          <p:nvPr/>
        </p:nvSpPr>
        <p:spPr bwMode="auto">
          <a:xfrm>
            <a:off x="5181600" y="4495800"/>
            <a:ext cx="838200" cy="1143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7" name="Rectangle 146"/>
          <p:cNvSpPr>
            <a:spLocks noChangeArrowheads="1"/>
          </p:cNvSpPr>
          <p:nvPr/>
        </p:nvSpPr>
        <p:spPr bwMode="auto">
          <a:xfrm>
            <a:off x="6324600" y="4495800"/>
            <a:ext cx="8382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2838" name="Text Box 147"/>
          <p:cNvSpPr txBox="1">
            <a:spLocks noChangeArrowheads="1"/>
          </p:cNvSpPr>
          <p:nvPr/>
        </p:nvSpPr>
        <p:spPr bwMode="auto">
          <a:xfrm>
            <a:off x="4038600" y="5943600"/>
            <a:ext cx="4806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Match transaction against 11 out of 15 candidates</a:t>
            </a:r>
          </a:p>
        </p:txBody>
      </p:sp>
    </p:spTree>
    <p:extLst>
      <p:ext uri="{BB962C8B-B14F-4D97-AF65-F5344CB8AC3E}">
        <p14:creationId xmlns:p14="http://schemas.microsoft.com/office/powerpoint/2010/main" val="288635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Factors Affecting Complexity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916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Choice of minimum support threshold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lowering support threshold results in more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this may increase number of candidates and max length of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Dimensionality (number of items) of the data set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more space is needed to store support count of each item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if number of frequent items also increases, both computation and I/O costs may also increase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Size of database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since </a:t>
            </a:r>
            <a:r>
              <a:rPr lang="en-US" sz="2400" dirty="0" err="1" smtClean="0"/>
              <a:t>Apriori</a:t>
            </a:r>
            <a:r>
              <a:rPr lang="en-US" sz="2400" dirty="0" smtClean="0"/>
              <a:t> makes multiple passes, run time of algorithm may increase with number of transactions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Average transaction width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 transaction width increases with denser data sets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This may increase max length of frequent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and traversals of hash tree (number of subsets in a transaction increases with its width)</a:t>
            </a:r>
          </a:p>
        </p:txBody>
      </p:sp>
    </p:spTree>
    <p:extLst>
      <p:ext uri="{BB962C8B-B14F-4D97-AF65-F5344CB8AC3E}">
        <p14:creationId xmlns:p14="http://schemas.microsoft.com/office/powerpoint/2010/main" val="400609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Computational Complexity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Factors affecting computational complexity of Apriori: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Min_sup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No. of items (dimensionality)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No. of transactions 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</a:rPr>
              <a:t>Average transaction width</a:t>
            </a:r>
          </a:p>
          <a:p>
            <a:endParaRPr lang="en-US" altLang="en-US" sz="2100" smtClean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15953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88"/>
            <a:ext cx="6781800" cy="673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91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Computational Complexity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No. of items (dimensionality)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More space for storing support counts of items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If the no. of FIs grow with dim., the computation &amp; I/O costs will increase because of the large no. of candidates generated by the algo.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No. of Transactions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Apriori makes repeated passes of the tr. DB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Run time increases as a result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Average Transaction width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Max. size of FIs increase as avg size of tx. Increases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More itemsets need to be examined during candidate generation and support counting</a:t>
            </a:r>
          </a:p>
          <a:p>
            <a:pPr lvl="1"/>
            <a:r>
              <a:rPr lang="en-US" altLang="en-US" sz="2100" smtClean="0">
                <a:solidFill>
                  <a:schemeClr val="tx2"/>
                </a:solidFill>
                <a:sym typeface="Symbol" panose="05050102010706020507" pitchFamily="18" charset="2"/>
              </a:rPr>
              <a:t>As width increases, more itemsets are contained in the tx. Will inc. the hash tree traversal</a:t>
            </a:r>
          </a:p>
        </p:txBody>
      </p:sp>
    </p:spTree>
    <p:extLst>
      <p:ext uri="{BB962C8B-B14F-4D97-AF65-F5344CB8AC3E}">
        <p14:creationId xmlns:p14="http://schemas.microsoft.com/office/powerpoint/2010/main" val="2870180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400"/>
            <a:ext cx="5621338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43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953000"/>
          </a:xfrm>
          <a:noFill/>
        </p:spPr>
        <p:txBody>
          <a:bodyPr/>
          <a:lstStyle/>
          <a:p>
            <a:r>
              <a:rPr lang="en-US" altLang="en-US" smtClean="0">
                <a:solidFill>
                  <a:schemeClr val="tx2"/>
                </a:solidFill>
              </a:rPr>
              <a:t>So far we have seen algorithms for finding FIs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Lets now look at how we can generate the ARs from FIs 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FIs are concerned only with “support”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Time to bring in the concept of “confidence”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For each FI </a:t>
            </a:r>
            <a:r>
              <a:rPr lang="en-US" altLang="en-US" i="1" smtClean="0">
                <a:solidFill>
                  <a:schemeClr val="tx2"/>
                </a:solidFill>
              </a:rPr>
              <a:t>l, </a:t>
            </a:r>
            <a:r>
              <a:rPr lang="en-US" altLang="en-US" smtClean="0">
                <a:solidFill>
                  <a:schemeClr val="tx2"/>
                </a:solidFill>
              </a:rPr>
              <a:t>generate all non-empty subsets of</a:t>
            </a:r>
            <a:r>
              <a:rPr lang="en-US" altLang="en-US" i="1" smtClean="0">
                <a:solidFill>
                  <a:schemeClr val="tx2"/>
                </a:solidFill>
              </a:rPr>
              <a:t> l</a:t>
            </a:r>
          </a:p>
          <a:p>
            <a:r>
              <a:rPr lang="en-US" altLang="en-US" smtClean="0">
                <a:solidFill>
                  <a:schemeClr val="tx2"/>
                </a:solidFill>
              </a:rPr>
              <a:t>For each non-empty subset </a:t>
            </a:r>
            <a:r>
              <a:rPr lang="en-US" altLang="en-US" i="1" smtClean="0">
                <a:solidFill>
                  <a:schemeClr val="tx2"/>
                </a:solidFill>
              </a:rPr>
              <a:t>s</a:t>
            </a:r>
            <a:r>
              <a:rPr lang="en-US" altLang="en-US" smtClean="0">
                <a:solidFill>
                  <a:schemeClr val="tx2"/>
                </a:solidFill>
              </a:rPr>
              <a:t> of </a:t>
            </a:r>
            <a:r>
              <a:rPr lang="en-US" altLang="en-US" i="1" smtClean="0">
                <a:solidFill>
                  <a:schemeClr val="tx2"/>
                </a:solidFill>
              </a:rPr>
              <a:t>l, </a:t>
            </a:r>
            <a:r>
              <a:rPr lang="en-US" altLang="en-US" smtClean="0">
                <a:solidFill>
                  <a:schemeClr val="tx2"/>
                </a:solidFill>
              </a:rPr>
              <a:t>output the rule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chemeClr val="tx2"/>
                </a:solidFill>
              </a:rPr>
              <a:t>	s</a:t>
            </a:r>
            <a:r>
              <a:rPr lang="en-US" altLang="en-US" smtClean="0">
                <a:solidFill>
                  <a:schemeClr val="tx2"/>
                </a:solidFill>
              </a:rPr>
              <a:t> </a:t>
            </a:r>
            <a:r>
              <a:rPr lang="en-US" altLang="en-US" smtClean="0">
                <a:solidFill>
                  <a:schemeClr val="tx2"/>
                </a:solidFill>
                <a:sym typeface="Symbol" panose="05050102010706020507" pitchFamily="18" charset="2"/>
              </a:rPr>
              <a:t>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 (</a:t>
            </a:r>
            <a:r>
              <a:rPr lang="en-US" altLang="en-US" i="1" smtClean="0">
                <a:solidFill>
                  <a:schemeClr val="tx2"/>
                </a:solidFill>
                <a:sym typeface="Wingdings" panose="05000000000000000000" pitchFamily="2" charset="2"/>
              </a:rPr>
              <a:t>l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-</a:t>
            </a:r>
            <a:r>
              <a:rPr lang="en-US" altLang="en-US" i="1" smtClean="0">
                <a:solidFill>
                  <a:schemeClr val="tx2"/>
                </a:solidFill>
                <a:sym typeface="Wingdings" panose="05000000000000000000" pitchFamily="2" charset="2"/>
              </a:rPr>
              <a:t>s</a:t>
            </a:r>
            <a:r>
              <a:rPr lang="en-US" altLang="en-US" smtClean="0">
                <a:solidFill>
                  <a:schemeClr val="tx2"/>
                </a:solidFill>
                <a:sym typeface="Wingdings" panose="05000000000000000000" pitchFamily="2" charset="2"/>
              </a:rPr>
              <a:t>) if</a:t>
            </a:r>
            <a:endParaRPr lang="en-US" altLang="en-US" smtClean="0">
              <a:solidFill>
                <a:schemeClr val="tx2"/>
              </a:solidFill>
            </a:endParaRPr>
          </a:p>
          <a:p>
            <a:endParaRPr lang="en-US" altLang="en-US" smtClean="0">
              <a:solidFill>
                <a:schemeClr val="tx2"/>
              </a:solidFill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743200" y="5181600"/>
          <a:ext cx="33035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Equation" r:id="rId4" imgW="2019240" imgH="419040" progId="Equation.3">
                  <p:embed/>
                </p:oleObj>
              </mc:Choice>
              <mc:Fallback>
                <p:oleObj name="Equation" r:id="rId4" imgW="20192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33035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3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AR Generation from FIs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839200" cy="4953000"/>
          </a:xfrm>
          <a:noFill/>
        </p:spPr>
        <p:txBody>
          <a:bodyPr>
            <a:normAutofit lnSpcReduction="10000"/>
          </a:bodyPr>
          <a:lstStyle/>
          <a:p>
            <a:r>
              <a:rPr lang="en-US" altLang="en-US" sz="2400" smtClean="0">
                <a:solidFill>
                  <a:schemeClr val="tx2"/>
                </a:solidFill>
              </a:rPr>
              <a:t>For each k-FI, Y, we can have up to 2</a:t>
            </a:r>
            <a:r>
              <a:rPr lang="en-US" altLang="en-US" sz="2400" baseline="30000" smtClean="0">
                <a:solidFill>
                  <a:schemeClr val="tx2"/>
                </a:solidFill>
              </a:rPr>
              <a:t>k</a:t>
            </a:r>
            <a:r>
              <a:rPr lang="en-US" altLang="en-US" sz="2400" smtClean="0">
                <a:solidFill>
                  <a:schemeClr val="tx2"/>
                </a:solidFill>
              </a:rPr>
              <a:t>-2 ARs.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Ignore empty antecedents/consequents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Partition Y into 2 non-empty subsets X &amp; Y-X, such that X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Y-X satisfies min_conf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We need not worry about min_sup!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Y={1,2,3}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6 candidate ARs: {1,2}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{3}, </a:t>
            </a:r>
            <a:r>
              <a:rPr lang="en-US" altLang="en-US" sz="2400" smtClean="0">
                <a:solidFill>
                  <a:schemeClr val="tx2"/>
                </a:solidFill>
              </a:rPr>
              <a:t>{1,3}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{2},</a:t>
            </a:r>
            <a:r>
              <a:rPr lang="en-US" altLang="en-US" sz="2400" smtClean="0">
                <a:solidFill>
                  <a:schemeClr val="tx2"/>
                </a:solidFill>
              </a:rPr>
              <a:t> {2,3}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{1},</a:t>
            </a:r>
            <a:r>
              <a:rPr lang="en-US" altLang="en-US" sz="2400" smtClean="0">
                <a:solidFill>
                  <a:schemeClr val="tx2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solidFill>
                  <a:schemeClr val="tx2"/>
                </a:solidFill>
              </a:rPr>
              <a:t>	{1}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{2,3},</a:t>
            </a:r>
            <a:r>
              <a:rPr lang="en-US" altLang="en-US" sz="2400" smtClean="0">
                <a:solidFill>
                  <a:schemeClr val="tx2"/>
                </a:solidFill>
              </a:rPr>
              <a:t> {2}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{1,3},</a:t>
            </a:r>
            <a:r>
              <a:rPr lang="en-US" altLang="en-US" sz="2400" smtClean="0">
                <a:solidFill>
                  <a:schemeClr val="tx2"/>
                </a:solidFill>
              </a:rPr>
              <a:t> {3}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{1,2}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DO we need any additional scans to find confidence?</a:t>
            </a:r>
          </a:p>
          <a:p>
            <a:r>
              <a:rPr lang="en-US" altLang="en-US" sz="2400" smtClean="0">
                <a:solidFill>
                  <a:schemeClr val="tx2"/>
                </a:solidFill>
              </a:rPr>
              <a:t>For {1,2}</a:t>
            </a:r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 {3}, the confidence is ({1,2,3})/({1,2})</a:t>
            </a:r>
          </a:p>
          <a:p>
            <a:r>
              <a:rPr lang="en-US" altLang="en-US" sz="2400" smtClean="0">
                <a:solidFill>
                  <a:schemeClr val="tx2"/>
                </a:solidFill>
                <a:sym typeface="Symbol" panose="05050102010706020507" pitchFamily="18" charset="2"/>
              </a:rPr>
              <a:t>123 is frequent, therefore 12 is also frequent. So no need to find support counts again</a:t>
            </a:r>
          </a:p>
        </p:txBody>
      </p:sp>
    </p:spTree>
    <p:extLst>
      <p:ext uri="{BB962C8B-B14F-4D97-AF65-F5344CB8AC3E}">
        <p14:creationId xmlns:p14="http://schemas.microsoft.com/office/powerpoint/2010/main" val="402386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3747</TotalTime>
  <Words>2496</Words>
  <Application>Microsoft Office PowerPoint</Application>
  <PresentationFormat>On-screen Show (4:3)</PresentationFormat>
  <Paragraphs>600</Paragraphs>
  <Slides>46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Arial</vt:lpstr>
      <vt:lpstr>Calibri</vt:lpstr>
      <vt:lpstr>Calibri Light</vt:lpstr>
      <vt:lpstr>DejaVu LGC Sans</vt:lpstr>
      <vt:lpstr>굴림</vt:lpstr>
      <vt:lpstr>Symbol</vt:lpstr>
      <vt:lpstr>Tahoma</vt:lpstr>
      <vt:lpstr>Times New Roman</vt:lpstr>
      <vt:lpstr>Wingdings</vt:lpstr>
      <vt:lpstr>Office Theme</vt:lpstr>
      <vt:lpstr>Equation</vt:lpstr>
      <vt:lpstr>Document</vt:lpstr>
      <vt:lpstr>VISIO</vt:lpstr>
      <vt:lpstr>Visio</vt:lpstr>
      <vt:lpstr>Worksheet</vt:lpstr>
      <vt:lpstr>Association Rule Mining</vt:lpstr>
      <vt:lpstr>Basic Concepts: Frequent Patterns and Association Rules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Reducing Number of Candidates</vt:lpstr>
      <vt:lpstr>FI/Apriori Property</vt:lpstr>
      <vt:lpstr>Anti-monotonicity Property</vt:lpstr>
      <vt:lpstr>Illustrating Apriori Principle</vt:lpstr>
      <vt:lpstr>Apriori Algorithm -Example</vt:lpstr>
      <vt:lpstr>Apriori Algorithm</vt:lpstr>
      <vt:lpstr>The Apriori algorithm</vt:lpstr>
      <vt:lpstr>Apriori Algorithm</vt:lpstr>
      <vt:lpstr>Apriori Algorithm</vt:lpstr>
      <vt:lpstr>How to Generate Candidates?</vt:lpstr>
      <vt:lpstr>Exercise</vt:lpstr>
      <vt:lpstr>Frequent Itemset Generation</vt:lpstr>
      <vt:lpstr>Frequent Itemset Generation Strategies</vt:lpstr>
      <vt:lpstr>PowerPoint Presentation</vt:lpstr>
      <vt:lpstr>PowerPoint Presentation</vt:lpstr>
      <vt:lpstr>PowerPoint Presentation</vt:lpstr>
      <vt:lpstr>Support Counting</vt:lpstr>
      <vt:lpstr>Subset Operation</vt:lpstr>
      <vt:lpstr>PowerPoint Presentation</vt:lpstr>
      <vt:lpstr>Reducing Number of Comparisons</vt:lpstr>
      <vt:lpstr>Hash Tree</vt:lpstr>
      <vt:lpstr>Hash Tree</vt:lpstr>
      <vt:lpstr>Generate Hash Tree</vt:lpstr>
      <vt:lpstr>PowerPoint Presentation</vt:lpstr>
      <vt:lpstr>PowerPoint Presentation</vt:lpstr>
      <vt:lpstr>PowerPoint Presentation</vt:lpstr>
      <vt:lpstr>Association Rule Discovery: Hash tree</vt:lpstr>
      <vt:lpstr>Association Rule Discovery: Hash tree</vt:lpstr>
      <vt:lpstr>Association Rule Discovery: Hash tree</vt:lpstr>
      <vt:lpstr>Subset Operation Using Hash Tree</vt:lpstr>
      <vt:lpstr>Subset Operation Using Hash Tree</vt:lpstr>
      <vt:lpstr>Subset Operation Using Hash Tree</vt:lpstr>
      <vt:lpstr>Factors Affecting Complexity</vt:lpstr>
      <vt:lpstr>Computational Complexity</vt:lpstr>
      <vt:lpstr>PowerPoint Presentation</vt:lpstr>
      <vt:lpstr>Computational Complexity</vt:lpstr>
      <vt:lpstr>PowerPoint Presentation</vt:lpstr>
      <vt:lpstr>AR Generation from FIs</vt:lpstr>
      <vt:lpstr>AR Generation from FIs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237</cp:revision>
  <cp:lastPrinted>1601-01-01T00:00:00Z</cp:lastPrinted>
  <dcterms:created xsi:type="dcterms:W3CDTF">1601-01-01T00:00:00Z</dcterms:created>
  <dcterms:modified xsi:type="dcterms:W3CDTF">2018-03-16T10:25:00Z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